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media/audio3.wav" ContentType="audio/x-wav"/>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50"/>
  </p:notesMasterIdLst>
  <p:handoutMasterIdLst>
    <p:handoutMasterId r:id="rId151"/>
  </p:handoutMasterIdLst>
  <p:sldIdLst>
    <p:sldId id="506" r:id="rId2"/>
    <p:sldId id="535" r:id="rId3"/>
    <p:sldId id="589" r:id="rId4"/>
    <p:sldId id="534" r:id="rId5"/>
    <p:sldId id="266" r:id="rId6"/>
    <p:sldId id="651" r:id="rId7"/>
    <p:sldId id="652" r:id="rId8"/>
    <p:sldId id="487" r:id="rId9"/>
    <p:sldId id="484" r:id="rId10"/>
    <p:sldId id="485" r:id="rId11"/>
    <p:sldId id="738" r:id="rId12"/>
    <p:sldId id="654" r:id="rId13"/>
    <p:sldId id="732" r:id="rId14"/>
    <p:sldId id="733" r:id="rId15"/>
    <p:sldId id="740" r:id="rId16"/>
    <p:sldId id="655" r:id="rId17"/>
    <p:sldId id="656" r:id="rId18"/>
    <p:sldId id="739" r:id="rId19"/>
    <p:sldId id="269" r:id="rId20"/>
    <p:sldId id="576" r:id="rId21"/>
    <p:sldId id="741" r:id="rId22"/>
    <p:sldId id="553" r:id="rId23"/>
    <p:sldId id="470" r:id="rId24"/>
    <p:sldId id="489" r:id="rId25"/>
    <p:sldId id="492" r:id="rId26"/>
    <p:sldId id="494" r:id="rId27"/>
    <p:sldId id="495" r:id="rId28"/>
    <p:sldId id="759" r:id="rId29"/>
    <p:sldId id="760" r:id="rId30"/>
    <p:sldId id="761" r:id="rId31"/>
    <p:sldId id="762" r:id="rId32"/>
    <p:sldId id="763" r:id="rId33"/>
    <p:sldId id="764" r:id="rId34"/>
    <p:sldId id="765" r:id="rId35"/>
    <p:sldId id="766" r:id="rId36"/>
    <p:sldId id="521" r:id="rId37"/>
    <p:sldId id="509" r:id="rId38"/>
    <p:sldId id="498" r:id="rId39"/>
    <p:sldId id="504" r:id="rId40"/>
    <p:sldId id="273" r:id="rId41"/>
    <p:sldId id="590" r:id="rId42"/>
    <p:sldId id="596" r:id="rId43"/>
    <p:sldId id="548" r:id="rId44"/>
    <p:sldId id="381" r:id="rId45"/>
    <p:sldId id="522" r:id="rId46"/>
    <p:sldId id="415" r:id="rId47"/>
    <p:sldId id="555" r:id="rId48"/>
    <p:sldId id="382" r:id="rId49"/>
    <p:sldId id="418" r:id="rId50"/>
    <p:sldId id="385" r:id="rId51"/>
    <p:sldId id="505" r:id="rId52"/>
    <p:sldId id="397" r:id="rId53"/>
    <p:sldId id="399" r:id="rId54"/>
    <p:sldId id="744" r:id="rId55"/>
    <p:sldId id="745" r:id="rId56"/>
    <p:sldId id="746" r:id="rId57"/>
    <p:sldId id="455" r:id="rId58"/>
    <p:sldId id="362" r:id="rId59"/>
    <p:sldId id="402" r:id="rId60"/>
    <p:sldId id="747" r:id="rId61"/>
    <p:sldId id="650" r:id="rId62"/>
    <p:sldId id="512" r:id="rId63"/>
    <p:sldId id="767" r:id="rId64"/>
    <p:sldId id="513" r:id="rId65"/>
    <p:sldId id="601" r:id="rId66"/>
    <p:sldId id="391" r:id="rId67"/>
    <p:sldId id="514" r:id="rId68"/>
    <p:sldId id="280" r:id="rId69"/>
    <p:sldId id="770" r:id="rId70"/>
    <p:sldId id="515" r:id="rId71"/>
    <p:sldId id="657" r:id="rId72"/>
    <p:sldId id="658" r:id="rId73"/>
    <p:sldId id="660" r:id="rId74"/>
    <p:sldId id="661" r:id="rId75"/>
    <p:sldId id="663" r:id="rId76"/>
    <p:sldId id="664" r:id="rId77"/>
    <p:sldId id="768" r:id="rId78"/>
    <p:sldId id="769" r:id="rId79"/>
    <p:sldId id="666" r:id="rId80"/>
    <p:sldId id="667" r:id="rId81"/>
    <p:sldId id="668" r:id="rId82"/>
    <p:sldId id="669" r:id="rId83"/>
    <p:sldId id="670" r:id="rId84"/>
    <p:sldId id="671" r:id="rId85"/>
    <p:sldId id="672" r:id="rId86"/>
    <p:sldId id="673" r:id="rId87"/>
    <p:sldId id="734" r:id="rId88"/>
    <p:sldId id="674" r:id="rId89"/>
    <p:sldId id="677" r:id="rId90"/>
    <p:sldId id="678" r:id="rId91"/>
    <p:sldId id="679" r:id="rId92"/>
    <p:sldId id="729" r:id="rId93"/>
    <p:sldId id="680" r:id="rId94"/>
    <p:sldId id="681" r:id="rId95"/>
    <p:sldId id="682" r:id="rId96"/>
    <p:sldId id="683" r:id="rId97"/>
    <p:sldId id="684" r:id="rId98"/>
    <p:sldId id="685" r:id="rId99"/>
    <p:sldId id="686" r:id="rId100"/>
    <p:sldId id="687" r:id="rId101"/>
    <p:sldId id="688" r:id="rId102"/>
    <p:sldId id="689" r:id="rId103"/>
    <p:sldId id="690" r:id="rId104"/>
    <p:sldId id="772" r:id="rId105"/>
    <p:sldId id="691" r:id="rId106"/>
    <p:sldId id="748" r:id="rId107"/>
    <p:sldId id="693" r:id="rId108"/>
    <p:sldId id="694" r:id="rId109"/>
    <p:sldId id="695" r:id="rId110"/>
    <p:sldId id="749" r:id="rId111"/>
    <p:sldId id="750" r:id="rId112"/>
    <p:sldId id="751" r:id="rId113"/>
    <p:sldId id="704" r:id="rId114"/>
    <p:sldId id="705" r:id="rId115"/>
    <p:sldId id="706" r:id="rId116"/>
    <p:sldId id="752" r:id="rId117"/>
    <p:sldId id="708" r:id="rId118"/>
    <p:sldId id="709" r:id="rId119"/>
    <p:sldId id="710" r:id="rId120"/>
    <p:sldId id="711" r:id="rId121"/>
    <p:sldId id="753" r:id="rId122"/>
    <p:sldId id="754" r:id="rId123"/>
    <p:sldId id="713" r:id="rId124"/>
    <p:sldId id="716" r:id="rId125"/>
    <p:sldId id="755" r:id="rId126"/>
    <p:sldId id="756" r:id="rId127"/>
    <p:sldId id="717" r:id="rId128"/>
    <p:sldId id="718" r:id="rId129"/>
    <p:sldId id="719" r:id="rId130"/>
    <p:sldId id="720" r:id="rId131"/>
    <p:sldId id="777" r:id="rId132"/>
    <p:sldId id="773" r:id="rId133"/>
    <p:sldId id="774" r:id="rId134"/>
    <p:sldId id="775" r:id="rId135"/>
    <p:sldId id="778" r:id="rId136"/>
    <p:sldId id="776" r:id="rId137"/>
    <p:sldId id="780" r:id="rId138"/>
    <p:sldId id="781" r:id="rId139"/>
    <p:sldId id="757" r:id="rId140"/>
    <p:sldId id="783" r:id="rId141"/>
    <p:sldId id="782" r:id="rId142"/>
    <p:sldId id="785" r:id="rId143"/>
    <p:sldId id="786" r:id="rId144"/>
    <p:sldId id="723" r:id="rId145"/>
    <p:sldId id="725" r:id="rId146"/>
    <p:sldId id="758" r:id="rId147"/>
    <p:sldId id="736" r:id="rId148"/>
    <p:sldId id="737" r:id="rId149"/>
  </p:sldIdLst>
  <p:sldSz cx="9144000" cy="6858000" type="screen4x3"/>
  <p:notesSz cx="6648450" cy="9780588"/>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华文隶书"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华文隶书"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华文隶书"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华文隶书"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华文隶书"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华文隶书"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华文隶书"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华文隶书"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华文隶书"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6600"/>
    <a:srgbClr val="1313FF"/>
    <a:srgbClr val="B74988"/>
    <a:srgbClr val="B64887"/>
    <a:srgbClr val="CE84AE"/>
    <a:srgbClr val="BE5A93"/>
    <a:srgbClr val="D89CBE"/>
    <a:srgbClr val="FFFF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00" autoAdjust="0"/>
    <p:restoredTop sz="95310" autoAdjust="0"/>
  </p:normalViewPr>
  <p:slideViewPr>
    <p:cSldViewPr>
      <p:cViewPr varScale="1">
        <p:scale>
          <a:sx n="81" d="100"/>
          <a:sy n="81" d="100"/>
        </p:scale>
        <p:origin x="546" y="78"/>
      </p:cViewPr>
      <p:guideLst>
        <p:guide orient="horz" pos="2160"/>
        <p:guide pos="2880"/>
      </p:guideLst>
    </p:cSldViewPr>
  </p:slideViewPr>
  <p:outlineViewPr>
    <p:cViewPr>
      <p:scale>
        <a:sx n="33" d="100"/>
        <a:sy n="33" d="100"/>
      </p:scale>
      <p:origin x="0" y="16315"/>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Lst>
  </p:outlineViewPr>
  <p:notesTextViewPr>
    <p:cViewPr>
      <p:scale>
        <a:sx n="100" d="100"/>
        <a:sy n="100" d="100"/>
      </p:scale>
      <p:origin x="0" y="0"/>
    </p:cViewPr>
  </p:notesTextViewPr>
  <p:sorterViewPr>
    <p:cViewPr>
      <p:scale>
        <a:sx n="100" d="100"/>
        <a:sy n="100" d="100"/>
      </p:scale>
      <p:origin x="0" y="24523"/>
    </p:cViewPr>
  </p:sorterViewPr>
  <p:notesViewPr>
    <p:cSldViewPr>
      <p:cViewPr varScale="1">
        <p:scale>
          <a:sx n="45" d="100"/>
          <a:sy n="45" d="100"/>
        </p:scale>
        <p:origin x="-2822" y="-77"/>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3" Type="http://schemas.openxmlformats.org/officeDocument/2006/relationships/slide" Target="slides/slide20.xml"/><Relationship Id="rId18" Type="http://schemas.openxmlformats.org/officeDocument/2006/relationships/slide" Target="slides/slide36.xml"/><Relationship Id="rId26" Type="http://schemas.openxmlformats.org/officeDocument/2006/relationships/slide" Target="slides/slide46.xml"/><Relationship Id="rId39" Type="http://schemas.openxmlformats.org/officeDocument/2006/relationships/slide" Target="slides/slide66.xml"/><Relationship Id="rId21" Type="http://schemas.openxmlformats.org/officeDocument/2006/relationships/slide" Target="slides/slide39.xml"/><Relationship Id="rId34" Type="http://schemas.openxmlformats.org/officeDocument/2006/relationships/slide" Target="slides/slide61.xml"/><Relationship Id="rId42" Type="http://schemas.openxmlformats.org/officeDocument/2006/relationships/slide" Target="slides/slide72.xml"/><Relationship Id="rId47" Type="http://schemas.openxmlformats.org/officeDocument/2006/relationships/slide" Target="slides/slide80.xml"/><Relationship Id="rId50" Type="http://schemas.openxmlformats.org/officeDocument/2006/relationships/slide" Target="slides/slide84.xml"/><Relationship Id="rId55" Type="http://schemas.openxmlformats.org/officeDocument/2006/relationships/slide" Target="slides/slide97.xml"/><Relationship Id="rId63" Type="http://schemas.openxmlformats.org/officeDocument/2006/relationships/slide" Target="slides/slide120.xml"/><Relationship Id="rId68" Type="http://schemas.openxmlformats.org/officeDocument/2006/relationships/slide" Target="slides/slide127.xml"/><Relationship Id="rId76" Type="http://schemas.openxmlformats.org/officeDocument/2006/relationships/slide" Target="slides/slide139.xml"/><Relationship Id="rId7" Type="http://schemas.openxmlformats.org/officeDocument/2006/relationships/slide" Target="slides/slide10.xml"/><Relationship Id="rId71" Type="http://schemas.openxmlformats.org/officeDocument/2006/relationships/slide" Target="slides/slide133.xml"/><Relationship Id="rId2" Type="http://schemas.openxmlformats.org/officeDocument/2006/relationships/slide" Target="slides/slide5.xml"/><Relationship Id="rId16" Type="http://schemas.openxmlformats.org/officeDocument/2006/relationships/slide" Target="slides/slide34.xml"/><Relationship Id="rId29" Type="http://schemas.openxmlformats.org/officeDocument/2006/relationships/slide" Target="slides/slide54.xml"/><Relationship Id="rId11" Type="http://schemas.openxmlformats.org/officeDocument/2006/relationships/slide" Target="slides/slide18.xml"/><Relationship Id="rId24" Type="http://schemas.openxmlformats.org/officeDocument/2006/relationships/slide" Target="slides/slide43.xml"/><Relationship Id="rId32" Type="http://schemas.openxmlformats.org/officeDocument/2006/relationships/slide" Target="slides/slide57.xml"/><Relationship Id="rId37" Type="http://schemas.openxmlformats.org/officeDocument/2006/relationships/slide" Target="slides/slide64.xml"/><Relationship Id="rId40" Type="http://schemas.openxmlformats.org/officeDocument/2006/relationships/slide" Target="slides/slide68.xml"/><Relationship Id="rId45" Type="http://schemas.openxmlformats.org/officeDocument/2006/relationships/slide" Target="slides/slide77.xml"/><Relationship Id="rId53" Type="http://schemas.openxmlformats.org/officeDocument/2006/relationships/slide" Target="slides/slide91.xml"/><Relationship Id="rId58" Type="http://schemas.openxmlformats.org/officeDocument/2006/relationships/slide" Target="slides/slide110.xml"/><Relationship Id="rId66" Type="http://schemas.openxmlformats.org/officeDocument/2006/relationships/slide" Target="slides/slide123.xml"/><Relationship Id="rId74" Type="http://schemas.openxmlformats.org/officeDocument/2006/relationships/slide" Target="slides/slide137.xml"/><Relationship Id="rId5" Type="http://schemas.openxmlformats.org/officeDocument/2006/relationships/slide" Target="slides/slide8.xml"/><Relationship Id="rId15" Type="http://schemas.openxmlformats.org/officeDocument/2006/relationships/slide" Target="slides/slide23.xml"/><Relationship Id="rId23" Type="http://schemas.openxmlformats.org/officeDocument/2006/relationships/slide" Target="slides/slide42.xml"/><Relationship Id="rId28" Type="http://schemas.openxmlformats.org/officeDocument/2006/relationships/slide" Target="slides/slide49.xml"/><Relationship Id="rId36" Type="http://schemas.openxmlformats.org/officeDocument/2006/relationships/slide" Target="slides/slide63.xml"/><Relationship Id="rId49" Type="http://schemas.openxmlformats.org/officeDocument/2006/relationships/slide" Target="slides/slide83.xml"/><Relationship Id="rId57" Type="http://schemas.openxmlformats.org/officeDocument/2006/relationships/slide" Target="slides/slide107.xml"/><Relationship Id="rId61" Type="http://schemas.openxmlformats.org/officeDocument/2006/relationships/slide" Target="slides/slide116.xml"/><Relationship Id="rId10" Type="http://schemas.openxmlformats.org/officeDocument/2006/relationships/slide" Target="slides/slide16.xml"/><Relationship Id="rId19" Type="http://schemas.openxmlformats.org/officeDocument/2006/relationships/slide" Target="slides/slide37.xml"/><Relationship Id="rId31" Type="http://schemas.openxmlformats.org/officeDocument/2006/relationships/slide" Target="slides/slide56.xml"/><Relationship Id="rId44" Type="http://schemas.openxmlformats.org/officeDocument/2006/relationships/slide" Target="slides/slide74.xml"/><Relationship Id="rId52" Type="http://schemas.openxmlformats.org/officeDocument/2006/relationships/slide" Target="slides/slide90.xml"/><Relationship Id="rId60" Type="http://schemas.openxmlformats.org/officeDocument/2006/relationships/slide" Target="slides/slide114.xml"/><Relationship Id="rId65" Type="http://schemas.openxmlformats.org/officeDocument/2006/relationships/slide" Target="slides/slide122.xml"/><Relationship Id="rId73" Type="http://schemas.openxmlformats.org/officeDocument/2006/relationships/slide" Target="slides/slide136.xml"/><Relationship Id="rId78" Type="http://schemas.openxmlformats.org/officeDocument/2006/relationships/slide" Target="slides/slide145.xml"/><Relationship Id="rId4" Type="http://schemas.openxmlformats.org/officeDocument/2006/relationships/slide" Target="slides/slide7.xml"/><Relationship Id="rId9" Type="http://schemas.openxmlformats.org/officeDocument/2006/relationships/slide" Target="slides/slide12.xml"/><Relationship Id="rId14" Type="http://schemas.openxmlformats.org/officeDocument/2006/relationships/slide" Target="slides/slide21.xml"/><Relationship Id="rId22" Type="http://schemas.openxmlformats.org/officeDocument/2006/relationships/slide" Target="slides/slide40.xml"/><Relationship Id="rId27" Type="http://schemas.openxmlformats.org/officeDocument/2006/relationships/slide" Target="slides/slide47.xml"/><Relationship Id="rId30" Type="http://schemas.openxmlformats.org/officeDocument/2006/relationships/slide" Target="slides/slide55.xml"/><Relationship Id="rId35" Type="http://schemas.openxmlformats.org/officeDocument/2006/relationships/slide" Target="slides/slide62.xml"/><Relationship Id="rId43" Type="http://schemas.openxmlformats.org/officeDocument/2006/relationships/slide" Target="slides/slide73.xml"/><Relationship Id="rId48" Type="http://schemas.openxmlformats.org/officeDocument/2006/relationships/slide" Target="slides/slide82.xml"/><Relationship Id="rId56" Type="http://schemas.openxmlformats.org/officeDocument/2006/relationships/slide" Target="slides/slide106.xml"/><Relationship Id="rId64" Type="http://schemas.openxmlformats.org/officeDocument/2006/relationships/slide" Target="slides/slide121.xml"/><Relationship Id="rId69" Type="http://schemas.openxmlformats.org/officeDocument/2006/relationships/slide" Target="slides/slide128.xml"/><Relationship Id="rId77" Type="http://schemas.openxmlformats.org/officeDocument/2006/relationships/slide" Target="slides/slide144.xml"/><Relationship Id="rId8" Type="http://schemas.openxmlformats.org/officeDocument/2006/relationships/slide" Target="slides/slide11.xml"/><Relationship Id="rId51" Type="http://schemas.openxmlformats.org/officeDocument/2006/relationships/slide" Target="slides/slide89.xml"/><Relationship Id="rId72" Type="http://schemas.openxmlformats.org/officeDocument/2006/relationships/slide" Target="slides/slide134.xml"/><Relationship Id="rId3" Type="http://schemas.openxmlformats.org/officeDocument/2006/relationships/slide" Target="slides/slide6.xml"/><Relationship Id="rId12" Type="http://schemas.openxmlformats.org/officeDocument/2006/relationships/slide" Target="slides/slide19.xml"/><Relationship Id="rId17" Type="http://schemas.openxmlformats.org/officeDocument/2006/relationships/slide" Target="slides/slide35.xml"/><Relationship Id="rId25" Type="http://schemas.openxmlformats.org/officeDocument/2006/relationships/slide" Target="slides/slide44.xml"/><Relationship Id="rId33" Type="http://schemas.openxmlformats.org/officeDocument/2006/relationships/slide" Target="slides/slide60.xml"/><Relationship Id="rId38" Type="http://schemas.openxmlformats.org/officeDocument/2006/relationships/slide" Target="slides/slide65.xml"/><Relationship Id="rId46" Type="http://schemas.openxmlformats.org/officeDocument/2006/relationships/slide" Target="slides/slide79.xml"/><Relationship Id="rId59" Type="http://schemas.openxmlformats.org/officeDocument/2006/relationships/slide" Target="slides/slide111.xml"/><Relationship Id="rId67" Type="http://schemas.openxmlformats.org/officeDocument/2006/relationships/slide" Target="slides/slide124.xml"/><Relationship Id="rId20" Type="http://schemas.openxmlformats.org/officeDocument/2006/relationships/slide" Target="slides/slide38.xml"/><Relationship Id="rId41" Type="http://schemas.openxmlformats.org/officeDocument/2006/relationships/slide" Target="slides/slide70.xml"/><Relationship Id="rId54" Type="http://schemas.openxmlformats.org/officeDocument/2006/relationships/slide" Target="slides/slide96.xml"/><Relationship Id="rId62" Type="http://schemas.openxmlformats.org/officeDocument/2006/relationships/slide" Target="slides/slide118.xml"/><Relationship Id="rId70" Type="http://schemas.openxmlformats.org/officeDocument/2006/relationships/slide" Target="slides/slide130.xml"/><Relationship Id="rId75" Type="http://schemas.openxmlformats.org/officeDocument/2006/relationships/slide" Target="slides/slide138.xml"/><Relationship Id="rId1" Type="http://schemas.openxmlformats.org/officeDocument/2006/relationships/slide" Target="slides/slide4.xml"/><Relationship Id="rId6"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 Id="rId4"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 Id="rId5" Type="http://schemas.openxmlformats.org/officeDocument/2006/relationships/image" Target="../media/image49.emf"/><Relationship Id="rId4" Type="http://schemas.openxmlformats.org/officeDocument/2006/relationships/image" Target="../media/image4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image" Target="../media/image55.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image" Target="../media/image77.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0.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emf"/><Relationship Id="rId1" Type="http://schemas.openxmlformats.org/officeDocument/2006/relationships/image" Target="../media/image92.emf"/><Relationship Id="rId4" Type="http://schemas.openxmlformats.org/officeDocument/2006/relationships/image" Target="../media/image95.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image" Target="../media/image98.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4.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05.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09.emf"/><Relationship Id="rId1" Type="http://schemas.openxmlformats.org/officeDocument/2006/relationships/image" Target="../media/image108.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1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image" Target="../media/image112.e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18.e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20.emf"/><Relationship Id="rId1" Type="http://schemas.openxmlformats.org/officeDocument/2006/relationships/image" Target="../media/image119.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23.emf"/><Relationship Id="rId7" Type="http://schemas.openxmlformats.org/officeDocument/2006/relationships/image" Target="../media/image127.emf"/><Relationship Id="rId2" Type="http://schemas.openxmlformats.org/officeDocument/2006/relationships/image" Target="../media/image122.emf"/><Relationship Id="rId1" Type="http://schemas.openxmlformats.org/officeDocument/2006/relationships/image" Target="../media/image121.emf"/><Relationship Id="rId6" Type="http://schemas.openxmlformats.org/officeDocument/2006/relationships/image" Target="../media/image126.emf"/><Relationship Id="rId5" Type="http://schemas.openxmlformats.org/officeDocument/2006/relationships/image" Target="../media/image125.emf"/><Relationship Id="rId4" Type="http://schemas.openxmlformats.org/officeDocument/2006/relationships/image" Target="../media/image124.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1313" cy="488950"/>
          </a:xfrm>
          <a:prstGeom prst="rect">
            <a:avLst/>
          </a:prstGeom>
        </p:spPr>
        <p:txBody>
          <a:bodyPr vert="horz" lIns="91467" tIns="45734" rIns="91467" bIns="45734" rtlCol="0"/>
          <a:lstStyle>
            <a:lvl1pPr algn="l">
              <a:defRPr sz="1200"/>
            </a:lvl1pPr>
          </a:lstStyle>
          <a:p>
            <a:pPr>
              <a:defRPr/>
            </a:pPr>
            <a:endParaRPr lang="zh-CN" altLang="en-US"/>
          </a:p>
        </p:txBody>
      </p:sp>
      <p:sp>
        <p:nvSpPr>
          <p:cNvPr id="4" name="页脚占位符 3"/>
          <p:cNvSpPr>
            <a:spLocks noGrp="1"/>
          </p:cNvSpPr>
          <p:nvPr>
            <p:ph type="ftr" sz="quarter" idx="2"/>
          </p:nvPr>
        </p:nvSpPr>
        <p:spPr>
          <a:xfrm>
            <a:off x="0" y="9290050"/>
            <a:ext cx="2881313" cy="488950"/>
          </a:xfrm>
          <a:prstGeom prst="rect">
            <a:avLst/>
          </a:prstGeom>
        </p:spPr>
        <p:txBody>
          <a:bodyPr vert="horz" lIns="91467" tIns="45734" rIns="91467" bIns="45734"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765550" y="9290050"/>
            <a:ext cx="2881313" cy="488950"/>
          </a:xfrm>
          <a:prstGeom prst="rect">
            <a:avLst/>
          </a:prstGeom>
        </p:spPr>
        <p:txBody>
          <a:bodyPr vert="horz" lIns="91467" tIns="45734" rIns="91467" bIns="45734" rtlCol="0" anchor="b"/>
          <a:lstStyle>
            <a:lvl1pPr algn="r">
              <a:defRPr sz="1200"/>
            </a:lvl1pPr>
          </a:lstStyle>
          <a:p>
            <a:pPr>
              <a:defRPr/>
            </a:pPr>
            <a:fld id="{07A76041-4D0B-456F-8EC1-048830D2F6E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467" tIns="45734" rIns="91467" bIns="45734" numCol="1" anchor="t" anchorCtr="0" compatLnSpc="1">
            <a:prstTxWarp prst="textNoShape">
              <a:avLst/>
            </a:prstTxWarp>
          </a:bodyPr>
          <a:lstStyle>
            <a:lvl1pPr>
              <a:defRPr sz="1200">
                <a:latin typeface="Verdana" pitchFamily="34" charset="0"/>
                <a:ea typeface="宋体" pitchFamily="2" charset="-122"/>
              </a:defRPr>
            </a:lvl1pPr>
          </a:lstStyle>
          <a:p>
            <a:pPr>
              <a:defRPr/>
            </a:pPr>
            <a:endParaRPr lang="en-US" altLang="zh-CN"/>
          </a:p>
        </p:txBody>
      </p:sp>
      <p:sp>
        <p:nvSpPr>
          <p:cNvPr id="2048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467" tIns="45734" rIns="91467" bIns="45734" numCol="1" anchor="t" anchorCtr="0" compatLnSpc="1">
            <a:prstTxWarp prst="textNoShape">
              <a:avLst/>
            </a:prstTxWarp>
          </a:bodyPr>
          <a:lstStyle>
            <a:lvl1pPr algn="r">
              <a:defRPr sz="1200">
                <a:latin typeface="Verdana" pitchFamily="34" charset="0"/>
                <a:ea typeface="宋体" pitchFamily="2" charset="-122"/>
              </a:defRPr>
            </a:lvl1pPr>
          </a:lstStyle>
          <a:p>
            <a:pPr>
              <a:defRPr/>
            </a:pPr>
            <a:endParaRPr lang="en-US" altLang="zh-CN"/>
          </a:p>
        </p:txBody>
      </p:sp>
      <p:sp>
        <p:nvSpPr>
          <p:cNvPr id="148484" name="Rectangle 4"/>
          <p:cNvSpPr>
            <a:spLocks noGrp="1" noRot="1" noChangeAspect="1" noChangeArrowheads="1" noTextEdit="1"/>
          </p:cNvSpPr>
          <p:nvPr>
            <p:ph type="sldImg" idx="2"/>
          </p:nvPr>
        </p:nvSpPr>
        <p:spPr bwMode="auto">
          <a:xfrm>
            <a:off x="877888" y="733425"/>
            <a:ext cx="4892675" cy="3668713"/>
          </a:xfrm>
          <a:prstGeom prst="rect">
            <a:avLst/>
          </a:prstGeom>
          <a:noFill/>
          <a:ln w="9525">
            <a:solidFill>
              <a:srgbClr val="000000"/>
            </a:solidFill>
            <a:miter lim="800000"/>
            <a:headEnd/>
            <a:tailEnd/>
          </a:ln>
        </p:spPr>
      </p:sp>
      <p:sp>
        <p:nvSpPr>
          <p:cNvPr id="204805" name="Rectangle 5"/>
          <p:cNvSpPr>
            <a:spLocks noGrp="1" noChangeArrowheads="1"/>
          </p:cNvSpPr>
          <p:nvPr>
            <p:ph type="body" sz="quarter" idx="3"/>
          </p:nvPr>
        </p:nvSpPr>
        <p:spPr bwMode="auto">
          <a:xfrm>
            <a:off x="885825" y="4646613"/>
            <a:ext cx="4876800" cy="4400550"/>
          </a:xfrm>
          <a:prstGeom prst="rect">
            <a:avLst/>
          </a:prstGeom>
          <a:noFill/>
          <a:ln w="9525">
            <a:noFill/>
            <a:miter lim="800000"/>
            <a:headEnd/>
            <a:tailEnd/>
          </a:ln>
          <a:effectLst/>
        </p:spPr>
        <p:txBody>
          <a:bodyPr vert="horz" wrap="square" lIns="91467" tIns="45734" rIns="91467" bIns="45734"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4806" name="Rectangle 6"/>
          <p:cNvSpPr>
            <a:spLocks noGrp="1" noChangeArrowheads="1"/>
          </p:cNvSpPr>
          <p:nvPr>
            <p:ph type="ftr" sz="quarter" idx="4"/>
          </p:nvPr>
        </p:nvSpPr>
        <p:spPr bwMode="auto">
          <a:xfrm>
            <a:off x="0" y="9291638"/>
            <a:ext cx="2881313" cy="488950"/>
          </a:xfrm>
          <a:prstGeom prst="rect">
            <a:avLst/>
          </a:prstGeom>
          <a:noFill/>
          <a:ln w="9525">
            <a:noFill/>
            <a:miter lim="800000"/>
            <a:headEnd/>
            <a:tailEnd/>
          </a:ln>
          <a:effectLst/>
        </p:spPr>
        <p:txBody>
          <a:bodyPr vert="horz" wrap="square" lIns="91467" tIns="45734" rIns="91467" bIns="45734" numCol="1" anchor="b" anchorCtr="0" compatLnSpc="1">
            <a:prstTxWarp prst="textNoShape">
              <a:avLst/>
            </a:prstTxWarp>
          </a:bodyPr>
          <a:lstStyle>
            <a:lvl1pPr>
              <a:defRPr sz="1200">
                <a:latin typeface="Verdana" pitchFamily="34" charset="0"/>
                <a:ea typeface="宋体" pitchFamily="2" charset="-122"/>
              </a:defRPr>
            </a:lvl1pPr>
          </a:lstStyle>
          <a:p>
            <a:pPr>
              <a:defRPr/>
            </a:pPr>
            <a:endParaRPr lang="en-US" altLang="zh-CN"/>
          </a:p>
        </p:txBody>
      </p:sp>
      <p:sp>
        <p:nvSpPr>
          <p:cNvPr id="204807" name="Rectangle 7"/>
          <p:cNvSpPr>
            <a:spLocks noGrp="1" noChangeArrowheads="1"/>
          </p:cNvSpPr>
          <p:nvPr>
            <p:ph type="sldNum" sz="quarter" idx="5"/>
          </p:nvPr>
        </p:nvSpPr>
        <p:spPr bwMode="auto">
          <a:xfrm>
            <a:off x="3767138" y="9291638"/>
            <a:ext cx="2881312" cy="488950"/>
          </a:xfrm>
          <a:prstGeom prst="rect">
            <a:avLst/>
          </a:prstGeom>
          <a:noFill/>
          <a:ln w="9525">
            <a:noFill/>
            <a:miter lim="800000"/>
            <a:headEnd/>
            <a:tailEnd/>
          </a:ln>
          <a:effectLst/>
        </p:spPr>
        <p:txBody>
          <a:bodyPr vert="horz" wrap="square" lIns="91467" tIns="45734" rIns="91467" bIns="45734" numCol="1" anchor="b" anchorCtr="0" compatLnSpc="1">
            <a:prstTxWarp prst="textNoShape">
              <a:avLst/>
            </a:prstTxWarp>
          </a:bodyPr>
          <a:lstStyle>
            <a:lvl1pPr algn="r">
              <a:defRPr sz="1200">
                <a:latin typeface="Verdana" pitchFamily="34" charset="0"/>
                <a:ea typeface="宋体" pitchFamily="2" charset="-122"/>
              </a:defRPr>
            </a:lvl1pPr>
          </a:lstStyle>
          <a:p>
            <a:pPr>
              <a:defRPr/>
            </a:pPr>
            <a:fld id="{7559F44C-558A-4C28-87F4-FF4B8D71A8C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BEF796A8-F500-4F67-94CF-20DE67F90426}" type="slidenum">
              <a:rPr lang="en-US" altLang="zh-CN" smtClean="0"/>
              <a:pPr/>
              <a:t>2</a:t>
            </a:fld>
            <a:endParaRPr lang="en-US" altLang="zh-CN" smtClean="0"/>
          </a:p>
        </p:txBody>
      </p:sp>
      <p:sp>
        <p:nvSpPr>
          <p:cNvPr id="149507"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49508"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b="0" i="0" kern="1200" dirty="0" smtClean="0">
                <a:solidFill>
                  <a:schemeClr val="tx1"/>
                </a:solidFill>
                <a:latin typeface="Times New Roman" pitchFamily="18" charset="0"/>
                <a:ea typeface="宋体" pitchFamily="2" charset="-122"/>
                <a:cs typeface="+mn-cs"/>
              </a:rPr>
              <a:t>年度农民工数量包括年内在本乡镇以外从业</a:t>
            </a:r>
            <a:r>
              <a:rPr kumimoji="1" lang="en-US" altLang="zh-CN" sz="1200" b="0" i="0" kern="1200" dirty="0" smtClean="0">
                <a:solidFill>
                  <a:schemeClr val="tx1"/>
                </a:solidFill>
                <a:latin typeface="Times New Roman" pitchFamily="18" charset="0"/>
                <a:ea typeface="宋体" pitchFamily="2" charset="-122"/>
                <a:cs typeface="+mn-cs"/>
              </a:rPr>
              <a:t>6</a:t>
            </a:r>
            <a:r>
              <a:rPr kumimoji="1" lang="zh-CN" altLang="en-US" sz="1200" b="0" i="0" kern="1200" dirty="0" smtClean="0">
                <a:solidFill>
                  <a:schemeClr val="tx1"/>
                </a:solidFill>
                <a:latin typeface="Times New Roman" pitchFamily="18" charset="0"/>
                <a:ea typeface="宋体" pitchFamily="2" charset="-122"/>
                <a:cs typeface="+mn-cs"/>
              </a:rPr>
              <a:t>个月及以上的外出农民工和在本乡镇内从事非农产业</a:t>
            </a:r>
            <a:r>
              <a:rPr kumimoji="1" lang="en-US" altLang="zh-CN" sz="1200" b="0" i="0" kern="1200" dirty="0" smtClean="0">
                <a:solidFill>
                  <a:schemeClr val="tx1"/>
                </a:solidFill>
                <a:latin typeface="Times New Roman" pitchFamily="18" charset="0"/>
                <a:ea typeface="宋体" pitchFamily="2" charset="-122"/>
                <a:cs typeface="+mn-cs"/>
              </a:rPr>
              <a:t>6</a:t>
            </a:r>
            <a:r>
              <a:rPr kumimoji="1" lang="zh-CN" altLang="en-US" sz="1200" b="0" i="0" kern="1200" dirty="0" smtClean="0">
                <a:solidFill>
                  <a:schemeClr val="tx1"/>
                </a:solidFill>
                <a:latin typeface="Times New Roman" pitchFamily="18" charset="0"/>
                <a:ea typeface="宋体" pitchFamily="2" charset="-122"/>
                <a:cs typeface="+mn-cs"/>
              </a:rPr>
              <a:t>个月及以上的本地农民工。</a:t>
            </a:r>
            <a:endParaRPr kumimoji="1" lang="en-US" altLang="zh-CN" sz="1200" b="0" i="0" kern="1200" dirty="0" smtClean="0">
              <a:solidFill>
                <a:schemeClr val="tx1"/>
              </a:solidFill>
              <a:latin typeface="Times New Roman" pitchFamily="18" charset="0"/>
              <a:ea typeface="宋体" pitchFamily="2" charset="-122"/>
              <a:cs typeface="+mn-cs"/>
            </a:endParaRPr>
          </a:p>
          <a:p>
            <a:r>
              <a:rPr kumimoji="1" lang="en-US" altLang="zh-CN" sz="1200" b="0" i="0" kern="1200" dirty="0" smtClean="0">
                <a:solidFill>
                  <a:schemeClr val="tx1"/>
                </a:solidFill>
                <a:effectLst/>
                <a:latin typeface="Times New Roman" pitchFamily="18" charset="0"/>
                <a:ea typeface="宋体" pitchFamily="2" charset="-122"/>
                <a:cs typeface="+mn-cs"/>
              </a:rPr>
              <a:t>[5]</a:t>
            </a:r>
            <a:r>
              <a:rPr kumimoji="1" lang="zh-CN" altLang="en-US" sz="1200" b="0" i="0" kern="1200" dirty="0" smtClean="0">
                <a:solidFill>
                  <a:schemeClr val="tx1"/>
                </a:solidFill>
                <a:effectLst/>
                <a:latin typeface="Times New Roman" pitchFamily="18" charset="0"/>
                <a:ea typeface="宋体" pitchFamily="2" charset="-122"/>
                <a:cs typeface="+mn-cs"/>
              </a:rPr>
              <a:t>全国人口是指我国大陆</a:t>
            </a:r>
            <a:r>
              <a:rPr kumimoji="1" lang="en-US" altLang="zh-CN" sz="1200" b="0" i="0" kern="1200" dirty="0" smtClean="0">
                <a:solidFill>
                  <a:schemeClr val="tx1"/>
                </a:solidFill>
                <a:effectLst/>
                <a:latin typeface="Times New Roman" pitchFamily="18" charset="0"/>
                <a:ea typeface="宋体" pitchFamily="2" charset="-122"/>
                <a:cs typeface="+mn-cs"/>
              </a:rPr>
              <a:t>31</a:t>
            </a:r>
            <a:r>
              <a:rPr kumimoji="1" lang="zh-CN" altLang="en-US" sz="1200" b="0" i="0" kern="1200" dirty="0" smtClean="0">
                <a:solidFill>
                  <a:schemeClr val="tx1"/>
                </a:solidFill>
                <a:effectLst/>
                <a:latin typeface="Times New Roman" pitchFamily="18" charset="0"/>
                <a:ea typeface="宋体" pitchFamily="2" charset="-122"/>
                <a:cs typeface="+mn-cs"/>
              </a:rPr>
              <a:t>个省、自治区、直辖市和现役军人的人口，不包括居住在</a:t>
            </a:r>
            <a:r>
              <a:rPr kumimoji="1" lang="en-US" altLang="zh-CN" sz="1200" b="0" i="0" kern="1200" dirty="0" smtClean="0">
                <a:solidFill>
                  <a:schemeClr val="tx1"/>
                </a:solidFill>
                <a:effectLst/>
                <a:latin typeface="Times New Roman" pitchFamily="18" charset="0"/>
                <a:ea typeface="宋体" pitchFamily="2" charset="-122"/>
                <a:cs typeface="+mn-cs"/>
              </a:rPr>
              <a:t>31</a:t>
            </a:r>
            <a:r>
              <a:rPr kumimoji="1" lang="zh-CN" altLang="en-US" sz="1200" b="0" i="0" kern="1200" dirty="0" smtClean="0">
                <a:solidFill>
                  <a:schemeClr val="tx1"/>
                </a:solidFill>
                <a:effectLst/>
                <a:latin typeface="Times New Roman" pitchFamily="18" charset="0"/>
                <a:ea typeface="宋体" pitchFamily="2" charset="-122"/>
                <a:cs typeface="+mn-cs"/>
              </a:rPr>
              <a:t>个省、自治区、直辖市的港澳台居民和外籍人员。</a:t>
            </a:r>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lvl="1" indent="625475" eaLnBrk="1" hangingPunct="1">
              <a:lnSpc>
                <a:spcPct val="110000"/>
              </a:lnSpc>
              <a:spcBef>
                <a:spcPts val="0"/>
              </a:spcBef>
              <a:buNone/>
            </a:pPr>
            <a:r>
              <a:rPr lang="zh-CN" altLang="zh-CN" sz="2400" dirty="0" smtClean="0"/>
              <a:t>由于总量指标数值主要是通过汇总得到的，因此，计算和应用总量指标要在一定的理论指导下科学地确定其内涵和外延，确定计算方法。 如要统计国内生产总值，首先要在宏观经济理论的指导下，规定什么是国内生产总值、可以从哪些角度进行计算、包括哪些内容等</a:t>
            </a:r>
            <a:endParaRPr lang="zh-CN" altLang="en-US" sz="2400" dirty="0" smtClean="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5</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11</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dirty="0" smtClean="0">
                <a:solidFill>
                  <a:srgbClr val="C00000"/>
                </a:solidFill>
                <a:latin typeface="arial"/>
              </a:rPr>
              <a:t>生产法</a:t>
            </a:r>
            <a:r>
              <a:rPr lang="en-US" altLang="zh-CN" sz="1200" b="0" dirty="0" smtClean="0">
                <a:solidFill>
                  <a:srgbClr val="C00000"/>
                </a:solidFill>
                <a:latin typeface="arial"/>
              </a:rPr>
              <a:t>GDP=</a:t>
            </a:r>
            <a:r>
              <a:rPr lang="zh-CN" altLang="en-US" sz="1200" b="0" dirty="0" smtClean="0">
                <a:solidFill>
                  <a:srgbClr val="C00000"/>
                </a:solidFill>
                <a:latin typeface="arial"/>
              </a:rPr>
              <a:t>收入法</a:t>
            </a:r>
            <a:r>
              <a:rPr lang="en-US" altLang="zh-CN" sz="1200" b="0" dirty="0" smtClean="0">
                <a:solidFill>
                  <a:srgbClr val="C00000"/>
                </a:solidFill>
                <a:latin typeface="arial"/>
              </a:rPr>
              <a:t>GDP,</a:t>
            </a:r>
            <a:r>
              <a:rPr lang="zh-CN" altLang="en-US" sz="1200" b="0" dirty="0" smtClean="0">
                <a:solidFill>
                  <a:srgbClr val="C00000"/>
                </a:solidFill>
                <a:latin typeface="arial"/>
              </a:rPr>
              <a:t>因为营业盈余是倒扣计算的。</a:t>
            </a:r>
            <a:endParaRPr lang="zh-CN" altLang="en-US" b="0"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2007.11.05-2020.9.21</a:t>
            </a:r>
            <a:r>
              <a:rPr lang="en-US" altLang="zh-CN" baseline="0" dirty="0" smtClean="0"/>
              <a:t> </a:t>
            </a:r>
            <a:r>
              <a:rPr lang="zh-CN" altLang="en-US" dirty="0" smtClean="0"/>
              <a:t>中国石油</a:t>
            </a:r>
            <a:r>
              <a:rPr lang="en-US" altLang="zh-CN" dirty="0" smtClean="0"/>
              <a:t>41.7~48.6—4.26</a:t>
            </a:r>
            <a:r>
              <a:rPr lang="zh-CN" altLang="en-US" dirty="0" smtClean="0"/>
              <a:t>，中国石化</a:t>
            </a:r>
            <a:r>
              <a:rPr lang="en-US" altLang="zh-CN" dirty="0" smtClean="0"/>
              <a:t>26~29.31——4.00</a:t>
            </a:r>
            <a:r>
              <a:rPr lang="zh-CN" altLang="en-US" dirty="0" smtClean="0"/>
              <a:t>，贵州茅台</a:t>
            </a:r>
            <a:r>
              <a:rPr lang="en-US" altLang="zh-CN" dirty="0" smtClean="0"/>
              <a:t>180~186——1666</a:t>
            </a:r>
            <a:r>
              <a:rPr lang="zh-CN" altLang="en-US" dirty="0" smtClean="0"/>
              <a:t>（</a:t>
            </a:r>
            <a:r>
              <a:rPr lang="en-US" altLang="zh-CN" dirty="0" smtClean="0"/>
              <a:t>9</a:t>
            </a:r>
            <a:r>
              <a:rPr lang="zh-CN" altLang="en-US" dirty="0" smtClean="0"/>
              <a:t>月初最高</a:t>
            </a:r>
            <a:r>
              <a:rPr lang="en-US" altLang="zh-CN" dirty="0" smtClean="0"/>
              <a:t>1828</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22</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36</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37</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44</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婆婆养了</a:t>
            </a:r>
            <a:r>
              <a:rPr lang="en-US" altLang="zh-CN" dirty="0" smtClean="0"/>
              <a:t>5</a:t>
            </a:r>
            <a:r>
              <a:rPr lang="zh-CN" altLang="en-US" dirty="0" smtClean="0"/>
              <a:t>只鸡，共下了</a:t>
            </a:r>
            <a:r>
              <a:rPr lang="en-US" altLang="zh-CN" dirty="0" smtClean="0"/>
              <a:t>20</a:t>
            </a:r>
            <a:r>
              <a:rPr lang="zh-CN" altLang="en-US" dirty="0" smtClean="0"/>
              <a:t>个蛋，平均每只鸡下多少蛋？</a:t>
            </a:r>
            <a:r>
              <a:rPr lang="en-US" altLang="zh-CN" dirty="0" smtClean="0"/>
              <a:t>——【4 </a:t>
            </a:r>
            <a:r>
              <a:rPr lang="zh-CN" altLang="en-US" dirty="0" smtClean="0"/>
              <a:t>？</a:t>
            </a:r>
            <a:r>
              <a:rPr lang="en-US" altLang="zh-CN" dirty="0" smtClean="0"/>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a:t>
            </a:r>
            <a:r>
              <a:rPr lang="zh-CN" altLang="en-US" dirty="0" smtClean="0"/>
              <a:t>其中有</a:t>
            </a:r>
            <a:r>
              <a:rPr lang="en-US" altLang="zh-CN" dirty="0" smtClean="0"/>
              <a:t>4</a:t>
            </a:r>
            <a:r>
              <a:rPr lang="zh-CN" altLang="en-US" dirty="0" smtClean="0"/>
              <a:t>只母鸡一只公鸡，共下了</a:t>
            </a:r>
            <a:r>
              <a:rPr lang="en-US" altLang="zh-CN" dirty="0" smtClean="0"/>
              <a:t>30</a:t>
            </a:r>
            <a:r>
              <a:rPr lang="zh-CN" altLang="en-US" dirty="0" smtClean="0"/>
              <a:t>个蛋，平均每只鸡下多少蛋？</a:t>
            </a:r>
            <a:r>
              <a:rPr lang="en-US" altLang="zh-CN" dirty="0" smtClean="0">
                <a:solidFill>
                  <a:srgbClr val="FF0000"/>
                </a:solidFill>
              </a:rPr>
              <a:t>】——【</a:t>
            </a:r>
            <a:r>
              <a:rPr lang="en-US" altLang="zh-CN" b="1" dirty="0" smtClean="0">
                <a:solidFill>
                  <a:srgbClr val="FF0000"/>
                </a:solidFill>
              </a:rPr>
              <a:t>5</a:t>
            </a:r>
            <a:r>
              <a:rPr lang="zh-CN" altLang="en-US" b="1" dirty="0" smtClean="0">
                <a:solidFill>
                  <a:srgbClr val="FF0000"/>
                </a:solidFill>
              </a:rPr>
              <a:t>！</a:t>
            </a:r>
            <a:r>
              <a:rPr lang="en-US" altLang="zh-CN" dirty="0" smtClean="0">
                <a:solidFill>
                  <a:srgbClr val="FF0000"/>
                </a:solidFill>
              </a:rPr>
              <a:t>】</a:t>
            </a:r>
            <a:endParaRPr lang="zh-CN" altLang="en-US" dirty="0" smtClean="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45</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71</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2229CF09-4DB1-4BDE-A3E4-1A212ACD5A93}" type="slidenum">
              <a:rPr lang="en-US" altLang="zh-CN" smtClean="0"/>
              <a:pPr/>
              <a:t>73</a:t>
            </a:fld>
            <a:endParaRPr lang="en-US" altLang="zh-CN" smtClean="0"/>
          </a:p>
        </p:txBody>
      </p:sp>
      <p:sp>
        <p:nvSpPr>
          <p:cNvPr id="151555"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1556"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A380332B-4AB4-49A1-96D2-3A69633CD956}" type="slidenum">
              <a:rPr lang="en-US" altLang="zh-CN" smtClean="0"/>
              <a:pPr/>
              <a:t>78</a:t>
            </a:fld>
            <a:endParaRPr lang="en-US" altLang="zh-CN" smtClean="0"/>
          </a:p>
        </p:txBody>
      </p:sp>
      <p:sp>
        <p:nvSpPr>
          <p:cNvPr id="150531"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dirty="0" smtClean="0"/>
          </a:p>
        </p:txBody>
      </p:sp>
      <p:sp>
        <p:nvSpPr>
          <p:cNvPr id="150532"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extLst>
      <p:ext uri="{BB962C8B-B14F-4D97-AF65-F5344CB8AC3E}">
        <p14:creationId xmlns:p14="http://schemas.microsoft.com/office/powerpoint/2010/main" val="1958964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b="1" i="0" kern="1200" dirty="0" smtClean="0">
                <a:solidFill>
                  <a:srgbClr val="1313FF"/>
                </a:solidFill>
                <a:latin typeface="Times New Roman"/>
                <a:ea typeface="宋体"/>
                <a:cs typeface="+mn-cs"/>
              </a:rPr>
              <a:t>统计房价到底是平均数好还是中位数好</a:t>
            </a:r>
            <a:r>
              <a:rPr kumimoji="1" lang="en-US" altLang="zh-CN" sz="1200" b="1" i="0" kern="1200" dirty="0" smtClean="0">
                <a:solidFill>
                  <a:srgbClr val="1313FF"/>
                </a:solidFill>
                <a:latin typeface="Times New Roman"/>
                <a:ea typeface="宋体"/>
                <a:cs typeface="+mn-cs"/>
              </a:rPr>
              <a:t>?</a:t>
            </a:r>
            <a:r>
              <a:rPr kumimoji="1" lang="en-US" altLang="zh-CN" sz="800" b="1" kern="1200" dirty="0" smtClean="0">
                <a:solidFill>
                  <a:srgbClr val="002060"/>
                </a:solidFill>
                <a:latin typeface="+mn-ea"/>
                <a:ea typeface="宋体" pitchFamily="2" charset="-122"/>
                <a:cs typeface="+mn-cs"/>
              </a:rPr>
              <a:t> 2016</a:t>
            </a:r>
            <a:r>
              <a:rPr kumimoji="1" lang="zh-CN" altLang="en-US" sz="800" b="1" kern="1200" dirty="0" smtClean="0">
                <a:solidFill>
                  <a:srgbClr val="002060"/>
                </a:solidFill>
                <a:latin typeface="+mn-ea"/>
                <a:ea typeface="宋体" pitchFamily="2" charset="-122"/>
                <a:cs typeface="+mn-cs"/>
              </a:rPr>
              <a:t>年底</a:t>
            </a:r>
            <a:r>
              <a:rPr kumimoji="1" lang="zh-CN" altLang="en-US" sz="800" b="1" kern="1200" dirty="0" smtClean="0">
                <a:solidFill>
                  <a:schemeClr val="tx1"/>
                </a:solidFill>
                <a:latin typeface="+mn-ea"/>
                <a:ea typeface="宋体" pitchFamily="2" charset="-122"/>
                <a:cs typeface="+mn-cs"/>
              </a:rPr>
              <a:t>的数据是全国平均房价超过万元的城市</a:t>
            </a:r>
            <a:r>
              <a:rPr kumimoji="1" lang="en-US" altLang="zh-CN" sz="800" b="1" kern="1200" dirty="0" smtClean="0">
                <a:solidFill>
                  <a:schemeClr val="tx1"/>
                </a:solidFill>
                <a:latin typeface="+mn-ea"/>
                <a:ea typeface="宋体" pitchFamily="2" charset="-122"/>
                <a:cs typeface="+mn-cs"/>
              </a:rPr>
              <a:t>19</a:t>
            </a:r>
            <a:r>
              <a:rPr kumimoji="1" lang="zh-CN" altLang="en-US" sz="800" b="1" kern="1200" dirty="0" smtClean="0">
                <a:solidFill>
                  <a:schemeClr val="tx1"/>
                </a:solidFill>
                <a:latin typeface="+mn-ea"/>
                <a:ea typeface="宋体" pitchFamily="2" charset="-122"/>
                <a:cs typeface="+mn-cs"/>
              </a:rPr>
              <a:t>个，其中平均房价超过</a:t>
            </a:r>
            <a:r>
              <a:rPr kumimoji="1" lang="en-US" altLang="zh-CN" sz="800" b="1" kern="1200" dirty="0" smtClean="0">
                <a:solidFill>
                  <a:schemeClr val="tx1"/>
                </a:solidFill>
                <a:latin typeface="+mn-ea"/>
                <a:ea typeface="宋体" pitchFamily="2" charset="-122"/>
                <a:cs typeface="+mn-cs"/>
              </a:rPr>
              <a:t>2</a:t>
            </a:r>
            <a:r>
              <a:rPr kumimoji="1" lang="zh-CN" altLang="en-US" sz="800" b="1" kern="1200" dirty="0" smtClean="0">
                <a:solidFill>
                  <a:schemeClr val="tx1"/>
                </a:solidFill>
                <a:latin typeface="+mn-ea"/>
                <a:ea typeface="宋体" pitchFamily="2" charset="-122"/>
                <a:cs typeface="+mn-cs"/>
              </a:rPr>
              <a:t>万元的城市</a:t>
            </a:r>
            <a:r>
              <a:rPr kumimoji="1" lang="en-US" altLang="zh-CN" sz="800" b="1" kern="1200" dirty="0" smtClean="0">
                <a:solidFill>
                  <a:schemeClr val="tx1"/>
                </a:solidFill>
                <a:latin typeface="+mn-ea"/>
                <a:ea typeface="宋体" pitchFamily="2" charset="-122"/>
                <a:cs typeface="+mn-cs"/>
              </a:rPr>
              <a:t>9</a:t>
            </a:r>
            <a:r>
              <a:rPr kumimoji="1" lang="zh-CN" altLang="en-US" sz="800" b="1" kern="1200" dirty="0" smtClean="0">
                <a:solidFill>
                  <a:schemeClr val="tx1"/>
                </a:solidFill>
                <a:latin typeface="+mn-ea"/>
                <a:ea typeface="宋体" pitchFamily="2" charset="-122"/>
                <a:cs typeface="+mn-cs"/>
              </a:rPr>
              <a:t>个，</a:t>
            </a:r>
            <a:r>
              <a:rPr kumimoji="1" lang="zh-CN" altLang="en-US" sz="800" b="1" kern="1200" dirty="0" smtClean="0">
                <a:solidFill>
                  <a:schemeClr val="tx2"/>
                </a:solidFill>
                <a:latin typeface="+mn-ea"/>
                <a:ea typeface="宋体" pitchFamily="2" charset="-122"/>
                <a:cs typeface="+mn-cs"/>
              </a:rPr>
              <a:t>全国平均房价不到</a:t>
            </a:r>
            <a:r>
              <a:rPr kumimoji="1" lang="en-US" altLang="zh-CN" sz="800" b="1" kern="1200" dirty="0" smtClean="0">
                <a:solidFill>
                  <a:schemeClr val="tx2"/>
                </a:solidFill>
                <a:latin typeface="+mn-ea"/>
                <a:ea typeface="宋体" pitchFamily="2" charset="-122"/>
                <a:cs typeface="+mn-cs"/>
              </a:rPr>
              <a:t>8000</a:t>
            </a:r>
            <a:r>
              <a:rPr kumimoji="1" lang="zh-CN" altLang="en-US" sz="800" b="1" kern="1200" dirty="0" smtClean="0">
                <a:solidFill>
                  <a:schemeClr val="tx2"/>
                </a:solidFill>
                <a:latin typeface="+mn-ea"/>
                <a:ea typeface="宋体" pitchFamily="2" charset="-122"/>
                <a:cs typeface="+mn-cs"/>
              </a:rPr>
              <a:t>元</a:t>
            </a:r>
            <a:r>
              <a:rPr kumimoji="1" lang="en-US" altLang="zh-CN" sz="800" b="1" kern="1200" dirty="0" smtClean="0">
                <a:solidFill>
                  <a:schemeClr val="tx2"/>
                </a:solidFill>
                <a:latin typeface="+mn-ea"/>
                <a:ea typeface="宋体" pitchFamily="2" charset="-122"/>
                <a:cs typeface="+mn-cs"/>
              </a:rPr>
              <a:t>/</a:t>
            </a:r>
            <a:r>
              <a:rPr kumimoji="1" lang="zh-CN" altLang="en-US" sz="800" b="1" kern="1200" dirty="0" smtClean="0">
                <a:solidFill>
                  <a:schemeClr val="tx2"/>
                </a:solidFill>
                <a:latin typeface="+mn-ea"/>
                <a:ea typeface="宋体" pitchFamily="2" charset="-122"/>
                <a:cs typeface="+mn-cs"/>
              </a:rPr>
              <a:t>平方米，但中位数则不到</a:t>
            </a:r>
            <a:r>
              <a:rPr kumimoji="1" lang="en-US" altLang="zh-CN" sz="800" b="1" kern="1200" dirty="0" smtClean="0">
                <a:solidFill>
                  <a:schemeClr val="tx2"/>
                </a:solidFill>
                <a:latin typeface="+mn-ea"/>
                <a:ea typeface="宋体" pitchFamily="2" charset="-122"/>
                <a:cs typeface="+mn-cs"/>
              </a:rPr>
              <a:t>4000</a:t>
            </a:r>
            <a:r>
              <a:rPr kumimoji="1" lang="zh-CN" altLang="en-US" sz="800" b="1" kern="1200" dirty="0" smtClean="0">
                <a:solidFill>
                  <a:schemeClr val="tx2"/>
                </a:solidFill>
                <a:latin typeface="+mn-ea"/>
                <a:ea typeface="宋体" pitchFamily="2" charset="-122"/>
                <a:cs typeface="+mn-cs"/>
              </a:rPr>
              <a:t>元</a:t>
            </a:r>
            <a:r>
              <a:rPr kumimoji="1" lang="en-US" altLang="zh-CN" sz="800" b="1" kern="1200" dirty="0" smtClean="0">
                <a:solidFill>
                  <a:schemeClr val="tx2"/>
                </a:solidFill>
                <a:latin typeface="+mn-ea"/>
                <a:ea typeface="宋体" pitchFamily="2" charset="-122"/>
                <a:cs typeface="+mn-cs"/>
              </a:rPr>
              <a:t>/</a:t>
            </a:r>
            <a:r>
              <a:rPr kumimoji="1" lang="zh-CN" altLang="en-US" sz="800" b="1" kern="1200" dirty="0" smtClean="0">
                <a:solidFill>
                  <a:schemeClr val="tx2"/>
                </a:solidFill>
                <a:latin typeface="+mn-ea"/>
                <a:ea typeface="宋体" pitchFamily="2" charset="-122"/>
                <a:cs typeface="+mn-cs"/>
              </a:rPr>
              <a:t>平方米</a:t>
            </a:r>
            <a:r>
              <a:rPr kumimoji="1" lang="zh-CN" altLang="en-US" sz="800" b="1" kern="1200" dirty="0" smtClean="0">
                <a:solidFill>
                  <a:schemeClr val="tx1"/>
                </a:solidFill>
                <a:latin typeface="+mn-ea"/>
                <a:ea typeface="宋体" pitchFamily="2" charset="-122"/>
                <a:cs typeface="+mn-cs"/>
              </a:rPr>
              <a:t>，相差近一倍。</a:t>
            </a:r>
            <a:endParaRPr kumimoji="1" lang="en-US" altLang="zh-CN" sz="800" b="1" kern="1200" dirty="0" smtClean="0">
              <a:solidFill>
                <a:schemeClr val="tx1"/>
              </a:solidFill>
              <a:latin typeface="+mn-ea"/>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800" b="0" i="0" kern="1200" dirty="0" smtClean="0">
                <a:solidFill>
                  <a:schemeClr val="tx1"/>
                </a:solidFill>
                <a:latin typeface="Times New Roman" pitchFamily="18" charset="0"/>
                <a:ea typeface="宋体" pitchFamily="2" charset="-122"/>
                <a:cs typeface="+mn-cs"/>
              </a:rPr>
              <a:t>任志强认为，国际的房价收入比定义为：国民收入的中位数，每套住房面积的中位数与房屋价格的中位数，三者之间的关系。</a:t>
            </a:r>
            <a:endParaRPr lang="zh-CN" altLang="en-US" dirty="0" smtClean="0">
              <a:solidFill>
                <a:srgbClr val="FF0000"/>
              </a:solidFill>
            </a:endParaRPr>
          </a:p>
        </p:txBody>
      </p:sp>
      <p:sp>
        <p:nvSpPr>
          <p:cNvPr id="152580" name="灯片编号占位符 3"/>
          <p:cNvSpPr>
            <a:spLocks noGrp="1"/>
          </p:cNvSpPr>
          <p:nvPr>
            <p:ph type="sldNum" sz="quarter" idx="5"/>
          </p:nvPr>
        </p:nvSpPr>
        <p:spPr>
          <a:noFill/>
        </p:spPr>
        <p:txBody>
          <a:bodyPr/>
          <a:lstStyle/>
          <a:p>
            <a:fld id="{DCB09594-0D28-4535-9F66-6ECEC3FA0AAD}" type="slidenum">
              <a:rPr lang="en-US" altLang="zh-CN" smtClean="0"/>
              <a:pPr/>
              <a:t>79</a:t>
            </a:fld>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80</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fld id="{F7F7817F-EB6D-4B47-B28B-D87CCE484DB7}" type="slidenum">
              <a:rPr lang="en-US" altLang="zh-CN" smtClean="0"/>
              <a:pPr/>
              <a:t>81</a:t>
            </a:fld>
            <a:endParaRPr lang="en-US" altLang="zh-CN" smtClean="0"/>
          </a:p>
        </p:txBody>
      </p:sp>
      <p:sp>
        <p:nvSpPr>
          <p:cNvPr id="153603"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3604"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fld id="{232343D5-66F5-47D8-BA74-82A94EB42CA0}" type="slidenum">
              <a:rPr lang="en-US" altLang="zh-CN" smtClean="0"/>
              <a:pPr/>
              <a:t>82</a:t>
            </a:fld>
            <a:endParaRPr lang="en-US" altLang="zh-CN" smtClean="0"/>
          </a:p>
        </p:txBody>
      </p:sp>
      <p:sp>
        <p:nvSpPr>
          <p:cNvPr id="154627"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4628"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605919BA-5D03-44D6-ACE1-A5BDABC7218F}" type="slidenum">
              <a:rPr lang="en-US" altLang="zh-CN" smtClean="0"/>
              <a:pPr/>
              <a:t>83</a:t>
            </a:fld>
            <a:endParaRPr lang="en-US" altLang="zh-CN" smtClean="0"/>
          </a:p>
        </p:txBody>
      </p:sp>
      <p:sp>
        <p:nvSpPr>
          <p:cNvPr id="155651"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5652"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20148F9B-8B16-4ADE-A64F-6800FF6D0EF4}" type="slidenum">
              <a:rPr lang="en-US" altLang="zh-CN" smtClean="0"/>
              <a:pPr/>
              <a:t>84</a:t>
            </a:fld>
            <a:endParaRPr lang="en-US" altLang="zh-CN" smtClean="0"/>
          </a:p>
        </p:txBody>
      </p:sp>
      <p:sp>
        <p:nvSpPr>
          <p:cNvPr id="156675"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dirty="0" smtClean="0"/>
          </a:p>
        </p:txBody>
      </p:sp>
      <p:sp>
        <p:nvSpPr>
          <p:cNvPr id="156676"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solidFill>
                  <a:srgbClr val="FF0000"/>
                </a:solidFill>
              </a:rPr>
              <a:t>新冠病毒肺炎的潜伏期：平均</a:t>
            </a:r>
            <a:r>
              <a:rPr lang="en-US" altLang="zh-CN" dirty="0" smtClean="0">
                <a:solidFill>
                  <a:srgbClr val="FF0000"/>
                </a:solidFill>
              </a:rPr>
              <a:t>3.</a:t>
            </a:r>
            <a:r>
              <a:rPr lang="zh-CN" altLang="en-US" dirty="0" smtClean="0">
                <a:solidFill>
                  <a:srgbClr val="FF0000"/>
                </a:solidFill>
              </a:rPr>
              <a:t>天，中位数</a:t>
            </a:r>
            <a:r>
              <a:rPr lang="en-US" altLang="zh-CN" dirty="0" smtClean="0">
                <a:solidFill>
                  <a:srgbClr val="FF0000"/>
                </a:solidFill>
              </a:rPr>
              <a:t>4</a:t>
            </a:r>
            <a:r>
              <a:rPr lang="zh-CN" altLang="en-US" dirty="0" smtClean="0">
                <a:solidFill>
                  <a:srgbClr val="FF0000"/>
                </a:solidFill>
              </a:rPr>
              <a:t>天。</a:t>
            </a:r>
            <a:endParaRPr lang="en-US" altLang="zh-CN" dirty="0" smtClean="0">
              <a:solidFill>
                <a:srgbClr val="FF0000"/>
              </a:solidFill>
            </a:endParaRPr>
          </a:p>
          <a:p>
            <a:r>
              <a:rPr kumimoji="1" lang="zh-CN" altLang="en-US" sz="1200" b="0" i="0" kern="1200" dirty="0" smtClean="0">
                <a:solidFill>
                  <a:schemeClr val="tx1"/>
                </a:solidFill>
                <a:latin typeface="Times New Roman" pitchFamily="18" charset="0"/>
                <a:ea typeface="宋体" pitchFamily="2" charset="-122"/>
                <a:cs typeface="+mn-cs"/>
              </a:rPr>
              <a:t>新华社北京</a:t>
            </a:r>
            <a:r>
              <a:rPr kumimoji="1" lang="en-US" altLang="zh-CN" sz="1200" b="0" i="0" kern="1200" dirty="0" smtClean="0">
                <a:solidFill>
                  <a:schemeClr val="tx1"/>
                </a:solidFill>
                <a:latin typeface="Times New Roman" pitchFamily="18" charset="0"/>
                <a:ea typeface="宋体" pitchFamily="2" charset="-122"/>
                <a:cs typeface="+mn-cs"/>
              </a:rPr>
              <a:t>2</a:t>
            </a:r>
            <a:r>
              <a:rPr kumimoji="1" lang="zh-CN" altLang="en-US" sz="1200" b="0" i="0" kern="1200" dirty="0" smtClean="0">
                <a:solidFill>
                  <a:schemeClr val="tx1"/>
                </a:solidFill>
                <a:latin typeface="Times New Roman" pitchFamily="18" charset="0"/>
                <a:ea typeface="宋体" pitchFamily="2" charset="-122"/>
                <a:cs typeface="+mn-cs"/>
              </a:rPr>
              <a:t>月</a:t>
            </a:r>
            <a:r>
              <a:rPr kumimoji="1" lang="en-US" altLang="zh-CN" sz="1200" b="0" i="0" kern="1200" dirty="0" smtClean="0">
                <a:solidFill>
                  <a:schemeClr val="tx1"/>
                </a:solidFill>
                <a:latin typeface="Times New Roman" pitchFamily="18" charset="0"/>
                <a:ea typeface="宋体" pitchFamily="2" charset="-122"/>
                <a:cs typeface="+mn-cs"/>
              </a:rPr>
              <a:t>11</a:t>
            </a:r>
            <a:r>
              <a:rPr kumimoji="1" lang="zh-CN" altLang="en-US" sz="1200" b="0" i="0" kern="1200" dirty="0" smtClean="0">
                <a:solidFill>
                  <a:schemeClr val="tx1"/>
                </a:solidFill>
                <a:latin typeface="Times New Roman" pitchFamily="18" charset="0"/>
                <a:ea typeface="宋体" pitchFamily="2" charset="-122"/>
                <a:cs typeface="+mn-cs"/>
              </a:rPr>
              <a:t>日，钟南山团队关于</a:t>
            </a:r>
            <a:r>
              <a:rPr kumimoji="1" lang="en-US" altLang="zh-CN" sz="1200" b="0" i="0" kern="1200" dirty="0" smtClean="0">
                <a:solidFill>
                  <a:schemeClr val="tx1"/>
                </a:solidFill>
                <a:latin typeface="Times New Roman" pitchFamily="18" charset="0"/>
                <a:ea typeface="宋体" pitchFamily="2" charset="-122"/>
                <a:cs typeface="+mn-cs"/>
              </a:rPr>
              <a:t>1099</a:t>
            </a:r>
            <a:r>
              <a:rPr kumimoji="1" lang="zh-CN" altLang="en-US" sz="1200" b="0" i="0" kern="1200" dirty="0" smtClean="0">
                <a:solidFill>
                  <a:schemeClr val="tx1"/>
                </a:solidFill>
                <a:latin typeface="Times New Roman" pitchFamily="18" charset="0"/>
                <a:ea typeface="宋体" pitchFamily="2" charset="-122"/>
                <a:cs typeface="+mn-cs"/>
              </a:rPr>
              <a:t>例新冠肺炎患者临床特征的文章，是全国</a:t>
            </a:r>
            <a:r>
              <a:rPr kumimoji="1" lang="en-US" altLang="zh-CN" sz="1200" b="0" i="0" kern="1200" dirty="0" smtClean="0">
                <a:solidFill>
                  <a:schemeClr val="tx1"/>
                </a:solidFill>
                <a:latin typeface="Times New Roman" pitchFamily="18" charset="0"/>
                <a:ea typeface="宋体" pitchFamily="2" charset="-122"/>
                <a:cs typeface="+mn-cs"/>
              </a:rPr>
              <a:t>30</a:t>
            </a:r>
            <a:r>
              <a:rPr kumimoji="1" lang="zh-CN" altLang="en-US" sz="1200" b="0" i="0" kern="1200" dirty="0" smtClean="0">
                <a:solidFill>
                  <a:schemeClr val="tx1"/>
                </a:solidFill>
                <a:latin typeface="Times New Roman" pitchFamily="18" charset="0"/>
                <a:ea typeface="宋体" pitchFamily="2" charset="-122"/>
                <a:cs typeface="+mn-cs"/>
              </a:rPr>
              <a:t>个省市区共计</a:t>
            </a:r>
            <a:r>
              <a:rPr kumimoji="1" lang="en-US" altLang="zh-CN" sz="1200" b="0" i="0" kern="1200" dirty="0" smtClean="0">
                <a:solidFill>
                  <a:schemeClr val="tx1"/>
                </a:solidFill>
                <a:latin typeface="Times New Roman" pitchFamily="18" charset="0"/>
                <a:ea typeface="宋体" pitchFamily="2" charset="-122"/>
                <a:cs typeface="+mn-cs"/>
              </a:rPr>
              <a:t>552</a:t>
            </a:r>
            <a:r>
              <a:rPr kumimoji="1" lang="zh-CN" altLang="en-US" sz="1200" b="0" i="0" kern="1200" dirty="0" smtClean="0">
                <a:solidFill>
                  <a:schemeClr val="tx1"/>
                </a:solidFill>
                <a:latin typeface="Times New Roman" pitchFamily="18" charset="0"/>
                <a:ea typeface="宋体" pitchFamily="2" charset="-122"/>
                <a:cs typeface="+mn-cs"/>
              </a:rPr>
              <a:t>家医院提供临床的数据进行综合分析的。潜伏期根据患者讲述过接触传染源时间以及症状最早出现的时间进行计算，最长的是</a:t>
            </a:r>
            <a:r>
              <a:rPr kumimoji="1" lang="en-US" altLang="zh-CN" sz="1200" b="0" i="0" kern="1200" dirty="0" smtClean="0">
                <a:solidFill>
                  <a:schemeClr val="tx1"/>
                </a:solidFill>
                <a:latin typeface="Times New Roman" pitchFamily="18" charset="0"/>
                <a:ea typeface="宋体" pitchFamily="2" charset="-122"/>
                <a:cs typeface="+mn-cs"/>
              </a:rPr>
              <a:t>24</a:t>
            </a:r>
            <a:r>
              <a:rPr kumimoji="1" lang="zh-CN" altLang="en-US" sz="1200" b="0" i="0" kern="1200" dirty="0" smtClean="0">
                <a:solidFill>
                  <a:schemeClr val="tx1"/>
                </a:solidFill>
                <a:latin typeface="Times New Roman" pitchFamily="18" charset="0"/>
                <a:ea typeface="宋体" pitchFamily="2" charset="-122"/>
                <a:cs typeface="+mn-cs"/>
              </a:rPr>
              <a:t>天只有</a:t>
            </a:r>
            <a:r>
              <a:rPr kumimoji="1" lang="en-US" altLang="zh-CN" sz="1200" b="0" i="0" kern="1200" dirty="0" smtClean="0">
                <a:solidFill>
                  <a:schemeClr val="tx1"/>
                </a:solidFill>
                <a:latin typeface="Times New Roman" pitchFamily="18" charset="0"/>
                <a:ea typeface="宋体" pitchFamily="2" charset="-122"/>
                <a:cs typeface="+mn-cs"/>
              </a:rPr>
              <a:t>1</a:t>
            </a:r>
            <a:r>
              <a:rPr kumimoji="1" lang="zh-CN" altLang="en-US" sz="1200" b="0" i="0" kern="1200" dirty="0" smtClean="0">
                <a:solidFill>
                  <a:schemeClr val="tx1"/>
                </a:solidFill>
                <a:latin typeface="Times New Roman" pitchFamily="18" charset="0"/>
                <a:ea typeface="宋体" pitchFamily="2" charset="-122"/>
                <a:cs typeface="+mn-cs"/>
              </a:rPr>
              <a:t>例，以这仅有的</a:t>
            </a:r>
            <a:r>
              <a:rPr kumimoji="1" lang="en-US" altLang="zh-CN" sz="1200" b="0" i="0" kern="1200" dirty="0" smtClean="0">
                <a:solidFill>
                  <a:schemeClr val="tx1"/>
                </a:solidFill>
                <a:latin typeface="Times New Roman" pitchFamily="18" charset="0"/>
                <a:ea typeface="宋体" pitchFamily="2" charset="-122"/>
                <a:cs typeface="+mn-cs"/>
              </a:rPr>
              <a:t>1</a:t>
            </a:r>
            <a:r>
              <a:rPr kumimoji="1" lang="zh-CN" altLang="en-US" sz="1200" b="0" i="0" kern="1200" dirty="0" smtClean="0">
                <a:solidFill>
                  <a:schemeClr val="tx1"/>
                </a:solidFill>
                <a:latin typeface="Times New Roman" pitchFamily="18" charset="0"/>
                <a:ea typeface="宋体" pitchFamily="2" charset="-122"/>
                <a:cs typeface="+mn-cs"/>
              </a:rPr>
              <a:t>例患者报道的时间作为疾病的最长潜伏期是不够科学。研究显示所有患者潜伏期的中位数是</a:t>
            </a:r>
            <a:r>
              <a:rPr kumimoji="1" lang="en-US" altLang="zh-CN" sz="1200" b="0" i="0" kern="1200" dirty="0" smtClean="0">
                <a:solidFill>
                  <a:schemeClr val="tx1"/>
                </a:solidFill>
                <a:latin typeface="Times New Roman" pitchFamily="18" charset="0"/>
                <a:ea typeface="宋体" pitchFamily="2" charset="-122"/>
                <a:cs typeface="+mn-cs"/>
              </a:rPr>
              <a:t>4</a:t>
            </a:r>
            <a:r>
              <a:rPr kumimoji="1" lang="zh-CN" altLang="en-US" sz="1200" b="0" i="0" kern="1200" dirty="0" smtClean="0">
                <a:solidFill>
                  <a:schemeClr val="tx1"/>
                </a:solidFill>
                <a:latin typeface="Times New Roman" pitchFamily="18" charset="0"/>
                <a:ea typeface="宋体" pitchFamily="2" charset="-122"/>
                <a:cs typeface="+mn-cs"/>
              </a:rPr>
              <a:t>天，这篇文章将报道四分位间距，分别是</a:t>
            </a:r>
            <a:r>
              <a:rPr kumimoji="1" lang="en-US" altLang="zh-CN" sz="1200" b="0" i="0" kern="1200" dirty="0" smtClean="0">
                <a:solidFill>
                  <a:schemeClr val="tx1"/>
                </a:solidFill>
                <a:latin typeface="Times New Roman" pitchFamily="18" charset="0"/>
                <a:ea typeface="宋体" pitchFamily="2" charset="-122"/>
                <a:cs typeface="+mn-cs"/>
              </a:rPr>
              <a:t>2</a:t>
            </a:r>
            <a:r>
              <a:rPr kumimoji="1" lang="zh-CN" altLang="en-US" sz="1200" b="0" i="0" kern="1200" dirty="0" smtClean="0">
                <a:solidFill>
                  <a:schemeClr val="tx1"/>
                </a:solidFill>
                <a:latin typeface="Times New Roman" pitchFamily="18" charset="0"/>
                <a:ea typeface="宋体" pitchFamily="2" charset="-122"/>
                <a:cs typeface="+mn-cs"/>
              </a:rPr>
              <a:t>天与</a:t>
            </a:r>
            <a:r>
              <a:rPr kumimoji="1" lang="en-US" altLang="zh-CN" sz="1200" b="0" i="0" kern="1200" dirty="0" smtClean="0">
                <a:solidFill>
                  <a:schemeClr val="tx1"/>
                </a:solidFill>
                <a:latin typeface="Times New Roman" pitchFamily="18" charset="0"/>
                <a:ea typeface="宋体" pitchFamily="2" charset="-122"/>
                <a:cs typeface="+mn-cs"/>
              </a:rPr>
              <a:t>7</a:t>
            </a:r>
            <a:r>
              <a:rPr kumimoji="1" lang="zh-CN" altLang="en-US" sz="1200" b="0" i="0" kern="1200" dirty="0" smtClean="0">
                <a:solidFill>
                  <a:schemeClr val="tx1"/>
                </a:solidFill>
                <a:latin typeface="Times New Roman" pitchFamily="18" charset="0"/>
                <a:ea typeface="宋体" pitchFamily="2" charset="-122"/>
                <a:cs typeface="+mn-cs"/>
              </a:rPr>
              <a:t>天</a:t>
            </a:r>
            <a:r>
              <a:rPr kumimoji="1" lang="en-US" altLang="zh-CN" sz="1200" b="0" i="0" kern="1200" dirty="0" smtClean="0">
                <a:solidFill>
                  <a:schemeClr val="tx1"/>
                </a:solidFill>
                <a:latin typeface="Times New Roman" pitchFamily="18" charset="0"/>
                <a:ea typeface="宋体" pitchFamily="2" charset="-122"/>
                <a:cs typeface="+mn-cs"/>
              </a:rPr>
              <a:t>(</a:t>
            </a:r>
            <a:r>
              <a:rPr kumimoji="1" lang="zh-CN" altLang="en-US" sz="1200" b="0" i="0" kern="1200" dirty="0" smtClean="0">
                <a:solidFill>
                  <a:schemeClr val="tx1"/>
                </a:solidFill>
                <a:latin typeface="Times New Roman" pitchFamily="18" charset="0"/>
                <a:ea typeface="宋体" pitchFamily="2" charset="-122"/>
                <a:cs typeface="+mn-cs"/>
              </a:rPr>
              <a:t>即差距为</a:t>
            </a:r>
            <a:r>
              <a:rPr kumimoji="1" lang="en-US" altLang="zh-CN" sz="1200" b="0" i="0" kern="1200" dirty="0" smtClean="0">
                <a:solidFill>
                  <a:schemeClr val="tx1"/>
                </a:solidFill>
                <a:latin typeface="Times New Roman" pitchFamily="18" charset="0"/>
                <a:ea typeface="宋体" pitchFamily="2" charset="-122"/>
                <a:cs typeface="+mn-cs"/>
              </a:rPr>
              <a:t>5</a:t>
            </a:r>
            <a:r>
              <a:rPr kumimoji="1" lang="zh-CN" altLang="en-US" sz="1200" b="0" i="0" kern="1200" dirty="0" smtClean="0">
                <a:solidFill>
                  <a:schemeClr val="tx1"/>
                </a:solidFill>
                <a:latin typeface="Times New Roman" pitchFamily="18" charset="0"/>
                <a:ea typeface="宋体" pitchFamily="2" charset="-122"/>
                <a:cs typeface="+mn-cs"/>
              </a:rPr>
              <a:t>天</a:t>
            </a:r>
            <a:r>
              <a:rPr kumimoji="1" lang="en-US" altLang="zh-CN" sz="1200" b="0" i="0" kern="1200" dirty="0" smtClean="0">
                <a:solidFill>
                  <a:schemeClr val="tx1"/>
                </a:solidFill>
                <a:latin typeface="Times New Roman" pitchFamily="18" charset="0"/>
                <a:ea typeface="宋体" pitchFamily="2" charset="-122"/>
                <a:cs typeface="+mn-cs"/>
              </a:rPr>
              <a:t>)</a:t>
            </a:r>
            <a:r>
              <a:rPr kumimoji="1" lang="zh-CN" altLang="en-US" sz="1200" b="0" i="0" kern="1200" dirty="0" smtClean="0">
                <a:solidFill>
                  <a:schemeClr val="tx1"/>
                </a:solidFill>
                <a:latin typeface="Times New Roman" pitchFamily="18" charset="0"/>
                <a:ea typeface="宋体" pitchFamily="2" charset="-122"/>
                <a:cs typeface="+mn-cs"/>
              </a:rPr>
              <a:t>，其更加科学地反映人群的总体情况。</a:t>
            </a:r>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89</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分位数的应用通常是在总体单位数充分多的场合。本例仅仅</a:t>
            </a:r>
            <a:r>
              <a:rPr lang="en-US" altLang="zh-CN" dirty="0" smtClean="0"/>
              <a:t>10</a:t>
            </a:r>
            <a:r>
              <a:rPr lang="zh-CN" altLang="en-US" dirty="0" smtClean="0"/>
              <a:t>个单位，没必要计算四分位数。这里只是为了说明计算方法。</a:t>
            </a:r>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90</a:t>
            </a:fld>
            <a:endParaRPr lang="en-US" altLang="zh-CN"/>
          </a:p>
        </p:txBody>
      </p:sp>
    </p:spTree>
    <p:extLst>
      <p:ext uri="{BB962C8B-B14F-4D97-AF65-F5344CB8AC3E}">
        <p14:creationId xmlns:p14="http://schemas.microsoft.com/office/powerpoint/2010/main" val="3068778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p:spPr>
        <p:txBody>
          <a:bodyPr/>
          <a:lstStyle/>
          <a:p>
            <a:r>
              <a:rPr lang="zh-CN" altLang="en-US" smtClean="0"/>
              <a:t>五等份收入分组是指将所有调查户按人均收入水平从低到高顺序排列，平均分为五个等份，处于最高</a:t>
            </a:r>
            <a:r>
              <a:rPr lang="en-US" altLang="zh-CN" smtClean="0"/>
              <a:t>20%</a:t>
            </a:r>
            <a:r>
              <a:rPr lang="zh-CN" altLang="en-US" smtClean="0"/>
              <a:t>的收入群体为高收入组，依此类推依次为中等偏上收入组、中等收入组、中等偏下收入组、低收入组。</a:t>
            </a:r>
          </a:p>
        </p:txBody>
      </p:sp>
      <p:sp>
        <p:nvSpPr>
          <p:cNvPr id="157700" name="灯片编号占位符 3"/>
          <p:cNvSpPr>
            <a:spLocks noGrp="1"/>
          </p:cNvSpPr>
          <p:nvPr>
            <p:ph type="sldNum" sz="quarter" idx="5"/>
          </p:nvPr>
        </p:nvSpPr>
        <p:spPr>
          <a:noFill/>
        </p:spPr>
        <p:txBody>
          <a:bodyPr/>
          <a:lstStyle/>
          <a:p>
            <a:fld id="{916D95F7-D738-4435-84E9-FC32BF949EAD}" type="slidenum">
              <a:rPr lang="en-US" altLang="zh-CN" smtClean="0"/>
              <a:pPr/>
              <a:t>91</a:t>
            </a:fld>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10000"/>
          </a:bodyPr>
          <a:lstStyle/>
          <a:p>
            <a:pPr lvl="1" eaLnBrk="1" hangingPunct="1">
              <a:lnSpc>
                <a:spcPct val="120000"/>
              </a:lnSpc>
              <a:spcBef>
                <a:spcPct val="30000"/>
              </a:spcBef>
              <a:buNone/>
            </a:pPr>
            <a:r>
              <a:rPr lang="zh-CN" altLang="en-US" sz="2000" b="0" dirty="0" smtClean="0">
                <a:solidFill>
                  <a:schemeClr val="tx1">
                    <a:lumMod val="50000"/>
                  </a:schemeClr>
                </a:solidFill>
              </a:rPr>
              <a:t>高（低）位数是一系列工资价位按照从高向低的次序排列后，从高（低）依次抽取整个系列一定百分比数量的价位所求得的算数平均。一般指十分位数，也有的指四分位数。</a:t>
            </a:r>
            <a:endParaRPr lang="en-US" altLang="zh-CN" sz="2000" b="0" dirty="0" smtClean="0">
              <a:solidFill>
                <a:schemeClr val="tx1">
                  <a:lumMod val="50000"/>
                </a:schemeClr>
              </a:solidFill>
            </a:endParaRPr>
          </a:p>
          <a:p>
            <a:pPr lvl="1" eaLnBrk="1" hangingPunct="1">
              <a:lnSpc>
                <a:spcPct val="120000"/>
              </a:lnSpc>
              <a:spcBef>
                <a:spcPct val="30000"/>
              </a:spcBef>
              <a:buNone/>
            </a:pPr>
            <a:r>
              <a:rPr lang="zh-CN" altLang="en-US" sz="2000" b="0" dirty="0" smtClean="0">
                <a:solidFill>
                  <a:schemeClr val="tx1">
                    <a:lumMod val="50000"/>
                  </a:schemeClr>
                </a:solidFill>
              </a:rPr>
              <a:t>广州市人社局发布在</a:t>
            </a:r>
            <a:r>
              <a:rPr lang="en-US" altLang="zh-CN" sz="2000" b="0" dirty="0" smtClean="0">
                <a:solidFill>
                  <a:schemeClr val="tx1">
                    <a:lumMod val="50000"/>
                  </a:schemeClr>
                </a:solidFill>
              </a:rPr>
              <a:t>2017</a:t>
            </a:r>
            <a:r>
              <a:rPr lang="zh-CN" altLang="en-US" sz="2000" b="0" dirty="0" smtClean="0">
                <a:solidFill>
                  <a:schemeClr val="tx1">
                    <a:lumMod val="50000"/>
                  </a:schemeClr>
                </a:solidFill>
              </a:rPr>
              <a:t>年</a:t>
            </a:r>
            <a:r>
              <a:rPr lang="en-US" altLang="zh-CN" sz="2000" b="0" dirty="0" smtClean="0">
                <a:solidFill>
                  <a:schemeClr val="tx1">
                    <a:lumMod val="50000"/>
                  </a:schemeClr>
                </a:solidFill>
              </a:rPr>
              <a:t>12</a:t>
            </a:r>
            <a:r>
              <a:rPr lang="zh-CN" altLang="en-US" sz="2000" b="0" dirty="0" smtClean="0">
                <a:solidFill>
                  <a:schemeClr val="tx1">
                    <a:lumMod val="50000"/>
                  </a:schemeClr>
                </a:solidFill>
              </a:rPr>
              <a:t>月</a:t>
            </a:r>
            <a:r>
              <a:rPr lang="en-US" altLang="zh-CN" sz="2000" b="0" dirty="0" smtClean="0">
                <a:solidFill>
                  <a:schemeClr val="tx1">
                    <a:lumMod val="50000"/>
                  </a:schemeClr>
                </a:solidFill>
              </a:rPr>
              <a:t>29</a:t>
            </a:r>
            <a:r>
              <a:rPr lang="zh-CN" altLang="en-US" sz="2000" b="0" dirty="0" smtClean="0">
                <a:solidFill>
                  <a:schemeClr val="tx1">
                    <a:lumMod val="50000"/>
                  </a:schemeClr>
                </a:solidFill>
              </a:rPr>
              <a:t>日发布的</a:t>
            </a:r>
            <a:r>
              <a:rPr lang="en-US" altLang="zh-CN" sz="2000" b="0" dirty="0" smtClean="0">
                <a:solidFill>
                  <a:schemeClr val="tx1">
                    <a:lumMod val="50000"/>
                  </a:schemeClr>
                </a:solidFill>
              </a:rPr>
              <a:t>《</a:t>
            </a:r>
            <a:r>
              <a:rPr lang="zh-CN" altLang="en-US" sz="2000" b="0" dirty="0" smtClean="0">
                <a:solidFill>
                  <a:schemeClr val="tx1">
                    <a:lumMod val="50000"/>
                  </a:schemeClr>
                </a:solidFill>
              </a:rPr>
              <a:t>广州市</a:t>
            </a:r>
            <a:r>
              <a:rPr lang="en-US" altLang="zh-CN" sz="2000" b="0" dirty="0" smtClean="0">
                <a:solidFill>
                  <a:schemeClr val="tx1">
                    <a:lumMod val="50000"/>
                  </a:schemeClr>
                </a:solidFill>
              </a:rPr>
              <a:t>2017</a:t>
            </a:r>
            <a:r>
              <a:rPr lang="zh-CN" altLang="en-US" sz="2000" b="0" dirty="0" smtClean="0">
                <a:solidFill>
                  <a:schemeClr val="tx1">
                    <a:lumMod val="50000"/>
                  </a:schemeClr>
                </a:solidFill>
              </a:rPr>
              <a:t>年人力资源市场工资指导价位</a:t>
            </a:r>
            <a:r>
              <a:rPr lang="en-US" altLang="zh-CN" sz="2000" b="0" dirty="0" smtClean="0">
                <a:solidFill>
                  <a:schemeClr val="tx1">
                    <a:lumMod val="50000"/>
                  </a:schemeClr>
                </a:solidFill>
              </a:rPr>
              <a:t>》</a:t>
            </a:r>
            <a:r>
              <a:rPr lang="zh-CN" altLang="en-US" sz="2000" b="0" dirty="0" smtClean="0">
                <a:solidFill>
                  <a:schemeClr val="tx1">
                    <a:lumMod val="50000"/>
                  </a:schemeClr>
                </a:solidFill>
              </a:rPr>
              <a:t>，综合来看平均年薪的指导价位是</a:t>
            </a:r>
            <a:r>
              <a:rPr lang="en-US" altLang="zh-CN" sz="2000" b="0" dirty="0" smtClean="0">
                <a:solidFill>
                  <a:schemeClr val="tx1">
                    <a:lumMod val="50000"/>
                  </a:schemeClr>
                </a:solidFill>
              </a:rPr>
              <a:t>66864</a:t>
            </a:r>
            <a:r>
              <a:rPr lang="zh-CN" altLang="en-US" sz="2000" b="0" dirty="0" smtClean="0">
                <a:solidFill>
                  <a:schemeClr val="tx1">
                    <a:lumMod val="50000"/>
                  </a:schemeClr>
                </a:solidFill>
              </a:rPr>
              <a:t>元，中位数为</a:t>
            </a:r>
            <a:r>
              <a:rPr lang="en-US" altLang="zh-CN" sz="2000" b="0" dirty="0" smtClean="0">
                <a:solidFill>
                  <a:schemeClr val="tx1">
                    <a:lumMod val="50000"/>
                  </a:schemeClr>
                </a:solidFill>
              </a:rPr>
              <a:t>49200</a:t>
            </a:r>
            <a:r>
              <a:rPr lang="zh-CN" altLang="en-US" sz="2000" b="0" dirty="0" smtClean="0">
                <a:solidFill>
                  <a:schemeClr val="tx1">
                    <a:lumMod val="50000"/>
                  </a:schemeClr>
                </a:solidFill>
              </a:rPr>
              <a:t>元，而低位数与高位数分别为</a:t>
            </a:r>
            <a:r>
              <a:rPr lang="en-US" altLang="zh-CN" sz="2000" b="0" dirty="0" smtClean="0">
                <a:solidFill>
                  <a:schemeClr val="tx1">
                    <a:lumMod val="50000"/>
                  </a:schemeClr>
                </a:solidFill>
              </a:rPr>
              <a:t>24816</a:t>
            </a:r>
            <a:r>
              <a:rPr lang="zh-CN" altLang="en-US" sz="2000" b="0" dirty="0" smtClean="0">
                <a:solidFill>
                  <a:schemeClr val="tx1">
                    <a:lumMod val="50000"/>
                  </a:schemeClr>
                </a:solidFill>
              </a:rPr>
              <a:t>元以及</a:t>
            </a:r>
            <a:r>
              <a:rPr lang="en-US" altLang="zh-CN" sz="2000" b="0" dirty="0" smtClean="0">
                <a:solidFill>
                  <a:schemeClr val="tx1">
                    <a:lumMod val="50000"/>
                  </a:schemeClr>
                </a:solidFill>
              </a:rPr>
              <a:t>212220</a:t>
            </a:r>
            <a:r>
              <a:rPr lang="zh-CN" altLang="en-US" sz="2000" b="0" dirty="0" smtClean="0">
                <a:solidFill>
                  <a:schemeClr val="tx1">
                    <a:lumMod val="50000"/>
                  </a:schemeClr>
                </a:solidFill>
              </a:rPr>
              <a:t>元。</a:t>
            </a:r>
            <a:r>
              <a:rPr lang="zh-CN" altLang="en-US" sz="2000" b="1" dirty="0" smtClean="0">
                <a:solidFill>
                  <a:srgbClr val="FF0000"/>
                </a:solidFill>
              </a:rPr>
              <a:t>低位数</a:t>
            </a:r>
            <a:r>
              <a:rPr lang="zh-CN" altLang="en-US" sz="2000" b="0" dirty="0" smtClean="0">
                <a:solidFill>
                  <a:schemeClr val="tx1">
                    <a:lumMod val="50000"/>
                  </a:schemeClr>
                </a:solidFill>
              </a:rPr>
              <a:t>是</a:t>
            </a:r>
            <a:r>
              <a:rPr lang="zh-CN" altLang="en-US" sz="2000" b="0" dirty="0" smtClean="0">
                <a:solidFill>
                  <a:srgbClr val="FF0000"/>
                </a:solidFill>
              </a:rPr>
              <a:t>指样本数据按照工资水平从低到高排序后，数列中前</a:t>
            </a:r>
            <a:r>
              <a:rPr lang="en-US" altLang="zh-CN" sz="2000" b="0" dirty="0" smtClean="0">
                <a:solidFill>
                  <a:srgbClr val="FF0000"/>
                </a:solidFill>
              </a:rPr>
              <a:t>10%</a:t>
            </a:r>
            <a:r>
              <a:rPr lang="zh-CN" altLang="en-US" sz="2000" b="0" dirty="0" smtClean="0">
                <a:solidFill>
                  <a:srgbClr val="FF0000"/>
                </a:solidFill>
              </a:rPr>
              <a:t>的数据的算术平均；</a:t>
            </a:r>
            <a:r>
              <a:rPr lang="zh-CN" altLang="en-US" sz="2000" b="1" dirty="0" smtClean="0">
                <a:solidFill>
                  <a:srgbClr val="FF0000"/>
                </a:solidFill>
              </a:rPr>
              <a:t>中位数</a:t>
            </a:r>
            <a:r>
              <a:rPr lang="zh-CN" altLang="en-US" sz="2000" b="0" dirty="0" smtClean="0">
                <a:solidFill>
                  <a:srgbClr val="FF0000"/>
                </a:solidFill>
              </a:rPr>
              <a:t>是指排在</a:t>
            </a:r>
            <a:r>
              <a:rPr lang="en-US" altLang="zh-CN" sz="2000" b="0" dirty="0" smtClean="0">
                <a:solidFill>
                  <a:srgbClr val="FF0000"/>
                </a:solidFill>
              </a:rPr>
              <a:t>50</a:t>
            </a:r>
            <a:r>
              <a:rPr lang="zh-CN" altLang="en-US" sz="2000" b="0" dirty="0" smtClean="0">
                <a:solidFill>
                  <a:srgbClr val="FF0000"/>
                </a:solidFill>
              </a:rPr>
              <a:t>分位值的数据；</a:t>
            </a:r>
            <a:r>
              <a:rPr lang="zh-CN" altLang="en-US" sz="2000" b="1" u="sng" dirty="0" smtClean="0">
                <a:solidFill>
                  <a:srgbClr val="FF0000"/>
                </a:solidFill>
              </a:rPr>
              <a:t>高位数</a:t>
            </a:r>
            <a:r>
              <a:rPr lang="zh-CN" altLang="en-US" sz="2000" b="0" u="sng" dirty="0" smtClean="0">
                <a:solidFill>
                  <a:srgbClr val="FF0000"/>
                </a:solidFill>
              </a:rPr>
              <a:t>是指数列后</a:t>
            </a:r>
            <a:r>
              <a:rPr lang="en-US" altLang="zh-CN" sz="2000" b="0" u="sng" dirty="0" smtClean="0">
                <a:solidFill>
                  <a:srgbClr val="FF0000"/>
                </a:solidFill>
              </a:rPr>
              <a:t>10%</a:t>
            </a:r>
            <a:r>
              <a:rPr lang="zh-CN" altLang="en-US" sz="2000" b="0" u="sng" dirty="0" smtClean="0">
                <a:solidFill>
                  <a:srgbClr val="FF0000"/>
                </a:solidFill>
              </a:rPr>
              <a:t>的数据的算术平均</a:t>
            </a:r>
            <a:r>
              <a:rPr lang="zh-CN" altLang="en-US" sz="2000" b="0" dirty="0" smtClean="0">
                <a:solidFill>
                  <a:schemeClr val="tx1">
                    <a:lumMod val="50000"/>
                  </a:schemeClr>
                </a:solidFill>
              </a:rPr>
              <a:t>；</a:t>
            </a:r>
            <a:r>
              <a:rPr lang="zh-CN" altLang="en-US" sz="2000" b="1" dirty="0" smtClean="0">
                <a:solidFill>
                  <a:schemeClr val="tx1">
                    <a:lumMod val="50000"/>
                  </a:schemeClr>
                </a:solidFill>
              </a:rPr>
              <a:t>平均数</a:t>
            </a:r>
            <a:r>
              <a:rPr lang="zh-CN" altLang="en-US" sz="2000" b="0" dirty="0" smtClean="0">
                <a:solidFill>
                  <a:schemeClr val="tx1">
                    <a:lumMod val="50000"/>
                  </a:schemeClr>
                </a:solidFill>
              </a:rPr>
              <a:t>是指全部样本数据的平均数。</a:t>
            </a:r>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92</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EB0C2149-271F-4AE0-9528-2EF8A70BC655}" type="slidenum">
              <a:rPr lang="en-US" altLang="zh-CN" smtClean="0"/>
              <a:pPr/>
              <a:t>94</a:t>
            </a:fld>
            <a:endParaRPr lang="en-US" altLang="zh-CN" smtClean="0"/>
          </a:p>
        </p:txBody>
      </p:sp>
      <p:sp>
        <p:nvSpPr>
          <p:cNvPr id="158723"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8724"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105</a:t>
            </a:fld>
            <a:endParaRPr lang="en-US" altLang="zh-CN"/>
          </a:p>
        </p:txBody>
      </p:sp>
    </p:spTree>
    <p:extLst>
      <p:ext uri="{BB962C8B-B14F-4D97-AF65-F5344CB8AC3E}">
        <p14:creationId xmlns:p14="http://schemas.microsoft.com/office/powerpoint/2010/main" val="3651924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F2A9A265-49D7-42AE-BBBB-9F9D7CFFAC0E}" type="slidenum">
              <a:rPr lang="en-US" altLang="zh-CN" smtClean="0"/>
              <a:pPr/>
              <a:t>118</a:t>
            </a:fld>
            <a:endParaRPr lang="en-US" altLang="zh-CN" smtClean="0"/>
          </a:p>
        </p:txBody>
      </p:sp>
      <p:sp>
        <p:nvSpPr>
          <p:cNvPr id="159747"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59748"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0AFC5C5C-9BE9-478D-866A-01C91C8A2BC6}" type="slidenum">
              <a:rPr lang="en-US" altLang="zh-CN" smtClean="0"/>
              <a:pPr/>
              <a:t>119</a:t>
            </a:fld>
            <a:endParaRPr lang="en-US" altLang="zh-CN" smtClean="0"/>
          </a:p>
        </p:txBody>
      </p:sp>
      <p:sp>
        <p:nvSpPr>
          <p:cNvPr id="160771"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60772"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122</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b="1" dirty="0" smtClean="0">
                <a:solidFill>
                  <a:srgbClr val="00B0F0"/>
                </a:solidFill>
              </a:rPr>
              <a:t>尖峰厚尾？</a:t>
            </a:r>
            <a:endParaRPr lang="zh-CN" altLang="en-US" sz="1400" b="1" dirty="0">
              <a:solidFill>
                <a:srgbClr val="00B0F0"/>
              </a:solidFill>
            </a:endParaRPr>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128</a:t>
            </a:fld>
            <a:endParaRPr lang="en-US" altLang="zh-CN"/>
          </a:p>
        </p:txBody>
      </p:sp>
    </p:spTree>
    <p:extLst>
      <p:ext uri="{BB962C8B-B14F-4D97-AF65-F5344CB8AC3E}">
        <p14:creationId xmlns:p14="http://schemas.microsoft.com/office/powerpoint/2010/main" val="1361070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559F44C-558A-4C28-87F4-FF4B8D71A8CF}" type="slidenum">
              <a:rPr lang="en-US" altLang="zh-CN" smtClean="0"/>
              <a:pPr>
                <a:defRPr/>
              </a:pPr>
              <a:t>138</a:t>
            </a:fld>
            <a:endParaRPr lang="en-US" altLang="zh-CN"/>
          </a:p>
        </p:txBody>
      </p:sp>
    </p:spTree>
    <p:extLst>
      <p:ext uri="{BB962C8B-B14F-4D97-AF65-F5344CB8AC3E}">
        <p14:creationId xmlns:p14="http://schemas.microsoft.com/office/powerpoint/2010/main" val="6699646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7A82798C-79B5-4451-8E5A-CA981A362624}" type="slidenum">
              <a:rPr lang="en-US" altLang="zh-CN" smtClean="0"/>
              <a:pPr/>
              <a:t>144</a:t>
            </a:fld>
            <a:endParaRPr lang="en-US" altLang="zh-CN" smtClean="0"/>
          </a:p>
        </p:txBody>
      </p:sp>
      <p:sp>
        <p:nvSpPr>
          <p:cNvPr id="162819" name="Rectangle 2"/>
          <p:cNvSpPr>
            <a:spLocks noGrp="1" noChangeArrowheads="1"/>
          </p:cNvSpPr>
          <p:nvPr>
            <p:ph type="body" idx="1"/>
          </p:nvPr>
        </p:nvSpPr>
        <p:spPr>
          <a:xfrm>
            <a:off x="885825" y="3505200"/>
            <a:ext cx="4876800" cy="5541963"/>
          </a:xfrm>
          <a:noFill/>
          <a:ln/>
        </p:spPr>
        <p:txBody>
          <a:bodyPr lIns="90515" tIns="44463" rIns="90515" bIns="44463"/>
          <a:lstStyle/>
          <a:p>
            <a:pPr eaLnBrk="1" hangingPunct="1"/>
            <a:endParaRPr lang="zh-CN" altLang="zh-CN" smtClean="0"/>
          </a:p>
        </p:txBody>
      </p:sp>
      <p:sp>
        <p:nvSpPr>
          <p:cNvPr id="162820" name="Rectangle 3"/>
          <p:cNvSpPr>
            <a:spLocks noGrp="1" noRot="1" noChangeAspect="1" noChangeArrowheads="1" noTextEdit="1"/>
          </p:cNvSpPr>
          <p:nvPr>
            <p:ph type="sldImg"/>
          </p:nvPr>
        </p:nvSpPr>
        <p:spPr>
          <a:xfrm>
            <a:off x="1703388" y="739775"/>
            <a:ext cx="3241675" cy="2432050"/>
          </a:xfrm>
          <a:ln w="12700" cap="flat">
            <a:solidFill>
              <a:schemeClr val="tx1"/>
            </a:solid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A27CC7F-8516-4AEC-A0E1-AD2E7B3C9381}" type="slidenum">
              <a:rPr lang="zh-CN" altLang="en-US" smtClean="0"/>
              <a:pPr/>
              <a:t>148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2" name="Picture 34"/>
          <p:cNvPicPr>
            <a:picLocks noChangeAspect="1" noChangeArrowheads="1"/>
          </p:cNvPicPr>
          <p:nvPr userDrawn="1"/>
        </p:nvPicPr>
        <p:blipFill>
          <a:blip r:embed="rId2" cstate="print"/>
          <a:srcRect/>
          <a:stretch>
            <a:fillRect/>
          </a:stretch>
        </p:blipFill>
        <p:spPr bwMode="auto">
          <a:xfrm>
            <a:off x="8027988" y="0"/>
            <a:ext cx="1116012" cy="1090613"/>
          </a:xfrm>
          <a:prstGeom prst="rect">
            <a:avLst/>
          </a:prstGeom>
          <a:noFill/>
          <a:ln w="9525">
            <a:noFill/>
            <a:miter lim="800000"/>
            <a:headEnd/>
            <a:tailEnd/>
          </a:ln>
        </p:spPr>
      </p:pic>
      <p:grpSp>
        <p:nvGrpSpPr>
          <p:cNvPr id="4" name="Group 2"/>
          <p:cNvGrpSpPr>
            <a:grpSpLocks/>
          </p:cNvGrpSpPr>
          <p:nvPr/>
        </p:nvGrpSpPr>
        <p:grpSpPr bwMode="auto">
          <a:xfrm>
            <a:off x="19050" y="1109663"/>
            <a:ext cx="9156700" cy="757237"/>
            <a:chOff x="0" y="0"/>
            <a:chExt cx="5768" cy="477"/>
          </a:xfrm>
        </p:grpSpPr>
        <p:sp>
          <p:nvSpPr>
            <p:cNvPr id="5"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cap="flat" cmpd="sng">
              <a:noFill/>
              <a:prstDash val="solid"/>
              <a:round/>
              <a:headEnd/>
              <a:tailEnd/>
            </a:ln>
            <a:effectLst/>
          </p:spPr>
          <p:txBody>
            <a:bodyPr wrap="none" anchor="ctr"/>
            <a:lstStyle/>
            <a:p>
              <a:pPr>
                <a:defRPr/>
              </a:pPr>
              <a:endParaRPr lang="zh-CN" altLang="en-US"/>
            </a:p>
          </p:txBody>
        </p:sp>
        <p:sp>
          <p:nvSpPr>
            <p:cNvPr id="6"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gradFill>
            <a:ln w="9525">
              <a:noFill/>
              <a:round/>
              <a:headEnd/>
              <a:tailEnd/>
            </a:ln>
            <a:effectLst/>
          </p:spPr>
          <p:txBody>
            <a:bodyPr wrap="none" anchor="ctr"/>
            <a:lstStyle/>
            <a:p>
              <a:pPr>
                <a:defRPr/>
              </a:pPr>
              <a:endParaRPr lang="zh-CN" altLang="en-US"/>
            </a:p>
          </p:txBody>
        </p:sp>
        <p:sp>
          <p:nvSpPr>
            <p:cNvPr id="7"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8"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9"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0"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1"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2"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3"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4"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5"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6"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7"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8"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9"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0"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1"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2"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3"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4"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gradFill>
            <a:ln w="9525">
              <a:noFill/>
              <a:round/>
              <a:headEnd/>
              <a:tailEnd/>
            </a:ln>
            <a:effectLst/>
          </p:spPr>
          <p:txBody>
            <a:bodyPr wrap="none" anchor="ctr"/>
            <a:lstStyle/>
            <a:p>
              <a:pPr>
                <a:defRPr/>
              </a:pPr>
              <a:endParaRPr lang="zh-CN" altLang="en-US"/>
            </a:p>
          </p:txBody>
        </p:sp>
        <p:sp>
          <p:nvSpPr>
            <p:cNvPr id="25"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gradFill>
            <a:ln w="9525">
              <a:noFill/>
              <a:round/>
              <a:headEnd/>
              <a:tailEnd/>
            </a:ln>
            <a:effectLst/>
          </p:spPr>
          <p:txBody>
            <a:bodyPr wrap="none" anchor="ctr"/>
            <a:lstStyle/>
            <a:p>
              <a:pPr>
                <a:defRPr/>
              </a:pPr>
              <a:endParaRPr lang="zh-CN" altLang="en-US"/>
            </a:p>
          </p:txBody>
        </p:sp>
        <p:sp>
          <p:nvSpPr>
            <p:cNvPr id="26"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27" name="Group 25"/>
          <p:cNvGrpSpPr>
            <a:grpSpLocks/>
          </p:cNvGrpSpPr>
          <p:nvPr/>
        </p:nvGrpSpPr>
        <p:grpSpPr bwMode="auto">
          <a:xfrm>
            <a:off x="20638" y="6161088"/>
            <a:ext cx="9169400" cy="138112"/>
            <a:chOff x="0" y="4032"/>
            <a:chExt cx="5776" cy="87"/>
          </a:xfrm>
        </p:grpSpPr>
        <p:sp>
          <p:nvSpPr>
            <p:cNvPr id="28"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9"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30"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31" name="Group 36"/>
          <p:cNvGrpSpPr>
            <a:grpSpLocks/>
          </p:cNvGrpSpPr>
          <p:nvPr/>
        </p:nvGrpSpPr>
        <p:grpSpPr bwMode="auto">
          <a:xfrm>
            <a:off x="0" y="0"/>
            <a:ext cx="1296988" cy="1125538"/>
            <a:chOff x="74" y="91"/>
            <a:chExt cx="720" cy="709"/>
          </a:xfrm>
        </p:grpSpPr>
        <p:sp>
          <p:nvSpPr>
            <p:cNvPr id="32" name="Rectangle 37"/>
            <p:cNvSpPr>
              <a:spLocks noChangeArrowheads="1"/>
            </p:cNvSpPr>
            <p:nvPr userDrawn="1"/>
          </p:nvSpPr>
          <p:spPr bwMode="ltGray">
            <a:xfrm>
              <a:off x="251" y="101"/>
              <a:ext cx="276" cy="299"/>
            </a:xfrm>
            <a:prstGeom prst="rect">
              <a:avLst/>
            </a:prstGeom>
            <a:solidFill>
              <a:schemeClr val="accent2"/>
            </a:soli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3" name="Rectangle 38"/>
            <p:cNvSpPr>
              <a:spLocks noChangeArrowheads="1"/>
            </p:cNvSpPr>
            <p:nvPr userDrawn="1"/>
          </p:nvSpPr>
          <p:spPr bwMode="ltGray">
            <a:xfrm>
              <a:off x="492" y="101"/>
              <a:ext cx="207"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4" name="Rectangle 39"/>
            <p:cNvSpPr>
              <a:spLocks noChangeArrowheads="1"/>
            </p:cNvSpPr>
            <p:nvPr userDrawn="1"/>
          </p:nvSpPr>
          <p:spPr bwMode="ltGray">
            <a:xfrm>
              <a:off x="329" y="367"/>
              <a:ext cx="266" cy="299"/>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5" name="Rectangle 40"/>
            <p:cNvSpPr>
              <a:spLocks noChangeArrowheads="1"/>
            </p:cNvSpPr>
            <p:nvPr userDrawn="1"/>
          </p:nvSpPr>
          <p:spPr bwMode="ltGray">
            <a:xfrm>
              <a:off x="562" y="367"/>
              <a:ext cx="232" cy="299"/>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6" name="Rectangle 41"/>
            <p:cNvSpPr>
              <a:spLocks noChangeArrowheads="1"/>
            </p:cNvSpPr>
            <p:nvPr userDrawn="1"/>
          </p:nvSpPr>
          <p:spPr bwMode="ltGray">
            <a:xfrm>
              <a:off x="74" y="321"/>
              <a:ext cx="353"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7" name="Rectangle 42"/>
            <p:cNvSpPr>
              <a:spLocks noChangeArrowheads="1"/>
            </p:cNvSpPr>
            <p:nvPr userDrawn="1"/>
          </p:nvSpPr>
          <p:spPr bwMode="gray">
            <a:xfrm>
              <a:off x="158" y="91"/>
              <a:ext cx="20"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38" name="WordArt 43"/>
            <p:cNvSpPr>
              <a:spLocks noChangeArrowheads="1" noChangeShapeType="1" noTextEdit="1"/>
            </p:cNvSpPr>
            <p:nvPr userDrawn="1"/>
          </p:nvSpPr>
          <p:spPr bwMode="auto">
            <a:xfrm>
              <a:off x="113" y="255"/>
              <a:ext cx="544" cy="545"/>
            </a:xfrm>
            <a:prstGeom prst="rect">
              <a:avLst/>
            </a:prstGeom>
          </p:spPr>
          <p:txBody>
            <a:bodyPr spcFirstLastPara="1" wrap="none" fromWordArt="1">
              <a:prstTxWarp prst="textArchUp">
                <a:avLst>
                  <a:gd name="adj" fmla="val 10800004"/>
                </a:avLst>
              </a:prstTxWarp>
            </a:bodyPr>
            <a:lstStyle/>
            <a:p>
              <a:pPr algn="ctr"/>
              <a:r>
                <a:rPr lang="en-US" altLang="zh-CN" sz="1600" kern="1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
        <p:nvSpPr>
          <p:cNvPr id="277533" name="Rectangle 29"/>
          <p:cNvSpPr>
            <a:spLocks noGrp="1" noChangeArrowheads="1"/>
          </p:cNvSpPr>
          <p:nvPr>
            <p:ph type="ctrTitle" sz="quarter"/>
          </p:nvPr>
        </p:nvSpPr>
        <p:spPr>
          <a:xfrm>
            <a:off x="685800" y="1868488"/>
            <a:ext cx="7772400" cy="1600200"/>
          </a:xfrm>
        </p:spPr>
        <p:txBody>
          <a:bodyPr anchorCtr="1"/>
          <a:lstStyle>
            <a:lvl1pPr>
              <a:defRPr/>
            </a:lvl1pPr>
          </a:lstStyle>
          <a:p>
            <a:r>
              <a:rPr lang="zh-CN" altLang="en-US"/>
              <a:t>单击此处编辑母版标题样式</a:t>
            </a:r>
          </a:p>
        </p:txBody>
      </p:sp>
      <p:sp>
        <p:nvSpPr>
          <p:cNvPr id="277534" name="Rectangle 30"/>
          <p:cNvSpPr>
            <a:spLocks noGrp="1" noChangeArrowheads="1"/>
          </p:cNvSpPr>
          <p:nvPr>
            <p:ph type="subTitle" sz="quarter" idx="1"/>
          </p:nvPr>
        </p:nvSpPr>
        <p:spPr>
          <a:xfrm>
            <a:off x="1273175" y="3729038"/>
            <a:ext cx="6400800" cy="1371600"/>
          </a:xfrm>
        </p:spPr>
        <p:txBody>
          <a:bodyPr anchorCtr="1"/>
          <a:lstStyle>
            <a:lvl1pPr marL="0" indent="0" algn="ctr">
              <a:buFontTx/>
              <a:buNone/>
              <a:defRPr>
                <a:solidFill>
                  <a:srgbClr val="3333FF"/>
                </a:solidFill>
              </a:defRPr>
            </a:lvl1pPr>
          </a:lstStyle>
          <a:p>
            <a:r>
              <a:rPr lang="zh-CN" altLang="en-US"/>
              <a:t>单击此处编辑母版副标题样式</a:t>
            </a:r>
          </a:p>
        </p:txBody>
      </p:sp>
      <p:sp>
        <p:nvSpPr>
          <p:cNvPr id="39" name="Rectangle 31"/>
          <p:cNvSpPr>
            <a:spLocks noGrp="1" noChangeArrowheads="1"/>
          </p:cNvSpPr>
          <p:nvPr>
            <p:ph type="dt" sz="quarter" idx="10"/>
          </p:nvPr>
        </p:nvSpPr>
        <p:spPr>
          <a:xfrm>
            <a:off x="685800" y="6348413"/>
            <a:ext cx="1905000" cy="457200"/>
          </a:xfrm>
        </p:spPr>
        <p:txBody>
          <a:bodyPr/>
          <a:lstStyle>
            <a:lvl1pPr>
              <a:defRPr/>
            </a:lvl1pPr>
          </a:lstStyle>
          <a:p>
            <a:pPr>
              <a:defRPr/>
            </a:pPr>
            <a:endParaRPr lang="en-US" altLang="zh-CN"/>
          </a:p>
        </p:txBody>
      </p:sp>
      <p:sp>
        <p:nvSpPr>
          <p:cNvPr id="40" name="Rectangle 32"/>
          <p:cNvSpPr>
            <a:spLocks noGrp="1" noChangeArrowheads="1"/>
          </p:cNvSpPr>
          <p:nvPr>
            <p:ph type="ftr" sz="quarter" idx="11"/>
          </p:nvPr>
        </p:nvSpPr>
        <p:spPr>
          <a:xfrm>
            <a:off x="3124200" y="6348413"/>
            <a:ext cx="2895600" cy="457200"/>
          </a:xfrm>
        </p:spPr>
        <p:txBody>
          <a:bodyPr/>
          <a:lstStyle>
            <a:lvl1pPr>
              <a:defRPr/>
            </a:lvl1pPr>
          </a:lstStyle>
          <a:p>
            <a:pPr>
              <a:defRPr/>
            </a:pPr>
            <a:endParaRPr lang="en-US" altLang="zh-CN"/>
          </a:p>
        </p:txBody>
      </p:sp>
      <p:sp>
        <p:nvSpPr>
          <p:cNvPr id="41" name="Rectangle 33"/>
          <p:cNvSpPr>
            <a:spLocks noGrp="1" noChangeArrowheads="1"/>
          </p:cNvSpPr>
          <p:nvPr>
            <p:ph type="sldNum" sz="quarter" idx="12"/>
          </p:nvPr>
        </p:nvSpPr>
        <p:spPr>
          <a:xfrm>
            <a:off x="6553200" y="6348413"/>
            <a:ext cx="1905000" cy="457200"/>
          </a:xfrm>
        </p:spPr>
        <p:txBody>
          <a:bodyPr/>
          <a:lstStyle>
            <a:lvl1pPr>
              <a:defRPr/>
            </a:lvl1pPr>
          </a:lstStyle>
          <a:p>
            <a:pPr>
              <a:defRPr/>
            </a:pPr>
            <a:fld id="{115FE61E-FA6F-4312-971A-B6F10F3D3BF0}" type="slidenum">
              <a:rPr lang="en-US" altLang="zh-CN"/>
              <a:pPr>
                <a:defRPr/>
              </a:pPr>
              <a:t>‹#›</a:t>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33"/>
          <p:cNvSpPr>
            <a:spLocks noGrp="1" noChangeArrowheads="1"/>
          </p:cNvSpPr>
          <p:nvPr>
            <p:ph type="sldNum" sz="quarter" idx="12"/>
          </p:nvPr>
        </p:nvSpPr>
        <p:spPr>
          <a:ln/>
        </p:spPr>
        <p:txBody>
          <a:bodyPr/>
          <a:lstStyle>
            <a:lvl1pPr>
              <a:defRPr/>
            </a:lvl1pPr>
          </a:lstStyle>
          <a:p>
            <a:pPr>
              <a:defRPr/>
            </a:pPr>
            <a:fld id="{62FC49CA-8014-4DA2-ABEB-AF96863EC77D}" type="slidenum">
              <a:rPr lang="en-US" altLang="zh-CN" smtClean="0"/>
              <a:pPr>
                <a:defRPr/>
              </a:pPr>
              <a:t>‹#›</a:t>
            </a:fld>
            <a:endParaRPr lang="en-US" altLang="zh-CN"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33"/>
          <p:cNvSpPr>
            <a:spLocks noGrp="1" noChangeArrowheads="1"/>
          </p:cNvSpPr>
          <p:nvPr>
            <p:ph type="sldNum" sz="quarter" idx="12"/>
          </p:nvPr>
        </p:nvSpPr>
        <p:spPr>
          <a:ln/>
        </p:spPr>
        <p:txBody>
          <a:bodyPr/>
          <a:lstStyle>
            <a:lvl1pPr>
              <a:defRPr/>
            </a:lvl1pPr>
          </a:lstStyle>
          <a:p>
            <a:pPr>
              <a:defRPr/>
            </a:pPr>
            <a:fld id="{7A04B845-B506-437D-800C-80ABAC517E6D}" type="slidenum">
              <a:rPr lang="en-US" altLang="zh-CN" smtClean="0"/>
              <a:pPr>
                <a:defRPr/>
              </a:pPr>
              <a:t>‹#›</a:t>
            </a:fld>
            <a:endParaRPr lang="en-US" altLang="zh-CN"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fld id="{E26181E2-91E2-4BBB-9747-8BC3D534D013}" type="slidenum">
              <a:rPr lang="en-US" altLang="zh-CN" smtClean="0"/>
              <a:pPr>
                <a:defRPr/>
              </a:pPr>
              <a:t>‹#›</a:t>
            </a:fld>
            <a:endParaRPr lang="en-US" altLang="zh-CN"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33"/>
          <p:cNvSpPr>
            <a:spLocks noGrp="1" noChangeArrowheads="1"/>
          </p:cNvSpPr>
          <p:nvPr>
            <p:ph type="sldNum" sz="quarter" idx="12"/>
          </p:nvPr>
        </p:nvSpPr>
        <p:spPr>
          <a:ln/>
        </p:spPr>
        <p:txBody>
          <a:bodyPr/>
          <a:lstStyle>
            <a:lvl1pPr>
              <a:defRPr/>
            </a:lvl1pPr>
          </a:lstStyle>
          <a:p>
            <a:pPr>
              <a:defRPr/>
            </a:pPr>
            <a:fld id="{0CED7CBD-C9F3-4B38-B055-E7E0893D3DAF}" type="slidenum">
              <a:rPr lang="en-US" altLang="zh-CN" smtClean="0"/>
              <a:pPr>
                <a:defRPr/>
              </a:pPr>
              <a:t>‹#›</a:t>
            </a:fld>
            <a:endParaRPr lang="en-US" altLang="zh-CN"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33"/>
          <p:cNvSpPr>
            <a:spLocks noGrp="1" noChangeArrowheads="1"/>
          </p:cNvSpPr>
          <p:nvPr>
            <p:ph type="sldNum" sz="quarter" idx="12"/>
          </p:nvPr>
        </p:nvSpPr>
        <p:spPr>
          <a:ln/>
        </p:spPr>
        <p:txBody>
          <a:bodyPr/>
          <a:lstStyle>
            <a:lvl1pPr>
              <a:defRPr/>
            </a:lvl1pPr>
          </a:lstStyle>
          <a:p>
            <a:pPr>
              <a:defRPr/>
            </a:pPr>
            <a:fld id="{08F9F1FB-7F7C-4EF7-9164-470922186AD3}" type="slidenum">
              <a:rPr lang="en-US" altLang="zh-CN" smtClean="0"/>
              <a:pPr>
                <a:defRPr/>
              </a:pPr>
              <a:t>‹#›</a:t>
            </a:fld>
            <a:endParaRPr lang="en-US" altLang="zh-CN"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33"/>
          <p:cNvSpPr>
            <a:spLocks noGrp="1" noChangeArrowheads="1"/>
          </p:cNvSpPr>
          <p:nvPr>
            <p:ph type="sldNum" sz="quarter" idx="12"/>
          </p:nvPr>
        </p:nvSpPr>
        <p:spPr>
          <a:ln/>
        </p:spPr>
        <p:txBody>
          <a:bodyPr/>
          <a:lstStyle>
            <a:lvl1pPr>
              <a:defRPr/>
            </a:lvl1pPr>
          </a:lstStyle>
          <a:p>
            <a:pPr>
              <a:defRPr/>
            </a:pPr>
            <a:fld id="{4D36EFB7-0D9F-4BC1-ADE9-F0E399591344}" type="slidenum">
              <a:rPr lang="en-US" altLang="zh-CN" smtClean="0"/>
              <a:pPr>
                <a:defRPr/>
              </a:pPr>
              <a:t>‹#›</a:t>
            </a:fld>
            <a:endParaRPr lang="en-US" altLang="zh-CN"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xfrm>
            <a:off x="7164288" y="6212160"/>
            <a:ext cx="1905000" cy="457200"/>
          </a:xfrm>
          <a:ln/>
        </p:spPr>
        <p:txBody>
          <a:bodyPr/>
          <a:lstStyle>
            <a:lvl1pPr>
              <a:defRPr/>
            </a:lvl1pPr>
          </a:lstStyle>
          <a:p>
            <a:pPr>
              <a:defRPr/>
            </a:pPr>
            <a:fld id="{6979F3FB-29C8-48CF-900B-E48B8C8E4142}" type="slidenum">
              <a:rPr lang="en-US" altLang="zh-CN" smtClean="0"/>
              <a:pPr>
                <a:defRPr/>
              </a:pPr>
              <a:t>‹#›</a:t>
            </a:fld>
            <a:endParaRPr lang="en-US" altLang="zh-CN"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fld id="{43261610-5B63-4F24-B16C-7678C44D86C9}" type="slidenum">
              <a:rPr lang="en-US" altLang="zh-CN" smtClean="0"/>
              <a:pPr>
                <a:defRPr/>
              </a:pPr>
              <a:t>‹#›</a:t>
            </a:fld>
            <a:endParaRPr lang="en-US" altLang="zh-CN"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33"/>
          <p:cNvSpPr>
            <a:spLocks noGrp="1" noChangeArrowheads="1"/>
          </p:cNvSpPr>
          <p:nvPr>
            <p:ph type="sldNum" sz="quarter" idx="12"/>
          </p:nvPr>
        </p:nvSpPr>
        <p:spPr>
          <a:ln/>
        </p:spPr>
        <p:txBody>
          <a:bodyPr/>
          <a:lstStyle>
            <a:lvl1pPr>
              <a:defRPr/>
            </a:lvl1pPr>
          </a:lstStyle>
          <a:p>
            <a:pPr>
              <a:defRPr/>
            </a:pPr>
            <a:fld id="{40308865-5002-4EB5-A1B3-9FF4642AD810}" type="slidenum">
              <a:rPr lang="en-US" altLang="zh-CN" smtClean="0"/>
              <a:pPr>
                <a:defRPr/>
              </a:pPr>
              <a:t>‹#›</a:t>
            </a:fld>
            <a:endParaRPr lang="en-US" altLang="zh-CN"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762000" y="1524000"/>
            <a:ext cx="7772400" cy="4724400"/>
          </a:xfrm>
        </p:spPr>
        <p:txBody>
          <a:bodyPr/>
          <a:lstStyle/>
          <a:p>
            <a:pPr lvl="0"/>
            <a:endParaRPr lang="zh-CN" altLang="en-US" noProof="0" smtClean="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77724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762000" y="3962400"/>
            <a:ext cx="77724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fld id="{0A67D148-B689-4F94-8A46-9AA1F42A1866}" type="slidenum">
              <a:rPr lang="en-US" altLang="zh-CN" smtClean="0"/>
              <a:pPr>
                <a:defRPr/>
              </a:pPr>
              <a:t>‹#›</a:t>
            </a:fld>
            <a:endParaRPr lang="en-US" altLang="zh-CN"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24400" y="15240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24400" y="39624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fld id="{7264DFEA-77E3-4439-B29D-F66FE6AC3C04}" type="slidenum">
              <a:rPr lang="en-US" altLang="zh-CN" smtClean="0"/>
              <a:pPr>
                <a:defRPr/>
              </a:pPr>
              <a:t>‹#›</a:t>
            </a:fld>
            <a:endParaRPr lang="en-US" altLang="zh-CN"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62000" y="228600"/>
            <a:ext cx="7848600" cy="6019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24400" y="15240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24400" y="39624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762000" y="1524000"/>
            <a:ext cx="7772400" cy="4724400"/>
          </a:xfrm>
        </p:spPr>
        <p:txBody>
          <a:bodyPr/>
          <a:lstStyle/>
          <a:p>
            <a:pPr lvl="0"/>
            <a:endParaRPr lang="zh-CN" altLang="en-US" noProof="0" smtClean="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cstate="print"/>
          <a:srcRect/>
          <a:tile tx="0" ty="0" sx="100000" sy="100000" flip="none" algn="tl"/>
        </a:blipFill>
        <a:effectLst/>
      </p:bgPr>
    </p:bg>
    <p:spTree>
      <p:nvGrpSpPr>
        <p:cNvPr id="1" name=""/>
        <p:cNvGrpSpPr/>
        <p:nvPr/>
      </p:nvGrpSpPr>
      <p:grpSpPr>
        <a:xfrm>
          <a:off x="0" y="0"/>
          <a:ext cx="0" cy="0"/>
          <a:chOff x="0" y="0"/>
          <a:chExt cx="0" cy="0"/>
        </a:xfrm>
      </p:grpSpPr>
      <p:pic>
        <p:nvPicPr>
          <p:cNvPr id="42" name="Picture 34"/>
          <p:cNvPicPr>
            <a:picLocks noChangeAspect="1" noChangeArrowheads="1"/>
          </p:cNvPicPr>
          <p:nvPr userDrawn="1"/>
        </p:nvPicPr>
        <p:blipFill>
          <a:blip r:embed="rId20" cstate="print"/>
          <a:srcRect/>
          <a:stretch>
            <a:fillRect/>
          </a:stretch>
        </p:blipFill>
        <p:spPr bwMode="auto">
          <a:xfrm>
            <a:off x="8339906" y="1"/>
            <a:ext cx="804094" cy="785794"/>
          </a:xfrm>
          <a:prstGeom prst="rect">
            <a:avLst/>
          </a:prstGeom>
          <a:noFill/>
          <a:ln w="9525">
            <a:noFill/>
            <a:miter lim="800000"/>
            <a:headEnd/>
            <a:tailEnd/>
          </a:ln>
        </p:spPr>
      </p:pic>
      <p:grpSp>
        <p:nvGrpSpPr>
          <p:cNvPr id="60418" name="Group 2"/>
          <p:cNvGrpSpPr>
            <a:grpSpLocks/>
          </p:cNvGrpSpPr>
          <p:nvPr/>
        </p:nvGrpSpPr>
        <p:grpSpPr bwMode="auto">
          <a:xfrm>
            <a:off x="0" y="0"/>
            <a:ext cx="9156700" cy="757238"/>
            <a:chOff x="0" y="0"/>
            <a:chExt cx="5768" cy="477"/>
          </a:xfrm>
        </p:grpSpPr>
        <p:sp>
          <p:nvSpPr>
            <p:cNvPr id="276483"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1">
                <a:alpha val="50000"/>
              </a:schemeClr>
            </a:solidFill>
            <a:ln w="9525" cap="flat" cmpd="sng">
              <a:noFill/>
              <a:prstDash val="solid"/>
              <a:round/>
              <a:headEnd/>
              <a:tailEnd/>
            </a:ln>
            <a:effectLst/>
          </p:spPr>
          <p:txBody>
            <a:bodyPr wrap="none" anchor="ctr"/>
            <a:lstStyle/>
            <a:p>
              <a:pPr>
                <a:defRPr/>
              </a:pPr>
              <a:endParaRPr lang="zh-CN" altLang="en-US"/>
            </a:p>
          </p:txBody>
        </p:sp>
        <p:sp>
          <p:nvSpPr>
            <p:cNvPr id="276484"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276485"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86"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87"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88"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89"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0"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1"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2"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3"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4"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5"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6"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7"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8"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499"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500"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501"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502"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276503"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276504"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60419" name="Group 25"/>
          <p:cNvGrpSpPr>
            <a:grpSpLocks/>
          </p:cNvGrpSpPr>
          <p:nvPr/>
        </p:nvGrpSpPr>
        <p:grpSpPr bwMode="auto">
          <a:xfrm>
            <a:off x="-25400" y="6248400"/>
            <a:ext cx="9169400" cy="222250"/>
            <a:chOff x="0" y="4032"/>
            <a:chExt cx="5776" cy="87"/>
          </a:xfrm>
        </p:grpSpPr>
        <p:sp>
          <p:nvSpPr>
            <p:cNvPr id="276506"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507"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76508"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grpSp>
      <p:sp>
        <p:nvSpPr>
          <p:cNvPr id="60420" name="Rectangle 29"/>
          <p:cNvSpPr>
            <a:spLocks noGrp="1" noChangeArrowheads="1"/>
          </p:cNvSpPr>
          <p:nvPr>
            <p:ph type="title"/>
          </p:nvPr>
        </p:nvSpPr>
        <p:spPr bwMode="auto">
          <a:xfrm>
            <a:off x="838200" y="228600"/>
            <a:ext cx="77724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60421" name="Rectangle 30"/>
          <p:cNvSpPr>
            <a:spLocks noGrp="1" noChangeArrowheads="1"/>
          </p:cNvSpPr>
          <p:nvPr>
            <p:ph type="body" idx="1"/>
          </p:nvPr>
        </p:nvSpPr>
        <p:spPr bwMode="auto">
          <a:xfrm>
            <a:off x="762000" y="15240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76511" name="Rectangle 31"/>
          <p:cNvSpPr>
            <a:spLocks noGrp="1" noChangeArrowheads="1"/>
          </p:cNvSpPr>
          <p:nvPr>
            <p:ph type="dt" sz="half" idx="2"/>
          </p:nvPr>
        </p:nvSpPr>
        <p:spPr bwMode="auto">
          <a:xfrm>
            <a:off x="665163" y="636746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ea typeface="+mn-ea"/>
              </a:defRPr>
            </a:lvl1pPr>
          </a:lstStyle>
          <a:p>
            <a:pPr>
              <a:defRPr/>
            </a:pPr>
            <a:endParaRPr lang="en-US" altLang="zh-CN"/>
          </a:p>
        </p:txBody>
      </p:sp>
      <p:sp>
        <p:nvSpPr>
          <p:cNvPr id="276512" name="Rectangle 32"/>
          <p:cNvSpPr>
            <a:spLocks noGrp="1" noChangeArrowheads="1"/>
          </p:cNvSpPr>
          <p:nvPr>
            <p:ph type="ftr" sz="quarter" idx="3"/>
          </p:nvPr>
        </p:nvSpPr>
        <p:spPr bwMode="auto">
          <a:xfrm>
            <a:off x="3103563" y="636746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ea typeface="+mn-ea"/>
              </a:defRPr>
            </a:lvl1pPr>
          </a:lstStyle>
          <a:p>
            <a:pPr>
              <a:defRPr/>
            </a:pPr>
            <a:endParaRPr lang="en-US" altLang="zh-CN"/>
          </a:p>
        </p:txBody>
      </p:sp>
      <p:sp>
        <p:nvSpPr>
          <p:cNvPr id="276513" name="Rectangle 33"/>
          <p:cNvSpPr>
            <a:spLocks noGrp="1" noChangeArrowheads="1"/>
          </p:cNvSpPr>
          <p:nvPr>
            <p:ph type="sldNum" sz="quarter" idx="4"/>
          </p:nvPr>
        </p:nvSpPr>
        <p:spPr bwMode="auto">
          <a:xfrm>
            <a:off x="6988175" y="6308725"/>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ea typeface="+mn-ea"/>
              </a:defRPr>
            </a:lvl1pPr>
          </a:lstStyle>
          <a:p>
            <a:pPr>
              <a:defRPr/>
            </a:pPr>
            <a:fld id="{6410AD38-C903-42DC-95FA-E6D0E7566F38}" type="slidenum">
              <a:rPr lang="en-US" altLang="zh-CN" smtClean="0"/>
              <a:pPr>
                <a:defRPr/>
              </a:pPr>
              <a:t>‹#›</a:t>
            </a:fld>
            <a:endParaRPr lang="en-US" altLang="zh-CN" dirty="0"/>
          </a:p>
        </p:txBody>
      </p:sp>
      <p:grpSp>
        <p:nvGrpSpPr>
          <p:cNvPr id="60425" name="Group 37"/>
          <p:cNvGrpSpPr>
            <a:grpSpLocks/>
          </p:cNvGrpSpPr>
          <p:nvPr/>
        </p:nvGrpSpPr>
        <p:grpSpPr bwMode="auto">
          <a:xfrm>
            <a:off x="0" y="0"/>
            <a:ext cx="1331913" cy="1125538"/>
            <a:chOff x="0" y="0"/>
            <a:chExt cx="839" cy="709"/>
          </a:xfrm>
        </p:grpSpPr>
        <p:sp>
          <p:nvSpPr>
            <p:cNvPr id="276518" name="Rectangle 38"/>
            <p:cNvSpPr>
              <a:spLocks noChangeArrowheads="1"/>
            </p:cNvSpPr>
            <p:nvPr userDrawn="1"/>
          </p:nvSpPr>
          <p:spPr bwMode="ltGray">
            <a:xfrm>
              <a:off x="201" y="10"/>
              <a:ext cx="313" cy="299"/>
            </a:xfrm>
            <a:prstGeom prst="rect">
              <a:avLst/>
            </a:prstGeom>
            <a:solidFill>
              <a:schemeClr val="accent2"/>
            </a:soli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276519" name="Rectangle 39"/>
            <p:cNvSpPr>
              <a:spLocks noChangeArrowheads="1"/>
            </p:cNvSpPr>
            <p:nvPr userDrawn="1"/>
          </p:nvSpPr>
          <p:spPr bwMode="ltGray">
            <a:xfrm>
              <a:off x="474" y="10"/>
              <a:ext cx="235"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276520" name="Rectangle 40"/>
            <p:cNvSpPr>
              <a:spLocks noChangeArrowheads="1"/>
            </p:cNvSpPr>
            <p:nvPr userDrawn="1"/>
          </p:nvSpPr>
          <p:spPr bwMode="ltGray">
            <a:xfrm>
              <a:off x="265" y="255"/>
              <a:ext cx="302" cy="206"/>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276521" name="Rectangle 41"/>
            <p:cNvSpPr>
              <a:spLocks noChangeArrowheads="1"/>
            </p:cNvSpPr>
            <p:nvPr userDrawn="1"/>
          </p:nvSpPr>
          <p:spPr bwMode="ltGray">
            <a:xfrm>
              <a:off x="554" y="255"/>
              <a:ext cx="285" cy="206"/>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276522" name="Rectangle 42"/>
            <p:cNvSpPr>
              <a:spLocks noChangeArrowheads="1"/>
            </p:cNvSpPr>
            <p:nvPr userDrawn="1"/>
          </p:nvSpPr>
          <p:spPr bwMode="ltGray">
            <a:xfrm>
              <a:off x="0" y="230"/>
              <a:ext cx="401"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276523" name="Rectangle 43"/>
            <p:cNvSpPr>
              <a:spLocks noChangeArrowheads="1"/>
            </p:cNvSpPr>
            <p:nvPr userDrawn="1"/>
          </p:nvSpPr>
          <p:spPr bwMode="gray">
            <a:xfrm>
              <a:off x="95" y="0"/>
              <a:ext cx="23"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lang="zh-CN" altLang="zh-CN">
                <a:latin typeface="Tahoma" pitchFamily="34" charset="0"/>
                <a:ea typeface="宋体" pitchFamily="2" charset="-122"/>
              </a:endParaRPr>
            </a:p>
          </p:txBody>
        </p:sp>
        <p:sp>
          <p:nvSpPr>
            <p:cNvPr id="60432" name="WordArt 44"/>
            <p:cNvSpPr>
              <a:spLocks noChangeArrowheads="1" noChangeShapeType="1" noTextEdit="1"/>
            </p:cNvSpPr>
            <p:nvPr userDrawn="1"/>
          </p:nvSpPr>
          <p:spPr bwMode="auto">
            <a:xfrm>
              <a:off x="44" y="164"/>
              <a:ext cx="618" cy="545"/>
            </a:xfrm>
            <a:prstGeom prst="rect">
              <a:avLst/>
            </a:prstGeom>
          </p:spPr>
          <p:txBody>
            <a:bodyPr spcFirstLastPara="1" wrap="none" fromWordArt="1">
              <a:prstTxWarp prst="textArchUp">
                <a:avLst>
                  <a:gd name="adj" fmla="val 10800004"/>
                </a:avLst>
              </a:prstTxWarp>
            </a:bodyPr>
            <a:lstStyle/>
            <a:p>
              <a:pPr algn="ctr"/>
              <a:r>
                <a:rPr lang="en-US" altLang="zh-CN" sz="1600" kern="1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Tree>
  </p:cSld>
  <p:clrMap bg1="lt1" tx1="dk1" bg2="lt2" tx2="dk2" accent1="accent1" accent2="accent2" accent3="accent3" accent4="accent4" accent5="accent5" accent6="accent6" hlink="hlink" folHlink="folHlink"/>
  <p:sldLayoutIdLst>
    <p:sldLayoutId id="2147484266" r:id="rId1"/>
    <p:sldLayoutId id="2147484249" r:id="rId2"/>
    <p:sldLayoutId id="2147484250" r:id="rId3"/>
    <p:sldLayoutId id="2147484251" r:id="rId4"/>
    <p:sldLayoutId id="2147484252" r:id="rId5"/>
    <p:sldLayoutId id="2147484253" r:id="rId6"/>
    <p:sldLayoutId id="2147484254" r:id="rId7"/>
    <p:sldLayoutId id="2147484255" r:id="rId8"/>
    <p:sldLayoutId id="2147484256" r:id="rId9"/>
    <p:sldLayoutId id="2147484257" r:id="rId10"/>
    <p:sldLayoutId id="2147484259" r:id="rId11"/>
    <p:sldLayoutId id="2147484260" r:id="rId12"/>
    <p:sldLayoutId id="2147484261" r:id="rId13"/>
    <p:sldLayoutId id="2147484262" r:id="rId14"/>
    <p:sldLayoutId id="2147484263" r:id="rId15"/>
    <p:sldLayoutId id="2147484264" r:id="rId16"/>
    <p:sldLayoutId id="2147484265" r:id="rId17"/>
  </p:sldLayoutIdLst>
  <p:transition/>
  <p:timing>
    <p:tnLst>
      <p:par>
        <p:cTn id="1" dur="indefinite" restart="never" nodeType="tmRoot"/>
      </p:par>
    </p:tnLst>
  </p:timing>
  <p:hf hdr="0" ftr="0" dt="0"/>
  <p:txStyles>
    <p:titleStyle>
      <a:lvl1pPr algn="ctr" rtl="0" eaLnBrk="0" fontAlgn="base" hangingPunct="0">
        <a:spcBef>
          <a:spcPct val="0"/>
        </a:spcBef>
        <a:spcAft>
          <a:spcPct val="0"/>
        </a:spcAft>
        <a:defRPr kumimoji="1" sz="4400" b="1">
          <a:solidFill>
            <a:srgbClr val="3333FF"/>
          </a:solidFill>
          <a:latin typeface="+mj-lt"/>
          <a:ea typeface="+mj-ea"/>
          <a:cs typeface="+mj-cs"/>
        </a:defRPr>
      </a:lvl1pPr>
      <a:lvl2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5pPr>
      <a:lvl6pPr marL="457200" algn="ctr" rtl="0" fontAlgn="base">
        <a:spcBef>
          <a:spcPct val="0"/>
        </a:spcBef>
        <a:spcAft>
          <a:spcPct val="0"/>
        </a:spcAft>
        <a:defRPr kumimoji="1" sz="4400" b="1">
          <a:solidFill>
            <a:srgbClr val="3333FF"/>
          </a:solidFill>
          <a:latin typeface="Tahoma" pitchFamily="34" charset="0"/>
          <a:ea typeface="宋体" pitchFamily="2" charset="-122"/>
        </a:defRPr>
      </a:lvl6pPr>
      <a:lvl7pPr marL="914400" algn="ctr" rtl="0" fontAlgn="base">
        <a:spcBef>
          <a:spcPct val="0"/>
        </a:spcBef>
        <a:spcAft>
          <a:spcPct val="0"/>
        </a:spcAft>
        <a:defRPr kumimoji="1" sz="4400" b="1">
          <a:solidFill>
            <a:srgbClr val="3333FF"/>
          </a:solidFill>
          <a:latin typeface="Tahoma" pitchFamily="34" charset="0"/>
          <a:ea typeface="宋体" pitchFamily="2" charset="-122"/>
        </a:defRPr>
      </a:lvl7pPr>
      <a:lvl8pPr marL="1371600" algn="ctr" rtl="0" fontAlgn="base">
        <a:spcBef>
          <a:spcPct val="0"/>
        </a:spcBef>
        <a:spcAft>
          <a:spcPct val="0"/>
        </a:spcAft>
        <a:defRPr kumimoji="1" sz="4400" b="1">
          <a:solidFill>
            <a:srgbClr val="3333FF"/>
          </a:solidFill>
          <a:latin typeface="Tahoma" pitchFamily="34" charset="0"/>
          <a:ea typeface="宋体" pitchFamily="2" charset="-122"/>
        </a:defRPr>
      </a:lvl8pPr>
      <a:lvl9pPr marL="1828800" algn="ctr" rtl="0" fontAlgn="base">
        <a:spcBef>
          <a:spcPct val="0"/>
        </a:spcBef>
        <a:spcAft>
          <a:spcPct val="0"/>
        </a:spcAft>
        <a:defRPr kumimoji="1" sz="4400" b="1">
          <a:solidFill>
            <a:srgbClr val="3333FF"/>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SzPct val="90000"/>
        <a:buBlip>
          <a:blip r:embed="rId21"/>
        </a:buBlip>
        <a:defRPr kumimoji="1" sz="3200" b="1">
          <a:solidFill>
            <a:srgbClr val="C56B9E"/>
          </a:solidFill>
          <a:latin typeface="+mn-lt"/>
          <a:ea typeface="+mn-ea"/>
          <a:cs typeface="+mn-cs"/>
        </a:defRPr>
      </a:lvl1pPr>
      <a:lvl2pPr marL="742950" indent="-285750" algn="l" rtl="0" eaLnBrk="0" fontAlgn="base" hangingPunct="0">
        <a:spcBef>
          <a:spcPct val="20000"/>
        </a:spcBef>
        <a:spcAft>
          <a:spcPct val="0"/>
        </a:spcAft>
        <a:buSzPct val="80000"/>
        <a:buBlip>
          <a:blip r:embed="rId22"/>
        </a:buBlip>
        <a:defRPr kumimoji="1" sz="2800" b="1">
          <a:solidFill>
            <a:srgbClr val="000000"/>
          </a:solidFill>
          <a:latin typeface="+mn-lt"/>
          <a:ea typeface="+mn-ea"/>
        </a:defRPr>
      </a:lvl2pPr>
      <a:lvl3pPr marL="1143000" indent="-228600" algn="l" rtl="0" eaLnBrk="0" fontAlgn="base" hangingPunct="0">
        <a:spcBef>
          <a:spcPct val="20000"/>
        </a:spcBef>
        <a:spcAft>
          <a:spcPct val="0"/>
        </a:spcAft>
        <a:buSzPct val="70000"/>
        <a:buBlip>
          <a:blip r:embed="rId23"/>
        </a:buBlip>
        <a:defRPr kumimoji="1" sz="2400" b="1">
          <a:solidFill>
            <a:schemeClr val="tx2"/>
          </a:solidFill>
          <a:latin typeface="+mn-lt"/>
          <a:ea typeface="+mn-ea"/>
        </a:defRPr>
      </a:lvl3pPr>
      <a:lvl4pPr marL="1600200" indent="-228600" algn="l" rtl="0" eaLnBrk="0" fontAlgn="base" hangingPunct="0">
        <a:spcBef>
          <a:spcPct val="20000"/>
        </a:spcBef>
        <a:spcAft>
          <a:spcPct val="0"/>
        </a:spcAft>
        <a:buSzPct val="70000"/>
        <a:buBlip>
          <a:blip r:embed="rId24"/>
        </a:buBlip>
        <a:defRPr kumimoji="1" sz="2000" b="1">
          <a:solidFill>
            <a:srgbClr val="006600"/>
          </a:solidFill>
          <a:latin typeface="+mn-lt"/>
          <a:ea typeface="+mn-ea"/>
        </a:defRPr>
      </a:lvl4pPr>
      <a:lvl5pPr marL="2057400" indent="-228600" algn="l" rtl="0" eaLnBrk="0" fontAlgn="base" hangingPunct="0">
        <a:spcBef>
          <a:spcPct val="20000"/>
        </a:spcBef>
        <a:spcAft>
          <a:spcPct val="0"/>
        </a:spcAft>
        <a:buSzPct val="70000"/>
        <a:buBlip>
          <a:blip r:embed="rId25"/>
        </a:buBlip>
        <a:defRPr kumimoji="1" sz="2000">
          <a:solidFill>
            <a:schemeClr val="tx1"/>
          </a:solidFill>
          <a:latin typeface="+mn-lt"/>
          <a:ea typeface="+mn-ea"/>
        </a:defRPr>
      </a:lvl5pPr>
      <a:lvl6pPr marL="2514600" indent="-228600" algn="l" rtl="0" fontAlgn="base">
        <a:spcBef>
          <a:spcPct val="20000"/>
        </a:spcBef>
        <a:spcAft>
          <a:spcPct val="0"/>
        </a:spcAft>
        <a:buSzPct val="70000"/>
        <a:buBlip>
          <a:blip r:embed="rId25"/>
        </a:buBlip>
        <a:defRPr kumimoji="1" sz="2000">
          <a:solidFill>
            <a:schemeClr val="tx1"/>
          </a:solidFill>
          <a:latin typeface="+mn-lt"/>
          <a:ea typeface="+mn-ea"/>
        </a:defRPr>
      </a:lvl6pPr>
      <a:lvl7pPr marL="2971800" indent="-228600" algn="l" rtl="0" fontAlgn="base">
        <a:spcBef>
          <a:spcPct val="20000"/>
        </a:spcBef>
        <a:spcAft>
          <a:spcPct val="0"/>
        </a:spcAft>
        <a:buSzPct val="70000"/>
        <a:buBlip>
          <a:blip r:embed="rId25"/>
        </a:buBlip>
        <a:defRPr kumimoji="1" sz="2000">
          <a:solidFill>
            <a:schemeClr val="tx1"/>
          </a:solidFill>
          <a:latin typeface="+mn-lt"/>
          <a:ea typeface="+mn-ea"/>
        </a:defRPr>
      </a:lvl7pPr>
      <a:lvl8pPr marL="3429000" indent="-228600" algn="l" rtl="0" fontAlgn="base">
        <a:spcBef>
          <a:spcPct val="20000"/>
        </a:spcBef>
        <a:spcAft>
          <a:spcPct val="0"/>
        </a:spcAft>
        <a:buSzPct val="70000"/>
        <a:buBlip>
          <a:blip r:embed="rId25"/>
        </a:buBlip>
        <a:defRPr kumimoji="1" sz="2000">
          <a:solidFill>
            <a:schemeClr val="tx1"/>
          </a:solidFill>
          <a:latin typeface="+mn-lt"/>
          <a:ea typeface="+mn-ea"/>
        </a:defRPr>
      </a:lvl8pPr>
      <a:lvl9pPr marL="3886200" indent="-228600" algn="l" rtl="0" fontAlgn="base">
        <a:spcBef>
          <a:spcPct val="20000"/>
        </a:spcBef>
        <a:spcAft>
          <a:spcPct val="0"/>
        </a:spcAft>
        <a:buSzPct val="70000"/>
        <a:buBlip>
          <a:blip r:embed="rId25"/>
        </a:buBlip>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10.bin"/><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1.emf"/><Relationship Id="rId5" Type="http://schemas.openxmlformats.org/officeDocument/2006/relationships/oleObject" Target="../embeddings/oleObject12.bin"/><Relationship Id="rId4" Type="http://schemas.openxmlformats.org/officeDocument/2006/relationships/image" Target="../media/image20.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23.emf"/><Relationship Id="rId4"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4.emf"/><Relationship Id="rId4"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3.xml"/><Relationship Id="rId7"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6.bin"/><Relationship Id="rId11" Type="http://schemas.openxmlformats.org/officeDocument/2006/relationships/image" Target="../media/image28.emf"/><Relationship Id="rId5" Type="http://schemas.openxmlformats.org/officeDocument/2006/relationships/image" Target="../media/image25.e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7.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9.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0.emf"/></Relationships>
</file>

<file path=ppt/slides/_rels/slide4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21.bin"/><Relationship Id="rId7" Type="http://schemas.openxmlformats.org/officeDocument/2006/relationships/image" Target="../media/image32.e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22.bin"/><Relationship Id="rId5" Type="http://schemas.openxmlformats.org/officeDocument/2006/relationships/image" Target="../media/image4.png"/><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4.wmf"/><Relationship Id="rId5" Type="http://schemas.openxmlformats.org/officeDocument/2006/relationships/oleObject" Target="../embeddings/oleObject24.bin"/><Relationship Id="rId4" Type="http://schemas.openxmlformats.org/officeDocument/2006/relationships/image" Target="../media/image33.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6.wmf"/></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image" Target="../media/image39.emf"/><Relationship Id="rId5" Type="http://schemas.openxmlformats.org/officeDocument/2006/relationships/oleObject" Target="../embeddings/oleObject27.bin"/><Relationship Id="rId4" Type="http://schemas.openxmlformats.org/officeDocument/2006/relationships/image" Target="../media/image38.emf"/></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44.emf"/><Relationship Id="rId5" Type="http://schemas.openxmlformats.org/officeDocument/2006/relationships/oleObject" Target="../embeddings/oleObject30.bin"/><Relationship Id="rId4" Type="http://schemas.openxmlformats.org/officeDocument/2006/relationships/image" Target="../media/image43.emf"/></Relationships>
</file>

<file path=ppt/slides/_rels/slide58.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49.e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46.e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48.emf"/><Relationship Id="rId4" Type="http://schemas.openxmlformats.org/officeDocument/2006/relationships/image" Target="../media/image45.emf"/><Relationship Id="rId9" Type="http://schemas.openxmlformats.org/officeDocument/2006/relationships/oleObject" Target="../embeddings/oleObject34.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54.emf"/><Relationship Id="rId5" Type="http://schemas.openxmlformats.org/officeDocument/2006/relationships/oleObject" Target="../embeddings/oleObject38.bin"/><Relationship Id="rId4" Type="http://schemas.openxmlformats.org/officeDocument/2006/relationships/image" Target="../media/image53.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56.emf"/><Relationship Id="rId5" Type="http://schemas.openxmlformats.org/officeDocument/2006/relationships/oleObject" Target="../embeddings/oleObject40.bin"/><Relationship Id="rId4" Type="http://schemas.openxmlformats.org/officeDocument/2006/relationships/image" Target="../media/image55.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4.xml"/><Relationship Id="rId1" Type="http://schemas.openxmlformats.org/officeDocument/2006/relationships/vmlDrawing" Target="../drawings/vmlDrawing25.vml"/><Relationship Id="rId4" Type="http://schemas.openxmlformats.org/officeDocument/2006/relationships/image" Target="../media/image57.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58.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60.wmf"/><Relationship Id="rId5" Type="http://schemas.openxmlformats.org/officeDocument/2006/relationships/oleObject" Target="../embeddings/oleObject44.bin"/><Relationship Id="rId4" Type="http://schemas.openxmlformats.org/officeDocument/2006/relationships/image" Target="../media/image59.w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5.xml"/><Relationship Id="rId1" Type="http://schemas.openxmlformats.org/officeDocument/2006/relationships/vmlDrawing" Target="../drawings/vmlDrawing28.vml"/><Relationship Id="rId6" Type="http://schemas.openxmlformats.org/officeDocument/2006/relationships/image" Target="../media/image65.emf"/><Relationship Id="rId5" Type="http://schemas.openxmlformats.org/officeDocument/2006/relationships/oleObject" Target="../embeddings/oleObject46.bin"/><Relationship Id="rId4" Type="http://schemas.openxmlformats.org/officeDocument/2006/relationships/image" Target="../media/image64.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67.emf"/><Relationship Id="rId4" Type="http://schemas.openxmlformats.org/officeDocument/2006/relationships/oleObject" Target="../embeddings/oleObject47.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5.xml"/><Relationship Id="rId1" Type="http://schemas.openxmlformats.org/officeDocument/2006/relationships/vmlDrawing" Target="../drawings/vmlDrawing30.vml"/><Relationship Id="rId4" Type="http://schemas.openxmlformats.org/officeDocument/2006/relationships/image" Target="../media/image69.emf"/></Relationships>
</file>

<file path=ppt/slides/_rels/slide86.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71.emf"/><Relationship Id="rId5" Type="http://schemas.openxmlformats.org/officeDocument/2006/relationships/oleObject" Target="../embeddings/oleObject50.bin"/><Relationship Id="rId4" Type="http://schemas.openxmlformats.org/officeDocument/2006/relationships/image" Target="../media/image70.e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5.xml"/><Relationship Id="rId1" Type="http://schemas.openxmlformats.org/officeDocument/2006/relationships/vmlDrawing" Target="../drawings/vmlDrawing32.vml"/><Relationship Id="rId4" Type="http://schemas.openxmlformats.org/officeDocument/2006/relationships/image" Target="../media/image73.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75.wmf"/><Relationship Id="rId5" Type="http://schemas.openxmlformats.org/officeDocument/2006/relationships/oleObject" Target="../embeddings/oleObject54.bin"/><Relationship Id="rId4" Type="http://schemas.openxmlformats.org/officeDocument/2006/relationships/image" Target="../media/image74.em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27.xml"/><Relationship Id="rId7" Type="http://schemas.openxmlformats.org/officeDocument/2006/relationships/image" Target="../media/image78.emf"/><Relationship Id="rId2" Type="http://schemas.openxmlformats.org/officeDocument/2006/relationships/slideLayout" Target="../slideLayouts/slideLayout16.xml"/><Relationship Id="rId1" Type="http://schemas.openxmlformats.org/officeDocument/2006/relationships/vmlDrawing" Target="../drawings/vmlDrawing34.vml"/><Relationship Id="rId6" Type="http://schemas.openxmlformats.org/officeDocument/2006/relationships/oleObject" Target="../embeddings/oleObject56.bin"/><Relationship Id="rId5" Type="http://schemas.openxmlformats.org/officeDocument/2006/relationships/image" Target="../media/image77.emf"/><Relationship Id="rId4" Type="http://schemas.openxmlformats.org/officeDocument/2006/relationships/oleObject" Target="../embeddings/oleObject55.bin"/><Relationship Id="rId9" Type="http://schemas.openxmlformats.org/officeDocument/2006/relationships/image" Target="../media/image79.e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80.e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oleObject" Target="../embeddings/oleObject60.bin"/><Relationship Id="rId5" Type="http://schemas.openxmlformats.org/officeDocument/2006/relationships/image" Target="../media/image82.wmf"/><Relationship Id="rId4" Type="http://schemas.openxmlformats.org/officeDocument/2006/relationships/oleObject" Target="../embeddings/oleObject59.bin"/></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85.wmf"/><Relationship Id="rId5" Type="http://schemas.openxmlformats.org/officeDocument/2006/relationships/oleObject" Target="../embeddings/oleObject62.bin"/><Relationship Id="rId4" Type="http://schemas.openxmlformats.org/officeDocument/2006/relationships/image" Target="../media/image84.wmf"/></Relationships>
</file>

<file path=ppt/slides/_rels/slide107.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87.wmf"/><Relationship Id="rId5" Type="http://schemas.openxmlformats.org/officeDocument/2006/relationships/oleObject" Target="../embeddings/oleObject64.bin"/><Relationship Id="rId4" Type="http://schemas.openxmlformats.org/officeDocument/2006/relationships/image" Target="../media/image86.wmf"/></Relationships>
</file>

<file path=ppt/slides/_rels/slide108.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90.wmf"/><Relationship Id="rId5" Type="http://schemas.openxmlformats.org/officeDocument/2006/relationships/oleObject" Target="../embeddings/oleObject67.bin"/><Relationship Id="rId4" Type="http://schemas.openxmlformats.org/officeDocument/2006/relationships/image" Target="../media/image89.wmf"/></Relationships>
</file>

<file path=ppt/slides/_rels/slide109.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93.emf"/><Relationship Id="rId5" Type="http://schemas.openxmlformats.org/officeDocument/2006/relationships/oleObject" Target="../embeddings/oleObject70.bin"/><Relationship Id="rId10" Type="http://schemas.openxmlformats.org/officeDocument/2006/relationships/image" Target="../media/image95.wmf"/><Relationship Id="rId4" Type="http://schemas.openxmlformats.org/officeDocument/2006/relationships/image" Target="../media/image92.emf"/><Relationship Id="rId9" Type="http://schemas.openxmlformats.org/officeDocument/2006/relationships/oleObject" Target="../embeddings/oleObject72.bin"/></Relationships>
</file>

<file path=ppt/slides/_rels/slide11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oleObject" Target="../embeddings/oleObject73.bin"/><Relationship Id="rId7" Type="http://schemas.openxmlformats.org/officeDocument/2006/relationships/image" Target="../media/image99.emf"/><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74.bin"/><Relationship Id="rId5" Type="http://schemas.openxmlformats.org/officeDocument/2006/relationships/image" Target="../media/image4.png"/><Relationship Id="rId4" Type="http://schemas.openxmlformats.org/officeDocument/2006/relationships/image" Target="../media/image98.emf"/><Relationship Id="rId9" Type="http://schemas.openxmlformats.org/officeDocument/2006/relationships/image" Target="../media/image100.em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8" Type="http://schemas.openxmlformats.org/officeDocument/2006/relationships/image" Target="../media/image103.e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02.emf"/><Relationship Id="rId5" Type="http://schemas.openxmlformats.org/officeDocument/2006/relationships/oleObject" Target="../embeddings/oleObject77.bin"/><Relationship Id="rId4" Type="http://schemas.openxmlformats.org/officeDocument/2006/relationships/image" Target="../media/image101.em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43.vml"/><Relationship Id="rId5" Type="http://schemas.openxmlformats.org/officeDocument/2006/relationships/image" Target="../media/image104.emf"/><Relationship Id="rId4" Type="http://schemas.openxmlformats.org/officeDocument/2006/relationships/oleObject" Target="../embeddings/oleObject79.bin"/></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44.vml"/><Relationship Id="rId5" Type="http://schemas.openxmlformats.org/officeDocument/2006/relationships/image" Target="../media/image106.png"/><Relationship Id="rId4" Type="http://schemas.openxmlformats.org/officeDocument/2006/relationships/image" Target="../media/image105.emf"/></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45.vml"/><Relationship Id="rId4" Type="http://schemas.openxmlformats.org/officeDocument/2006/relationships/image" Target="../media/image107.emf"/></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image" Target="../media/image109.emf"/><Relationship Id="rId5" Type="http://schemas.openxmlformats.org/officeDocument/2006/relationships/oleObject" Target="../embeddings/oleObject83.bin"/><Relationship Id="rId4" Type="http://schemas.openxmlformats.org/officeDocument/2006/relationships/image" Target="../media/image108.emf"/></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47.vml"/><Relationship Id="rId4" Type="http://schemas.openxmlformats.org/officeDocument/2006/relationships/image" Target="../media/image110.emf"/></Relationships>
</file>

<file path=ppt/slides/_rels/slide1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3.png"/><Relationship Id="rId5" Type="http://schemas.openxmlformats.org/officeDocument/2006/relationships/image" Target="../media/image111.wmf"/><Relationship Id="rId4" Type="http://schemas.openxmlformats.org/officeDocument/2006/relationships/oleObject" Target="../embeddings/oleObject85.bin"/></Relationships>
</file>

<file path=ppt/slides/_rels/slide129.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113.emf"/><Relationship Id="rId5" Type="http://schemas.openxmlformats.org/officeDocument/2006/relationships/oleObject" Target="../embeddings/oleObject87.bin"/><Relationship Id="rId4" Type="http://schemas.openxmlformats.org/officeDocument/2006/relationships/image" Target="../media/image112.emf"/></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89.bin"/><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116.wmf"/><Relationship Id="rId5" Type="http://schemas.openxmlformats.org/officeDocument/2006/relationships/oleObject" Target="../embeddings/oleObject90.bin"/><Relationship Id="rId4" Type="http://schemas.openxmlformats.org/officeDocument/2006/relationships/image" Target="../media/image115.wm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7.png"/><Relationship Id="rId2" Type="http://schemas.openxmlformats.org/officeDocument/2006/relationships/audio" Target="file:///C:\Documents%20and%20Settings\wangqh.WQH\&#26700;&#38754;\&#30701;&#38899;&#20048;\05%20&#20210;&#38291;&#12383;&#12385;.mp3" TargetMode="External"/><Relationship Id="rId1" Type="http://schemas.openxmlformats.org/officeDocument/2006/relationships/vmlDrawing" Target="../drawings/vmlDrawing51.vml"/><Relationship Id="rId6" Type="http://schemas.openxmlformats.org/officeDocument/2006/relationships/image" Target="../media/image10.wmf"/><Relationship Id="rId5" Type="http://schemas.openxmlformats.org/officeDocument/2006/relationships/oleObject" Target="../embeddings/oleObject91.bin"/><Relationship Id="rId4" Type="http://schemas.openxmlformats.org/officeDocument/2006/relationships/image" Target="../media/image3.png"/></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52.vml"/><Relationship Id="rId4" Type="http://schemas.openxmlformats.org/officeDocument/2006/relationships/image" Target="../media/image118.emf"/></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120.emf"/><Relationship Id="rId5" Type="http://schemas.openxmlformats.org/officeDocument/2006/relationships/oleObject" Target="../embeddings/oleObject94.bin"/><Relationship Id="rId4" Type="http://schemas.openxmlformats.org/officeDocument/2006/relationships/image" Target="../media/image119.emf"/></Relationships>
</file>

<file path=ppt/slides/_rels/slide13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8" Type="http://schemas.openxmlformats.org/officeDocument/2006/relationships/image" Target="../media/image123.e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25.emf"/><Relationship Id="rId2" Type="http://schemas.openxmlformats.org/officeDocument/2006/relationships/slideLayout" Target="../slideLayouts/slideLayout2.xml"/><Relationship Id="rId16" Type="http://schemas.openxmlformats.org/officeDocument/2006/relationships/image" Target="../media/image127.emf"/><Relationship Id="rId1" Type="http://schemas.openxmlformats.org/officeDocument/2006/relationships/vmlDrawing" Target="../drawings/vmlDrawing54.vml"/><Relationship Id="rId6" Type="http://schemas.openxmlformats.org/officeDocument/2006/relationships/image" Target="../media/image122.emf"/><Relationship Id="rId11" Type="http://schemas.openxmlformats.org/officeDocument/2006/relationships/oleObject" Target="../embeddings/oleObject99.bin"/><Relationship Id="rId5" Type="http://schemas.openxmlformats.org/officeDocument/2006/relationships/oleObject" Target="../embeddings/oleObject96.bin"/><Relationship Id="rId15" Type="http://schemas.openxmlformats.org/officeDocument/2006/relationships/oleObject" Target="../embeddings/oleObject101.bin"/><Relationship Id="rId10" Type="http://schemas.openxmlformats.org/officeDocument/2006/relationships/image" Target="../media/image124.emf"/><Relationship Id="rId4" Type="http://schemas.openxmlformats.org/officeDocument/2006/relationships/image" Target="../media/image121.emf"/><Relationship Id="rId9" Type="http://schemas.openxmlformats.org/officeDocument/2006/relationships/oleObject" Target="../embeddings/oleObject98.bin"/><Relationship Id="rId14" Type="http://schemas.openxmlformats.org/officeDocument/2006/relationships/image" Target="../media/image126.emf"/></Relationships>
</file>

<file path=ppt/slides/_rels/slide13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7.xml"/></Relationships>
</file>

<file path=ppt/slides/_rels/slide1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xml"/><Relationship Id="rId1" Type="http://schemas.openxmlformats.org/officeDocument/2006/relationships/vmlDrawing" Target="../drawings/vmlDrawing55.vml"/><Relationship Id="rId4" Type="http://schemas.openxmlformats.org/officeDocument/2006/relationships/image" Target="../media/image10.wmf"/></Relationships>
</file>

<file path=ppt/slides/_rels/slide14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8" Type="http://schemas.openxmlformats.org/officeDocument/2006/relationships/image" Target="../media/image135.wmf"/><Relationship Id="rId13" Type="http://schemas.openxmlformats.org/officeDocument/2006/relationships/oleObject" Target="../embeddings/oleObject108.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37.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134.wmf"/><Relationship Id="rId11" Type="http://schemas.openxmlformats.org/officeDocument/2006/relationships/oleObject" Target="../embeddings/oleObject107.bin"/><Relationship Id="rId5" Type="http://schemas.openxmlformats.org/officeDocument/2006/relationships/oleObject" Target="../embeddings/oleObject104.bin"/><Relationship Id="rId10" Type="http://schemas.openxmlformats.org/officeDocument/2006/relationships/image" Target="../media/image136.wmf"/><Relationship Id="rId4" Type="http://schemas.openxmlformats.org/officeDocument/2006/relationships/image" Target="../media/image133.wmf"/><Relationship Id="rId9" Type="http://schemas.openxmlformats.org/officeDocument/2006/relationships/oleObject" Target="../embeddings/oleObject106.bin"/><Relationship Id="rId14" Type="http://schemas.openxmlformats.org/officeDocument/2006/relationships/image" Target="../media/image138.wmf"/></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140.wmf"/><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oleObject" Target="../embeddings/oleObject110.bin"/><Relationship Id="rId5" Type="http://schemas.openxmlformats.org/officeDocument/2006/relationships/image" Target="../media/image139.wmf"/><Relationship Id="rId4" Type="http://schemas.openxmlformats.org/officeDocument/2006/relationships/oleObject" Target="../embeddings/oleObject10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ctrTitle"/>
          </p:nvPr>
        </p:nvSpPr>
        <p:spPr>
          <a:xfrm>
            <a:off x="539552" y="548680"/>
            <a:ext cx="7772400" cy="1600200"/>
          </a:xfrm>
        </p:spPr>
        <p:txBody>
          <a:bodyPr/>
          <a:lstStyle/>
          <a:p>
            <a:pPr eaLnBrk="1" hangingPunct="1"/>
            <a:r>
              <a:rPr lang="zh-CN" altLang="en-US" sz="5400" dirty="0" smtClean="0">
                <a:latin typeface="黑体" panose="02010609060101010101" pitchFamily="49" charset="-122"/>
                <a:ea typeface="黑体" panose="02010609060101010101" pitchFamily="49" charset="-122"/>
              </a:rPr>
              <a:t> </a:t>
            </a:r>
            <a:r>
              <a:rPr lang="en-US" altLang="zh-CN" sz="6000" dirty="0" smtClean="0">
                <a:latin typeface="黑体" panose="02010609060101010101" pitchFamily="49" charset="-122"/>
                <a:ea typeface="黑体" panose="02010609060101010101" pitchFamily="49" charset="-122"/>
              </a:rPr>
              <a:t>3</a:t>
            </a:r>
            <a:r>
              <a:rPr lang="en-US" altLang="zh-CN" sz="5400" dirty="0" smtClean="0">
                <a:latin typeface="黑体" panose="02010609060101010101" pitchFamily="49" charset="-122"/>
                <a:ea typeface="黑体" panose="02010609060101010101" pitchFamily="49" charset="-122"/>
              </a:rPr>
              <a:t> </a:t>
            </a:r>
            <a:r>
              <a:rPr lang="zh-CN" altLang="en-US" sz="5400" dirty="0" smtClean="0">
                <a:latin typeface="黑体" panose="02010609060101010101" pitchFamily="49" charset="-122"/>
                <a:ea typeface="黑体" panose="02010609060101010101" pitchFamily="49" charset="-122"/>
              </a:rPr>
              <a:t>数据</a:t>
            </a:r>
            <a:r>
              <a:rPr lang="zh-CN" altLang="en-US" sz="5400" dirty="0">
                <a:latin typeface="黑体" panose="02010609060101010101" pitchFamily="49" charset="-122"/>
                <a:ea typeface="黑体" panose="02010609060101010101" pitchFamily="49" charset="-122"/>
              </a:rPr>
              <a:t>特征的描述</a:t>
            </a:r>
            <a:endParaRPr lang="zh-CN" altLang="en-US" sz="5400" dirty="0" smtClean="0">
              <a:latin typeface="黑体" panose="02010609060101010101" pitchFamily="49" charset="-122"/>
              <a:ea typeface="黑体" panose="02010609060101010101" pitchFamily="49" charset="-122"/>
            </a:endParaRPr>
          </a:p>
        </p:txBody>
      </p:sp>
      <p:sp>
        <p:nvSpPr>
          <p:cNvPr id="74756" name="Rectangle 4"/>
          <p:cNvSpPr>
            <a:spLocks noChangeArrowheads="1"/>
          </p:cNvSpPr>
          <p:nvPr/>
        </p:nvSpPr>
        <p:spPr bwMode="auto">
          <a:xfrm>
            <a:off x="1187624" y="2319884"/>
            <a:ext cx="7777162" cy="3942511"/>
          </a:xfrm>
          <a:prstGeom prst="rect">
            <a:avLst/>
          </a:prstGeom>
          <a:noFill/>
          <a:ln w="9525">
            <a:noFill/>
            <a:miter lim="800000"/>
            <a:headEnd/>
            <a:tailEnd/>
          </a:ln>
        </p:spPr>
        <p:txBody>
          <a:bodyPr/>
          <a:lstStyle/>
          <a:p>
            <a:pPr marL="742950" lvl="1" indent="-285750" algn="just">
              <a:lnSpc>
                <a:spcPct val="125000"/>
              </a:lnSpc>
              <a:spcBef>
                <a:spcPts val="600"/>
              </a:spcBef>
              <a:buSzPct val="80000"/>
            </a:pPr>
            <a:r>
              <a:rPr lang="en-US" altLang="zh-CN" sz="3000" b="1" dirty="0" smtClean="0">
                <a:solidFill>
                  <a:srgbClr val="0070C0"/>
                </a:solidFill>
                <a:latin typeface="Tahoma" pitchFamily="34" charset="0"/>
                <a:ea typeface="宋体" pitchFamily="2" charset="-122"/>
              </a:rPr>
              <a:t>3.1 </a:t>
            </a:r>
            <a:r>
              <a:rPr lang="zh-CN" altLang="en-US" sz="3000" b="1" dirty="0">
                <a:solidFill>
                  <a:srgbClr val="0070C0"/>
                </a:solidFill>
                <a:latin typeface="Tahoma" pitchFamily="34" charset="0"/>
                <a:ea typeface="宋体" pitchFamily="2" charset="-122"/>
              </a:rPr>
              <a:t>总量指标和相对指标</a:t>
            </a:r>
          </a:p>
          <a:p>
            <a:pPr marL="742950" lvl="1" indent="-285750" algn="just">
              <a:lnSpc>
                <a:spcPct val="125000"/>
              </a:lnSpc>
              <a:spcBef>
                <a:spcPts val="600"/>
              </a:spcBef>
              <a:buSzPct val="80000"/>
            </a:pPr>
            <a:r>
              <a:rPr lang="en-US" altLang="zh-CN" sz="3000" b="1" dirty="0">
                <a:solidFill>
                  <a:srgbClr val="0070C0"/>
                </a:solidFill>
                <a:latin typeface="Tahoma" pitchFamily="34" charset="0"/>
                <a:ea typeface="宋体" pitchFamily="2" charset="-122"/>
              </a:rPr>
              <a:t>3.2 </a:t>
            </a:r>
            <a:r>
              <a:rPr lang="zh-CN" altLang="en-US" sz="3000" b="1" dirty="0">
                <a:solidFill>
                  <a:srgbClr val="0070C0"/>
                </a:solidFill>
                <a:latin typeface="Tahoma" pitchFamily="34" charset="0"/>
                <a:ea typeface="宋体" pitchFamily="2" charset="-122"/>
              </a:rPr>
              <a:t>统计数据集中趋势的描述</a:t>
            </a:r>
            <a:r>
              <a:rPr lang="en-US" altLang="zh-CN" sz="3000" dirty="0">
                <a:solidFill>
                  <a:srgbClr val="0070C0"/>
                </a:solidFill>
                <a:latin typeface="Tahoma" pitchFamily="34" charset="0"/>
                <a:ea typeface="宋体" pitchFamily="2" charset="-122"/>
              </a:rPr>
              <a:t>—</a:t>
            </a:r>
            <a:r>
              <a:rPr lang="zh-CN" altLang="en-US" sz="3000" b="1" dirty="0">
                <a:solidFill>
                  <a:srgbClr val="0070C0"/>
                </a:solidFill>
                <a:latin typeface="Tahoma" pitchFamily="34" charset="0"/>
                <a:ea typeface="宋体" pitchFamily="2" charset="-122"/>
              </a:rPr>
              <a:t>平均指标</a:t>
            </a:r>
          </a:p>
          <a:p>
            <a:pPr marL="742950" lvl="1" indent="-285750" algn="just">
              <a:lnSpc>
                <a:spcPct val="125000"/>
              </a:lnSpc>
              <a:spcBef>
                <a:spcPts val="600"/>
              </a:spcBef>
              <a:buSzPct val="80000"/>
            </a:pPr>
            <a:r>
              <a:rPr lang="en-US" altLang="zh-CN" sz="3000" b="1" dirty="0">
                <a:solidFill>
                  <a:srgbClr val="0070C0"/>
                </a:solidFill>
                <a:latin typeface="Tahoma" pitchFamily="34" charset="0"/>
                <a:ea typeface="宋体" pitchFamily="2" charset="-122"/>
              </a:rPr>
              <a:t>3.3 </a:t>
            </a:r>
            <a:r>
              <a:rPr lang="zh-CN" altLang="en-US" sz="3000" b="1" dirty="0">
                <a:solidFill>
                  <a:srgbClr val="0070C0"/>
                </a:solidFill>
                <a:latin typeface="Tahoma" pitchFamily="34" charset="0"/>
                <a:ea typeface="宋体" pitchFamily="2" charset="-122"/>
              </a:rPr>
              <a:t>统计数据离中趋势的</a:t>
            </a:r>
            <a:r>
              <a:rPr lang="zh-CN" altLang="en-US" sz="3000" b="1" dirty="0" smtClean="0">
                <a:solidFill>
                  <a:srgbClr val="0070C0"/>
                </a:solidFill>
                <a:latin typeface="Tahoma" pitchFamily="34" charset="0"/>
                <a:ea typeface="宋体" pitchFamily="2" charset="-122"/>
              </a:rPr>
              <a:t>描述</a:t>
            </a:r>
            <a:r>
              <a:rPr lang="en-US" altLang="zh-CN" sz="3000" dirty="0">
                <a:solidFill>
                  <a:srgbClr val="0070C0"/>
                </a:solidFill>
                <a:latin typeface="Tahoma" pitchFamily="34" charset="0"/>
                <a:ea typeface="宋体" pitchFamily="2" charset="-122"/>
              </a:rPr>
              <a:t>—</a:t>
            </a:r>
            <a:r>
              <a:rPr lang="zh-CN" altLang="en-US" sz="3000" b="1" dirty="0" smtClean="0">
                <a:solidFill>
                  <a:srgbClr val="0070C0"/>
                </a:solidFill>
                <a:latin typeface="Tahoma" pitchFamily="34" charset="0"/>
                <a:ea typeface="宋体" pitchFamily="2" charset="-122"/>
              </a:rPr>
              <a:t>变异</a:t>
            </a:r>
            <a:r>
              <a:rPr lang="zh-CN" altLang="en-US" sz="3000" b="1" dirty="0">
                <a:solidFill>
                  <a:srgbClr val="0070C0"/>
                </a:solidFill>
                <a:latin typeface="Tahoma" pitchFamily="34" charset="0"/>
                <a:ea typeface="宋体" pitchFamily="2" charset="-122"/>
              </a:rPr>
              <a:t>指标</a:t>
            </a:r>
          </a:p>
          <a:p>
            <a:pPr marL="742950" lvl="1" indent="-285750" algn="just">
              <a:lnSpc>
                <a:spcPct val="125000"/>
              </a:lnSpc>
              <a:spcBef>
                <a:spcPts val="600"/>
              </a:spcBef>
              <a:buSzPct val="80000"/>
            </a:pPr>
            <a:r>
              <a:rPr lang="en-US" altLang="zh-CN" sz="3000" b="1" dirty="0">
                <a:solidFill>
                  <a:srgbClr val="0070C0"/>
                </a:solidFill>
                <a:latin typeface="Tahoma" pitchFamily="34" charset="0"/>
                <a:ea typeface="宋体" pitchFamily="2" charset="-122"/>
              </a:rPr>
              <a:t>3.4 </a:t>
            </a:r>
            <a:r>
              <a:rPr lang="zh-CN" altLang="en-US" sz="3000" b="1" dirty="0">
                <a:solidFill>
                  <a:srgbClr val="0070C0"/>
                </a:solidFill>
                <a:latin typeface="Tahoma" pitchFamily="34" charset="0"/>
                <a:ea typeface="宋体" pitchFamily="2" charset="-122"/>
              </a:rPr>
              <a:t>数据分布形态的</a:t>
            </a:r>
            <a:r>
              <a:rPr lang="zh-CN" altLang="en-US" sz="3000" b="1" dirty="0" smtClean="0">
                <a:solidFill>
                  <a:srgbClr val="0070C0"/>
                </a:solidFill>
                <a:latin typeface="Tahoma" pitchFamily="34" charset="0"/>
                <a:ea typeface="宋体" pitchFamily="2" charset="-122"/>
              </a:rPr>
              <a:t>描述</a:t>
            </a:r>
            <a:r>
              <a:rPr lang="en-US" altLang="zh-CN" sz="3000" dirty="0">
                <a:solidFill>
                  <a:srgbClr val="0070C0"/>
                </a:solidFill>
                <a:latin typeface="Tahoma" pitchFamily="34" charset="0"/>
                <a:ea typeface="宋体" pitchFamily="2" charset="-122"/>
              </a:rPr>
              <a:t>—</a:t>
            </a:r>
            <a:r>
              <a:rPr lang="zh-CN" altLang="zh-CN" sz="3000" b="1" dirty="0">
                <a:solidFill>
                  <a:srgbClr val="0070C0"/>
                </a:solidFill>
                <a:latin typeface="Tahoma" pitchFamily="34" charset="0"/>
                <a:ea typeface="宋体" pitchFamily="2" charset="-122"/>
              </a:rPr>
              <a:t>偏度和峰度</a:t>
            </a:r>
            <a:endParaRPr lang="en-US" altLang="zh-CN" sz="3000" b="1" dirty="0">
              <a:solidFill>
                <a:srgbClr val="0070C0"/>
              </a:solidFill>
              <a:latin typeface="Tahoma" pitchFamily="34" charset="0"/>
              <a:ea typeface="宋体" pitchFamily="2" charset="-122"/>
            </a:endParaRPr>
          </a:p>
          <a:p>
            <a:pPr marL="742950" lvl="1" indent="-285750" algn="just">
              <a:lnSpc>
                <a:spcPct val="125000"/>
              </a:lnSpc>
              <a:spcBef>
                <a:spcPts val="600"/>
              </a:spcBef>
              <a:buSzPct val="80000"/>
            </a:pPr>
            <a:r>
              <a:rPr lang="en-US" altLang="zh-CN" sz="3000" b="1" dirty="0">
                <a:solidFill>
                  <a:srgbClr val="0070C0"/>
                </a:solidFill>
                <a:latin typeface="Tahoma" pitchFamily="34" charset="0"/>
                <a:ea typeface="宋体" pitchFamily="2" charset="-122"/>
              </a:rPr>
              <a:t>3.5  Z-</a:t>
            </a:r>
            <a:r>
              <a:rPr lang="zh-CN" altLang="en-US" sz="3000" b="1" dirty="0">
                <a:solidFill>
                  <a:srgbClr val="0070C0"/>
                </a:solidFill>
                <a:latin typeface="Tahoma" pitchFamily="34" charset="0"/>
                <a:ea typeface="宋体" pitchFamily="2" charset="-122"/>
              </a:rPr>
              <a:t>分数与相关</a:t>
            </a:r>
            <a:r>
              <a:rPr lang="zh-CN" altLang="en-US" sz="3000" b="1" dirty="0" smtClean="0">
                <a:solidFill>
                  <a:srgbClr val="0070C0"/>
                </a:solidFill>
                <a:latin typeface="Tahoma" pitchFamily="34" charset="0"/>
                <a:ea typeface="宋体" pitchFamily="2" charset="-122"/>
              </a:rPr>
              <a:t>定理</a:t>
            </a:r>
            <a:endParaRPr lang="en-US" altLang="zh-CN" sz="3000" b="1" dirty="0" smtClean="0">
              <a:solidFill>
                <a:srgbClr val="0070C0"/>
              </a:solidFill>
              <a:latin typeface="Tahoma" pitchFamily="34" charset="0"/>
              <a:ea typeface="宋体" pitchFamily="2" charset="-122"/>
            </a:endParaRPr>
          </a:p>
          <a:p>
            <a:pPr marL="742950" lvl="1" indent="-285750" algn="just">
              <a:lnSpc>
                <a:spcPct val="125000"/>
              </a:lnSpc>
              <a:spcBef>
                <a:spcPts val="600"/>
              </a:spcBef>
              <a:buSzPct val="80000"/>
            </a:pPr>
            <a:r>
              <a:rPr lang="en-US" altLang="zh-CN" sz="3000" b="1" dirty="0" smtClean="0">
                <a:solidFill>
                  <a:srgbClr val="0070C0"/>
                </a:solidFill>
                <a:latin typeface="Tahoma" pitchFamily="34" charset="0"/>
                <a:ea typeface="宋体" pitchFamily="2" charset="-122"/>
              </a:rPr>
              <a:t>3.6 </a:t>
            </a:r>
            <a:r>
              <a:rPr lang="zh-CN" altLang="en-US" sz="3000" b="1" dirty="0" smtClean="0">
                <a:solidFill>
                  <a:srgbClr val="0070C0"/>
                </a:solidFill>
                <a:latin typeface="Tahoma" pitchFamily="34" charset="0"/>
                <a:ea typeface="宋体" pitchFamily="2" charset="-122"/>
              </a:rPr>
              <a:t>箱线图</a:t>
            </a:r>
            <a:endParaRPr lang="en-US" altLang="zh-CN" sz="3000" b="1" dirty="0">
              <a:solidFill>
                <a:srgbClr val="0070C0"/>
              </a:solidFill>
              <a:latin typeface="Tahoma" pitchFamily="34" charset="0"/>
              <a:ea typeface="宋体" pitchFamily="2" charset="-122"/>
            </a:endParaRPr>
          </a:p>
        </p:txBody>
      </p:sp>
      <p:sp>
        <p:nvSpPr>
          <p:cNvPr id="6" name="灯片编号占位符 5"/>
          <p:cNvSpPr>
            <a:spLocks noGrp="1"/>
          </p:cNvSpPr>
          <p:nvPr>
            <p:ph type="sldNum" sz="quarter" idx="12"/>
          </p:nvPr>
        </p:nvSpPr>
        <p:spPr/>
        <p:txBody>
          <a:bodyPr/>
          <a:lstStyle/>
          <a:p>
            <a:pPr>
              <a:defRPr/>
            </a:pPr>
            <a:fld id="{115FE61E-FA6F-4312-971A-B6F10F3D3BF0}" type="slidenum">
              <a:rPr lang="en-US" altLang="zh-CN" smtClean="0"/>
              <a:pPr>
                <a:defRPr/>
              </a:pPr>
              <a:t>1</a:t>
            </a:fld>
            <a:endParaRPr lang="en-US" altLang="zh-CN"/>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2370" name="AutoShape 2"/>
          <p:cNvSpPr>
            <a:spLocks noGrp="1" noChangeArrowheads="1"/>
          </p:cNvSpPr>
          <p:nvPr>
            <p:ph idx="1"/>
          </p:nvPr>
        </p:nvSpPr>
        <p:spPr>
          <a:xfrm>
            <a:off x="3059113" y="1484313"/>
            <a:ext cx="3048000" cy="685800"/>
          </a:xfrm>
          <a:prstGeom prst="roundRect">
            <a:avLst>
              <a:gd name="adj" fmla="val 16667"/>
            </a:avLst>
          </a:prstGeom>
          <a:solidFill>
            <a:srgbClr val="C56B9E"/>
          </a:solidFill>
          <a:scene3d>
            <a:camera prst="legacyObliqueTopRight"/>
            <a:lightRig rig="legacyFlat2" dir="t"/>
          </a:scene3d>
          <a:sp3d extrusionH="430200" prstMaterial="legacyMatte">
            <a:bevelT w="13500" h="13500" prst="angle"/>
            <a:bevelB w="13500" h="13500" prst="angle"/>
            <a:extrusionClr>
              <a:srgbClr val="C56B9E"/>
            </a:extrusionClr>
          </a:sp3d>
        </p:spPr>
        <p:txBody>
          <a:bodyPr lIns="90488" tIns="44450" rIns="90488" bIns="44450">
            <a:flatTx/>
          </a:bodyPr>
          <a:lstStyle/>
          <a:p>
            <a:pPr algn="ctr" eaLnBrk="1" hangingPunct="1">
              <a:buFontTx/>
              <a:buNone/>
              <a:defRPr/>
            </a:pPr>
            <a:r>
              <a:rPr lang="zh-CN" altLang="en-US" sz="3500" dirty="0" smtClean="0">
                <a:solidFill>
                  <a:srgbClr val="FFFF00"/>
                </a:solidFill>
                <a:effectLst>
                  <a:outerShdw blurRad="38100" dist="38100" dir="2700000" algn="tl">
                    <a:srgbClr val="000000"/>
                  </a:outerShdw>
                </a:effectLst>
                <a:ea typeface="黑体" pitchFamily="2" charset="-122"/>
              </a:rPr>
              <a:t>统计指标</a:t>
            </a:r>
          </a:p>
        </p:txBody>
      </p:sp>
      <p:grpSp>
        <p:nvGrpSpPr>
          <p:cNvPr id="2" name="Group 3"/>
          <p:cNvGrpSpPr>
            <a:grpSpLocks/>
          </p:cNvGrpSpPr>
          <p:nvPr/>
        </p:nvGrpSpPr>
        <p:grpSpPr bwMode="auto">
          <a:xfrm>
            <a:off x="3810000" y="2554288"/>
            <a:ext cx="1752600" cy="1295400"/>
            <a:chOff x="2112" y="1872"/>
            <a:chExt cx="1104" cy="816"/>
          </a:xfrm>
        </p:grpSpPr>
        <p:sp>
          <p:nvSpPr>
            <p:cNvPr id="442372" name="Text Box 4"/>
            <p:cNvSpPr txBox="1">
              <a:spLocks noChangeArrowheads="1"/>
            </p:cNvSpPr>
            <p:nvPr/>
          </p:nvSpPr>
          <p:spPr bwMode="auto">
            <a:xfrm>
              <a:off x="2112" y="2304"/>
              <a:ext cx="1104" cy="384"/>
            </a:xfrm>
            <a:prstGeom prst="rect">
              <a:avLst/>
            </a:prstGeom>
            <a:solidFill>
              <a:srgbClr val="0FFFE8"/>
            </a:solidFill>
            <a:ln w="9525">
              <a:miter lim="800000"/>
              <a:headEnd/>
              <a:tailEnd/>
            </a:ln>
            <a:effectLst/>
            <a:scene3d>
              <a:camera prst="legacyObliqueTopRight"/>
              <a:lightRig rig="legacyFlat2" dir="t"/>
            </a:scene3d>
            <a:sp3d extrusionH="430200" prstMaterial="legacyMatte">
              <a:bevelT w="13500" h="13500" prst="angle"/>
              <a:bevelB w="13500" h="13500" prst="angle"/>
              <a:extrusionClr>
                <a:srgbClr val="0FFFE8"/>
              </a:extrusionClr>
            </a:sp3d>
          </p:spPr>
          <p:txBody>
            <a:bodyPr>
              <a:flatTx/>
            </a:bodyPr>
            <a:lstStyle/>
            <a:p>
              <a:pPr algn="ctr">
                <a:defRPr/>
              </a:pPr>
              <a:r>
                <a:rPr lang="zh-CN" altLang="en-US" sz="2800" b="1" dirty="0">
                  <a:solidFill>
                    <a:schemeClr val="bg1"/>
                  </a:solidFill>
                  <a:effectLst>
                    <a:outerShdw blurRad="38100" dist="38100" dir="2700000" algn="tl">
                      <a:srgbClr val="000000"/>
                    </a:outerShdw>
                  </a:effectLst>
                  <a:ea typeface="黑体" pitchFamily="2" charset="-122"/>
                </a:rPr>
                <a:t>相对指标</a:t>
              </a:r>
            </a:p>
          </p:txBody>
        </p:sp>
        <p:sp>
          <p:nvSpPr>
            <p:cNvPr id="442373" name="Line 5"/>
            <p:cNvSpPr>
              <a:spLocks noChangeShapeType="1"/>
            </p:cNvSpPr>
            <p:nvPr/>
          </p:nvSpPr>
          <p:spPr bwMode="auto">
            <a:xfrm>
              <a:off x="2640" y="1872"/>
              <a:ext cx="0" cy="336"/>
            </a:xfrm>
            <a:prstGeom prst="line">
              <a:avLst/>
            </a:prstGeom>
            <a:noFill/>
            <a:ln w="28575">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grpSp>
        <p:nvGrpSpPr>
          <p:cNvPr id="3" name="Group 6"/>
          <p:cNvGrpSpPr>
            <a:grpSpLocks/>
          </p:cNvGrpSpPr>
          <p:nvPr/>
        </p:nvGrpSpPr>
        <p:grpSpPr bwMode="auto">
          <a:xfrm>
            <a:off x="990600" y="2173288"/>
            <a:ext cx="3657600" cy="1676400"/>
            <a:chOff x="336" y="1632"/>
            <a:chExt cx="2304" cy="1056"/>
          </a:xfrm>
        </p:grpSpPr>
        <p:sp>
          <p:nvSpPr>
            <p:cNvPr id="442375" name="Text Box 7"/>
            <p:cNvSpPr txBox="1">
              <a:spLocks noChangeArrowheads="1"/>
            </p:cNvSpPr>
            <p:nvPr/>
          </p:nvSpPr>
          <p:spPr bwMode="auto">
            <a:xfrm>
              <a:off x="336" y="2304"/>
              <a:ext cx="1104" cy="384"/>
            </a:xfrm>
            <a:prstGeom prst="rect">
              <a:avLst/>
            </a:prstGeom>
            <a:solidFill>
              <a:srgbClr val="0FFFE8"/>
            </a:solidFill>
            <a:ln w="9525">
              <a:miter lim="800000"/>
              <a:headEnd/>
              <a:tailEnd/>
            </a:ln>
            <a:effectLst/>
            <a:scene3d>
              <a:camera prst="legacyObliqueTopRight"/>
              <a:lightRig rig="legacyFlat2" dir="t"/>
            </a:scene3d>
            <a:sp3d extrusionH="430200" prstMaterial="legacyMatte">
              <a:bevelT w="13500" h="13500" prst="angle"/>
              <a:bevelB w="13500" h="13500" prst="angle"/>
              <a:extrusionClr>
                <a:srgbClr val="0FFFE8"/>
              </a:extrusionClr>
            </a:sp3d>
          </p:spPr>
          <p:txBody>
            <a:bodyPr>
              <a:flatTx/>
            </a:bodyPr>
            <a:lstStyle/>
            <a:p>
              <a:pPr algn="ctr">
                <a:defRPr/>
              </a:pPr>
              <a:r>
                <a:rPr lang="zh-CN" altLang="en-US" sz="2800" b="1">
                  <a:solidFill>
                    <a:schemeClr val="bg1"/>
                  </a:solidFill>
                  <a:effectLst>
                    <a:outerShdw blurRad="38100" dist="38100" dir="2700000" algn="tl">
                      <a:srgbClr val="000000"/>
                    </a:outerShdw>
                  </a:effectLst>
                  <a:ea typeface="黑体" pitchFamily="2" charset="-122"/>
                </a:rPr>
                <a:t>总量指标</a:t>
              </a:r>
            </a:p>
          </p:txBody>
        </p:sp>
        <p:sp>
          <p:nvSpPr>
            <p:cNvPr id="442376" name="Line 8"/>
            <p:cNvSpPr>
              <a:spLocks noChangeShapeType="1"/>
            </p:cNvSpPr>
            <p:nvPr/>
          </p:nvSpPr>
          <p:spPr bwMode="auto">
            <a:xfrm>
              <a:off x="912" y="1872"/>
              <a:ext cx="1728" cy="0"/>
            </a:xfrm>
            <a:prstGeom prst="line">
              <a:avLst/>
            </a:prstGeom>
            <a:noFill/>
            <a:ln w="28575">
              <a:solidFill>
                <a:schemeClr val="tx1"/>
              </a:solidFill>
              <a:round/>
              <a:headEnd/>
              <a:tailEnd/>
            </a:ln>
            <a:effectLst>
              <a:outerShdw dist="35921" dir="2700000" algn="ctr" rotWithShape="0">
                <a:schemeClr val="bg2"/>
              </a:outerShdw>
            </a:effectLst>
          </p:spPr>
          <p:txBody>
            <a:bodyPr/>
            <a:lstStyle/>
            <a:p>
              <a:pPr>
                <a:defRPr/>
              </a:pPr>
              <a:endParaRPr lang="zh-CN" altLang="en-US"/>
            </a:p>
          </p:txBody>
        </p:sp>
        <p:sp>
          <p:nvSpPr>
            <p:cNvPr id="442377" name="Line 9"/>
            <p:cNvSpPr>
              <a:spLocks noChangeShapeType="1"/>
            </p:cNvSpPr>
            <p:nvPr/>
          </p:nvSpPr>
          <p:spPr bwMode="auto">
            <a:xfrm>
              <a:off x="912" y="1872"/>
              <a:ext cx="0" cy="336"/>
            </a:xfrm>
            <a:prstGeom prst="line">
              <a:avLst/>
            </a:prstGeom>
            <a:noFill/>
            <a:ln w="28575">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sp>
          <p:nvSpPr>
            <p:cNvPr id="442378" name="Line 10"/>
            <p:cNvSpPr>
              <a:spLocks noChangeShapeType="1"/>
            </p:cNvSpPr>
            <p:nvPr/>
          </p:nvSpPr>
          <p:spPr bwMode="auto">
            <a:xfrm flipV="1">
              <a:off x="2640" y="1632"/>
              <a:ext cx="0" cy="240"/>
            </a:xfrm>
            <a:prstGeom prst="line">
              <a:avLst/>
            </a:prstGeom>
            <a:noFill/>
            <a:ln w="28575">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grpSp>
      <p:grpSp>
        <p:nvGrpSpPr>
          <p:cNvPr id="4" name="Group 11"/>
          <p:cNvGrpSpPr>
            <a:grpSpLocks/>
          </p:cNvGrpSpPr>
          <p:nvPr/>
        </p:nvGrpSpPr>
        <p:grpSpPr bwMode="auto">
          <a:xfrm>
            <a:off x="4648200" y="2554288"/>
            <a:ext cx="3581400" cy="1295400"/>
            <a:chOff x="3120" y="1872"/>
            <a:chExt cx="2256" cy="816"/>
          </a:xfrm>
        </p:grpSpPr>
        <p:sp>
          <p:nvSpPr>
            <p:cNvPr id="442380" name="Line 12"/>
            <p:cNvSpPr>
              <a:spLocks noChangeShapeType="1"/>
            </p:cNvSpPr>
            <p:nvPr/>
          </p:nvSpPr>
          <p:spPr bwMode="auto">
            <a:xfrm>
              <a:off x="4848" y="1872"/>
              <a:ext cx="0" cy="336"/>
            </a:xfrm>
            <a:prstGeom prst="line">
              <a:avLst/>
            </a:prstGeom>
            <a:noFill/>
            <a:ln w="28575">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sp>
          <p:nvSpPr>
            <p:cNvPr id="442381" name="Text Box 13"/>
            <p:cNvSpPr txBox="1">
              <a:spLocks noChangeArrowheads="1"/>
            </p:cNvSpPr>
            <p:nvPr/>
          </p:nvSpPr>
          <p:spPr bwMode="auto">
            <a:xfrm>
              <a:off x="4272" y="2304"/>
              <a:ext cx="1104" cy="384"/>
            </a:xfrm>
            <a:prstGeom prst="rect">
              <a:avLst/>
            </a:prstGeom>
            <a:solidFill>
              <a:srgbClr val="0FFFE8"/>
            </a:solidFill>
            <a:ln w="9525">
              <a:miter lim="800000"/>
              <a:headEnd/>
              <a:tailEnd/>
            </a:ln>
            <a:effectLst/>
            <a:scene3d>
              <a:camera prst="legacyObliqueTopRight"/>
              <a:lightRig rig="legacyFlat2" dir="t"/>
            </a:scene3d>
            <a:sp3d extrusionH="430200" prstMaterial="legacyMatte">
              <a:bevelT w="13500" h="13500" prst="angle"/>
              <a:bevelB w="13500" h="13500" prst="angle"/>
              <a:extrusionClr>
                <a:srgbClr val="0FFFE8"/>
              </a:extrusionClr>
            </a:sp3d>
          </p:spPr>
          <p:txBody>
            <a:bodyPr>
              <a:flatTx/>
            </a:bodyPr>
            <a:lstStyle/>
            <a:p>
              <a:pPr algn="ctr">
                <a:defRPr/>
              </a:pPr>
              <a:r>
                <a:rPr lang="zh-CN" altLang="en-US" sz="2800" b="1">
                  <a:solidFill>
                    <a:schemeClr val="bg1"/>
                  </a:solidFill>
                  <a:effectLst>
                    <a:outerShdw blurRad="38100" dist="38100" dir="2700000" algn="tl">
                      <a:srgbClr val="000000"/>
                    </a:outerShdw>
                  </a:effectLst>
                  <a:ea typeface="黑体" pitchFamily="2" charset="-122"/>
                </a:rPr>
                <a:t>平均指标</a:t>
              </a:r>
            </a:p>
          </p:txBody>
        </p:sp>
        <p:sp>
          <p:nvSpPr>
            <p:cNvPr id="442382" name="Line 14"/>
            <p:cNvSpPr>
              <a:spLocks noChangeShapeType="1"/>
            </p:cNvSpPr>
            <p:nvPr/>
          </p:nvSpPr>
          <p:spPr bwMode="auto">
            <a:xfrm>
              <a:off x="3120" y="1872"/>
              <a:ext cx="1728" cy="0"/>
            </a:xfrm>
            <a:prstGeom prst="line">
              <a:avLst/>
            </a:prstGeom>
            <a:noFill/>
            <a:ln w="28575">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grpSp>
      <p:sp>
        <p:nvSpPr>
          <p:cNvPr id="442383" name="Line 15"/>
          <p:cNvSpPr>
            <a:spLocks noChangeShapeType="1"/>
          </p:cNvSpPr>
          <p:nvPr/>
        </p:nvSpPr>
        <p:spPr bwMode="auto">
          <a:xfrm flipH="1">
            <a:off x="2133600" y="3849688"/>
            <a:ext cx="0" cy="533400"/>
          </a:xfrm>
          <a:prstGeom prst="line">
            <a:avLst/>
          </a:prstGeom>
          <a:noFill/>
          <a:ln w="38100">
            <a:solidFill>
              <a:srgbClr val="FF0000"/>
            </a:solidFill>
            <a:round/>
            <a:headEnd/>
            <a:tailEnd type="stealth" w="med" len="med"/>
          </a:ln>
          <a:effectLst>
            <a:outerShdw dist="35921" dir="2700000" algn="ctr" rotWithShape="0">
              <a:srgbClr val="808080"/>
            </a:outerShdw>
          </a:effectLst>
        </p:spPr>
        <p:txBody>
          <a:bodyPr/>
          <a:lstStyle/>
          <a:p>
            <a:pPr>
              <a:defRPr/>
            </a:pPr>
            <a:endParaRPr lang="zh-CN" altLang="en-US"/>
          </a:p>
        </p:txBody>
      </p:sp>
      <p:sp>
        <p:nvSpPr>
          <p:cNvPr id="442386" name="Rectangle 18"/>
          <p:cNvSpPr>
            <a:spLocks noChangeArrowheads="1"/>
          </p:cNvSpPr>
          <p:nvPr/>
        </p:nvSpPr>
        <p:spPr bwMode="auto">
          <a:xfrm>
            <a:off x="1258888" y="4541838"/>
            <a:ext cx="2089150" cy="974725"/>
          </a:xfrm>
          <a:prstGeom prst="rect">
            <a:avLst/>
          </a:prstGeom>
          <a:solidFill>
            <a:srgbClr val="CC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FF"/>
            </a:extrusionClr>
          </a:sp3d>
        </p:spPr>
        <p:txBody>
          <a:bodyPr wrap="none" anchor="ctr">
            <a:flatTx/>
          </a:bodyPr>
          <a:lstStyle/>
          <a:p>
            <a:pPr algn="ctr"/>
            <a:r>
              <a:rPr lang="zh-CN" altLang="en-US" sz="2800" b="1">
                <a:solidFill>
                  <a:srgbClr val="1313FF"/>
                </a:solidFill>
                <a:ea typeface="黑体" pitchFamily="2" charset="-122"/>
              </a:rPr>
              <a:t>数量指标</a:t>
            </a:r>
          </a:p>
          <a:p>
            <a:pPr algn="ctr"/>
            <a:r>
              <a:rPr lang="zh-CN" altLang="en-US" sz="2800" b="1">
                <a:solidFill>
                  <a:srgbClr val="1313FF"/>
                </a:solidFill>
                <a:ea typeface="黑体" pitchFamily="2" charset="-122"/>
              </a:rPr>
              <a:t>（外延指标）</a:t>
            </a:r>
          </a:p>
        </p:txBody>
      </p:sp>
      <p:sp>
        <p:nvSpPr>
          <p:cNvPr id="442387" name="Rectangle 19"/>
          <p:cNvSpPr>
            <a:spLocks noChangeArrowheads="1"/>
          </p:cNvSpPr>
          <p:nvPr/>
        </p:nvSpPr>
        <p:spPr bwMode="auto">
          <a:xfrm>
            <a:off x="5219700" y="4508500"/>
            <a:ext cx="2447925" cy="1008063"/>
          </a:xfrm>
          <a:prstGeom prst="rect">
            <a:avLst/>
          </a:prstGeom>
          <a:solidFill>
            <a:srgbClr val="CC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FF"/>
            </a:extrusionClr>
          </a:sp3d>
        </p:spPr>
        <p:txBody>
          <a:bodyPr wrap="none" anchor="ctr">
            <a:flatTx/>
          </a:bodyPr>
          <a:lstStyle/>
          <a:p>
            <a:pPr algn="ctr"/>
            <a:r>
              <a:rPr lang="zh-CN" altLang="en-US" sz="2800" b="1">
                <a:solidFill>
                  <a:srgbClr val="1313FF"/>
                </a:solidFill>
                <a:ea typeface="黑体" pitchFamily="2" charset="-122"/>
              </a:rPr>
              <a:t>质量指标</a:t>
            </a:r>
          </a:p>
          <a:p>
            <a:pPr algn="ctr"/>
            <a:r>
              <a:rPr lang="zh-CN" altLang="en-US" sz="2800" b="1">
                <a:solidFill>
                  <a:srgbClr val="1313FF"/>
                </a:solidFill>
                <a:ea typeface="黑体" pitchFamily="2" charset="-122"/>
              </a:rPr>
              <a:t>（内涵指标）</a:t>
            </a:r>
          </a:p>
        </p:txBody>
      </p:sp>
      <p:sp>
        <p:nvSpPr>
          <p:cNvPr id="442384" name="Line 16"/>
          <p:cNvSpPr>
            <a:spLocks noChangeShapeType="1"/>
          </p:cNvSpPr>
          <p:nvPr/>
        </p:nvSpPr>
        <p:spPr bwMode="auto">
          <a:xfrm>
            <a:off x="4787900" y="3860800"/>
            <a:ext cx="936625" cy="504825"/>
          </a:xfrm>
          <a:prstGeom prst="line">
            <a:avLst/>
          </a:prstGeom>
          <a:noFill/>
          <a:ln w="38100">
            <a:solidFill>
              <a:srgbClr val="FF0000"/>
            </a:solidFill>
            <a:round/>
            <a:headEnd/>
            <a:tailEnd type="stealth" w="med" len="med"/>
          </a:ln>
          <a:effectLst>
            <a:outerShdw dist="35921" dir="2700000" algn="ctr" rotWithShape="0">
              <a:srgbClr val="808080"/>
            </a:outerShdw>
          </a:effectLst>
        </p:spPr>
        <p:txBody>
          <a:bodyPr/>
          <a:lstStyle/>
          <a:p>
            <a:pPr>
              <a:defRPr/>
            </a:pPr>
            <a:endParaRPr lang="zh-CN" altLang="en-US"/>
          </a:p>
        </p:txBody>
      </p:sp>
      <p:sp>
        <p:nvSpPr>
          <p:cNvPr id="442385" name="Line 17"/>
          <p:cNvSpPr>
            <a:spLocks noChangeShapeType="1"/>
          </p:cNvSpPr>
          <p:nvPr/>
        </p:nvSpPr>
        <p:spPr bwMode="auto">
          <a:xfrm flipH="1">
            <a:off x="6705600" y="3849688"/>
            <a:ext cx="685800" cy="533400"/>
          </a:xfrm>
          <a:prstGeom prst="line">
            <a:avLst/>
          </a:prstGeom>
          <a:noFill/>
          <a:ln w="38100">
            <a:solidFill>
              <a:srgbClr val="FF0000"/>
            </a:solidFill>
            <a:round/>
            <a:headEnd/>
            <a:tailEnd type="stealth" w="med" len="med"/>
          </a:ln>
          <a:effectLst>
            <a:outerShdw dist="35921" dir="2700000" algn="ctr" rotWithShape="0">
              <a:srgbClr val="808080"/>
            </a:outerShdw>
          </a:effectLst>
        </p:spPr>
        <p:txBody>
          <a:bodyPr/>
          <a:lstStyle/>
          <a:p>
            <a:pPr>
              <a:defRPr/>
            </a:pPr>
            <a:endParaRPr lang="zh-CN" altLang="en-US"/>
          </a:p>
        </p:txBody>
      </p:sp>
      <p:sp>
        <p:nvSpPr>
          <p:cNvPr id="21" name="灯片编号占位符 20"/>
          <p:cNvSpPr>
            <a:spLocks noGrp="1"/>
          </p:cNvSpPr>
          <p:nvPr>
            <p:ph type="sldNum" sz="quarter" idx="12"/>
          </p:nvPr>
        </p:nvSpPr>
        <p:spPr/>
        <p:txBody>
          <a:bodyPr/>
          <a:lstStyle/>
          <a:p>
            <a:pPr>
              <a:defRPr/>
            </a:pPr>
            <a:fld id="{62FC49CA-8014-4DA2-ABEB-AF96863EC77D}" type="slidenum">
              <a:rPr lang="en-US" altLang="zh-CN" smtClean="0"/>
              <a:pPr>
                <a:defRPr/>
              </a:pPr>
              <a:t>2</a:t>
            </a:fld>
            <a:endParaRPr lang="en-US" altLang="zh-CN" dirty="0"/>
          </a:p>
        </p:txBody>
      </p:sp>
    </p:spTree>
  </p:cSld>
  <p:clrMapOvr>
    <a:masterClrMapping/>
  </p:clrMapOvr>
  <p:transition>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ctrTitle"/>
          </p:nvPr>
        </p:nvSpPr>
        <p:spPr>
          <a:xfrm>
            <a:off x="827088" y="1412875"/>
            <a:ext cx="7772400" cy="1600200"/>
          </a:xfrm>
        </p:spPr>
        <p:txBody>
          <a:bodyPr/>
          <a:lstStyle/>
          <a:p>
            <a:pPr eaLnBrk="1" hangingPunct="1"/>
            <a:r>
              <a:rPr lang="en-US" altLang="zh-CN" sz="4800" dirty="0" smtClean="0"/>
              <a:t>3.1  </a:t>
            </a:r>
            <a:r>
              <a:rPr lang="zh-CN" altLang="en-US" sz="4800" dirty="0" smtClean="0"/>
              <a:t>总量指标和相对指标</a:t>
            </a:r>
          </a:p>
        </p:txBody>
      </p:sp>
      <p:sp>
        <p:nvSpPr>
          <p:cNvPr id="78852" name="Rectangle 3"/>
          <p:cNvSpPr>
            <a:spLocks noChangeArrowheads="1"/>
          </p:cNvSpPr>
          <p:nvPr/>
        </p:nvSpPr>
        <p:spPr bwMode="auto">
          <a:xfrm>
            <a:off x="1368425" y="3500438"/>
            <a:ext cx="7775575" cy="2951162"/>
          </a:xfrm>
          <a:prstGeom prst="rect">
            <a:avLst/>
          </a:prstGeom>
          <a:noFill/>
          <a:ln w="9525">
            <a:noFill/>
            <a:miter lim="800000"/>
            <a:headEnd/>
            <a:tailEnd/>
          </a:ln>
        </p:spPr>
        <p:txBody>
          <a:bodyPr/>
          <a:lstStyle/>
          <a:p>
            <a:pPr marL="742950" lvl="1" indent="-285750" algn="just">
              <a:lnSpc>
                <a:spcPct val="120000"/>
              </a:lnSpc>
              <a:spcBef>
                <a:spcPct val="20000"/>
              </a:spcBef>
              <a:buSzPct val="80000"/>
            </a:pPr>
            <a:r>
              <a:rPr lang="en-US" altLang="zh-CN" sz="3600" b="1" dirty="0" smtClean="0">
                <a:solidFill>
                  <a:srgbClr val="000000"/>
                </a:solidFill>
                <a:latin typeface="Tahoma" pitchFamily="34" charset="0"/>
                <a:ea typeface="宋体" pitchFamily="2" charset="-122"/>
              </a:rPr>
              <a:t>3.1.1  </a:t>
            </a:r>
            <a:r>
              <a:rPr lang="zh-CN" altLang="en-US" sz="3600" b="1" dirty="0">
                <a:solidFill>
                  <a:srgbClr val="000000"/>
                </a:solidFill>
                <a:latin typeface="Tahoma" pitchFamily="34" charset="0"/>
                <a:ea typeface="宋体" pitchFamily="2" charset="-122"/>
              </a:rPr>
              <a:t>总量指标</a:t>
            </a:r>
          </a:p>
          <a:p>
            <a:pPr marL="742950" lvl="1" indent="-285750" algn="just">
              <a:lnSpc>
                <a:spcPct val="120000"/>
              </a:lnSpc>
              <a:spcBef>
                <a:spcPct val="20000"/>
              </a:spcBef>
              <a:buSzPct val="80000"/>
            </a:pPr>
            <a:r>
              <a:rPr lang="en-US" altLang="zh-CN" sz="3600" b="1" dirty="0" smtClean="0">
                <a:solidFill>
                  <a:srgbClr val="000000"/>
                </a:solidFill>
                <a:latin typeface="Tahoma" pitchFamily="34" charset="0"/>
                <a:ea typeface="宋体" pitchFamily="2" charset="-122"/>
              </a:rPr>
              <a:t>3.1.2  </a:t>
            </a:r>
            <a:r>
              <a:rPr lang="zh-CN" altLang="en-US" sz="3600" b="1" dirty="0">
                <a:solidFill>
                  <a:srgbClr val="000000"/>
                </a:solidFill>
                <a:latin typeface="Tahoma" pitchFamily="34" charset="0"/>
                <a:ea typeface="宋体" pitchFamily="2" charset="-122"/>
              </a:rPr>
              <a:t>相对指标</a:t>
            </a:r>
          </a:p>
        </p:txBody>
      </p:sp>
      <p:sp>
        <p:nvSpPr>
          <p:cNvPr id="6" name="灯片编号占位符 5"/>
          <p:cNvSpPr>
            <a:spLocks noGrp="1"/>
          </p:cNvSpPr>
          <p:nvPr>
            <p:ph type="sldNum" sz="quarter" idx="12"/>
          </p:nvPr>
        </p:nvSpPr>
        <p:spPr/>
        <p:txBody>
          <a:bodyPr/>
          <a:lstStyle/>
          <a:p>
            <a:pPr>
              <a:defRPr/>
            </a:pPr>
            <a:fld id="{115FE61E-FA6F-4312-971A-B6F10F3D3BF0}" type="slidenum">
              <a:rPr lang="en-US" altLang="zh-CN" smtClean="0"/>
              <a:pPr>
                <a:defRPr/>
              </a:pPr>
              <a:t>3</a:t>
            </a:fld>
            <a:endParaRPr lang="en-US" altLang="zh-CN"/>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5"/>
          <p:cNvSpPr>
            <a:spLocks noGrp="1" noChangeArrowheads="1"/>
          </p:cNvSpPr>
          <p:nvPr>
            <p:ph type="title"/>
          </p:nvPr>
        </p:nvSpPr>
        <p:spPr>
          <a:xfrm>
            <a:off x="683568" y="332656"/>
            <a:ext cx="8137525" cy="752475"/>
          </a:xfrm>
          <a:noFill/>
        </p:spPr>
        <p:txBody>
          <a:bodyPr/>
          <a:lstStyle/>
          <a:p>
            <a:pPr eaLnBrk="1" hangingPunct="1"/>
            <a:r>
              <a:rPr lang="zh-CN" altLang="en-US" sz="3200" dirty="0" smtClean="0"/>
              <a:t>总量指标</a:t>
            </a:r>
            <a:r>
              <a:rPr lang="zh-CN" altLang="en-US" sz="2400" b="0" dirty="0" smtClean="0">
                <a:solidFill>
                  <a:srgbClr val="0070C0"/>
                </a:solidFill>
              </a:rPr>
              <a:t>（例</a:t>
            </a:r>
            <a:r>
              <a:rPr lang="en-US" altLang="zh-CN" sz="2400" b="0" dirty="0" smtClean="0">
                <a:solidFill>
                  <a:srgbClr val="0070C0"/>
                </a:solidFill>
              </a:rPr>
              <a:t>——</a:t>
            </a:r>
            <a:r>
              <a:rPr lang="zh-CN" altLang="en-US" sz="2400" b="0" dirty="0" smtClean="0">
                <a:solidFill>
                  <a:srgbClr val="0070C0"/>
                </a:solidFill>
              </a:rPr>
              <a:t>摘自国家统计局统计公报</a:t>
            </a:r>
            <a:r>
              <a:rPr lang="en-US" altLang="zh-CN" sz="2400" b="0" dirty="0" smtClean="0">
                <a:solidFill>
                  <a:srgbClr val="0070C0"/>
                </a:solidFill>
              </a:rPr>
              <a:t>2024.2.29</a:t>
            </a:r>
            <a:r>
              <a:rPr lang="zh-CN" altLang="en-US" sz="2400" b="0" dirty="0" smtClean="0">
                <a:solidFill>
                  <a:srgbClr val="0070C0"/>
                </a:solidFill>
              </a:rPr>
              <a:t>）</a:t>
            </a:r>
            <a:endParaRPr lang="zh-CN" altLang="en-US" sz="3200" b="0" dirty="0" smtClean="0">
              <a:solidFill>
                <a:srgbClr val="0070C0"/>
              </a:solidFill>
            </a:endParaRPr>
          </a:p>
        </p:txBody>
      </p:sp>
      <p:sp>
        <p:nvSpPr>
          <p:cNvPr id="7" name="Rectangle 3"/>
          <p:cNvSpPr txBox="1">
            <a:spLocks noChangeArrowheads="1"/>
          </p:cNvSpPr>
          <p:nvPr/>
        </p:nvSpPr>
        <p:spPr bwMode="auto">
          <a:xfrm>
            <a:off x="179512" y="1124744"/>
            <a:ext cx="8604448" cy="51125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742950" lvl="1" indent="-285750">
              <a:spcBef>
                <a:spcPts val="900"/>
              </a:spcBef>
              <a:buSzPct val="80000"/>
              <a:buBlip>
                <a:blip r:embed="rId3"/>
              </a:buBlip>
              <a:defRPr/>
            </a:pPr>
            <a:r>
              <a:rPr lang="en-US" altLang="zh-CN" b="1" dirty="0" smtClean="0">
                <a:solidFill>
                  <a:srgbClr val="000000"/>
                </a:solidFill>
                <a:latin typeface="+mn-ea"/>
                <a:ea typeface="+mn-ea"/>
              </a:rPr>
              <a:t>(2023)</a:t>
            </a:r>
            <a:r>
              <a:rPr lang="zh-CN" altLang="en-US" b="1" dirty="0" smtClean="0">
                <a:solidFill>
                  <a:srgbClr val="000000"/>
                </a:solidFill>
                <a:latin typeface="+mn-ea"/>
                <a:ea typeface="+mn-ea"/>
              </a:rPr>
              <a:t> 全年国内生产总值</a:t>
            </a:r>
            <a:r>
              <a:rPr lang="en-US" altLang="zh-CN" b="1" dirty="0">
                <a:solidFill>
                  <a:srgbClr val="000000"/>
                </a:solidFill>
                <a:latin typeface="+mn-ea"/>
                <a:ea typeface="+mn-ea"/>
              </a:rPr>
              <a:t>1260582</a:t>
            </a:r>
            <a:r>
              <a:rPr lang="zh-CN" altLang="en-US" b="1" dirty="0">
                <a:solidFill>
                  <a:srgbClr val="000000"/>
                </a:solidFill>
                <a:latin typeface="+mn-ea"/>
                <a:ea typeface="+mn-ea"/>
              </a:rPr>
              <a:t>亿元</a:t>
            </a:r>
            <a:r>
              <a:rPr lang="zh-CN" altLang="en-US" dirty="0">
                <a:solidFill>
                  <a:srgbClr val="000000"/>
                </a:solidFill>
                <a:latin typeface="+mn-ea"/>
                <a:ea typeface="+mn-ea"/>
              </a:rPr>
              <a:t>，比上年增长</a:t>
            </a:r>
            <a:r>
              <a:rPr lang="en-US" altLang="zh-CN" dirty="0">
                <a:solidFill>
                  <a:srgbClr val="000000"/>
                </a:solidFill>
                <a:latin typeface="+mn-ea"/>
                <a:ea typeface="+mn-ea"/>
              </a:rPr>
              <a:t>5.2%</a:t>
            </a:r>
            <a:r>
              <a:rPr lang="zh-CN" altLang="en-US" dirty="0" smtClean="0">
                <a:solidFill>
                  <a:srgbClr val="000000"/>
                </a:solidFill>
                <a:latin typeface="+mn-ea"/>
                <a:ea typeface="+mn-ea"/>
              </a:rPr>
              <a:t>。</a:t>
            </a:r>
          </a:p>
          <a:p>
            <a:pPr marL="742950" lvl="1" indent="-285750">
              <a:spcBef>
                <a:spcPts val="900"/>
              </a:spcBef>
              <a:buSzPct val="80000"/>
              <a:buBlip>
                <a:blip r:embed="rId3"/>
              </a:buBlip>
              <a:defRPr/>
            </a:pPr>
            <a:r>
              <a:rPr lang="zh-CN" altLang="en-US" b="1" dirty="0" smtClean="0">
                <a:solidFill>
                  <a:srgbClr val="000000"/>
                </a:solidFill>
                <a:latin typeface="+mn-ea"/>
                <a:ea typeface="+mn-ea"/>
              </a:rPr>
              <a:t>年末全国人口</a:t>
            </a:r>
            <a:r>
              <a:rPr lang="en-US" altLang="zh-CN" b="1" dirty="0">
                <a:solidFill>
                  <a:srgbClr val="000000"/>
                </a:solidFill>
                <a:latin typeface="+mn-ea"/>
                <a:ea typeface="+mn-ea"/>
              </a:rPr>
              <a:t>140967</a:t>
            </a:r>
            <a:r>
              <a:rPr lang="zh-CN" altLang="en-US" b="1" dirty="0">
                <a:solidFill>
                  <a:srgbClr val="000000"/>
                </a:solidFill>
                <a:latin typeface="+mn-ea"/>
                <a:ea typeface="+mn-ea"/>
              </a:rPr>
              <a:t>万人，比上年末减少</a:t>
            </a:r>
            <a:r>
              <a:rPr lang="en-US" altLang="zh-CN" b="1" dirty="0">
                <a:solidFill>
                  <a:srgbClr val="000000"/>
                </a:solidFill>
                <a:latin typeface="+mn-ea"/>
                <a:ea typeface="+mn-ea"/>
              </a:rPr>
              <a:t>208</a:t>
            </a:r>
            <a:r>
              <a:rPr lang="zh-CN" altLang="en-US" b="1" dirty="0">
                <a:solidFill>
                  <a:srgbClr val="000000"/>
                </a:solidFill>
                <a:latin typeface="+mn-ea"/>
                <a:ea typeface="+mn-ea"/>
              </a:rPr>
              <a:t>万</a:t>
            </a:r>
            <a:r>
              <a:rPr lang="zh-CN" altLang="en-US" b="1" dirty="0" smtClean="0">
                <a:solidFill>
                  <a:srgbClr val="000000"/>
                </a:solidFill>
                <a:latin typeface="+mn-ea"/>
                <a:ea typeface="+mn-ea"/>
              </a:rPr>
              <a:t>人。</a:t>
            </a:r>
            <a:r>
              <a:rPr lang="zh-CN" altLang="en-US" b="1" dirty="0">
                <a:solidFill>
                  <a:srgbClr val="000000"/>
                </a:solidFill>
                <a:latin typeface="+mn-ea"/>
                <a:ea typeface="+mn-ea"/>
              </a:rPr>
              <a:t>全年出生人口</a:t>
            </a:r>
            <a:r>
              <a:rPr lang="en-US" altLang="zh-CN" b="1" dirty="0">
                <a:solidFill>
                  <a:srgbClr val="000000"/>
                </a:solidFill>
                <a:latin typeface="+mn-ea"/>
                <a:ea typeface="+mn-ea"/>
              </a:rPr>
              <a:t>902</a:t>
            </a:r>
            <a:r>
              <a:rPr lang="zh-CN" altLang="en-US" b="1" dirty="0">
                <a:solidFill>
                  <a:srgbClr val="000000"/>
                </a:solidFill>
                <a:latin typeface="+mn-ea"/>
                <a:ea typeface="+mn-ea"/>
              </a:rPr>
              <a:t>万人</a:t>
            </a:r>
            <a:r>
              <a:rPr lang="zh-CN" altLang="en-US" b="1" dirty="0" smtClean="0">
                <a:solidFill>
                  <a:srgbClr val="000000"/>
                </a:solidFill>
                <a:latin typeface="+mn-ea"/>
                <a:ea typeface="+mn-ea"/>
              </a:rPr>
              <a:t>，死亡</a:t>
            </a:r>
            <a:r>
              <a:rPr lang="zh-CN" altLang="en-US" b="1" dirty="0">
                <a:solidFill>
                  <a:srgbClr val="000000"/>
                </a:solidFill>
                <a:latin typeface="+mn-ea"/>
                <a:ea typeface="+mn-ea"/>
              </a:rPr>
              <a:t>人口</a:t>
            </a:r>
            <a:r>
              <a:rPr lang="en-US" altLang="zh-CN" b="1" dirty="0">
                <a:solidFill>
                  <a:srgbClr val="000000"/>
                </a:solidFill>
                <a:latin typeface="+mn-ea"/>
                <a:ea typeface="+mn-ea"/>
              </a:rPr>
              <a:t>1110</a:t>
            </a:r>
            <a:r>
              <a:rPr lang="zh-CN" altLang="en-US" b="1" dirty="0">
                <a:solidFill>
                  <a:srgbClr val="000000"/>
                </a:solidFill>
                <a:latin typeface="+mn-ea"/>
                <a:ea typeface="+mn-ea"/>
              </a:rPr>
              <a:t>万</a:t>
            </a:r>
            <a:r>
              <a:rPr lang="zh-CN" altLang="en-US" b="1" dirty="0" smtClean="0">
                <a:solidFill>
                  <a:srgbClr val="000000"/>
                </a:solidFill>
                <a:latin typeface="+mn-ea"/>
                <a:ea typeface="+mn-ea"/>
              </a:rPr>
              <a:t>人</a:t>
            </a:r>
            <a:r>
              <a:rPr lang="zh-CN" altLang="en-US" dirty="0" smtClean="0">
                <a:solidFill>
                  <a:srgbClr val="000000"/>
                </a:solidFill>
                <a:latin typeface="+mn-ea"/>
                <a:ea typeface="+mn-ea"/>
              </a:rPr>
              <a:t>。</a:t>
            </a:r>
            <a:endParaRPr lang="en-US" altLang="zh-CN" dirty="0" smtClean="0">
              <a:solidFill>
                <a:srgbClr val="000000"/>
              </a:solidFill>
              <a:latin typeface="+mn-ea"/>
              <a:ea typeface="+mn-ea"/>
            </a:endParaRPr>
          </a:p>
          <a:p>
            <a:pPr marL="742950" lvl="1" indent="-285750">
              <a:spcBef>
                <a:spcPts val="900"/>
              </a:spcBef>
              <a:buSzPct val="80000"/>
              <a:buBlip>
                <a:blip r:embed="rId3"/>
              </a:buBlip>
              <a:defRPr/>
            </a:pPr>
            <a:r>
              <a:rPr lang="zh-CN" altLang="en-US" b="1" dirty="0">
                <a:solidFill>
                  <a:srgbClr val="000000"/>
                </a:solidFill>
                <a:latin typeface="+mn-ea"/>
                <a:ea typeface="+mn-ea"/>
              </a:rPr>
              <a:t>年末国家</a:t>
            </a:r>
            <a:r>
              <a:rPr lang="zh-CN" altLang="en-US" b="1" dirty="0" smtClean="0">
                <a:solidFill>
                  <a:srgbClr val="000000"/>
                </a:solidFill>
                <a:latin typeface="+mn-ea"/>
                <a:ea typeface="+mn-ea"/>
              </a:rPr>
              <a:t>外汇储备</a:t>
            </a:r>
            <a:r>
              <a:rPr lang="en-US" altLang="zh-CN" b="1" dirty="0">
                <a:solidFill>
                  <a:srgbClr val="000000"/>
                </a:solidFill>
                <a:latin typeface="+mn-ea"/>
                <a:ea typeface="+mn-ea"/>
              </a:rPr>
              <a:t>32380</a:t>
            </a:r>
            <a:r>
              <a:rPr lang="zh-CN" altLang="en-US" b="1" dirty="0">
                <a:solidFill>
                  <a:srgbClr val="000000"/>
                </a:solidFill>
                <a:latin typeface="+mn-ea"/>
                <a:ea typeface="+mn-ea"/>
              </a:rPr>
              <a:t>亿美元。全年货物进出口总额</a:t>
            </a:r>
            <a:r>
              <a:rPr lang="en-US" altLang="zh-CN" b="1" dirty="0">
                <a:solidFill>
                  <a:srgbClr val="000000"/>
                </a:solidFill>
                <a:latin typeface="+mn-ea"/>
                <a:ea typeface="+mn-ea"/>
              </a:rPr>
              <a:t>417568</a:t>
            </a:r>
            <a:r>
              <a:rPr lang="zh-CN" altLang="en-US" b="1" dirty="0">
                <a:solidFill>
                  <a:srgbClr val="000000"/>
                </a:solidFill>
                <a:latin typeface="+mn-ea"/>
                <a:ea typeface="+mn-ea"/>
              </a:rPr>
              <a:t>亿元，</a:t>
            </a:r>
            <a:r>
              <a:rPr lang="zh-CN" altLang="en-US" dirty="0"/>
              <a:t>比上年增长</a:t>
            </a:r>
            <a:r>
              <a:rPr lang="en-US" altLang="zh-CN" dirty="0"/>
              <a:t>0.2%</a:t>
            </a:r>
            <a:r>
              <a:rPr lang="zh-CN" altLang="en-US" dirty="0" smtClean="0"/>
              <a:t>。</a:t>
            </a:r>
            <a:endParaRPr lang="en-US" altLang="zh-CN" b="1" dirty="0" smtClean="0">
              <a:solidFill>
                <a:srgbClr val="000000"/>
              </a:solidFill>
              <a:latin typeface="+mn-ea"/>
              <a:ea typeface="+mn-ea"/>
            </a:endParaRPr>
          </a:p>
          <a:p>
            <a:pPr marL="742950" lvl="1" indent="-285750">
              <a:spcBef>
                <a:spcPts val="900"/>
              </a:spcBef>
              <a:buSzPct val="80000"/>
              <a:buBlip>
                <a:blip r:embed="rId3"/>
              </a:buBlip>
              <a:defRPr/>
            </a:pPr>
            <a:r>
              <a:rPr lang="zh-CN" altLang="en-US" b="1" dirty="0">
                <a:solidFill>
                  <a:srgbClr val="000000"/>
                </a:solidFill>
                <a:latin typeface="+mn-ea"/>
                <a:ea typeface="+mn-ea"/>
              </a:rPr>
              <a:t>全年全国一般公共预算收入</a:t>
            </a:r>
            <a:r>
              <a:rPr lang="en-US" altLang="zh-CN" b="1" dirty="0">
                <a:solidFill>
                  <a:srgbClr val="000000"/>
                </a:solidFill>
                <a:latin typeface="+mn-ea"/>
                <a:ea typeface="+mn-ea"/>
              </a:rPr>
              <a:t>216784</a:t>
            </a:r>
            <a:r>
              <a:rPr lang="zh-CN" altLang="en-US" b="1" dirty="0">
                <a:solidFill>
                  <a:srgbClr val="000000"/>
                </a:solidFill>
                <a:latin typeface="+mn-ea"/>
                <a:ea typeface="+mn-ea"/>
              </a:rPr>
              <a:t>亿</a:t>
            </a:r>
            <a:r>
              <a:rPr lang="zh-CN" altLang="en-US" b="1" dirty="0" smtClean="0">
                <a:solidFill>
                  <a:srgbClr val="000000"/>
                </a:solidFill>
                <a:latin typeface="+mn-ea"/>
                <a:ea typeface="+mn-ea"/>
              </a:rPr>
              <a:t>元。</a:t>
            </a:r>
            <a:endParaRPr lang="en-US" altLang="zh-CN" b="1" dirty="0" smtClean="0">
              <a:solidFill>
                <a:srgbClr val="000000"/>
              </a:solidFill>
              <a:latin typeface="+mn-ea"/>
              <a:ea typeface="+mn-ea"/>
            </a:endParaRPr>
          </a:p>
          <a:p>
            <a:pPr marL="742950" lvl="1" indent="-285750">
              <a:spcBef>
                <a:spcPts val="900"/>
              </a:spcBef>
              <a:buSzPct val="80000"/>
              <a:buBlip>
                <a:blip r:embed="rId3"/>
              </a:buBlip>
              <a:defRPr/>
            </a:pPr>
            <a:r>
              <a:rPr lang="zh-CN" altLang="en-US" b="1" dirty="0">
                <a:solidFill>
                  <a:srgbClr val="000000"/>
                </a:solidFill>
                <a:latin typeface="+mn-ea"/>
                <a:ea typeface="+mn-ea"/>
              </a:rPr>
              <a:t>年末广义货币供应量（</a:t>
            </a:r>
            <a:r>
              <a:rPr lang="en-US" altLang="zh-CN" b="1" dirty="0">
                <a:solidFill>
                  <a:srgbClr val="000000"/>
                </a:solidFill>
                <a:latin typeface="+mn-ea"/>
                <a:ea typeface="+mn-ea"/>
              </a:rPr>
              <a:t>M2</a:t>
            </a:r>
            <a:r>
              <a:rPr lang="zh-CN" altLang="en-US" b="1" dirty="0">
                <a:solidFill>
                  <a:srgbClr val="000000"/>
                </a:solidFill>
                <a:latin typeface="+mn-ea"/>
                <a:ea typeface="+mn-ea"/>
              </a:rPr>
              <a:t>）余额</a:t>
            </a:r>
            <a:r>
              <a:rPr lang="en-US" altLang="zh-CN" b="1" dirty="0">
                <a:solidFill>
                  <a:srgbClr val="000000"/>
                </a:solidFill>
                <a:latin typeface="+mn-ea"/>
                <a:ea typeface="+mn-ea"/>
              </a:rPr>
              <a:t>292.3</a:t>
            </a:r>
            <a:r>
              <a:rPr lang="zh-CN" altLang="en-US" b="1" dirty="0">
                <a:solidFill>
                  <a:srgbClr val="000000"/>
                </a:solidFill>
                <a:latin typeface="+mn-ea"/>
                <a:ea typeface="+mn-ea"/>
              </a:rPr>
              <a:t>万亿元。年末全部金融机构本外币各项存款余额</a:t>
            </a:r>
            <a:r>
              <a:rPr lang="en-US" altLang="zh-CN" b="1" dirty="0">
                <a:solidFill>
                  <a:srgbClr val="000000"/>
                </a:solidFill>
                <a:latin typeface="+mn-ea"/>
                <a:ea typeface="+mn-ea"/>
              </a:rPr>
              <a:t>289.9</a:t>
            </a:r>
            <a:r>
              <a:rPr lang="zh-CN" altLang="en-US" b="1" dirty="0">
                <a:solidFill>
                  <a:srgbClr val="000000"/>
                </a:solidFill>
                <a:latin typeface="+mn-ea"/>
                <a:ea typeface="+mn-ea"/>
              </a:rPr>
              <a:t>万亿元</a:t>
            </a:r>
            <a:endParaRPr lang="en-US" altLang="zh-CN" b="1" dirty="0">
              <a:solidFill>
                <a:srgbClr val="000000"/>
              </a:solidFill>
              <a:latin typeface="+mn-ea"/>
              <a:ea typeface="+mn-ea"/>
            </a:endParaRPr>
          </a:p>
          <a:p>
            <a:pPr marL="742950" lvl="1" indent="-285750">
              <a:spcBef>
                <a:spcPts val="900"/>
              </a:spcBef>
              <a:buSzPct val="80000"/>
              <a:buBlip>
                <a:blip r:embed="rId3"/>
              </a:buBlip>
              <a:defRPr/>
            </a:pPr>
            <a:r>
              <a:rPr lang="zh-CN" altLang="en-US" b="1" dirty="0">
                <a:solidFill>
                  <a:srgbClr val="000000"/>
                </a:solidFill>
                <a:latin typeface="+mn-ea"/>
                <a:ea typeface="+mn-ea"/>
              </a:rPr>
              <a:t>全年货物运输总量</a:t>
            </a:r>
            <a:r>
              <a:rPr lang="en-US" altLang="zh-CN" b="1" dirty="0">
                <a:solidFill>
                  <a:srgbClr val="000000"/>
                </a:solidFill>
                <a:latin typeface="+mn-ea"/>
                <a:ea typeface="+mn-ea"/>
              </a:rPr>
              <a:t>557</a:t>
            </a:r>
            <a:r>
              <a:rPr lang="zh-CN" altLang="en-US" b="1" dirty="0">
                <a:solidFill>
                  <a:srgbClr val="000000"/>
                </a:solidFill>
                <a:latin typeface="+mn-ea"/>
                <a:ea typeface="+mn-ea"/>
              </a:rPr>
              <a:t>亿吨。货物运输周转量</a:t>
            </a:r>
            <a:r>
              <a:rPr lang="en-US" altLang="zh-CN" b="1" dirty="0">
                <a:solidFill>
                  <a:srgbClr val="000000"/>
                </a:solidFill>
                <a:latin typeface="+mn-ea"/>
                <a:ea typeface="+mn-ea"/>
              </a:rPr>
              <a:t>247713</a:t>
            </a:r>
            <a:r>
              <a:rPr lang="zh-CN" altLang="en-US" b="1" dirty="0">
                <a:solidFill>
                  <a:srgbClr val="000000"/>
                </a:solidFill>
                <a:latin typeface="+mn-ea"/>
                <a:ea typeface="+mn-ea"/>
              </a:rPr>
              <a:t>亿吨公里。全年旅客运输总量</a:t>
            </a:r>
            <a:r>
              <a:rPr lang="en-US" altLang="zh-CN" b="1" dirty="0">
                <a:solidFill>
                  <a:srgbClr val="000000"/>
                </a:solidFill>
                <a:latin typeface="+mn-ea"/>
                <a:ea typeface="+mn-ea"/>
              </a:rPr>
              <a:t>93</a:t>
            </a:r>
            <a:r>
              <a:rPr lang="zh-CN" altLang="en-US" b="1" dirty="0">
                <a:solidFill>
                  <a:srgbClr val="000000"/>
                </a:solidFill>
                <a:latin typeface="+mn-ea"/>
                <a:ea typeface="+mn-ea"/>
              </a:rPr>
              <a:t>亿人次，</a:t>
            </a:r>
            <a:r>
              <a:rPr lang="zh-CN" altLang="en-US" dirty="0"/>
              <a:t>比上年增长</a:t>
            </a:r>
            <a:r>
              <a:rPr lang="en-US" altLang="zh-CN" dirty="0"/>
              <a:t>66.5%</a:t>
            </a:r>
            <a:r>
              <a:rPr lang="zh-CN" altLang="en-US" dirty="0"/>
              <a:t>。</a:t>
            </a:r>
            <a:r>
              <a:rPr lang="zh-CN" altLang="en-US" b="1" dirty="0">
                <a:solidFill>
                  <a:srgbClr val="000000"/>
                </a:solidFill>
                <a:latin typeface="+mn-ea"/>
                <a:ea typeface="+mn-ea"/>
              </a:rPr>
              <a:t>旅客运输周转量</a:t>
            </a:r>
            <a:r>
              <a:rPr lang="en-US" altLang="zh-CN" b="1" dirty="0">
                <a:solidFill>
                  <a:srgbClr val="000000"/>
                </a:solidFill>
                <a:latin typeface="+mn-ea"/>
                <a:ea typeface="+mn-ea"/>
              </a:rPr>
              <a:t>28610</a:t>
            </a:r>
            <a:r>
              <a:rPr lang="zh-CN" altLang="en-US" b="1" dirty="0">
                <a:solidFill>
                  <a:srgbClr val="000000"/>
                </a:solidFill>
                <a:latin typeface="+mn-ea"/>
                <a:ea typeface="+mn-ea"/>
              </a:rPr>
              <a:t>亿人公里，</a:t>
            </a:r>
            <a:r>
              <a:rPr lang="zh-CN" altLang="en-US" dirty="0"/>
              <a:t>增长</a:t>
            </a:r>
            <a:r>
              <a:rPr lang="en-US" altLang="zh-CN" dirty="0"/>
              <a:t>121.4%</a:t>
            </a:r>
            <a:r>
              <a:rPr lang="zh-CN" altLang="en-US" dirty="0"/>
              <a:t>。</a:t>
            </a:r>
            <a:endParaRPr lang="en-US" altLang="zh-CN" b="1" dirty="0" smtClean="0">
              <a:solidFill>
                <a:srgbClr val="000000"/>
              </a:solidFill>
              <a:latin typeface="+mn-ea"/>
              <a:ea typeface="+mn-ea"/>
            </a:endParaRPr>
          </a:p>
          <a:p>
            <a:pPr marL="742950" lvl="1" indent="-285750">
              <a:spcBef>
                <a:spcPts val="900"/>
              </a:spcBef>
              <a:buSzPct val="80000"/>
              <a:buBlip>
                <a:blip r:embed="rId3"/>
              </a:buBlip>
              <a:defRPr/>
            </a:pPr>
            <a:r>
              <a:rPr lang="zh-CN" altLang="en-US" b="1" dirty="0">
                <a:solidFill>
                  <a:srgbClr val="000000"/>
                </a:solidFill>
                <a:latin typeface="+mn-ea"/>
                <a:ea typeface="+mn-ea"/>
              </a:rPr>
              <a:t>全年一次能源生产总量</a:t>
            </a:r>
            <a:r>
              <a:rPr lang="en-US" altLang="zh-CN" b="1" dirty="0">
                <a:solidFill>
                  <a:srgbClr val="000000"/>
                </a:solidFill>
                <a:latin typeface="+mn-ea"/>
                <a:ea typeface="+mn-ea"/>
              </a:rPr>
              <a:t>48.3</a:t>
            </a:r>
            <a:r>
              <a:rPr lang="zh-CN" altLang="en-US" b="1" dirty="0">
                <a:solidFill>
                  <a:srgbClr val="000000"/>
                </a:solidFill>
                <a:latin typeface="+mn-ea"/>
                <a:ea typeface="+mn-ea"/>
              </a:rPr>
              <a:t>亿吨标准煤，</a:t>
            </a:r>
            <a:r>
              <a:rPr lang="zh-CN" altLang="en-US" dirty="0"/>
              <a:t>比上年增长</a:t>
            </a:r>
            <a:r>
              <a:rPr lang="en-US" altLang="zh-CN" dirty="0"/>
              <a:t>4.2%</a:t>
            </a:r>
            <a:r>
              <a:rPr lang="zh-CN" altLang="en-US" dirty="0"/>
              <a:t>。</a:t>
            </a:r>
            <a:endParaRPr kumimoji="1" lang="en-US" altLang="zh-CN" b="1" i="0" u="none" strike="noStrike" kern="0" cap="none" spc="0" normalizeH="0" baseline="0" noProof="0" dirty="0" smtClean="0">
              <a:ln>
                <a:noFill/>
              </a:ln>
              <a:solidFill>
                <a:srgbClr val="000000"/>
              </a:solidFill>
              <a:effectLst/>
              <a:uLnTx/>
              <a:uFillTx/>
              <a:latin typeface="+mn-ea"/>
              <a:ea typeface="+mn-ea"/>
            </a:endParaRP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4</a:t>
            </a:fld>
            <a:endParaRPr lang="en-US" altLang="zh-CN" dirty="0"/>
          </a:p>
        </p:txBody>
      </p:sp>
    </p:spTree>
  </p:cSld>
  <p:clrMapOvr>
    <a:masterClrMapping/>
  </p:clrMapOvr>
  <p:transition/>
  <p:timing>
    <p:tnLst>
      <p:par>
        <p:cTn id="1" dur="indefinite" restart="never" nodeType="tmRoot"/>
      </p:par>
    </p:tnLst>
    <p:bldLst>
      <p:bldP spid="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a:xfrm>
            <a:off x="539750" y="476250"/>
            <a:ext cx="7772400" cy="844550"/>
          </a:xfrm>
        </p:spPr>
        <p:txBody>
          <a:bodyPr/>
          <a:lstStyle/>
          <a:p>
            <a:pPr eaLnBrk="1" hangingPunct="1"/>
            <a:r>
              <a:rPr lang="en-US" altLang="zh-CN" sz="4800" dirty="0" smtClean="0"/>
              <a:t>3.1.1  </a:t>
            </a:r>
            <a:r>
              <a:rPr lang="zh-CN" altLang="en-US" dirty="0" smtClean="0"/>
              <a:t>总量指标 </a:t>
            </a:r>
          </a:p>
        </p:txBody>
      </p:sp>
      <p:sp>
        <p:nvSpPr>
          <p:cNvPr id="20483" name="Rectangle 3"/>
          <p:cNvSpPr>
            <a:spLocks noGrp="1" noChangeArrowheads="1"/>
          </p:cNvSpPr>
          <p:nvPr>
            <p:ph type="body" idx="1"/>
          </p:nvPr>
        </p:nvSpPr>
        <p:spPr>
          <a:xfrm>
            <a:off x="395288" y="1557338"/>
            <a:ext cx="8135937" cy="4629150"/>
          </a:xfrm>
        </p:spPr>
        <p:txBody>
          <a:bodyPr/>
          <a:lstStyle/>
          <a:p>
            <a:pPr marL="533400" indent="-533400" algn="just" eaLnBrk="1" hangingPunct="1">
              <a:lnSpc>
                <a:spcPct val="105000"/>
              </a:lnSpc>
              <a:buFontTx/>
              <a:buNone/>
            </a:pPr>
            <a:r>
              <a:rPr lang="en-US" altLang="zh-CN" sz="2800" dirty="0" smtClean="0">
                <a:solidFill>
                  <a:srgbClr val="A50021"/>
                </a:solidFill>
              </a:rPr>
              <a:t>1.</a:t>
            </a:r>
            <a:r>
              <a:rPr lang="zh-CN" altLang="en-US" sz="2800" dirty="0" smtClean="0">
                <a:solidFill>
                  <a:srgbClr val="A50021"/>
                </a:solidFill>
              </a:rPr>
              <a:t>总量指标的概念、作用</a:t>
            </a:r>
            <a:endParaRPr lang="zh-CN" altLang="en-US" sz="2800" dirty="0" smtClean="0">
              <a:latin typeface="Times New Roman" pitchFamily="18" charset="0"/>
            </a:endParaRPr>
          </a:p>
          <a:p>
            <a:pPr marL="533400" indent="-533400" algn="just" eaLnBrk="1" hangingPunct="1">
              <a:lnSpc>
                <a:spcPct val="105000"/>
              </a:lnSpc>
            </a:pPr>
            <a:r>
              <a:rPr lang="zh-CN" altLang="en-US" sz="2800" dirty="0" smtClean="0">
                <a:latin typeface="Times New Roman" pitchFamily="18" charset="0"/>
              </a:rPr>
              <a:t>总量指标</a:t>
            </a:r>
            <a:r>
              <a:rPr lang="en-US" altLang="zh-CN" sz="2400" dirty="0" smtClean="0">
                <a:latin typeface="Times New Roman" pitchFamily="18" charset="0"/>
              </a:rPr>
              <a:t>——</a:t>
            </a:r>
            <a:r>
              <a:rPr lang="zh-CN" altLang="en-US" sz="2400" dirty="0" smtClean="0">
                <a:latin typeface="Times New Roman" pitchFamily="18" charset="0"/>
              </a:rPr>
              <a:t>也称为统计绝对数</a:t>
            </a:r>
          </a:p>
          <a:p>
            <a:pPr marL="914400" lvl="1" indent="-457200" algn="just" eaLnBrk="1" hangingPunct="1">
              <a:lnSpc>
                <a:spcPct val="105000"/>
              </a:lnSpc>
            </a:pPr>
            <a:r>
              <a:rPr lang="zh-CN" altLang="en-US" sz="2400" dirty="0" smtClean="0">
                <a:latin typeface="Times New Roman" pitchFamily="18" charset="0"/>
              </a:rPr>
              <a:t>表明现象总规模或绝对水平</a:t>
            </a:r>
          </a:p>
          <a:p>
            <a:pPr marL="914400" lvl="1" indent="-457200" algn="just" eaLnBrk="1" hangingPunct="1">
              <a:lnSpc>
                <a:spcPct val="105000"/>
              </a:lnSpc>
            </a:pPr>
            <a:r>
              <a:rPr lang="zh-CN" altLang="en-US" sz="2400" dirty="0" smtClean="0">
                <a:latin typeface="Times New Roman" pitchFamily="18" charset="0"/>
              </a:rPr>
              <a:t>绝对数的形式表示</a:t>
            </a:r>
          </a:p>
          <a:p>
            <a:pPr marL="914400" lvl="1" indent="-457200" algn="just" eaLnBrk="1" hangingPunct="1">
              <a:lnSpc>
                <a:spcPct val="105000"/>
              </a:lnSpc>
            </a:pPr>
            <a:r>
              <a:rPr lang="zh-CN" altLang="en-US" sz="2400" dirty="0" smtClean="0">
                <a:latin typeface="Times New Roman" pitchFamily="18" charset="0"/>
              </a:rPr>
              <a:t>一般通过计数、测量和汇总得到 </a:t>
            </a:r>
          </a:p>
          <a:p>
            <a:pPr marL="533400" indent="-533400" eaLnBrk="1" hangingPunct="1"/>
            <a:r>
              <a:rPr lang="zh-CN" altLang="en-US" dirty="0" smtClean="0"/>
              <a:t>总量指标的作用</a:t>
            </a:r>
          </a:p>
          <a:p>
            <a:pPr marL="914400" lvl="1" indent="-457200" eaLnBrk="1" hangingPunct="1"/>
            <a:r>
              <a:rPr lang="zh-CN" altLang="en-US" sz="2400" dirty="0" smtClean="0"/>
              <a:t>是认识社会经济现象的起点；</a:t>
            </a:r>
          </a:p>
          <a:p>
            <a:pPr marL="914400" lvl="1" indent="-457200" eaLnBrk="1" hangingPunct="1"/>
            <a:r>
              <a:rPr lang="zh-CN" altLang="en-US" sz="2400" dirty="0" smtClean="0"/>
              <a:t>是进行管理的重要依据；</a:t>
            </a:r>
          </a:p>
          <a:p>
            <a:pPr marL="914400" lvl="1" indent="-457200" eaLnBrk="1" hangingPunct="1"/>
            <a:r>
              <a:rPr lang="zh-CN" altLang="en-US" sz="2400" dirty="0" smtClean="0"/>
              <a:t>是计算相对指标、平均指标的基础。</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up)">
                                      <p:cBhvr>
                                        <p:cTn id="7" dur="500"/>
                                        <p:tgtEl>
                                          <p:spTgt spid="2048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up)">
                                      <p:cBhvr>
                                        <p:cTn id="12" dur="500"/>
                                        <p:tgtEl>
                                          <p:spTgt spid="2048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par>
                                <p:cTn id="13" presetID="22" presetClass="entr" presetSubtype="1"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wipe(up)">
                                      <p:cBhvr>
                                        <p:cTn id="15" dur="500"/>
                                        <p:tgtEl>
                                          <p:spTgt spid="20483">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6" presetID="22" presetClass="entr" presetSubtype="1" fill="hold" grpId="0" nodeType="withEffect">
                                  <p:stCondLst>
                                    <p:cond delay="0"/>
                                  </p:stCondLst>
                                  <p:childTnLst>
                                    <p:set>
                                      <p:cBhvr>
                                        <p:cTn id="17" dur="1" fill="hold">
                                          <p:stCondLst>
                                            <p:cond delay="0"/>
                                          </p:stCondLst>
                                        </p:cTn>
                                        <p:tgtEl>
                                          <p:spTgt spid="20483">
                                            <p:txEl>
                                              <p:pRg st="3" end="3"/>
                                            </p:txEl>
                                          </p:spTgt>
                                        </p:tgtEl>
                                        <p:attrNameLst>
                                          <p:attrName>style.visibility</p:attrName>
                                        </p:attrNameLst>
                                      </p:cBhvr>
                                      <p:to>
                                        <p:strVal val="visible"/>
                                      </p:to>
                                    </p:set>
                                    <p:animEffect transition="in" filter="wipe(up)">
                                      <p:cBhvr>
                                        <p:cTn id="18" dur="500"/>
                                        <p:tgtEl>
                                          <p:spTgt spid="20483">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par>
                                <p:cTn id="19" presetID="22" presetClass="entr" presetSubtype="1" fill="hold" grpId="0" nodeType="withEffect">
                                  <p:stCondLst>
                                    <p:cond delay="0"/>
                                  </p:stCondLst>
                                  <p:childTnLst>
                                    <p:set>
                                      <p:cBhvr>
                                        <p:cTn id="20" dur="1" fill="hold">
                                          <p:stCondLst>
                                            <p:cond delay="0"/>
                                          </p:stCondLst>
                                        </p:cTn>
                                        <p:tgtEl>
                                          <p:spTgt spid="20483">
                                            <p:txEl>
                                              <p:pRg st="4" end="4"/>
                                            </p:txEl>
                                          </p:spTgt>
                                        </p:tgtEl>
                                        <p:attrNameLst>
                                          <p:attrName>style.visibility</p:attrName>
                                        </p:attrNameLst>
                                      </p:cBhvr>
                                      <p:to>
                                        <p:strVal val="visible"/>
                                      </p:to>
                                    </p:set>
                                    <p:animEffect transition="in" filter="wipe(up)">
                                      <p:cBhvr>
                                        <p:cTn id="21" dur="500"/>
                                        <p:tgtEl>
                                          <p:spTgt spid="20483">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0483">
                                            <p:txEl>
                                              <p:pRg st="5" end="5"/>
                                            </p:txEl>
                                          </p:spTgt>
                                        </p:tgtEl>
                                        <p:attrNameLst>
                                          <p:attrName>style.visibility</p:attrName>
                                        </p:attrNameLst>
                                      </p:cBhvr>
                                      <p:to>
                                        <p:strVal val="visible"/>
                                      </p:to>
                                    </p:set>
                                    <p:animEffect transition="in" filter="wipe(up)">
                                      <p:cBhvr>
                                        <p:cTn id="26" dur="500"/>
                                        <p:tgtEl>
                                          <p:spTgt spid="20483">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type.wav"/>
                                        </p:tgtEl>
                                      </p:cMediaNode>
                                    </p:audio>
                                  </p:subTnLst>
                                </p:cTn>
                              </p:par>
                              <p:par>
                                <p:cTn id="27" presetID="22" presetClass="entr" presetSubtype="1" fill="hold" grpId="0" nodeType="withEffect">
                                  <p:stCondLst>
                                    <p:cond delay="0"/>
                                  </p:stCondLst>
                                  <p:childTnLst>
                                    <p:set>
                                      <p:cBhvr>
                                        <p:cTn id="28" dur="1" fill="hold">
                                          <p:stCondLst>
                                            <p:cond delay="0"/>
                                          </p:stCondLst>
                                        </p:cTn>
                                        <p:tgtEl>
                                          <p:spTgt spid="20483">
                                            <p:txEl>
                                              <p:pRg st="6" end="6"/>
                                            </p:txEl>
                                          </p:spTgt>
                                        </p:tgtEl>
                                        <p:attrNameLst>
                                          <p:attrName>style.visibility</p:attrName>
                                        </p:attrNameLst>
                                      </p:cBhvr>
                                      <p:to>
                                        <p:strVal val="visible"/>
                                      </p:to>
                                    </p:set>
                                    <p:animEffect transition="in" filter="wipe(up)">
                                      <p:cBhvr>
                                        <p:cTn id="29" dur="500"/>
                                        <p:tgtEl>
                                          <p:spTgt spid="20483">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type.wav"/>
                                        </p:tgtEl>
                                      </p:cMediaNode>
                                    </p:audio>
                                  </p:subTnLst>
                                </p:cTn>
                              </p:par>
                              <p:par>
                                <p:cTn id="30" presetID="22" presetClass="entr" presetSubtype="1" fill="hold" grpId="0" nodeType="withEffect">
                                  <p:stCondLst>
                                    <p:cond delay="0"/>
                                  </p:stCondLst>
                                  <p:childTnLst>
                                    <p:set>
                                      <p:cBhvr>
                                        <p:cTn id="31" dur="1" fill="hold">
                                          <p:stCondLst>
                                            <p:cond delay="0"/>
                                          </p:stCondLst>
                                        </p:cTn>
                                        <p:tgtEl>
                                          <p:spTgt spid="20483">
                                            <p:txEl>
                                              <p:pRg st="7" end="7"/>
                                            </p:txEl>
                                          </p:spTgt>
                                        </p:tgtEl>
                                        <p:attrNameLst>
                                          <p:attrName>style.visibility</p:attrName>
                                        </p:attrNameLst>
                                      </p:cBhvr>
                                      <p:to>
                                        <p:strVal val="visible"/>
                                      </p:to>
                                    </p:set>
                                    <p:animEffect transition="in" filter="wipe(up)">
                                      <p:cBhvr>
                                        <p:cTn id="32" dur="500"/>
                                        <p:tgtEl>
                                          <p:spTgt spid="20483">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par>
                                <p:cTn id="33" presetID="22" presetClass="entr" presetSubtype="1" fill="hold" grpId="0" nodeType="withEffect">
                                  <p:stCondLst>
                                    <p:cond delay="0"/>
                                  </p:stCondLst>
                                  <p:childTnLst>
                                    <p:set>
                                      <p:cBhvr>
                                        <p:cTn id="34" dur="1" fill="hold">
                                          <p:stCondLst>
                                            <p:cond delay="0"/>
                                          </p:stCondLst>
                                        </p:cTn>
                                        <p:tgtEl>
                                          <p:spTgt spid="20483">
                                            <p:txEl>
                                              <p:pRg st="8" end="8"/>
                                            </p:txEl>
                                          </p:spTgt>
                                        </p:tgtEl>
                                        <p:attrNameLst>
                                          <p:attrName>style.visibility</p:attrName>
                                        </p:attrNameLst>
                                      </p:cBhvr>
                                      <p:to>
                                        <p:strVal val="visible"/>
                                      </p:to>
                                    </p:set>
                                    <p:animEffect transition="in" filter="wipe(up)">
                                      <p:cBhvr>
                                        <p:cTn id="35" dur="500"/>
                                        <p:tgtEl>
                                          <p:spTgt spid="20483">
                                            <p:txEl>
                                              <p:pRg st="8" end="8"/>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a:xfrm>
            <a:off x="827088" y="620713"/>
            <a:ext cx="7772400" cy="527050"/>
          </a:xfrm>
        </p:spPr>
        <p:txBody>
          <a:bodyPr/>
          <a:lstStyle/>
          <a:p>
            <a:pPr eaLnBrk="1" hangingPunct="1"/>
            <a:r>
              <a:rPr lang="en-US" altLang="zh-CN" sz="4000" dirty="0" smtClean="0">
                <a:solidFill>
                  <a:srgbClr val="1313FF"/>
                </a:solidFill>
              </a:rPr>
              <a:t>2. </a:t>
            </a:r>
            <a:r>
              <a:rPr lang="zh-CN" altLang="en-US" sz="4000" dirty="0" smtClean="0">
                <a:solidFill>
                  <a:srgbClr val="1313FF"/>
                </a:solidFill>
              </a:rPr>
              <a:t>总量指标的计量单位</a:t>
            </a:r>
          </a:p>
        </p:txBody>
      </p:sp>
      <p:sp>
        <p:nvSpPr>
          <p:cNvPr id="612355" name="Rectangle 3"/>
          <p:cNvSpPr>
            <a:spLocks noGrp="1" noChangeArrowheads="1"/>
          </p:cNvSpPr>
          <p:nvPr>
            <p:ph type="body" idx="1"/>
          </p:nvPr>
        </p:nvSpPr>
        <p:spPr>
          <a:xfrm>
            <a:off x="323850" y="1268413"/>
            <a:ext cx="8305800" cy="5184775"/>
          </a:xfrm>
        </p:spPr>
        <p:txBody>
          <a:bodyPr/>
          <a:lstStyle/>
          <a:p>
            <a:pPr eaLnBrk="1" hangingPunct="1">
              <a:lnSpc>
                <a:spcPct val="110000"/>
              </a:lnSpc>
              <a:spcBef>
                <a:spcPts val="600"/>
              </a:spcBef>
            </a:pPr>
            <a:r>
              <a:rPr lang="zh-CN" altLang="en-US" sz="2800" dirty="0" smtClean="0">
                <a:solidFill>
                  <a:srgbClr val="1313FF"/>
                </a:solidFill>
                <a:latin typeface="Times New Roman" pitchFamily="18" charset="0"/>
              </a:rPr>
              <a:t>实物单位                          实物量指标</a:t>
            </a:r>
          </a:p>
          <a:p>
            <a:pPr lvl="1" eaLnBrk="1" hangingPunct="1">
              <a:lnSpc>
                <a:spcPct val="110000"/>
              </a:lnSpc>
              <a:spcBef>
                <a:spcPts val="600"/>
              </a:spcBef>
            </a:pPr>
            <a:r>
              <a:rPr lang="zh-CN" altLang="en-US" sz="2600" dirty="0" smtClean="0"/>
              <a:t>以事物的自然属性和特点进行计量的单位，包括：</a:t>
            </a:r>
          </a:p>
          <a:p>
            <a:pPr lvl="2" eaLnBrk="1" hangingPunct="1">
              <a:lnSpc>
                <a:spcPct val="110000"/>
              </a:lnSpc>
              <a:spcBef>
                <a:spcPts val="600"/>
              </a:spcBef>
            </a:pPr>
            <a:r>
              <a:rPr lang="zh-CN" altLang="en-US" sz="2600" dirty="0" smtClean="0">
                <a:solidFill>
                  <a:srgbClr val="000099"/>
                </a:solidFill>
              </a:rPr>
              <a:t>自然单位：</a:t>
            </a:r>
            <a:r>
              <a:rPr lang="zh-CN" altLang="en-US" sz="2600" b="0" dirty="0" smtClean="0">
                <a:solidFill>
                  <a:srgbClr val="000099"/>
                </a:solidFill>
              </a:rPr>
              <a:t>如</a:t>
            </a:r>
            <a:r>
              <a:rPr lang="zh-CN" altLang="en-US" sz="2600" b="0" dirty="0" smtClean="0"/>
              <a:t>人、只、台、件</a:t>
            </a:r>
            <a:r>
              <a:rPr lang="en-US" altLang="zh-CN" sz="2600" b="0" dirty="0" smtClean="0">
                <a:latin typeface="Times New Roman" pitchFamily="18" charset="0"/>
              </a:rPr>
              <a:t>…</a:t>
            </a:r>
            <a:r>
              <a:rPr lang="zh-CN" altLang="en-US" sz="2600" b="0" dirty="0" smtClean="0"/>
              <a:t>，是</a:t>
            </a:r>
            <a:r>
              <a:rPr lang="zh-CN" altLang="en-US" sz="2600" b="0" dirty="0" smtClean="0">
                <a:latin typeface="Times New Roman" pitchFamily="18" charset="0"/>
              </a:rPr>
              <a:t>长期习惯使用形成，用于离散型数据。</a:t>
            </a:r>
            <a:r>
              <a:rPr lang="zh-CN" altLang="en-US" sz="2600" b="0" dirty="0" smtClean="0"/>
              <a:t> </a:t>
            </a:r>
          </a:p>
          <a:p>
            <a:pPr lvl="2" eaLnBrk="1" hangingPunct="1">
              <a:lnSpc>
                <a:spcPct val="110000"/>
              </a:lnSpc>
              <a:spcBef>
                <a:spcPts val="600"/>
              </a:spcBef>
            </a:pPr>
            <a:r>
              <a:rPr lang="zh-CN" altLang="en-US" sz="2600" dirty="0" smtClean="0">
                <a:solidFill>
                  <a:srgbClr val="000099"/>
                </a:solidFill>
              </a:rPr>
              <a:t>度量衡单位</a:t>
            </a:r>
            <a:r>
              <a:rPr lang="zh-CN" altLang="en-US" sz="2600" b="0" dirty="0" smtClean="0">
                <a:solidFill>
                  <a:srgbClr val="000099"/>
                </a:solidFill>
              </a:rPr>
              <a:t>：</a:t>
            </a:r>
            <a:r>
              <a:rPr lang="zh-CN" altLang="en-US" sz="2600" b="0" dirty="0" smtClean="0"/>
              <a:t>  </a:t>
            </a:r>
            <a:r>
              <a:rPr lang="en-US" altLang="zh-CN" sz="2600" b="0" dirty="0" smtClean="0"/>
              <a:t>kg</a:t>
            </a:r>
            <a:r>
              <a:rPr lang="zh-CN" altLang="en-US" sz="2600" b="0" dirty="0" smtClean="0"/>
              <a:t>、</a:t>
            </a:r>
            <a:r>
              <a:rPr lang="en-US" altLang="zh-CN" sz="2600" b="0" dirty="0" smtClean="0"/>
              <a:t>cm</a:t>
            </a:r>
            <a:r>
              <a:rPr lang="zh-CN" altLang="en-US" sz="2600" b="0" dirty="0" smtClean="0"/>
              <a:t>、</a:t>
            </a:r>
            <a:r>
              <a:rPr lang="en-US" altLang="zh-CN" sz="2600" b="0" dirty="0" smtClean="0">
                <a:latin typeface="Times New Roman" pitchFamily="18" charset="0"/>
              </a:rPr>
              <a:t>…</a:t>
            </a:r>
            <a:r>
              <a:rPr lang="zh-CN" altLang="en-US" sz="2600" b="0" dirty="0" smtClean="0"/>
              <a:t>，</a:t>
            </a:r>
            <a:r>
              <a:rPr lang="zh-CN" altLang="en-US" sz="2600" b="0" dirty="0" smtClean="0">
                <a:latin typeface="Times New Roman" pitchFamily="18" charset="0"/>
              </a:rPr>
              <a:t>用于连续型数据</a:t>
            </a:r>
            <a:r>
              <a:rPr lang="zh-CN" altLang="en-US" sz="2600" b="0" dirty="0" smtClean="0"/>
              <a:t> 。</a:t>
            </a:r>
          </a:p>
          <a:p>
            <a:pPr lvl="2" eaLnBrk="1" hangingPunct="1">
              <a:lnSpc>
                <a:spcPct val="110000"/>
              </a:lnSpc>
              <a:spcBef>
                <a:spcPts val="600"/>
              </a:spcBef>
            </a:pPr>
            <a:r>
              <a:rPr lang="zh-CN" altLang="en-US" sz="2600" dirty="0" smtClean="0">
                <a:solidFill>
                  <a:srgbClr val="000099"/>
                </a:solidFill>
              </a:rPr>
              <a:t>标准实物单位</a:t>
            </a:r>
            <a:r>
              <a:rPr lang="zh-CN" altLang="en-US" sz="2600" b="0" dirty="0" smtClean="0">
                <a:solidFill>
                  <a:srgbClr val="000099"/>
                </a:solidFill>
              </a:rPr>
              <a:t>：</a:t>
            </a:r>
            <a:r>
              <a:rPr lang="zh-CN" altLang="en-US" b="0" dirty="0" smtClean="0">
                <a:latin typeface="Times New Roman" pitchFamily="18" charset="0"/>
              </a:rPr>
              <a:t>按某一标准（含量、规格、功效等）折算后的实物单位，用于将用途相同、但规格或含量不同的物品数量汇总。如</a:t>
            </a:r>
            <a:r>
              <a:rPr lang="zh-CN" altLang="en-US" b="0" dirty="0" smtClean="0"/>
              <a:t>粮食、能源（标准吨）等；                   </a:t>
            </a:r>
            <a:r>
              <a:rPr lang="zh-CN" altLang="en-US" dirty="0" smtClean="0">
                <a:solidFill>
                  <a:srgbClr val="1313FF"/>
                </a:solidFill>
              </a:rPr>
              <a:t>标准</a:t>
            </a:r>
            <a:r>
              <a:rPr lang="zh-CN" altLang="en-US" dirty="0" smtClean="0">
                <a:solidFill>
                  <a:srgbClr val="1313FF"/>
                </a:solidFill>
                <a:latin typeface="Times New Roman" pitchFamily="18" charset="0"/>
              </a:rPr>
              <a:t>实物量指标 （折合量）</a:t>
            </a:r>
            <a:endParaRPr lang="zh-CN" altLang="en-US" sz="2600" dirty="0" smtClean="0">
              <a:solidFill>
                <a:srgbClr val="1313FF"/>
              </a:solidFill>
            </a:endParaRPr>
          </a:p>
          <a:p>
            <a:pPr lvl="2" eaLnBrk="1" hangingPunct="1">
              <a:lnSpc>
                <a:spcPct val="110000"/>
              </a:lnSpc>
              <a:spcBef>
                <a:spcPts val="600"/>
              </a:spcBef>
            </a:pPr>
            <a:r>
              <a:rPr lang="zh-CN" altLang="en-US" sz="2600" dirty="0" smtClean="0">
                <a:solidFill>
                  <a:srgbClr val="000099"/>
                </a:solidFill>
              </a:rPr>
              <a:t>复合单位</a:t>
            </a:r>
            <a:r>
              <a:rPr lang="zh-CN" altLang="en-US" sz="2600" b="0" dirty="0" smtClean="0">
                <a:solidFill>
                  <a:srgbClr val="000099"/>
                </a:solidFill>
              </a:rPr>
              <a:t>：</a:t>
            </a:r>
            <a:r>
              <a:rPr lang="zh-CN" altLang="en-US" sz="2600" b="0" dirty="0" smtClean="0"/>
              <a:t> 吨公里、人公里、人次数、工日</a:t>
            </a:r>
            <a:r>
              <a:rPr lang="en-US" altLang="zh-CN" sz="2600" b="0" dirty="0" smtClean="0">
                <a:latin typeface="Times New Roman" pitchFamily="18" charset="0"/>
              </a:rPr>
              <a:t>…</a:t>
            </a:r>
            <a:endParaRPr lang="en-US" altLang="zh-CN" sz="2600" b="0" dirty="0" smtClean="0">
              <a:solidFill>
                <a:schemeClr val="tx1"/>
              </a:solidFill>
            </a:endParaRPr>
          </a:p>
        </p:txBody>
      </p:sp>
      <p:sp>
        <p:nvSpPr>
          <p:cNvPr id="5" name="右箭头 4"/>
          <p:cNvSpPr/>
          <p:nvPr/>
        </p:nvSpPr>
        <p:spPr bwMode="auto">
          <a:xfrm>
            <a:off x="3491880" y="1340768"/>
            <a:ext cx="720080" cy="288032"/>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
        <p:nvSpPr>
          <p:cNvPr id="7" name="右箭头 6"/>
          <p:cNvSpPr/>
          <p:nvPr/>
        </p:nvSpPr>
        <p:spPr bwMode="auto">
          <a:xfrm>
            <a:off x="3131840" y="5157192"/>
            <a:ext cx="720080" cy="288032"/>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6</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2355">
                                            <p:txEl>
                                              <p:pRg st="2" end="2"/>
                                            </p:txEl>
                                          </p:spTgt>
                                        </p:tgtEl>
                                        <p:attrNameLst>
                                          <p:attrName>style.visibility</p:attrName>
                                        </p:attrNameLst>
                                      </p:cBhvr>
                                      <p:to>
                                        <p:strVal val="visible"/>
                                      </p:to>
                                    </p:set>
                                    <p:anim calcmode="lin" valueType="num">
                                      <p:cBhvr additive="base">
                                        <p:cTn id="7" dur="500" fill="hold"/>
                                        <p:tgtEl>
                                          <p:spTgt spid="612355">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2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2355">
                                            <p:txEl>
                                              <p:pRg st="3" end="3"/>
                                            </p:txEl>
                                          </p:spTgt>
                                        </p:tgtEl>
                                        <p:attrNameLst>
                                          <p:attrName>style.visibility</p:attrName>
                                        </p:attrNameLst>
                                      </p:cBhvr>
                                      <p:to>
                                        <p:strVal val="visible"/>
                                      </p:to>
                                    </p:set>
                                    <p:anim calcmode="lin" valueType="num">
                                      <p:cBhvr additive="base">
                                        <p:cTn id="13" dur="500" fill="hold"/>
                                        <p:tgtEl>
                                          <p:spTgt spid="612355">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23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2355">
                                            <p:txEl>
                                              <p:pRg st="4" end="4"/>
                                            </p:txEl>
                                          </p:spTgt>
                                        </p:tgtEl>
                                        <p:attrNameLst>
                                          <p:attrName>style.visibility</p:attrName>
                                        </p:attrNameLst>
                                      </p:cBhvr>
                                      <p:to>
                                        <p:strVal val="visible"/>
                                      </p:to>
                                    </p:set>
                                    <p:anim calcmode="lin" valueType="num">
                                      <p:cBhvr additive="base">
                                        <p:cTn id="19" dur="500" fill="hold"/>
                                        <p:tgtEl>
                                          <p:spTgt spid="612355">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23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2355">
                                            <p:txEl>
                                              <p:pRg st="5" end="5"/>
                                            </p:txEl>
                                          </p:spTgt>
                                        </p:tgtEl>
                                        <p:attrNameLst>
                                          <p:attrName>style.visibility</p:attrName>
                                        </p:attrNameLst>
                                      </p:cBhvr>
                                      <p:to>
                                        <p:strVal val="visible"/>
                                      </p:to>
                                    </p:set>
                                    <p:anim calcmode="lin" valueType="num">
                                      <p:cBhvr additive="base">
                                        <p:cTn id="25" dur="500" fill="hold"/>
                                        <p:tgtEl>
                                          <p:spTgt spid="612355">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235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5" grpId="0" build="p" bldLvl="4"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a:xfrm>
            <a:off x="755576" y="764704"/>
            <a:ext cx="7772400" cy="527050"/>
          </a:xfrm>
        </p:spPr>
        <p:txBody>
          <a:bodyPr/>
          <a:lstStyle/>
          <a:p>
            <a:pPr eaLnBrk="1" hangingPunct="1"/>
            <a:r>
              <a:rPr lang="zh-CN" altLang="en-US" sz="3600" dirty="0" smtClean="0">
                <a:solidFill>
                  <a:srgbClr val="1313FF"/>
                </a:solidFill>
                <a:latin typeface="Times New Roman" pitchFamily="18" charset="0"/>
              </a:rPr>
              <a:t>实物单位</a:t>
            </a:r>
            <a:r>
              <a:rPr lang="zh-CN" altLang="en-US" sz="3200" b="0" dirty="0" smtClean="0">
                <a:solidFill>
                  <a:srgbClr val="1313FF"/>
                </a:solidFill>
                <a:latin typeface="Times New Roman" pitchFamily="18" charset="0"/>
              </a:rPr>
              <a:t>（续）</a:t>
            </a:r>
            <a:endParaRPr lang="zh-CN" altLang="en-US" sz="3600" b="0" dirty="0" smtClean="0">
              <a:solidFill>
                <a:srgbClr val="1313FF"/>
              </a:solidFill>
            </a:endParaRPr>
          </a:p>
        </p:txBody>
      </p:sp>
      <p:sp>
        <p:nvSpPr>
          <p:cNvPr id="613379" name="Rectangle 3"/>
          <p:cNvSpPr>
            <a:spLocks noGrp="1" noChangeArrowheads="1"/>
          </p:cNvSpPr>
          <p:nvPr>
            <p:ph type="body" idx="1"/>
          </p:nvPr>
        </p:nvSpPr>
        <p:spPr>
          <a:xfrm>
            <a:off x="467544" y="1484784"/>
            <a:ext cx="7991475" cy="4608512"/>
          </a:xfrm>
        </p:spPr>
        <p:txBody>
          <a:bodyPr/>
          <a:lstStyle/>
          <a:p>
            <a:pPr lvl="1" eaLnBrk="1" hangingPunct="1">
              <a:lnSpc>
                <a:spcPct val="120000"/>
              </a:lnSpc>
              <a:spcBef>
                <a:spcPts val="600"/>
              </a:spcBef>
            </a:pPr>
            <a:r>
              <a:rPr lang="en-US" altLang="zh-CN" dirty="0" smtClean="0">
                <a:solidFill>
                  <a:srgbClr val="1313FF"/>
                </a:solidFill>
                <a:latin typeface="Times New Roman" pitchFamily="18" charset="0"/>
              </a:rPr>
              <a:t> </a:t>
            </a:r>
            <a:r>
              <a:rPr lang="zh-CN" altLang="en-US" dirty="0" smtClean="0"/>
              <a:t>特点</a:t>
            </a:r>
            <a:endParaRPr lang="zh-CN" altLang="en-US" dirty="0" smtClean="0">
              <a:solidFill>
                <a:schemeClr val="tx1"/>
              </a:solidFill>
            </a:endParaRPr>
          </a:p>
          <a:p>
            <a:pPr lvl="2" eaLnBrk="1" hangingPunct="1">
              <a:lnSpc>
                <a:spcPct val="120000"/>
              </a:lnSpc>
              <a:spcBef>
                <a:spcPts val="600"/>
              </a:spcBef>
            </a:pPr>
            <a:r>
              <a:rPr lang="zh-CN" altLang="en-US" sz="2800" dirty="0" smtClean="0">
                <a:solidFill>
                  <a:srgbClr val="006600"/>
                </a:solidFill>
              </a:rPr>
              <a:t>使用价值明确；</a:t>
            </a:r>
          </a:p>
          <a:p>
            <a:pPr lvl="2" eaLnBrk="1" hangingPunct="1">
              <a:lnSpc>
                <a:spcPct val="120000"/>
              </a:lnSpc>
              <a:spcBef>
                <a:spcPts val="600"/>
              </a:spcBef>
            </a:pPr>
            <a:r>
              <a:rPr lang="zh-CN" altLang="en-US" sz="2800" dirty="0" smtClean="0">
                <a:solidFill>
                  <a:srgbClr val="006600"/>
                </a:solidFill>
                <a:latin typeface="Times New Roman" pitchFamily="18" charset="0"/>
              </a:rPr>
              <a:t>综合性能差，</a:t>
            </a:r>
            <a:r>
              <a:rPr lang="zh-CN" altLang="en-US" sz="2800" dirty="0" smtClean="0">
                <a:solidFill>
                  <a:srgbClr val="006600"/>
                </a:solidFill>
              </a:rPr>
              <a:t>不同使用价值</a:t>
            </a:r>
            <a:r>
              <a:rPr lang="zh-CN" altLang="en-US" sz="2800" dirty="0" smtClean="0">
                <a:solidFill>
                  <a:srgbClr val="006600"/>
                </a:solidFill>
                <a:latin typeface="Times New Roman" pitchFamily="18" charset="0"/>
              </a:rPr>
              <a:t>的实物量</a:t>
            </a:r>
            <a:r>
              <a:rPr lang="zh-CN" altLang="en-US" sz="2800" dirty="0" smtClean="0">
                <a:solidFill>
                  <a:srgbClr val="006600"/>
                </a:solidFill>
              </a:rPr>
              <a:t>不能</a:t>
            </a:r>
            <a:r>
              <a:rPr lang="zh-CN" altLang="en-US" sz="2800" dirty="0" smtClean="0">
                <a:solidFill>
                  <a:srgbClr val="006600"/>
                </a:solidFill>
                <a:latin typeface="Times New Roman" pitchFamily="18" charset="0"/>
              </a:rPr>
              <a:t>直接</a:t>
            </a:r>
            <a:r>
              <a:rPr lang="zh-CN" altLang="en-US" sz="2800" dirty="0" smtClean="0">
                <a:solidFill>
                  <a:srgbClr val="006600"/>
                </a:solidFill>
              </a:rPr>
              <a:t>汇总。</a:t>
            </a:r>
          </a:p>
          <a:p>
            <a:pPr lvl="1" algn="just" eaLnBrk="1" hangingPunct="1">
              <a:lnSpc>
                <a:spcPct val="120000"/>
              </a:lnSpc>
              <a:spcBef>
                <a:spcPts val="600"/>
              </a:spcBef>
            </a:pPr>
            <a:r>
              <a:rPr lang="zh-CN" altLang="en-US" dirty="0" smtClean="0"/>
              <a:t>用途</a:t>
            </a:r>
            <a:endParaRPr lang="zh-CN" altLang="en-US" dirty="0" smtClean="0">
              <a:solidFill>
                <a:schemeClr val="tx1"/>
              </a:solidFill>
            </a:endParaRPr>
          </a:p>
          <a:p>
            <a:pPr lvl="2" algn="just" eaLnBrk="1" hangingPunct="1">
              <a:lnSpc>
                <a:spcPct val="120000"/>
              </a:lnSpc>
              <a:spcBef>
                <a:spcPts val="600"/>
              </a:spcBef>
            </a:pPr>
            <a:r>
              <a:rPr lang="zh-CN" altLang="en-US" sz="2800" dirty="0" smtClean="0">
                <a:solidFill>
                  <a:srgbClr val="006600"/>
                </a:solidFill>
                <a:latin typeface="Times New Roman" pitchFamily="18" charset="0"/>
              </a:rPr>
              <a:t>反映重要物资的生产和消耗、主要产品的供需平衡、特别是无法估价的土地面积和自然资源数量等</a:t>
            </a:r>
            <a:r>
              <a:rPr lang="zh-CN" altLang="en-US" sz="2800" dirty="0" smtClean="0">
                <a:solidFill>
                  <a:srgbClr val="006600"/>
                </a:solidFill>
              </a:rPr>
              <a:t> 。</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3379">
                                            <p:txEl>
                                              <p:pRg st="1" end="1"/>
                                            </p:txEl>
                                          </p:spTgt>
                                        </p:tgtEl>
                                        <p:attrNameLst>
                                          <p:attrName>style.visibility</p:attrName>
                                        </p:attrNameLst>
                                      </p:cBhvr>
                                      <p:to>
                                        <p:strVal val="visible"/>
                                      </p:to>
                                    </p:set>
                                    <p:anim calcmode="lin" valueType="num">
                                      <p:cBhvr additive="base">
                                        <p:cTn id="7" dur="500" fill="hold"/>
                                        <p:tgtEl>
                                          <p:spTgt spid="61337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3379">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13379">
                                            <p:txEl>
                                              <p:pRg st="2" end="2"/>
                                            </p:txEl>
                                          </p:spTgt>
                                        </p:tgtEl>
                                        <p:attrNameLst>
                                          <p:attrName>style.visibility</p:attrName>
                                        </p:attrNameLst>
                                      </p:cBhvr>
                                      <p:to>
                                        <p:strVal val="visible"/>
                                      </p:to>
                                    </p:set>
                                    <p:anim calcmode="lin" valueType="num">
                                      <p:cBhvr additive="base">
                                        <p:cTn id="11" dur="500" fill="hold"/>
                                        <p:tgtEl>
                                          <p:spTgt spid="613379">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3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13379">
                                            <p:txEl>
                                              <p:pRg st="3" end="3"/>
                                            </p:txEl>
                                          </p:spTgt>
                                        </p:tgtEl>
                                        <p:attrNameLst>
                                          <p:attrName>style.visibility</p:attrName>
                                        </p:attrNameLst>
                                      </p:cBhvr>
                                      <p:to>
                                        <p:strVal val="visible"/>
                                      </p:to>
                                    </p:set>
                                    <p:anim calcmode="lin" valueType="num">
                                      <p:cBhvr additive="base">
                                        <p:cTn id="17" dur="500" fill="hold"/>
                                        <p:tgtEl>
                                          <p:spTgt spid="613379">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13379">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13379">
                                            <p:txEl>
                                              <p:pRg st="4" end="4"/>
                                            </p:txEl>
                                          </p:spTgt>
                                        </p:tgtEl>
                                        <p:attrNameLst>
                                          <p:attrName>style.visibility</p:attrName>
                                        </p:attrNameLst>
                                      </p:cBhvr>
                                      <p:to>
                                        <p:strVal val="visible"/>
                                      </p:to>
                                    </p:set>
                                    <p:anim calcmode="lin" valueType="num">
                                      <p:cBhvr additive="base">
                                        <p:cTn id="21" dur="500" fill="hold"/>
                                        <p:tgtEl>
                                          <p:spTgt spid="613379">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1337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1" name="Rectangle 2"/>
          <p:cNvSpPr>
            <a:spLocks noGrp="1" noChangeArrowheads="1"/>
          </p:cNvSpPr>
          <p:nvPr>
            <p:ph type="title"/>
          </p:nvPr>
        </p:nvSpPr>
        <p:spPr>
          <a:xfrm>
            <a:off x="539750" y="692150"/>
            <a:ext cx="8604250" cy="660400"/>
          </a:xfrm>
        </p:spPr>
        <p:txBody>
          <a:bodyPr/>
          <a:lstStyle/>
          <a:p>
            <a:pPr eaLnBrk="1" hangingPunct="1"/>
            <a:r>
              <a:rPr lang="en-US" altLang="zh-CN" sz="4000" smtClean="0">
                <a:solidFill>
                  <a:srgbClr val="1313FF"/>
                </a:solidFill>
              </a:rPr>
              <a:t>2. </a:t>
            </a:r>
            <a:r>
              <a:rPr lang="zh-CN" altLang="en-US" smtClean="0">
                <a:solidFill>
                  <a:srgbClr val="1313FF"/>
                </a:solidFill>
              </a:rPr>
              <a:t>总量指标的计量单位</a:t>
            </a:r>
            <a:r>
              <a:rPr lang="zh-CN" altLang="en-US" sz="3600" b="0" smtClean="0">
                <a:solidFill>
                  <a:srgbClr val="1313FF"/>
                </a:solidFill>
              </a:rPr>
              <a:t>（续）</a:t>
            </a:r>
          </a:p>
        </p:txBody>
      </p:sp>
      <p:sp>
        <p:nvSpPr>
          <p:cNvPr id="287747" name="Rectangle 3"/>
          <p:cNvSpPr>
            <a:spLocks noGrp="1" noChangeArrowheads="1"/>
          </p:cNvSpPr>
          <p:nvPr>
            <p:ph type="body" idx="1"/>
          </p:nvPr>
        </p:nvSpPr>
        <p:spPr>
          <a:xfrm>
            <a:off x="755650" y="1700213"/>
            <a:ext cx="7773988" cy="4438650"/>
          </a:xfrm>
        </p:spPr>
        <p:txBody>
          <a:bodyPr/>
          <a:lstStyle/>
          <a:p>
            <a:pPr eaLnBrk="1" hangingPunct="1">
              <a:lnSpc>
                <a:spcPct val="110000"/>
              </a:lnSpc>
              <a:spcBef>
                <a:spcPts val="600"/>
              </a:spcBef>
            </a:pPr>
            <a:r>
              <a:rPr lang="zh-CN" altLang="en-US" dirty="0" smtClean="0">
                <a:solidFill>
                  <a:srgbClr val="1313FF"/>
                </a:solidFill>
                <a:latin typeface="Times New Roman" pitchFamily="18" charset="0"/>
              </a:rPr>
              <a:t>价值单位（货币单位）         价值量指标</a:t>
            </a:r>
          </a:p>
          <a:p>
            <a:pPr lvl="1" eaLnBrk="1" hangingPunct="1">
              <a:lnSpc>
                <a:spcPct val="110000"/>
              </a:lnSpc>
              <a:spcBef>
                <a:spcPts val="600"/>
              </a:spcBef>
            </a:pPr>
            <a:r>
              <a:rPr lang="zh-CN" altLang="en-US" dirty="0" smtClean="0">
                <a:latin typeface="Times New Roman" pitchFamily="18" charset="0"/>
              </a:rPr>
              <a:t>如人民币元，对外贸易中使用英镑、美元、欧元等。</a:t>
            </a:r>
          </a:p>
          <a:p>
            <a:pPr lvl="1" eaLnBrk="1" hangingPunct="1">
              <a:lnSpc>
                <a:spcPct val="110000"/>
              </a:lnSpc>
              <a:spcBef>
                <a:spcPts val="600"/>
              </a:spcBef>
            </a:pPr>
            <a:r>
              <a:rPr lang="zh-CN" altLang="en-US" dirty="0" smtClean="0"/>
              <a:t>特点：</a:t>
            </a:r>
          </a:p>
          <a:p>
            <a:pPr lvl="2" eaLnBrk="1" hangingPunct="1">
              <a:lnSpc>
                <a:spcPct val="110000"/>
              </a:lnSpc>
              <a:spcBef>
                <a:spcPts val="600"/>
              </a:spcBef>
            </a:pPr>
            <a:r>
              <a:rPr lang="zh-CN" altLang="en-US" sz="2800" dirty="0" smtClean="0">
                <a:latin typeface="Times New Roman" pitchFamily="18" charset="0"/>
              </a:rPr>
              <a:t>具有较强的综合性和概括能力，</a:t>
            </a:r>
          </a:p>
          <a:p>
            <a:pPr lvl="2" eaLnBrk="1" hangingPunct="1">
              <a:lnSpc>
                <a:spcPct val="110000"/>
              </a:lnSpc>
              <a:spcBef>
                <a:spcPts val="600"/>
              </a:spcBef>
            </a:pPr>
            <a:r>
              <a:rPr lang="zh-CN" altLang="en-US" sz="2800" dirty="0" smtClean="0">
                <a:latin typeface="Times New Roman" pitchFamily="18" charset="0"/>
              </a:rPr>
              <a:t>内容抽象，而且要受价格波动的影响。</a:t>
            </a:r>
          </a:p>
          <a:p>
            <a:pPr lvl="1" eaLnBrk="1" hangingPunct="1">
              <a:lnSpc>
                <a:spcPct val="110000"/>
              </a:lnSpc>
              <a:spcBef>
                <a:spcPts val="600"/>
              </a:spcBef>
            </a:pPr>
            <a:r>
              <a:rPr lang="zh-CN" altLang="en-US" dirty="0" smtClean="0">
                <a:latin typeface="Times New Roman" pitchFamily="18" charset="0"/>
              </a:rPr>
              <a:t>用途：表明经济活动的总成果、总规模，广泛用于经济效益的考核和评价等。</a:t>
            </a:r>
            <a:r>
              <a:rPr lang="zh-CN" altLang="en-US" sz="3000" dirty="0" smtClean="0"/>
              <a:t> </a:t>
            </a:r>
          </a:p>
        </p:txBody>
      </p:sp>
      <p:sp>
        <p:nvSpPr>
          <p:cNvPr id="5" name="右箭头 4"/>
          <p:cNvSpPr/>
          <p:nvPr/>
        </p:nvSpPr>
        <p:spPr bwMode="auto">
          <a:xfrm>
            <a:off x="5364088" y="1844824"/>
            <a:ext cx="720080" cy="288032"/>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8</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7747">
                                            <p:txEl>
                                              <p:pRg st="2" end="2"/>
                                            </p:txEl>
                                          </p:spTgt>
                                        </p:tgtEl>
                                        <p:attrNameLst>
                                          <p:attrName>style.visibility</p:attrName>
                                        </p:attrNameLst>
                                      </p:cBhvr>
                                      <p:to>
                                        <p:strVal val="visible"/>
                                      </p:to>
                                    </p:set>
                                    <p:animEffect transition="in" filter="wipe(up)">
                                      <p:cBhvr>
                                        <p:cTn id="7" dur="500"/>
                                        <p:tgtEl>
                                          <p:spTgt spid="287747">
                                            <p:txEl>
                                              <p:pRg st="2" end="2"/>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8" presetID="22" presetClass="entr" presetSubtype="1" fill="hold" grpId="0" nodeType="withEffect">
                                  <p:stCondLst>
                                    <p:cond delay="0"/>
                                  </p:stCondLst>
                                  <p:childTnLst>
                                    <p:set>
                                      <p:cBhvr>
                                        <p:cTn id="9" dur="1" fill="hold">
                                          <p:stCondLst>
                                            <p:cond delay="0"/>
                                          </p:stCondLst>
                                        </p:cTn>
                                        <p:tgtEl>
                                          <p:spTgt spid="287747">
                                            <p:txEl>
                                              <p:pRg st="3" end="3"/>
                                            </p:txEl>
                                          </p:spTgt>
                                        </p:tgtEl>
                                        <p:attrNameLst>
                                          <p:attrName>style.visibility</p:attrName>
                                        </p:attrNameLst>
                                      </p:cBhvr>
                                      <p:to>
                                        <p:strVal val="visible"/>
                                      </p:to>
                                    </p:set>
                                    <p:animEffect transition="in" filter="wipe(up)">
                                      <p:cBhvr>
                                        <p:cTn id="10" dur="250"/>
                                        <p:tgtEl>
                                          <p:spTgt spid="287747">
                                            <p:txEl>
                                              <p:pRg st="3" end="3"/>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himes.wav"/>
                                        </p:tgtEl>
                                      </p:cMediaNode>
                                    </p:audio>
                                  </p:sub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287747">
                                            <p:txEl>
                                              <p:pRg st="4" end="4"/>
                                            </p:txEl>
                                          </p:spTgt>
                                        </p:tgtEl>
                                        <p:attrNameLst>
                                          <p:attrName>style.visibility</p:attrName>
                                        </p:attrNameLst>
                                      </p:cBhvr>
                                      <p:to>
                                        <p:strVal val="visible"/>
                                      </p:to>
                                    </p:set>
                                    <p:animEffect transition="in" filter="wipe(up)">
                                      <p:cBhvr>
                                        <p:cTn id="14" dur="500"/>
                                        <p:tgtEl>
                                          <p:spTgt spid="287747">
                                            <p:txEl>
                                              <p:pRg st="4" end="4"/>
                                            </p:txEl>
                                          </p:spTgt>
                                        </p:tgtEl>
                                      </p:cBhvr>
                                    </p:animEffect>
                                  </p:childTnLst>
                                  <p:subTnLst>
                                    <p:audio>
                                      <p:cMediaNode>
                                        <p:cTn display="0" masterRel="sameClick">
                                          <p:stCondLst>
                                            <p:cond evt="begin" delay="0">
                                              <p:tn val="12"/>
                                            </p:cond>
                                          </p:stCondLst>
                                          <p:endCondLst>
                                            <p:cond evt="onStopAudio" delay="0">
                                              <p:tgtEl>
                                                <p:sldTgt/>
                                              </p:tgtEl>
                                            </p:cond>
                                          </p:endCondLst>
                                        </p:cTn>
                                        <p:tgtEl>
                                          <p:sndTgt r:embed="rId2" name="chimes.wav"/>
                                        </p:tgtEl>
                                      </p:cMediaNode>
                                    </p:audio>
                                  </p:sub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87747">
                                            <p:txEl>
                                              <p:pRg st="5" end="5"/>
                                            </p:txEl>
                                          </p:spTgt>
                                        </p:tgtEl>
                                        <p:attrNameLst>
                                          <p:attrName>style.visibility</p:attrName>
                                        </p:attrNameLst>
                                      </p:cBhvr>
                                      <p:to>
                                        <p:strVal val="visible"/>
                                      </p:to>
                                    </p:set>
                                    <p:animEffect transition="in" filter="wipe(up)">
                                      <p:cBhvr>
                                        <p:cTn id="19" dur="500"/>
                                        <p:tgtEl>
                                          <p:spTgt spid="287747">
                                            <p:txEl>
                                              <p:pRg st="5" end="5"/>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uiExpand="1"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4674" name="Rectangle 2"/>
          <p:cNvSpPr>
            <a:spLocks noGrp="1" noChangeArrowheads="1"/>
          </p:cNvSpPr>
          <p:nvPr>
            <p:ph type="body" idx="1"/>
          </p:nvPr>
        </p:nvSpPr>
        <p:spPr>
          <a:xfrm>
            <a:off x="250825" y="1219200"/>
            <a:ext cx="8512175" cy="5105400"/>
          </a:xfrm>
        </p:spPr>
        <p:txBody>
          <a:bodyPr/>
          <a:lstStyle/>
          <a:p>
            <a:pPr eaLnBrk="1" hangingPunct="1">
              <a:buFontTx/>
              <a:buNone/>
            </a:pPr>
            <a:r>
              <a:rPr lang="en-US" altLang="zh-CN" sz="2800" dirty="0" smtClean="0">
                <a:solidFill>
                  <a:schemeClr val="tx2"/>
                </a:solidFill>
              </a:rPr>
              <a:t>1</a:t>
            </a:r>
            <a:r>
              <a:rPr lang="zh-CN" altLang="en-US" sz="2800" dirty="0" smtClean="0">
                <a:solidFill>
                  <a:schemeClr val="tx2"/>
                </a:solidFill>
              </a:rPr>
              <a:t>、按反映总体的特征（内容）分为：</a:t>
            </a:r>
          </a:p>
          <a:p>
            <a:pPr lvl="1" eaLnBrk="1" hangingPunct="1"/>
            <a:r>
              <a:rPr lang="zh-CN" altLang="en-US" sz="2400" dirty="0" smtClean="0">
                <a:solidFill>
                  <a:srgbClr val="E54182"/>
                </a:solidFill>
              </a:rPr>
              <a:t>总体总量</a:t>
            </a:r>
            <a:endParaRPr lang="zh-CN" altLang="en-US" sz="2400" dirty="0" smtClean="0"/>
          </a:p>
          <a:p>
            <a:pPr lvl="2" eaLnBrk="1" hangingPunct="1"/>
            <a:r>
              <a:rPr lang="zh-CN" altLang="en-US" sz="2200" dirty="0" smtClean="0">
                <a:solidFill>
                  <a:srgbClr val="000000"/>
                </a:solidFill>
              </a:rPr>
              <a:t>即总体单位总数</a:t>
            </a:r>
          </a:p>
          <a:p>
            <a:pPr lvl="2" eaLnBrk="1" hangingPunct="1"/>
            <a:r>
              <a:rPr lang="zh-CN" altLang="en-US" sz="2200" dirty="0" smtClean="0">
                <a:solidFill>
                  <a:srgbClr val="000000"/>
                </a:solidFill>
                <a:latin typeface="Times New Roman" pitchFamily="18" charset="0"/>
              </a:rPr>
              <a:t>表示总体本身的规模大小</a:t>
            </a:r>
            <a:r>
              <a:rPr lang="zh-CN" altLang="en-US" sz="2000" dirty="0" smtClean="0">
                <a:solidFill>
                  <a:srgbClr val="000000"/>
                </a:solidFill>
              </a:rPr>
              <a:t> </a:t>
            </a:r>
          </a:p>
          <a:p>
            <a:pPr lvl="1" eaLnBrk="1" hangingPunct="1"/>
            <a:r>
              <a:rPr lang="zh-CN" altLang="en-US" sz="2400" dirty="0" smtClean="0">
                <a:solidFill>
                  <a:srgbClr val="E54182"/>
                </a:solidFill>
              </a:rPr>
              <a:t>标志总量</a:t>
            </a:r>
            <a:endParaRPr lang="zh-CN" altLang="en-US" sz="2400" dirty="0" smtClean="0"/>
          </a:p>
          <a:p>
            <a:pPr lvl="2" eaLnBrk="1" hangingPunct="1"/>
            <a:r>
              <a:rPr lang="zh-CN" altLang="en-US" sz="2200" dirty="0">
                <a:solidFill>
                  <a:srgbClr val="000000"/>
                </a:solidFill>
              </a:rPr>
              <a:t>即总体各单位某一数量标志值总和。</a:t>
            </a:r>
          </a:p>
          <a:p>
            <a:pPr lvl="2" eaLnBrk="1" hangingPunct="1"/>
            <a:r>
              <a:rPr lang="zh-CN" altLang="en-US" sz="2200" dirty="0">
                <a:solidFill>
                  <a:srgbClr val="000000"/>
                </a:solidFill>
              </a:rPr>
              <a:t>表示所研究现象的总水平。</a:t>
            </a:r>
          </a:p>
          <a:p>
            <a:pPr lvl="1" eaLnBrk="1" hangingPunct="1"/>
            <a:r>
              <a:rPr lang="zh-CN" altLang="en-US" sz="2400" dirty="0" smtClean="0">
                <a:solidFill>
                  <a:srgbClr val="C56B9E"/>
                </a:solidFill>
                <a:latin typeface="Times New Roman" pitchFamily="18" charset="0"/>
              </a:rPr>
              <a:t>总体单位总量与标志总量的区分，不是固定不变的，而是随着研究目的和研究对象的不同而变化的。</a:t>
            </a:r>
            <a:endParaRPr lang="zh-CN" altLang="en-US" sz="2400" dirty="0" smtClean="0">
              <a:solidFill>
                <a:srgbClr val="C56B9E"/>
              </a:solidFill>
            </a:endParaRPr>
          </a:p>
          <a:p>
            <a:pPr lvl="2" eaLnBrk="1" hangingPunct="1"/>
            <a:r>
              <a:rPr lang="zh-CN" altLang="en-US" sz="2000" dirty="0" smtClean="0">
                <a:solidFill>
                  <a:srgbClr val="C56B9E"/>
                </a:solidFill>
              </a:rPr>
              <a:t>如</a:t>
            </a:r>
            <a:r>
              <a:rPr lang="zh-CN" altLang="en-US" sz="2200" dirty="0" smtClean="0">
                <a:solidFill>
                  <a:srgbClr val="C56B9E"/>
                </a:solidFill>
              </a:rPr>
              <a:t>：</a:t>
            </a:r>
            <a:r>
              <a:rPr lang="zh-CN" altLang="en-US" sz="2200" dirty="0" smtClean="0">
                <a:solidFill>
                  <a:schemeClr val="tx1"/>
                </a:solidFill>
                <a:latin typeface="Times New Roman" pitchFamily="18" charset="0"/>
              </a:rPr>
              <a:t>某地区工业企业职工总数</a:t>
            </a:r>
            <a:r>
              <a:rPr lang="en-US" altLang="zh-CN" sz="2200" dirty="0" smtClean="0">
                <a:solidFill>
                  <a:schemeClr val="tx1"/>
                </a:solidFill>
                <a:latin typeface="Times New Roman" pitchFamily="18" charset="0"/>
              </a:rPr>
              <a:t>100</a:t>
            </a:r>
            <a:r>
              <a:rPr lang="zh-CN" altLang="en-US" sz="2200" dirty="0" smtClean="0">
                <a:solidFill>
                  <a:schemeClr val="tx1"/>
                </a:solidFill>
                <a:latin typeface="Times New Roman" pitchFamily="18" charset="0"/>
              </a:rPr>
              <a:t>万人，</a:t>
            </a:r>
            <a:r>
              <a:rPr lang="zh-CN" altLang="en-US" sz="2200" b="0" dirty="0" smtClean="0">
                <a:latin typeface="Times New Roman" pitchFamily="18" charset="0"/>
              </a:rPr>
              <a:t>这是一个：</a:t>
            </a:r>
            <a:endParaRPr lang="zh-CN" altLang="en-US" sz="2200" dirty="0" smtClean="0">
              <a:solidFill>
                <a:schemeClr val="tx1"/>
              </a:solidFill>
            </a:endParaRPr>
          </a:p>
          <a:p>
            <a:pPr lvl="3" eaLnBrk="1" hangingPunct="1"/>
            <a:r>
              <a:rPr lang="zh-CN" altLang="en-US" sz="2200" b="0" dirty="0" smtClean="0">
                <a:solidFill>
                  <a:srgbClr val="000000"/>
                </a:solidFill>
                <a:latin typeface="Times New Roman" pitchFamily="18" charset="0"/>
              </a:rPr>
              <a:t>总体总量</a:t>
            </a:r>
            <a:r>
              <a:rPr lang="en-US" altLang="zh-CN" sz="2200" b="0" dirty="0" smtClean="0">
                <a:solidFill>
                  <a:srgbClr val="000000"/>
                </a:solidFill>
                <a:latin typeface="Times New Roman" pitchFamily="18" charset="0"/>
              </a:rPr>
              <a:t>——</a:t>
            </a:r>
            <a:r>
              <a:rPr lang="zh-CN" altLang="en-US" sz="2200" b="0" dirty="0" smtClean="0">
                <a:solidFill>
                  <a:srgbClr val="000000"/>
                </a:solidFill>
                <a:latin typeface="Times New Roman" pitchFamily="18" charset="0"/>
              </a:rPr>
              <a:t>以该地区每个</a:t>
            </a:r>
            <a:r>
              <a:rPr lang="zh-CN" altLang="en-US" sz="2200" dirty="0" smtClean="0">
                <a:solidFill>
                  <a:srgbClr val="000000"/>
                </a:solidFill>
                <a:latin typeface="Times New Roman" pitchFamily="18" charset="0"/>
              </a:rPr>
              <a:t>工业企业职工</a:t>
            </a:r>
            <a:r>
              <a:rPr lang="zh-CN" altLang="en-US" sz="2200" b="0" dirty="0" smtClean="0">
                <a:solidFill>
                  <a:srgbClr val="000000"/>
                </a:solidFill>
                <a:latin typeface="Times New Roman" pitchFamily="18" charset="0"/>
              </a:rPr>
              <a:t>为总体单位时</a:t>
            </a:r>
          </a:p>
          <a:p>
            <a:pPr lvl="3" eaLnBrk="1" hangingPunct="1"/>
            <a:r>
              <a:rPr lang="zh-CN" altLang="en-US" sz="2200" b="0" dirty="0" smtClean="0">
                <a:solidFill>
                  <a:srgbClr val="000000"/>
                </a:solidFill>
                <a:latin typeface="Times New Roman" pitchFamily="18" charset="0"/>
              </a:rPr>
              <a:t>标志总量</a:t>
            </a:r>
            <a:r>
              <a:rPr lang="en-US" altLang="zh-CN" sz="2200" b="0" dirty="0" smtClean="0">
                <a:solidFill>
                  <a:srgbClr val="000000"/>
                </a:solidFill>
                <a:latin typeface="Times New Roman" pitchFamily="18" charset="0"/>
              </a:rPr>
              <a:t>——</a:t>
            </a:r>
            <a:r>
              <a:rPr lang="zh-CN" altLang="en-US" sz="2200" b="0" dirty="0" smtClean="0">
                <a:solidFill>
                  <a:srgbClr val="000000"/>
                </a:solidFill>
                <a:latin typeface="Times New Roman" pitchFamily="18" charset="0"/>
              </a:rPr>
              <a:t>以该地区每个</a:t>
            </a:r>
            <a:r>
              <a:rPr lang="zh-CN" altLang="en-US" sz="2200" dirty="0" smtClean="0">
                <a:solidFill>
                  <a:srgbClr val="000000"/>
                </a:solidFill>
                <a:latin typeface="Times New Roman" pitchFamily="18" charset="0"/>
              </a:rPr>
              <a:t>工  业  企  业</a:t>
            </a:r>
            <a:r>
              <a:rPr lang="zh-CN" altLang="en-US" sz="2200" b="0" dirty="0" smtClean="0">
                <a:solidFill>
                  <a:srgbClr val="000000"/>
                </a:solidFill>
                <a:latin typeface="Times New Roman" pitchFamily="18" charset="0"/>
              </a:rPr>
              <a:t> 为总体单位时</a:t>
            </a:r>
          </a:p>
        </p:txBody>
      </p:sp>
      <p:sp>
        <p:nvSpPr>
          <p:cNvPr id="86020" name="Rectangle 4"/>
          <p:cNvSpPr>
            <a:spLocks noGrp="1" noChangeArrowheads="1"/>
          </p:cNvSpPr>
          <p:nvPr>
            <p:ph type="title"/>
          </p:nvPr>
        </p:nvSpPr>
        <p:spPr>
          <a:xfrm>
            <a:off x="827088" y="134938"/>
            <a:ext cx="7772400" cy="990600"/>
          </a:xfrm>
        </p:spPr>
        <p:txBody>
          <a:bodyPr/>
          <a:lstStyle/>
          <a:p>
            <a:pPr eaLnBrk="1" hangingPunct="1"/>
            <a:r>
              <a:rPr lang="en-US" altLang="zh-CN" smtClean="0">
                <a:solidFill>
                  <a:srgbClr val="1313FF"/>
                </a:solidFill>
              </a:rPr>
              <a:t>3. </a:t>
            </a:r>
            <a:r>
              <a:rPr lang="zh-CN" altLang="en-US" smtClean="0">
                <a:solidFill>
                  <a:srgbClr val="1313FF"/>
                </a:solidFill>
              </a:rPr>
              <a:t>总量指标的种类</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9</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4674">
                                            <p:txEl>
                                              <p:pRg st="2" end="2"/>
                                            </p:txEl>
                                          </p:spTgt>
                                        </p:tgtEl>
                                        <p:attrNameLst>
                                          <p:attrName>style.visibility</p:attrName>
                                        </p:attrNameLst>
                                      </p:cBhvr>
                                      <p:to>
                                        <p:strVal val="visible"/>
                                      </p:to>
                                    </p:set>
                                    <p:anim calcmode="lin" valueType="num">
                                      <p:cBhvr additive="base">
                                        <p:cTn id="7" dur="500" fill="hold"/>
                                        <p:tgtEl>
                                          <p:spTgt spid="284674">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4674">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4674">
                                            <p:txEl>
                                              <p:pRg st="3" end="3"/>
                                            </p:txEl>
                                          </p:spTgt>
                                        </p:tgtEl>
                                        <p:attrNameLst>
                                          <p:attrName>style.visibility</p:attrName>
                                        </p:attrNameLst>
                                      </p:cBhvr>
                                      <p:to>
                                        <p:strVal val="visible"/>
                                      </p:to>
                                    </p:set>
                                    <p:anim calcmode="lin" valueType="num">
                                      <p:cBhvr additive="base">
                                        <p:cTn id="11" dur="500" fill="hold"/>
                                        <p:tgtEl>
                                          <p:spTgt spid="284674">
                                            <p:txEl>
                                              <p:pRg st="3" end="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84674">
                                            <p:txEl>
                                              <p:pRg st="3" end="3"/>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84674">
                                            <p:txEl>
                                              <p:pRg st="5" end="5"/>
                                            </p:txEl>
                                          </p:spTgt>
                                        </p:tgtEl>
                                        <p:attrNameLst>
                                          <p:attrName>style.visibility</p:attrName>
                                        </p:attrNameLst>
                                      </p:cBhvr>
                                      <p:to>
                                        <p:strVal val="visible"/>
                                      </p:to>
                                    </p:set>
                                    <p:anim calcmode="lin" valueType="num">
                                      <p:cBhvr additive="base">
                                        <p:cTn id="15" dur="500" fill="hold"/>
                                        <p:tgtEl>
                                          <p:spTgt spid="284674">
                                            <p:txEl>
                                              <p:pRg st="5" end="5"/>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84674">
                                            <p:txEl>
                                              <p:pRg st="5" end="5"/>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4674">
                                            <p:txEl>
                                              <p:pRg st="6" end="6"/>
                                            </p:txEl>
                                          </p:spTgt>
                                        </p:tgtEl>
                                        <p:attrNameLst>
                                          <p:attrName>style.visibility</p:attrName>
                                        </p:attrNameLst>
                                      </p:cBhvr>
                                      <p:to>
                                        <p:strVal val="visible"/>
                                      </p:to>
                                    </p:set>
                                    <p:anim calcmode="lin" valueType="num">
                                      <p:cBhvr additive="base">
                                        <p:cTn id="19" dur="500" fill="hold"/>
                                        <p:tgtEl>
                                          <p:spTgt spid="284674">
                                            <p:txEl>
                                              <p:pRg st="6" end="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8467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4674">
                                            <p:txEl>
                                              <p:pRg st="7" end="7"/>
                                            </p:txEl>
                                          </p:spTgt>
                                        </p:tgtEl>
                                        <p:attrNameLst>
                                          <p:attrName>style.visibility</p:attrName>
                                        </p:attrNameLst>
                                      </p:cBhvr>
                                      <p:to>
                                        <p:strVal val="visible"/>
                                      </p:to>
                                    </p:set>
                                    <p:anim calcmode="lin" valueType="num">
                                      <p:cBhvr additive="base">
                                        <p:cTn id="25" dur="500" fill="hold"/>
                                        <p:tgtEl>
                                          <p:spTgt spid="284674">
                                            <p:txEl>
                                              <p:pRg st="7" end="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4674">
                                            <p:txEl>
                                              <p:pRg st="7" end="7"/>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84674">
                                            <p:txEl>
                                              <p:pRg st="8" end="8"/>
                                            </p:txEl>
                                          </p:spTgt>
                                        </p:tgtEl>
                                        <p:attrNameLst>
                                          <p:attrName>style.visibility</p:attrName>
                                        </p:attrNameLst>
                                      </p:cBhvr>
                                      <p:to>
                                        <p:strVal val="visible"/>
                                      </p:to>
                                    </p:set>
                                    <p:anim calcmode="lin" valueType="num">
                                      <p:cBhvr additive="base">
                                        <p:cTn id="29" dur="500" fill="hold"/>
                                        <p:tgtEl>
                                          <p:spTgt spid="284674">
                                            <p:txEl>
                                              <p:pRg st="8" end="8"/>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84674">
                                            <p:txEl>
                                              <p:pRg st="8" end="8"/>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84674">
                                            <p:txEl>
                                              <p:pRg st="9" end="9"/>
                                            </p:txEl>
                                          </p:spTgt>
                                        </p:tgtEl>
                                        <p:attrNameLst>
                                          <p:attrName>style.visibility</p:attrName>
                                        </p:attrNameLst>
                                      </p:cBhvr>
                                      <p:to>
                                        <p:strVal val="visible"/>
                                      </p:to>
                                    </p:set>
                                    <p:anim calcmode="lin" valueType="num">
                                      <p:cBhvr additive="base">
                                        <p:cTn id="33" dur="500" fill="hold"/>
                                        <p:tgtEl>
                                          <p:spTgt spid="284674">
                                            <p:txEl>
                                              <p:pRg st="9" end="9"/>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84674">
                                            <p:txEl>
                                              <p:pRg st="9" end="9"/>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84674">
                                            <p:txEl>
                                              <p:pRg st="10" end="10"/>
                                            </p:txEl>
                                          </p:spTgt>
                                        </p:tgtEl>
                                        <p:attrNameLst>
                                          <p:attrName>style.visibility</p:attrName>
                                        </p:attrNameLst>
                                      </p:cBhvr>
                                      <p:to>
                                        <p:strVal val="visible"/>
                                      </p:to>
                                    </p:set>
                                    <p:anim calcmode="lin" valueType="num">
                                      <p:cBhvr additive="base">
                                        <p:cTn id="37" dur="500" fill="hold"/>
                                        <p:tgtEl>
                                          <p:spTgt spid="284674">
                                            <p:txEl>
                                              <p:pRg st="10" end="1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84674">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4"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8" name="Rectangle 2"/>
          <p:cNvSpPr>
            <a:spLocks noGrp="1" noChangeArrowheads="1"/>
          </p:cNvSpPr>
          <p:nvPr>
            <p:ph type="body" idx="1"/>
          </p:nvPr>
        </p:nvSpPr>
        <p:spPr>
          <a:xfrm>
            <a:off x="381000" y="1219200"/>
            <a:ext cx="8305800" cy="5105400"/>
          </a:xfrm>
        </p:spPr>
        <p:txBody>
          <a:bodyPr/>
          <a:lstStyle/>
          <a:p>
            <a:pPr eaLnBrk="1" hangingPunct="1">
              <a:lnSpc>
                <a:spcPct val="90000"/>
              </a:lnSpc>
              <a:buFontTx/>
              <a:buNone/>
            </a:pPr>
            <a:r>
              <a:rPr lang="zh-CN" altLang="en-US" smtClean="0">
                <a:solidFill>
                  <a:schemeClr val="tx2"/>
                </a:solidFill>
              </a:rPr>
              <a:t>按反映的时间状况分</a:t>
            </a:r>
          </a:p>
          <a:p>
            <a:pPr lvl="1" eaLnBrk="1" hangingPunct="1">
              <a:lnSpc>
                <a:spcPct val="90000"/>
              </a:lnSpc>
            </a:pPr>
            <a:r>
              <a:rPr lang="zh-CN" altLang="en-US" smtClean="0"/>
              <a:t>时期指标</a:t>
            </a:r>
            <a:r>
              <a:rPr lang="en-US" altLang="zh-CN" b="0" smtClean="0">
                <a:latin typeface="Times New Roman" pitchFamily="18" charset="0"/>
              </a:rPr>
              <a:t>——</a:t>
            </a:r>
            <a:r>
              <a:rPr lang="zh-CN" altLang="en-US" b="0" smtClean="0">
                <a:latin typeface="Times New Roman" pitchFamily="18" charset="0"/>
              </a:rPr>
              <a:t>也称为</a:t>
            </a:r>
            <a:r>
              <a:rPr lang="zh-CN" altLang="en-US" smtClean="0">
                <a:latin typeface="Times New Roman" pitchFamily="18" charset="0"/>
              </a:rPr>
              <a:t>流量</a:t>
            </a:r>
          </a:p>
          <a:p>
            <a:pPr lvl="2" eaLnBrk="1" hangingPunct="1">
              <a:lnSpc>
                <a:spcPct val="90000"/>
              </a:lnSpc>
            </a:pPr>
            <a:r>
              <a:rPr lang="zh-CN" altLang="en-US" smtClean="0">
                <a:solidFill>
                  <a:srgbClr val="006600"/>
                </a:solidFill>
              </a:rPr>
              <a:t>反映总体在一段时期内活动过程的总量，</a:t>
            </a:r>
          </a:p>
          <a:p>
            <a:pPr lvl="2" eaLnBrk="1" hangingPunct="1">
              <a:lnSpc>
                <a:spcPct val="90000"/>
              </a:lnSpc>
            </a:pPr>
            <a:r>
              <a:rPr lang="zh-CN" altLang="en-US" smtClean="0">
                <a:solidFill>
                  <a:srgbClr val="006600"/>
                </a:solidFill>
              </a:rPr>
              <a:t>指标数值可以累计相加，</a:t>
            </a:r>
          </a:p>
          <a:p>
            <a:pPr lvl="2" eaLnBrk="1" hangingPunct="1">
              <a:lnSpc>
                <a:spcPct val="90000"/>
              </a:lnSpc>
            </a:pPr>
            <a:r>
              <a:rPr lang="zh-CN" altLang="en-US" smtClean="0">
                <a:solidFill>
                  <a:srgbClr val="006600"/>
                </a:solidFill>
              </a:rPr>
              <a:t>数值大小和时间的长短有直接关系；</a:t>
            </a:r>
          </a:p>
          <a:p>
            <a:pPr lvl="1" eaLnBrk="1" hangingPunct="1">
              <a:lnSpc>
                <a:spcPct val="90000"/>
              </a:lnSpc>
            </a:pPr>
            <a:r>
              <a:rPr lang="zh-CN" altLang="en-US" smtClean="0"/>
              <a:t>时点指标</a:t>
            </a:r>
            <a:r>
              <a:rPr lang="en-US" altLang="zh-CN" b="0" smtClean="0">
                <a:latin typeface="Times New Roman" pitchFamily="18" charset="0"/>
              </a:rPr>
              <a:t>——</a:t>
            </a:r>
            <a:r>
              <a:rPr lang="zh-CN" altLang="en-US" b="0" smtClean="0">
                <a:latin typeface="Times New Roman" pitchFamily="18" charset="0"/>
              </a:rPr>
              <a:t>也称为</a:t>
            </a:r>
            <a:r>
              <a:rPr lang="zh-CN" altLang="en-US" smtClean="0">
                <a:latin typeface="Times New Roman" pitchFamily="18" charset="0"/>
              </a:rPr>
              <a:t>存量</a:t>
            </a:r>
          </a:p>
          <a:p>
            <a:pPr lvl="2" eaLnBrk="1" hangingPunct="1">
              <a:lnSpc>
                <a:spcPct val="90000"/>
              </a:lnSpc>
            </a:pPr>
            <a:r>
              <a:rPr lang="zh-CN" altLang="en-US" smtClean="0">
                <a:solidFill>
                  <a:srgbClr val="006600"/>
                </a:solidFill>
              </a:rPr>
              <a:t>是反映总体在某一时刻（瞬间）状况的总量</a:t>
            </a:r>
          </a:p>
          <a:p>
            <a:pPr lvl="2" eaLnBrk="1" hangingPunct="1">
              <a:lnSpc>
                <a:spcPct val="90000"/>
              </a:lnSpc>
            </a:pPr>
            <a:r>
              <a:rPr lang="zh-CN" altLang="en-US" smtClean="0">
                <a:solidFill>
                  <a:srgbClr val="006600"/>
                </a:solidFill>
              </a:rPr>
              <a:t>数值不能累计相加，</a:t>
            </a:r>
          </a:p>
          <a:p>
            <a:pPr lvl="2" eaLnBrk="1" hangingPunct="1">
              <a:lnSpc>
                <a:spcPct val="90000"/>
              </a:lnSpc>
            </a:pPr>
            <a:r>
              <a:rPr lang="zh-CN" altLang="en-US" smtClean="0">
                <a:solidFill>
                  <a:srgbClr val="006600"/>
                </a:solidFill>
              </a:rPr>
              <a:t>数值的大小和时间间隔的长短没有直接关系。</a:t>
            </a:r>
          </a:p>
          <a:p>
            <a:pPr lvl="1" eaLnBrk="1" hangingPunct="1">
              <a:lnSpc>
                <a:spcPct val="90000"/>
              </a:lnSpc>
            </a:pPr>
            <a:r>
              <a:rPr lang="zh-CN" altLang="en-US" smtClean="0"/>
              <a:t>试判断下列指标中哪些是时期指标？</a:t>
            </a:r>
          </a:p>
          <a:p>
            <a:pPr lvl="2" eaLnBrk="1" hangingPunct="1">
              <a:lnSpc>
                <a:spcPct val="90000"/>
              </a:lnSpc>
            </a:pPr>
            <a:r>
              <a:rPr lang="zh-CN" altLang="en-US" smtClean="0">
                <a:solidFill>
                  <a:srgbClr val="006600"/>
                </a:solidFill>
              </a:rPr>
              <a:t>人口总数、在校学生人数、招生人数、毕业生人数、</a:t>
            </a:r>
            <a:endParaRPr lang="en-US" altLang="zh-CN" smtClean="0">
              <a:solidFill>
                <a:srgbClr val="006600"/>
              </a:solidFill>
            </a:endParaRPr>
          </a:p>
          <a:p>
            <a:pPr lvl="2" eaLnBrk="1" hangingPunct="1">
              <a:lnSpc>
                <a:spcPct val="90000"/>
              </a:lnSpc>
              <a:buFontTx/>
              <a:buNone/>
            </a:pPr>
            <a:r>
              <a:rPr lang="zh-CN" altLang="en-US" smtClean="0">
                <a:solidFill>
                  <a:srgbClr val="006600"/>
                </a:solidFill>
              </a:rPr>
              <a:t>出生人数、死亡人数、从业人数、失业人数</a:t>
            </a:r>
            <a:endParaRPr lang="en-US" altLang="zh-CN" smtClean="0">
              <a:solidFill>
                <a:srgbClr val="006600"/>
              </a:solidFill>
            </a:endParaRPr>
          </a:p>
        </p:txBody>
      </p:sp>
      <p:sp>
        <p:nvSpPr>
          <p:cNvPr id="87044" name="Rectangle 3"/>
          <p:cNvSpPr>
            <a:spLocks noChangeArrowheads="1"/>
          </p:cNvSpPr>
          <p:nvPr/>
        </p:nvSpPr>
        <p:spPr bwMode="auto">
          <a:xfrm>
            <a:off x="1066800" y="152400"/>
            <a:ext cx="184150" cy="762000"/>
          </a:xfrm>
          <a:prstGeom prst="rect">
            <a:avLst/>
          </a:prstGeom>
          <a:noFill/>
          <a:ln w="9525">
            <a:noFill/>
            <a:miter lim="800000"/>
            <a:headEnd/>
            <a:tailEnd/>
          </a:ln>
        </p:spPr>
        <p:txBody>
          <a:bodyPr wrap="none">
            <a:spAutoFit/>
          </a:bodyPr>
          <a:lstStyle/>
          <a:p>
            <a:endParaRPr lang="zh-CN" altLang="zh-CN" sz="4400" b="1">
              <a:solidFill>
                <a:srgbClr val="A50021"/>
              </a:solidFill>
              <a:latin typeface="Tahoma" pitchFamily="34" charset="0"/>
              <a:ea typeface="宋体" pitchFamily="2" charset="-122"/>
            </a:endParaRPr>
          </a:p>
        </p:txBody>
      </p:sp>
      <p:sp>
        <p:nvSpPr>
          <p:cNvPr id="87045" name="Rectangle 4"/>
          <p:cNvSpPr>
            <a:spLocks noGrp="1" noChangeArrowheads="1"/>
          </p:cNvSpPr>
          <p:nvPr>
            <p:ph type="title"/>
          </p:nvPr>
        </p:nvSpPr>
        <p:spPr/>
        <p:txBody>
          <a:bodyPr/>
          <a:lstStyle/>
          <a:p>
            <a:pPr eaLnBrk="1" hangingPunct="1"/>
            <a:r>
              <a:rPr lang="en-US" altLang="zh-CN" smtClean="0">
                <a:solidFill>
                  <a:srgbClr val="1313FF"/>
                </a:solidFill>
              </a:rPr>
              <a:t>3. </a:t>
            </a:r>
            <a:r>
              <a:rPr lang="zh-CN" altLang="en-US" smtClean="0">
                <a:solidFill>
                  <a:srgbClr val="1313FF"/>
                </a:solidFill>
              </a:rPr>
              <a:t>总量指标的种类（续）</a:t>
            </a: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5698">
                                            <p:txEl>
                                              <p:pRg st="2" end="2"/>
                                            </p:txEl>
                                          </p:spTgt>
                                        </p:tgtEl>
                                        <p:attrNameLst>
                                          <p:attrName>style.visibility</p:attrName>
                                        </p:attrNameLst>
                                      </p:cBhvr>
                                      <p:to>
                                        <p:strVal val="visible"/>
                                      </p:to>
                                    </p:set>
                                    <p:anim calcmode="lin" valueType="num">
                                      <p:cBhvr additive="base">
                                        <p:cTn id="7" dur="500" fill="hold"/>
                                        <p:tgtEl>
                                          <p:spTgt spid="285698">
                                            <p:txEl>
                                              <p:pRg st="2" end="2"/>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5698">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85698">
                                            <p:txEl>
                                              <p:pRg st="3" end="3"/>
                                            </p:txEl>
                                          </p:spTgt>
                                        </p:tgtEl>
                                        <p:attrNameLst>
                                          <p:attrName>style.visibility</p:attrName>
                                        </p:attrNameLst>
                                      </p:cBhvr>
                                      <p:to>
                                        <p:strVal val="visible"/>
                                      </p:to>
                                    </p:set>
                                    <p:anim calcmode="lin" valueType="num">
                                      <p:cBhvr additive="base">
                                        <p:cTn id="11" dur="500" fill="hold"/>
                                        <p:tgtEl>
                                          <p:spTgt spid="285698">
                                            <p:txEl>
                                              <p:pRg st="3" end="3"/>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85698">
                                            <p:txEl>
                                              <p:pRg st="3" end="3"/>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85698">
                                            <p:txEl>
                                              <p:pRg st="4" end="4"/>
                                            </p:txEl>
                                          </p:spTgt>
                                        </p:tgtEl>
                                        <p:attrNameLst>
                                          <p:attrName>style.visibility</p:attrName>
                                        </p:attrNameLst>
                                      </p:cBhvr>
                                      <p:to>
                                        <p:strVal val="visible"/>
                                      </p:to>
                                    </p:set>
                                    <p:anim calcmode="lin" valueType="num">
                                      <p:cBhvr additive="base">
                                        <p:cTn id="15" dur="500" fill="hold"/>
                                        <p:tgtEl>
                                          <p:spTgt spid="285698">
                                            <p:txEl>
                                              <p:pRg st="4" end="4"/>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28569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85698">
                                            <p:txEl>
                                              <p:pRg st="6" end="6"/>
                                            </p:txEl>
                                          </p:spTgt>
                                        </p:tgtEl>
                                        <p:attrNameLst>
                                          <p:attrName>style.visibility</p:attrName>
                                        </p:attrNameLst>
                                      </p:cBhvr>
                                      <p:to>
                                        <p:strVal val="visible"/>
                                      </p:to>
                                    </p:set>
                                    <p:anim calcmode="lin" valueType="num">
                                      <p:cBhvr additive="base">
                                        <p:cTn id="21" dur="500" fill="hold"/>
                                        <p:tgtEl>
                                          <p:spTgt spid="285698">
                                            <p:txEl>
                                              <p:pRg st="6" end="6"/>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285698">
                                            <p:txEl>
                                              <p:pRg st="6" end="6"/>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285698">
                                            <p:txEl>
                                              <p:pRg st="7" end="7"/>
                                            </p:txEl>
                                          </p:spTgt>
                                        </p:tgtEl>
                                        <p:attrNameLst>
                                          <p:attrName>style.visibility</p:attrName>
                                        </p:attrNameLst>
                                      </p:cBhvr>
                                      <p:to>
                                        <p:strVal val="visible"/>
                                      </p:to>
                                    </p:set>
                                    <p:anim calcmode="lin" valueType="num">
                                      <p:cBhvr additive="base">
                                        <p:cTn id="25" dur="500" fill="hold"/>
                                        <p:tgtEl>
                                          <p:spTgt spid="285698">
                                            <p:txEl>
                                              <p:pRg st="7" end="7"/>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85698">
                                            <p:txEl>
                                              <p:pRg st="7" end="7"/>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285698">
                                            <p:txEl>
                                              <p:pRg st="8" end="8"/>
                                            </p:txEl>
                                          </p:spTgt>
                                        </p:tgtEl>
                                        <p:attrNameLst>
                                          <p:attrName>style.visibility</p:attrName>
                                        </p:attrNameLst>
                                      </p:cBhvr>
                                      <p:to>
                                        <p:strVal val="visible"/>
                                      </p:to>
                                    </p:set>
                                    <p:anim calcmode="lin" valueType="num">
                                      <p:cBhvr additive="base">
                                        <p:cTn id="29" dur="500" fill="hold"/>
                                        <p:tgtEl>
                                          <p:spTgt spid="285698">
                                            <p:txEl>
                                              <p:pRg st="8" end="8"/>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28569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85698">
                                            <p:txEl>
                                              <p:pRg st="9" end="9"/>
                                            </p:txEl>
                                          </p:spTgt>
                                        </p:tgtEl>
                                        <p:attrNameLst>
                                          <p:attrName>style.visibility</p:attrName>
                                        </p:attrNameLst>
                                      </p:cBhvr>
                                      <p:to>
                                        <p:strVal val="visible"/>
                                      </p:to>
                                    </p:set>
                                    <p:anim calcmode="lin" valueType="num">
                                      <p:cBhvr additive="base">
                                        <p:cTn id="35" dur="500" fill="hold"/>
                                        <p:tgtEl>
                                          <p:spTgt spid="285698">
                                            <p:txEl>
                                              <p:pRg st="9" end="9"/>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285698">
                                            <p:txEl>
                                              <p:pRg st="9" end="9"/>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85698">
                                            <p:txEl>
                                              <p:pRg st="10" end="10"/>
                                            </p:txEl>
                                          </p:spTgt>
                                        </p:tgtEl>
                                        <p:attrNameLst>
                                          <p:attrName>style.visibility</p:attrName>
                                        </p:attrNameLst>
                                      </p:cBhvr>
                                      <p:to>
                                        <p:strVal val="visible"/>
                                      </p:to>
                                    </p:set>
                                    <p:anim calcmode="lin" valueType="num">
                                      <p:cBhvr additive="base">
                                        <p:cTn id="39" dur="500" fill="hold"/>
                                        <p:tgtEl>
                                          <p:spTgt spid="285698">
                                            <p:txEl>
                                              <p:pRg st="10" end="1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285698">
                                            <p:txEl>
                                              <p:pRg st="10" end="10"/>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285698">
                                            <p:txEl>
                                              <p:pRg st="11" end="11"/>
                                            </p:txEl>
                                          </p:spTgt>
                                        </p:tgtEl>
                                        <p:attrNameLst>
                                          <p:attrName>style.visibility</p:attrName>
                                        </p:attrNameLst>
                                      </p:cBhvr>
                                      <p:to>
                                        <p:strVal val="visible"/>
                                      </p:to>
                                    </p:set>
                                    <p:anim calcmode="lin" valueType="num">
                                      <p:cBhvr additive="base">
                                        <p:cTn id="43" dur="500" fill="hold"/>
                                        <p:tgtEl>
                                          <p:spTgt spid="285698">
                                            <p:txEl>
                                              <p:pRg st="11" end="11"/>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85698">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4000" dirty="0" smtClean="0"/>
              <a:t>经济流量与经济存量之间</a:t>
            </a:r>
            <a:r>
              <a:rPr lang="zh-CN" altLang="en-US" sz="4000" dirty="0" smtClean="0"/>
              <a:t>的</a:t>
            </a:r>
            <a:r>
              <a:rPr lang="zh-CN" altLang="zh-CN" sz="4000" dirty="0" smtClean="0"/>
              <a:t>关系 </a:t>
            </a:r>
            <a:endParaRPr lang="zh-CN" altLang="en-US" sz="4000" dirty="0"/>
          </a:p>
        </p:txBody>
      </p:sp>
      <p:sp>
        <p:nvSpPr>
          <p:cNvPr id="3" name="内容占位符 2"/>
          <p:cNvSpPr>
            <a:spLocks noGrp="1"/>
          </p:cNvSpPr>
          <p:nvPr>
            <p:ph idx="1"/>
          </p:nvPr>
        </p:nvSpPr>
        <p:spPr>
          <a:xfrm>
            <a:off x="683568" y="1340768"/>
            <a:ext cx="7772400" cy="5040560"/>
          </a:xfrm>
        </p:spPr>
        <p:txBody>
          <a:bodyPr/>
          <a:lstStyle/>
          <a:p>
            <a:r>
              <a:rPr lang="zh-CN" altLang="zh-CN" sz="2600" dirty="0" smtClean="0">
                <a:solidFill>
                  <a:srgbClr val="000000"/>
                </a:solidFill>
              </a:rPr>
              <a:t>存量是以前流量的积累，而存量的变动</a:t>
            </a:r>
            <a:r>
              <a:rPr lang="en-US" altLang="zh-CN" sz="2600" b="0" dirty="0" smtClean="0">
                <a:solidFill>
                  <a:srgbClr val="000000"/>
                </a:solidFill>
              </a:rPr>
              <a:t>(</a:t>
            </a:r>
            <a:r>
              <a:rPr lang="zh-CN" altLang="zh-CN" sz="2600" dirty="0" smtClean="0">
                <a:solidFill>
                  <a:srgbClr val="000000"/>
                </a:solidFill>
              </a:rPr>
              <a:t>增减</a:t>
            </a:r>
            <a:r>
              <a:rPr lang="en-US" altLang="zh-CN" sz="2600" b="0" dirty="0" smtClean="0">
                <a:solidFill>
                  <a:srgbClr val="000000"/>
                </a:solidFill>
              </a:rPr>
              <a:t>)</a:t>
            </a:r>
            <a:r>
              <a:rPr lang="zh-CN" altLang="zh-CN" sz="2600" dirty="0" smtClean="0">
                <a:solidFill>
                  <a:srgbClr val="000000"/>
                </a:solidFill>
              </a:rPr>
              <a:t>又是流量的一种表现形式。</a:t>
            </a:r>
            <a:endParaRPr lang="en-US" altLang="zh-CN" sz="2600" dirty="0" smtClean="0">
              <a:solidFill>
                <a:srgbClr val="000000"/>
              </a:solidFill>
            </a:endParaRPr>
          </a:p>
          <a:p>
            <a:r>
              <a:rPr lang="zh-CN" altLang="zh-CN" sz="2600" dirty="0" smtClean="0">
                <a:solidFill>
                  <a:srgbClr val="000000"/>
                </a:solidFill>
              </a:rPr>
              <a:t> 有的流量有对应的存量</a:t>
            </a:r>
            <a:r>
              <a:rPr lang="zh-CN" altLang="en-US" sz="2600" dirty="0" smtClean="0">
                <a:solidFill>
                  <a:srgbClr val="000000"/>
                </a:solidFill>
              </a:rPr>
              <a:t>（</a:t>
            </a:r>
            <a:r>
              <a:rPr lang="zh-CN" altLang="zh-CN" sz="2600" b="0" dirty="0" smtClean="0">
                <a:solidFill>
                  <a:srgbClr val="000000"/>
                </a:solidFill>
              </a:rPr>
              <a:t>如产品产量</a:t>
            </a:r>
            <a:r>
              <a:rPr lang="zh-CN" altLang="en-US" sz="2600" b="0" dirty="0" smtClean="0">
                <a:solidFill>
                  <a:srgbClr val="000000"/>
                </a:solidFill>
              </a:rPr>
              <a:t>与</a:t>
            </a:r>
            <a:r>
              <a:rPr lang="zh-CN" altLang="zh-CN" sz="2600" b="0" dirty="0" smtClean="0">
                <a:solidFill>
                  <a:srgbClr val="000000"/>
                </a:solidFill>
              </a:rPr>
              <a:t>存货</a:t>
            </a:r>
            <a:r>
              <a:rPr lang="zh-CN" altLang="en-US" sz="2600" dirty="0" smtClean="0">
                <a:solidFill>
                  <a:srgbClr val="000000"/>
                </a:solidFill>
              </a:rPr>
              <a:t>）</a:t>
            </a:r>
            <a:r>
              <a:rPr lang="zh-CN" altLang="zh-CN" sz="2600" b="0" dirty="0" smtClean="0">
                <a:solidFill>
                  <a:srgbClr val="000000"/>
                </a:solidFill>
              </a:rPr>
              <a:t>；</a:t>
            </a:r>
            <a:r>
              <a:rPr lang="zh-CN" altLang="zh-CN" sz="2600" dirty="0" smtClean="0">
                <a:solidFill>
                  <a:srgbClr val="000000"/>
                </a:solidFill>
              </a:rPr>
              <a:t>有的流量</a:t>
            </a:r>
            <a:r>
              <a:rPr lang="zh-CN" altLang="en-US" sz="2600" dirty="0" smtClean="0">
                <a:solidFill>
                  <a:srgbClr val="000000"/>
                </a:solidFill>
              </a:rPr>
              <a:t>（</a:t>
            </a:r>
            <a:r>
              <a:rPr lang="zh-CN" altLang="zh-CN" sz="2600" b="0" dirty="0" smtClean="0">
                <a:solidFill>
                  <a:srgbClr val="000000"/>
                </a:solidFill>
              </a:rPr>
              <a:t>如出口量</a:t>
            </a:r>
            <a:r>
              <a:rPr lang="zh-CN" altLang="en-US" sz="2600" dirty="0" smtClean="0">
                <a:solidFill>
                  <a:srgbClr val="000000"/>
                </a:solidFill>
              </a:rPr>
              <a:t>）</a:t>
            </a:r>
            <a:r>
              <a:rPr lang="zh-CN" altLang="zh-CN" sz="2600" dirty="0" smtClean="0">
                <a:solidFill>
                  <a:srgbClr val="000000"/>
                </a:solidFill>
              </a:rPr>
              <a:t>没有对应的存量。</a:t>
            </a:r>
            <a:endParaRPr lang="en-US" altLang="zh-CN" sz="2600" dirty="0" smtClean="0">
              <a:solidFill>
                <a:srgbClr val="000000"/>
              </a:solidFill>
            </a:endParaRPr>
          </a:p>
          <a:p>
            <a:r>
              <a:rPr lang="zh-CN" altLang="zh-CN" sz="2600" dirty="0" smtClean="0">
                <a:solidFill>
                  <a:srgbClr val="000000"/>
                </a:solidFill>
              </a:rPr>
              <a:t>流量与存量之间有如下的平衡关系：</a:t>
            </a:r>
          </a:p>
          <a:p>
            <a:pPr lvl="1">
              <a:buNone/>
            </a:pPr>
            <a:r>
              <a:rPr lang="zh-CN" altLang="zh-CN" sz="2400" b="0" dirty="0" smtClean="0">
                <a:solidFill>
                  <a:srgbClr val="7030A0"/>
                </a:solidFill>
                <a:latin typeface="黑体" pitchFamily="49" charset="-122"/>
                <a:ea typeface="黑体" pitchFamily="49" charset="-122"/>
              </a:rPr>
              <a:t>期末存量＝ 期初存量＋（本期增加的流量</a:t>
            </a:r>
            <a:endParaRPr lang="en-US" altLang="zh-CN" sz="2400" b="0" dirty="0" smtClean="0">
              <a:solidFill>
                <a:srgbClr val="7030A0"/>
              </a:solidFill>
              <a:latin typeface="黑体" pitchFamily="49" charset="-122"/>
              <a:ea typeface="黑体" pitchFamily="49" charset="-122"/>
            </a:endParaRPr>
          </a:p>
          <a:p>
            <a:pPr lvl="1" indent="3297238">
              <a:buNone/>
            </a:pPr>
            <a:r>
              <a:rPr lang="zh-CN" altLang="zh-CN" sz="2400" b="0" dirty="0" smtClean="0">
                <a:solidFill>
                  <a:srgbClr val="7030A0"/>
                </a:solidFill>
                <a:latin typeface="黑体" pitchFamily="49" charset="-122"/>
                <a:ea typeface="黑体" pitchFamily="49" charset="-122"/>
              </a:rPr>
              <a:t>－本期减少的流量） </a:t>
            </a:r>
            <a:endParaRPr lang="en-US" altLang="zh-CN" sz="2400" b="0" dirty="0" smtClean="0">
              <a:solidFill>
                <a:srgbClr val="7030A0"/>
              </a:solidFill>
              <a:latin typeface="黑体" pitchFamily="49" charset="-122"/>
              <a:ea typeface="黑体" pitchFamily="49" charset="-122"/>
            </a:endParaRPr>
          </a:p>
          <a:p>
            <a:pPr lvl="1">
              <a:buNone/>
            </a:pPr>
            <a:r>
              <a:rPr lang="zh-CN" altLang="zh-CN" sz="2400" dirty="0" smtClean="0"/>
              <a:t>如：期末资产＝ 期初资产＋本期增加的资产－本期减少的资产</a:t>
            </a:r>
            <a:endParaRPr lang="en-US" altLang="zh-CN" sz="2400" dirty="0" smtClean="0"/>
          </a:p>
          <a:p>
            <a:pPr lvl="1">
              <a:buNone/>
            </a:pPr>
            <a:r>
              <a:rPr lang="en-US" altLang="zh-CN" sz="2400" dirty="0" smtClean="0"/>
              <a:t>       </a:t>
            </a:r>
            <a:r>
              <a:rPr lang="zh-CN" altLang="zh-CN" sz="2400" dirty="0" smtClean="0"/>
              <a:t>期末存款余额＝ 期初存款余额＋本期增加的存款－本期减少的存款</a:t>
            </a:r>
            <a:endParaRPr lang="zh-CN" altLang="en-US" sz="2800" dirty="0"/>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11</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left)">
                                      <p:cBhvr>
                                        <p:cTn id="28"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a:xfrm>
            <a:off x="838200" y="228600"/>
            <a:ext cx="7772400" cy="896144"/>
          </a:xfrm>
        </p:spPr>
        <p:txBody>
          <a:bodyPr/>
          <a:lstStyle/>
          <a:p>
            <a:pPr eaLnBrk="1" hangingPunct="1"/>
            <a:r>
              <a:rPr lang="en-US" altLang="zh-CN" sz="4000" dirty="0" smtClean="0"/>
              <a:t>4.</a:t>
            </a:r>
            <a:r>
              <a:rPr lang="zh-CN" altLang="en-US" sz="4000" dirty="0" smtClean="0"/>
              <a:t>国民经济中的重要总量指标</a:t>
            </a:r>
          </a:p>
        </p:txBody>
      </p:sp>
      <p:sp>
        <p:nvSpPr>
          <p:cNvPr id="8" name="Rectangle 3"/>
          <p:cNvSpPr txBox="1">
            <a:spLocks noChangeArrowheads="1"/>
          </p:cNvSpPr>
          <p:nvPr/>
        </p:nvSpPr>
        <p:spPr bwMode="auto">
          <a:xfrm>
            <a:off x="395536" y="1169368"/>
            <a:ext cx="8136904" cy="56886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20000"/>
              </a:lnSpc>
              <a:spcBef>
                <a:spcPts val="600"/>
              </a:spcBef>
              <a:spcAft>
                <a:spcPct val="0"/>
              </a:spcAft>
              <a:buClrTx/>
              <a:buSzPct val="90000"/>
              <a:buFontTx/>
              <a:buBlip>
                <a:blip r:embed="rId3"/>
              </a:buBlip>
              <a:tabLst/>
              <a:defRPr/>
            </a:pPr>
            <a:r>
              <a:rPr kumimoji="1" lang="zh-CN" altLang="en-US" sz="2400" b="1" i="0" u="none" strike="noStrike" kern="0" cap="none" spc="0" normalizeH="0" baseline="0" noProof="0" dirty="0" smtClean="0">
                <a:ln>
                  <a:noFill/>
                </a:ln>
                <a:solidFill>
                  <a:srgbClr val="FF3300"/>
                </a:solidFill>
                <a:effectLst/>
                <a:uLnTx/>
                <a:uFillTx/>
                <a:latin typeface="+mn-lt"/>
                <a:ea typeface="+mn-ea"/>
                <a:cs typeface="+mn-cs"/>
              </a:rPr>
              <a:t>总产出</a:t>
            </a:r>
            <a:r>
              <a:rPr kumimoji="1" lang="zh-CN" altLang="en-US" sz="2000" b="0" i="0" u="none" strike="noStrike" kern="0" cap="none" spc="0" normalizeH="0" baseline="0" noProof="0" dirty="0" smtClean="0">
                <a:ln>
                  <a:noFill/>
                </a:ln>
                <a:solidFill>
                  <a:schemeClr val="tx2"/>
                </a:solidFill>
                <a:effectLst/>
                <a:uLnTx/>
                <a:uFillTx/>
                <a:latin typeface="+mn-lt"/>
                <a:ea typeface="+mn-ea"/>
                <a:cs typeface="+mn-cs"/>
              </a:rPr>
              <a:t>（物质生产部门也叫总产值）</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mn-ea"/>
                <a:cs typeface="+mn-cs"/>
              </a:rPr>
              <a:t>——</a:t>
            </a:r>
            <a:r>
              <a:rPr kumimoji="1" lang="zh-CN" altLang="en-US" sz="2400" b="1" i="0" u="none" strike="noStrike" kern="0" cap="none" spc="0" normalizeH="0" baseline="0" noProof="0" dirty="0" smtClean="0">
                <a:ln>
                  <a:noFill/>
                </a:ln>
                <a:solidFill>
                  <a:srgbClr val="000000"/>
                </a:solidFill>
                <a:effectLst/>
                <a:uLnTx/>
                <a:uFillTx/>
                <a:latin typeface="+mn-lt"/>
                <a:ea typeface="+mn-ea"/>
                <a:cs typeface="+mn-cs"/>
              </a:rPr>
              <a:t>常住单位在一定时期内生产的全部货物和服务的价值，包括中间投入的转移价值和最终成果的价值。</a:t>
            </a:r>
            <a:r>
              <a:rPr kumimoji="1" lang="zh-CN" altLang="en-US" sz="2400" b="1" i="0" u="none" strike="noStrike" kern="0" cap="none" spc="0" normalizeH="0" baseline="0" noProof="0" dirty="0" smtClean="0">
                <a:ln>
                  <a:noFill/>
                </a:ln>
                <a:solidFill>
                  <a:srgbClr val="FF0000"/>
                </a:solidFill>
                <a:effectLst/>
                <a:uLnTx/>
                <a:uFillTx/>
                <a:latin typeface="+mn-lt"/>
                <a:ea typeface="+mn-ea"/>
                <a:cs typeface="+mn-cs"/>
              </a:rPr>
              <a:t>总产出</a:t>
            </a:r>
            <a:r>
              <a:rPr kumimoji="1" lang="en-US" altLang="zh-CN" sz="2400" b="1" i="0" u="none" strike="noStrike" kern="0" cap="none" spc="0" normalizeH="0" baseline="0" noProof="0" dirty="0" smtClean="0">
                <a:ln>
                  <a:noFill/>
                </a:ln>
                <a:solidFill>
                  <a:srgbClr val="FF0000"/>
                </a:solidFill>
                <a:effectLst/>
                <a:uLnTx/>
                <a:uFillTx/>
                <a:latin typeface="+mn-lt"/>
                <a:ea typeface="+mn-ea"/>
                <a:cs typeface="+mn-cs"/>
              </a:rPr>
              <a:t>=</a:t>
            </a:r>
            <a:r>
              <a:rPr kumimoji="1" lang="en-US" altLang="zh-CN" sz="2400" b="1" i="1" u="none" strike="noStrike" kern="0" cap="none" spc="0" normalizeH="0" baseline="0" noProof="0" dirty="0" err="1" smtClean="0">
                <a:ln>
                  <a:noFill/>
                </a:ln>
                <a:solidFill>
                  <a:srgbClr val="FF0000"/>
                </a:solidFill>
                <a:effectLst/>
                <a:uLnTx/>
                <a:uFillTx/>
                <a:latin typeface="+mn-lt"/>
                <a:ea typeface="+mn-ea"/>
                <a:cs typeface="+mn-cs"/>
              </a:rPr>
              <a:t>c</a:t>
            </a:r>
            <a:r>
              <a:rPr kumimoji="1" lang="en-US" altLang="zh-CN" sz="2400" b="1" i="0" u="none" strike="noStrike" kern="0" cap="none" spc="0" normalizeH="0" baseline="0" noProof="0" dirty="0" err="1" smtClean="0">
                <a:ln>
                  <a:noFill/>
                </a:ln>
                <a:solidFill>
                  <a:srgbClr val="FF0000"/>
                </a:solidFill>
                <a:effectLst/>
                <a:uLnTx/>
                <a:uFillTx/>
                <a:latin typeface="+mn-lt"/>
                <a:ea typeface="+mn-ea"/>
                <a:cs typeface="+mn-cs"/>
              </a:rPr>
              <a:t>+</a:t>
            </a:r>
            <a:r>
              <a:rPr kumimoji="1" lang="en-US" altLang="zh-CN" sz="2400" b="1" i="1" u="none" strike="noStrike" kern="0" cap="none" spc="0" normalizeH="0" baseline="0" noProof="0" dirty="0" err="1" smtClean="0">
                <a:ln>
                  <a:noFill/>
                </a:ln>
                <a:solidFill>
                  <a:srgbClr val="FF0000"/>
                </a:solidFill>
                <a:effectLst/>
                <a:uLnTx/>
                <a:uFillTx/>
                <a:latin typeface="+mn-lt"/>
                <a:ea typeface="+mn-ea"/>
                <a:cs typeface="+mn-cs"/>
              </a:rPr>
              <a:t>v</a:t>
            </a:r>
            <a:r>
              <a:rPr kumimoji="1" lang="en-US" altLang="zh-CN" sz="2400" b="1" i="0" u="none" strike="noStrike" kern="0" cap="none" spc="0" normalizeH="0" baseline="0" noProof="0" dirty="0" err="1" smtClean="0">
                <a:ln>
                  <a:noFill/>
                </a:ln>
                <a:solidFill>
                  <a:srgbClr val="FF0000"/>
                </a:solidFill>
                <a:effectLst/>
                <a:uLnTx/>
                <a:uFillTx/>
                <a:latin typeface="+mn-lt"/>
                <a:ea typeface="+mn-ea"/>
                <a:cs typeface="+mn-cs"/>
              </a:rPr>
              <a:t>+</a:t>
            </a:r>
            <a:r>
              <a:rPr kumimoji="1" lang="en-US" altLang="zh-CN" sz="2400" b="1" i="1" u="none" strike="noStrike" kern="0" cap="none" spc="0" normalizeH="0" baseline="0" noProof="0" dirty="0" err="1" smtClean="0">
                <a:ln>
                  <a:noFill/>
                </a:ln>
                <a:solidFill>
                  <a:srgbClr val="FF0000"/>
                </a:solidFill>
                <a:effectLst/>
                <a:uLnTx/>
                <a:uFillTx/>
                <a:latin typeface="+mn-lt"/>
                <a:ea typeface="+mn-ea"/>
                <a:cs typeface="+mn-cs"/>
              </a:rPr>
              <a:t>m</a:t>
            </a:r>
            <a:endParaRPr kumimoji="1" lang="en-US" altLang="zh-CN" sz="2400" b="1" i="1"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20000"/>
              </a:lnSpc>
              <a:spcBef>
                <a:spcPts val="600"/>
              </a:spcBef>
              <a:spcAft>
                <a:spcPct val="0"/>
              </a:spcAft>
              <a:buClrTx/>
              <a:buSzPct val="90000"/>
              <a:buFontTx/>
              <a:buNone/>
              <a:tabLst/>
              <a:defRPr/>
            </a:pPr>
            <a:r>
              <a:rPr kumimoji="1" lang="zh-CN" altLang="en-US" sz="2400" b="1" i="0" u="none" strike="noStrike" kern="0" cap="none" spc="0" normalizeH="0" baseline="0" noProof="0" dirty="0" smtClean="0">
                <a:ln>
                  <a:noFill/>
                </a:ln>
                <a:solidFill>
                  <a:srgbClr val="FF3300"/>
                </a:solidFill>
                <a:effectLst/>
                <a:uLnTx/>
                <a:uFillTx/>
                <a:latin typeface="+mn-lt"/>
                <a:ea typeface="+mn-ea"/>
                <a:cs typeface="+mn-cs"/>
              </a:rPr>
              <a:t>（</a:t>
            </a:r>
            <a:r>
              <a:rPr kumimoji="1" lang="en-US" altLang="zh-CN" sz="2400" b="1" i="0" u="none" strike="noStrike" kern="0" cap="none" spc="0" normalizeH="0" baseline="0" noProof="0" dirty="0" smtClean="0">
                <a:ln>
                  <a:noFill/>
                </a:ln>
                <a:solidFill>
                  <a:srgbClr val="FF3300"/>
                </a:solidFill>
                <a:effectLst/>
                <a:uLnTx/>
                <a:uFillTx/>
                <a:latin typeface="+mn-lt"/>
                <a:ea typeface="+mn-ea"/>
                <a:cs typeface="+mn-cs"/>
              </a:rPr>
              <a:t>1</a:t>
            </a:r>
            <a:r>
              <a:rPr kumimoji="1" lang="zh-CN" altLang="en-US" sz="2400" b="1" i="0" u="none" strike="noStrike" kern="0" cap="none" spc="0" normalizeH="0" baseline="0" noProof="0" dirty="0" smtClean="0">
                <a:ln>
                  <a:noFill/>
                </a:ln>
                <a:solidFill>
                  <a:srgbClr val="FF3300"/>
                </a:solidFill>
                <a:effectLst/>
                <a:uLnTx/>
                <a:uFillTx/>
                <a:latin typeface="+mn-lt"/>
                <a:ea typeface="+mn-ea"/>
                <a:cs typeface="+mn-cs"/>
              </a:rPr>
              <a:t>）国内生产总值</a:t>
            </a:r>
            <a:r>
              <a:rPr kumimoji="1" lang="zh-CN" altLang="en-US" sz="2400" b="1" i="0" u="none" strike="noStrike" kern="0" cap="none" spc="0" normalizeH="0" baseline="0" noProof="0" dirty="0" smtClean="0">
                <a:ln>
                  <a:noFill/>
                </a:ln>
                <a:solidFill>
                  <a:srgbClr val="000000"/>
                </a:solidFill>
                <a:effectLst/>
                <a:uLnTx/>
                <a:uFillTx/>
                <a:latin typeface="+mn-lt"/>
                <a:ea typeface="+mn-ea"/>
                <a:cs typeface="+mn-cs"/>
              </a:rPr>
              <a:t>（</a:t>
            </a:r>
            <a:r>
              <a:rPr kumimoji="1" lang="en-US" altLang="zh-CN" sz="2400" b="1" i="0" u="none" strike="noStrike" kern="0" cap="none" spc="0" normalizeH="0" baseline="0" noProof="0" dirty="0" smtClean="0">
                <a:ln>
                  <a:noFill/>
                </a:ln>
                <a:solidFill>
                  <a:srgbClr val="000000"/>
                </a:solidFill>
                <a:effectLst/>
                <a:uLnTx/>
                <a:uFillTx/>
                <a:latin typeface="+mn-lt"/>
                <a:ea typeface="+mn-ea"/>
                <a:cs typeface="+mn-cs"/>
              </a:rPr>
              <a:t>Gross Domestic Product</a:t>
            </a:r>
            <a:r>
              <a:rPr kumimoji="1" lang="zh-CN" altLang="en-US" sz="2400" b="1" i="0" u="none" strike="noStrike" kern="0" cap="none" spc="0" normalizeH="0" baseline="0" noProof="0" dirty="0" smtClean="0">
                <a:ln>
                  <a:noFill/>
                </a:ln>
                <a:solidFill>
                  <a:srgbClr val="000000"/>
                </a:solidFill>
                <a:effectLst/>
                <a:uLnTx/>
                <a:uFillTx/>
                <a:latin typeface="+mn-lt"/>
                <a:ea typeface="+mn-ea"/>
                <a:cs typeface="+mn-cs"/>
              </a:rPr>
              <a:t>，缩写为</a:t>
            </a:r>
            <a:r>
              <a:rPr kumimoji="1" lang="en-US" altLang="zh-CN" sz="2400" b="1" i="0" u="none" strike="noStrike" kern="0" cap="none" spc="0" normalizeH="0" baseline="0" noProof="0" dirty="0" smtClean="0">
                <a:ln>
                  <a:noFill/>
                </a:ln>
                <a:solidFill>
                  <a:srgbClr val="000000"/>
                </a:solidFill>
                <a:effectLst/>
                <a:uLnTx/>
                <a:uFillTx/>
                <a:latin typeface="+mn-lt"/>
                <a:ea typeface="+mn-ea"/>
                <a:cs typeface="+mn-cs"/>
              </a:rPr>
              <a:t>GDP</a:t>
            </a:r>
            <a:r>
              <a:rPr kumimoji="1" lang="zh-CN" altLang="en-US" sz="2400" b="1" i="0" u="none" strike="noStrike" kern="0" cap="none" spc="0" normalizeH="0" baseline="0" noProof="0" dirty="0" smtClean="0">
                <a:ln>
                  <a:noFill/>
                </a:ln>
                <a:solidFill>
                  <a:srgbClr val="000000"/>
                </a:solidFill>
                <a:effectLst/>
                <a:uLnTx/>
                <a:uFillTx/>
                <a:latin typeface="+mn-lt"/>
                <a:ea typeface="+mn-ea"/>
                <a:cs typeface="+mn-cs"/>
              </a:rPr>
              <a:t>），是按市场价格计算的一个国家所有常住单位在一定时期内生产活动的最终成果。</a:t>
            </a:r>
            <a:r>
              <a:rPr kumimoji="1" lang="zh-CN" altLang="en-US" sz="1800" b="1" i="0" u="none" strike="noStrike" kern="0" cap="none" spc="0" normalizeH="0" baseline="0" noProof="0" dirty="0" smtClean="0">
                <a:ln>
                  <a:noFill/>
                </a:ln>
                <a:solidFill>
                  <a:srgbClr val="C56B9E"/>
                </a:solidFill>
                <a:effectLst/>
                <a:uLnTx/>
                <a:uFillTx/>
                <a:latin typeface="+mn-lt"/>
                <a:ea typeface="+mn-ea"/>
                <a:cs typeface="+mn-cs"/>
              </a:rPr>
              <a:t> </a:t>
            </a:r>
            <a:r>
              <a:rPr kumimoji="1" lang="en-US" altLang="zh-CN" sz="2400" b="1" i="0" u="none" strike="noStrike" kern="0" cap="none" spc="0" normalizeH="0" baseline="0" noProof="0" dirty="0" smtClean="0">
                <a:ln>
                  <a:noFill/>
                </a:ln>
                <a:solidFill>
                  <a:srgbClr val="FF0000"/>
                </a:solidFill>
                <a:effectLst/>
                <a:uLnTx/>
                <a:uFillTx/>
                <a:latin typeface="Times New Roman" pitchFamily="18" charset="0"/>
                <a:ea typeface="+mn-ea"/>
                <a:cs typeface="+mn-cs"/>
              </a:rPr>
              <a:t>GDP=</a:t>
            </a:r>
            <a:r>
              <a:rPr kumimoji="1" lang="en-US" altLang="zh-CN" sz="2400" b="1" i="1" u="none" strike="noStrike" kern="0" cap="none" spc="0" normalizeH="0" baseline="0" noProof="0" dirty="0" err="1" smtClean="0">
                <a:ln>
                  <a:noFill/>
                </a:ln>
                <a:solidFill>
                  <a:srgbClr val="FF0000"/>
                </a:solidFill>
                <a:effectLst/>
                <a:uLnTx/>
                <a:uFillTx/>
                <a:latin typeface="Times New Roman" pitchFamily="18" charset="0"/>
                <a:ea typeface="+mn-ea"/>
                <a:cs typeface="+mn-cs"/>
              </a:rPr>
              <a:t>c</a:t>
            </a:r>
            <a:r>
              <a:rPr kumimoji="1" lang="en-US" altLang="zh-CN" sz="2400" b="1" i="0" u="none" strike="noStrike" kern="0" cap="none" spc="0" normalizeH="0" baseline="0" noProof="0" dirty="0" err="1" smtClean="0">
                <a:ln>
                  <a:noFill/>
                </a:ln>
                <a:solidFill>
                  <a:srgbClr val="FF0000"/>
                </a:solidFill>
                <a:effectLst/>
                <a:uLnTx/>
                <a:uFillTx/>
                <a:latin typeface="Times New Roman" pitchFamily="18" charset="0"/>
                <a:ea typeface="+mn-ea"/>
                <a:cs typeface="+mn-cs"/>
              </a:rPr>
              <a:t>′+</a:t>
            </a:r>
            <a:r>
              <a:rPr kumimoji="1" lang="en-US" altLang="zh-CN" sz="2400" b="1" i="1" u="none" strike="noStrike" kern="0" cap="none" spc="0" normalizeH="0" baseline="0" noProof="0" dirty="0" err="1" smtClean="0">
                <a:ln>
                  <a:noFill/>
                </a:ln>
                <a:solidFill>
                  <a:srgbClr val="FF0000"/>
                </a:solidFill>
                <a:effectLst/>
                <a:uLnTx/>
                <a:uFillTx/>
                <a:latin typeface="Times New Roman" pitchFamily="18" charset="0"/>
                <a:ea typeface="+mn-ea"/>
                <a:cs typeface="+mn-cs"/>
              </a:rPr>
              <a:t>v</a:t>
            </a:r>
            <a:r>
              <a:rPr kumimoji="1" lang="en-US" altLang="zh-CN" sz="2400" b="1" i="1" u="none" strike="noStrike" kern="0" cap="none" spc="0" normalizeH="0" baseline="0" noProof="0" dirty="0" smtClean="0">
                <a:ln>
                  <a:noFill/>
                </a:ln>
                <a:solidFill>
                  <a:srgbClr val="FF0000"/>
                </a:solidFill>
                <a:effectLst/>
                <a:uLnTx/>
                <a:uFillTx/>
                <a:latin typeface="Times New Roman" pitchFamily="18" charset="0"/>
                <a:ea typeface="+mn-ea"/>
                <a:cs typeface="+mn-cs"/>
              </a:rPr>
              <a:t> </a:t>
            </a:r>
            <a:r>
              <a:rPr kumimoji="1" lang="en-US" altLang="zh-CN" sz="2400" b="1" i="0" u="none" strike="noStrike" kern="0" cap="none" spc="0" normalizeH="0" baseline="0" noProof="0" dirty="0" smtClean="0">
                <a:ln>
                  <a:noFill/>
                </a:ln>
                <a:solidFill>
                  <a:srgbClr val="FF0000"/>
                </a:solidFill>
                <a:effectLst/>
                <a:uLnTx/>
                <a:uFillTx/>
                <a:latin typeface="Times New Roman" pitchFamily="18" charset="0"/>
                <a:ea typeface="+mn-ea"/>
                <a:cs typeface="+mn-cs"/>
              </a:rPr>
              <a:t>+</a:t>
            </a:r>
            <a:r>
              <a:rPr kumimoji="1" lang="en-US" altLang="zh-CN" sz="2400" b="1" i="1" u="none" strike="noStrike" kern="0" cap="none" spc="0" normalizeH="0" baseline="0" noProof="0" dirty="0" smtClean="0">
                <a:ln>
                  <a:noFill/>
                </a:ln>
                <a:solidFill>
                  <a:srgbClr val="FF0000"/>
                </a:solidFill>
                <a:effectLst/>
                <a:uLnTx/>
                <a:uFillTx/>
                <a:latin typeface="Times New Roman" pitchFamily="18" charset="0"/>
                <a:ea typeface="+mn-ea"/>
                <a:cs typeface="+mn-cs"/>
              </a:rPr>
              <a:t>m</a:t>
            </a:r>
            <a:endParaRPr kumimoji="1" lang="en-US" altLang="zh-CN" sz="2200" b="1" i="0" u="none" strike="noStrike" kern="0" cap="none" spc="0" normalizeH="0" baseline="0" noProof="0" dirty="0" smtClean="0">
              <a:ln>
                <a:noFill/>
              </a:ln>
              <a:solidFill>
                <a:srgbClr val="FF0000"/>
              </a:solidFill>
              <a:effectLst/>
              <a:uLnTx/>
              <a:uFillTx/>
              <a:latin typeface="Times New Roman" pitchFamily="18" charset="0"/>
              <a:ea typeface="+mn-ea"/>
              <a:cs typeface="+mn-cs"/>
            </a:endParaRPr>
          </a:p>
          <a:p>
            <a:pPr marL="742950" marR="0" lvl="1" indent="-285750" algn="l" defTabSz="914400" rtl="0" eaLnBrk="1" fontAlgn="base" latinLnBrk="0" hangingPunct="1">
              <a:spcBef>
                <a:spcPts val="600"/>
              </a:spcBef>
              <a:spcAft>
                <a:spcPct val="0"/>
              </a:spcAft>
              <a:buClrTx/>
              <a:buSzPct val="80000"/>
              <a:buFontTx/>
              <a:buBlip>
                <a:blip r:embed="rId4"/>
              </a:buBlip>
              <a:tabLst/>
              <a:defRPr/>
            </a:pPr>
            <a:r>
              <a:rPr kumimoji="1" lang="zh-CN" altLang="en-US" sz="2000" b="1" i="0" u="none" strike="noStrike" kern="0" cap="none" spc="0" normalizeH="0" baseline="0" noProof="0" dirty="0" smtClean="0">
                <a:ln>
                  <a:noFill/>
                </a:ln>
                <a:solidFill>
                  <a:srgbClr val="000000"/>
                </a:solidFill>
                <a:effectLst/>
                <a:uLnTx/>
                <a:uFillTx/>
                <a:latin typeface="+mn-lt"/>
                <a:ea typeface="+mn-ea"/>
              </a:rPr>
              <a:t>生产法：</a:t>
            </a:r>
            <a:r>
              <a:rPr kumimoji="1" lang="zh-CN" altLang="en-US" sz="2000" b="1" i="0" u="none" strike="noStrike" kern="0" cap="none" spc="0" normalizeH="0" baseline="0" noProof="0" dirty="0" smtClean="0">
                <a:ln>
                  <a:noFill/>
                </a:ln>
                <a:solidFill>
                  <a:srgbClr val="C00000"/>
                </a:solidFill>
                <a:effectLst/>
                <a:uLnTx/>
                <a:uFillTx/>
                <a:latin typeface="+mn-lt"/>
                <a:ea typeface="+mn-ea"/>
              </a:rPr>
              <a:t>国内生产总值</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el-GR" altLang="zh-CN" sz="2000" b="1" i="0" u="none" strike="noStrike" kern="0" cap="none" spc="0" normalizeH="0" baseline="0" noProof="0" dirty="0" smtClean="0">
                <a:ln>
                  <a:noFill/>
                </a:ln>
                <a:solidFill>
                  <a:schemeClr val="tx2"/>
                </a:solidFill>
                <a:effectLst/>
                <a:uLnTx/>
                <a:uFillTx/>
                <a:latin typeface="Times New Roman"/>
                <a:ea typeface="+mn-ea"/>
                <a:cs typeface="Times New Roman"/>
              </a:rPr>
              <a:t>Σ</a:t>
            </a:r>
            <a:r>
              <a:rPr kumimoji="1" lang="zh-CN" altLang="en-US" sz="2000" b="1" i="0" u="none" strike="noStrike" kern="0" cap="none" spc="0" normalizeH="0" baseline="0" noProof="0" dirty="0" smtClean="0">
                <a:ln>
                  <a:noFill/>
                </a:ln>
                <a:solidFill>
                  <a:schemeClr val="tx2"/>
                </a:solidFill>
                <a:effectLst/>
                <a:uLnTx/>
                <a:uFillTx/>
                <a:latin typeface="Times New Roman"/>
                <a:ea typeface="+mn-ea"/>
                <a:cs typeface="Times New Roman"/>
              </a:rPr>
              <a:t>（</a:t>
            </a:r>
            <a:r>
              <a:rPr kumimoji="1" lang="zh-CN" altLang="en-US" sz="2000" b="1" i="0" u="none" strike="noStrike" kern="0" cap="none" spc="0" normalizeH="0" baseline="0" noProof="0" dirty="0" smtClean="0">
                <a:ln>
                  <a:noFill/>
                </a:ln>
                <a:solidFill>
                  <a:srgbClr val="FF0000"/>
                </a:solidFill>
                <a:effectLst/>
                <a:uLnTx/>
                <a:uFillTx/>
                <a:latin typeface="Times New Roman"/>
                <a:ea typeface="+mn-ea"/>
                <a:cs typeface="Times New Roman"/>
              </a:rPr>
              <a:t>增加值</a:t>
            </a:r>
            <a:r>
              <a:rPr kumimoji="1" lang="zh-CN" altLang="en-US" sz="2000" b="1" i="0" u="none" strike="noStrike" kern="0" cap="none" spc="0" normalizeH="0" baseline="0" noProof="0" dirty="0" smtClean="0">
                <a:ln>
                  <a:noFill/>
                </a:ln>
                <a:solidFill>
                  <a:schemeClr val="tx2"/>
                </a:solidFill>
                <a:effectLst/>
                <a:uLnTx/>
                <a:uFillTx/>
                <a:latin typeface="Times New Roman"/>
                <a:ea typeface="+mn-ea"/>
                <a:cs typeface="Times New Roman"/>
              </a:rPr>
              <a:t>）</a:t>
            </a:r>
            <a:endParaRPr kumimoji="1" lang="en-US" altLang="zh-CN" sz="2000" b="1" i="0" u="none" strike="noStrike" kern="0" cap="none" spc="0" normalizeH="0" baseline="0" noProof="0" dirty="0" smtClean="0">
              <a:ln>
                <a:noFill/>
              </a:ln>
              <a:solidFill>
                <a:schemeClr val="tx2"/>
              </a:solidFill>
              <a:effectLst/>
              <a:uLnTx/>
              <a:uFillTx/>
              <a:latin typeface="Times New Roman"/>
              <a:ea typeface="+mn-ea"/>
              <a:cs typeface="Times New Roman"/>
            </a:endParaRPr>
          </a:p>
          <a:p>
            <a:pPr marL="742950" marR="0" lvl="1" indent="-285750" algn="l" defTabSz="914400" rtl="0" eaLnBrk="1" fontAlgn="base" latinLnBrk="0" hangingPunct="1">
              <a:spcBef>
                <a:spcPts val="600"/>
              </a:spcBef>
              <a:spcAft>
                <a:spcPct val="0"/>
              </a:spcAft>
              <a:buClrTx/>
              <a:buSzPct val="80000"/>
              <a:buFontTx/>
              <a:buNone/>
              <a:tabLst/>
              <a:defRPr/>
            </a:pPr>
            <a:r>
              <a:rPr kumimoji="1" lang="en-US" altLang="zh-CN" sz="2000" b="1" i="0" u="none" strike="noStrike" kern="0" cap="none" spc="0" normalizeH="0" baseline="0" noProof="0" dirty="0" smtClean="0">
                <a:ln>
                  <a:noFill/>
                </a:ln>
                <a:solidFill>
                  <a:schemeClr val="tx2"/>
                </a:solidFill>
                <a:effectLst/>
                <a:uLnTx/>
                <a:uFillTx/>
                <a:latin typeface="Times New Roman"/>
                <a:ea typeface="+mn-ea"/>
                <a:cs typeface="Times New Roman"/>
              </a:rPr>
              <a:t>                                            </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el-GR" altLang="zh-CN" sz="2000" b="1" i="0" u="none" strike="noStrike" kern="0" cap="none" spc="0" normalizeH="0" baseline="0" noProof="0" dirty="0" smtClean="0">
                <a:ln>
                  <a:noFill/>
                </a:ln>
                <a:solidFill>
                  <a:schemeClr val="tx2"/>
                </a:solidFill>
                <a:effectLst/>
                <a:uLnTx/>
                <a:uFillTx/>
                <a:latin typeface="Times New Roman"/>
                <a:ea typeface="+mn-ea"/>
                <a:cs typeface="Times New Roman"/>
              </a:rPr>
              <a:t>Σ</a:t>
            </a:r>
            <a:r>
              <a:rPr kumimoji="1" lang="zh-CN" altLang="en-US" sz="2000" b="1" i="0" u="none" strike="noStrike" kern="0" cap="none" spc="0" normalizeH="0" baseline="0" noProof="0" dirty="0" smtClean="0">
                <a:ln>
                  <a:noFill/>
                </a:ln>
                <a:solidFill>
                  <a:schemeClr val="tx2"/>
                </a:solidFill>
                <a:effectLst/>
                <a:uLnTx/>
                <a:uFillTx/>
                <a:latin typeface="Times New Roman"/>
                <a:ea typeface="+mn-ea"/>
                <a:cs typeface="Times New Roman"/>
              </a:rPr>
              <a:t>（</a:t>
            </a:r>
            <a:r>
              <a:rPr kumimoji="1" lang="zh-CN" altLang="en-US" sz="2000" b="1" i="0" u="none" strike="noStrike" kern="0" cap="none" spc="0" normalizeH="0" baseline="0" noProof="0" dirty="0" smtClean="0">
                <a:ln>
                  <a:noFill/>
                </a:ln>
                <a:solidFill>
                  <a:srgbClr val="C00000"/>
                </a:solidFill>
                <a:effectLst/>
                <a:uLnTx/>
                <a:uFillTx/>
                <a:latin typeface="+mn-lt"/>
                <a:ea typeface="+mn-ea"/>
              </a:rPr>
              <a:t>总产出</a:t>
            </a:r>
            <a:r>
              <a:rPr kumimoji="1" lang="en-US" altLang="zh-CN" sz="2000" b="1" i="0" u="none" strike="noStrike" kern="0" cap="none" spc="0" normalizeH="0" baseline="0" noProof="0" dirty="0" smtClean="0">
                <a:ln>
                  <a:noFill/>
                </a:ln>
                <a:solidFill>
                  <a:srgbClr val="C00000"/>
                </a:solidFill>
                <a:effectLst/>
                <a:uLnTx/>
                <a:uFillTx/>
                <a:latin typeface="+mn-lt"/>
                <a:ea typeface="+mn-ea"/>
              </a:rPr>
              <a:t>-</a:t>
            </a:r>
            <a:r>
              <a:rPr kumimoji="1" lang="zh-CN" altLang="en-US" sz="2000" b="1" i="0" u="none" strike="noStrike" kern="0" cap="none" spc="0" normalizeH="0" baseline="0" noProof="0" dirty="0" smtClean="0">
                <a:ln>
                  <a:noFill/>
                </a:ln>
                <a:solidFill>
                  <a:srgbClr val="C00000"/>
                </a:solidFill>
                <a:effectLst/>
                <a:uLnTx/>
                <a:uFillTx/>
                <a:latin typeface="+mn-lt"/>
                <a:ea typeface="+mn-ea"/>
              </a:rPr>
              <a:t>中间投入</a:t>
            </a:r>
            <a:r>
              <a:rPr kumimoji="1" lang="en-US" altLang="zh-CN" sz="2400" b="1" i="1" u="none" strike="noStrike" kern="0" cap="none" spc="0" normalizeH="0" baseline="0" noProof="0" dirty="0" smtClean="0">
                <a:ln>
                  <a:noFill/>
                </a:ln>
                <a:solidFill>
                  <a:schemeClr val="tx1">
                    <a:lumMod val="50000"/>
                  </a:schemeClr>
                </a:solidFill>
                <a:effectLst/>
                <a:uLnTx/>
                <a:uFillTx/>
                <a:latin typeface="Times New Roman" pitchFamily="18" charset="0"/>
                <a:ea typeface="+mn-ea"/>
              </a:rPr>
              <a:t>c</a:t>
            </a:r>
            <a:r>
              <a:rPr kumimoji="1" lang="en-US" altLang="zh-CN" sz="2400" b="0" i="1" u="none" strike="noStrike" kern="0" cap="none" spc="0" normalizeH="0" baseline="0" noProof="0" dirty="0" smtClean="0">
                <a:ln>
                  <a:noFill/>
                </a:ln>
                <a:solidFill>
                  <a:schemeClr val="tx1">
                    <a:lumMod val="50000"/>
                  </a:schemeClr>
                </a:solidFill>
                <a:effectLst/>
                <a:uLnTx/>
                <a:uFillTx/>
                <a:latin typeface="Tahoma" pitchFamily="34" charset="0"/>
                <a:ea typeface="Tahoma" pitchFamily="34" charset="0"/>
                <a:cs typeface="Tahoma" pitchFamily="34" charset="0"/>
              </a:rPr>
              <a:t>”  </a:t>
            </a:r>
            <a:r>
              <a:rPr kumimoji="1" lang="zh-CN" altLang="en-US" sz="2000" b="1" i="0" u="none" strike="noStrike" kern="0" cap="none" spc="0" normalizeH="0" baseline="0" noProof="0" dirty="0" smtClean="0">
                <a:ln>
                  <a:noFill/>
                </a:ln>
                <a:solidFill>
                  <a:schemeClr val="tx2"/>
                </a:solidFill>
                <a:effectLst/>
                <a:uLnTx/>
                <a:uFillTx/>
                <a:latin typeface="Times New Roman"/>
                <a:ea typeface="+mn-ea"/>
                <a:cs typeface="Times New Roman"/>
              </a:rPr>
              <a:t>）</a:t>
            </a:r>
            <a:endParaRPr kumimoji="1" lang="zh-CN" altLang="en-US" sz="2000" b="1" i="0" u="none" strike="noStrike" kern="0" cap="none" spc="0" normalizeH="0" baseline="0" noProof="0" dirty="0" smtClean="0">
              <a:ln>
                <a:noFill/>
              </a:ln>
              <a:solidFill>
                <a:schemeClr val="tx2"/>
              </a:solidFill>
              <a:effectLst/>
              <a:uLnTx/>
              <a:uFillTx/>
              <a:latin typeface="+mn-lt"/>
              <a:ea typeface="+mn-ea"/>
            </a:endParaRPr>
          </a:p>
          <a:p>
            <a:pPr marL="742950" marR="0" lvl="1" indent="-285750" algn="l" defTabSz="914400" rtl="0" eaLnBrk="1" fontAlgn="base" latinLnBrk="0" hangingPunct="1">
              <a:lnSpc>
                <a:spcPct val="120000"/>
              </a:lnSpc>
              <a:spcBef>
                <a:spcPts val="600"/>
              </a:spcBef>
              <a:spcAft>
                <a:spcPct val="0"/>
              </a:spcAft>
              <a:buClrTx/>
              <a:buSzPct val="80000"/>
              <a:buFontTx/>
              <a:buBlip>
                <a:blip r:embed="rId4"/>
              </a:buBlip>
              <a:tabLst/>
              <a:defRPr/>
            </a:pPr>
            <a:r>
              <a:rPr kumimoji="1" lang="zh-CN" altLang="en-US" sz="2000" b="1" i="0" u="none" strike="noStrike" kern="0" cap="none" spc="0" normalizeH="0" baseline="0" noProof="0" dirty="0" smtClean="0">
                <a:ln>
                  <a:noFill/>
                </a:ln>
                <a:solidFill>
                  <a:srgbClr val="000000"/>
                </a:solidFill>
                <a:effectLst/>
                <a:uLnTx/>
                <a:uFillTx/>
                <a:latin typeface="+mn-lt"/>
                <a:ea typeface="+mn-ea"/>
              </a:rPr>
              <a:t>收入法：</a:t>
            </a:r>
            <a:r>
              <a:rPr kumimoji="1" lang="zh-CN" altLang="en-US" sz="2000" b="1" i="0" u="none" strike="noStrike" kern="0" cap="none" spc="0" normalizeH="0" baseline="0" noProof="0" dirty="0" smtClean="0">
                <a:ln>
                  <a:noFill/>
                </a:ln>
                <a:solidFill>
                  <a:schemeClr val="tx2"/>
                </a:solidFill>
                <a:effectLst/>
                <a:uLnTx/>
                <a:uFillTx/>
                <a:latin typeface="+mn-lt"/>
                <a:ea typeface="+mn-ea"/>
              </a:rPr>
              <a:t>国内生产总值</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固定资本折旧</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a:t>
            </a:r>
            <a:r>
              <a:rPr kumimoji="1" lang="en-US" altLang="zh-CN" sz="1800" b="1" i="1" u="none" strike="noStrike" kern="0" cap="none" spc="0" normalizeH="0" baseline="0" noProof="0" dirty="0" smtClean="0">
                <a:ln>
                  <a:noFill/>
                </a:ln>
                <a:solidFill>
                  <a:schemeClr val="tx1">
                    <a:lumMod val="50000"/>
                  </a:schemeClr>
                </a:solidFill>
                <a:effectLst/>
                <a:uLnTx/>
                <a:uFillTx/>
                <a:latin typeface="Times New Roman" pitchFamily="18" charset="0"/>
                <a:ea typeface="+mn-ea"/>
              </a:rPr>
              <a:t>c</a:t>
            </a:r>
            <a:r>
              <a:rPr kumimoji="1" lang="en-US" altLang="zh-CN" sz="1800" b="1" i="0" u="none" strike="noStrike" kern="0" cap="none" spc="0" normalizeH="0" baseline="0" noProof="0" dirty="0" smtClean="0">
                <a:ln>
                  <a:noFill/>
                </a:ln>
                <a:solidFill>
                  <a:schemeClr val="tx1">
                    <a:lumMod val="50000"/>
                  </a:schemeClr>
                </a:solidFill>
                <a:effectLst/>
                <a:uLnTx/>
                <a:uFillTx/>
                <a:latin typeface="Times New Roman" pitchFamily="18" charset="0"/>
                <a:ea typeface="+mn-ea"/>
              </a:rPr>
              <a:t>′</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劳动者报酬</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a:t>
            </a:r>
            <a:r>
              <a:rPr kumimoji="1" lang="en-US" altLang="zh-CN" sz="1800" b="1" i="1" u="none" strike="noStrike" kern="0" cap="none" spc="0" normalizeH="0" baseline="0" noProof="0" dirty="0" smtClean="0">
                <a:ln>
                  <a:noFill/>
                </a:ln>
                <a:solidFill>
                  <a:schemeClr val="tx1">
                    <a:lumMod val="50000"/>
                  </a:schemeClr>
                </a:solidFill>
                <a:effectLst/>
                <a:uLnTx/>
                <a:uFillTx/>
                <a:latin typeface="Times New Roman" pitchFamily="18" charset="0"/>
                <a:ea typeface="+mn-ea"/>
              </a:rPr>
              <a:t>v</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生产税净额</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营业盈余</a:t>
            </a:r>
          </a:p>
          <a:p>
            <a:pPr marL="742950" marR="0" lvl="1" indent="-285750" algn="l" defTabSz="914400" rtl="0" eaLnBrk="1" fontAlgn="base" latinLnBrk="0" hangingPunct="1">
              <a:lnSpc>
                <a:spcPct val="120000"/>
              </a:lnSpc>
              <a:spcBef>
                <a:spcPts val="600"/>
              </a:spcBef>
              <a:spcAft>
                <a:spcPct val="0"/>
              </a:spcAft>
              <a:buClrTx/>
              <a:buSzPct val="80000"/>
              <a:buFontTx/>
              <a:buBlip>
                <a:blip r:embed="rId4"/>
              </a:buBlip>
              <a:tabLst/>
              <a:defRPr/>
            </a:pPr>
            <a:r>
              <a:rPr kumimoji="1" lang="zh-CN" altLang="en-US" sz="2000" b="1" i="0" u="none" strike="noStrike" kern="0" cap="none" spc="0" normalizeH="0" baseline="0" noProof="0" dirty="0" smtClean="0">
                <a:ln>
                  <a:noFill/>
                </a:ln>
                <a:solidFill>
                  <a:srgbClr val="000000"/>
                </a:solidFill>
                <a:effectLst/>
                <a:uLnTx/>
                <a:uFillTx/>
                <a:latin typeface="+mn-lt"/>
                <a:ea typeface="+mn-ea"/>
              </a:rPr>
              <a:t>支出法：</a:t>
            </a:r>
            <a:r>
              <a:rPr kumimoji="1" lang="zh-CN" altLang="en-US" sz="2000" b="1" i="0" u="none" strike="noStrike" kern="0" cap="none" spc="0" normalizeH="0" baseline="0" noProof="0" dirty="0" smtClean="0">
                <a:ln>
                  <a:noFill/>
                </a:ln>
                <a:solidFill>
                  <a:schemeClr val="tx2"/>
                </a:solidFill>
                <a:effectLst/>
                <a:uLnTx/>
                <a:uFillTx/>
                <a:latin typeface="+mn-lt"/>
                <a:ea typeface="+mn-ea"/>
              </a:rPr>
              <a:t>国内生产总值</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最终消费</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（即总消费）</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资本形成总额</a:t>
            </a:r>
            <a:r>
              <a:rPr kumimoji="1" lang="zh-CN" altLang="en-US" sz="2000" b="1" i="0" u="none" strike="noStrike" kern="0" cap="none" spc="0" normalizeH="0" baseline="0" noProof="0" dirty="0" smtClean="0">
                <a:ln>
                  <a:noFill/>
                </a:ln>
                <a:solidFill>
                  <a:schemeClr val="tx1">
                    <a:lumMod val="50000"/>
                  </a:schemeClr>
                </a:solidFill>
                <a:effectLst/>
                <a:uLnTx/>
                <a:uFillTx/>
                <a:latin typeface="+mn-lt"/>
                <a:ea typeface="+mn-ea"/>
              </a:rPr>
              <a:t>（即总投资）</a:t>
            </a:r>
            <a:r>
              <a:rPr kumimoji="1" lang="en-US" altLang="zh-CN" sz="2000" b="1" i="0" u="none" strike="noStrike" kern="0" cap="none" spc="0" normalizeH="0" baseline="0" noProof="0" dirty="0" smtClean="0">
                <a:ln>
                  <a:noFill/>
                </a:ln>
                <a:solidFill>
                  <a:schemeClr val="tx2"/>
                </a:solidFill>
                <a:effectLst/>
                <a:uLnTx/>
                <a:uFillTx/>
                <a:latin typeface="+mn-lt"/>
                <a:ea typeface="+mn-ea"/>
              </a:rPr>
              <a:t>+</a:t>
            </a:r>
            <a:r>
              <a:rPr kumimoji="1" lang="zh-CN" altLang="en-US" sz="2000" b="1" i="0" u="none" strike="noStrike" kern="0" cap="none" spc="0" normalizeH="0" baseline="0" noProof="0" dirty="0" smtClean="0">
                <a:ln>
                  <a:noFill/>
                </a:ln>
                <a:solidFill>
                  <a:schemeClr val="tx2"/>
                </a:solidFill>
                <a:effectLst/>
                <a:uLnTx/>
                <a:uFillTx/>
                <a:latin typeface="+mn-lt"/>
                <a:ea typeface="+mn-ea"/>
              </a:rPr>
              <a:t>净出口</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12</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down)">
                                      <p:cBhvr>
                                        <p:cTn id="7" dur="500"/>
                                        <p:tgtEl>
                                          <p:spTgt spid="8">
                                            <p:txEl>
                                              <p:pRg st="2" end="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xEl>
                                              <p:pRg st="3" end="3"/>
                                            </p:txEl>
                                          </p:spTgt>
                                        </p:tgtEl>
                                        <p:attrNameLst>
                                          <p:attrName>style.visibility</p:attrName>
                                        </p:attrNameLst>
                                      </p:cBhvr>
                                      <p:to>
                                        <p:strVal val="visible"/>
                                      </p:to>
                                    </p:set>
                                    <p:animEffect transition="in" filter="wipe(down)">
                                      <p:cBhvr>
                                        <p:cTn id="10" dur="500"/>
                                        <p:tgtEl>
                                          <p:spTgt spid="8">
                                            <p:txEl>
                                              <p:pRg st="3" end="3"/>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Effect transition="in" filter="wipe(down)">
                                      <p:cBhvr>
                                        <p:cTn id="13" dur="500"/>
                                        <p:tgtEl>
                                          <p:spTgt spid="8">
                                            <p:txEl>
                                              <p:pRg st="4" end="4"/>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xEl>
                                              <p:pRg st="5" end="5"/>
                                            </p:txEl>
                                          </p:spTgt>
                                        </p:tgtEl>
                                        <p:attrNameLst>
                                          <p:attrName>style.visibility</p:attrName>
                                        </p:attrNameLst>
                                      </p:cBhvr>
                                      <p:to>
                                        <p:strVal val="visible"/>
                                      </p:to>
                                    </p:set>
                                    <p:animEffect transition="in" filter="wipe(down)">
                                      <p:cBhvr>
                                        <p:cTn id="16"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0"/>
            <a:ext cx="7772400" cy="908720"/>
          </a:xfrm>
        </p:spPr>
        <p:txBody>
          <a:bodyPr/>
          <a:lstStyle/>
          <a:p>
            <a:r>
              <a:rPr lang="zh-CN" altLang="en-US" sz="3200" dirty="0" smtClean="0"/>
              <a:t>国民经济中的重要总量指标</a:t>
            </a:r>
            <a:r>
              <a:rPr lang="en-US" altLang="zh-CN" sz="3200" dirty="0" smtClean="0"/>
              <a:t>(1)</a:t>
            </a:r>
            <a:endParaRPr lang="zh-CN" altLang="en-US" sz="3200" dirty="0"/>
          </a:p>
        </p:txBody>
      </p:sp>
      <p:sp>
        <p:nvSpPr>
          <p:cNvPr id="5" name="Rectangle 3"/>
          <p:cNvSpPr>
            <a:spLocks noGrp="1" noChangeArrowheads="1"/>
          </p:cNvSpPr>
          <p:nvPr>
            <p:ph idx="1"/>
          </p:nvPr>
        </p:nvSpPr>
        <p:spPr>
          <a:xfrm>
            <a:off x="539552" y="908720"/>
            <a:ext cx="8136904" cy="1368152"/>
          </a:xfrm>
        </p:spPr>
        <p:txBody>
          <a:bodyPr/>
          <a:lstStyle/>
          <a:p>
            <a:pPr eaLnBrk="1" hangingPunct="1">
              <a:lnSpc>
                <a:spcPct val="120000"/>
              </a:lnSpc>
              <a:spcBef>
                <a:spcPct val="25000"/>
              </a:spcBef>
              <a:buNone/>
            </a:pPr>
            <a:r>
              <a:rPr lang="en-US" altLang="zh-CN" sz="2400" dirty="0" smtClean="0">
                <a:solidFill>
                  <a:srgbClr val="000000"/>
                </a:solidFill>
              </a:rPr>
              <a:t>GDP</a:t>
            </a:r>
            <a:r>
              <a:rPr lang="zh-CN" altLang="en-US" sz="2400" dirty="0" smtClean="0">
                <a:solidFill>
                  <a:srgbClr val="000000"/>
                </a:solidFill>
              </a:rPr>
              <a:t>的平衡原则</a:t>
            </a:r>
            <a:r>
              <a:rPr lang="en-US" altLang="zh-CN" sz="2400" dirty="0" smtClean="0">
                <a:solidFill>
                  <a:srgbClr val="000000"/>
                </a:solidFill>
              </a:rPr>
              <a:t>——</a:t>
            </a:r>
            <a:r>
              <a:rPr lang="zh-CN" altLang="en-US" sz="2400" dirty="0" smtClean="0">
                <a:solidFill>
                  <a:srgbClr val="000000"/>
                </a:solidFill>
              </a:rPr>
              <a:t>理论上，三种方法计算结果相等。</a:t>
            </a:r>
            <a:r>
              <a:rPr lang="zh-CN" altLang="en-US" sz="2400" dirty="0" smtClean="0">
                <a:solidFill>
                  <a:srgbClr val="000000"/>
                </a:solidFill>
                <a:latin typeface="Times New Roman" pitchFamily="18" charset="0"/>
              </a:rPr>
              <a:t>实际上总有误差。</a:t>
            </a:r>
            <a:r>
              <a:rPr lang="zh-CN" altLang="en-US" sz="2000" dirty="0" smtClean="0">
                <a:solidFill>
                  <a:srgbClr val="000000"/>
                </a:solidFill>
                <a:latin typeface="Times New Roman" pitchFamily="18" charset="0"/>
              </a:rPr>
              <a:t>我国以生产法结果为准，把误差放在支出方。</a:t>
            </a:r>
            <a:endParaRPr lang="en-US" altLang="zh-CN" sz="2200" dirty="0" smtClean="0">
              <a:solidFill>
                <a:srgbClr val="FF0000"/>
              </a:solidFill>
              <a:latin typeface="Times New Roman" pitchFamily="18" charset="0"/>
            </a:endParaRPr>
          </a:p>
          <a:p>
            <a:pPr algn="ctr" eaLnBrk="1" hangingPunct="1">
              <a:lnSpc>
                <a:spcPct val="120000"/>
              </a:lnSpc>
              <a:spcBef>
                <a:spcPct val="25000"/>
              </a:spcBef>
              <a:buNone/>
            </a:pPr>
            <a:r>
              <a:rPr lang="zh-CN" altLang="en-US" sz="2000" dirty="0" smtClean="0">
                <a:solidFill>
                  <a:srgbClr val="C00000"/>
                </a:solidFill>
              </a:rPr>
              <a:t>国内生产总值表基本结构</a:t>
            </a:r>
          </a:p>
        </p:txBody>
      </p:sp>
      <p:graphicFrame>
        <p:nvGraphicFramePr>
          <p:cNvPr id="6" name="表格 5"/>
          <p:cNvGraphicFramePr>
            <a:graphicFrameLocks noGrp="1"/>
          </p:cNvGraphicFramePr>
          <p:nvPr/>
        </p:nvGraphicFramePr>
        <p:xfrm>
          <a:off x="755576" y="2276872"/>
          <a:ext cx="7632848" cy="4141620"/>
        </p:xfrm>
        <a:graphic>
          <a:graphicData uri="http://schemas.openxmlformats.org/drawingml/2006/table">
            <a:tbl>
              <a:tblPr/>
              <a:tblGrid>
                <a:gridCol w="273630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3096344">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tblGrid>
              <a:tr h="328149">
                <a:tc>
                  <a:txBody>
                    <a:bodyPr/>
                    <a:lstStyle/>
                    <a:p>
                      <a:pPr algn="ctr" latinLnBrk="1"/>
                      <a:r>
                        <a:rPr lang="zh-CN" altLang="en-US" sz="2000" b="1" dirty="0" smtClean="0">
                          <a:solidFill>
                            <a:srgbClr val="000000"/>
                          </a:solidFill>
                          <a:latin typeface="arial"/>
                        </a:rPr>
                        <a:t>生  产</a:t>
                      </a:r>
                      <a:endParaRPr lang="zh-CN" altLang="en-US" sz="2000" b="1" dirty="0">
                        <a:solidFill>
                          <a:srgbClr val="000000"/>
                        </a:solidFill>
                        <a:latin typeface="arial"/>
                      </a:endParaRPr>
                    </a:p>
                  </a:txBody>
                  <a:tcPr marL="94658" marR="94658" marT="56795" marB="44174" anchor="ctr">
                    <a:lnL w="7620" cap="flat" cmpd="sng" algn="ctr">
                      <a:solidFill>
                        <a:srgbClr val="E2E5F3"/>
                      </a:solidFill>
                      <a:prstDash val="solid"/>
                      <a:round/>
                      <a:headEnd type="none" w="med" len="med"/>
                      <a:tailEnd type="none" w="med" len="med"/>
                    </a:lnL>
                    <a:lnR w="7620" cap="flat" cmpd="sng" algn="ctr">
                      <a:solidFill>
                        <a:srgbClr val="E2E5F3"/>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latinLnBrk="1"/>
                      <a:r>
                        <a:rPr lang="zh-CN" altLang="en-US" sz="2000" b="1" dirty="0">
                          <a:solidFill>
                            <a:srgbClr val="000000"/>
                          </a:solidFill>
                          <a:latin typeface="arial"/>
                        </a:rPr>
                        <a:t>金额</a:t>
                      </a:r>
                    </a:p>
                  </a:txBody>
                  <a:tcPr marL="94658" marR="94658" marT="56795" marB="44174" anchor="ctr">
                    <a:lnL w="7620" cap="flat" cmpd="sng" algn="ctr">
                      <a:solidFill>
                        <a:srgbClr val="E2E5F3"/>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latinLnBrk="1"/>
                      <a:r>
                        <a:rPr lang="zh-CN" altLang="en-US" sz="2000" b="1" dirty="0" smtClean="0">
                          <a:solidFill>
                            <a:srgbClr val="000000"/>
                          </a:solidFill>
                          <a:latin typeface="arial"/>
                        </a:rPr>
                        <a:t>使  用</a:t>
                      </a:r>
                      <a:endParaRPr lang="zh-CN" altLang="en-US" sz="2000" b="1" dirty="0">
                        <a:solidFill>
                          <a:srgbClr val="000000"/>
                        </a:solidFill>
                        <a:latin typeface="arial"/>
                      </a:endParaRPr>
                    </a:p>
                  </a:txBody>
                  <a:tcPr marL="94658" marR="94658" marT="56795" marB="44174" anchor="ctr">
                    <a:lnL w="28575" cap="flat" cmpd="sng" algn="ctr">
                      <a:solidFill>
                        <a:schemeClr val="tx1"/>
                      </a:solidFill>
                      <a:prstDash val="solid"/>
                      <a:round/>
                      <a:headEnd type="none" w="med" len="med"/>
                      <a:tailEnd type="none" w="med" len="med"/>
                    </a:lnL>
                    <a:lnR w="7620" cap="flat" cmpd="sng" algn="ctr">
                      <a:solidFill>
                        <a:srgbClr val="E2E5F3"/>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latinLnBrk="1"/>
                      <a:r>
                        <a:rPr lang="zh-CN" altLang="en-US" sz="2000" b="1" dirty="0">
                          <a:solidFill>
                            <a:srgbClr val="000000"/>
                          </a:solidFill>
                          <a:latin typeface="arial"/>
                        </a:rPr>
                        <a:t>金额</a:t>
                      </a:r>
                    </a:p>
                  </a:txBody>
                  <a:tcPr marL="94658" marR="94658" marT="56795" marB="44174" anchor="ctr">
                    <a:lnL w="7620" cap="flat" cmpd="sng" algn="ctr">
                      <a:solidFill>
                        <a:srgbClr val="E2E5F3"/>
                      </a:solidFill>
                      <a:prstDash val="solid"/>
                      <a:round/>
                      <a:headEnd type="none" w="med" len="med"/>
                      <a:tailEnd type="none" w="med" len="med"/>
                    </a:lnL>
                    <a:lnR w="7620" cap="flat" cmpd="sng" algn="ctr">
                      <a:solidFill>
                        <a:srgbClr val="E2E5F3"/>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35851">
                <a:tc>
                  <a:txBody>
                    <a:bodyPr/>
                    <a:lstStyle/>
                    <a:p>
                      <a:pPr algn="l" latinLnBrk="1">
                        <a:spcBef>
                          <a:spcPts val="600"/>
                        </a:spcBef>
                      </a:pPr>
                      <a:r>
                        <a:rPr lang="zh-CN" altLang="en-US" sz="1800" b="1" dirty="0" smtClean="0">
                          <a:solidFill>
                            <a:srgbClr val="C00000"/>
                          </a:solidFill>
                          <a:latin typeface="arial"/>
                        </a:rPr>
                        <a:t>一、生产法国内生产总值</a:t>
                      </a:r>
                      <a:endParaRPr lang="en-US" altLang="zh-CN" sz="1800" b="1" dirty="0" smtClean="0">
                        <a:solidFill>
                          <a:srgbClr val="C00000"/>
                        </a:solidFill>
                        <a:latin typeface="arial"/>
                      </a:endParaRPr>
                    </a:p>
                    <a:p>
                      <a:pPr algn="l" latinLnBrk="1">
                        <a:spcBef>
                          <a:spcPts val="600"/>
                        </a:spcBef>
                      </a:pPr>
                      <a:r>
                        <a:rPr lang="zh-CN" altLang="en-US" sz="1800" b="1" dirty="0" smtClean="0">
                          <a:solidFill>
                            <a:srgbClr val="000000"/>
                          </a:solidFill>
                          <a:latin typeface="arial"/>
                        </a:rPr>
                        <a:t>   （一）总产出 </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   （二）中间投入（</a:t>
                      </a:r>
                      <a:r>
                        <a:rPr lang="en-US" altLang="zh-CN" sz="1800" b="1" dirty="0" smtClean="0">
                          <a:solidFill>
                            <a:srgbClr val="000000"/>
                          </a:solidFill>
                          <a:latin typeface="arial"/>
                        </a:rPr>
                        <a:t>—</a:t>
                      </a:r>
                      <a:r>
                        <a:rPr lang="zh-CN" altLang="en-US" sz="1800" b="1" dirty="0" smtClean="0">
                          <a:solidFill>
                            <a:srgbClr val="000000"/>
                          </a:solidFill>
                          <a:latin typeface="arial"/>
                        </a:rPr>
                        <a:t>）</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C00000"/>
                          </a:solidFill>
                          <a:latin typeface="arial"/>
                        </a:rPr>
                        <a:t>二、收入法国内生产总值</a:t>
                      </a:r>
                      <a:endParaRPr lang="en-US" altLang="zh-CN" sz="1800" b="1" dirty="0" smtClean="0">
                        <a:solidFill>
                          <a:srgbClr val="C00000"/>
                        </a:solidFill>
                        <a:latin typeface="arial"/>
                      </a:endParaRPr>
                    </a:p>
                    <a:p>
                      <a:pPr algn="l" latinLnBrk="1">
                        <a:spcBef>
                          <a:spcPts val="600"/>
                        </a:spcBef>
                      </a:pPr>
                      <a:r>
                        <a:rPr lang="zh-CN" altLang="en-US" sz="1800" b="1" dirty="0" smtClean="0">
                          <a:solidFill>
                            <a:srgbClr val="000000"/>
                          </a:solidFill>
                          <a:latin typeface="arial"/>
                        </a:rPr>
                        <a:t>   （一）劳动者报酬</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   （二）生产税净额</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             生产税</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             生产补贴（</a:t>
                      </a:r>
                      <a:r>
                        <a:rPr lang="en-US" altLang="zh-CN" sz="1800" b="1" dirty="0" smtClean="0">
                          <a:solidFill>
                            <a:srgbClr val="000000"/>
                          </a:solidFill>
                          <a:latin typeface="arial"/>
                        </a:rPr>
                        <a:t>—</a:t>
                      </a:r>
                      <a:r>
                        <a:rPr lang="zh-CN" altLang="en-US" sz="1800" b="1" dirty="0" smtClean="0">
                          <a:solidFill>
                            <a:srgbClr val="000000"/>
                          </a:solidFill>
                          <a:latin typeface="arial"/>
                        </a:rPr>
                        <a:t>）</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 （三）固定资产折旧</a:t>
                      </a:r>
                      <a:endParaRPr lang="en-US" altLang="zh-CN" sz="1800" b="1" dirty="0" smtClean="0">
                        <a:solidFill>
                          <a:srgbClr val="000000"/>
                        </a:solidFill>
                        <a:latin typeface="arial"/>
                      </a:endParaRPr>
                    </a:p>
                    <a:p>
                      <a:pPr algn="l" latinLnBrk="1">
                        <a:spcBef>
                          <a:spcPts val="600"/>
                        </a:spcBef>
                      </a:pPr>
                      <a:r>
                        <a:rPr lang="zh-CN" altLang="en-US" sz="1800" b="1" dirty="0" smtClean="0">
                          <a:solidFill>
                            <a:srgbClr val="000000"/>
                          </a:solidFill>
                          <a:latin typeface="arial"/>
                        </a:rPr>
                        <a:t>（四）营业盈余</a:t>
                      </a:r>
                      <a:endParaRPr lang="zh-CN" altLang="en-US" sz="1800" b="1" dirty="0">
                        <a:solidFill>
                          <a:srgbClr val="000000"/>
                        </a:solidFill>
                        <a:latin typeface="arial"/>
                      </a:endParaRPr>
                    </a:p>
                  </a:txBody>
                  <a:tcPr marL="94658" marR="94658" marT="56795" marB="44174" anchor="ctr">
                    <a:lnL w="7620" cap="flat" cmpd="sng" algn="ctr">
                      <a:solidFill>
                        <a:srgbClr val="E2E5F3"/>
                      </a:solidFill>
                      <a:prstDash val="solid"/>
                      <a:round/>
                      <a:headEnd type="none" w="med" len="med"/>
                      <a:tailEnd type="none" w="med" len="med"/>
                    </a:lnL>
                    <a:lnR w="7620" cap="flat" cmpd="sng" algn="ctr">
                      <a:solidFill>
                        <a:srgbClr val="E2E5F3"/>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l" latinLnBrk="1"/>
                      <a:r>
                        <a:rPr lang="zh-CN" altLang="en-US" sz="1500" dirty="0">
                          <a:latin typeface="arial"/>
                        </a:rPr>
                        <a:t>　　</a:t>
                      </a:r>
                    </a:p>
                  </a:txBody>
                  <a:tcPr marL="94658" marR="94658" marT="56795" marB="44174" anchor="ctr">
                    <a:lnL w="7620" cap="flat" cmpd="sng" algn="ctr">
                      <a:solidFill>
                        <a:srgbClr val="E2E5F3"/>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l" latinLnBrk="1"/>
                      <a:r>
                        <a:rPr lang="zh-CN" altLang="en-US" sz="1800" b="1" dirty="0">
                          <a:solidFill>
                            <a:srgbClr val="C00000"/>
                          </a:solidFill>
                          <a:latin typeface="arial"/>
                        </a:rPr>
                        <a:t>一、支出法国内生产总值 </a:t>
                      </a:r>
                      <a:endParaRPr lang="en-US" altLang="zh-CN" sz="1800" b="1" dirty="0" smtClean="0">
                        <a:solidFill>
                          <a:srgbClr val="C00000"/>
                        </a:solidFill>
                        <a:latin typeface="arial"/>
                      </a:endParaRPr>
                    </a:p>
                    <a:p>
                      <a:pPr algn="l" latinLnBrk="1"/>
                      <a:r>
                        <a:rPr lang="zh-CN" altLang="en-US" sz="1800" b="1" dirty="0" smtClean="0">
                          <a:solidFill>
                            <a:srgbClr val="000000"/>
                          </a:solidFill>
                          <a:latin typeface="arial"/>
                        </a:rPr>
                        <a:t>    （</a:t>
                      </a:r>
                      <a:r>
                        <a:rPr lang="zh-CN" altLang="en-US" sz="1800" b="1" dirty="0">
                          <a:solidFill>
                            <a:srgbClr val="000000"/>
                          </a:solidFill>
                          <a:latin typeface="arial"/>
                        </a:rPr>
                        <a:t>一）最终</a:t>
                      </a:r>
                      <a:r>
                        <a:rPr lang="zh-CN" altLang="en-US" sz="1800" b="1" dirty="0" smtClean="0">
                          <a:solidFill>
                            <a:srgbClr val="000000"/>
                          </a:solidFill>
                          <a:latin typeface="arial"/>
                        </a:rPr>
                        <a:t>消费</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居民消费</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农村</a:t>
                      </a:r>
                      <a:r>
                        <a:rPr lang="zh-CN" altLang="en-US" sz="1800" b="1" dirty="0">
                          <a:solidFill>
                            <a:srgbClr val="000000"/>
                          </a:solidFill>
                          <a:latin typeface="arial"/>
                        </a:rPr>
                        <a:t>居民</a:t>
                      </a:r>
                      <a:r>
                        <a:rPr lang="zh-CN" altLang="en-US" sz="1800" b="1" dirty="0" smtClean="0">
                          <a:solidFill>
                            <a:srgbClr val="000000"/>
                          </a:solidFill>
                          <a:latin typeface="arial"/>
                        </a:rPr>
                        <a:t>消费</a:t>
                      </a:r>
                      <a:endParaRPr lang="en-US" altLang="zh-CN" sz="1800" b="1" dirty="0" smtClean="0">
                        <a:solidFill>
                          <a:srgbClr val="000000"/>
                        </a:solidFill>
                        <a:latin typeface="arial"/>
                      </a:endParaRPr>
                    </a:p>
                    <a:p>
                      <a:pPr algn="l" latinLnBrk="1"/>
                      <a:r>
                        <a:rPr lang="en-US" altLang="zh-CN" sz="1800" b="1" dirty="0" smtClean="0">
                          <a:solidFill>
                            <a:srgbClr val="000000"/>
                          </a:solidFill>
                          <a:latin typeface="arial"/>
                        </a:rPr>
                        <a:t>               </a:t>
                      </a:r>
                      <a:r>
                        <a:rPr lang="zh-CN" altLang="en-US" sz="1800" b="1" dirty="0" smtClean="0">
                          <a:solidFill>
                            <a:srgbClr val="000000"/>
                          </a:solidFill>
                          <a:latin typeface="arial"/>
                        </a:rPr>
                        <a:t>城镇</a:t>
                      </a:r>
                      <a:r>
                        <a:rPr lang="zh-CN" altLang="en-US" sz="1800" b="1" dirty="0">
                          <a:solidFill>
                            <a:srgbClr val="000000"/>
                          </a:solidFill>
                          <a:latin typeface="arial"/>
                        </a:rPr>
                        <a:t>居民消费 </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政府消费</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a:t>
                      </a:r>
                      <a:r>
                        <a:rPr lang="zh-CN" altLang="en-US" sz="1800" b="1" dirty="0">
                          <a:solidFill>
                            <a:srgbClr val="000000"/>
                          </a:solidFill>
                          <a:latin typeface="arial"/>
                        </a:rPr>
                        <a:t>二）资本形成</a:t>
                      </a:r>
                      <a:r>
                        <a:rPr lang="zh-CN" altLang="en-US" sz="1800" b="1" dirty="0" smtClean="0">
                          <a:solidFill>
                            <a:srgbClr val="000000"/>
                          </a:solidFill>
                          <a:latin typeface="arial"/>
                        </a:rPr>
                        <a:t>总额</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固定资本</a:t>
                      </a:r>
                      <a:r>
                        <a:rPr lang="zh-CN" altLang="en-US" sz="1800" b="1" dirty="0">
                          <a:solidFill>
                            <a:srgbClr val="000000"/>
                          </a:solidFill>
                          <a:latin typeface="arial"/>
                        </a:rPr>
                        <a:t>形成</a:t>
                      </a:r>
                      <a:r>
                        <a:rPr lang="zh-CN" altLang="en-US" sz="1800" b="1" dirty="0" smtClean="0">
                          <a:solidFill>
                            <a:srgbClr val="000000"/>
                          </a:solidFill>
                          <a:latin typeface="arial"/>
                        </a:rPr>
                        <a:t>总额</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存货增加</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a:t>
                      </a:r>
                      <a:r>
                        <a:rPr lang="zh-CN" altLang="en-US" sz="1800" b="1" dirty="0">
                          <a:solidFill>
                            <a:srgbClr val="000000"/>
                          </a:solidFill>
                          <a:latin typeface="arial"/>
                        </a:rPr>
                        <a:t>（三）</a:t>
                      </a:r>
                      <a:r>
                        <a:rPr lang="zh-CN" altLang="en-US" sz="1800" b="1" dirty="0" smtClean="0">
                          <a:solidFill>
                            <a:srgbClr val="000000"/>
                          </a:solidFill>
                          <a:latin typeface="arial"/>
                        </a:rPr>
                        <a:t>净出口</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出口</a:t>
                      </a:r>
                      <a:endParaRPr lang="en-US" altLang="zh-CN" sz="1800" b="1" dirty="0" smtClean="0">
                        <a:solidFill>
                          <a:srgbClr val="000000"/>
                        </a:solidFill>
                        <a:latin typeface="arial"/>
                      </a:endParaRPr>
                    </a:p>
                    <a:p>
                      <a:pPr algn="l" latinLnBrk="1"/>
                      <a:r>
                        <a:rPr lang="zh-CN" altLang="en-US" sz="1800" b="1" dirty="0" smtClean="0">
                          <a:solidFill>
                            <a:srgbClr val="000000"/>
                          </a:solidFill>
                          <a:latin typeface="arial"/>
                        </a:rPr>
                        <a:t>            进口（</a:t>
                      </a:r>
                      <a:r>
                        <a:rPr lang="en-US" altLang="zh-CN" sz="1800" b="1" dirty="0" smtClean="0">
                          <a:solidFill>
                            <a:srgbClr val="000000"/>
                          </a:solidFill>
                          <a:latin typeface="arial"/>
                        </a:rPr>
                        <a:t>—</a:t>
                      </a:r>
                      <a:r>
                        <a:rPr lang="zh-CN" altLang="en-US" sz="1800" b="1" dirty="0" smtClean="0">
                          <a:solidFill>
                            <a:srgbClr val="000000"/>
                          </a:solidFill>
                          <a:latin typeface="arial"/>
                        </a:rPr>
                        <a:t>） </a:t>
                      </a:r>
                      <a:endParaRPr lang="en-US" altLang="zh-CN" sz="1800" b="1" dirty="0" smtClean="0">
                        <a:solidFill>
                          <a:srgbClr val="000000"/>
                        </a:solidFill>
                        <a:latin typeface="arial"/>
                      </a:endParaRPr>
                    </a:p>
                    <a:p>
                      <a:pPr algn="l" latinLnBrk="1"/>
                      <a:r>
                        <a:rPr lang="zh-CN" altLang="en-US" sz="1800" b="1" dirty="0" smtClean="0">
                          <a:solidFill>
                            <a:srgbClr val="C00000"/>
                          </a:solidFill>
                          <a:latin typeface="arial"/>
                        </a:rPr>
                        <a:t>二</a:t>
                      </a:r>
                      <a:r>
                        <a:rPr lang="zh-CN" altLang="en-US" sz="1800" b="1" dirty="0">
                          <a:solidFill>
                            <a:srgbClr val="C00000"/>
                          </a:solidFill>
                          <a:latin typeface="arial"/>
                        </a:rPr>
                        <a:t>、统计误差</a:t>
                      </a:r>
                    </a:p>
                  </a:txBody>
                  <a:tcPr marL="94658" marR="94658" marT="56795" marB="44174" anchor="ctr">
                    <a:lnL w="28575" cap="flat" cmpd="sng" algn="ctr">
                      <a:solidFill>
                        <a:schemeClr val="tx1"/>
                      </a:solidFill>
                      <a:prstDash val="solid"/>
                      <a:round/>
                      <a:headEnd type="none" w="med" len="med"/>
                      <a:tailEnd type="none" w="med" len="med"/>
                    </a:lnL>
                    <a:lnR w="7620" cap="flat" cmpd="sng" algn="ctr">
                      <a:solidFill>
                        <a:srgbClr val="E2E5F3"/>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endParaRPr lang="zh-CN" altLang="en-US" sz="1500" dirty="0"/>
                    </a:p>
                  </a:txBody>
                  <a:tcPr marL="75727" marR="75727" marT="37863" marB="37863">
                    <a:lnL w="7620" cap="flat" cmpd="sng" algn="ctr">
                      <a:solidFill>
                        <a:srgbClr val="E2E5F3"/>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13</a:t>
            </a:fld>
            <a:endParaRPr lang="en-US" altLang="zh-CN"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0"/>
            <a:ext cx="7772400" cy="908720"/>
          </a:xfrm>
        </p:spPr>
        <p:txBody>
          <a:bodyPr/>
          <a:lstStyle/>
          <a:p>
            <a:r>
              <a:rPr lang="zh-CN" altLang="en-US" sz="3200" dirty="0" smtClean="0"/>
              <a:t>国民经济中的重要总量指标</a:t>
            </a:r>
            <a:r>
              <a:rPr lang="en-US" altLang="zh-CN" sz="3200" dirty="0" smtClean="0"/>
              <a:t>(1)</a:t>
            </a:r>
            <a:endParaRPr lang="zh-CN" altLang="en-US" sz="3200" dirty="0"/>
          </a:p>
        </p:txBody>
      </p:sp>
      <p:sp>
        <p:nvSpPr>
          <p:cNvPr id="5" name="Rectangle 3"/>
          <p:cNvSpPr>
            <a:spLocks noGrp="1" noChangeArrowheads="1"/>
          </p:cNvSpPr>
          <p:nvPr>
            <p:ph idx="1"/>
          </p:nvPr>
        </p:nvSpPr>
        <p:spPr>
          <a:xfrm>
            <a:off x="323528" y="908720"/>
            <a:ext cx="8136904" cy="5688632"/>
          </a:xfrm>
        </p:spPr>
        <p:txBody>
          <a:bodyPr/>
          <a:lstStyle/>
          <a:p>
            <a:pPr algn="ctr" eaLnBrk="1" hangingPunct="1">
              <a:lnSpc>
                <a:spcPct val="120000"/>
              </a:lnSpc>
              <a:spcBef>
                <a:spcPct val="25000"/>
              </a:spcBef>
              <a:buNone/>
            </a:pPr>
            <a:r>
              <a:rPr lang="en-US" altLang="zh-CN" sz="2400" dirty="0" smtClean="0">
                <a:solidFill>
                  <a:srgbClr val="C00000"/>
                </a:solidFill>
              </a:rPr>
              <a:t>GDP</a:t>
            </a:r>
            <a:r>
              <a:rPr lang="zh-CN" altLang="en-US" sz="2400" dirty="0" smtClean="0">
                <a:solidFill>
                  <a:srgbClr val="C00000"/>
                </a:solidFill>
              </a:rPr>
              <a:t>三种方法有关总量的派生指标：</a:t>
            </a:r>
            <a:endParaRPr lang="en-US" altLang="zh-CN" sz="2200" dirty="0" smtClean="0">
              <a:solidFill>
                <a:srgbClr val="C00000"/>
              </a:solidFill>
              <a:latin typeface="Times New Roman" pitchFamily="18" charset="0"/>
            </a:endParaRPr>
          </a:p>
          <a:p>
            <a:pPr eaLnBrk="1" hangingPunct="1">
              <a:lnSpc>
                <a:spcPct val="120000"/>
              </a:lnSpc>
              <a:spcBef>
                <a:spcPct val="25000"/>
              </a:spcBef>
            </a:pPr>
            <a:r>
              <a:rPr lang="zh-CN" altLang="en-US" sz="2400" dirty="0" smtClean="0">
                <a:solidFill>
                  <a:srgbClr val="002060"/>
                </a:solidFill>
              </a:rPr>
              <a:t>生产法：</a:t>
            </a:r>
            <a:r>
              <a:rPr lang="zh-CN" altLang="en-US" sz="2000" dirty="0" smtClean="0">
                <a:solidFill>
                  <a:srgbClr val="002060"/>
                </a:solidFill>
              </a:rPr>
              <a:t>国内生产总值</a:t>
            </a:r>
            <a:r>
              <a:rPr lang="en-US" altLang="zh-CN" sz="2000" dirty="0" smtClean="0">
                <a:solidFill>
                  <a:srgbClr val="002060"/>
                </a:solidFill>
              </a:rPr>
              <a:t>=</a:t>
            </a:r>
            <a:r>
              <a:rPr lang="el-GR" altLang="zh-CN" sz="2000" dirty="0" smtClean="0">
                <a:solidFill>
                  <a:srgbClr val="002060"/>
                </a:solidFill>
                <a:latin typeface="Times New Roman"/>
                <a:cs typeface="Times New Roman"/>
              </a:rPr>
              <a:t>Σ</a:t>
            </a:r>
            <a:r>
              <a:rPr lang="zh-CN" altLang="en-US" sz="2000" dirty="0" smtClean="0">
                <a:solidFill>
                  <a:srgbClr val="002060"/>
                </a:solidFill>
                <a:latin typeface="Times New Roman"/>
                <a:cs typeface="Times New Roman"/>
              </a:rPr>
              <a:t>（增加值）</a:t>
            </a:r>
            <a:r>
              <a:rPr lang="en-US" altLang="zh-CN" sz="2000" dirty="0" smtClean="0">
                <a:solidFill>
                  <a:srgbClr val="002060"/>
                </a:solidFill>
              </a:rPr>
              <a:t>=</a:t>
            </a:r>
            <a:r>
              <a:rPr lang="el-GR" altLang="zh-CN" sz="2000" dirty="0" smtClean="0">
                <a:solidFill>
                  <a:srgbClr val="002060"/>
                </a:solidFill>
                <a:latin typeface="Times New Roman"/>
                <a:cs typeface="Times New Roman"/>
              </a:rPr>
              <a:t>Σ</a:t>
            </a:r>
            <a:r>
              <a:rPr lang="zh-CN" altLang="en-US" sz="2000" dirty="0" smtClean="0">
                <a:solidFill>
                  <a:srgbClr val="002060"/>
                </a:solidFill>
                <a:latin typeface="Times New Roman"/>
                <a:cs typeface="Times New Roman"/>
              </a:rPr>
              <a:t>（</a:t>
            </a:r>
            <a:r>
              <a:rPr lang="zh-CN" altLang="en-US" sz="2000" dirty="0" smtClean="0">
                <a:solidFill>
                  <a:srgbClr val="002060"/>
                </a:solidFill>
              </a:rPr>
              <a:t>总产出</a:t>
            </a:r>
            <a:r>
              <a:rPr lang="en-US" altLang="zh-CN" sz="2000" dirty="0" smtClean="0">
                <a:solidFill>
                  <a:srgbClr val="002060"/>
                </a:solidFill>
              </a:rPr>
              <a:t>-</a:t>
            </a:r>
            <a:r>
              <a:rPr lang="zh-CN" altLang="en-US" sz="2000" dirty="0" smtClean="0">
                <a:solidFill>
                  <a:srgbClr val="002060"/>
                </a:solidFill>
              </a:rPr>
              <a:t>中间投入</a:t>
            </a:r>
            <a:r>
              <a:rPr lang="en-US" altLang="zh-CN" sz="2800" i="1" dirty="0" smtClean="0">
                <a:solidFill>
                  <a:srgbClr val="002060"/>
                </a:solidFill>
                <a:latin typeface="Times New Roman" pitchFamily="18" charset="0"/>
              </a:rPr>
              <a:t>c</a:t>
            </a:r>
            <a:r>
              <a:rPr lang="en-US" altLang="zh-CN" sz="2800" b="0" i="1" dirty="0" smtClean="0">
                <a:solidFill>
                  <a:srgbClr val="002060"/>
                </a:solidFill>
                <a:latin typeface="Tahoma" pitchFamily="34" charset="0"/>
                <a:ea typeface="Tahoma" pitchFamily="34" charset="0"/>
                <a:cs typeface="Tahoma" pitchFamily="34" charset="0"/>
              </a:rPr>
              <a:t>”  </a:t>
            </a:r>
            <a:r>
              <a:rPr lang="zh-CN" altLang="en-US" sz="2000" dirty="0" smtClean="0">
                <a:solidFill>
                  <a:srgbClr val="002060"/>
                </a:solidFill>
                <a:latin typeface="Times New Roman"/>
                <a:cs typeface="Times New Roman"/>
              </a:rPr>
              <a:t>）</a:t>
            </a:r>
            <a:endParaRPr lang="en-US" altLang="zh-CN" sz="2400" dirty="0" smtClean="0">
              <a:solidFill>
                <a:srgbClr val="002060"/>
              </a:solidFill>
              <a:latin typeface="Times New Roman"/>
              <a:cs typeface="Times New Roman"/>
            </a:endParaRPr>
          </a:p>
          <a:p>
            <a:pPr lvl="1" eaLnBrk="1" hangingPunct="1">
              <a:lnSpc>
                <a:spcPct val="120000"/>
              </a:lnSpc>
              <a:spcBef>
                <a:spcPct val="25000"/>
              </a:spcBef>
              <a:buNone/>
            </a:pP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计算经济效益指标：中间投入</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消耗</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率（</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中间投入</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总产出）</a:t>
            </a:r>
            <a:endParaRPr lang="en-US" altLang="zh-CN" sz="2000" dirty="0" smtClean="0">
              <a:solidFill>
                <a:schemeClr val="tx2"/>
              </a:solidFill>
              <a:latin typeface="Times New Roman"/>
              <a:cs typeface="Times New Roman"/>
            </a:endParaRPr>
          </a:p>
          <a:p>
            <a:pPr lvl="1" eaLnBrk="1" hangingPunct="1">
              <a:lnSpc>
                <a:spcPct val="120000"/>
              </a:lnSpc>
              <a:spcBef>
                <a:spcPct val="25000"/>
              </a:spcBef>
              <a:buNone/>
            </a:pPr>
            <a:r>
              <a:rPr lang="en-US" altLang="zh-CN" sz="2000" dirty="0" smtClean="0">
                <a:solidFill>
                  <a:schemeClr val="tx2"/>
                </a:solidFill>
                <a:latin typeface="Times New Roman"/>
                <a:cs typeface="Times New Roman"/>
              </a:rPr>
              <a:t>                                             </a:t>
            </a:r>
            <a:r>
              <a:rPr lang="zh-CN" altLang="en-US" sz="2000" dirty="0" smtClean="0">
                <a:solidFill>
                  <a:schemeClr val="tx2"/>
                </a:solidFill>
                <a:latin typeface="Times New Roman"/>
                <a:cs typeface="Times New Roman"/>
              </a:rPr>
              <a:t>增加值率（</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增加值</a:t>
            </a: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总产出）</a:t>
            </a:r>
            <a:endParaRPr lang="zh-CN" altLang="en-US" sz="2000" dirty="0" smtClean="0">
              <a:solidFill>
                <a:schemeClr val="tx2"/>
              </a:solidFill>
            </a:endParaRPr>
          </a:p>
          <a:p>
            <a:pPr eaLnBrk="1" hangingPunct="1">
              <a:lnSpc>
                <a:spcPct val="120000"/>
              </a:lnSpc>
              <a:spcBef>
                <a:spcPct val="25000"/>
              </a:spcBef>
            </a:pPr>
            <a:r>
              <a:rPr lang="zh-CN" altLang="en-US" sz="2400" dirty="0" smtClean="0">
                <a:solidFill>
                  <a:srgbClr val="002060"/>
                </a:solidFill>
              </a:rPr>
              <a:t>收入法：国内生产总值</a:t>
            </a:r>
            <a:r>
              <a:rPr lang="en-US" altLang="zh-CN" sz="2400" dirty="0" smtClean="0">
                <a:solidFill>
                  <a:srgbClr val="002060"/>
                </a:solidFill>
              </a:rPr>
              <a:t>=</a:t>
            </a:r>
            <a:r>
              <a:rPr lang="zh-CN" altLang="en-US" sz="2400" dirty="0" smtClean="0">
                <a:solidFill>
                  <a:srgbClr val="002060"/>
                </a:solidFill>
              </a:rPr>
              <a:t>固定资本折旧（</a:t>
            </a:r>
            <a:r>
              <a:rPr lang="en-US" altLang="zh-CN" sz="2400" i="1" dirty="0" smtClean="0">
                <a:solidFill>
                  <a:srgbClr val="002060"/>
                </a:solidFill>
                <a:latin typeface="Times New Roman" pitchFamily="18" charset="0"/>
              </a:rPr>
              <a:t>c</a:t>
            </a:r>
            <a:r>
              <a:rPr lang="en-US" altLang="zh-CN" sz="2400" dirty="0" smtClean="0">
                <a:solidFill>
                  <a:srgbClr val="002060"/>
                </a:solidFill>
                <a:latin typeface="Times New Roman" pitchFamily="18" charset="0"/>
              </a:rPr>
              <a:t>′</a:t>
            </a:r>
            <a:r>
              <a:rPr lang="zh-CN" altLang="en-US" sz="2400" dirty="0" smtClean="0">
                <a:solidFill>
                  <a:srgbClr val="002060"/>
                </a:solidFill>
              </a:rPr>
              <a:t>）</a:t>
            </a:r>
            <a:r>
              <a:rPr lang="en-US" altLang="zh-CN" sz="2400" dirty="0" smtClean="0">
                <a:solidFill>
                  <a:srgbClr val="002060"/>
                </a:solidFill>
              </a:rPr>
              <a:t>+</a:t>
            </a:r>
            <a:r>
              <a:rPr lang="zh-CN" altLang="en-US" sz="2400" dirty="0" smtClean="0">
                <a:solidFill>
                  <a:srgbClr val="002060"/>
                </a:solidFill>
              </a:rPr>
              <a:t>劳动者报酬（</a:t>
            </a:r>
            <a:r>
              <a:rPr lang="en-US" altLang="zh-CN" sz="2400" i="1" dirty="0" smtClean="0">
                <a:solidFill>
                  <a:srgbClr val="002060"/>
                </a:solidFill>
                <a:latin typeface="Times New Roman" pitchFamily="18" charset="0"/>
              </a:rPr>
              <a:t>v</a:t>
            </a:r>
            <a:r>
              <a:rPr lang="zh-CN" altLang="en-US" sz="2400" dirty="0" smtClean="0">
                <a:solidFill>
                  <a:srgbClr val="002060"/>
                </a:solidFill>
              </a:rPr>
              <a:t>）</a:t>
            </a:r>
            <a:r>
              <a:rPr lang="en-US" altLang="zh-CN" sz="2400" dirty="0" smtClean="0">
                <a:solidFill>
                  <a:srgbClr val="002060"/>
                </a:solidFill>
              </a:rPr>
              <a:t>+</a:t>
            </a:r>
            <a:r>
              <a:rPr lang="zh-CN" altLang="en-US" sz="2400" dirty="0" smtClean="0">
                <a:solidFill>
                  <a:srgbClr val="002060"/>
                </a:solidFill>
              </a:rPr>
              <a:t>生产税净额</a:t>
            </a:r>
            <a:r>
              <a:rPr lang="en-US" altLang="zh-CN" sz="2400" dirty="0" smtClean="0">
                <a:solidFill>
                  <a:srgbClr val="002060"/>
                </a:solidFill>
              </a:rPr>
              <a:t>+</a:t>
            </a:r>
            <a:r>
              <a:rPr lang="zh-CN" altLang="en-US" sz="2400" dirty="0" smtClean="0">
                <a:solidFill>
                  <a:srgbClr val="002060"/>
                </a:solidFill>
              </a:rPr>
              <a:t>营业盈余</a:t>
            </a:r>
            <a:endParaRPr lang="en-US" altLang="zh-CN" sz="2400" dirty="0" smtClean="0">
              <a:solidFill>
                <a:srgbClr val="002060"/>
              </a:solidFill>
            </a:endParaRPr>
          </a:p>
          <a:p>
            <a:pPr lvl="1" eaLnBrk="1" hangingPunct="1">
              <a:lnSpc>
                <a:spcPct val="120000"/>
              </a:lnSpc>
              <a:spcBef>
                <a:spcPct val="25000"/>
              </a:spcBef>
              <a:buNone/>
            </a:pPr>
            <a:r>
              <a:rPr lang="en-US" altLang="zh-CN" sz="18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可计算国家所得、企业所得、劳动者个人所得三者的占比，反映初次分配的比例关系</a:t>
            </a:r>
          </a:p>
          <a:p>
            <a:pPr marL="342900" lvl="1" indent="-342900" eaLnBrk="1" hangingPunct="1">
              <a:lnSpc>
                <a:spcPct val="120000"/>
              </a:lnSpc>
              <a:spcBef>
                <a:spcPct val="25000"/>
              </a:spcBef>
              <a:buSzPct val="90000"/>
              <a:buBlip>
                <a:blip r:embed="rId2"/>
              </a:buBlip>
            </a:pPr>
            <a:r>
              <a:rPr lang="zh-CN" altLang="en-US" sz="2400" dirty="0" smtClean="0">
                <a:solidFill>
                  <a:srgbClr val="002060"/>
                </a:solidFill>
              </a:rPr>
              <a:t>支出法：国内生产总值</a:t>
            </a:r>
            <a:r>
              <a:rPr lang="en-US" altLang="zh-CN" sz="2400" dirty="0" smtClean="0">
                <a:solidFill>
                  <a:srgbClr val="002060"/>
                </a:solidFill>
              </a:rPr>
              <a:t>=</a:t>
            </a:r>
            <a:r>
              <a:rPr lang="zh-CN" altLang="en-US" sz="2400" dirty="0" smtClean="0">
                <a:solidFill>
                  <a:srgbClr val="002060"/>
                </a:solidFill>
              </a:rPr>
              <a:t>最终消费（即总消费）</a:t>
            </a:r>
            <a:r>
              <a:rPr lang="en-US" altLang="zh-CN" sz="2400" dirty="0" smtClean="0">
                <a:solidFill>
                  <a:srgbClr val="002060"/>
                </a:solidFill>
              </a:rPr>
              <a:t>+</a:t>
            </a:r>
            <a:r>
              <a:rPr lang="zh-CN" altLang="en-US" sz="2400" dirty="0" smtClean="0">
                <a:solidFill>
                  <a:srgbClr val="002060"/>
                </a:solidFill>
              </a:rPr>
              <a:t>资本形成总额（即总投资）</a:t>
            </a:r>
            <a:r>
              <a:rPr lang="en-US" altLang="zh-CN" sz="2400" dirty="0" smtClean="0">
                <a:solidFill>
                  <a:srgbClr val="002060"/>
                </a:solidFill>
              </a:rPr>
              <a:t>+</a:t>
            </a:r>
            <a:r>
              <a:rPr lang="zh-CN" altLang="en-US" sz="2400" dirty="0" smtClean="0">
                <a:solidFill>
                  <a:srgbClr val="002060"/>
                </a:solidFill>
              </a:rPr>
              <a:t>净出口</a:t>
            </a:r>
            <a:endParaRPr lang="en-US" altLang="zh-CN" sz="2400" dirty="0" smtClean="0">
              <a:solidFill>
                <a:srgbClr val="002060"/>
              </a:solidFill>
            </a:endParaRPr>
          </a:p>
          <a:p>
            <a:pPr marL="742950" lvl="2" indent="-342900" eaLnBrk="1" hangingPunct="1">
              <a:lnSpc>
                <a:spcPct val="120000"/>
              </a:lnSpc>
              <a:spcBef>
                <a:spcPct val="25000"/>
              </a:spcBef>
              <a:buSzPct val="90000"/>
              <a:buNone/>
            </a:pPr>
            <a:r>
              <a:rPr lang="en-US" altLang="zh-CN" sz="2000" dirty="0" smtClean="0">
                <a:solidFill>
                  <a:schemeClr val="tx2"/>
                </a:solidFill>
                <a:latin typeface="Times New Roman"/>
                <a:cs typeface="Times New Roman"/>
              </a:rPr>
              <a:t>——</a:t>
            </a:r>
            <a:r>
              <a:rPr lang="zh-CN" altLang="en-US" sz="2000" dirty="0" smtClean="0">
                <a:solidFill>
                  <a:schemeClr val="tx2"/>
                </a:solidFill>
                <a:latin typeface="Times New Roman"/>
                <a:cs typeface="Times New Roman"/>
              </a:rPr>
              <a:t>可计算消费率、投资率、净出口率，分析三驾马车对经济增长的</a:t>
            </a:r>
            <a:r>
              <a:rPr lang="zh-CN" altLang="en-US" sz="2000" dirty="0" smtClean="0">
                <a:solidFill>
                  <a:srgbClr val="C00000"/>
                </a:solidFill>
                <a:latin typeface="Arial Black" panose="020B0A04020102020204" pitchFamily="34" charset="0"/>
                <a:cs typeface="Times New Roman"/>
              </a:rPr>
              <a:t>贡献</a:t>
            </a:r>
            <a:r>
              <a:rPr lang="zh-CN" altLang="en-US" sz="2000" dirty="0" smtClean="0">
                <a:solidFill>
                  <a:schemeClr val="tx2"/>
                </a:solidFill>
                <a:latin typeface="Times New Roman"/>
                <a:cs typeface="Times New Roman"/>
              </a:rPr>
              <a:t>。</a:t>
            </a:r>
            <a:endParaRPr lang="zh-CN" altLang="en-US" sz="2400" dirty="0" smtClean="0">
              <a:solidFill>
                <a:schemeClr val="tx2"/>
              </a:solidFill>
            </a:endParaRPr>
          </a:p>
        </p:txBody>
      </p:sp>
      <p:sp>
        <p:nvSpPr>
          <p:cNvPr id="6" name="右大括号 5"/>
          <p:cNvSpPr/>
          <p:nvPr/>
        </p:nvSpPr>
        <p:spPr bwMode="auto">
          <a:xfrm rot="679914">
            <a:off x="8008715" y="2236250"/>
            <a:ext cx="294544" cy="561956"/>
          </a:xfrm>
          <a:prstGeom prst="rightBrace">
            <a:avLst>
              <a:gd name="adj1" fmla="val 43750"/>
              <a:gd name="adj2" fmla="val 50000"/>
            </a:avLst>
          </a:prstGeom>
          <a:noFill/>
          <a:ln w="28575" cap="flat" cmpd="sng" algn="ctr">
            <a:solidFill>
              <a:srgbClr val="1313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
        <p:nvSpPr>
          <p:cNvPr id="7" name="TextBox 6"/>
          <p:cNvSpPr txBox="1"/>
          <p:nvPr/>
        </p:nvSpPr>
        <p:spPr>
          <a:xfrm>
            <a:off x="8100392" y="2278613"/>
            <a:ext cx="827584" cy="646331"/>
          </a:xfrm>
          <a:prstGeom prst="rect">
            <a:avLst/>
          </a:prstGeom>
          <a:noFill/>
        </p:spPr>
        <p:txBody>
          <a:bodyPr wrap="square" lIns="0" tIns="36000" rIns="0" bIns="36000" rtlCol="0">
            <a:spAutoFit/>
          </a:bodyPr>
          <a:lstStyle/>
          <a:p>
            <a:pPr algn="ctr"/>
            <a:r>
              <a:rPr lang="zh-CN" altLang="en-US" sz="1800" b="1" dirty="0" smtClean="0">
                <a:solidFill>
                  <a:srgbClr val="1313FF"/>
                </a:solidFill>
                <a:latin typeface="+mn-ea"/>
                <a:ea typeface="+mn-ea"/>
              </a:rPr>
              <a:t>  二者之和</a:t>
            </a:r>
            <a:r>
              <a:rPr lang="en-US" altLang="zh-CN" sz="1800" b="1" dirty="0" smtClean="0">
                <a:solidFill>
                  <a:srgbClr val="1313FF"/>
                </a:solidFill>
                <a:latin typeface="+mn-ea"/>
                <a:ea typeface="+mn-ea"/>
              </a:rPr>
              <a:t>=1</a:t>
            </a:r>
            <a:endParaRPr lang="zh-CN" altLang="en-US" sz="1800" b="1" dirty="0">
              <a:solidFill>
                <a:srgbClr val="1313FF"/>
              </a:solidFill>
              <a:latin typeface="+mn-ea"/>
              <a:ea typeface="+mn-ea"/>
            </a:endParaRPr>
          </a:p>
        </p:txBody>
      </p:sp>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14</a:t>
            </a:fld>
            <a:endParaRPr lang="en-US" altLang="zh-CN" dirty="0"/>
          </a:p>
        </p:txBody>
      </p:sp>
      <p:sp>
        <p:nvSpPr>
          <p:cNvPr id="3" name="下箭头 2"/>
          <p:cNvSpPr/>
          <p:nvPr/>
        </p:nvSpPr>
        <p:spPr bwMode="auto">
          <a:xfrm>
            <a:off x="1907704" y="6249293"/>
            <a:ext cx="288032" cy="288032"/>
          </a:xfrm>
          <a:prstGeom prst="down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wipe(left)">
                                      <p:cBhvr>
                                        <p:cTn id="7" dur="500"/>
                                        <p:tgtEl>
                                          <p:spTgt spid="5">
                                            <p:txEl>
                                              <p:pRg st="4" end="4"/>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animEffect transition="in" filter="wipe(left)">
                                      <p:cBhvr>
                                        <p:cTn id="11" dur="500"/>
                                        <p:tgtEl>
                                          <p:spTgt spid="5">
                                            <p:txEl>
                                              <p:pRg st="5" end="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wipe(left)">
                                      <p:cBhvr>
                                        <p:cTn id="16" dur="500"/>
                                        <p:tgtEl>
                                          <p:spTgt spid="5">
                                            <p:txEl>
                                              <p:pRg st="6" end="6"/>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
                                            <p:txEl>
                                              <p:pRg st="7" end="7"/>
                                            </p:txEl>
                                          </p:spTgt>
                                        </p:tgtEl>
                                        <p:attrNameLst>
                                          <p:attrName>style.visibility</p:attrName>
                                        </p:attrNameLst>
                                      </p:cBhvr>
                                      <p:to>
                                        <p:strVal val="visible"/>
                                      </p:to>
                                    </p:set>
                                    <p:animEffect transition="in" filter="wipe(left)">
                                      <p:cBhvr>
                                        <p:cTn id="20"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87624" y="476672"/>
            <a:ext cx="7056784" cy="5904061"/>
          </a:xfrm>
          <a:prstGeom prst="rect">
            <a:avLst/>
          </a:prstGeom>
        </p:spPr>
      </p:pic>
      <p:sp>
        <p:nvSpPr>
          <p:cNvPr id="2" name="标题 1"/>
          <p:cNvSpPr>
            <a:spLocks noGrp="1"/>
          </p:cNvSpPr>
          <p:nvPr>
            <p:ph type="title"/>
          </p:nvPr>
        </p:nvSpPr>
        <p:spPr>
          <a:xfrm>
            <a:off x="682873" y="64604"/>
            <a:ext cx="2797696" cy="680120"/>
          </a:xfrm>
        </p:spPr>
        <p:txBody>
          <a:bodyPr/>
          <a:lstStyle/>
          <a:p>
            <a:r>
              <a:rPr lang="en-US" altLang="zh-CN" sz="3600" dirty="0" smtClean="0"/>
              <a:t>【</a:t>
            </a:r>
            <a:r>
              <a:rPr lang="zh-CN" altLang="en-US" sz="3600" dirty="0" smtClean="0"/>
              <a:t>例</a:t>
            </a:r>
            <a:r>
              <a:rPr lang="en-US" altLang="zh-CN" sz="3600" dirty="0" smtClean="0"/>
              <a:t>】</a:t>
            </a:r>
            <a:endParaRPr lang="zh-CN" altLang="en-US" sz="3600" dirty="0"/>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15</a:t>
            </a:fld>
            <a:endParaRPr lang="en-US" altLang="zh-CN"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a:xfrm>
            <a:off x="838200" y="228600"/>
            <a:ext cx="7772400" cy="896144"/>
          </a:xfrm>
        </p:spPr>
        <p:txBody>
          <a:bodyPr/>
          <a:lstStyle/>
          <a:p>
            <a:pPr eaLnBrk="1" hangingPunct="1"/>
            <a:r>
              <a:rPr lang="zh-CN" altLang="en-US" sz="3600" dirty="0" smtClean="0"/>
              <a:t>国民经济中的重要总量指标</a:t>
            </a:r>
            <a:r>
              <a:rPr lang="en-US" altLang="zh-CN" sz="3600" dirty="0" smtClean="0"/>
              <a:t>(</a:t>
            </a:r>
            <a:r>
              <a:rPr lang="zh-CN" altLang="en-US" sz="3600" dirty="0" smtClean="0"/>
              <a:t>续</a:t>
            </a:r>
            <a:r>
              <a:rPr lang="en-US" altLang="zh-CN" sz="3600" dirty="0" smtClean="0"/>
              <a:t>2)</a:t>
            </a:r>
          </a:p>
        </p:txBody>
      </p:sp>
      <p:sp>
        <p:nvSpPr>
          <p:cNvPr id="616451" name="Rectangle 3"/>
          <p:cNvSpPr>
            <a:spLocks noGrp="1" noChangeArrowheads="1"/>
          </p:cNvSpPr>
          <p:nvPr>
            <p:ph type="body" idx="1"/>
          </p:nvPr>
        </p:nvSpPr>
        <p:spPr>
          <a:xfrm>
            <a:off x="684213" y="1340768"/>
            <a:ext cx="7772400" cy="5183857"/>
          </a:xfrm>
        </p:spPr>
        <p:txBody>
          <a:bodyPr/>
          <a:lstStyle/>
          <a:p>
            <a:pPr eaLnBrk="1" hangingPunct="1">
              <a:lnSpc>
                <a:spcPct val="105000"/>
              </a:lnSpc>
              <a:spcBef>
                <a:spcPct val="25000"/>
              </a:spcBef>
            </a:pPr>
            <a:r>
              <a:rPr lang="zh-CN" altLang="en-US" sz="2800" dirty="0" smtClean="0">
                <a:solidFill>
                  <a:srgbClr val="FF3300"/>
                </a:solidFill>
              </a:rPr>
              <a:t>（</a:t>
            </a:r>
            <a:r>
              <a:rPr lang="en-US" altLang="zh-CN" sz="2800" dirty="0" smtClean="0">
                <a:solidFill>
                  <a:srgbClr val="FF3300"/>
                </a:solidFill>
              </a:rPr>
              <a:t>2</a:t>
            </a:r>
            <a:r>
              <a:rPr lang="zh-CN" altLang="en-US" sz="2800" dirty="0" smtClean="0">
                <a:solidFill>
                  <a:srgbClr val="FF3300"/>
                </a:solidFill>
              </a:rPr>
              <a:t>）国民总收入（</a:t>
            </a:r>
            <a:r>
              <a:rPr lang="en-US" altLang="zh-CN" sz="2800" i="1" dirty="0" smtClean="0"/>
              <a:t>GNI</a:t>
            </a:r>
            <a:r>
              <a:rPr lang="zh-CN" altLang="en-US" sz="2800" dirty="0" smtClean="0">
                <a:solidFill>
                  <a:srgbClr val="FF3300"/>
                </a:solidFill>
              </a:rPr>
              <a:t>）</a:t>
            </a:r>
          </a:p>
          <a:p>
            <a:pPr lvl="1" eaLnBrk="1" hangingPunct="1">
              <a:lnSpc>
                <a:spcPct val="105000"/>
              </a:lnSpc>
              <a:spcBef>
                <a:spcPct val="25000"/>
              </a:spcBef>
            </a:pPr>
            <a:r>
              <a:rPr lang="zh-CN" altLang="en-US" sz="2400" dirty="0" smtClean="0">
                <a:solidFill>
                  <a:schemeClr val="tx2"/>
                </a:solidFill>
                <a:latin typeface="Times New Roman" pitchFamily="18" charset="0"/>
              </a:rPr>
              <a:t>原名：</a:t>
            </a:r>
            <a:r>
              <a:rPr lang="zh-CN" altLang="en-US" sz="2400" dirty="0" smtClean="0">
                <a:solidFill>
                  <a:schemeClr val="tx2"/>
                </a:solidFill>
              </a:rPr>
              <a:t>国民生产总值（</a:t>
            </a:r>
            <a:r>
              <a:rPr lang="en-US" altLang="zh-CN" sz="2400" i="1" dirty="0" smtClean="0">
                <a:solidFill>
                  <a:schemeClr val="tx2"/>
                </a:solidFill>
              </a:rPr>
              <a:t>GNP</a:t>
            </a:r>
            <a:r>
              <a:rPr lang="en-US" altLang="zh-CN" sz="2400" dirty="0" smtClean="0">
                <a:solidFill>
                  <a:schemeClr val="tx2"/>
                </a:solidFill>
              </a:rPr>
              <a:t> </a:t>
            </a:r>
            <a:r>
              <a:rPr lang="zh-CN" altLang="en-US" sz="2400" dirty="0" smtClean="0">
                <a:solidFill>
                  <a:schemeClr val="tx2"/>
                </a:solidFill>
              </a:rPr>
              <a:t>）</a:t>
            </a:r>
          </a:p>
          <a:p>
            <a:pPr lvl="1" eaLnBrk="1" hangingPunct="1"/>
            <a:r>
              <a:rPr lang="zh-CN" altLang="en-US" sz="2400" dirty="0" smtClean="0"/>
              <a:t>一国常住单位因为投入生产要素（劳动力、土地、资本）而获得的初次分配总收入。</a:t>
            </a:r>
          </a:p>
          <a:p>
            <a:pPr lvl="1" eaLnBrk="1" hangingPunct="1"/>
            <a:r>
              <a:rPr lang="zh-CN" altLang="en-US" sz="2400" dirty="0" smtClean="0">
                <a:solidFill>
                  <a:schemeClr val="tx2"/>
                </a:solidFill>
              </a:rPr>
              <a:t>国民总收入＝国内生产总值＋来自国外的要素收入净额</a:t>
            </a:r>
          </a:p>
          <a:p>
            <a:pPr eaLnBrk="1" hangingPunct="1"/>
            <a:r>
              <a:rPr lang="zh-CN" altLang="en-US" sz="2800" dirty="0" smtClean="0">
                <a:solidFill>
                  <a:srgbClr val="FF3300"/>
                </a:solidFill>
              </a:rPr>
              <a:t>（</a:t>
            </a:r>
            <a:r>
              <a:rPr lang="en-US" altLang="zh-CN" sz="2800" dirty="0" smtClean="0">
                <a:solidFill>
                  <a:srgbClr val="FF3300"/>
                </a:solidFill>
              </a:rPr>
              <a:t>3</a:t>
            </a:r>
            <a:r>
              <a:rPr lang="zh-CN" altLang="en-US" sz="2800" dirty="0" smtClean="0">
                <a:solidFill>
                  <a:srgbClr val="FF3300"/>
                </a:solidFill>
              </a:rPr>
              <a:t>）国民可支配总收入。</a:t>
            </a:r>
          </a:p>
          <a:p>
            <a:pPr lvl="1" eaLnBrk="1" hangingPunct="1"/>
            <a:r>
              <a:rPr lang="zh-CN" altLang="en-US" sz="2400" dirty="0" smtClean="0"/>
              <a:t>在初次分配总收入的基础上，一国常住单位与非常住单位之间通过经常转移的形式对初次分配总收入进行再次分配而获得的总收入。</a:t>
            </a:r>
          </a:p>
          <a:p>
            <a:pPr lvl="1" eaLnBrk="1" hangingPunct="1"/>
            <a:r>
              <a:rPr lang="zh-CN" altLang="en-US" sz="2000" dirty="0" smtClean="0">
                <a:solidFill>
                  <a:schemeClr val="tx2"/>
                </a:solidFill>
              </a:rPr>
              <a:t>国民可支配总收入＝国民总收入＋来自国外的经常转移收入净额</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16</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16451">
                                            <p:txEl>
                                              <p:pRg st="1" end="1"/>
                                            </p:txEl>
                                          </p:spTgt>
                                        </p:tgtEl>
                                        <p:attrNameLst>
                                          <p:attrName>style.visibility</p:attrName>
                                        </p:attrNameLst>
                                      </p:cBhvr>
                                      <p:to>
                                        <p:strVal val="visible"/>
                                      </p:to>
                                    </p:set>
                                    <p:animEffect transition="in" filter="wipe(left)">
                                      <p:cBhvr>
                                        <p:cTn id="7" dur="500"/>
                                        <p:tgtEl>
                                          <p:spTgt spid="616451">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16451">
                                            <p:txEl>
                                              <p:pRg st="2" end="2"/>
                                            </p:txEl>
                                          </p:spTgt>
                                        </p:tgtEl>
                                        <p:attrNameLst>
                                          <p:attrName>style.visibility</p:attrName>
                                        </p:attrNameLst>
                                      </p:cBhvr>
                                      <p:to>
                                        <p:strVal val="visible"/>
                                      </p:to>
                                    </p:set>
                                    <p:animEffect transition="in" filter="wipe(left)">
                                      <p:cBhvr>
                                        <p:cTn id="10" dur="500"/>
                                        <p:tgtEl>
                                          <p:spTgt spid="616451">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16451">
                                            <p:txEl>
                                              <p:pRg st="3" end="3"/>
                                            </p:txEl>
                                          </p:spTgt>
                                        </p:tgtEl>
                                        <p:attrNameLst>
                                          <p:attrName>style.visibility</p:attrName>
                                        </p:attrNameLst>
                                      </p:cBhvr>
                                      <p:to>
                                        <p:strVal val="visible"/>
                                      </p:to>
                                    </p:set>
                                    <p:animEffect transition="in" filter="wipe(left)">
                                      <p:cBhvr>
                                        <p:cTn id="13" dur="500"/>
                                        <p:tgtEl>
                                          <p:spTgt spid="61645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16451">
                                            <p:txEl>
                                              <p:pRg st="4" end="4"/>
                                            </p:txEl>
                                          </p:spTgt>
                                        </p:tgtEl>
                                        <p:attrNameLst>
                                          <p:attrName>style.visibility</p:attrName>
                                        </p:attrNameLst>
                                      </p:cBhvr>
                                      <p:to>
                                        <p:strVal val="visible"/>
                                      </p:to>
                                    </p:set>
                                    <p:animEffect transition="in" filter="wipe(left)">
                                      <p:cBhvr>
                                        <p:cTn id="18" dur="500"/>
                                        <p:tgtEl>
                                          <p:spTgt spid="616451">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16451">
                                            <p:txEl>
                                              <p:pRg st="5" end="5"/>
                                            </p:txEl>
                                          </p:spTgt>
                                        </p:tgtEl>
                                        <p:attrNameLst>
                                          <p:attrName>style.visibility</p:attrName>
                                        </p:attrNameLst>
                                      </p:cBhvr>
                                      <p:to>
                                        <p:strVal val="visible"/>
                                      </p:to>
                                    </p:set>
                                    <p:animEffect transition="in" filter="wipe(left)">
                                      <p:cBhvr>
                                        <p:cTn id="21" dur="500"/>
                                        <p:tgtEl>
                                          <p:spTgt spid="616451">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16451">
                                            <p:txEl>
                                              <p:pRg st="6" end="6"/>
                                            </p:txEl>
                                          </p:spTgt>
                                        </p:tgtEl>
                                        <p:attrNameLst>
                                          <p:attrName>style.visibility</p:attrName>
                                        </p:attrNameLst>
                                      </p:cBhvr>
                                      <p:to>
                                        <p:strVal val="visible"/>
                                      </p:to>
                                    </p:set>
                                    <p:animEffect transition="in" filter="wipe(left)">
                                      <p:cBhvr>
                                        <p:cTn id="24" dur="500"/>
                                        <p:tgtEl>
                                          <p:spTgt spid="6164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4" name="Text Box 1028"/>
          <p:cNvSpPr txBox="1">
            <a:spLocks noChangeArrowheads="1"/>
          </p:cNvSpPr>
          <p:nvPr/>
        </p:nvSpPr>
        <p:spPr bwMode="auto">
          <a:xfrm>
            <a:off x="1066800" y="1976438"/>
            <a:ext cx="3733800" cy="523875"/>
          </a:xfrm>
          <a:prstGeom prst="rect">
            <a:avLst/>
          </a:prstGeom>
          <a:solidFill>
            <a:schemeClr val="tx2">
              <a:lumMod val="40000"/>
              <a:lumOff val="60000"/>
            </a:schemeClr>
          </a:solidFill>
          <a:ln w="9525">
            <a:solidFill>
              <a:srgbClr val="FF00FF"/>
            </a:solidFill>
            <a:miter lim="800000"/>
            <a:headEnd/>
            <a:tailEnd/>
          </a:ln>
          <a:effectLst/>
        </p:spPr>
        <p:txBody>
          <a:bodyPr>
            <a:spAutoFit/>
          </a:bodyPr>
          <a:lstStyle/>
          <a:p>
            <a:pPr algn="ctr">
              <a:spcBef>
                <a:spcPct val="50000"/>
              </a:spcBef>
              <a:defRPr/>
            </a:pPr>
            <a:r>
              <a:rPr lang="en-US" altLang="zh-CN" sz="2800" b="1" dirty="0" smtClean="0">
                <a:solidFill>
                  <a:srgbClr val="000000"/>
                </a:solidFill>
                <a:latin typeface="宋体" pitchFamily="2" charset="-122"/>
                <a:ea typeface="宋体" pitchFamily="2" charset="-122"/>
              </a:rPr>
              <a:t>GDP </a:t>
            </a:r>
            <a:r>
              <a:rPr lang="zh-CN" altLang="en-US" sz="2800" b="1" dirty="0" smtClean="0">
                <a:solidFill>
                  <a:srgbClr val="000000"/>
                </a:solidFill>
                <a:latin typeface="+mj-lt"/>
                <a:ea typeface="+mn-ea"/>
              </a:rPr>
              <a:t>国内生产总值</a:t>
            </a:r>
            <a:endParaRPr lang="zh-CN" altLang="en-US" sz="2800" b="1" dirty="0">
              <a:solidFill>
                <a:srgbClr val="000000"/>
              </a:solidFill>
              <a:latin typeface="+mj-lt"/>
              <a:ea typeface="+mn-ea"/>
            </a:endParaRPr>
          </a:p>
        </p:txBody>
      </p:sp>
      <p:sp>
        <p:nvSpPr>
          <p:cNvPr id="174085" name="Text Box 1029"/>
          <p:cNvSpPr txBox="1">
            <a:spLocks noChangeArrowheads="1"/>
          </p:cNvSpPr>
          <p:nvPr/>
        </p:nvSpPr>
        <p:spPr bwMode="auto">
          <a:xfrm>
            <a:off x="2057400" y="2462212"/>
            <a:ext cx="2730624" cy="462732"/>
          </a:xfrm>
          <a:prstGeom prst="rect">
            <a:avLst/>
          </a:prstGeom>
          <a:solidFill>
            <a:srgbClr val="75A8DB"/>
          </a:solidFill>
          <a:ln w="9525">
            <a:solidFill>
              <a:srgbClr val="FF00FF"/>
            </a:solidFill>
            <a:miter lim="800000"/>
            <a:headEnd/>
            <a:tailEnd/>
          </a:ln>
          <a:effectLst/>
        </p:spPr>
        <p:txBody>
          <a:bodyPr wrap="square" lIns="0" tIns="0" rIns="0" bIns="0">
            <a:noAutofit/>
          </a:bodyPr>
          <a:lstStyle/>
          <a:p>
            <a:pPr algn="ctr">
              <a:spcBef>
                <a:spcPct val="50000"/>
              </a:spcBef>
              <a:defRPr/>
            </a:pPr>
            <a:r>
              <a:rPr lang="en-US" altLang="zh-CN" b="1" dirty="0" smtClean="0">
                <a:solidFill>
                  <a:schemeClr val="tx2"/>
                </a:solidFill>
                <a:latin typeface="+mn-ea"/>
                <a:ea typeface="+mn-ea"/>
              </a:rPr>
              <a:t>NDP </a:t>
            </a:r>
            <a:r>
              <a:rPr lang="zh-CN" altLang="en-US" b="1" dirty="0" smtClean="0">
                <a:solidFill>
                  <a:schemeClr val="tx2"/>
                </a:solidFill>
                <a:latin typeface="+mn-ea"/>
                <a:ea typeface="+mn-ea"/>
              </a:rPr>
              <a:t>国内</a:t>
            </a:r>
            <a:r>
              <a:rPr lang="zh-CN" altLang="en-US" b="1" dirty="0">
                <a:solidFill>
                  <a:schemeClr val="tx2"/>
                </a:solidFill>
                <a:latin typeface="+mn-ea"/>
                <a:ea typeface="+mn-ea"/>
              </a:rPr>
              <a:t>生产净值</a:t>
            </a:r>
          </a:p>
        </p:txBody>
      </p:sp>
      <p:sp>
        <p:nvSpPr>
          <p:cNvPr id="174086" name="Text Box 1030"/>
          <p:cNvSpPr txBox="1">
            <a:spLocks noChangeArrowheads="1"/>
          </p:cNvSpPr>
          <p:nvPr/>
        </p:nvSpPr>
        <p:spPr bwMode="auto">
          <a:xfrm>
            <a:off x="1066800" y="2462213"/>
            <a:ext cx="990600" cy="466725"/>
          </a:xfrm>
          <a:prstGeom prst="rect">
            <a:avLst/>
          </a:prstGeom>
          <a:solidFill>
            <a:srgbClr val="D1F0CA"/>
          </a:solidFill>
          <a:ln w="9525">
            <a:solidFill>
              <a:srgbClr val="006600"/>
            </a:solidFill>
            <a:miter lim="800000"/>
            <a:headEnd/>
            <a:tailEnd/>
          </a:ln>
          <a:effectLst/>
        </p:spPr>
        <p:txBody>
          <a:bodyPr>
            <a:spAutoFit/>
          </a:bodyPr>
          <a:lstStyle/>
          <a:p>
            <a:pPr>
              <a:spcBef>
                <a:spcPct val="50000"/>
              </a:spcBef>
              <a:defRPr/>
            </a:pPr>
            <a:r>
              <a:rPr lang="zh-CN" altLang="en-US" b="1" dirty="0">
                <a:latin typeface="+mn-ea"/>
                <a:ea typeface="+mn-ea"/>
              </a:rPr>
              <a:t>折旧</a:t>
            </a:r>
          </a:p>
        </p:txBody>
      </p:sp>
      <p:sp>
        <p:nvSpPr>
          <p:cNvPr id="174087" name="Text Box 1031"/>
          <p:cNvSpPr txBox="1">
            <a:spLocks noChangeArrowheads="1"/>
          </p:cNvSpPr>
          <p:nvPr/>
        </p:nvSpPr>
        <p:spPr bwMode="auto">
          <a:xfrm>
            <a:off x="1066800" y="2905125"/>
            <a:ext cx="5638800" cy="523875"/>
          </a:xfrm>
          <a:prstGeom prst="rect">
            <a:avLst/>
          </a:prstGeom>
          <a:solidFill>
            <a:srgbClr val="D480CE"/>
          </a:solidFill>
          <a:ln w="9525">
            <a:solidFill>
              <a:srgbClr val="FF00FF"/>
            </a:solidFill>
            <a:miter lim="800000"/>
            <a:headEnd/>
            <a:tailEnd/>
          </a:ln>
          <a:effectLst/>
        </p:spPr>
        <p:txBody>
          <a:bodyPr>
            <a:spAutoFit/>
          </a:bodyPr>
          <a:lstStyle/>
          <a:p>
            <a:pPr algn="ctr">
              <a:spcBef>
                <a:spcPct val="50000"/>
              </a:spcBef>
              <a:defRPr/>
            </a:pPr>
            <a:r>
              <a:rPr lang="en-US" altLang="zh-CN" sz="2800" b="1" dirty="0">
                <a:solidFill>
                  <a:srgbClr val="000000"/>
                </a:solidFill>
                <a:latin typeface="+mn-ea"/>
                <a:ea typeface="+mn-ea"/>
              </a:rPr>
              <a:t>GNI</a:t>
            </a:r>
            <a:r>
              <a:rPr lang="zh-CN" altLang="en-US" sz="2800" b="1" dirty="0">
                <a:solidFill>
                  <a:srgbClr val="000000"/>
                </a:solidFill>
                <a:latin typeface="+mn-ea"/>
                <a:ea typeface="+mn-ea"/>
              </a:rPr>
              <a:t>国民总收入</a:t>
            </a:r>
          </a:p>
        </p:txBody>
      </p:sp>
      <p:sp>
        <p:nvSpPr>
          <p:cNvPr id="174088" name="Text Box 1032"/>
          <p:cNvSpPr txBox="1">
            <a:spLocks noChangeArrowheads="1"/>
          </p:cNvSpPr>
          <p:nvPr/>
        </p:nvSpPr>
        <p:spPr bwMode="auto">
          <a:xfrm>
            <a:off x="4800600" y="2494057"/>
            <a:ext cx="1905000" cy="430887"/>
          </a:xfrm>
          <a:prstGeom prst="rect">
            <a:avLst/>
          </a:prstGeom>
          <a:solidFill>
            <a:srgbClr val="CEEB9B"/>
          </a:solidFill>
          <a:ln w="9525">
            <a:solidFill>
              <a:srgbClr val="006600"/>
            </a:solidFill>
            <a:miter lim="800000"/>
            <a:headEnd/>
            <a:tailEnd/>
          </a:ln>
          <a:effectLst/>
        </p:spPr>
        <p:txBody>
          <a:bodyPr>
            <a:spAutoFit/>
          </a:bodyPr>
          <a:lstStyle/>
          <a:p>
            <a:pPr>
              <a:spcBef>
                <a:spcPct val="50000"/>
              </a:spcBef>
              <a:defRPr/>
            </a:pPr>
            <a:r>
              <a:rPr lang="zh-CN" altLang="en-US" sz="2200" b="1" dirty="0" smtClean="0">
                <a:latin typeface="+mn-ea"/>
                <a:ea typeface="+mn-ea"/>
              </a:rPr>
              <a:t>要素</a:t>
            </a:r>
            <a:r>
              <a:rPr lang="zh-CN" altLang="en-US" sz="2200" b="1" dirty="0">
                <a:latin typeface="+mn-ea"/>
                <a:ea typeface="+mn-ea"/>
              </a:rPr>
              <a:t>收入净额</a:t>
            </a:r>
          </a:p>
        </p:txBody>
      </p:sp>
      <p:sp>
        <p:nvSpPr>
          <p:cNvPr id="174089" name="Text Box 1033"/>
          <p:cNvSpPr txBox="1">
            <a:spLocks noChangeArrowheads="1"/>
          </p:cNvSpPr>
          <p:nvPr/>
        </p:nvSpPr>
        <p:spPr bwMode="auto">
          <a:xfrm>
            <a:off x="2057400" y="3390900"/>
            <a:ext cx="4648200" cy="466725"/>
          </a:xfrm>
          <a:prstGeom prst="rect">
            <a:avLst/>
          </a:prstGeom>
          <a:solidFill>
            <a:srgbClr val="A3C5E7"/>
          </a:solidFill>
          <a:ln w="9525">
            <a:solidFill>
              <a:srgbClr val="FF00FF"/>
            </a:solidFill>
            <a:miter lim="800000"/>
            <a:headEnd/>
            <a:tailEnd/>
          </a:ln>
          <a:effectLst/>
        </p:spPr>
        <p:txBody>
          <a:bodyPr>
            <a:spAutoFit/>
          </a:bodyPr>
          <a:lstStyle/>
          <a:p>
            <a:pPr>
              <a:spcBef>
                <a:spcPct val="50000"/>
              </a:spcBef>
              <a:defRPr/>
            </a:pPr>
            <a:r>
              <a:rPr lang="en-US" altLang="zh-CN" b="1" dirty="0">
                <a:latin typeface="+mn-ea"/>
                <a:ea typeface="+mn-ea"/>
              </a:rPr>
              <a:t>           </a:t>
            </a:r>
            <a:r>
              <a:rPr lang="en-US" altLang="zh-CN" b="1" dirty="0">
                <a:solidFill>
                  <a:schemeClr val="tx2"/>
                </a:solidFill>
                <a:latin typeface="+mn-ea"/>
                <a:ea typeface="+mn-ea"/>
              </a:rPr>
              <a:t>NNI</a:t>
            </a:r>
            <a:r>
              <a:rPr lang="en-US" altLang="zh-CN" b="1" dirty="0">
                <a:latin typeface="+mn-ea"/>
                <a:ea typeface="+mn-ea"/>
              </a:rPr>
              <a:t> </a:t>
            </a:r>
            <a:r>
              <a:rPr lang="zh-CN" altLang="en-US" b="1" dirty="0" smtClean="0">
                <a:solidFill>
                  <a:schemeClr val="tx2"/>
                </a:solidFill>
                <a:latin typeface="+mn-ea"/>
                <a:ea typeface="+mn-ea"/>
              </a:rPr>
              <a:t>国民</a:t>
            </a:r>
            <a:r>
              <a:rPr lang="zh-CN" altLang="en-US" b="1" dirty="0">
                <a:solidFill>
                  <a:schemeClr val="tx2"/>
                </a:solidFill>
                <a:latin typeface="+mn-ea"/>
                <a:ea typeface="+mn-ea"/>
              </a:rPr>
              <a:t>净收入</a:t>
            </a:r>
          </a:p>
        </p:txBody>
      </p:sp>
      <p:sp>
        <p:nvSpPr>
          <p:cNvPr id="174090" name="Text Box 1034"/>
          <p:cNvSpPr txBox="1">
            <a:spLocks noChangeArrowheads="1"/>
          </p:cNvSpPr>
          <p:nvPr/>
        </p:nvSpPr>
        <p:spPr bwMode="auto">
          <a:xfrm>
            <a:off x="1066800" y="3857625"/>
            <a:ext cx="7391400" cy="523875"/>
          </a:xfrm>
          <a:prstGeom prst="rect">
            <a:avLst/>
          </a:prstGeom>
          <a:solidFill>
            <a:srgbClr val="E7B7E4"/>
          </a:solidFill>
          <a:ln w="9525">
            <a:solidFill>
              <a:srgbClr val="FF00FF"/>
            </a:solidFill>
            <a:miter lim="800000"/>
            <a:headEnd/>
            <a:tailEnd/>
          </a:ln>
          <a:effectLst/>
        </p:spPr>
        <p:txBody>
          <a:bodyPr>
            <a:spAutoFit/>
          </a:bodyPr>
          <a:lstStyle/>
          <a:p>
            <a:pPr algn="ctr">
              <a:spcBef>
                <a:spcPct val="50000"/>
              </a:spcBef>
              <a:defRPr/>
            </a:pPr>
            <a:r>
              <a:rPr lang="en-US" altLang="zh-CN" sz="2800" b="1" dirty="0">
                <a:solidFill>
                  <a:srgbClr val="000000"/>
                </a:solidFill>
                <a:latin typeface="+mn-ea"/>
                <a:ea typeface="+mn-ea"/>
              </a:rPr>
              <a:t>GDI </a:t>
            </a:r>
            <a:r>
              <a:rPr lang="zh-CN" altLang="en-US" sz="2800" b="1" dirty="0">
                <a:solidFill>
                  <a:srgbClr val="000000"/>
                </a:solidFill>
                <a:latin typeface="+mn-ea"/>
                <a:ea typeface="+mn-ea"/>
              </a:rPr>
              <a:t>国民可支配总收入</a:t>
            </a:r>
          </a:p>
        </p:txBody>
      </p:sp>
      <p:sp>
        <p:nvSpPr>
          <p:cNvPr id="174091" name="Text Box 1035"/>
          <p:cNvSpPr txBox="1">
            <a:spLocks noChangeArrowheads="1"/>
          </p:cNvSpPr>
          <p:nvPr/>
        </p:nvSpPr>
        <p:spPr bwMode="auto">
          <a:xfrm>
            <a:off x="6660232" y="3427413"/>
            <a:ext cx="1840831" cy="433635"/>
          </a:xfrm>
          <a:prstGeom prst="rect">
            <a:avLst/>
          </a:prstGeom>
          <a:solidFill>
            <a:srgbClr val="CEEB9B"/>
          </a:solidFill>
          <a:ln w="9525">
            <a:solidFill>
              <a:srgbClr val="006600"/>
            </a:solidFill>
            <a:miter lim="800000"/>
            <a:headEnd/>
            <a:tailEnd/>
          </a:ln>
          <a:effectLst/>
        </p:spPr>
        <p:txBody>
          <a:bodyPr wrap="square" lIns="0" tIns="0" rIns="0" bIns="0" anchor="ctr" anchorCtr="0">
            <a:normAutofit fontScale="92500"/>
          </a:bodyPr>
          <a:lstStyle/>
          <a:p>
            <a:pPr algn="ctr">
              <a:spcBef>
                <a:spcPct val="50000"/>
              </a:spcBef>
              <a:defRPr/>
            </a:pPr>
            <a:r>
              <a:rPr lang="zh-CN" altLang="en-US" sz="1800" b="1" dirty="0" smtClean="0">
                <a:latin typeface="+mn-ea"/>
                <a:ea typeface="+mn-ea"/>
              </a:rPr>
              <a:t>经常转移</a:t>
            </a:r>
            <a:r>
              <a:rPr lang="zh-CN" altLang="en-US" sz="1800" b="1" dirty="0">
                <a:latin typeface="+mn-ea"/>
                <a:ea typeface="+mn-ea"/>
              </a:rPr>
              <a:t>收入净额</a:t>
            </a:r>
          </a:p>
        </p:txBody>
      </p:sp>
      <p:sp>
        <p:nvSpPr>
          <p:cNvPr id="174094" name="Text Box 1038"/>
          <p:cNvSpPr txBox="1">
            <a:spLocks noChangeArrowheads="1"/>
          </p:cNvSpPr>
          <p:nvPr/>
        </p:nvSpPr>
        <p:spPr bwMode="auto">
          <a:xfrm>
            <a:off x="2057400" y="4395788"/>
            <a:ext cx="6400800" cy="461962"/>
          </a:xfrm>
          <a:prstGeom prst="rect">
            <a:avLst/>
          </a:prstGeom>
          <a:solidFill>
            <a:srgbClr val="B9D3ED"/>
          </a:solidFill>
          <a:ln w="9525">
            <a:solidFill>
              <a:srgbClr val="FF00FF"/>
            </a:solidFill>
            <a:miter lim="800000"/>
            <a:headEnd/>
            <a:tailEnd/>
          </a:ln>
          <a:effectLst/>
        </p:spPr>
        <p:txBody>
          <a:bodyPr>
            <a:spAutoFit/>
          </a:bodyPr>
          <a:lstStyle/>
          <a:p>
            <a:pPr algn="ctr">
              <a:spcBef>
                <a:spcPct val="50000"/>
              </a:spcBef>
              <a:defRPr/>
            </a:pPr>
            <a:r>
              <a:rPr lang="en-US" altLang="zh-CN" b="1" dirty="0">
                <a:solidFill>
                  <a:schemeClr val="tx2"/>
                </a:solidFill>
                <a:latin typeface="+mn-ea"/>
                <a:ea typeface="+mn-ea"/>
              </a:rPr>
              <a:t>NDI </a:t>
            </a:r>
            <a:r>
              <a:rPr lang="zh-CN" altLang="en-US" b="1" dirty="0">
                <a:solidFill>
                  <a:schemeClr val="tx2"/>
                </a:solidFill>
                <a:latin typeface="+mn-ea"/>
                <a:ea typeface="+mn-ea"/>
              </a:rPr>
              <a:t>国民可支配净收入</a:t>
            </a:r>
          </a:p>
        </p:txBody>
      </p:sp>
      <p:sp>
        <p:nvSpPr>
          <p:cNvPr id="174095" name="Text Box 1039"/>
          <p:cNvSpPr txBox="1">
            <a:spLocks noChangeArrowheads="1"/>
          </p:cNvSpPr>
          <p:nvPr/>
        </p:nvSpPr>
        <p:spPr bwMode="auto">
          <a:xfrm>
            <a:off x="827584" y="5445224"/>
            <a:ext cx="7488832" cy="1015663"/>
          </a:xfrm>
          <a:prstGeom prst="rect">
            <a:avLst/>
          </a:prstGeom>
          <a:noFill/>
          <a:ln w="9525">
            <a:noFill/>
            <a:miter lim="800000"/>
            <a:headEnd/>
            <a:tailEnd/>
          </a:ln>
        </p:spPr>
        <p:txBody>
          <a:bodyPr wrap="square">
            <a:spAutoFit/>
          </a:bodyPr>
          <a:lstStyle/>
          <a:p>
            <a:pPr>
              <a:spcBef>
                <a:spcPct val="50000"/>
              </a:spcBef>
              <a:defRPr/>
            </a:pPr>
            <a:r>
              <a:rPr lang="zh-CN" altLang="en-US" b="1" dirty="0">
                <a:solidFill>
                  <a:srgbClr val="000000"/>
                </a:solidFill>
              </a:rPr>
              <a:t>注：</a:t>
            </a:r>
            <a:r>
              <a:rPr lang="zh-CN" altLang="en-US" b="1" dirty="0"/>
              <a:t>国民总收入</a:t>
            </a:r>
            <a:r>
              <a:rPr lang="en-US" altLang="zh-CN" b="1" dirty="0">
                <a:solidFill>
                  <a:srgbClr val="000000"/>
                </a:solidFill>
                <a:latin typeface="+mn-ea"/>
                <a:ea typeface="+mn-ea"/>
              </a:rPr>
              <a:t>GNI</a:t>
            </a:r>
            <a:r>
              <a:rPr lang="en-US" altLang="zh-CN" b="1" dirty="0"/>
              <a:t>=</a:t>
            </a:r>
            <a:r>
              <a:rPr lang="zh-CN" altLang="en-US" b="1" dirty="0"/>
              <a:t>以前的</a:t>
            </a:r>
            <a:r>
              <a:rPr lang="zh-CN" altLang="en-US" b="1" dirty="0" smtClean="0"/>
              <a:t>“国民生产总值</a:t>
            </a:r>
            <a:r>
              <a:rPr lang="zh-CN" altLang="en-US" b="1" dirty="0" smtClean="0">
                <a:latin typeface="+mn-ea"/>
                <a:ea typeface="+mn-ea"/>
              </a:rPr>
              <a:t>（</a:t>
            </a:r>
            <a:r>
              <a:rPr lang="en-US" altLang="zh-CN" b="1" dirty="0" smtClean="0"/>
              <a:t>GNP</a:t>
            </a:r>
            <a:r>
              <a:rPr lang="zh-CN" altLang="en-US" b="1" dirty="0" smtClean="0">
                <a:latin typeface="+mn-ea"/>
                <a:ea typeface="+mn-ea"/>
              </a:rPr>
              <a:t>）</a:t>
            </a:r>
            <a:r>
              <a:rPr lang="zh-CN" altLang="en-US" b="1" dirty="0" smtClean="0"/>
              <a:t>”</a:t>
            </a:r>
            <a:endParaRPr lang="zh-CN" altLang="en-US" b="1" dirty="0"/>
          </a:p>
          <a:p>
            <a:pPr>
              <a:spcBef>
                <a:spcPct val="50000"/>
              </a:spcBef>
              <a:defRPr/>
            </a:pPr>
            <a:r>
              <a:rPr lang="en-US" altLang="zh-CN" dirty="0"/>
              <a:t>Net</a:t>
            </a:r>
            <a:r>
              <a:rPr lang="zh-CN" altLang="en-US" dirty="0"/>
              <a:t>，</a:t>
            </a:r>
            <a:r>
              <a:rPr lang="en-US" altLang="zh-CN" dirty="0"/>
              <a:t>National</a:t>
            </a:r>
            <a:r>
              <a:rPr lang="zh-CN" altLang="en-US" dirty="0"/>
              <a:t>，</a:t>
            </a:r>
            <a:r>
              <a:rPr lang="en-US" altLang="zh-CN" dirty="0"/>
              <a:t>Disposable</a:t>
            </a:r>
          </a:p>
        </p:txBody>
      </p:sp>
      <p:sp>
        <p:nvSpPr>
          <p:cNvPr id="14" name="标题 13"/>
          <p:cNvSpPr>
            <a:spLocks noGrp="1"/>
          </p:cNvSpPr>
          <p:nvPr>
            <p:ph type="title"/>
          </p:nvPr>
        </p:nvSpPr>
        <p:spPr>
          <a:xfrm>
            <a:off x="755576" y="836712"/>
            <a:ext cx="7772400" cy="857250"/>
          </a:xfrm>
        </p:spPr>
        <p:txBody>
          <a:bodyPr/>
          <a:lstStyle/>
          <a:p>
            <a:pPr>
              <a:defRPr/>
            </a:pPr>
            <a:r>
              <a:rPr lang="zh-CN" sz="4000" kern="1200" dirty="0" smtClean="0">
                <a:solidFill>
                  <a:srgbClr val="1313FF"/>
                </a:solidFill>
                <a:latin typeface="宋体"/>
                <a:cs typeface="+mn-cs"/>
              </a:rPr>
              <a:t>国内生产总值与有关指标的关系</a:t>
            </a:r>
            <a:endParaRPr lang="zh-CN" altLang="en-US" dirty="0">
              <a:solidFill>
                <a:srgbClr val="1313FF"/>
              </a:solidFill>
            </a:endParaRPr>
          </a:p>
        </p:txBody>
      </p:sp>
      <p:sp>
        <p:nvSpPr>
          <p:cNvPr id="16" name="矩形 15"/>
          <p:cNvSpPr/>
          <p:nvPr/>
        </p:nvSpPr>
        <p:spPr>
          <a:xfrm>
            <a:off x="6516216" y="3131676"/>
            <a:ext cx="2045753" cy="369332"/>
          </a:xfrm>
          <a:prstGeom prst="rect">
            <a:avLst/>
          </a:prstGeom>
        </p:spPr>
        <p:txBody>
          <a:bodyPr wrap="none">
            <a:spAutoFit/>
          </a:bodyPr>
          <a:lstStyle/>
          <a:p>
            <a:pPr algn="ctr"/>
            <a:r>
              <a:rPr lang="zh-CN" altLang="en-US" sz="1800" b="1" dirty="0" smtClean="0">
                <a:solidFill>
                  <a:srgbClr val="006600"/>
                </a:solidFill>
                <a:latin typeface="宋体"/>
                <a:ea typeface="宋体"/>
              </a:rPr>
              <a:t>（</a:t>
            </a:r>
            <a:r>
              <a:rPr lang="en-US" altLang="zh-CN" sz="1800" b="1" dirty="0" smtClean="0">
                <a:solidFill>
                  <a:srgbClr val="006600"/>
                </a:solidFill>
                <a:latin typeface="宋体"/>
                <a:ea typeface="宋体"/>
              </a:rPr>
              <a:t>±</a:t>
            </a:r>
            <a:r>
              <a:rPr lang="zh-CN" altLang="en-US" sz="1800" b="1" dirty="0" smtClean="0">
                <a:solidFill>
                  <a:srgbClr val="006600"/>
                </a:solidFill>
                <a:latin typeface="宋体"/>
                <a:ea typeface="宋体"/>
              </a:rPr>
              <a:t>）来自国外的</a:t>
            </a:r>
            <a:endParaRPr lang="zh-CN" altLang="en-US" sz="3200" dirty="0">
              <a:solidFill>
                <a:srgbClr val="006600"/>
              </a:solidFill>
            </a:endParaRPr>
          </a:p>
        </p:txBody>
      </p:sp>
      <p:sp>
        <p:nvSpPr>
          <p:cNvPr id="18" name="矩形 17"/>
          <p:cNvSpPr/>
          <p:nvPr/>
        </p:nvSpPr>
        <p:spPr>
          <a:xfrm>
            <a:off x="4644008" y="2195572"/>
            <a:ext cx="2045753" cy="369332"/>
          </a:xfrm>
          <a:prstGeom prst="rect">
            <a:avLst/>
          </a:prstGeom>
        </p:spPr>
        <p:txBody>
          <a:bodyPr wrap="none">
            <a:spAutoFit/>
          </a:bodyPr>
          <a:lstStyle/>
          <a:p>
            <a:pPr algn="ctr"/>
            <a:r>
              <a:rPr lang="zh-CN" altLang="en-US" sz="1800" b="1" dirty="0" smtClean="0">
                <a:solidFill>
                  <a:srgbClr val="006600"/>
                </a:solidFill>
                <a:latin typeface="宋体"/>
                <a:ea typeface="宋体"/>
              </a:rPr>
              <a:t>（</a:t>
            </a:r>
            <a:r>
              <a:rPr lang="en-US" altLang="zh-CN" sz="1800" b="1" dirty="0" smtClean="0">
                <a:solidFill>
                  <a:srgbClr val="006600"/>
                </a:solidFill>
                <a:latin typeface="宋体"/>
                <a:ea typeface="宋体"/>
              </a:rPr>
              <a:t>±</a:t>
            </a:r>
            <a:r>
              <a:rPr lang="zh-CN" altLang="en-US" sz="1800" b="1" dirty="0" smtClean="0">
                <a:solidFill>
                  <a:srgbClr val="006600"/>
                </a:solidFill>
                <a:latin typeface="宋体"/>
                <a:ea typeface="宋体"/>
              </a:rPr>
              <a:t>）来自国外的</a:t>
            </a:r>
            <a:endParaRPr lang="zh-CN" altLang="en-US" sz="3200" dirty="0">
              <a:solidFill>
                <a:srgbClr val="006600"/>
              </a:solidFill>
            </a:endParaRPr>
          </a:p>
        </p:txBody>
      </p:sp>
      <p:sp>
        <p:nvSpPr>
          <p:cNvPr id="17" name="灯片编号占位符 16"/>
          <p:cNvSpPr>
            <a:spLocks noGrp="1"/>
          </p:cNvSpPr>
          <p:nvPr>
            <p:ph type="sldNum" sz="quarter" idx="12"/>
          </p:nvPr>
        </p:nvSpPr>
        <p:spPr/>
        <p:txBody>
          <a:bodyPr/>
          <a:lstStyle/>
          <a:p>
            <a:pPr>
              <a:defRPr/>
            </a:pPr>
            <a:fld id="{62FC49CA-8014-4DA2-ABEB-AF96863EC77D}" type="slidenum">
              <a:rPr lang="en-US" altLang="zh-CN" smtClean="0"/>
              <a:pPr>
                <a:defRPr/>
              </a:pPr>
              <a:t>17</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086"/>
                                        </p:tgtEl>
                                        <p:attrNameLst>
                                          <p:attrName>style.visibility</p:attrName>
                                        </p:attrNameLst>
                                      </p:cBhvr>
                                      <p:to>
                                        <p:strVal val="visible"/>
                                      </p:to>
                                    </p:set>
                                    <p:anim calcmode="lin" valueType="num">
                                      <p:cBhvr additive="base">
                                        <p:cTn id="7" dur="500" fill="hold"/>
                                        <p:tgtEl>
                                          <p:spTgt spid="174086"/>
                                        </p:tgtEl>
                                        <p:attrNameLst>
                                          <p:attrName>ppt_x</p:attrName>
                                        </p:attrNameLst>
                                      </p:cBhvr>
                                      <p:tavLst>
                                        <p:tav tm="0">
                                          <p:val>
                                            <p:strVal val="0-#ppt_w/2"/>
                                          </p:val>
                                        </p:tav>
                                        <p:tav tm="100000">
                                          <p:val>
                                            <p:strVal val="#ppt_x"/>
                                          </p:val>
                                        </p:tav>
                                      </p:tavLst>
                                    </p:anim>
                                    <p:anim calcmode="lin" valueType="num">
                                      <p:cBhvr additive="base">
                                        <p:cTn id="8" dur="500" fill="hold"/>
                                        <p:tgtEl>
                                          <p:spTgt spid="1740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085"/>
                                        </p:tgtEl>
                                        <p:attrNameLst>
                                          <p:attrName>style.visibility</p:attrName>
                                        </p:attrNameLst>
                                      </p:cBhvr>
                                      <p:to>
                                        <p:strVal val="visible"/>
                                      </p:to>
                                    </p:set>
                                    <p:anim calcmode="lin" valueType="num">
                                      <p:cBhvr additive="base">
                                        <p:cTn id="13" dur="500" fill="hold"/>
                                        <p:tgtEl>
                                          <p:spTgt spid="174085"/>
                                        </p:tgtEl>
                                        <p:attrNameLst>
                                          <p:attrName>ppt_x</p:attrName>
                                        </p:attrNameLst>
                                      </p:cBhvr>
                                      <p:tavLst>
                                        <p:tav tm="0">
                                          <p:val>
                                            <p:strVal val="0-#ppt_w/2"/>
                                          </p:val>
                                        </p:tav>
                                        <p:tav tm="100000">
                                          <p:val>
                                            <p:strVal val="#ppt_x"/>
                                          </p:val>
                                        </p:tav>
                                      </p:tavLst>
                                    </p:anim>
                                    <p:anim calcmode="lin" valueType="num">
                                      <p:cBhvr additive="base">
                                        <p:cTn id="14" dur="500" fill="hold"/>
                                        <p:tgtEl>
                                          <p:spTgt spid="1740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088"/>
                                        </p:tgtEl>
                                        <p:attrNameLst>
                                          <p:attrName>style.visibility</p:attrName>
                                        </p:attrNameLst>
                                      </p:cBhvr>
                                      <p:to>
                                        <p:strVal val="visible"/>
                                      </p:to>
                                    </p:set>
                                    <p:anim calcmode="lin" valueType="num">
                                      <p:cBhvr additive="base">
                                        <p:cTn id="19" dur="500" fill="hold"/>
                                        <p:tgtEl>
                                          <p:spTgt spid="174088"/>
                                        </p:tgtEl>
                                        <p:attrNameLst>
                                          <p:attrName>ppt_x</p:attrName>
                                        </p:attrNameLst>
                                      </p:cBhvr>
                                      <p:tavLst>
                                        <p:tav tm="0">
                                          <p:val>
                                            <p:strVal val="0-#ppt_w/2"/>
                                          </p:val>
                                        </p:tav>
                                        <p:tav tm="100000">
                                          <p:val>
                                            <p:strVal val="#ppt_x"/>
                                          </p:val>
                                        </p:tav>
                                      </p:tavLst>
                                    </p:anim>
                                    <p:anim calcmode="lin" valueType="num">
                                      <p:cBhvr additive="base">
                                        <p:cTn id="20" dur="500" fill="hold"/>
                                        <p:tgtEl>
                                          <p:spTgt spid="1740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087"/>
                                        </p:tgtEl>
                                        <p:attrNameLst>
                                          <p:attrName>style.visibility</p:attrName>
                                        </p:attrNameLst>
                                      </p:cBhvr>
                                      <p:to>
                                        <p:strVal val="visible"/>
                                      </p:to>
                                    </p:set>
                                    <p:anim calcmode="lin" valueType="num">
                                      <p:cBhvr additive="base">
                                        <p:cTn id="25" dur="500" fill="hold"/>
                                        <p:tgtEl>
                                          <p:spTgt spid="174087"/>
                                        </p:tgtEl>
                                        <p:attrNameLst>
                                          <p:attrName>ppt_x</p:attrName>
                                        </p:attrNameLst>
                                      </p:cBhvr>
                                      <p:tavLst>
                                        <p:tav tm="0">
                                          <p:val>
                                            <p:strVal val="0-#ppt_w/2"/>
                                          </p:val>
                                        </p:tav>
                                        <p:tav tm="100000">
                                          <p:val>
                                            <p:strVal val="#ppt_x"/>
                                          </p:val>
                                        </p:tav>
                                      </p:tavLst>
                                    </p:anim>
                                    <p:anim calcmode="lin" valueType="num">
                                      <p:cBhvr additive="base">
                                        <p:cTn id="26" dur="500" fill="hold"/>
                                        <p:tgtEl>
                                          <p:spTgt spid="17408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089"/>
                                        </p:tgtEl>
                                        <p:attrNameLst>
                                          <p:attrName>style.visibility</p:attrName>
                                        </p:attrNameLst>
                                      </p:cBhvr>
                                      <p:to>
                                        <p:strVal val="visible"/>
                                      </p:to>
                                    </p:set>
                                    <p:anim calcmode="lin" valueType="num">
                                      <p:cBhvr additive="base">
                                        <p:cTn id="31" dur="500" fill="hold"/>
                                        <p:tgtEl>
                                          <p:spTgt spid="174089"/>
                                        </p:tgtEl>
                                        <p:attrNameLst>
                                          <p:attrName>ppt_x</p:attrName>
                                        </p:attrNameLst>
                                      </p:cBhvr>
                                      <p:tavLst>
                                        <p:tav tm="0">
                                          <p:val>
                                            <p:strVal val="0-#ppt_w/2"/>
                                          </p:val>
                                        </p:tav>
                                        <p:tav tm="100000">
                                          <p:val>
                                            <p:strVal val="#ppt_x"/>
                                          </p:val>
                                        </p:tav>
                                      </p:tavLst>
                                    </p:anim>
                                    <p:anim calcmode="lin" valueType="num">
                                      <p:cBhvr additive="base">
                                        <p:cTn id="32" dur="500" fill="hold"/>
                                        <p:tgtEl>
                                          <p:spTgt spid="17408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74091"/>
                                        </p:tgtEl>
                                        <p:attrNameLst>
                                          <p:attrName>style.visibility</p:attrName>
                                        </p:attrNameLst>
                                      </p:cBhvr>
                                      <p:to>
                                        <p:strVal val="visible"/>
                                      </p:to>
                                    </p:set>
                                    <p:anim calcmode="lin" valueType="num">
                                      <p:cBhvr additive="base">
                                        <p:cTn id="37" dur="500" fill="hold"/>
                                        <p:tgtEl>
                                          <p:spTgt spid="174091"/>
                                        </p:tgtEl>
                                        <p:attrNameLst>
                                          <p:attrName>ppt_x</p:attrName>
                                        </p:attrNameLst>
                                      </p:cBhvr>
                                      <p:tavLst>
                                        <p:tav tm="0">
                                          <p:val>
                                            <p:strVal val="0-#ppt_w/2"/>
                                          </p:val>
                                        </p:tav>
                                        <p:tav tm="100000">
                                          <p:val>
                                            <p:strVal val="#ppt_x"/>
                                          </p:val>
                                        </p:tav>
                                      </p:tavLst>
                                    </p:anim>
                                    <p:anim calcmode="lin" valueType="num">
                                      <p:cBhvr additive="base">
                                        <p:cTn id="38" dur="500" fill="hold"/>
                                        <p:tgtEl>
                                          <p:spTgt spid="17409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4090"/>
                                        </p:tgtEl>
                                        <p:attrNameLst>
                                          <p:attrName>style.visibility</p:attrName>
                                        </p:attrNameLst>
                                      </p:cBhvr>
                                      <p:to>
                                        <p:strVal val="visible"/>
                                      </p:to>
                                    </p:set>
                                    <p:anim calcmode="lin" valueType="num">
                                      <p:cBhvr additive="base">
                                        <p:cTn id="43" dur="500" fill="hold"/>
                                        <p:tgtEl>
                                          <p:spTgt spid="174090"/>
                                        </p:tgtEl>
                                        <p:attrNameLst>
                                          <p:attrName>ppt_x</p:attrName>
                                        </p:attrNameLst>
                                      </p:cBhvr>
                                      <p:tavLst>
                                        <p:tav tm="0">
                                          <p:val>
                                            <p:strVal val="0-#ppt_w/2"/>
                                          </p:val>
                                        </p:tav>
                                        <p:tav tm="100000">
                                          <p:val>
                                            <p:strVal val="#ppt_x"/>
                                          </p:val>
                                        </p:tav>
                                      </p:tavLst>
                                    </p:anim>
                                    <p:anim calcmode="lin" valueType="num">
                                      <p:cBhvr additive="base">
                                        <p:cTn id="44" dur="500" fill="hold"/>
                                        <p:tgtEl>
                                          <p:spTgt spid="17409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74094"/>
                                        </p:tgtEl>
                                        <p:attrNameLst>
                                          <p:attrName>style.visibility</p:attrName>
                                        </p:attrNameLst>
                                      </p:cBhvr>
                                      <p:to>
                                        <p:strVal val="visible"/>
                                      </p:to>
                                    </p:set>
                                    <p:anim calcmode="lin" valueType="num">
                                      <p:cBhvr additive="base">
                                        <p:cTn id="49" dur="500" fill="hold"/>
                                        <p:tgtEl>
                                          <p:spTgt spid="174094"/>
                                        </p:tgtEl>
                                        <p:attrNameLst>
                                          <p:attrName>ppt_x</p:attrName>
                                        </p:attrNameLst>
                                      </p:cBhvr>
                                      <p:tavLst>
                                        <p:tav tm="0">
                                          <p:val>
                                            <p:strVal val="0-#ppt_w/2"/>
                                          </p:val>
                                        </p:tav>
                                        <p:tav tm="100000">
                                          <p:val>
                                            <p:strVal val="#ppt_x"/>
                                          </p:val>
                                        </p:tav>
                                      </p:tavLst>
                                    </p:anim>
                                    <p:anim calcmode="lin" valueType="num">
                                      <p:cBhvr additive="base">
                                        <p:cTn id="50" dur="500" fill="hold"/>
                                        <p:tgtEl>
                                          <p:spTgt spid="17409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74095"/>
                                        </p:tgtEl>
                                        <p:attrNameLst>
                                          <p:attrName>style.visibility</p:attrName>
                                        </p:attrNameLst>
                                      </p:cBhvr>
                                      <p:to>
                                        <p:strVal val="visible"/>
                                      </p:to>
                                    </p:set>
                                    <p:anim calcmode="lin" valueType="num">
                                      <p:cBhvr additive="base">
                                        <p:cTn id="55" dur="500" fill="hold"/>
                                        <p:tgtEl>
                                          <p:spTgt spid="174095"/>
                                        </p:tgtEl>
                                        <p:attrNameLst>
                                          <p:attrName>ppt_x</p:attrName>
                                        </p:attrNameLst>
                                      </p:cBhvr>
                                      <p:tavLst>
                                        <p:tav tm="0">
                                          <p:val>
                                            <p:strVal val="0-#ppt_w/2"/>
                                          </p:val>
                                        </p:tav>
                                        <p:tav tm="100000">
                                          <p:val>
                                            <p:strVal val="#ppt_x"/>
                                          </p:val>
                                        </p:tav>
                                      </p:tavLst>
                                    </p:anim>
                                    <p:anim calcmode="lin" valueType="num">
                                      <p:cBhvr additive="base">
                                        <p:cTn id="56" dur="500" fill="hold"/>
                                        <p:tgtEl>
                                          <p:spTgt spid="1740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animBg="1" autoUpdateAnimBg="0"/>
      <p:bldP spid="174086" grpId="0" animBg="1" autoUpdateAnimBg="0"/>
      <p:bldP spid="174087" grpId="0" animBg="1" autoUpdateAnimBg="0"/>
      <p:bldP spid="174088" grpId="0" animBg="1" autoUpdateAnimBg="0"/>
      <p:bldP spid="174089" grpId="0" animBg="1" autoUpdateAnimBg="0"/>
      <p:bldP spid="174090" grpId="0" animBg="1" autoUpdateAnimBg="0"/>
      <p:bldP spid="174091" grpId="0" animBg="1" autoUpdateAnimBg="0"/>
      <p:bldP spid="174094" grpId="0" animBg="1" autoUpdateAnimBg="0"/>
      <p:bldP spid="17409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988840"/>
            <a:ext cx="7994848" cy="4115544"/>
          </a:xfrm>
        </p:spPr>
        <p:txBody>
          <a:bodyPr/>
          <a:lstStyle/>
          <a:p>
            <a:pPr>
              <a:lnSpc>
                <a:spcPct val="120000"/>
              </a:lnSpc>
              <a:spcBef>
                <a:spcPts val="1200"/>
              </a:spcBef>
            </a:pPr>
            <a:r>
              <a:rPr lang="zh-CN" altLang="zh-CN" dirty="0" smtClean="0">
                <a:solidFill>
                  <a:srgbClr val="000000"/>
                </a:solidFill>
              </a:rPr>
              <a:t>最简单的但也是应用最广泛的统计分析方法。</a:t>
            </a:r>
          </a:p>
          <a:p>
            <a:pPr>
              <a:lnSpc>
                <a:spcPct val="120000"/>
              </a:lnSpc>
              <a:spcBef>
                <a:spcPts val="1200"/>
              </a:spcBef>
            </a:pPr>
            <a:r>
              <a:rPr lang="zh-CN" altLang="zh-CN" dirty="0" smtClean="0">
                <a:solidFill>
                  <a:srgbClr val="000000"/>
                </a:solidFill>
              </a:rPr>
              <a:t>可以采用相减的方法，</a:t>
            </a:r>
            <a:endParaRPr lang="en-US" altLang="zh-CN" dirty="0" smtClean="0">
              <a:solidFill>
                <a:srgbClr val="000000"/>
              </a:solidFill>
            </a:endParaRPr>
          </a:p>
          <a:p>
            <a:pPr>
              <a:lnSpc>
                <a:spcPct val="120000"/>
              </a:lnSpc>
              <a:spcBef>
                <a:spcPts val="1200"/>
              </a:spcBef>
            </a:pPr>
            <a:r>
              <a:rPr lang="zh-CN" altLang="zh-CN" dirty="0" smtClean="0">
                <a:solidFill>
                  <a:srgbClr val="000000"/>
                </a:solidFill>
              </a:rPr>
              <a:t>也可以采用相除的方法</a:t>
            </a:r>
            <a:r>
              <a:rPr lang="en-US" altLang="zh-CN" dirty="0" smtClean="0">
                <a:solidFill>
                  <a:srgbClr val="000000"/>
                </a:solidFill>
              </a:rPr>
              <a:t>—— </a:t>
            </a:r>
            <a:r>
              <a:rPr lang="zh-CN" altLang="en-US" dirty="0" smtClean="0">
                <a:solidFill>
                  <a:srgbClr val="000000"/>
                </a:solidFill>
              </a:rPr>
              <a:t>计算</a:t>
            </a:r>
            <a:r>
              <a:rPr lang="zh-CN" altLang="zh-CN" dirty="0" smtClean="0">
                <a:solidFill>
                  <a:srgbClr val="000000"/>
                </a:solidFill>
              </a:rPr>
              <a:t>相对数。</a:t>
            </a:r>
            <a:endParaRPr lang="en-US" altLang="zh-CN" dirty="0" smtClean="0">
              <a:solidFill>
                <a:srgbClr val="000000"/>
              </a:solidFill>
            </a:endParaRPr>
          </a:p>
          <a:p>
            <a:pPr lvl="1">
              <a:lnSpc>
                <a:spcPct val="120000"/>
              </a:lnSpc>
              <a:spcBef>
                <a:spcPts val="1200"/>
              </a:spcBef>
            </a:pPr>
            <a:r>
              <a:rPr lang="zh-CN" altLang="zh-CN" sz="3200" dirty="0" smtClean="0">
                <a:solidFill>
                  <a:srgbClr val="000000"/>
                </a:solidFill>
              </a:rPr>
              <a:t>实际应用中</a:t>
            </a:r>
            <a:r>
              <a:rPr lang="zh-CN" altLang="zh-CN" sz="3200" dirty="0" smtClean="0">
                <a:solidFill>
                  <a:srgbClr val="7030A0"/>
                </a:solidFill>
              </a:rPr>
              <a:t>通常所说的对比分析是通过计算相对数来进行的</a:t>
            </a:r>
            <a:r>
              <a:rPr lang="zh-CN" altLang="zh-CN" sz="3200" dirty="0" smtClean="0">
                <a:solidFill>
                  <a:srgbClr val="000000"/>
                </a:solidFill>
              </a:rPr>
              <a:t>。</a:t>
            </a:r>
            <a:endParaRPr lang="zh-CN" altLang="en-US" sz="3200" dirty="0">
              <a:solidFill>
                <a:srgbClr val="000000"/>
              </a:solidFill>
            </a:endParaRPr>
          </a:p>
        </p:txBody>
      </p:sp>
      <p:sp>
        <p:nvSpPr>
          <p:cNvPr id="5" name="标题 4"/>
          <p:cNvSpPr>
            <a:spLocks noGrp="1"/>
          </p:cNvSpPr>
          <p:nvPr>
            <p:ph type="title"/>
          </p:nvPr>
        </p:nvSpPr>
        <p:spPr>
          <a:xfrm>
            <a:off x="683568" y="1052736"/>
            <a:ext cx="7772400" cy="608112"/>
          </a:xfrm>
        </p:spPr>
        <p:txBody>
          <a:bodyPr/>
          <a:lstStyle/>
          <a:p>
            <a:r>
              <a:rPr kumimoji="1" lang="zh-CN" altLang="zh-CN" sz="3600" b="1" dirty="0" smtClean="0">
                <a:solidFill>
                  <a:srgbClr val="1313FF"/>
                </a:solidFill>
                <a:latin typeface="Tahoma"/>
                <a:ea typeface="宋体"/>
                <a:cs typeface="+mn-cs"/>
              </a:rPr>
              <a:t>对比分析法</a:t>
            </a:r>
            <a:endParaRPr lang="zh-CN" altLang="en-US" sz="5400" dirty="0">
              <a:solidFill>
                <a:srgbClr val="1313FF"/>
              </a:solidFill>
            </a:endParaRP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18</a:t>
            </a:fld>
            <a:endParaRPr lang="en-US" altLang="zh-CN"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685800" y="381000"/>
            <a:ext cx="7772400" cy="838200"/>
          </a:xfrm>
        </p:spPr>
        <p:txBody>
          <a:bodyPr/>
          <a:lstStyle/>
          <a:p>
            <a:pPr eaLnBrk="1" hangingPunct="1"/>
            <a:r>
              <a:rPr lang="en-US" altLang="zh-CN" dirty="0" smtClean="0"/>
              <a:t>3.1.2  </a:t>
            </a:r>
            <a:r>
              <a:rPr lang="zh-CN" altLang="en-US" dirty="0" smtClean="0"/>
              <a:t>相对指标 </a:t>
            </a:r>
          </a:p>
        </p:txBody>
      </p:sp>
      <p:sp>
        <p:nvSpPr>
          <p:cNvPr id="1029" name="Rectangle 3"/>
          <p:cNvSpPr>
            <a:spLocks noGrp="1" noChangeArrowheads="1"/>
          </p:cNvSpPr>
          <p:nvPr>
            <p:ph type="body" idx="1"/>
          </p:nvPr>
        </p:nvSpPr>
        <p:spPr>
          <a:xfrm>
            <a:off x="395288" y="1484313"/>
            <a:ext cx="8229600" cy="4897437"/>
          </a:xfrm>
        </p:spPr>
        <p:txBody>
          <a:bodyPr/>
          <a:lstStyle/>
          <a:p>
            <a:pPr eaLnBrk="1" hangingPunct="1">
              <a:lnSpc>
                <a:spcPct val="115000"/>
              </a:lnSpc>
              <a:spcBef>
                <a:spcPct val="25000"/>
              </a:spcBef>
              <a:buFontTx/>
              <a:buNone/>
            </a:pPr>
            <a:r>
              <a:rPr lang="en-US" altLang="zh-CN" sz="3600" b="0" smtClean="0">
                <a:solidFill>
                  <a:srgbClr val="A50021"/>
                </a:solidFill>
              </a:rPr>
              <a:t>1.</a:t>
            </a:r>
            <a:r>
              <a:rPr lang="zh-CN" altLang="en-US" sz="3600" smtClean="0">
                <a:solidFill>
                  <a:srgbClr val="A50021"/>
                </a:solidFill>
              </a:rPr>
              <a:t>相对指标的意义</a:t>
            </a:r>
          </a:p>
          <a:p>
            <a:pPr eaLnBrk="1" hangingPunct="1">
              <a:lnSpc>
                <a:spcPct val="115000"/>
              </a:lnSpc>
              <a:spcBef>
                <a:spcPct val="25000"/>
              </a:spcBef>
            </a:pPr>
            <a:r>
              <a:rPr lang="zh-CN" altLang="en-US" smtClean="0"/>
              <a:t>概念</a:t>
            </a:r>
          </a:p>
          <a:p>
            <a:pPr lvl="2" eaLnBrk="1" hangingPunct="1">
              <a:lnSpc>
                <a:spcPct val="115000"/>
              </a:lnSpc>
              <a:spcBef>
                <a:spcPct val="25000"/>
              </a:spcBef>
            </a:pPr>
            <a:endParaRPr lang="zh-CN" altLang="en-US" smtClean="0">
              <a:latin typeface="Times New Roman" pitchFamily="18" charset="0"/>
            </a:endParaRPr>
          </a:p>
          <a:p>
            <a:pPr lvl="1" eaLnBrk="1" hangingPunct="1">
              <a:lnSpc>
                <a:spcPct val="115000"/>
              </a:lnSpc>
              <a:spcBef>
                <a:spcPct val="25000"/>
              </a:spcBef>
            </a:pPr>
            <a:r>
              <a:rPr lang="zh-CN" altLang="en-US" smtClean="0">
                <a:latin typeface="Times New Roman" pitchFamily="18" charset="0"/>
              </a:rPr>
              <a:t>两个有联系的指标对比的比率</a:t>
            </a:r>
          </a:p>
          <a:p>
            <a:pPr lvl="1" eaLnBrk="1" hangingPunct="1">
              <a:lnSpc>
                <a:spcPct val="115000"/>
              </a:lnSpc>
              <a:spcBef>
                <a:spcPct val="25000"/>
              </a:spcBef>
            </a:pPr>
            <a:r>
              <a:rPr lang="zh-CN" altLang="en-US" smtClean="0">
                <a:latin typeface="Times New Roman" pitchFamily="18" charset="0"/>
              </a:rPr>
              <a:t>有两种表现形式</a:t>
            </a:r>
          </a:p>
          <a:p>
            <a:pPr lvl="2" algn="just" eaLnBrk="1" hangingPunct="1">
              <a:lnSpc>
                <a:spcPct val="115000"/>
              </a:lnSpc>
              <a:spcBef>
                <a:spcPct val="25000"/>
              </a:spcBef>
            </a:pPr>
            <a:r>
              <a:rPr lang="zh-CN" altLang="en-US" smtClean="0">
                <a:latin typeface="Times New Roman" pitchFamily="18" charset="0"/>
              </a:rPr>
              <a:t>无名数</a:t>
            </a:r>
          </a:p>
          <a:p>
            <a:pPr lvl="3" algn="just" eaLnBrk="1" hangingPunct="1">
              <a:lnSpc>
                <a:spcPct val="115000"/>
              </a:lnSpc>
              <a:spcBef>
                <a:spcPct val="25000"/>
              </a:spcBef>
            </a:pPr>
            <a:r>
              <a:rPr lang="zh-CN" altLang="en-US" smtClean="0">
                <a:latin typeface="Times New Roman" pitchFamily="18" charset="0"/>
              </a:rPr>
              <a:t>百分比</a:t>
            </a:r>
            <a:r>
              <a:rPr lang="en-US" altLang="zh-CN" smtClean="0">
                <a:latin typeface="Times New Roman" pitchFamily="18" charset="0"/>
              </a:rPr>
              <a:t>(%)</a:t>
            </a:r>
            <a:r>
              <a:rPr lang="zh-CN" altLang="en-US" smtClean="0">
                <a:latin typeface="Times New Roman" pitchFamily="18" charset="0"/>
              </a:rPr>
              <a:t>、千分比</a:t>
            </a:r>
            <a:r>
              <a:rPr lang="en-US" altLang="zh-CN" smtClean="0">
                <a:latin typeface="Times New Roman" pitchFamily="18" charset="0"/>
              </a:rPr>
              <a:t>(</a:t>
            </a:r>
            <a:r>
              <a:rPr lang="en-US" altLang="zh-CN" smtClean="0">
                <a:latin typeface="Times New Roman" pitchFamily="18" charset="0"/>
                <a:cs typeface="Times New Roman" pitchFamily="18" charset="0"/>
              </a:rPr>
              <a:t>‰</a:t>
            </a:r>
            <a:r>
              <a:rPr lang="en-US" altLang="zh-CN" smtClean="0">
                <a:latin typeface="Times New Roman" pitchFamily="18" charset="0"/>
              </a:rPr>
              <a:t>)</a:t>
            </a:r>
            <a:r>
              <a:rPr lang="zh-CN" altLang="en-US" smtClean="0">
                <a:latin typeface="Times New Roman" pitchFamily="18" charset="0"/>
              </a:rPr>
              <a:t>、倍数、系数、成数、番数等 </a:t>
            </a:r>
          </a:p>
          <a:p>
            <a:pPr lvl="2" algn="just" eaLnBrk="1" hangingPunct="1">
              <a:lnSpc>
                <a:spcPct val="115000"/>
              </a:lnSpc>
              <a:spcBef>
                <a:spcPct val="25000"/>
              </a:spcBef>
            </a:pPr>
            <a:r>
              <a:rPr lang="zh-CN" altLang="en-US" smtClean="0">
                <a:latin typeface="Times New Roman" pitchFamily="18" charset="0"/>
              </a:rPr>
              <a:t>名    数</a:t>
            </a:r>
            <a:r>
              <a:rPr lang="en-US" altLang="zh-CN" smtClean="0">
                <a:solidFill>
                  <a:srgbClr val="000000"/>
                </a:solidFill>
                <a:latin typeface="Times New Roman" pitchFamily="18" charset="0"/>
              </a:rPr>
              <a:t>——</a:t>
            </a:r>
            <a:r>
              <a:rPr lang="zh-CN" altLang="en-US" smtClean="0">
                <a:solidFill>
                  <a:srgbClr val="000000"/>
                </a:solidFill>
                <a:latin typeface="Times New Roman" pitchFamily="18" charset="0"/>
              </a:rPr>
              <a:t>分子与分母的计量单位构成的复名数</a:t>
            </a:r>
            <a:endParaRPr lang="zh-CN" altLang="en-US" b="0" smtClean="0">
              <a:solidFill>
                <a:srgbClr val="000000"/>
              </a:solidFill>
            </a:endParaRPr>
          </a:p>
        </p:txBody>
      </p:sp>
      <p:graphicFrame>
        <p:nvGraphicFramePr>
          <p:cNvPr id="1026" name="Object 4"/>
          <p:cNvGraphicFramePr>
            <a:graphicFrameLocks noChangeAspect="1"/>
          </p:cNvGraphicFramePr>
          <p:nvPr/>
        </p:nvGraphicFramePr>
        <p:xfrm>
          <a:off x="3059113" y="2276475"/>
          <a:ext cx="5651500" cy="1004888"/>
        </p:xfrm>
        <a:graphic>
          <a:graphicData uri="http://schemas.openxmlformats.org/presentationml/2006/ole">
            <mc:AlternateContent xmlns:mc="http://schemas.openxmlformats.org/markup-compatibility/2006">
              <mc:Choice xmlns:v="urn:schemas-microsoft-com:vml" Requires="v">
                <p:oleObj spid="_x0000_s1203" name="公式" r:id="rId3" imgW="2349500" imgH="419100" progId="Equation.3">
                  <p:embed/>
                </p:oleObj>
              </mc:Choice>
              <mc:Fallback>
                <p:oleObj name="公式" r:id="rId3" imgW="23495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276475"/>
                        <a:ext cx="5651500"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19</a:t>
            </a:fld>
            <a:endParaRPr lang="en-US" altLang="zh-CN"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1187450" y="333375"/>
            <a:ext cx="6552902" cy="719361"/>
          </a:xfrm>
        </p:spPr>
        <p:txBody>
          <a:bodyPr/>
          <a:lstStyle/>
          <a:p>
            <a:pPr eaLnBrk="1" hangingPunct="1"/>
            <a:r>
              <a:rPr lang="zh-CN" altLang="en-US" sz="4000" dirty="0" smtClean="0"/>
              <a:t>关于百分比的变动</a:t>
            </a:r>
          </a:p>
        </p:txBody>
      </p:sp>
      <p:graphicFrame>
        <p:nvGraphicFramePr>
          <p:cNvPr id="508932" name="Object 4"/>
          <p:cNvGraphicFramePr>
            <a:graphicFrameLocks noChangeAspect="1"/>
          </p:cNvGraphicFramePr>
          <p:nvPr/>
        </p:nvGraphicFramePr>
        <p:xfrm>
          <a:off x="7667625" y="0"/>
          <a:ext cx="1476375" cy="1476375"/>
        </p:xfrm>
        <a:graphic>
          <a:graphicData uri="http://schemas.openxmlformats.org/presentationml/2006/ole">
            <mc:AlternateContent xmlns:mc="http://schemas.openxmlformats.org/markup-compatibility/2006">
              <mc:Choice xmlns:v="urn:schemas-microsoft-com:vml" Requires="v">
                <p:oleObj spid="_x0000_s2227" name="Clip" r:id="rId3" imgW="2365200" imgH="2365200" progId="">
                  <p:embed/>
                </p:oleObj>
              </mc:Choice>
              <mc:Fallback>
                <p:oleObj name="Clip" r:id="rId3" imgW="2365200" imgH="23652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0"/>
                        <a:ext cx="1476375" cy="1476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Rectangle 6"/>
          <p:cNvSpPr>
            <a:spLocks noChangeArrowheads="1"/>
          </p:cNvSpPr>
          <p:nvPr/>
        </p:nvSpPr>
        <p:spPr bwMode="auto">
          <a:xfrm>
            <a:off x="539552" y="1700808"/>
            <a:ext cx="7429500" cy="1357313"/>
          </a:xfrm>
          <a:prstGeom prst="rect">
            <a:avLst/>
          </a:prstGeom>
          <a:noFill/>
          <a:ln w="9525">
            <a:noFill/>
            <a:miter lim="800000"/>
            <a:headEnd/>
            <a:tailEnd/>
          </a:ln>
        </p:spPr>
        <p:txBody>
          <a:bodyPr/>
          <a:lstStyle/>
          <a:p>
            <a:pPr marL="342900" indent="-342900">
              <a:lnSpc>
                <a:spcPct val="120000"/>
              </a:lnSpc>
              <a:spcBef>
                <a:spcPct val="50000"/>
              </a:spcBef>
              <a:buSzPct val="90000"/>
              <a:buFontTx/>
              <a:buBlip>
                <a:blip r:embed="rId5"/>
              </a:buBlip>
            </a:pPr>
            <a:r>
              <a:rPr lang="zh-CN" altLang="en-US" sz="3200" b="1" dirty="0" smtClean="0">
                <a:solidFill>
                  <a:srgbClr val="C56B9E"/>
                </a:solidFill>
                <a:latin typeface="Tahoma" pitchFamily="34" charset="0"/>
                <a:ea typeface="宋体" pitchFamily="2" charset="-122"/>
              </a:rPr>
              <a:t>贷款利率从 </a:t>
            </a:r>
            <a:r>
              <a:rPr lang="en-US" altLang="zh-CN" sz="3200" b="1" dirty="0" smtClean="0">
                <a:solidFill>
                  <a:srgbClr val="C56B9E"/>
                </a:solidFill>
                <a:latin typeface="Tahoma" pitchFamily="34" charset="0"/>
                <a:ea typeface="宋体" pitchFamily="2" charset="-122"/>
              </a:rPr>
              <a:t>5</a:t>
            </a:r>
            <a:r>
              <a:rPr lang="zh-CN" altLang="en-US" sz="3200" b="1" dirty="0" smtClean="0">
                <a:solidFill>
                  <a:srgbClr val="C56B9E"/>
                </a:solidFill>
                <a:latin typeface="Tahoma" pitchFamily="34" charset="0"/>
                <a:ea typeface="宋体" pitchFamily="2" charset="-122"/>
              </a:rPr>
              <a:t>％上升至 </a:t>
            </a:r>
            <a:r>
              <a:rPr lang="en-US" altLang="zh-CN" sz="3200" b="1" dirty="0" smtClean="0">
                <a:solidFill>
                  <a:srgbClr val="C56B9E"/>
                </a:solidFill>
                <a:latin typeface="Tahoma" pitchFamily="34" charset="0"/>
                <a:ea typeface="宋体" pitchFamily="2" charset="-122"/>
              </a:rPr>
              <a:t>6 </a:t>
            </a:r>
            <a:r>
              <a:rPr lang="zh-CN" altLang="en-US" sz="3200" b="1" dirty="0" smtClean="0">
                <a:solidFill>
                  <a:srgbClr val="C56B9E"/>
                </a:solidFill>
                <a:latin typeface="Tahoma" pitchFamily="34" charset="0"/>
                <a:ea typeface="宋体" pitchFamily="2" charset="-122"/>
              </a:rPr>
              <a:t>％，贷款利率</a:t>
            </a:r>
            <a:r>
              <a:rPr lang="zh-CN" altLang="en-US" sz="3200" b="1" dirty="0">
                <a:solidFill>
                  <a:srgbClr val="C56B9E"/>
                </a:solidFill>
                <a:latin typeface="Tahoma" pitchFamily="34" charset="0"/>
                <a:ea typeface="宋体" pitchFamily="2" charset="-122"/>
              </a:rPr>
              <a:t>上升</a:t>
            </a:r>
            <a:r>
              <a:rPr lang="zh-CN" altLang="en-US" sz="3200" b="1" dirty="0" smtClean="0">
                <a:solidFill>
                  <a:srgbClr val="C56B9E"/>
                </a:solidFill>
                <a:latin typeface="Tahoma" pitchFamily="34" charset="0"/>
                <a:ea typeface="宋体" pitchFamily="2" charset="-122"/>
              </a:rPr>
              <a:t>了 </a:t>
            </a:r>
            <a:r>
              <a:rPr lang="zh-CN" altLang="en-US" sz="3200" b="1" u="sng" dirty="0" smtClean="0">
                <a:solidFill>
                  <a:srgbClr val="1313FF"/>
                </a:solidFill>
                <a:latin typeface="Tahoma" pitchFamily="34" charset="0"/>
                <a:ea typeface="宋体" pitchFamily="2" charset="-122"/>
              </a:rPr>
              <a:t>   ？   </a:t>
            </a:r>
            <a:r>
              <a:rPr lang="en-US" altLang="zh-CN" sz="3200" b="1" dirty="0" smtClean="0">
                <a:solidFill>
                  <a:srgbClr val="C56B9E"/>
                </a:solidFill>
                <a:latin typeface="Tahoma" pitchFamily="34" charset="0"/>
                <a:ea typeface="宋体" pitchFamily="2" charset="-122"/>
              </a:rPr>
              <a:t>%</a:t>
            </a:r>
            <a:endParaRPr lang="zh-CN" altLang="en-US" sz="3200" b="1" dirty="0">
              <a:solidFill>
                <a:srgbClr val="C56B9E"/>
              </a:solidFill>
              <a:latin typeface="Tahoma" pitchFamily="34" charset="0"/>
              <a:ea typeface="宋体" pitchFamily="2" charset="-122"/>
            </a:endParaRPr>
          </a:p>
        </p:txBody>
      </p:sp>
      <p:sp>
        <p:nvSpPr>
          <p:cNvPr id="6" name="Rectangle 6"/>
          <p:cNvSpPr>
            <a:spLocks noChangeArrowheads="1"/>
          </p:cNvSpPr>
          <p:nvPr/>
        </p:nvSpPr>
        <p:spPr bwMode="auto">
          <a:xfrm>
            <a:off x="827584" y="3501008"/>
            <a:ext cx="4104456" cy="720080"/>
          </a:xfrm>
          <a:prstGeom prst="rect">
            <a:avLst/>
          </a:prstGeom>
          <a:noFill/>
          <a:ln w="9525">
            <a:noFill/>
            <a:miter lim="800000"/>
            <a:headEnd/>
            <a:tailEnd/>
          </a:ln>
        </p:spPr>
        <p:txBody>
          <a:bodyPr/>
          <a:lstStyle/>
          <a:p>
            <a:pPr marL="800100" lvl="1" indent="-342900">
              <a:lnSpc>
                <a:spcPct val="120000"/>
              </a:lnSpc>
              <a:spcBef>
                <a:spcPct val="50000"/>
              </a:spcBef>
              <a:buSzPct val="90000"/>
              <a:buFont typeface="Wingdings" pitchFamily="2" charset="2"/>
              <a:buChar char="Ø"/>
            </a:pPr>
            <a:r>
              <a:rPr lang="zh-CN" altLang="en-US" sz="3200" b="1" dirty="0" smtClean="0">
                <a:solidFill>
                  <a:srgbClr val="C56B9E"/>
                </a:solidFill>
                <a:latin typeface="Tahoma" pitchFamily="34" charset="0"/>
                <a:ea typeface="宋体" pitchFamily="2" charset="-122"/>
              </a:rPr>
              <a:t>上升了 </a:t>
            </a:r>
            <a:r>
              <a:rPr lang="zh-CN" altLang="en-US" sz="3200" b="1" u="sng" dirty="0" smtClean="0">
                <a:solidFill>
                  <a:srgbClr val="1313FF"/>
                </a:solidFill>
                <a:latin typeface="Tahoma" pitchFamily="34" charset="0"/>
                <a:ea typeface="宋体" pitchFamily="2" charset="-122"/>
              </a:rPr>
              <a:t>   </a:t>
            </a:r>
            <a:r>
              <a:rPr lang="en-US" altLang="zh-CN" sz="3200" b="1" u="sng" dirty="0" smtClean="0">
                <a:solidFill>
                  <a:srgbClr val="1313FF"/>
                </a:solidFill>
                <a:latin typeface="Tahoma" pitchFamily="34" charset="0"/>
                <a:ea typeface="宋体" pitchFamily="2" charset="-122"/>
              </a:rPr>
              <a:t>1</a:t>
            </a:r>
            <a:r>
              <a:rPr lang="zh-CN" altLang="en-US" sz="3200" b="1" u="sng" dirty="0" smtClean="0">
                <a:solidFill>
                  <a:srgbClr val="1313FF"/>
                </a:solidFill>
                <a:latin typeface="Tahoma" pitchFamily="34" charset="0"/>
                <a:ea typeface="宋体" pitchFamily="2" charset="-122"/>
              </a:rPr>
              <a:t>   </a:t>
            </a:r>
            <a:r>
              <a:rPr lang="en-US" altLang="zh-CN" sz="3200" b="1" dirty="0" smtClean="0">
                <a:solidFill>
                  <a:srgbClr val="C56B9E"/>
                </a:solidFill>
                <a:latin typeface="Tahoma" pitchFamily="34" charset="0"/>
                <a:ea typeface="宋体" pitchFamily="2" charset="-122"/>
              </a:rPr>
              <a:t>%  </a:t>
            </a:r>
            <a:r>
              <a:rPr lang="zh-CN" altLang="en-US" sz="3200" b="1" dirty="0" smtClean="0">
                <a:solidFill>
                  <a:srgbClr val="C56B9E"/>
                </a:solidFill>
                <a:latin typeface="Tahoma" pitchFamily="34" charset="0"/>
                <a:ea typeface="宋体" pitchFamily="2" charset="-122"/>
              </a:rPr>
              <a:t>？</a:t>
            </a:r>
            <a:endParaRPr lang="zh-CN" altLang="en-US" sz="3200" b="1" dirty="0">
              <a:solidFill>
                <a:srgbClr val="C56B9E"/>
              </a:solidFill>
              <a:latin typeface="Tahoma" pitchFamily="34" charset="0"/>
              <a:ea typeface="宋体" pitchFamily="2" charset="-122"/>
            </a:endParaRPr>
          </a:p>
        </p:txBody>
      </p:sp>
      <p:sp>
        <p:nvSpPr>
          <p:cNvPr id="7" name="Rectangle 6"/>
          <p:cNvSpPr>
            <a:spLocks noChangeArrowheads="1"/>
          </p:cNvSpPr>
          <p:nvPr/>
        </p:nvSpPr>
        <p:spPr bwMode="auto">
          <a:xfrm>
            <a:off x="683568" y="4797152"/>
            <a:ext cx="7560840" cy="720080"/>
          </a:xfrm>
          <a:prstGeom prst="rect">
            <a:avLst/>
          </a:prstGeom>
          <a:noFill/>
          <a:ln w="9525">
            <a:noFill/>
            <a:miter lim="800000"/>
            <a:headEnd/>
            <a:tailEnd/>
          </a:ln>
        </p:spPr>
        <p:txBody>
          <a:bodyPr/>
          <a:lstStyle/>
          <a:p>
            <a:pPr marL="800100" lvl="1" indent="-342900">
              <a:lnSpc>
                <a:spcPct val="120000"/>
              </a:lnSpc>
              <a:spcBef>
                <a:spcPct val="50000"/>
              </a:spcBef>
              <a:buSzPct val="90000"/>
              <a:buFont typeface="Wingdings" pitchFamily="2" charset="2"/>
              <a:buChar char="Ø"/>
            </a:pPr>
            <a:r>
              <a:rPr lang="zh-CN" altLang="en-US" sz="3200" b="1" dirty="0" smtClean="0">
                <a:solidFill>
                  <a:srgbClr val="C56B9E"/>
                </a:solidFill>
                <a:latin typeface="Tahoma" pitchFamily="34" charset="0"/>
                <a:ea typeface="宋体" pitchFamily="2" charset="-122"/>
              </a:rPr>
              <a:t>上升了</a:t>
            </a:r>
            <a:r>
              <a:rPr lang="zh-CN" altLang="en-US" sz="3200" b="1" u="sng" dirty="0" smtClean="0">
                <a:solidFill>
                  <a:srgbClr val="1313FF"/>
                </a:solidFill>
                <a:latin typeface="Tahoma" pitchFamily="34" charset="0"/>
                <a:ea typeface="宋体" pitchFamily="2" charset="-122"/>
              </a:rPr>
              <a:t>  </a:t>
            </a:r>
            <a:r>
              <a:rPr lang="en-US" altLang="zh-CN" sz="3200" b="1" u="sng" dirty="0" smtClean="0">
                <a:solidFill>
                  <a:srgbClr val="1313FF"/>
                </a:solidFill>
                <a:latin typeface="Tahoma" pitchFamily="34" charset="0"/>
                <a:ea typeface="宋体" pitchFamily="2" charset="-122"/>
              </a:rPr>
              <a:t>20</a:t>
            </a:r>
            <a:r>
              <a:rPr lang="zh-CN" altLang="en-US" sz="3200" b="1" u="sng" dirty="0" smtClean="0">
                <a:solidFill>
                  <a:srgbClr val="1313FF"/>
                </a:solidFill>
                <a:latin typeface="Tahoma" pitchFamily="34" charset="0"/>
                <a:ea typeface="宋体" pitchFamily="2" charset="-122"/>
              </a:rPr>
              <a:t>  </a:t>
            </a:r>
            <a:r>
              <a:rPr lang="en-US" altLang="zh-CN" sz="3200" b="1" u="sng" dirty="0" smtClean="0">
                <a:solidFill>
                  <a:srgbClr val="1313FF"/>
                </a:solidFill>
                <a:latin typeface="Tahoma" pitchFamily="34" charset="0"/>
                <a:ea typeface="宋体" pitchFamily="2" charset="-122"/>
              </a:rPr>
              <a:t>%</a:t>
            </a:r>
            <a:r>
              <a:rPr lang="zh-CN" altLang="en-US" sz="3200" b="1" dirty="0" smtClean="0">
                <a:solidFill>
                  <a:srgbClr val="C56B9E"/>
                </a:solidFill>
                <a:latin typeface="Tahoma" pitchFamily="34" charset="0"/>
                <a:ea typeface="宋体" pitchFamily="2" charset="-122"/>
              </a:rPr>
              <a:t>，上升了</a:t>
            </a:r>
            <a:r>
              <a:rPr lang="en-US" altLang="zh-CN" sz="3200" b="1" u="sng" dirty="0" smtClean="0">
                <a:solidFill>
                  <a:srgbClr val="1313FF"/>
                </a:solidFill>
                <a:latin typeface="Tahoma" pitchFamily="34" charset="0"/>
                <a:ea typeface="宋体" pitchFamily="2" charset="-122"/>
              </a:rPr>
              <a:t>1</a:t>
            </a:r>
            <a:r>
              <a:rPr lang="zh-CN" altLang="en-US" sz="3200" b="1" u="sng" dirty="0" smtClean="0">
                <a:solidFill>
                  <a:srgbClr val="1313FF"/>
                </a:solidFill>
                <a:latin typeface="Tahoma" pitchFamily="34" charset="0"/>
                <a:ea typeface="宋体" pitchFamily="2" charset="-122"/>
              </a:rPr>
              <a:t>个百分点</a:t>
            </a:r>
            <a:endParaRPr lang="zh-CN" altLang="en-US" sz="3200" b="1" dirty="0">
              <a:solidFill>
                <a:srgbClr val="C56B9E"/>
              </a:solidFill>
              <a:latin typeface="Tahoma" pitchFamily="34" charset="0"/>
              <a:ea typeface="宋体" pitchFamily="2" charset="-122"/>
            </a:endParaRP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20</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508932"/>
                                        </p:tgtEl>
                                        <p:attrNameLst>
                                          <p:attrName>style.visibility</p:attrName>
                                        </p:attrNameLst>
                                      </p:cBhvr>
                                      <p:to>
                                        <p:strVal val="visible"/>
                                      </p:to>
                                    </p:set>
                                    <p:animEffect transition="in" filter="diamond(in)">
                                      <p:cBhvr>
                                        <p:cTn id="7" dur="2000"/>
                                        <p:tgtEl>
                                          <p:spTgt spid="5089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827584" y="332656"/>
            <a:ext cx="7772400" cy="990600"/>
          </a:xfrm>
        </p:spPr>
        <p:txBody>
          <a:bodyPr/>
          <a:lstStyle/>
          <a:p>
            <a:pPr eaLnBrk="1" hangingPunct="1"/>
            <a:r>
              <a:rPr lang="zh-CN" altLang="en-US" sz="3600" dirty="0" smtClean="0"/>
              <a:t>百分比与百分点、千分比与千分点</a:t>
            </a:r>
          </a:p>
        </p:txBody>
      </p:sp>
      <p:sp>
        <p:nvSpPr>
          <p:cNvPr id="509955" name="Rectangle 3"/>
          <p:cNvSpPr>
            <a:spLocks noChangeArrowheads="1"/>
          </p:cNvSpPr>
          <p:nvPr/>
        </p:nvSpPr>
        <p:spPr bwMode="auto">
          <a:xfrm>
            <a:off x="395536" y="1484784"/>
            <a:ext cx="7993063" cy="4404091"/>
          </a:xfrm>
          <a:prstGeom prst="rect">
            <a:avLst/>
          </a:prstGeom>
          <a:noFill/>
          <a:ln w="9525">
            <a:noFill/>
            <a:miter lim="800000"/>
            <a:headEnd/>
            <a:tailEnd/>
          </a:ln>
          <a:effectLst/>
        </p:spPr>
        <p:txBody>
          <a:bodyPr>
            <a:spAutoFit/>
          </a:bodyPr>
          <a:lstStyle/>
          <a:p>
            <a:pPr>
              <a:lnSpc>
                <a:spcPct val="125000"/>
              </a:lnSpc>
              <a:spcBef>
                <a:spcPts val="1200"/>
              </a:spcBef>
              <a:buFontTx/>
              <a:buChar char="•"/>
              <a:defRPr/>
            </a:pPr>
            <a:r>
              <a:rPr lang="zh-CN" altLang="en-US" sz="2800" b="1" dirty="0" smtClean="0">
                <a:solidFill>
                  <a:srgbClr val="FF3300"/>
                </a:solidFill>
                <a:effectLst>
                  <a:outerShdw blurRad="38100" dist="38100" dir="2700000" algn="tl">
                    <a:srgbClr val="C0C0C0"/>
                  </a:outerShdw>
                </a:effectLst>
                <a:latin typeface="黑体" pitchFamily="2" charset="-122"/>
                <a:ea typeface="宋体" pitchFamily="2" charset="-122"/>
              </a:rPr>
              <a:t>百分比（</a:t>
            </a:r>
            <a:r>
              <a:rPr lang="en-US" altLang="zh-CN" sz="2800" b="1" dirty="0" smtClean="0">
                <a:solidFill>
                  <a:srgbClr val="FF3300"/>
                </a:solidFill>
                <a:effectLst>
                  <a:outerShdw blurRad="38100" dist="38100" dir="2700000" algn="tl">
                    <a:srgbClr val="C0C0C0"/>
                  </a:outerShdw>
                </a:effectLst>
                <a:latin typeface="黑体" pitchFamily="2" charset="-122"/>
                <a:ea typeface="宋体" pitchFamily="2" charset="-122"/>
              </a:rPr>
              <a:t>%</a:t>
            </a:r>
            <a:r>
              <a:rPr lang="zh-CN" altLang="en-US" sz="2800" b="1" dirty="0" smtClean="0">
                <a:solidFill>
                  <a:srgbClr val="FF3300"/>
                </a:solidFill>
                <a:effectLst>
                  <a:outerShdw blurRad="38100" dist="38100" dir="2700000" algn="tl">
                    <a:srgbClr val="C0C0C0"/>
                  </a:outerShdw>
                </a:effectLst>
                <a:latin typeface="黑体" pitchFamily="2" charset="-122"/>
                <a:ea typeface="宋体" pitchFamily="2" charset="-122"/>
              </a:rPr>
              <a:t>）</a:t>
            </a:r>
            <a:r>
              <a:rPr lang="en-US" altLang="zh-CN" sz="2800" b="1" dirty="0" smtClean="0">
                <a:effectLst>
                  <a:outerShdw blurRad="38100" dist="38100" dir="2700000" algn="tl">
                    <a:srgbClr val="C0C0C0"/>
                  </a:outerShdw>
                </a:effectLst>
                <a:latin typeface="Times New Roman"/>
                <a:ea typeface="宋体" pitchFamily="2" charset="-122"/>
              </a:rPr>
              <a:t>——</a:t>
            </a:r>
            <a:r>
              <a:rPr lang="en-US" altLang="zh-CN" sz="2800" b="1" dirty="0" smtClean="0">
                <a:effectLst>
                  <a:outerShdw blurRad="38100" dist="38100" dir="2700000" algn="tl">
                    <a:srgbClr val="C0C0C0"/>
                  </a:outerShdw>
                </a:effectLst>
                <a:latin typeface="黑体" pitchFamily="2" charset="-122"/>
                <a:ea typeface="宋体" pitchFamily="2" charset="-122"/>
              </a:rPr>
              <a:t> </a:t>
            </a:r>
            <a:r>
              <a:rPr lang="zh-CN" altLang="en-US" sz="2800" b="1" dirty="0">
                <a:effectLst>
                  <a:outerShdw blurRad="38100" dist="38100" dir="2700000" algn="tl">
                    <a:srgbClr val="C0C0C0"/>
                  </a:outerShdw>
                </a:effectLst>
                <a:latin typeface="黑体" pitchFamily="2" charset="-122"/>
                <a:ea typeface="宋体" pitchFamily="2" charset="-122"/>
              </a:rPr>
              <a:t>两个数相除的结果的表现形式</a:t>
            </a:r>
            <a:r>
              <a:rPr lang="zh-CN" altLang="en-US" sz="2800" b="1" dirty="0" smtClean="0">
                <a:effectLst>
                  <a:outerShdw blurRad="38100" dist="38100" dir="2700000" algn="tl">
                    <a:srgbClr val="C0C0C0"/>
                  </a:outerShdw>
                </a:effectLst>
                <a:latin typeface="黑体" pitchFamily="2" charset="-122"/>
                <a:ea typeface="宋体" pitchFamily="2" charset="-122"/>
              </a:rPr>
              <a:t>，将</a:t>
            </a:r>
            <a:r>
              <a:rPr lang="zh-CN" altLang="en-US" sz="2800" b="1" dirty="0">
                <a:effectLst>
                  <a:outerShdw blurRad="38100" dist="38100" dir="2700000" algn="tl">
                    <a:srgbClr val="C0C0C0"/>
                  </a:outerShdw>
                </a:effectLst>
                <a:latin typeface="黑体" pitchFamily="2" charset="-122"/>
                <a:ea typeface="宋体" pitchFamily="2" charset="-122"/>
              </a:rPr>
              <a:t>对比的基数（分母）化为</a:t>
            </a:r>
            <a:r>
              <a:rPr lang="en-US" altLang="zh-CN" sz="2800" b="1" dirty="0">
                <a:effectLst>
                  <a:outerShdw blurRad="38100" dist="38100" dir="2700000" algn="tl">
                    <a:srgbClr val="C0C0C0"/>
                  </a:outerShdw>
                </a:effectLst>
                <a:latin typeface="黑体" pitchFamily="2" charset="-122"/>
                <a:ea typeface="宋体" pitchFamily="2" charset="-122"/>
              </a:rPr>
              <a:t>100 </a:t>
            </a:r>
            <a:r>
              <a:rPr lang="zh-CN" altLang="en-US" sz="2800" b="1" dirty="0">
                <a:effectLst>
                  <a:outerShdw blurRad="38100" dist="38100" dir="2700000" algn="tl">
                    <a:srgbClr val="C0C0C0"/>
                  </a:outerShdw>
                </a:effectLst>
                <a:latin typeface="黑体" pitchFamily="2" charset="-122"/>
                <a:ea typeface="宋体" pitchFamily="2" charset="-122"/>
              </a:rPr>
              <a:t>；</a:t>
            </a:r>
          </a:p>
          <a:p>
            <a:pPr>
              <a:lnSpc>
                <a:spcPct val="125000"/>
              </a:lnSpc>
              <a:spcBef>
                <a:spcPts val="1200"/>
              </a:spcBef>
              <a:buFontTx/>
              <a:buChar char="•"/>
              <a:defRPr/>
            </a:pPr>
            <a:r>
              <a:rPr lang="zh-CN" altLang="en-US" sz="2800" b="1" dirty="0">
                <a:solidFill>
                  <a:srgbClr val="FF3300"/>
                </a:solidFill>
                <a:effectLst>
                  <a:outerShdw blurRad="38100" dist="38100" dir="2700000" algn="tl">
                    <a:srgbClr val="C0C0C0"/>
                  </a:outerShdw>
                </a:effectLst>
                <a:latin typeface="黑体" pitchFamily="2" charset="-122"/>
                <a:ea typeface="宋体" pitchFamily="2" charset="-122"/>
              </a:rPr>
              <a:t>百分点</a:t>
            </a:r>
            <a:r>
              <a:rPr lang="en-US" altLang="zh-CN" sz="2800" b="1" dirty="0">
                <a:effectLst>
                  <a:outerShdw blurRad="38100" dist="38100" dir="2700000" algn="tl">
                    <a:srgbClr val="C0C0C0"/>
                  </a:outerShdw>
                </a:effectLst>
                <a:latin typeface="Times New Roman"/>
                <a:ea typeface="宋体" pitchFamily="2" charset="-122"/>
              </a:rPr>
              <a:t>——</a:t>
            </a:r>
            <a:r>
              <a:rPr lang="en-US" altLang="zh-CN" sz="2800" b="1" dirty="0">
                <a:effectLst>
                  <a:outerShdw blurRad="38100" dist="38100" dir="2700000" algn="tl">
                    <a:srgbClr val="C0C0C0"/>
                  </a:outerShdw>
                </a:effectLst>
                <a:latin typeface="黑体" pitchFamily="2" charset="-122"/>
                <a:ea typeface="宋体" pitchFamily="2" charset="-122"/>
              </a:rPr>
              <a:t> </a:t>
            </a:r>
            <a:r>
              <a:rPr lang="zh-CN" altLang="en-US" sz="2800" b="1" dirty="0">
                <a:effectLst>
                  <a:outerShdw blurRad="38100" dist="38100" dir="2700000" algn="tl">
                    <a:srgbClr val="C0C0C0"/>
                  </a:outerShdw>
                </a:effectLst>
                <a:latin typeface="黑体" pitchFamily="2" charset="-122"/>
                <a:ea typeface="宋体" pitchFamily="2" charset="-122"/>
              </a:rPr>
              <a:t>两个百分比之差的表现形式。</a:t>
            </a:r>
          </a:p>
          <a:p>
            <a:pPr>
              <a:lnSpc>
                <a:spcPct val="125000"/>
              </a:lnSpc>
              <a:spcBef>
                <a:spcPts val="1200"/>
              </a:spcBef>
              <a:buFontTx/>
              <a:buChar char="•"/>
              <a:defRPr/>
            </a:pPr>
            <a:r>
              <a:rPr lang="zh-CN" altLang="en-US" sz="2800" b="1" dirty="0" smtClean="0">
                <a:solidFill>
                  <a:srgbClr val="C00000"/>
                </a:solidFill>
                <a:effectLst>
                  <a:outerShdw blurRad="38100" dist="38100" dir="2700000" algn="tl">
                    <a:srgbClr val="C0C0C0"/>
                  </a:outerShdw>
                </a:effectLst>
                <a:latin typeface="黑体" pitchFamily="2" charset="-122"/>
                <a:ea typeface="宋体" pitchFamily="2" charset="-122"/>
              </a:rPr>
              <a:t>千分比（</a:t>
            </a:r>
            <a:r>
              <a:rPr lang="en-US" altLang="zh-CN" sz="2800" b="1" dirty="0" smtClean="0">
                <a:solidFill>
                  <a:srgbClr val="C00000"/>
                </a:solidFill>
                <a:effectLst>
                  <a:outerShdw blurRad="38100" dist="38100" dir="2700000" algn="tl">
                    <a:srgbClr val="C0C0C0"/>
                  </a:outerShdw>
                </a:effectLst>
                <a:latin typeface="黑体" pitchFamily="2" charset="-122"/>
                <a:ea typeface="宋体" pitchFamily="2" charset="-122"/>
              </a:rPr>
              <a:t>‰</a:t>
            </a:r>
            <a:r>
              <a:rPr lang="zh-CN" altLang="en-US" sz="2800" b="1" dirty="0" smtClean="0">
                <a:solidFill>
                  <a:srgbClr val="C00000"/>
                </a:solidFill>
                <a:effectLst>
                  <a:outerShdw blurRad="38100" dist="38100" dir="2700000" algn="tl">
                    <a:srgbClr val="C0C0C0"/>
                  </a:outerShdw>
                </a:effectLst>
                <a:latin typeface="黑体" pitchFamily="2" charset="-122"/>
                <a:ea typeface="宋体" pitchFamily="2" charset="-122"/>
              </a:rPr>
              <a:t>）</a:t>
            </a:r>
            <a:r>
              <a:rPr lang="en-US" altLang="zh-CN" sz="2800" b="1" dirty="0" smtClean="0">
                <a:effectLst>
                  <a:outerShdw blurRad="38100" dist="38100" dir="2700000" algn="tl">
                    <a:srgbClr val="C0C0C0"/>
                  </a:outerShdw>
                </a:effectLst>
                <a:latin typeface="Times New Roman"/>
                <a:ea typeface="宋体" pitchFamily="2" charset="-122"/>
              </a:rPr>
              <a:t>——</a:t>
            </a:r>
            <a:r>
              <a:rPr lang="en-US" altLang="zh-CN" sz="2800" b="1" dirty="0" smtClean="0">
                <a:effectLst>
                  <a:outerShdw blurRad="38100" dist="38100" dir="2700000" algn="tl">
                    <a:srgbClr val="C0C0C0"/>
                  </a:outerShdw>
                </a:effectLst>
                <a:latin typeface="黑体" pitchFamily="2" charset="-122"/>
                <a:ea typeface="宋体" pitchFamily="2" charset="-122"/>
              </a:rPr>
              <a:t> </a:t>
            </a:r>
            <a:r>
              <a:rPr lang="zh-CN" altLang="en-US" sz="2800" b="1" dirty="0" smtClean="0">
                <a:effectLst>
                  <a:outerShdw blurRad="38100" dist="38100" dir="2700000" algn="tl">
                    <a:srgbClr val="C0C0C0"/>
                  </a:outerShdw>
                </a:effectLst>
                <a:latin typeface="黑体" pitchFamily="2" charset="-122"/>
                <a:ea typeface="宋体" pitchFamily="2" charset="-122"/>
              </a:rPr>
              <a:t>两个数相除的结果的表现形式，将对比的基数（分母）化为</a:t>
            </a:r>
            <a:r>
              <a:rPr lang="en-US" altLang="zh-CN" sz="2800" b="1" dirty="0" smtClean="0">
                <a:effectLst>
                  <a:outerShdw blurRad="38100" dist="38100" dir="2700000" algn="tl">
                    <a:srgbClr val="C0C0C0"/>
                  </a:outerShdw>
                </a:effectLst>
                <a:latin typeface="黑体" pitchFamily="2" charset="-122"/>
                <a:ea typeface="宋体" pitchFamily="2" charset="-122"/>
              </a:rPr>
              <a:t>1000</a:t>
            </a:r>
            <a:r>
              <a:rPr lang="zh-CN" altLang="en-US" sz="2800" b="1" dirty="0" smtClean="0">
                <a:effectLst>
                  <a:outerShdw blurRad="38100" dist="38100" dir="2700000" algn="tl">
                    <a:srgbClr val="C0C0C0"/>
                  </a:outerShdw>
                </a:effectLst>
                <a:latin typeface="黑体" pitchFamily="2" charset="-122"/>
                <a:ea typeface="宋体" pitchFamily="2" charset="-122"/>
              </a:rPr>
              <a:t>；</a:t>
            </a:r>
          </a:p>
          <a:p>
            <a:pPr>
              <a:lnSpc>
                <a:spcPct val="125000"/>
              </a:lnSpc>
              <a:spcBef>
                <a:spcPts val="1200"/>
              </a:spcBef>
              <a:buFontTx/>
              <a:buChar char="•"/>
              <a:defRPr/>
            </a:pPr>
            <a:r>
              <a:rPr lang="zh-CN" altLang="en-US" sz="2800" b="1" dirty="0" smtClean="0">
                <a:solidFill>
                  <a:srgbClr val="C00000"/>
                </a:solidFill>
                <a:effectLst>
                  <a:outerShdw blurRad="38100" dist="38100" dir="2700000" algn="tl">
                    <a:srgbClr val="C0C0C0"/>
                  </a:outerShdw>
                </a:effectLst>
                <a:latin typeface="黑体" pitchFamily="2" charset="-122"/>
                <a:ea typeface="宋体" pitchFamily="2" charset="-122"/>
              </a:rPr>
              <a:t>千</a:t>
            </a:r>
            <a:r>
              <a:rPr lang="zh-CN" altLang="en-US" sz="2800" b="1" dirty="0">
                <a:solidFill>
                  <a:srgbClr val="C00000"/>
                </a:solidFill>
                <a:effectLst>
                  <a:outerShdw blurRad="38100" dist="38100" dir="2700000" algn="tl">
                    <a:srgbClr val="C0C0C0"/>
                  </a:outerShdw>
                </a:effectLst>
                <a:latin typeface="黑体" pitchFamily="2" charset="-122"/>
                <a:ea typeface="宋体" pitchFamily="2" charset="-122"/>
              </a:rPr>
              <a:t>分点</a:t>
            </a:r>
            <a:r>
              <a:rPr lang="en-US" altLang="zh-CN" sz="2800" b="1" dirty="0">
                <a:effectLst>
                  <a:outerShdw blurRad="38100" dist="38100" dir="2700000" algn="tl">
                    <a:srgbClr val="C0C0C0"/>
                  </a:outerShdw>
                </a:effectLst>
                <a:latin typeface="Times New Roman"/>
                <a:ea typeface="宋体" pitchFamily="2" charset="-122"/>
              </a:rPr>
              <a:t>——</a:t>
            </a:r>
            <a:r>
              <a:rPr lang="zh-CN" altLang="en-US" sz="2800" b="1" dirty="0">
                <a:effectLst>
                  <a:outerShdw blurRad="38100" dist="38100" dir="2700000" algn="tl">
                    <a:srgbClr val="C0C0C0"/>
                  </a:outerShdw>
                </a:effectLst>
                <a:latin typeface="黑体" pitchFamily="2" charset="-122"/>
                <a:ea typeface="宋体" pitchFamily="2" charset="-122"/>
              </a:rPr>
              <a:t>两个千分比之差</a:t>
            </a:r>
            <a:r>
              <a:rPr lang="zh-CN" altLang="en-US" sz="2800" b="1" dirty="0" smtClean="0">
                <a:effectLst>
                  <a:outerShdw blurRad="38100" dist="38100" dir="2700000" algn="tl">
                    <a:srgbClr val="C0C0C0"/>
                  </a:outerShdw>
                </a:effectLst>
                <a:latin typeface="黑体" pitchFamily="2" charset="-122"/>
                <a:ea typeface="宋体" pitchFamily="2" charset="-122"/>
              </a:rPr>
              <a:t>。</a:t>
            </a:r>
            <a:endParaRPr lang="en-US" altLang="zh-CN" sz="2800" b="1" dirty="0" smtClean="0">
              <a:effectLst>
                <a:outerShdw blurRad="38100" dist="38100" dir="2700000" algn="tl">
                  <a:srgbClr val="C0C0C0"/>
                </a:outerShdw>
              </a:effectLst>
              <a:latin typeface="黑体" pitchFamily="2" charset="-122"/>
              <a:ea typeface="宋体" pitchFamily="2" charset="-122"/>
            </a:endParaRPr>
          </a:p>
          <a:p>
            <a:pPr>
              <a:lnSpc>
                <a:spcPct val="125000"/>
              </a:lnSpc>
              <a:spcBef>
                <a:spcPts val="1200"/>
              </a:spcBef>
              <a:buFontTx/>
              <a:buChar char="•"/>
              <a:defRPr/>
            </a:pPr>
            <a:r>
              <a:rPr lang="zh-CN" altLang="en-US" sz="2800" b="1" dirty="0" smtClean="0">
                <a:solidFill>
                  <a:srgbClr val="7030A0"/>
                </a:solidFill>
                <a:effectLst>
                  <a:outerShdw blurRad="38100" dist="38100" dir="2700000" algn="tl">
                    <a:srgbClr val="C0C0C0"/>
                  </a:outerShdw>
                </a:effectLst>
                <a:latin typeface="黑体" pitchFamily="2" charset="-122"/>
                <a:ea typeface="宋体" pitchFamily="2" charset="-122"/>
              </a:rPr>
              <a:t>基点</a:t>
            </a:r>
            <a:r>
              <a:rPr lang="zh-CN" altLang="en-US" sz="2800" b="1" dirty="0" smtClean="0">
                <a:effectLst>
                  <a:outerShdw blurRad="38100" dist="38100" dir="2700000" algn="tl">
                    <a:srgbClr val="C0C0C0"/>
                  </a:outerShdw>
                </a:effectLst>
                <a:latin typeface="黑体" pitchFamily="2" charset="-122"/>
                <a:ea typeface="宋体" pitchFamily="2" charset="-122"/>
              </a:rPr>
              <a:t> </a:t>
            </a:r>
            <a:endParaRPr lang="zh-CN" altLang="en-US" sz="2800" b="1" dirty="0">
              <a:effectLst>
                <a:outerShdw blurRad="38100" dist="38100" dir="2700000" algn="tl">
                  <a:srgbClr val="C0C0C0"/>
                </a:outerShdw>
              </a:effectLst>
              <a:latin typeface="黑体" pitchFamily="2" charset="-122"/>
              <a:ea typeface="宋体" pitchFamily="2" charset="-122"/>
            </a:endParaRP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21</a:t>
            </a:fld>
            <a:endParaRPr lang="en-US" altLang="zh-CN"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6" name="Picture 45" descr="d256"/>
          <p:cNvPicPr>
            <a:picLocks noChangeAspect="1" noChangeArrowheads="1" noCrop="1"/>
          </p:cNvPicPr>
          <p:nvPr/>
        </p:nvPicPr>
        <p:blipFill>
          <a:blip r:embed="rId3" cstate="print"/>
          <a:srcRect/>
          <a:stretch>
            <a:fillRect/>
          </a:stretch>
        </p:blipFill>
        <p:spPr bwMode="auto">
          <a:xfrm>
            <a:off x="7775848" y="5637025"/>
            <a:ext cx="1368152" cy="1248359"/>
          </a:xfrm>
          <a:prstGeom prst="rect">
            <a:avLst/>
          </a:prstGeom>
          <a:noFill/>
          <a:ln w="9525">
            <a:noFill/>
            <a:miter lim="800000"/>
            <a:headEnd/>
            <a:tailEnd/>
          </a:ln>
        </p:spPr>
      </p:pic>
      <p:sp>
        <p:nvSpPr>
          <p:cNvPr id="92163" name="Rectangle 2"/>
          <p:cNvSpPr>
            <a:spLocks noGrp="1" noChangeArrowheads="1"/>
          </p:cNvSpPr>
          <p:nvPr>
            <p:ph type="title"/>
          </p:nvPr>
        </p:nvSpPr>
        <p:spPr>
          <a:xfrm>
            <a:off x="614363" y="371311"/>
            <a:ext cx="7772400" cy="990600"/>
          </a:xfrm>
        </p:spPr>
        <p:txBody>
          <a:bodyPr/>
          <a:lstStyle/>
          <a:p>
            <a:pPr eaLnBrk="1" hangingPunct="1"/>
            <a:r>
              <a:rPr lang="zh-CN" altLang="en-US" dirty="0" smtClean="0">
                <a:solidFill>
                  <a:srgbClr val="0070C0"/>
                </a:solidFill>
              </a:rPr>
              <a:t>谁是亚洲</a:t>
            </a:r>
            <a:r>
              <a:rPr lang="zh-CN" altLang="en-US" dirty="0" smtClean="0">
                <a:solidFill>
                  <a:srgbClr val="1313FF"/>
                </a:solidFill>
              </a:rPr>
              <a:t>最赚钱</a:t>
            </a:r>
            <a:r>
              <a:rPr lang="zh-CN" altLang="en-US" dirty="0" smtClean="0">
                <a:solidFill>
                  <a:srgbClr val="0070C0"/>
                </a:solidFill>
              </a:rPr>
              <a:t>的公司？ </a:t>
            </a:r>
          </a:p>
        </p:txBody>
      </p:sp>
      <p:graphicFrame>
        <p:nvGraphicFramePr>
          <p:cNvPr id="463875" name="Group 3"/>
          <p:cNvGraphicFramePr>
            <a:graphicFrameLocks noGrp="1"/>
          </p:cNvGraphicFramePr>
          <p:nvPr>
            <p:ph idx="1"/>
            <p:extLst>
              <p:ext uri="{D42A27DB-BD31-4B8C-83A1-F6EECF244321}">
                <p14:modId xmlns:p14="http://schemas.microsoft.com/office/powerpoint/2010/main" val="1538780431"/>
              </p:ext>
            </p:extLst>
          </p:nvPr>
        </p:nvGraphicFramePr>
        <p:xfrm>
          <a:off x="597267" y="2095722"/>
          <a:ext cx="8064500" cy="3565526"/>
        </p:xfrm>
        <a:graphic>
          <a:graphicData uri="http://schemas.openxmlformats.org/drawingml/2006/table">
            <a:tbl>
              <a:tblPr/>
              <a:tblGrid>
                <a:gridCol w="1152525">
                  <a:extLst>
                    <a:ext uri="{9D8B030D-6E8A-4147-A177-3AD203B41FA5}">
                      <a16:colId xmlns:a16="http://schemas.microsoft.com/office/drawing/2014/main" val="20000"/>
                    </a:ext>
                  </a:extLst>
                </a:gridCol>
                <a:gridCol w="1125537">
                  <a:extLst>
                    <a:ext uri="{9D8B030D-6E8A-4147-A177-3AD203B41FA5}">
                      <a16:colId xmlns:a16="http://schemas.microsoft.com/office/drawing/2014/main" val="20001"/>
                    </a:ext>
                  </a:extLst>
                </a:gridCol>
                <a:gridCol w="1393825">
                  <a:extLst>
                    <a:ext uri="{9D8B030D-6E8A-4147-A177-3AD203B41FA5}">
                      <a16:colId xmlns:a16="http://schemas.microsoft.com/office/drawing/2014/main" val="20002"/>
                    </a:ext>
                  </a:extLst>
                </a:gridCol>
                <a:gridCol w="1223963">
                  <a:extLst>
                    <a:ext uri="{9D8B030D-6E8A-4147-A177-3AD203B41FA5}">
                      <a16:colId xmlns:a16="http://schemas.microsoft.com/office/drawing/2014/main" val="20003"/>
                    </a:ext>
                  </a:extLst>
                </a:gridCol>
                <a:gridCol w="874712">
                  <a:extLst>
                    <a:ext uri="{9D8B030D-6E8A-4147-A177-3AD203B41FA5}">
                      <a16:colId xmlns:a16="http://schemas.microsoft.com/office/drawing/2014/main" val="20004"/>
                    </a:ext>
                  </a:extLst>
                </a:gridCol>
                <a:gridCol w="1069975">
                  <a:extLst>
                    <a:ext uri="{9D8B030D-6E8A-4147-A177-3AD203B41FA5}">
                      <a16:colId xmlns:a16="http://schemas.microsoft.com/office/drawing/2014/main" val="20005"/>
                    </a:ext>
                  </a:extLst>
                </a:gridCol>
                <a:gridCol w="1223963">
                  <a:extLst>
                    <a:ext uri="{9D8B030D-6E8A-4147-A177-3AD203B41FA5}">
                      <a16:colId xmlns:a16="http://schemas.microsoft.com/office/drawing/2014/main" val="20006"/>
                    </a:ext>
                  </a:extLst>
                </a:gridCol>
              </a:tblGrid>
              <a:tr h="504825">
                <a:tc>
                  <a:txBody>
                    <a:bodyPr/>
                    <a:lstStyle/>
                    <a:p>
                      <a:pPr marL="0" marR="0" lvl="0" indent="0" algn="l"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　</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dirty="0" smtClean="0">
                          <a:ln>
                            <a:noFill/>
                          </a:ln>
                          <a:solidFill>
                            <a:srgbClr val="000000"/>
                          </a:solidFill>
                          <a:effectLst/>
                          <a:latin typeface="宋体" pitchFamily="2" charset="-122"/>
                          <a:ea typeface="宋体" pitchFamily="2" charset="-122"/>
                        </a:rPr>
                        <a:t>总股本</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dirty="0" smtClean="0">
                          <a:ln>
                            <a:noFill/>
                          </a:ln>
                          <a:solidFill>
                            <a:srgbClr val="000000"/>
                          </a:solidFill>
                          <a:effectLst/>
                          <a:latin typeface="宋体" pitchFamily="2" charset="-122"/>
                          <a:ea typeface="宋体" pitchFamily="2" charset="-122"/>
                        </a:rPr>
                        <a:t>（万股）</a:t>
                      </a:r>
                      <a:endParaRPr kumimoji="1" lang="zh-CN" altLang="en-US" sz="1800" b="1" i="0" u="none" strike="noStrike" cap="none" normalizeH="0" baseline="0" dirty="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盈利总额</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（亿元）</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每股收益</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（元）</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净资产</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收益率</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经营</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净利率</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  </a:t>
                      </a:r>
                      <a:r>
                        <a:rPr kumimoji="1" lang="en-US" altLang="zh-CN" sz="1800" b="1" i="0" u="none" strike="noStrike" cap="none" normalizeH="0" baseline="0" smtClean="0">
                          <a:ln>
                            <a:noFill/>
                          </a:ln>
                          <a:solidFill>
                            <a:srgbClr val="000000"/>
                          </a:solidFill>
                          <a:effectLst/>
                          <a:latin typeface="宋体" pitchFamily="2" charset="-122"/>
                          <a:ea typeface="宋体" pitchFamily="2" charset="-122"/>
                        </a:rPr>
                        <a:t>(%)</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经营</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毛利率</a:t>
                      </a:r>
                    </a:p>
                    <a:p>
                      <a:pPr marL="0" marR="0" lvl="0" indent="0" algn="ctr"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 </a:t>
                      </a:r>
                      <a:r>
                        <a:rPr kumimoji="1" lang="en-US" altLang="zh-CN" sz="1800" b="1" i="0" u="none" strike="noStrike" cap="none" normalizeH="0" baseline="0" smtClean="0">
                          <a:ln>
                            <a:noFill/>
                          </a:ln>
                          <a:solidFill>
                            <a:srgbClr val="000000"/>
                          </a:solidFill>
                          <a:effectLst/>
                          <a:latin typeface="宋体" pitchFamily="2" charset="-122"/>
                          <a:ea typeface="宋体" pitchFamily="2" charset="-122"/>
                        </a:rPr>
                        <a:t>(%)</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中国石化</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8670244</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549.43336 </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0.6337</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18.26</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4.5605</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13.0787</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4238">
                <a:tc>
                  <a:txBody>
                    <a:bodyPr/>
                    <a:lstStyle/>
                    <a:p>
                      <a:pPr marL="0" marR="0" lvl="0" indent="0" algn="l"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中国石油</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18302098</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1345.75325</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0.7353</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19.90</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16.1159</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33.4413</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84238">
                <a:tc>
                  <a:txBody>
                    <a:bodyPr/>
                    <a:lstStyle/>
                    <a:p>
                      <a:pPr marL="0" marR="0" lvl="0" indent="0" algn="l" defTabSz="914400" rtl="0" eaLnBrk="1" fontAlgn="b"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宋体" pitchFamily="2" charset="-122"/>
                          <a:ea typeface="宋体" pitchFamily="2" charset="-122"/>
                        </a:rPr>
                        <a:t>贵州茅台</a:t>
                      </a:r>
                      <a:endParaRPr kumimoji="1" lang="zh-CN" altLang="en-US"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94380</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dirty="0" smtClean="0">
                          <a:ln>
                            <a:noFill/>
                          </a:ln>
                          <a:solidFill>
                            <a:srgbClr val="000000"/>
                          </a:solidFill>
                          <a:effectLst/>
                          <a:latin typeface="宋体" pitchFamily="2" charset="-122"/>
                          <a:ea typeface="宋体" pitchFamily="2" charset="-122"/>
                        </a:rPr>
                        <a:t>28.3083372</a:t>
                      </a:r>
                      <a:endParaRPr kumimoji="1" lang="en-US" altLang="zh-CN" sz="1800" b="1" i="0" u="none" strike="noStrike" cap="none" normalizeH="0" baseline="0" dirty="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2.9994</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smtClean="0">
                          <a:ln>
                            <a:noFill/>
                          </a:ln>
                          <a:solidFill>
                            <a:srgbClr val="000000"/>
                          </a:solidFill>
                          <a:effectLst/>
                          <a:latin typeface="宋体" pitchFamily="2" charset="-122"/>
                          <a:ea typeface="宋体" pitchFamily="2" charset="-122"/>
                        </a:rPr>
                        <a:t>34.38</a:t>
                      </a:r>
                      <a:endParaRPr kumimoji="1" lang="en-US" altLang="zh-CN" sz="18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dirty="0" smtClean="0">
                          <a:ln>
                            <a:noFill/>
                          </a:ln>
                          <a:solidFill>
                            <a:srgbClr val="000000"/>
                          </a:solidFill>
                          <a:effectLst/>
                          <a:latin typeface="宋体" pitchFamily="2" charset="-122"/>
                          <a:ea typeface="宋体" pitchFamily="2" charset="-122"/>
                        </a:rPr>
                        <a:t>39.1138</a:t>
                      </a:r>
                      <a:endParaRPr kumimoji="1" lang="en-US" altLang="zh-CN" sz="1800" b="1" i="0" u="none" strike="noStrike" cap="none" normalizeH="0" baseline="0" dirty="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800" b="1" i="0" u="none" strike="noStrike" cap="none" normalizeH="0" baseline="0" dirty="0" smtClean="0">
                          <a:ln>
                            <a:noFill/>
                          </a:ln>
                          <a:solidFill>
                            <a:srgbClr val="000000"/>
                          </a:solidFill>
                          <a:effectLst/>
                          <a:latin typeface="宋体" pitchFamily="2" charset="-122"/>
                          <a:ea typeface="宋体" pitchFamily="2" charset="-122"/>
                        </a:rPr>
                        <a:t>79.6099</a:t>
                      </a:r>
                      <a:endParaRPr kumimoji="1" lang="en-US" altLang="zh-CN" sz="1800" b="1" i="0" u="none" strike="noStrike" cap="none" normalizeH="0" baseline="0" dirty="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文本框 1"/>
          <p:cNvSpPr txBox="1"/>
          <p:nvPr/>
        </p:nvSpPr>
        <p:spPr>
          <a:xfrm>
            <a:off x="614363" y="1681774"/>
            <a:ext cx="2678589" cy="400110"/>
          </a:xfrm>
          <a:prstGeom prst="rect">
            <a:avLst/>
          </a:prstGeom>
          <a:noFill/>
        </p:spPr>
        <p:txBody>
          <a:bodyPr wrap="square" rtlCol="0">
            <a:spAutoFit/>
          </a:bodyPr>
          <a:lstStyle/>
          <a:p>
            <a:r>
              <a:rPr lang="zh-CN" altLang="en-US" sz="2000" dirty="0" smtClean="0"/>
              <a:t>中国石油上市时</a:t>
            </a:r>
            <a:r>
              <a:rPr lang="en-US" altLang="zh-CN" sz="2000" dirty="0" smtClean="0"/>
              <a:t>——</a:t>
            </a:r>
            <a:endParaRPr lang="zh-CN" altLang="en-US" sz="2000" dirty="0"/>
          </a:p>
        </p:txBody>
      </p:sp>
      <p:sp>
        <p:nvSpPr>
          <p:cNvPr id="3" name="文本框 2"/>
          <p:cNvSpPr txBox="1"/>
          <p:nvPr/>
        </p:nvSpPr>
        <p:spPr>
          <a:xfrm>
            <a:off x="4788024" y="1331455"/>
            <a:ext cx="3384376" cy="400110"/>
          </a:xfrm>
          <a:prstGeom prst="rect">
            <a:avLst/>
          </a:prstGeom>
          <a:noFill/>
        </p:spPr>
        <p:txBody>
          <a:bodyPr wrap="square" rtlCol="0">
            <a:spAutoFit/>
          </a:bodyPr>
          <a:lstStyle/>
          <a:p>
            <a:r>
              <a:rPr lang="en-US" altLang="zh-CN" sz="2000" dirty="0" smtClean="0">
                <a:solidFill>
                  <a:srgbClr val="1313FF"/>
                </a:solidFill>
                <a:latin typeface="+mn-ea"/>
                <a:ea typeface="+mn-ea"/>
              </a:rPr>
              <a:t>——</a:t>
            </a:r>
            <a:r>
              <a:rPr lang="zh-CN" altLang="en-US" sz="2000" dirty="0" smtClean="0">
                <a:solidFill>
                  <a:srgbClr val="1313FF"/>
                </a:solidFill>
                <a:latin typeface="+mn-ea"/>
                <a:ea typeface="+mn-ea"/>
              </a:rPr>
              <a:t>用哪个指标来对比</a:t>
            </a:r>
            <a:r>
              <a:rPr lang="zh-CN" altLang="en-US" sz="2000" dirty="0">
                <a:solidFill>
                  <a:srgbClr val="1313FF"/>
                </a:solidFill>
                <a:latin typeface="+mn-ea"/>
                <a:ea typeface="+mn-ea"/>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4"/>
          <p:cNvSpPr>
            <a:spLocks noGrp="1" noChangeArrowheads="1"/>
          </p:cNvSpPr>
          <p:nvPr>
            <p:ph type="title"/>
          </p:nvPr>
        </p:nvSpPr>
        <p:spPr>
          <a:xfrm>
            <a:off x="755650" y="0"/>
            <a:ext cx="7772400" cy="990600"/>
          </a:xfrm>
        </p:spPr>
        <p:txBody>
          <a:bodyPr/>
          <a:lstStyle/>
          <a:p>
            <a:pPr eaLnBrk="1" hangingPunct="1"/>
            <a:r>
              <a:rPr lang="zh-CN" altLang="en-US" dirty="0" smtClean="0">
                <a:latin typeface="Times New Roman" pitchFamily="18" charset="0"/>
              </a:rPr>
              <a:t>相对指标的意义</a:t>
            </a:r>
          </a:p>
        </p:txBody>
      </p:sp>
      <p:sp>
        <p:nvSpPr>
          <p:cNvPr id="5" name="内容占位符 4"/>
          <p:cNvSpPr>
            <a:spLocks noGrp="1"/>
          </p:cNvSpPr>
          <p:nvPr>
            <p:ph idx="1"/>
          </p:nvPr>
        </p:nvSpPr>
        <p:spPr>
          <a:xfrm>
            <a:off x="323528" y="1196752"/>
            <a:ext cx="8210872" cy="5051648"/>
          </a:xfrm>
        </p:spPr>
        <p:txBody>
          <a:bodyPr/>
          <a:lstStyle/>
          <a:p>
            <a:pPr lvl="1" algn="just" eaLnBrk="1" hangingPunct="1">
              <a:lnSpc>
                <a:spcPct val="130000"/>
              </a:lnSpc>
              <a:buClr>
                <a:schemeClr val="tx2">
                  <a:lumMod val="60000"/>
                  <a:lumOff val="40000"/>
                </a:schemeClr>
              </a:buClr>
              <a:buFont typeface="Wingdings" pitchFamily="2" charset="2"/>
              <a:buChar char="l"/>
            </a:pPr>
            <a:r>
              <a:rPr lang="zh-CN" altLang="en-US" dirty="0" smtClean="0">
                <a:solidFill>
                  <a:srgbClr val="006600"/>
                </a:solidFill>
                <a:latin typeface="Times New Roman" pitchFamily="18" charset="0"/>
              </a:rPr>
              <a:t>相对数可以反映现象之间或现象内部的数量对比关系。</a:t>
            </a:r>
            <a:endParaRPr lang="en-US" altLang="zh-CN" dirty="0" smtClean="0">
              <a:solidFill>
                <a:srgbClr val="006600"/>
              </a:solidFill>
              <a:latin typeface="Times New Roman" pitchFamily="18" charset="0"/>
            </a:endParaRPr>
          </a:p>
          <a:p>
            <a:pPr lvl="1" algn="just" eaLnBrk="1" hangingPunct="1">
              <a:lnSpc>
                <a:spcPct val="130000"/>
              </a:lnSpc>
              <a:buClr>
                <a:schemeClr val="tx2">
                  <a:lumMod val="60000"/>
                  <a:lumOff val="40000"/>
                </a:schemeClr>
              </a:buClr>
              <a:buFont typeface="Wingdings" pitchFamily="2" charset="2"/>
              <a:buChar char="l"/>
            </a:pPr>
            <a:r>
              <a:rPr lang="zh-CN" altLang="en-US" dirty="0" smtClean="0">
                <a:solidFill>
                  <a:srgbClr val="006600"/>
                </a:solidFill>
                <a:latin typeface="Times New Roman" pitchFamily="18" charset="0"/>
              </a:rPr>
              <a:t>相对数可以使一些不能直接对比的现象能够进行比较。</a:t>
            </a:r>
            <a:endParaRPr lang="en-US" altLang="zh-CN" dirty="0" smtClean="0">
              <a:solidFill>
                <a:srgbClr val="006600"/>
              </a:solidFill>
              <a:latin typeface="Times New Roman" pitchFamily="18" charset="0"/>
            </a:endParaRPr>
          </a:p>
          <a:p>
            <a:pPr lvl="1" algn="just" eaLnBrk="1" hangingPunct="1">
              <a:lnSpc>
                <a:spcPct val="130000"/>
              </a:lnSpc>
              <a:buClr>
                <a:schemeClr val="tx2">
                  <a:lumMod val="60000"/>
                  <a:lumOff val="40000"/>
                </a:schemeClr>
              </a:buClr>
              <a:buFont typeface="Wingdings" pitchFamily="2" charset="2"/>
              <a:buChar char="l"/>
            </a:pPr>
            <a:r>
              <a:rPr lang="zh-CN" altLang="en-US" dirty="0" smtClean="0">
                <a:solidFill>
                  <a:srgbClr val="006600"/>
                </a:solidFill>
                <a:latin typeface="Times New Roman" pitchFamily="18" charset="0"/>
              </a:rPr>
              <a:t>相对数是进行宏观调控和企业经营管理的重要工具。</a:t>
            </a:r>
            <a:r>
              <a:rPr lang="zh-CN" altLang="en-US" sz="2400" dirty="0" smtClean="0">
                <a:solidFill>
                  <a:schemeClr val="tx1"/>
                </a:solidFill>
                <a:latin typeface="Times New Roman" pitchFamily="18" charset="0"/>
              </a:rPr>
              <a:t>国民经济中有许多重要的比率关系，如速度、比例、效益等，都要通过相对数来进行分析；一个企业生产质量的高低、经济效益的高低也要用许多相对数来反映。</a:t>
            </a:r>
            <a:endParaRPr lang="zh-CN" altLang="en-US" dirty="0" smtClean="0">
              <a:solidFill>
                <a:schemeClr val="tx1"/>
              </a:solidFill>
            </a:endParaRP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23</a:t>
            </a:fld>
            <a:endParaRPr lang="en-US" altLang="zh-CN"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684213" y="333375"/>
            <a:ext cx="7772400" cy="838200"/>
          </a:xfrm>
        </p:spPr>
        <p:txBody>
          <a:bodyPr/>
          <a:lstStyle/>
          <a:p>
            <a:pPr eaLnBrk="1" hangingPunct="1"/>
            <a:r>
              <a:rPr lang="en-US" altLang="zh-CN" dirty="0" smtClean="0">
                <a:solidFill>
                  <a:srgbClr val="1313FF"/>
                </a:solidFill>
              </a:rPr>
              <a:t>2. </a:t>
            </a:r>
            <a:r>
              <a:rPr lang="zh-CN" altLang="en-US" dirty="0" smtClean="0">
                <a:solidFill>
                  <a:srgbClr val="1313FF"/>
                </a:solidFill>
              </a:rPr>
              <a:t>相对指标的种类及作用</a:t>
            </a:r>
          </a:p>
        </p:txBody>
      </p:sp>
      <p:graphicFrame>
        <p:nvGraphicFramePr>
          <p:cNvPr id="3074" name="Object 4"/>
          <p:cNvGraphicFramePr>
            <a:graphicFrameLocks noChangeAspect="1"/>
          </p:cNvGraphicFramePr>
          <p:nvPr/>
        </p:nvGraphicFramePr>
        <p:xfrm>
          <a:off x="2267744" y="2004194"/>
          <a:ext cx="6324600" cy="920750"/>
        </p:xfrm>
        <a:graphic>
          <a:graphicData uri="http://schemas.openxmlformats.org/presentationml/2006/ole">
            <mc:AlternateContent xmlns:mc="http://schemas.openxmlformats.org/markup-compatibility/2006">
              <mc:Choice xmlns:v="urn:schemas-microsoft-com:vml" Requires="v">
                <p:oleObj spid="_x0000_s3252" name="Equation" r:id="rId3" imgW="2971800" imgH="419040" progId="Equation.3">
                  <p:embed/>
                </p:oleObj>
              </mc:Choice>
              <mc:Fallback>
                <p:oleObj name="Equation" r:id="rId3" imgW="2971800" imgH="419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2004194"/>
                        <a:ext cx="6324600" cy="9207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9797" name="Text Box 5"/>
          <p:cNvSpPr txBox="1">
            <a:spLocks noChangeArrowheads="1"/>
          </p:cNvSpPr>
          <p:nvPr/>
        </p:nvSpPr>
        <p:spPr bwMode="auto">
          <a:xfrm>
            <a:off x="552480" y="3070086"/>
            <a:ext cx="8039864" cy="3387081"/>
          </a:xfrm>
          <a:prstGeom prst="rect">
            <a:avLst/>
          </a:prstGeom>
          <a:noFill/>
          <a:ln w="9525">
            <a:noFill/>
            <a:miter lim="800000"/>
            <a:headEnd/>
            <a:tailEnd/>
          </a:ln>
        </p:spPr>
        <p:txBody>
          <a:bodyPr wrap="square">
            <a:spAutoFit/>
          </a:bodyPr>
          <a:lstStyle/>
          <a:p>
            <a:pPr>
              <a:spcBef>
                <a:spcPct val="50000"/>
              </a:spcBef>
              <a:buFontTx/>
              <a:buChar char="•"/>
            </a:pPr>
            <a:r>
              <a:rPr lang="zh-CN" altLang="en-US" sz="2800" b="1" dirty="0">
                <a:solidFill>
                  <a:srgbClr val="000000"/>
                </a:solidFill>
                <a:latin typeface="+mn-ea"/>
              </a:rPr>
              <a:t>反映社会经济现象的内部结构以及分布</a:t>
            </a:r>
            <a:r>
              <a:rPr lang="zh-CN" altLang="en-US" sz="2800" b="1" dirty="0" smtClean="0">
                <a:solidFill>
                  <a:srgbClr val="000000"/>
                </a:solidFill>
                <a:latin typeface="+mn-ea"/>
              </a:rPr>
              <a:t>状况。</a:t>
            </a:r>
            <a:endParaRPr lang="en-US" altLang="zh-CN" sz="2800" b="1" dirty="0" smtClean="0">
              <a:solidFill>
                <a:srgbClr val="000000"/>
              </a:solidFill>
              <a:latin typeface="+mn-ea"/>
            </a:endParaRPr>
          </a:p>
          <a:p>
            <a:pPr>
              <a:spcBef>
                <a:spcPts val="600"/>
              </a:spcBef>
              <a:buFontTx/>
              <a:buChar char="•"/>
            </a:pPr>
            <a:r>
              <a:rPr lang="zh-CN" altLang="en-US" sz="2800" b="1" dirty="0" smtClean="0">
                <a:solidFill>
                  <a:srgbClr val="000000"/>
                </a:solidFill>
                <a:latin typeface="+mn-ea"/>
              </a:rPr>
              <a:t>各组比重之总和</a:t>
            </a:r>
            <a:r>
              <a:rPr lang="en-US" altLang="zh-CN" sz="2800" b="1" dirty="0" smtClean="0">
                <a:solidFill>
                  <a:srgbClr val="000000"/>
                </a:solidFill>
                <a:latin typeface="+mn-ea"/>
              </a:rPr>
              <a:t>=100%</a:t>
            </a:r>
          </a:p>
          <a:p>
            <a:pPr>
              <a:spcBef>
                <a:spcPts val="600"/>
              </a:spcBef>
            </a:pPr>
            <a:r>
              <a:rPr lang="en-US" altLang="zh-CN" sz="3200" b="1" dirty="0" smtClean="0">
                <a:ea typeface="宋体" pitchFamily="2" charset="-122"/>
              </a:rPr>
              <a:t>  </a:t>
            </a:r>
            <a:r>
              <a:rPr lang="zh-CN" altLang="en-US" sz="2600" b="1" dirty="0" smtClean="0">
                <a:ea typeface="宋体" pitchFamily="2" charset="-122"/>
              </a:rPr>
              <a:t>如：</a:t>
            </a:r>
            <a:r>
              <a:rPr lang="zh-CN" altLang="en-US" b="1" dirty="0" smtClean="0">
                <a:solidFill>
                  <a:srgbClr val="006600"/>
                </a:solidFill>
                <a:ea typeface="宋体" pitchFamily="2" charset="-122"/>
              </a:rPr>
              <a:t>市场占有率；人口城镇化率；恩格尔系数</a:t>
            </a:r>
            <a:endParaRPr lang="en-US" altLang="zh-CN" b="1" dirty="0" smtClean="0">
              <a:solidFill>
                <a:srgbClr val="006600"/>
              </a:solidFill>
              <a:ea typeface="宋体" pitchFamily="2" charset="-122"/>
            </a:endParaRPr>
          </a:p>
          <a:p>
            <a:pPr>
              <a:spcBef>
                <a:spcPts val="600"/>
              </a:spcBef>
            </a:pPr>
            <a:r>
              <a:rPr lang="en-US" altLang="zh-CN" sz="2200" dirty="0" smtClean="0">
                <a:solidFill>
                  <a:srgbClr val="000000"/>
                </a:solidFill>
              </a:rPr>
              <a:t>          2023</a:t>
            </a:r>
            <a:r>
              <a:rPr lang="zh-CN" altLang="en-US" sz="2200" dirty="0" smtClean="0">
                <a:solidFill>
                  <a:srgbClr val="000000"/>
                </a:solidFill>
              </a:rPr>
              <a:t>年</a:t>
            </a:r>
            <a:r>
              <a:rPr lang="zh-CN" altLang="en-US" sz="2200" dirty="0">
                <a:solidFill>
                  <a:srgbClr val="000000"/>
                </a:solidFill>
              </a:rPr>
              <a:t>全国居民恩格尔系数为</a:t>
            </a:r>
            <a:r>
              <a:rPr lang="en-US" altLang="zh-CN" sz="2200" dirty="0">
                <a:solidFill>
                  <a:srgbClr val="000000"/>
                </a:solidFill>
              </a:rPr>
              <a:t>29.8%</a:t>
            </a:r>
            <a:r>
              <a:rPr lang="zh-CN" altLang="en-US" sz="2200" dirty="0">
                <a:solidFill>
                  <a:srgbClr val="000000"/>
                </a:solidFill>
              </a:rPr>
              <a:t>，其中城镇为</a:t>
            </a:r>
            <a:r>
              <a:rPr lang="en-US" altLang="zh-CN" sz="2200" dirty="0">
                <a:solidFill>
                  <a:srgbClr val="000000"/>
                </a:solidFill>
              </a:rPr>
              <a:t>28.8%</a:t>
            </a:r>
            <a:r>
              <a:rPr lang="zh-CN" altLang="en-US" sz="2200" dirty="0">
                <a:solidFill>
                  <a:srgbClr val="000000"/>
                </a:solidFill>
              </a:rPr>
              <a:t>，农村为</a:t>
            </a:r>
            <a:r>
              <a:rPr lang="en-US" altLang="zh-CN" sz="2200" dirty="0">
                <a:solidFill>
                  <a:srgbClr val="000000"/>
                </a:solidFill>
              </a:rPr>
              <a:t>32.4%</a:t>
            </a:r>
            <a:r>
              <a:rPr lang="zh-CN" altLang="en-US" sz="2200" dirty="0">
                <a:solidFill>
                  <a:srgbClr val="000000"/>
                </a:solidFill>
              </a:rPr>
              <a:t>。</a:t>
            </a:r>
            <a:endParaRPr lang="en-US" altLang="zh-CN" sz="2200" dirty="0">
              <a:solidFill>
                <a:srgbClr val="000000"/>
              </a:solidFill>
            </a:endParaRPr>
          </a:p>
          <a:p>
            <a:pPr marL="630238" lvl="1">
              <a:spcBef>
                <a:spcPct val="10000"/>
              </a:spcBef>
              <a:buFontTx/>
              <a:buChar char="•"/>
            </a:pPr>
            <a:endParaRPr lang="en-US" altLang="zh-CN" sz="1100" b="1" dirty="0" smtClean="0">
              <a:solidFill>
                <a:srgbClr val="3333FF"/>
              </a:solidFill>
              <a:ea typeface="宋体" pitchFamily="2" charset="-122"/>
            </a:endParaRPr>
          </a:p>
          <a:p>
            <a:pPr lvl="1">
              <a:spcBef>
                <a:spcPts val="0"/>
              </a:spcBef>
            </a:pPr>
            <a:r>
              <a:rPr lang="zh-CN" altLang="en-US" sz="2000" b="1" dirty="0" smtClean="0">
                <a:solidFill>
                  <a:srgbClr val="C56B9E"/>
                </a:solidFill>
                <a:ea typeface="宋体" pitchFamily="2" charset="-122"/>
              </a:rPr>
              <a:t>          </a:t>
            </a:r>
            <a:r>
              <a:rPr lang="zh-CN" altLang="en-US" sz="2000" b="1" dirty="0">
                <a:solidFill>
                  <a:srgbClr val="C56B9E"/>
                </a:solidFill>
                <a:ea typeface="宋体" pitchFamily="2" charset="-122"/>
              </a:rPr>
              <a:t>最富裕       　富 裕             小康  　    勉强度日      绝对贫困 </a:t>
            </a:r>
            <a:endParaRPr lang="en-US" altLang="zh-CN" sz="2000" b="1" dirty="0" smtClean="0">
              <a:solidFill>
                <a:srgbClr val="C56B9E"/>
              </a:solidFill>
              <a:ea typeface="宋体" pitchFamily="2" charset="-122"/>
            </a:endParaRPr>
          </a:p>
          <a:p>
            <a:pPr lvl="3">
              <a:spcBef>
                <a:spcPts val="0"/>
              </a:spcBef>
            </a:pPr>
            <a:endParaRPr lang="zh-CN" altLang="en-US" sz="1100" b="1" dirty="0" smtClean="0">
              <a:solidFill>
                <a:srgbClr val="C56B9E"/>
              </a:solidFill>
              <a:ea typeface="宋体" pitchFamily="2" charset="-122"/>
            </a:endParaRPr>
          </a:p>
          <a:p>
            <a:pPr>
              <a:spcBef>
                <a:spcPts val="0"/>
              </a:spcBef>
            </a:pPr>
            <a:r>
              <a:rPr lang="zh-CN" altLang="en-US" sz="2000" b="1" dirty="0" smtClean="0">
                <a:solidFill>
                  <a:srgbClr val="807D00"/>
                </a:solidFill>
                <a:ea typeface="宋体" pitchFamily="2" charset="-122"/>
              </a:rPr>
              <a:t>　　　                  </a:t>
            </a:r>
            <a:r>
              <a:rPr lang="en-US" altLang="zh-CN" sz="2000" b="1" dirty="0" smtClean="0">
                <a:solidFill>
                  <a:srgbClr val="000000"/>
                </a:solidFill>
                <a:ea typeface="宋体" pitchFamily="2" charset="-122"/>
              </a:rPr>
              <a:t>30%</a:t>
            </a:r>
            <a:r>
              <a:rPr lang="en-US" altLang="zh-CN" sz="2000" b="1" dirty="0" smtClean="0">
                <a:solidFill>
                  <a:srgbClr val="807D00"/>
                </a:solidFill>
                <a:ea typeface="宋体" pitchFamily="2" charset="-122"/>
              </a:rPr>
              <a:t> </a:t>
            </a:r>
            <a:r>
              <a:rPr lang="zh-CN" altLang="en-US" sz="2000" b="1" dirty="0" smtClean="0">
                <a:solidFill>
                  <a:srgbClr val="807D00"/>
                </a:solidFill>
                <a:ea typeface="宋体" pitchFamily="2" charset="-122"/>
              </a:rPr>
              <a:t>　  　     </a:t>
            </a:r>
            <a:r>
              <a:rPr lang="en-US" altLang="zh-CN" sz="2000" b="1" dirty="0" smtClean="0">
                <a:solidFill>
                  <a:srgbClr val="000000"/>
                </a:solidFill>
                <a:ea typeface="宋体" pitchFamily="2" charset="-122"/>
              </a:rPr>
              <a:t>40% </a:t>
            </a:r>
            <a:r>
              <a:rPr lang="zh-CN" altLang="en-US" sz="2000" b="1" dirty="0" smtClean="0">
                <a:solidFill>
                  <a:srgbClr val="807D00"/>
                </a:solidFill>
                <a:ea typeface="宋体" pitchFamily="2" charset="-122"/>
              </a:rPr>
              <a:t>　　   </a:t>
            </a:r>
            <a:r>
              <a:rPr lang="en-US" altLang="zh-CN" sz="2000" b="1" dirty="0" smtClean="0">
                <a:solidFill>
                  <a:srgbClr val="000000"/>
                </a:solidFill>
                <a:ea typeface="宋体" pitchFamily="2" charset="-122"/>
              </a:rPr>
              <a:t>50%               59%          </a:t>
            </a:r>
            <a:r>
              <a:rPr lang="zh-CN" altLang="en-US" sz="2000" b="1" dirty="0" smtClean="0">
                <a:solidFill>
                  <a:srgbClr val="000000"/>
                </a:solidFill>
                <a:ea typeface="宋体" pitchFamily="2" charset="-122"/>
              </a:rPr>
              <a:t>　    　 　</a:t>
            </a:r>
            <a:endParaRPr lang="zh-CN" altLang="en-US" sz="2000" b="1" dirty="0">
              <a:solidFill>
                <a:srgbClr val="000000"/>
              </a:solidFill>
              <a:ea typeface="宋体" pitchFamily="2" charset="-122"/>
            </a:endParaRPr>
          </a:p>
        </p:txBody>
      </p:sp>
      <p:sp>
        <p:nvSpPr>
          <p:cNvPr id="3078" name="Line 6"/>
          <p:cNvSpPr>
            <a:spLocks noChangeShapeType="1"/>
          </p:cNvSpPr>
          <p:nvPr/>
        </p:nvSpPr>
        <p:spPr bwMode="auto">
          <a:xfrm>
            <a:off x="1907704" y="5877272"/>
            <a:ext cx="6019800" cy="0"/>
          </a:xfrm>
          <a:prstGeom prst="line">
            <a:avLst/>
          </a:prstGeom>
          <a:noFill/>
          <a:ln w="38100">
            <a:solidFill>
              <a:schemeClr val="tx1"/>
            </a:solidFill>
            <a:miter lim="800000"/>
            <a:headEnd/>
            <a:tailEnd/>
          </a:ln>
        </p:spPr>
        <p:txBody>
          <a:bodyPr wrap="none"/>
          <a:lstStyle/>
          <a:p>
            <a:endParaRPr lang="zh-CN" altLang="en-US"/>
          </a:p>
        </p:txBody>
      </p:sp>
      <p:sp>
        <p:nvSpPr>
          <p:cNvPr id="3079" name="Line 7"/>
          <p:cNvSpPr>
            <a:spLocks noChangeShapeType="1"/>
          </p:cNvSpPr>
          <p:nvPr/>
        </p:nvSpPr>
        <p:spPr bwMode="auto">
          <a:xfrm flipH="1">
            <a:off x="6948264" y="5661248"/>
            <a:ext cx="0" cy="152400"/>
          </a:xfrm>
          <a:prstGeom prst="line">
            <a:avLst/>
          </a:prstGeom>
          <a:noFill/>
          <a:ln w="9525">
            <a:solidFill>
              <a:schemeClr val="tx1"/>
            </a:solidFill>
            <a:miter lim="800000"/>
            <a:headEnd/>
            <a:tailEnd/>
          </a:ln>
        </p:spPr>
        <p:txBody>
          <a:bodyPr wrap="none"/>
          <a:lstStyle/>
          <a:p>
            <a:endParaRPr lang="zh-CN" altLang="en-US"/>
          </a:p>
        </p:txBody>
      </p:sp>
      <p:sp>
        <p:nvSpPr>
          <p:cNvPr id="3080" name="Line 8"/>
          <p:cNvSpPr>
            <a:spLocks noChangeShapeType="1"/>
          </p:cNvSpPr>
          <p:nvPr/>
        </p:nvSpPr>
        <p:spPr bwMode="auto">
          <a:xfrm flipH="1">
            <a:off x="2771800" y="5661248"/>
            <a:ext cx="0" cy="152400"/>
          </a:xfrm>
          <a:prstGeom prst="line">
            <a:avLst/>
          </a:prstGeom>
          <a:noFill/>
          <a:ln w="15875">
            <a:solidFill>
              <a:schemeClr val="tx1"/>
            </a:solidFill>
            <a:miter lim="800000"/>
            <a:headEnd/>
            <a:tailEnd/>
          </a:ln>
        </p:spPr>
        <p:txBody>
          <a:bodyPr wrap="none"/>
          <a:lstStyle/>
          <a:p>
            <a:endParaRPr lang="zh-CN" altLang="en-US" sz="2800"/>
          </a:p>
        </p:txBody>
      </p:sp>
      <p:sp>
        <p:nvSpPr>
          <p:cNvPr id="3081" name="Line 9"/>
          <p:cNvSpPr>
            <a:spLocks noChangeShapeType="1"/>
          </p:cNvSpPr>
          <p:nvPr/>
        </p:nvSpPr>
        <p:spPr bwMode="auto">
          <a:xfrm flipH="1">
            <a:off x="4139952" y="5661248"/>
            <a:ext cx="0" cy="152400"/>
          </a:xfrm>
          <a:prstGeom prst="line">
            <a:avLst/>
          </a:prstGeom>
          <a:noFill/>
          <a:ln w="9525">
            <a:solidFill>
              <a:schemeClr val="tx1"/>
            </a:solidFill>
            <a:miter lim="800000"/>
            <a:headEnd/>
            <a:tailEnd/>
          </a:ln>
        </p:spPr>
        <p:txBody>
          <a:bodyPr wrap="none"/>
          <a:lstStyle/>
          <a:p>
            <a:endParaRPr lang="zh-CN" altLang="en-US"/>
          </a:p>
        </p:txBody>
      </p:sp>
      <p:sp>
        <p:nvSpPr>
          <p:cNvPr id="3082" name="Line 10"/>
          <p:cNvSpPr>
            <a:spLocks noChangeShapeType="1"/>
          </p:cNvSpPr>
          <p:nvPr/>
        </p:nvSpPr>
        <p:spPr bwMode="auto">
          <a:xfrm flipH="1">
            <a:off x="5436096" y="5661248"/>
            <a:ext cx="0" cy="152400"/>
          </a:xfrm>
          <a:prstGeom prst="line">
            <a:avLst/>
          </a:prstGeom>
          <a:noFill/>
          <a:ln w="9525">
            <a:solidFill>
              <a:schemeClr val="tx1"/>
            </a:solidFill>
            <a:miter lim="800000"/>
            <a:headEnd/>
            <a:tailEnd/>
          </a:ln>
        </p:spPr>
        <p:txBody>
          <a:bodyPr wrap="none"/>
          <a:lstStyle/>
          <a:p>
            <a:endParaRPr lang="zh-CN" altLang="en-US"/>
          </a:p>
        </p:txBody>
      </p:sp>
      <p:sp>
        <p:nvSpPr>
          <p:cNvPr id="3083" name="Text Box 13"/>
          <p:cNvSpPr txBox="1">
            <a:spLocks noChangeArrowheads="1"/>
          </p:cNvSpPr>
          <p:nvPr/>
        </p:nvSpPr>
        <p:spPr bwMode="auto">
          <a:xfrm>
            <a:off x="214282" y="1357298"/>
            <a:ext cx="6121400" cy="579437"/>
          </a:xfrm>
          <a:prstGeom prst="rect">
            <a:avLst/>
          </a:prstGeom>
          <a:noFill/>
          <a:ln w="9525">
            <a:noFill/>
            <a:miter lim="800000"/>
            <a:headEnd/>
            <a:tailEnd/>
          </a:ln>
        </p:spPr>
        <p:txBody>
          <a:bodyPr>
            <a:spAutoFit/>
          </a:bodyPr>
          <a:lstStyle/>
          <a:p>
            <a:pPr>
              <a:spcBef>
                <a:spcPct val="50000"/>
              </a:spcBef>
            </a:pPr>
            <a:r>
              <a:rPr lang="zh-CN" altLang="en-US" sz="3200" b="1" dirty="0">
                <a:solidFill>
                  <a:srgbClr val="1313FF"/>
                </a:solidFill>
                <a:ea typeface="宋体" pitchFamily="2" charset="-122"/>
              </a:rPr>
              <a:t>（</a:t>
            </a:r>
            <a:r>
              <a:rPr lang="en-US" altLang="zh-CN" sz="3200" b="1" dirty="0">
                <a:solidFill>
                  <a:srgbClr val="1313FF"/>
                </a:solidFill>
                <a:ea typeface="宋体" pitchFamily="2" charset="-122"/>
              </a:rPr>
              <a:t>1</a:t>
            </a:r>
            <a:r>
              <a:rPr lang="zh-CN" altLang="en-US" sz="3200" b="1" dirty="0">
                <a:solidFill>
                  <a:srgbClr val="1313FF"/>
                </a:solidFill>
                <a:ea typeface="宋体" pitchFamily="2" charset="-122"/>
              </a:rPr>
              <a:t>） 结构相对数（比重）</a:t>
            </a:r>
          </a:p>
        </p:txBody>
      </p:sp>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24</a:t>
            </a:fld>
            <a:endParaRPr lang="en-US" altLang="zh-CN"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250825" y="404813"/>
            <a:ext cx="8424863" cy="914400"/>
          </a:xfrm>
        </p:spPr>
        <p:txBody>
          <a:bodyPr/>
          <a:lstStyle/>
          <a:p>
            <a:pPr eaLnBrk="1" hangingPunct="1"/>
            <a:r>
              <a:rPr lang="en-US" altLang="zh-CN" sz="3600" dirty="0" smtClean="0">
                <a:solidFill>
                  <a:srgbClr val="1313FF"/>
                </a:solidFill>
                <a:latin typeface="宋体" pitchFamily="2" charset="-122"/>
              </a:rPr>
              <a:t>(2)</a:t>
            </a:r>
            <a:r>
              <a:rPr lang="zh-CN" altLang="en-US" sz="3600" dirty="0" smtClean="0">
                <a:solidFill>
                  <a:srgbClr val="1313FF"/>
                </a:solidFill>
                <a:latin typeface="宋体" pitchFamily="2" charset="-122"/>
              </a:rPr>
              <a:t>比例相对数</a:t>
            </a:r>
            <a:r>
              <a:rPr lang="en-US" altLang="zh-CN" sz="3600" dirty="0" smtClean="0">
                <a:solidFill>
                  <a:srgbClr val="1313FF"/>
                </a:solidFill>
                <a:latin typeface="Times New Roman" pitchFamily="18" charset="0"/>
              </a:rPr>
              <a:t>——</a:t>
            </a:r>
            <a:r>
              <a:rPr lang="zh-CN" altLang="en-US" sz="3600" dirty="0" smtClean="0">
                <a:solidFill>
                  <a:srgbClr val="1313FF"/>
                </a:solidFill>
                <a:latin typeface="宋体" pitchFamily="2" charset="-122"/>
              </a:rPr>
              <a:t>比例</a:t>
            </a:r>
            <a:r>
              <a:rPr lang="zh-CN" altLang="en-US" sz="3200" dirty="0" smtClean="0">
                <a:solidFill>
                  <a:srgbClr val="1313FF"/>
                </a:solidFill>
                <a:latin typeface="Times New Roman" pitchFamily="18" charset="0"/>
              </a:rPr>
              <a:t>（结构性的比例）</a:t>
            </a:r>
          </a:p>
        </p:txBody>
      </p:sp>
      <p:graphicFrame>
        <p:nvGraphicFramePr>
          <p:cNvPr id="4098" name="Object 3"/>
          <p:cNvGraphicFramePr>
            <a:graphicFrameLocks noGrp="1" noChangeAspect="1"/>
          </p:cNvGraphicFramePr>
          <p:nvPr>
            <p:ph type="body" idx="1"/>
          </p:nvPr>
        </p:nvGraphicFramePr>
        <p:xfrm>
          <a:off x="1116013" y="1557338"/>
          <a:ext cx="7086600" cy="950912"/>
        </p:xfrm>
        <a:graphic>
          <a:graphicData uri="http://schemas.openxmlformats.org/presentationml/2006/ole">
            <mc:AlternateContent xmlns:mc="http://schemas.openxmlformats.org/markup-compatibility/2006">
              <mc:Choice xmlns:v="urn:schemas-microsoft-com:vml" Requires="v">
                <p:oleObj spid="_x0000_s4278" name="Equation" r:id="rId3" imgW="6756120" imgH="876240" progId="Equation.DSMT4">
                  <p:embed/>
                </p:oleObj>
              </mc:Choice>
              <mc:Fallback>
                <p:oleObj name="Equation" r:id="rId3" imgW="6756120" imgH="87624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557338"/>
                        <a:ext cx="7086600"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2868" name="Rectangle 4"/>
          <p:cNvSpPr>
            <a:spLocks noChangeArrowheads="1"/>
          </p:cNvSpPr>
          <p:nvPr/>
        </p:nvSpPr>
        <p:spPr bwMode="auto">
          <a:xfrm>
            <a:off x="468313" y="2636838"/>
            <a:ext cx="8350250" cy="3647152"/>
          </a:xfrm>
          <a:prstGeom prst="rect">
            <a:avLst/>
          </a:prstGeom>
          <a:noFill/>
          <a:ln w="9525">
            <a:noFill/>
            <a:miter lim="800000"/>
            <a:headEnd/>
            <a:tailEnd/>
          </a:ln>
        </p:spPr>
        <p:txBody>
          <a:bodyPr>
            <a:spAutoFit/>
          </a:bodyPr>
          <a:lstStyle/>
          <a:p>
            <a:pPr>
              <a:spcBef>
                <a:spcPct val="5000"/>
              </a:spcBef>
              <a:buClr>
                <a:schemeClr val="bg2"/>
              </a:buClr>
              <a:buFont typeface="Monotype Sorts" pitchFamily="2" charset="2"/>
              <a:buChar char="§"/>
            </a:pPr>
            <a:r>
              <a:rPr lang="zh-CN" altLang="en-US" sz="2800" b="1" dirty="0">
                <a:solidFill>
                  <a:schemeClr val="tx2"/>
                </a:solidFill>
                <a:ea typeface="宋体" pitchFamily="2" charset="-122"/>
              </a:rPr>
              <a:t>反映总体内部的比例关系，揭示总体不同部分之间的发展变化的协调平衡</a:t>
            </a:r>
            <a:r>
              <a:rPr lang="zh-CN" altLang="en-US" sz="2800" b="1" dirty="0" smtClean="0">
                <a:solidFill>
                  <a:schemeClr val="tx2"/>
                </a:solidFill>
                <a:ea typeface="宋体" pitchFamily="2" charset="-122"/>
              </a:rPr>
              <a:t>状况</a:t>
            </a:r>
            <a:r>
              <a:rPr lang="zh-CN" altLang="en-US" sz="2800" b="1" dirty="0">
                <a:solidFill>
                  <a:schemeClr val="tx2"/>
                </a:solidFill>
                <a:ea typeface="宋体" pitchFamily="2" charset="-122"/>
              </a:rPr>
              <a:t>。</a:t>
            </a:r>
            <a:endParaRPr lang="zh-CN" altLang="en-US" sz="3600" b="1" dirty="0">
              <a:solidFill>
                <a:schemeClr val="tx2"/>
              </a:solidFill>
              <a:ea typeface="宋体" pitchFamily="2" charset="-122"/>
            </a:endParaRPr>
          </a:p>
          <a:p>
            <a:pPr>
              <a:spcBef>
                <a:spcPct val="5000"/>
              </a:spcBef>
              <a:buClr>
                <a:schemeClr val="bg2"/>
              </a:buClr>
              <a:buFont typeface="Monotype Sorts" pitchFamily="2" charset="2"/>
              <a:buChar char="§"/>
            </a:pPr>
            <a:r>
              <a:rPr lang="zh-CN" altLang="en-US" sz="2800" b="1" dirty="0">
                <a:solidFill>
                  <a:srgbClr val="807D00"/>
                </a:solidFill>
                <a:ea typeface="宋体" pitchFamily="2" charset="-122"/>
              </a:rPr>
              <a:t>如：</a:t>
            </a:r>
            <a:r>
              <a:rPr lang="en-US" altLang="zh-CN" sz="2600" b="1" dirty="0" smtClean="0">
                <a:solidFill>
                  <a:srgbClr val="000000"/>
                </a:solidFill>
              </a:rPr>
              <a:t>2023</a:t>
            </a:r>
            <a:r>
              <a:rPr lang="zh-CN" altLang="en-US" sz="2600" b="1" dirty="0" smtClean="0">
                <a:solidFill>
                  <a:srgbClr val="000000"/>
                </a:solidFill>
              </a:rPr>
              <a:t>年国内生产总值</a:t>
            </a:r>
            <a:r>
              <a:rPr lang="en-US" altLang="zh-CN" sz="2600" b="1" dirty="0">
                <a:solidFill>
                  <a:srgbClr val="7030A0"/>
                </a:solidFill>
              </a:rPr>
              <a:t>1260582</a:t>
            </a:r>
            <a:r>
              <a:rPr lang="zh-CN" altLang="en-US" sz="2600" b="1" dirty="0" smtClean="0">
                <a:solidFill>
                  <a:srgbClr val="000000"/>
                </a:solidFill>
              </a:rPr>
              <a:t>亿</a:t>
            </a:r>
            <a:r>
              <a:rPr lang="zh-CN" altLang="en-US" sz="2600" b="1" dirty="0">
                <a:solidFill>
                  <a:srgbClr val="000000"/>
                </a:solidFill>
              </a:rPr>
              <a:t>元，一二三产业增加值的比例为  </a:t>
            </a:r>
            <a:r>
              <a:rPr lang="en-US" altLang="zh-CN" sz="2600" b="1" dirty="0" smtClean="0">
                <a:solidFill>
                  <a:srgbClr val="7030A0"/>
                </a:solidFill>
              </a:rPr>
              <a:t>1:5.39:7.69 </a:t>
            </a:r>
            <a:r>
              <a:rPr lang="zh-CN" altLang="en-US" sz="2800" dirty="0">
                <a:solidFill>
                  <a:srgbClr val="000000"/>
                </a:solidFill>
              </a:rPr>
              <a:t>或 </a:t>
            </a:r>
            <a:r>
              <a:rPr lang="zh-CN" altLang="en-US" sz="2800" dirty="0" smtClean="0">
                <a:solidFill>
                  <a:srgbClr val="1313FF"/>
                </a:solidFill>
              </a:rPr>
              <a:t> </a:t>
            </a:r>
            <a:r>
              <a:rPr lang="en-US" altLang="zh-CN" sz="2600" b="1" dirty="0">
                <a:solidFill>
                  <a:srgbClr val="7030A0"/>
                </a:solidFill>
              </a:rPr>
              <a:t>7.1</a:t>
            </a:r>
            <a:r>
              <a:rPr lang="en-US" altLang="zh-CN" sz="2600" b="1" dirty="0" smtClean="0">
                <a:solidFill>
                  <a:srgbClr val="7030A0"/>
                </a:solidFill>
              </a:rPr>
              <a:t>%</a:t>
            </a:r>
            <a:r>
              <a:rPr lang="zh-CN" altLang="en-US" sz="2600" b="1" dirty="0" smtClean="0">
                <a:solidFill>
                  <a:srgbClr val="7030A0"/>
                </a:solidFill>
              </a:rPr>
              <a:t>：</a:t>
            </a:r>
            <a:r>
              <a:rPr lang="en-US" altLang="zh-CN" sz="2600" b="1" dirty="0" smtClean="0">
                <a:solidFill>
                  <a:srgbClr val="7030A0"/>
                </a:solidFill>
              </a:rPr>
              <a:t>38.3%</a:t>
            </a:r>
            <a:r>
              <a:rPr lang="zh-CN" altLang="en-US" sz="2600" b="1" dirty="0" smtClean="0">
                <a:solidFill>
                  <a:srgbClr val="7030A0"/>
                </a:solidFill>
              </a:rPr>
              <a:t>：</a:t>
            </a:r>
            <a:r>
              <a:rPr lang="en-US" altLang="zh-CN" sz="2600" b="1" dirty="0" smtClean="0">
                <a:solidFill>
                  <a:srgbClr val="7030A0"/>
                </a:solidFill>
              </a:rPr>
              <a:t>54.6</a:t>
            </a:r>
            <a:r>
              <a:rPr lang="en-US" altLang="zh-CN" sz="2600" b="1" dirty="0">
                <a:solidFill>
                  <a:srgbClr val="7030A0"/>
                </a:solidFill>
              </a:rPr>
              <a:t>%</a:t>
            </a:r>
            <a:r>
              <a:rPr lang="zh-CN" altLang="en-US" sz="2600" b="1" dirty="0" smtClean="0">
                <a:solidFill>
                  <a:srgbClr val="7030A0"/>
                </a:solidFill>
              </a:rPr>
              <a:t>。</a:t>
            </a:r>
            <a:endParaRPr lang="zh-CN" altLang="en-US" sz="2600" b="1" dirty="0">
              <a:solidFill>
                <a:srgbClr val="1313FF"/>
              </a:solidFill>
            </a:endParaRPr>
          </a:p>
          <a:p>
            <a:pPr lvl="1">
              <a:spcBef>
                <a:spcPct val="5000"/>
              </a:spcBef>
              <a:buClr>
                <a:schemeClr val="bg2"/>
              </a:buClr>
              <a:buFont typeface="Monotype Sorts" pitchFamily="2" charset="2"/>
              <a:buChar char="§"/>
            </a:pPr>
            <a:r>
              <a:rPr lang="zh-CN" altLang="en-US" sz="2800" b="1" dirty="0">
                <a:solidFill>
                  <a:srgbClr val="807D00"/>
                </a:solidFill>
                <a:ea typeface="宋体" pitchFamily="2" charset="-122"/>
              </a:rPr>
              <a:t>消费与积累（投资）的</a:t>
            </a:r>
            <a:r>
              <a:rPr lang="zh-CN" altLang="en-US" sz="2800" b="1" dirty="0" smtClean="0">
                <a:solidFill>
                  <a:srgbClr val="807D00"/>
                </a:solidFill>
                <a:ea typeface="宋体" pitchFamily="2" charset="-122"/>
              </a:rPr>
              <a:t>比例</a:t>
            </a:r>
            <a:endParaRPr lang="zh-CN" altLang="en-US" sz="2800" b="1" dirty="0">
              <a:solidFill>
                <a:srgbClr val="807D00"/>
              </a:solidFill>
              <a:ea typeface="宋体" pitchFamily="2" charset="-122"/>
            </a:endParaRPr>
          </a:p>
          <a:p>
            <a:pPr lvl="1">
              <a:spcBef>
                <a:spcPct val="5000"/>
              </a:spcBef>
              <a:buClr>
                <a:schemeClr val="bg2"/>
              </a:buClr>
              <a:buFont typeface="Monotype Sorts" pitchFamily="2" charset="2"/>
              <a:buChar char="§"/>
            </a:pPr>
            <a:r>
              <a:rPr lang="zh-CN" altLang="en-US" sz="2800" b="1" dirty="0">
                <a:solidFill>
                  <a:srgbClr val="807D00"/>
                </a:solidFill>
                <a:ea typeface="宋体" pitchFamily="2" charset="-122"/>
              </a:rPr>
              <a:t>某地区农轻重比例</a:t>
            </a:r>
          </a:p>
          <a:p>
            <a:pPr lvl="1">
              <a:spcBef>
                <a:spcPct val="5000"/>
              </a:spcBef>
              <a:buClr>
                <a:schemeClr val="bg2"/>
              </a:buClr>
              <a:buFont typeface="Monotype Sorts" pitchFamily="2" charset="2"/>
              <a:buChar char="§"/>
            </a:pPr>
            <a:r>
              <a:rPr lang="zh-CN" altLang="en-US" sz="2800" b="1" dirty="0">
                <a:solidFill>
                  <a:srgbClr val="807D00"/>
                </a:solidFill>
                <a:ea typeface="宋体" pitchFamily="2" charset="-122"/>
              </a:rPr>
              <a:t>两种商品价格之比</a:t>
            </a:r>
            <a:r>
              <a:rPr lang="en-US" altLang="zh-CN" sz="2800" b="1" dirty="0">
                <a:solidFill>
                  <a:srgbClr val="807D00"/>
                </a:solidFill>
                <a:ea typeface="宋体" pitchFamily="2" charset="-122"/>
              </a:rPr>
              <a:t>——</a:t>
            </a:r>
            <a:r>
              <a:rPr lang="zh-CN" altLang="en-US" sz="2800" b="1" dirty="0">
                <a:solidFill>
                  <a:srgbClr val="807D00"/>
                </a:solidFill>
                <a:ea typeface="宋体" pitchFamily="2" charset="-122"/>
              </a:rPr>
              <a:t>比价</a:t>
            </a:r>
          </a:p>
          <a:p>
            <a:pPr>
              <a:spcBef>
                <a:spcPct val="5000"/>
              </a:spcBef>
              <a:buFontTx/>
              <a:buChar char="•"/>
            </a:pPr>
            <a:r>
              <a:rPr lang="zh-CN" altLang="en-US" sz="2800" b="1" dirty="0">
                <a:solidFill>
                  <a:schemeClr val="tx2"/>
                </a:solidFill>
                <a:latin typeface="Tahoma" pitchFamily="34" charset="0"/>
                <a:ea typeface="宋体" pitchFamily="2" charset="-122"/>
              </a:rPr>
              <a:t>分子分母可互换</a:t>
            </a: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25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2868">
                                            <p:txEl>
                                              <p:pRg st="0" end="0"/>
                                            </p:txEl>
                                          </p:spTgt>
                                        </p:tgtEl>
                                        <p:attrNameLst>
                                          <p:attrName>style.visibility</p:attrName>
                                        </p:attrNameLst>
                                      </p:cBhvr>
                                      <p:to>
                                        <p:strVal val="visible"/>
                                      </p:to>
                                    </p:set>
                                    <p:anim calcmode="lin" valueType="num">
                                      <p:cBhvr additive="base">
                                        <p:cTn id="7" dur="500" fill="hold"/>
                                        <p:tgtEl>
                                          <p:spTgt spid="29286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286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92868">
                                            <p:txEl>
                                              <p:pRg st="1" end="1"/>
                                            </p:txEl>
                                          </p:spTgt>
                                        </p:tgtEl>
                                        <p:attrNameLst>
                                          <p:attrName>style.visibility</p:attrName>
                                        </p:attrNameLst>
                                      </p:cBhvr>
                                      <p:to>
                                        <p:strVal val="visible"/>
                                      </p:to>
                                    </p:set>
                                    <p:anim calcmode="lin" valueType="num">
                                      <p:cBhvr additive="base">
                                        <p:cTn id="12" dur="1000" fill="hold"/>
                                        <p:tgtEl>
                                          <p:spTgt spid="292868">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292868">
                                            <p:txEl>
                                              <p:pRg st="1" end="1"/>
                                            </p:txEl>
                                          </p:spTgt>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292868">
                                            <p:txEl>
                                              <p:pRg st="2" end="2"/>
                                            </p:txEl>
                                          </p:spTgt>
                                        </p:tgtEl>
                                        <p:attrNameLst>
                                          <p:attrName>style.visibility</p:attrName>
                                        </p:attrNameLst>
                                      </p:cBhvr>
                                      <p:to>
                                        <p:strVal val="visible"/>
                                      </p:to>
                                    </p:set>
                                    <p:anim calcmode="lin" valueType="num">
                                      <p:cBhvr additive="base">
                                        <p:cTn id="16" dur="500" fill="hold"/>
                                        <p:tgtEl>
                                          <p:spTgt spid="292868">
                                            <p:txEl>
                                              <p:pRg st="2" end="2"/>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292868">
                                            <p:txEl>
                                              <p:pRg st="2" end="2"/>
                                            </p:txEl>
                                          </p:spTgt>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292868">
                                            <p:txEl>
                                              <p:pRg st="3" end="3"/>
                                            </p:txEl>
                                          </p:spTgt>
                                        </p:tgtEl>
                                        <p:attrNameLst>
                                          <p:attrName>style.visibility</p:attrName>
                                        </p:attrNameLst>
                                      </p:cBhvr>
                                      <p:to>
                                        <p:strVal val="visible"/>
                                      </p:to>
                                    </p:set>
                                    <p:anim calcmode="lin" valueType="num">
                                      <p:cBhvr additive="base">
                                        <p:cTn id="20" dur="500" fill="hold"/>
                                        <p:tgtEl>
                                          <p:spTgt spid="292868">
                                            <p:txEl>
                                              <p:pRg st="3" end="3"/>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292868">
                                            <p:txEl>
                                              <p:pRg st="3" end="3"/>
                                            </p:txEl>
                                          </p:spTgt>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292868">
                                            <p:txEl>
                                              <p:pRg st="4" end="4"/>
                                            </p:txEl>
                                          </p:spTgt>
                                        </p:tgtEl>
                                        <p:attrNameLst>
                                          <p:attrName>style.visibility</p:attrName>
                                        </p:attrNameLst>
                                      </p:cBhvr>
                                      <p:to>
                                        <p:strVal val="visible"/>
                                      </p:to>
                                    </p:set>
                                    <p:anim calcmode="lin" valueType="num">
                                      <p:cBhvr additive="base">
                                        <p:cTn id="24" dur="500" fill="hold"/>
                                        <p:tgtEl>
                                          <p:spTgt spid="292868">
                                            <p:txEl>
                                              <p:pRg st="4" end="4"/>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292868">
                                            <p:txEl>
                                              <p:pRg st="4" end="4"/>
                                            </p:txEl>
                                          </p:spTgt>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fill="hold" grpId="0" nodeType="afterEffect">
                                  <p:stCondLst>
                                    <p:cond delay="0"/>
                                  </p:stCondLst>
                                  <p:childTnLst>
                                    <p:set>
                                      <p:cBhvr>
                                        <p:cTn id="28" dur="1" fill="hold">
                                          <p:stCondLst>
                                            <p:cond delay="0"/>
                                          </p:stCondLst>
                                        </p:cTn>
                                        <p:tgtEl>
                                          <p:spTgt spid="292868">
                                            <p:txEl>
                                              <p:pRg st="5" end="5"/>
                                            </p:txEl>
                                          </p:spTgt>
                                        </p:tgtEl>
                                        <p:attrNameLst>
                                          <p:attrName>style.visibility</p:attrName>
                                        </p:attrNameLst>
                                      </p:cBhvr>
                                      <p:to>
                                        <p:strVal val="visible"/>
                                      </p:to>
                                    </p:set>
                                    <p:anim calcmode="lin" valueType="num">
                                      <p:cBhvr additive="base">
                                        <p:cTn id="29" dur="1250" fill="hold"/>
                                        <p:tgtEl>
                                          <p:spTgt spid="292868">
                                            <p:txEl>
                                              <p:pRg st="5" end="5"/>
                                            </p:txEl>
                                          </p:spTgt>
                                        </p:tgtEl>
                                        <p:attrNameLst>
                                          <p:attrName>ppt_x</p:attrName>
                                        </p:attrNameLst>
                                      </p:cBhvr>
                                      <p:tavLst>
                                        <p:tav tm="0">
                                          <p:val>
                                            <p:strVal val="0-#ppt_w/2"/>
                                          </p:val>
                                        </p:tav>
                                        <p:tav tm="100000">
                                          <p:val>
                                            <p:strVal val="#ppt_x"/>
                                          </p:val>
                                        </p:tav>
                                      </p:tavLst>
                                    </p:anim>
                                    <p:anim calcmode="lin" valueType="num">
                                      <p:cBhvr additive="base">
                                        <p:cTn id="30" dur="1250" fill="hold"/>
                                        <p:tgtEl>
                                          <p:spTgt spid="29286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8"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755650" y="836613"/>
            <a:ext cx="3600450" cy="609600"/>
          </a:xfrm>
        </p:spPr>
        <p:txBody>
          <a:bodyPr/>
          <a:lstStyle/>
          <a:p>
            <a:pPr algn="l" eaLnBrk="1" hangingPunct="1"/>
            <a:r>
              <a:rPr lang="en-US" altLang="zh-CN" sz="3600" dirty="0" smtClean="0">
                <a:solidFill>
                  <a:srgbClr val="1313FF"/>
                </a:solidFill>
                <a:latin typeface="宋体" pitchFamily="2" charset="-122"/>
              </a:rPr>
              <a:t>(3)</a:t>
            </a:r>
            <a:r>
              <a:rPr lang="zh-CN" altLang="en-US" sz="3600" dirty="0" smtClean="0">
                <a:solidFill>
                  <a:srgbClr val="1313FF"/>
                </a:solidFill>
                <a:latin typeface="宋体" pitchFamily="2" charset="-122"/>
              </a:rPr>
              <a:t>比较相对数</a:t>
            </a:r>
            <a:endParaRPr lang="zh-CN" altLang="en-US" sz="3600" dirty="0" smtClean="0">
              <a:solidFill>
                <a:srgbClr val="1313FF"/>
              </a:solidFill>
            </a:endParaRPr>
          </a:p>
        </p:txBody>
      </p:sp>
      <p:graphicFrame>
        <p:nvGraphicFramePr>
          <p:cNvPr id="5122" name="Object 4"/>
          <p:cNvGraphicFramePr>
            <a:graphicFrameLocks noChangeAspect="1"/>
          </p:cNvGraphicFramePr>
          <p:nvPr>
            <p:extLst>
              <p:ext uri="{D42A27DB-BD31-4B8C-83A1-F6EECF244321}">
                <p14:modId xmlns:p14="http://schemas.microsoft.com/office/powerpoint/2010/main" val="2853388168"/>
              </p:ext>
            </p:extLst>
          </p:nvPr>
        </p:nvGraphicFramePr>
        <p:xfrm>
          <a:off x="1187624" y="1700808"/>
          <a:ext cx="6918325" cy="1224136"/>
        </p:xfrm>
        <a:graphic>
          <a:graphicData uri="http://schemas.openxmlformats.org/presentationml/2006/ole">
            <mc:AlternateContent xmlns:mc="http://schemas.openxmlformats.org/markup-compatibility/2006">
              <mc:Choice xmlns:v="urn:schemas-microsoft-com:vml" Requires="v">
                <p:oleObj spid="_x0000_s5301" name="Equation" r:id="rId3" imgW="6730920" imgH="888840" progId="Equation.3">
                  <p:embed/>
                </p:oleObj>
              </mc:Choice>
              <mc:Fallback>
                <p:oleObj name="Equation" r:id="rId3" imgW="6730920" imgH="8888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700808"/>
                        <a:ext cx="6918325" cy="1224136"/>
                      </a:xfrm>
                      <a:prstGeom prst="rect">
                        <a:avLst/>
                      </a:prstGeom>
                      <a:noFill/>
                      <a:extLst/>
                    </p:spPr>
                  </p:pic>
                </p:oleObj>
              </mc:Fallback>
            </mc:AlternateContent>
          </a:graphicData>
        </a:graphic>
      </p:graphicFrame>
      <p:sp>
        <p:nvSpPr>
          <p:cNvPr id="5125" name="Rectangle 56"/>
          <p:cNvSpPr>
            <a:spLocks noChangeArrowheads="1"/>
          </p:cNvSpPr>
          <p:nvPr/>
        </p:nvSpPr>
        <p:spPr bwMode="auto">
          <a:xfrm>
            <a:off x="755650" y="3284538"/>
            <a:ext cx="7200726" cy="2613023"/>
          </a:xfrm>
          <a:prstGeom prst="rect">
            <a:avLst/>
          </a:prstGeom>
          <a:noFill/>
          <a:ln w="9525">
            <a:noFill/>
            <a:miter lim="800000"/>
            <a:headEnd/>
            <a:tailEnd/>
          </a:ln>
        </p:spPr>
        <p:txBody>
          <a:bodyPr wrap="square">
            <a:spAutoFit/>
          </a:bodyPr>
          <a:lstStyle/>
          <a:p>
            <a:pPr>
              <a:lnSpc>
                <a:spcPct val="120000"/>
              </a:lnSpc>
              <a:spcBef>
                <a:spcPct val="35000"/>
              </a:spcBef>
              <a:buFontTx/>
              <a:buChar char="•"/>
            </a:pPr>
            <a:r>
              <a:rPr lang="zh-CN" altLang="en-US" sz="2800" b="1" dirty="0">
                <a:solidFill>
                  <a:srgbClr val="000000"/>
                </a:solidFill>
                <a:latin typeface="Tahoma" pitchFamily="34" charset="0"/>
                <a:ea typeface="宋体" pitchFamily="2" charset="-122"/>
              </a:rPr>
              <a:t>相同时间不同空间同类现象数值的对比，</a:t>
            </a:r>
          </a:p>
          <a:p>
            <a:pPr>
              <a:lnSpc>
                <a:spcPct val="120000"/>
              </a:lnSpc>
              <a:spcBef>
                <a:spcPct val="35000"/>
              </a:spcBef>
              <a:buFontTx/>
              <a:buChar char="•"/>
            </a:pPr>
            <a:r>
              <a:rPr lang="zh-CN" altLang="en-US" sz="2800" b="1" dirty="0">
                <a:solidFill>
                  <a:srgbClr val="000000"/>
                </a:solidFill>
                <a:latin typeface="Tahoma" pitchFamily="34" charset="0"/>
                <a:ea typeface="宋体" pitchFamily="2" charset="-122"/>
              </a:rPr>
              <a:t>说明不同空间的经济势力强弱和工作优劣等。</a:t>
            </a:r>
          </a:p>
          <a:p>
            <a:pPr>
              <a:lnSpc>
                <a:spcPct val="120000"/>
              </a:lnSpc>
              <a:spcBef>
                <a:spcPct val="35000"/>
              </a:spcBef>
              <a:buFontTx/>
              <a:buChar char="•"/>
            </a:pPr>
            <a:r>
              <a:rPr lang="zh-CN" altLang="en-US" sz="2800" b="1" dirty="0">
                <a:solidFill>
                  <a:srgbClr val="000000"/>
                </a:solidFill>
                <a:latin typeface="Tahoma" pitchFamily="34" charset="0"/>
                <a:ea typeface="宋体" pitchFamily="2" charset="-122"/>
              </a:rPr>
              <a:t>分子分母可互换</a:t>
            </a:r>
            <a:r>
              <a:rPr lang="en-US" altLang="zh-CN" sz="2800" b="1" dirty="0">
                <a:solidFill>
                  <a:srgbClr val="000000"/>
                </a:solidFill>
                <a:latin typeface="Tahoma" pitchFamily="34" charset="0"/>
                <a:ea typeface="宋体" pitchFamily="2" charset="-122"/>
              </a:rPr>
              <a:t>.</a:t>
            </a:r>
          </a:p>
          <a:p>
            <a:pPr>
              <a:lnSpc>
                <a:spcPct val="120000"/>
              </a:lnSpc>
              <a:spcBef>
                <a:spcPct val="35000"/>
              </a:spcBef>
            </a:pPr>
            <a:r>
              <a:rPr lang="zh-CN" altLang="en-US" sz="2800" dirty="0" smtClean="0">
                <a:latin typeface="Tahoma" pitchFamily="34" charset="0"/>
                <a:ea typeface="宋体" pitchFamily="2" charset="-122"/>
              </a:rPr>
              <a:t>如</a:t>
            </a:r>
            <a:r>
              <a:rPr lang="zh-CN" altLang="en-US" sz="2800" dirty="0">
                <a:latin typeface="Tahoma" pitchFamily="34" charset="0"/>
                <a:ea typeface="宋体" pitchFamily="2" charset="-122"/>
              </a:rPr>
              <a:t>前面的企业之间的比较</a:t>
            </a: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26</a:t>
            </a:fld>
            <a:endParaRPr lang="en-US" altLang="zh-CN"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3"/>
          <p:cNvGraphicFramePr>
            <a:graphicFrameLocks noChangeAspect="1"/>
          </p:cNvGraphicFramePr>
          <p:nvPr>
            <p:extLst>
              <p:ext uri="{D42A27DB-BD31-4B8C-83A1-F6EECF244321}">
                <p14:modId xmlns:p14="http://schemas.microsoft.com/office/powerpoint/2010/main" val="531210492"/>
              </p:ext>
            </p:extLst>
          </p:nvPr>
        </p:nvGraphicFramePr>
        <p:xfrm>
          <a:off x="1785937" y="1844824"/>
          <a:ext cx="5202237" cy="1344162"/>
        </p:xfrm>
        <a:graphic>
          <a:graphicData uri="http://schemas.openxmlformats.org/presentationml/2006/ole">
            <mc:AlternateContent xmlns:mc="http://schemas.openxmlformats.org/markup-compatibility/2006">
              <mc:Choice xmlns:v="urn:schemas-microsoft-com:vml" Requires="v">
                <p:oleObj spid="_x0000_s6325" name="Equation" r:id="rId3" imgW="5029200" imgH="876240" progId="Equation.3">
                  <p:embed/>
                </p:oleObj>
              </mc:Choice>
              <mc:Fallback>
                <p:oleObj name="Equation" r:id="rId3" imgW="5029200" imgH="8762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37" y="1844824"/>
                        <a:ext cx="5202237" cy="1344162"/>
                      </a:xfrm>
                      <a:prstGeom prst="rect">
                        <a:avLst/>
                      </a:prstGeom>
                      <a:noFill/>
                      <a:extLst/>
                    </p:spPr>
                  </p:pic>
                </p:oleObj>
              </mc:Fallback>
            </mc:AlternateContent>
          </a:graphicData>
        </a:graphic>
      </p:graphicFrame>
      <p:sp>
        <p:nvSpPr>
          <p:cNvPr id="6148" name="Rectangle 280"/>
          <p:cNvSpPr>
            <a:spLocks noChangeArrowheads="1"/>
          </p:cNvSpPr>
          <p:nvPr/>
        </p:nvSpPr>
        <p:spPr bwMode="auto">
          <a:xfrm>
            <a:off x="754062" y="4653136"/>
            <a:ext cx="7635875" cy="1233487"/>
          </a:xfrm>
          <a:prstGeom prst="rect">
            <a:avLst/>
          </a:prstGeom>
          <a:noFill/>
          <a:ln w="9525">
            <a:noFill/>
            <a:miter lim="800000"/>
            <a:headEnd/>
            <a:tailEnd/>
          </a:ln>
        </p:spPr>
        <p:txBody>
          <a:bodyPr>
            <a:spAutoFit/>
          </a:bodyPr>
          <a:lstStyle/>
          <a:p>
            <a:pPr>
              <a:lnSpc>
                <a:spcPct val="125000"/>
              </a:lnSpc>
              <a:spcBef>
                <a:spcPct val="15000"/>
              </a:spcBef>
              <a:buFontTx/>
              <a:buChar char="•"/>
            </a:pPr>
            <a:r>
              <a:rPr lang="zh-CN" altLang="en-US" sz="2800" b="1" dirty="0">
                <a:solidFill>
                  <a:schemeClr val="tx2"/>
                </a:solidFill>
                <a:ea typeface="宋体" pitchFamily="2" charset="-122"/>
              </a:rPr>
              <a:t>反映现象发展变化的相对程度（即</a:t>
            </a:r>
            <a:r>
              <a:rPr lang="zh-CN" altLang="en-US" sz="2800" b="1" dirty="0">
                <a:solidFill>
                  <a:srgbClr val="FF0000"/>
                </a:solidFill>
                <a:ea typeface="宋体" pitchFamily="2" charset="-122"/>
              </a:rPr>
              <a:t>发展速度</a:t>
            </a:r>
            <a:r>
              <a:rPr lang="zh-CN" altLang="en-US" sz="2800" b="1" dirty="0">
                <a:solidFill>
                  <a:schemeClr val="tx2"/>
                </a:solidFill>
                <a:ea typeface="宋体" pitchFamily="2" charset="-122"/>
              </a:rPr>
              <a:t>）。</a:t>
            </a:r>
          </a:p>
          <a:p>
            <a:pPr>
              <a:lnSpc>
                <a:spcPct val="125000"/>
              </a:lnSpc>
              <a:spcBef>
                <a:spcPct val="15000"/>
              </a:spcBef>
              <a:buFontTx/>
              <a:buChar char="•"/>
            </a:pPr>
            <a:r>
              <a:rPr lang="zh-CN" altLang="en-US" sz="2800" b="1" dirty="0">
                <a:solidFill>
                  <a:schemeClr val="tx2"/>
                </a:solidFill>
                <a:ea typeface="宋体" pitchFamily="2" charset="-122"/>
              </a:rPr>
              <a:t>发展速度－</a:t>
            </a:r>
            <a:r>
              <a:rPr lang="en-US" altLang="zh-CN" sz="2800" b="1" dirty="0">
                <a:solidFill>
                  <a:schemeClr val="tx2"/>
                </a:solidFill>
                <a:ea typeface="宋体" pitchFamily="2" charset="-122"/>
              </a:rPr>
              <a:t>100%</a:t>
            </a:r>
            <a:r>
              <a:rPr lang="zh-CN" altLang="en-US" sz="2800" b="1" dirty="0">
                <a:solidFill>
                  <a:schemeClr val="tx2"/>
                </a:solidFill>
                <a:ea typeface="宋体" pitchFamily="2" charset="-122"/>
              </a:rPr>
              <a:t>＝</a:t>
            </a:r>
            <a:r>
              <a:rPr lang="zh-CN" altLang="en-US" sz="2800" b="1" dirty="0">
                <a:solidFill>
                  <a:srgbClr val="FF0000"/>
                </a:solidFill>
                <a:ea typeface="宋体" pitchFamily="2" charset="-122"/>
              </a:rPr>
              <a:t>增长速度</a:t>
            </a:r>
          </a:p>
        </p:txBody>
      </p:sp>
      <p:sp>
        <p:nvSpPr>
          <p:cNvPr id="6149" name="Rectangle 281"/>
          <p:cNvSpPr>
            <a:spLocks noGrp="1" noChangeArrowheads="1"/>
          </p:cNvSpPr>
          <p:nvPr>
            <p:ph type="title" idx="4294967295"/>
          </p:nvPr>
        </p:nvSpPr>
        <p:spPr>
          <a:xfrm>
            <a:off x="0" y="428625"/>
            <a:ext cx="7772400" cy="990600"/>
          </a:xfrm>
        </p:spPr>
        <p:txBody>
          <a:bodyPr/>
          <a:lstStyle/>
          <a:p>
            <a:pPr eaLnBrk="1" hangingPunct="1"/>
            <a:r>
              <a:rPr lang="en-US" altLang="zh-CN" dirty="0" smtClean="0">
                <a:solidFill>
                  <a:srgbClr val="1313FF"/>
                </a:solidFill>
              </a:rPr>
              <a:t>(6) </a:t>
            </a:r>
            <a:r>
              <a:rPr lang="zh-CN" altLang="en-US" dirty="0" smtClean="0">
                <a:solidFill>
                  <a:srgbClr val="1313FF"/>
                </a:solidFill>
              </a:rPr>
              <a:t>动态相对数</a:t>
            </a:r>
          </a:p>
        </p:txBody>
      </p:sp>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27</a:t>
            </a:fld>
            <a:endParaRPr lang="en-US" altLang="zh-CN" dirty="0"/>
          </a:p>
        </p:txBody>
      </p:sp>
      <p:sp>
        <p:nvSpPr>
          <p:cNvPr id="2" name="矩形 1"/>
          <p:cNvSpPr/>
          <p:nvPr/>
        </p:nvSpPr>
        <p:spPr>
          <a:xfrm>
            <a:off x="2339752" y="3611088"/>
            <a:ext cx="5328592" cy="830997"/>
          </a:xfrm>
          <a:prstGeom prst="rect">
            <a:avLst/>
          </a:prstGeom>
        </p:spPr>
        <p:txBody>
          <a:bodyPr wrap="square">
            <a:spAutoFit/>
          </a:bodyPr>
          <a:lstStyle/>
          <a:p>
            <a:r>
              <a:rPr lang="zh-CN" altLang="en-US" dirty="0"/>
              <a:t>基期</a:t>
            </a:r>
            <a:r>
              <a:rPr lang="zh-CN" altLang="en-US" dirty="0" smtClean="0"/>
              <a:t>：充当比较基准的时间；</a:t>
            </a:r>
            <a:endParaRPr lang="zh-CN" altLang="en-US" dirty="0"/>
          </a:p>
          <a:p>
            <a:r>
              <a:rPr lang="zh-CN" altLang="en-US" dirty="0"/>
              <a:t>报告期</a:t>
            </a:r>
            <a:r>
              <a:rPr lang="zh-CN" altLang="en-US" dirty="0" smtClean="0"/>
              <a:t>：所要说明其变化的时间</a:t>
            </a:r>
            <a:endParaRPr lang="zh-CN" altLang="en-US"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1115616" y="2204864"/>
          <a:ext cx="4679950" cy="1871663"/>
        </p:xfrm>
        <a:graphic>
          <a:graphicData uri="http://schemas.openxmlformats.org/presentationml/2006/ole">
            <mc:AlternateContent xmlns:mc="http://schemas.openxmlformats.org/markup-compatibility/2006">
              <mc:Choice xmlns:v="urn:schemas-microsoft-com:vml" Requires="v">
                <p:oleObj spid="_x0000_s272521" name="Equation" r:id="rId3" imgW="2184120" imgH="1002960" progId="Equation.DSMT4">
                  <p:embed/>
                </p:oleObj>
              </mc:Choice>
              <mc:Fallback>
                <p:oleObj name="Equation" r:id="rId3" imgW="2184120" imgH="1002960" progId="Equation.DSMT4">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2204864"/>
                        <a:ext cx="4679950" cy="187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Rectangle 3"/>
          <p:cNvSpPr>
            <a:spLocks noChangeArrowheads="1"/>
          </p:cNvSpPr>
          <p:nvPr/>
        </p:nvSpPr>
        <p:spPr bwMode="auto">
          <a:xfrm>
            <a:off x="1547813" y="1412875"/>
            <a:ext cx="6992937" cy="641350"/>
          </a:xfrm>
          <a:prstGeom prst="rect">
            <a:avLst/>
          </a:prstGeom>
          <a:noFill/>
          <a:ln w="9525">
            <a:noFill/>
            <a:miter lim="800000"/>
            <a:headEnd/>
            <a:tailEnd/>
          </a:ln>
        </p:spPr>
        <p:txBody>
          <a:bodyPr>
            <a:spAutoFit/>
          </a:bodyPr>
          <a:lstStyle/>
          <a:p>
            <a:r>
              <a:rPr lang="en-US" altLang="zh-CN" sz="3600">
                <a:solidFill>
                  <a:srgbClr val="1313FF"/>
                </a:solidFill>
                <a:ea typeface="华文行楷" pitchFamily="2" charset="-122"/>
              </a:rPr>
              <a:t>    </a:t>
            </a:r>
            <a:r>
              <a:rPr lang="en-US" altLang="zh-CN" sz="3600" b="1">
                <a:solidFill>
                  <a:srgbClr val="1313FF"/>
                </a:solidFill>
                <a:latin typeface="宋体" pitchFamily="2" charset="-122"/>
                <a:ea typeface="宋体" pitchFamily="2" charset="-122"/>
              </a:rPr>
              <a:t>   </a:t>
            </a:r>
            <a:r>
              <a:rPr lang="zh-CN" altLang="en-US" sz="3200">
                <a:solidFill>
                  <a:srgbClr val="1313FF"/>
                </a:solidFill>
                <a:latin typeface="宋体" pitchFamily="2" charset="-122"/>
                <a:ea typeface="宋体" pitchFamily="2" charset="-122"/>
              </a:rPr>
              <a:t>（也称为计划完成百分比）</a:t>
            </a:r>
          </a:p>
        </p:txBody>
      </p:sp>
      <p:sp>
        <p:nvSpPr>
          <p:cNvPr id="8197" name="Rectangle 4"/>
          <p:cNvSpPr>
            <a:spLocks noChangeArrowheads="1"/>
          </p:cNvSpPr>
          <p:nvPr/>
        </p:nvSpPr>
        <p:spPr bwMode="auto">
          <a:xfrm>
            <a:off x="1043608" y="4365104"/>
            <a:ext cx="6574656" cy="1815882"/>
          </a:xfrm>
          <a:prstGeom prst="rect">
            <a:avLst/>
          </a:prstGeom>
          <a:noFill/>
          <a:ln w="9525">
            <a:noFill/>
            <a:miter lim="800000"/>
            <a:headEnd/>
            <a:tailEnd/>
          </a:ln>
        </p:spPr>
        <p:txBody>
          <a:bodyPr wrap="square">
            <a:spAutoFit/>
          </a:bodyPr>
          <a:lstStyle/>
          <a:p>
            <a:pPr>
              <a:spcBef>
                <a:spcPct val="50000"/>
              </a:spcBef>
              <a:buFontTx/>
              <a:buChar char="•"/>
            </a:pPr>
            <a:r>
              <a:rPr lang="zh-CN" altLang="en-US" sz="3200" b="1" dirty="0">
                <a:solidFill>
                  <a:schemeClr val="tx2"/>
                </a:solidFill>
                <a:ea typeface="宋体" pitchFamily="2" charset="-122"/>
              </a:rPr>
              <a:t>反映计划任务的完成程度</a:t>
            </a:r>
            <a:r>
              <a:rPr lang="zh-CN" altLang="en-US" sz="3200" b="1" dirty="0" smtClean="0">
                <a:solidFill>
                  <a:schemeClr val="tx2"/>
                </a:solidFill>
                <a:ea typeface="宋体" pitchFamily="2" charset="-122"/>
              </a:rPr>
              <a:t>。</a:t>
            </a:r>
            <a:endParaRPr lang="en-US" altLang="zh-CN" sz="3200" b="1" dirty="0" smtClean="0">
              <a:solidFill>
                <a:schemeClr val="tx2"/>
              </a:solidFill>
              <a:ea typeface="宋体" pitchFamily="2" charset="-122"/>
            </a:endParaRPr>
          </a:p>
          <a:p>
            <a:pPr>
              <a:spcBef>
                <a:spcPct val="50000"/>
              </a:spcBef>
              <a:buFontTx/>
              <a:buChar char="•"/>
            </a:pPr>
            <a:r>
              <a:rPr lang="zh-CN" altLang="zh-CN" sz="3200" b="1" dirty="0" smtClean="0">
                <a:solidFill>
                  <a:srgbClr val="000000"/>
                </a:solidFill>
                <a:latin typeface="+mn-ea"/>
              </a:rPr>
              <a:t>应以计划数为比较标准，所以分子和分母不能互换。</a:t>
            </a:r>
            <a:endParaRPr lang="zh-CN" altLang="en-US" sz="3200" b="1" dirty="0">
              <a:solidFill>
                <a:schemeClr val="tx2"/>
              </a:solidFill>
              <a:ea typeface="宋体" pitchFamily="2" charset="-122"/>
            </a:endParaRPr>
          </a:p>
        </p:txBody>
      </p:sp>
      <p:sp>
        <p:nvSpPr>
          <p:cNvPr id="8198" name="Rectangle 6"/>
          <p:cNvSpPr>
            <a:spLocks noGrp="1" noChangeArrowheads="1"/>
          </p:cNvSpPr>
          <p:nvPr>
            <p:ph type="title" idx="4294967295"/>
          </p:nvPr>
        </p:nvSpPr>
        <p:spPr>
          <a:xfrm>
            <a:off x="444736" y="346956"/>
            <a:ext cx="7772400" cy="990600"/>
          </a:xfrm>
        </p:spPr>
        <p:txBody>
          <a:bodyPr/>
          <a:lstStyle/>
          <a:p>
            <a:pPr eaLnBrk="1" hangingPunct="1"/>
            <a:r>
              <a:rPr lang="zh-CN" altLang="en-US" dirty="0" smtClean="0">
                <a:solidFill>
                  <a:srgbClr val="1313FF"/>
                </a:solidFill>
              </a:rPr>
              <a:t>（</a:t>
            </a:r>
            <a:r>
              <a:rPr lang="en-US" altLang="zh-CN" dirty="0" smtClean="0">
                <a:solidFill>
                  <a:srgbClr val="1313FF"/>
                </a:solidFill>
              </a:rPr>
              <a:t>4</a:t>
            </a:r>
            <a:r>
              <a:rPr lang="zh-CN" altLang="en-US" dirty="0" smtClean="0">
                <a:solidFill>
                  <a:srgbClr val="1313FF"/>
                </a:solidFill>
              </a:rPr>
              <a:t>）计划完成相对数</a:t>
            </a:r>
          </a:p>
        </p:txBody>
      </p:sp>
      <p:sp>
        <p:nvSpPr>
          <p:cNvPr id="7" name="灯片编号占位符 6"/>
          <p:cNvSpPr>
            <a:spLocks noGrp="1"/>
          </p:cNvSpPr>
          <p:nvPr>
            <p:ph type="sldNum" sz="quarter" idx="12"/>
          </p:nvPr>
        </p:nvSpPr>
        <p:spPr/>
        <p:txBody>
          <a:bodyPr/>
          <a:lstStyle/>
          <a:p>
            <a:pPr>
              <a:defRPr/>
            </a:pPr>
            <a:fld id="{4D36EFB7-0D9F-4BC1-ADE9-F0E399591344}" type="slidenum">
              <a:rPr lang="en-US" altLang="zh-CN" smtClean="0"/>
              <a:pPr>
                <a:defRPr/>
              </a:pPr>
              <a:t>28</a:t>
            </a:fld>
            <a:endParaRPr lang="en-US" altLang="zh-CN" dirty="0"/>
          </a:p>
        </p:txBody>
      </p:sp>
    </p:spTree>
    <p:extLst>
      <p:ext uri="{BB962C8B-B14F-4D97-AF65-F5344CB8AC3E}">
        <p14:creationId xmlns:p14="http://schemas.microsoft.com/office/powerpoint/2010/main" val="1696607914"/>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ChangeArrowheads="1"/>
          </p:cNvSpPr>
          <p:nvPr/>
        </p:nvSpPr>
        <p:spPr bwMode="auto">
          <a:xfrm>
            <a:off x="395288" y="1052513"/>
            <a:ext cx="7345362" cy="1554162"/>
          </a:xfrm>
          <a:prstGeom prst="rect">
            <a:avLst/>
          </a:prstGeom>
          <a:noFill/>
          <a:ln w="9525">
            <a:noFill/>
            <a:miter lim="800000"/>
            <a:headEnd/>
            <a:tailEnd/>
          </a:ln>
        </p:spPr>
        <p:txBody>
          <a:bodyPr>
            <a:spAutoFit/>
          </a:bodyPr>
          <a:lstStyle/>
          <a:p>
            <a:pPr algn="just">
              <a:tabLst>
                <a:tab pos="666750" algn="l"/>
              </a:tabLst>
            </a:pPr>
            <a:r>
              <a:rPr lang="zh-CN" altLang="en-US" sz="3200" b="1">
                <a:ea typeface="宋体" pitchFamily="2" charset="-122"/>
              </a:rPr>
              <a:t>某地上年国内生产总值为</a:t>
            </a:r>
            <a:r>
              <a:rPr lang="en-US" altLang="zh-CN" sz="3200" b="1">
                <a:ea typeface="宋体" pitchFamily="2" charset="-122"/>
                <a:cs typeface="Times New Roman" pitchFamily="18" charset="0"/>
              </a:rPr>
              <a:t>500</a:t>
            </a:r>
            <a:r>
              <a:rPr lang="zh-CN" altLang="en-US" sz="3200" b="1">
                <a:ea typeface="宋体" pitchFamily="2" charset="-122"/>
              </a:rPr>
              <a:t>亿元，计划为</a:t>
            </a:r>
            <a:r>
              <a:rPr lang="en-US" altLang="zh-CN" sz="3200" b="1">
                <a:ea typeface="宋体" pitchFamily="2" charset="-122"/>
              </a:rPr>
              <a:t>550</a:t>
            </a:r>
            <a:r>
              <a:rPr lang="zh-CN" altLang="en-US" sz="3200" b="1">
                <a:ea typeface="宋体" pitchFamily="2" charset="-122"/>
              </a:rPr>
              <a:t>亿元，实际为</a:t>
            </a:r>
            <a:r>
              <a:rPr lang="en-US" altLang="zh-CN" sz="3200" b="1">
                <a:ea typeface="宋体" pitchFamily="2" charset="-122"/>
              </a:rPr>
              <a:t>560</a:t>
            </a:r>
            <a:r>
              <a:rPr lang="zh-CN" altLang="en-US" sz="3200" b="1">
                <a:ea typeface="宋体" pitchFamily="2" charset="-122"/>
              </a:rPr>
              <a:t>亿元。该地计划完成程度如何？</a:t>
            </a:r>
            <a:r>
              <a:rPr lang="zh-CN" altLang="en-US" sz="2800" b="1">
                <a:ea typeface="宋体" pitchFamily="2" charset="-122"/>
              </a:rPr>
              <a:t>                 </a:t>
            </a:r>
            <a:endParaRPr lang="zh-CN" altLang="en-US" b="1">
              <a:ea typeface="宋体" pitchFamily="2" charset="-122"/>
            </a:endParaRPr>
          </a:p>
        </p:txBody>
      </p:sp>
      <p:sp>
        <p:nvSpPr>
          <p:cNvPr id="9221" name="Rectangle 3"/>
          <p:cNvSpPr>
            <a:spLocks noChangeArrowheads="1"/>
          </p:cNvSpPr>
          <p:nvPr/>
        </p:nvSpPr>
        <p:spPr bwMode="auto">
          <a:xfrm>
            <a:off x="1116013" y="3933825"/>
            <a:ext cx="6515100" cy="519113"/>
          </a:xfrm>
          <a:prstGeom prst="rect">
            <a:avLst/>
          </a:prstGeom>
          <a:noFill/>
          <a:ln w="9525">
            <a:noFill/>
            <a:miter lim="800000"/>
            <a:headEnd/>
            <a:tailEnd/>
          </a:ln>
        </p:spPr>
        <p:txBody>
          <a:bodyPr wrap="none">
            <a:spAutoFit/>
          </a:bodyPr>
          <a:lstStyle/>
          <a:p>
            <a:pPr eaLnBrk="0" hangingPunct="0"/>
            <a:r>
              <a:rPr lang="en-US" altLang="zh-CN" sz="2800" b="1">
                <a:ea typeface="宋体" pitchFamily="2" charset="-122"/>
                <a:cs typeface="Times New Roman" pitchFamily="18" charset="0"/>
              </a:rPr>
              <a:t>101.8%</a:t>
            </a:r>
            <a:r>
              <a:rPr lang="zh-CN" altLang="en-US" sz="2800" b="1">
                <a:ea typeface="宋体" pitchFamily="2" charset="-122"/>
                <a:cs typeface="Times New Roman" pitchFamily="18" charset="0"/>
              </a:rPr>
              <a:t>的经济意义：超额完成计划 </a:t>
            </a:r>
            <a:r>
              <a:rPr lang="en-US" altLang="zh-CN" sz="2800" b="1">
                <a:ea typeface="宋体" pitchFamily="2" charset="-122"/>
                <a:cs typeface="Times New Roman" pitchFamily="18" charset="0"/>
              </a:rPr>
              <a:t>1.8%</a:t>
            </a:r>
          </a:p>
        </p:txBody>
      </p:sp>
      <p:sp>
        <p:nvSpPr>
          <p:cNvPr id="9222" name="Rectangle 4"/>
          <p:cNvSpPr>
            <a:spLocks noChangeArrowheads="1"/>
          </p:cNvSpPr>
          <p:nvPr/>
        </p:nvSpPr>
        <p:spPr bwMode="auto">
          <a:xfrm>
            <a:off x="1412875" y="2909888"/>
            <a:ext cx="3240088" cy="519112"/>
          </a:xfrm>
          <a:prstGeom prst="rect">
            <a:avLst/>
          </a:prstGeom>
          <a:noFill/>
          <a:ln w="9525">
            <a:noFill/>
            <a:miter lim="800000"/>
            <a:headEnd/>
            <a:tailEnd/>
          </a:ln>
        </p:spPr>
        <p:txBody>
          <a:bodyPr>
            <a:spAutoFit/>
          </a:bodyPr>
          <a:lstStyle/>
          <a:p>
            <a:r>
              <a:rPr lang="zh-CN" altLang="en-US" sz="2800" b="1">
                <a:ea typeface="宋体" pitchFamily="2" charset="-122"/>
              </a:rPr>
              <a:t>计划完成百分比＝</a:t>
            </a:r>
            <a:endParaRPr lang="zh-CN" altLang="en-US" sz="2800" b="1">
              <a:ea typeface="宋体" pitchFamily="2" charset="-122"/>
              <a:cs typeface="Times New Roman" pitchFamily="18" charset="0"/>
            </a:endParaRPr>
          </a:p>
        </p:txBody>
      </p:sp>
      <p:graphicFrame>
        <p:nvGraphicFramePr>
          <p:cNvPr id="9218" name="Object 5"/>
          <p:cNvGraphicFramePr>
            <a:graphicFrameLocks noChangeAspect="1"/>
          </p:cNvGraphicFramePr>
          <p:nvPr/>
        </p:nvGraphicFramePr>
        <p:xfrm>
          <a:off x="4500563" y="2667000"/>
          <a:ext cx="2224087" cy="1049338"/>
        </p:xfrm>
        <a:graphic>
          <a:graphicData uri="http://schemas.openxmlformats.org/presentationml/2006/ole">
            <mc:AlternateContent xmlns:mc="http://schemas.openxmlformats.org/markup-compatibility/2006">
              <mc:Choice xmlns:v="urn:schemas-microsoft-com:vml" Requires="v">
                <p:oleObj spid="_x0000_s273544" name="Equation" r:id="rId3" imgW="2171520" imgH="888840" progId="Equation.DSMT4">
                  <p:embed/>
                </p:oleObj>
              </mc:Choice>
              <mc:Fallback>
                <p:oleObj name="Equation" r:id="rId3" imgW="2171520" imgH="888840" progId="Equation.DSMT4">
                  <p:embed/>
                  <p:pic>
                    <p:nvPicPr>
                      <p:cNvPr id="921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2667000"/>
                        <a:ext cx="2224087"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1062" name="Rectangle 6"/>
          <p:cNvSpPr>
            <a:spLocks noChangeArrowheads="1"/>
          </p:cNvSpPr>
          <p:nvPr/>
        </p:nvSpPr>
        <p:spPr bwMode="auto">
          <a:xfrm>
            <a:off x="395288" y="4652963"/>
            <a:ext cx="8139112" cy="1457325"/>
          </a:xfrm>
          <a:prstGeom prst="rect">
            <a:avLst/>
          </a:prstGeom>
          <a:noFill/>
          <a:ln w="9525">
            <a:noFill/>
            <a:miter lim="800000"/>
            <a:headEnd/>
            <a:tailEnd/>
          </a:ln>
        </p:spPr>
        <p:txBody>
          <a:bodyPr>
            <a:spAutoFit/>
          </a:bodyPr>
          <a:lstStyle/>
          <a:p>
            <a:pPr algn="just">
              <a:lnSpc>
                <a:spcPct val="160000"/>
              </a:lnSpc>
            </a:pPr>
            <a:r>
              <a:rPr lang="en-US" altLang="zh-CN" sz="2800" b="1">
                <a:solidFill>
                  <a:srgbClr val="E54182"/>
                </a:solidFill>
                <a:ea typeface="宋体" pitchFamily="2" charset="-122"/>
              </a:rPr>
              <a:t>【</a:t>
            </a:r>
            <a:r>
              <a:rPr lang="zh-CN" altLang="en-US" sz="2800" b="1">
                <a:solidFill>
                  <a:srgbClr val="E54182"/>
                </a:solidFill>
                <a:ea typeface="宋体" pitchFamily="2" charset="-122"/>
              </a:rPr>
              <a:t>思考</a:t>
            </a:r>
            <a:r>
              <a:rPr lang="en-US" altLang="zh-CN" sz="2800" b="1">
                <a:solidFill>
                  <a:srgbClr val="E54182"/>
                </a:solidFill>
                <a:ea typeface="宋体" pitchFamily="2" charset="-122"/>
              </a:rPr>
              <a:t>1】</a:t>
            </a:r>
            <a:r>
              <a:rPr lang="zh-CN" altLang="en-US" sz="2800" b="1">
                <a:solidFill>
                  <a:schemeClr val="tx2"/>
                </a:solidFill>
                <a:ea typeface="宋体" pitchFamily="2" charset="-122"/>
              </a:rPr>
              <a:t>若已知</a:t>
            </a:r>
            <a:r>
              <a:rPr lang="zh-CN" altLang="en-US" sz="2800" b="1">
                <a:ea typeface="宋体" pitchFamily="2" charset="-122"/>
              </a:rPr>
              <a:t>今年计划国内生产总值比上年增长</a:t>
            </a:r>
            <a:r>
              <a:rPr lang="en-US" altLang="zh-CN" sz="2800" b="1">
                <a:ea typeface="宋体" pitchFamily="2" charset="-122"/>
                <a:cs typeface="Times New Roman" pitchFamily="18" charset="0"/>
              </a:rPr>
              <a:t>10%</a:t>
            </a:r>
            <a:r>
              <a:rPr lang="zh-CN" altLang="en-US" sz="2800" b="1">
                <a:ea typeface="宋体" pitchFamily="2" charset="-122"/>
              </a:rPr>
              <a:t>，实际增长</a:t>
            </a:r>
            <a:r>
              <a:rPr lang="en-US" altLang="zh-CN" sz="2800" b="1">
                <a:ea typeface="宋体" pitchFamily="2" charset="-122"/>
              </a:rPr>
              <a:t>12%</a:t>
            </a:r>
            <a:r>
              <a:rPr lang="zh-CN" altLang="en-US" sz="2800" b="1">
                <a:ea typeface="宋体" pitchFamily="2" charset="-122"/>
              </a:rPr>
              <a:t>，又该如何计算？</a:t>
            </a:r>
          </a:p>
        </p:txBody>
      </p:sp>
      <p:sp>
        <p:nvSpPr>
          <p:cNvPr id="9224" name="Rectangle 7"/>
          <p:cNvSpPr>
            <a:spLocks noGrp="1" noChangeArrowheads="1"/>
          </p:cNvSpPr>
          <p:nvPr>
            <p:ph type="title" idx="4294967295"/>
          </p:nvPr>
        </p:nvSpPr>
        <p:spPr>
          <a:xfrm>
            <a:off x="838200" y="188913"/>
            <a:ext cx="7772400" cy="990600"/>
          </a:xfrm>
        </p:spPr>
        <p:txBody>
          <a:bodyPr/>
          <a:lstStyle/>
          <a:p>
            <a:pPr eaLnBrk="1" hangingPunct="1"/>
            <a:r>
              <a:rPr lang="zh-CN" altLang="en-US" dirty="0" smtClean="0">
                <a:solidFill>
                  <a:srgbClr val="E54182"/>
                </a:solidFill>
              </a:rPr>
              <a:t>例</a:t>
            </a:r>
            <a:r>
              <a:rPr lang="en-US" altLang="zh-CN" dirty="0" smtClean="0">
                <a:solidFill>
                  <a:srgbClr val="E54182"/>
                </a:solidFill>
              </a:rPr>
              <a:t>1</a:t>
            </a:r>
            <a:endParaRPr lang="en-US" altLang="zh-CN" dirty="0" smtClean="0">
              <a:solidFill>
                <a:schemeClr val="tx1"/>
              </a:solidFill>
            </a:endParaRPr>
          </a:p>
        </p:txBody>
      </p:sp>
      <p:sp>
        <p:nvSpPr>
          <p:cNvPr id="9" name="灯片编号占位符 8"/>
          <p:cNvSpPr>
            <a:spLocks noGrp="1"/>
          </p:cNvSpPr>
          <p:nvPr>
            <p:ph type="sldNum" sz="quarter" idx="12"/>
          </p:nvPr>
        </p:nvSpPr>
        <p:spPr/>
        <p:txBody>
          <a:bodyPr/>
          <a:lstStyle/>
          <a:p>
            <a:pPr>
              <a:defRPr/>
            </a:pPr>
            <a:fld id="{4D36EFB7-0D9F-4BC1-ADE9-F0E399591344}" type="slidenum">
              <a:rPr lang="en-US" altLang="zh-CN" smtClean="0"/>
              <a:pPr>
                <a:defRPr/>
              </a:pPr>
              <a:t>29</a:t>
            </a:fld>
            <a:endParaRPr lang="en-US" altLang="zh-CN" dirty="0"/>
          </a:p>
        </p:txBody>
      </p:sp>
    </p:spTree>
    <p:extLst>
      <p:ext uri="{BB962C8B-B14F-4D97-AF65-F5344CB8AC3E}">
        <p14:creationId xmlns:p14="http://schemas.microsoft.com/office/powerpoint/2010/main" val="34370076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1062"/>
                                        </p:tgtEl>
                                        <p:attrNameLst>
                                          <p:attrName>style.visibility</p:attrName>
                                        </p:attrNameLst>
                                      </p:cBhvr>
                                      <p:to>
                                        <p:strVal val="visible"/>
                                      </p:to>
                                    </p:set>
                                    <p:animEffect transition="in" filter="blinds(horizontal)">
                                      <p:cBhvr>
                                        <p:cTn id="7" dur="1000"/>
                                        <p:tgtEl>
                                          <p:spTgt spid="301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ChangeArrowheads="1"/>
          </p:cNvSpPr>
          <p:nvPr/>
        </p:nvSpPr>
        <p:spPr bwMode="auto">
          <a:xfrm>
            <a:off x="468313" y="1557338"/>
            <a:ext cx="8534400" cy="1457325"/>
          </a:xfrm>
          <a:prstGeom prst="rect">
            <a:avLst/>
          </a:prstGeom>
          <a:noFill/>
          <a:ln w="9525">
            <a:noFill/>
            <a:miter lim="800000"/>
            <a:headEnd/>
            <a:tailEnd/>
          </a:ln>
        </p:spPr>
        <p:txBody>
          <a:bodyPr>
            <a:spAutoFit/>
          </a:bodyPr>
          <a:lstStyle/>
          <a:p>
            <a:pPr algn="just">
              <a:lnSpc>
                <a:spcPct val="160000"/>
              </a:lnSpc>
            </a:pPr>
            <a:r>
              <a:rPr lang="zh-CN" altLang="en-US" sz="2800" b="1">
                <a:ea typeface="宋体" pitchFamily="2" charset="-122"/>
              </a:rPr>
              <a:t>某地上年国内生产总值为</a:t>
            </a:r>
            <a:r>
              <a:rPr lang="en-US" altLang="zh-CN" sz="2800" b="1">
                <a:ea typeface="宋体" pitchFamily="2" charset="-122"/>
                <a:cs typeface="Times New Roman" pitchFamily="18" charset="0"/>
              </a:rPr>
              <a:t>500</a:t>
            </a:r>
            <a:r>
              <a:rPr lang="zh-CN" altLang="en-US" sz="2800" b="1">
                <a:ea typeface="宋体" pitchFamily="2" charset="-122"/>
              </a:rPr>
              <a:t>亿元，今年计划国内生产总值比上年增长</a:t>
            </a:r>
            <a:r>
              <a:rPr lang="en-US" altLang="zh-CN" sz="2800" b="1">
                <a:ea typeface="宋体" pitchFamily="2" charset="-122"/>
              </a:rPr>
              <a:t>10%</a:t>
            </a:r>
            <a:r>
              <a:rPr lang="zh-CN" altLang="en-US" sz="2800" b="1">
                <a:ea typeface="宋体" pitchFamily="2" charset="-122"/>
              </a:rPr>
              <a:t>，实际增长</a:t>
            </a:r>
            <a:r>
              <a:rPr lang="en-US" altLang="zh-CN" sz="2800" b="1">
                <a:ea typeface="宋体" pitchFamily="2" charset="-122"/>
              </a:rPr>
              <a:t>12%</a:t>
            </a:r>
            <a:r>
              <a:rPr lang="zh-CN" altLang="en-US" sz="2800" b="1">
                <a:ea typeface="宋体" pitchFamily="2" charset="-122"/>
              </a:rPr>
              <a:t>。</a:t>
            </a:r>
          </a:p>
        </p:txBody>
      </p:sp>
      <p:graphicFrame>
        <p:nvGraphicFramePr>
          <p:cNvPr id="10242" name="Object 3"/>
          <p:cNvGraphicFramePr>
            <a:graphicFrameLocks noChangeAspect="1"/>
          </p:cNvGraphicFramePr>
          <p:nvPr/>
        </p:nvGraphicFramePr>
        <p:xfrm>
          <a:off x="3203575" y="5084763"/>
          <a:ext cx="3168650" cy="1008062"/>
        </p:xfrm>
        <a:graphic>
          <a:graphicData uri="http://schemas.openxmlformats.org/presentationml/2006/ole">
            <mc:AlternateContent xmlns:mc="http://schemas.openxmlformats.org/markup-compatibility/2006">
              <mc:Choice xmlns:v="urn:schemas-microsoft-com:vml" Requires="v">
                <p:oleObj spid="_x0000_s274702" name="Equation" r:id="rId3" imgW="1130040" imgH="393480" progId="Equation.3">
                  <p:embed/>
                </p:oleObj>
              </mc:Choice>
              <mc:Fallback>
                <p:oleObj name="Equation" r:id="rId3" imgW="1130040" imgH="393480" progId="Equation.3">
                  <p:embed/>
                  <p:pic>
                    <p:nvPicPr>
                      <p:cNvPr id="1024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5084763"/>
                        <a:ext cx="31686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Rectangle 4"/>
          <p:cNvSpPr>
            <a:spLocks noChangeArrowheads="1"/>
          </p:cNvSpPr>
          <p:nvPr/>
        </p:nvSpPr>
        <p:spPr bwMode="auto">
          <a:xfrm>
            <a:off x="395288" y="4148138"/>
            <a:ext cx="3041650" cy="519112"/>
          </a:xfrm>
          <a:prstGeom prst="rect">
            <a:avLst/>
          </a:prstGeom>
          <a:noFill/>
          <a:ln w="9525">
            <a:noFill/>
            <a:miter lim="800000"/>
            <a:headEnd/>
            <a:tailEnd/>
          </a:ln>
        </p:spPr>
        <p:txBody>
          <a:bodyPr wrap="none">
            <a:spAutoFit/>
          </a:bodyPr>
          <a:lstStyle/>
          <a:p>
            <a:r>
              <a:rPr lang="zh-CN" altLang="en-US" sz="2800" b="1">
                <a:ea typeface="宋体" pitchFamily="2" charset="-122"/>
              </a:rPr>
              <a:t>计划完成百分比＝</a:t>
            </a:r>
          </a:p>
        </p:txBody>
      </p:sp>
      <p:graphicFrame>
        <p:nvGraphicFramePr>
          <p:cNvPr id="10243" name="Object 5"/>
          <p:cNvGraphicFramePr>
            <a:graphicFrameLocks noChangeAspect="1"/>
          </p:cNvGraphicFramePr>
          <p:nvPr/>
        </p:nvGraphicFramePr>
        <p:xfrm>
          <a:off x="3419475" y="3789363"/>
          <a:ext cx="4968875" cy="1138237"/>
        </p:xfrm>
        <a:graphic>
          <a:graphicData uri="http://schemas.openxmlformats.org/presentationml/2006/ole">
            <mc:AlternateContent xmlns:mc="http://schemas.openxmlformats.org/markup-compatibility/2006">
              <mc:Choice xmlns:v="urn:schemas-microsoft-com:vml" Requires="v">
                <p:oleObj spid="_x0000_s274703" name="Equation" r:id="rId5" imgW="4851360" imgH="965160" progId="Equation.DSMT4">
                  <p:embed/>
                </p:oleObj>
              </mc:Choice>
              <mc:Fallback>
                <p:oleObj name="Equation" r:id="rId5" imgW="4851360" imgH="965160" progId="Equation.DSMT4">
                  <p:embed/>
                  <p:pic>
                    <p:nvPicPr>
                      <p:cNvPr id="1024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3789363"/>
                        <a:ext cx="4968875" cy="1138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7" name="Rectangle 6"/>
          <p:cNvSpPr>
            <a:spLocks noGrp="1" noChangeArrowheads="1"/>
          </p:cNvSpPr>
          <p:nvPr>
            <p:ph type="title" idx="4294967295"/>
          </p:nvPr>
        </p:nvSpPr>
        <p:spPr/>
        <p:txBody>
          <a:bodyPr/>
          <a:lstStyle/>
          <a:p>
            <a:pPr eaLnBrk="1" hangingPunct="1"/>
            <a:r>
              <a:rPr lang="en-US" altLang="zh-CN" dirty="0" smtClean="0">
                <a:solidFill>
                  <a:srgbClr val="E54182"/>
                </a:solidFill>
              </a:rPr>
              <a:t>【</a:t>
            </a:r>
            <a:r>
              <a:rPr lang="zh-CN" altLang="en-US" dirty="0" smtClean="0">
                <a:solidFill>
                  <a:srgbClr val="E54182"/>
                </a:solidFill>
              </a:rPr>
              <a:t>思考</a:t>
            </a:r>
            <a:r>
              <a:rPr lang="en-US" altLang="zh-CN" dirty="0" smtClean="0">
                <a:solidFill>
                  <a:srgbClr val="E54182"/>
                </a:solidFill>
              </a:rPr>
              <a:t>1</a:t>
            </a:r>
            <a:r>
              <a:rPr lang="en-US" altLang="zh-CN" dirty="0" smtClean="0">
                <a:solidFill>
                  <a:srgbClr val="E54182"/>
                </a:solidFill>
                <a:latin typeface="Times New Roman" pitchFamily="18" charset="0"/>
              </a:rPr>
              <a:t>—</a:t>
            </a:r>
            <a:r>
              <a:rPr lang="en-US" altLang="zh-CN" dirty="0" smtClean="0">
                <a:solidFill>
                  <a:srgbClr val="E54182"/>
                </a:solidFill>
              </a:rPr>
              <a:t>】</a:t>
            </a:r>
            <a:r>
              <a:rPr lang="zh-CN" altLang="en-US" dirty="0" smtClean="0">
                <a:solidFill>
                  <a:srgbClr val="E54182"/>
                </a:solidFill>
              </a:rPr>
              <a:t>解</a:t>
            </a:r>
          </a:p>
        </p:txBody>
      </p:sp>
      <p:sp>
        <p:nvSpPr>
          <p:cNvPr id="8" name="灯片编号占位符 7"/>
          <p:cNvSpPr>
            <a:spLocks noGrp="1"/>
          </p:cNvSpPr>
          <p:nvPr>
            <p:ph type="sldNum" sz="quarter" idx="12"/>
          </p:nvPr>
        </p:nvSpPr>
        <p:spPr/>
        <p:txBody>
          <a:bodyPr/>
          <a:lstStyle/>
          <a:p>
            <a:pPr>
              <a:defRPr/>
            </a:pPr>
            <a:fld id="{4D36EFB7-0D9F-4BC1-ADE9-F0E399591344}" type="slidenum">
              <a:rPr lang="en-US" altLang="zh-CN" smtClean="0"/>
              <a:pPr>
                <a:defRPr/>
              </a:pPr>
              <a:t>30</a:t>
            </a:fld>
            <a:endParaRPr lang="en-US" altLang="zh-CN" dirty="0"/>
          </a:p>
        </p:txBody>
      </p:sp>
    </p:spTree>
    <p:extLst>
      <p:ext uri="{BB962C8B-B14F-4D97-AF65-F5344CB8AC3E}">
        <p14:creationId xmlns:p14="http://schemas.microsoft.com/office/powerpoint/2010/main" val="144354584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ChangeArrowheads="1"/>
          </p:cNvSpPr>
          <p:nvPr/>
        </p:nvSpPr>
        <p:spPr bwMode="auto">
          <a:xfrm>
            <a:off x="611188" y="3429000"/>
            <a:ext cx="8007350" cy="2530475"/>
          </a:xfrm>
          <a:prstGeom prst="rect">
            <a:avLst/>
          </a:prstGeom>
          <a:noFill/>
          <a:ln w="9525">
            <a:noFill/>
            <a:miter lim="800000"/>
            <a:headEnd/>
            <a:tailEnd/>
          </a:ln>
        </p:spPr>
        <p:txBody>
          <a:bodyPr>
            <a:spAutoFit/>
          </a:bodyPr>
          <a:lstStyle/>
          <a:p>
            <a:pPr>
              <a:lnSpc>
                <a:spcPct val="125000"/>
              </a:lnSpc>
            </a:pPr>
            <a:r>
              <a:rPr lang="en-US" altLang="zh-CN" sz="3200" b="1">
                <a:ea typeface="宋体" pitchFamily="2" charset="-122"/>
              </a:rPr>
              <a:t>      </a:t>
            </a:r>
            <a:r>
              <a:rPr lang="zh-CN" altLang="en-US" sz="3200" b="1">
                <a:ea typeface="宋体" pitchFamily="2" charset="-122"/>
              </a:rPr>
              <a:t>某企业计划把单位成本降低  </a:t>
            </a:r>
            <a:r>
              <a:rPr lang="en-US" altLang="zh-CN" sz="3200" b="1">
                <a:ea typeface="宋体" pitchFamily="2" charset="-122"/>
                <a:cs typeface="Times New Roman" pitchFamily="18" charset="0"/>
              </a:rPr>
              <a:t>3%</a:t>
            </a:r>
            <a:r>
              <a:rPr lang="zh-CN" altLang="en-US" sz="3200" b="1">
                <a:ea typeface="宋体" pitchFamily="2" charset="-122"/>
              </a:rPr>
              <a:t>，实际降低</a:t>
            </a:r>
            <a:r>
              <a:rPr lang="en-US" altLang="zh-CN" sz="3200" b="1">
                <a:ea typeface="宋体" pitchFamily="2" charset="-122"/>
              </a:rPr>
              <a:t>2%</a:t>
            </a:r>
            <a:r>
              <a:rPr lang="zh-CN" altLang="en-US" sz="3200" b="1">
                <a:ea typeface="宋体" pitchFamily="2" charset="-122"/>
              </a:rPr>
              <a:t>。该企业单位成本</a:t>
            </a:r>
            <a:r>
              <a:rPr lang="zh-CN" altLang="en-US" sz="3200" b="1">
                <a:latin typeface="Tahoma" pitchFamily="34" charset="0"/>
                <a:ea typeface="宋体" pitchFamily="2" charset="-122"/>
              </a:rPr>
              <a:t>的计划完成百分比是多少？</a:t>
            </a:r>
            <a:r>
              <a:rPr lang="zh-CN" altLang="en-US" sz="3200" b="1">
                <a:ea typeface="宋体" pitchFamily="2" charset="-122"/>
              </a:rPr>
              <a:t>该企业是否完成了单位成本的计划任务？</a:t>
            </a:r>
            <a:r>
              <a:rPr lang="zh-CN" altLang="en-US" sz="3200">
                <a:latin typeface="Verdana" pitchFamily="34" charset="0"/>
                <a:ea typeface="宋体" pitchFamily="2" charset="-122"/>
              </a:rPr>
              <a:t> </a:t>
            </a:r>
          </a:p>
        </p:txBody>
      </p:sp>
      <p:sp>
        <p:nvSpPr>
          <p:cNvPr id="96260" name="Rectangle 6"/>
          <p:cNvSpPr>
            <a:spLocks noGrp="1" noChangeArrowheads="1"/>
          </p:cNvSpPr>
          <p:nvPr>
            <p:ph type="title" idx="4294967295"/>
          </p:nvPr>
        </p:nvSpPr>
        <p:spPr>
          <a:xfrm>
            <a:off x="755650" y="981075"/>
            <a:ext cx="7416800" cy="1152525"/>
          </a:xfrm>
        </p:spPr>
        <p:txBody>
          <a:bodyPr/>
          <a:lstStyle/>
          <a:p>
            <a:pPr eaLnBrk="1" hangingPunct="1"/>
            <a:r>
              <a:rPr lang="en-US" altLang="zh-CN" sz="3200" b="0" dirty="0" smtClean="0">
                <a:solidFill>
                  <a:srgbClr val="C56B9E"/>
                </a:solidFill>
              </a:rPr>
              <a:t>【</a:t>
            </a:r>
            <a:r>
              <a:rPr lang="zh-CN" altLang="en-US" sz="3200" dirty="0" smtClean="0">
                <a:solidFill>
                  <a:srgbClr val="C56B9E"/>
                </a:solidFill>
              </a:rPr>
              <a:t>思考</a:t>
            </a:r>
            <a:r>
              <a:rPr lang="en-US" altLang="zh-CN" sz="3200" dirty="0" smtClean="0">
                <a:solidFill>
                  <a:srgbClr val="C56B9E"/>
                </a:solidFill>
              </a:rPr>
              <a:t>2</a:t>
            </a:r>
            <a:r>
              <a:rPr lang="en-US" altLang="zh-CN" sz="3200" dirty="0" smtClean="0">
                <a:solidFill>
                  <a:srgbClr val="C56B9E"/>
                </a:solidFill>
                <a:latin typeface="Times New Roman" pitchFamily="18" charset="0"/>
              </a:rPr>
              <a:t>——</a:t>
            </a:r>
            <a:r>
              <a:rPr lang="zh-CN" altLang="en-US" sz="3200" dirty="0" smtClean="0">
                <a:solidFill>
                  <a:srgbClr val="1313FF"/>
                </a:solidFill>
              </a:rPr>
              <a:t>如何计算计划完成百分比？</a:t>
            </a:r>
            <a:r>
              <a:rPr lang="en-US" altLang="zh-CN" sz="3200" dirty="0" smtClean="0">
                <a:solidFill>
                  <a:srgbClr val="C56B9E"/>
                </a:solidFill>
              </a:rPr>
              <a:t>】</a:t>
            </a:r>
          </a:p>
        </p:txBody>
      </p:sp>
      <p:sp>
        <p:nvSpPr>
          <p:cNvPr id="96261" name="Rectangle 8"/>
          <p:cNvSpPr>
            <a:spLocks noChangeArrowheads="1"/>
          </p:cNvSpPr>
          <p:nvPr/>
        </p:nvSpPr>
        <p:spPr bwMode="auto">
          <a:xfrm>
            <a:off x="3059113" y="2420938"/>
            <a:ext cx="5545137" cy="519112"/>
          </a:xfrm>
          <a:prstGeom prst="rect">
            <a:avLst/>
          </a:prstGeom>
          <a:noFill/>
          <a:ln w="9525">
            <a:noFill/>
            <a:miter lim="800000"/>
            <a:headEnd/>
            <a:tailEnd/>
          </a:ln>
        </p:spPr>
        <p:txBody>
          <a:bodyPr>
            <a:spAutoFit/>
          </a:bodyPr>
          <a:lstStyle/>
          <a:p>
            <a:r>
              <a:rPr lang="zh-CN" altLang="en-US" sz="2800" b="1">
                <a:solidFill>
                  <a:srgbClr val="1313FF"/>
                </a:solidFill>
              </a:rPr>
              <a:t>怎样计算超额完成计划百分比？</a:t>
            </a:r>
          </a:p>
        </p:txBody>
      </p:sp>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31</a:t>
            </a:fld>
            <a:endParaRPr lang="en-US" altLang="zh-CN" dirty="0"/>
          </a:p>
        </p:txBody>
      </p:sp>
    </p:spTree>
    <p:extLst>
      <p:ext uri="{BB962C8B-B14F-4D97-AF65-F5344CB8AC3E}">
        <p14:creationId xmlns:p14="http://schemas.microsoft.com/office/powerpoint/2010/main" val="127984535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ChangeArrowheads="1"/>
          </p:cNvSpPr>
          <p:nvPr/>
        </p:nvSpPr>
        <p:spPr bwMode="auto">
          <a:xfrm>
            <a:off x="611188" y="1268413"/>
            <a:ext cx="8007350" cy="1920875"/>
          </a:xfrm>
          <a:prstGeom prst="rect">
            <a:avLst/>
          </a:prstGeom>
          <a:noFill/>
          <a:ln w="9525">
            <a:noFill/>
            <a:miter lim="800000"/>
            <a:headEnd/>
            <a:tailEnd/>
          </a:ln>
        </p:spPr>
        <p:txBody>
          <a:bodyPr>
            <a:spAutoFit/>
          </a:bodyPr>
          <a:lstStyle/>
          <a:p>
            <a:pPr>
              <a:lnSpc>
                <a:spcPct val="125000"/>
              </a:lnSpc>
            </a:pPr>
            <a:r>
              <a:rPr lang="en-US" altLang="zh-CN" sz="3200" b="1">
                <a:ea typeface="宋体" pitchFamily="2" charset="-122"/>
              </a:rPr>
              <a:t>      </a:t>
            </a:r>
            <a:r>
              <a:rPr lang="zh-CN" altLang="en-US" sz="3200" b="1">
                <a:ea typeface="宋体" pitchFamily="2" charset="-122"/>
              </a:rPr>
              <a:t>某企业计划把单位成本降低  </a:t>
            </a:r>
            <a:r>
              <a:rPr lang="en-US" altLang="zh-CN" sz="3200" b="1">
                <a:ea typeface="宋体" pitchFamily="2" charset="-122"/>
                <a:cs typeface="Times New Roman" pitchFamily="18" charset="0"/>
              </a:rPr>
              <a:t>3%</a:t>
            </a:r>
            <a:r>
              <a:rPr lang="zh-CN" altLang="en-US" sz="3200" b="1">
                <a:ea typeface="宋体" pitchFamily="2" charset="-122"/>
              </a:rPr>
              <a:t>，实际降低</a:t>
            </a:r>
            <a:r>
              <a:rPr lang="en-US" altLang="zh-CN" sz="3200" b="1">
                <a:ea typeface="宋体" pitchFamily="2" charset="-122"/>
              </a:rPr>
              <a:t>2%</a:t>
            </a:r>
            <a:r>
              <a:rPr lang="zh-CN" altLang="en-US" sz="3200" b="1">
                <a:ea typeface="宋体" pitchFamily="2" charset="-122"/>
              </a:rPr>
              <a:t>。</a:t>
            </a:r>
            <a:r>
              <a:rPr lang="zh-CN" altLang="en-US" sz="3200" b="1">
                <a:solidFill>
                  <a:srgbClr val="1313FF"/>
                </a:solidFill>
                <a:latin typeface="Tahoma" pitchFamily="34" charset="0"/>
                <a:ea typeface="宋体" pitchFamily="2" charset="-122"/>
              </a:rPr>
              <a:t>如何计算计划完成百分比？</a:t>
            </a:r>
            <a:r>
              <a:rPr lang="zh-CN" altLang="en-US" sz="3200" b="1">
                <a:solidFill>
                  <a:srgbClr val="1313FF"/>
                </a:solidFill>
                <a:ea typeface="宋体" pitchFamily="2" charset="-122"/>
              </a:rPr>
              <a:t>该企业是否完成了单位成本降低计划？</a:t>
            </a:r>
            <a:r>
              <a:rPr lang="zh-CN" altLang="en-US" sz="3200">
                <a:solidFill>
                  <a:srgbClr val="1313FF"/>
                </a:solidFill>
                <a:latin typeface="Verdana" pitchFamily="34" charset="0"/>
                <a:ea typeface="宋体" pitchFamily="2" charset="-122"/>
              </a:rPr>
              <a:t> </a:t>
            </a:r>
          </a:p>
        </p:txBody>
      </p:sp>
      <p:graphicFrame>
        <p:nvGraphicFramePr>
          <p:cNvPr id="608259" name="Object 3"/>
          <p:cNvGraphicFramePr>
            <a:graphicFrameLocks noChangeAspect="1"/>
          </p:cNvGraphicFramePr>
          <p:nvPr>
            <p:extLst>
              <p:ext uri="{D42A27DB-BD31-4B8C-83A1-F6EECF244321}">
                <p14:modId xmlns:p14="http://schemas.microsoft.com/office/powerpoint/2010/main" val="1129913605"/>
              </p:ext>
            </p:extLst>
          </p:nvPr>
        </p:nvGraphicFramePr>
        <p:xfrm>
          <a:off x="3563888" y="3216274"/>
          <a:ext cx="4267200" cy="1190625"/>
        </p:xfrm>
        <a:graphic>
          <a:graphicData uri="http://schemas.openxmlformats.org/presentationml/2006/ole">
            <mc:AlternateContent xmlns:mc="http://schemas.openxmlformats.org/markup-compatibility/2006">
              <mc:Choice xmlns:v="urn:schemas-microsoft-com:vml" Requires="v">
                <p:oleObj spid="_x0000_s275728" name="Equation" r:id="rId3" imgW="3060360" imgH="888840" progId="Equation.DSMT4">
                  <p:embed/>
                </p:oleObj>
              </mc:Choice>
              <mc:Fallback>
                <p:oleObj name="Equation" r:id="rId3" imgW="3060360" imgH="888840" progId="Equation.DSMT4">
                  <p:embed/>
                  <p:pic>
                    <p:nvPicPr>
                      <p:cNvPr id="6082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3216274"/>
                        <a:ext cx="4267200" cy="119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0" name="Rectangle 4"/>
          <p:cNvSpPr>
            <a:spLocks noChangeArrowheads="1"/>
          </p:cNvSpPr>
          <p:nvPr/>
        </p:nvSpPr>
        <p:spPr bwMode="auto">
          <a:xfrm>
            <a:off x="631900" y="3521869"/>
            <a:ext cx="3040063" cy="579437"/>
          </a:xfrm>
          <a:prstGeom prst="rect">
            <a:avLst/>
          </a:prstGeom>
          <a:noFill/>
          <a:ln w="9525">
            <a:noFill/>
            <a:miter lim="800000"/>
            <a:headEnd/>
            <a:tailEnd/>
          </a:ln>
        </p:spPr>
        <p:txBody>
          <a:bodyPr wrap="none">
            <a:spAutoFit/>
          </a:bodyPr>
          <a:lstStyle/>
          <a:p>
            <a:r>
              <a:rPr lang="zh-CN" altLang="en-US" sz="3200" b="1" dirty="0">
                <a:solidFill>
                  <a:srgbClr val="006600"/>
                </a:solidFill>
                <a:ea typeface="宋体" pitchFamily="2" charset="-122"/>
              </a:rPr>
              <a:t>计划完成百分比</a:t>
            </a:r>
          </a:p>
        </p:txBody>
      </p:sp>
      <p:sp>
        <p:nvSpPr>
          <p:cNvPr id="11271" name="Rectangle 5"/>
          <p:cNvSpPr>
            <a:spLocks noGrp="1" noChangeArrowheads="1"/>
          </p:cNvSpPr>
          <p:nvPr>
            <p:ph type="title" idx="4294967295"/>
          </p:nvPr>
        </p:nvSpPr>
        <p:spPr>
          <a:xfrm>
            <a:off x="500063" y="0"/>
            <a:ext cx="8429625" cy="1152525"/>
          </a:xfrm>
        </p:spPr>
        <p:txBody>
          <a:bodyPr/>
          <a:lstStyle/>
          <a:p>
            <a:pPr eaLnBrk="1" hangingPunct="1"/>
            <a:r>
              <a:rPr lang="en-US" altLang="zh-CN" sz="3600" b="0" dirty="0" smtClean="0">
                <a:solidFill>
                  <a:srgbClr val="C56B9E"/>
                </a:solidFill>
              </a:rPr>
              <a:t>【</a:t>
            </a:r>
            <a:r>
              <a:rPr lang="zh-CN" altLang="en-US" sz="3600" dirty="0" smtClean="0">
                <a:solidFill>
                  <a:srgbClr val="C56B9E"/>
                </a:solidFill>
              </a:rPr>
              <a:t>思考</a:t>
            </a:r>
            <a:r>
              <a:rPr lang="en-US" altLang="zh-CN" sz="3600" dirty="0" smtClean="0">
                <a:solidFill>
                  <a:srgbClr val="C56B9E"/>
                </a:solidFill>
              </a:rPr>
              <a:t>2</a:t>
            </a:r>
            <a:r>
              <a:rPr lang="en-US" altLang="zh-CN" sz="3600" dirty="0" smtClean="0">
                <a:solidFill>
                  <a:srgbClr val="C56B9E"/>
                </a:solidFill>
                <a:latin typeface="Times New Roman" pitchFamily="18" charset="0"/>
              </a:rPr>
              <a:t>——</a:t>
            </a:r>
            <a:r>
              <a:rPr lang="zh-CN" altLang="en-US" sz="3600" dirty="0" smtClean="0">
                <a:solidFill>
                  <a:srgbClr val="1313FF"/>
                </a:solidFill>
              </a:rPr>
              <a:t>如何计算计划完成百分比？</a:t>
            </a:r>
            <a:r>
              <a:rPr lang="en-US" altLang="zh-CN" sz="3600" dirty="0" smtClean="0">
                <a:solidFill>
                  <a:srgbClr val="C56B9E"/>
                </a:solidFill>
              </a:rPr>
              <a:t>】</a:t>
            </a:r>
          </a:p>
        </p:txBody>
      </p:sp>
      <p:graphicFrame>
        <p:nvGraphicFramePr>
          <p:cNvPr id="608262" name="Object 6"/>
          <p:cNvGraphicFramePr>
            <a:graphicFrameLocks noChangeAspect="1"/>
          </p:cNvGraphicFramePr>
          <p:nvPr>
            <p:extLst>
              <p:ext uri="{D42A27DB-BD31-4B8C-83A1-F6EECF244321}">
                <p14:modId xmlns:p14="http://schemas.microsoft.com/office/powerpoint/2010/main" val="4103036329"/>
              </p:ext>
            </p:extLst>
          </p:nvPr>
        </p:nvGraphicFramePr>
        <p:xfrm>
          <a:off x="1043607" y="4712494"/>
          <a:ext cx="6984777" cy="1596231"/>
        </p:xfrm>
        <a:graphic>
          <a:graphicData uri="http://schemas.openxmlformats.org/presentationml/2006/ole">
            <mc:AlternateContent xmlns:mc="http://schemas.openxmlformats.org/markup-compatibility/2006">
              <mc:Choice xmlns:v="urn:schemas-microsoft-com:vml" Requires="v">
                <p:oleObj spid="_x0000_s275729" name="Equation" r:id="rId5" imgW="2984400" imgH="419040" progId="Equation.DSMT4">
                  <p:embed/>
                </p:oleObj>
              </mc:Choice>
              <mc:Fallback>
                <p:oleObj name="Equation" r:id="rId5" imgW="2984400" imgH="419040" progId="Equation.DSMT4">
                  <p:embed/>
                  <p:pic>
                    <p:nvPicPr>
                      <p:cNvPr id="60826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07" y="4712494"/>
                        <a:ext cx="6984777" cy="1596231"/>
                      </a:xfrm>
                      <a:prstGeom prst="rect">
                        <a:avLst/>
                      </a:prstGeom>
                      <a:noFill/>
                      <a:ln>
                        <a:solidFill>
                          <a:srgbClr val="FFFF00"/>
                        </a:solidFill>
                      </a:ln>
                      <a:extLst/>
                    </p:spPr>
                  </p:pic>
                </p:oleObj>
              </mc:Fallback>
            </mc:AlternateContent>
          </a:graphicData>
        </a:graphic>
      </p:graphicFrame>
      <p:sp>
        <p:nvSpPr>
          <p:cNvPr id="8" name="灯片编号占位符 7"/>
          <p:cNvSpPr>
            <a:spLocks noGrp="1"/>
          </p:cNvSpPr>
          <p:nvPr>
            <p:ph type="sldNum" sz="quarter" idx="12"/>
          </p:nvPr>
        </p:nvSpPr>
        <p:spPr/>
        <p:txBody>
          <a:bodyPr/>
          <a:lstStyle/>
          <a:p>
            <a:pPr>
              <a:defRPr/>
            </a:pPr>
            <a:fld id="{4D36EFB7-0D9F-4BC1-ADE9-F0E399591344}" type="slidenum">
              <a:rPr lang="en-US" altLang="zh-CN" smtClean="0"/>
              <a:pPr>
                <a:defRPr/>
              </a:pPr>
              <a:t>32</a:t>
            </a:fld>
            <a:endParaRPr lang="en-US" altLang="zh-CN" dirty="0"/>
          </a:p>
        </p:txBody>
      </p:sp>
    </p:spTree>
    <p:extLst>
      <p:ext uri="{BB962C8B-B14F-4D97-AF65-F5344CB8AC3E}">
        <p14:creationId xmlns:p14="http://schemas.microsoft.com/office/powerpoint/2010/main" val="22263920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8259"/>
                                        </p:tgtEl>
                                        <p:attrNameLst>
                                          <p:attrName>style.visibility</p:attrName>
                                        </p:attrNameLst>
                                      </p:cBhvr>
                                      <p:to>
                                        <p:strVal val="visible"/>
                                      </p:to>
                                    </p:set>
                                    <p:anim calcmode="lin" valueType="num">
                                      <p:cBhvr additive="base">
                                        <p:cTn id="7" dur="500" fill="hold"/>
                                        <p:tgtEl>
                                          <p:spTgt spid="608259"/>
                                        </p:tgtEl>
                                        <p:attrNameLst>
                                          <p:attrName>ppt_x</p:attrName>
                                        </p:attrNameLst>
                                      </p:cBhvr>
                                      <p:tavLst>
                                        <p:tav tm="0">
                                          <p:val>
                                            <p:strVal val="0-#ppt_w/2"/>
                                          </p:val>
                                        </p:tav>
                                        <p:tav tm="100000">
                                          <p:val>
                                            <p:strVal val="#ppt_x"/>
                                          </p:val>
                                        </p:tav>
                                      </p:tavLst>
                                    </p:anim>
                                    <p:anim calcmode="lin" valueType="num">
                                      <p:cBhvr additive="base">
                                        <p:cTn id="8" dur="500" fill="hold"/>
                                        <p:tgtEl>
                                          <p:spTgt spid="6082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08262"/>
                                        </p:tgtEl>
                                        <p:attrNameLst>
                                          <p:attrName>style.visibility</p:attrName>
                                        </p:attrNameLst>
                                      </p:cBhvr>
                                      <p:to>
                                        <p:strVal val="visible"/>
                                      </p:to>
                                    </p:set>
                                    <p:anim calcmode="lin" valueType="num">
                                      <p:cBhvr additive="base">
                                        <p:cTn id="13" dur="500" fill="hold"/>
                                        <p:tgtEl>
                                          <p:spTgt spid="608262"/>
                                        </p:tgtEl>
                                        <p:attrNameLst>
                                          <p:attrName>ppt_x</p:attrName>
                                        </p:attrNameLst>
                                      </p:cBhvr>
                                      <p:tavLst>
                                        <p:tav tm="0">
                                          <p:val>
                                            <p:strVal val="0-#ppt_w/2"/>
                                          </p:val>
                                        </p:tav>
                                        <p:tav tm="100000">
                                          <p:val>
                                            <p:strVal val="#ppt_x"/>
                                          </p:val>
                                        </p:tav>
                                      </p:tavLst>
                                    </p:anim>
                                    <p:anim calcmode="lin" valueType="num">
                                      <p:cBhvr additive="base">
                                        <p:cTn id="14" dur="500" fill="hold"/>
                                        <p:tgtEl>
                                          <p:spTgt spid="6082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ChangeArrowheads="1"/>
          </p:cNvSpPr>
          <p:nvPr/>
        </p:nvSpPr>
        <p:spPr bwMode="auto">
          <a:xfrm>
            <a:off x="395536" y="1489722"/>
            <a:ext cx="8064698" cy="4844403"/>
          </a:xfrm>
          <a:prstGeom prst="rect">
            <a:avLst/>
          </a:prstGeom>
          <a:noFill/>
          <a:ln w="9525">
            <a:noFill/>
            <a:miter lim="800000"/>
            <a:headEnd/>
            <a:tailEnd/>
          </a:ln>
        </p:spPr>
        <p:txBody>
          <a:bodyPr wrap="square">
            <a:spAutoFit/>
          </a:bodyPr>
          <a:lstStyle/>
          <a:p>
            <a:pPr algn="just">
              <a:lnSpc>
                <a:spcPct val="120000"/>
              </a:lnSpc>
              <a:spcBef>
                <a:spcPts val="1200"/>
              </a:spcBef>
            </a:pPr>
            <a:r>
              <a:rPr lang="en-US" altLang="zh-CN" sz="2800" b="1" dirty="0">
                <a:solidFill>
                  <a:srgbClr val="000000"/>
                </a:solidFill>
                <a:ea typeface="宋体" pitchFamily="2" charset="-122"/>
              </a:rPr>
              <a:t>  </a:t>
            </a:r>
            <a:r>
              <a:rPr lang="zh-CN" altLang="en-US" sz="2800" b="1" dirty="0">
                <a:solidFill>
                  <a:srgbClr val="000000"/>
                </a:solidFill>
                <a:ea typeface="宋体" pitchFamily="2" charset="-122"/>
              </a:rPr>
              <a:t>在分析计划完成情况时，要</a:t>
            </a:r>
            <a:r>
              <a:rPr lang="zh-CN" altLang="en-US" sz="2800" b="1" dirty="0" smtClean="0">
                <a:solidFill>
                  <a:srgbClr val="000000"/>
                </a:solidFill>
                <a:ea typeface="宋体" pitchFamily="2" charset="-122"/>
              </a:rPr>
              <a:t>注意所考察指标的</a:t>
            </a:r>
            <a:r>
              <a:rPr lang="zh-CN" altLang="en-US" sz="2800" b="1" dirty="0">
                <a:solidFill>
                  <a:srgbClr val="000000"/>
                </a:solidFill>
                <a:ea typeface="宋体" pitchFamily="2" charset="-122"/>
              </a:rPr>
              <a:t>性质差异。</a:t>
            </a:r>
          </a:p>
          <a:p>
            <a:pPr marL="914400" lvl="1" indent="-457200" algn="just">
              <a:lnSpc>
                <a:spcPct val="120000"/>
              </a:lnSpc>
              <a:spcBef>
                <a:spcPts val="1200"/>
              </a:spcBef>
              <a:buFont typeface="Wingdings" panose="05000000000000000000" pitchFamily="2" charset="2"/>
              <a:buChar char="Ø"/>
            </a:pPr>
            <a:r>
              <a:rPr lang="zh-CN" altLang="en-US" sz="2800" b="1" dirty="0" smtClean="0">
                <a:solidFill>
                  <a:srgbClr val="000000"/>
                </a:solidFill>
                <a:ea typeface="宋体" pitchFamily="2" charset="-122"/>
              </a:rPr>
              <a:t>若是</a:t>
            </a:r>
            <a:r>
              <a:rPr lang="zh-CN" altLang="en-US" sz="2800" b="1" dirty="0">
                <a:solidFill>
                  <a:srgbClr val="000000"/>
                </a:solidFill>
                <a:ea typeface="宋体" pitchFamily="2" charset="-122"/>
              </a:rPr>
              <a:t>正</a:t>
            </a:r>
            <a:r>
              <a:rPr lang="zh-CN" altLang="en-US" sz="2800" b="1" dirty="0">
                <a:solidFill>
                  <a:srgbClr val="000000"/>
                </a:solidFill>
                <a:ea typeface="宋体" pitchFamily="2" charset="-122"/>
              </a:rPr>
              <a:t>指标</a:t>
            </a:r>
            <a:r>
              <a:rPr lang="zh-CN" altLang="en-US" sz="2800" dirty="0">
                <a:solidFill>
                  <a:srgbClr val="000000"/>
                </a:solidFill>
                <a:ea typeface="宋体" pitchFamily="2" charset="-122"/>
              </a:rPr>
              <a:t>，如产值、利润</a:t>
            </a:r>
            <a:r>
              <a:rPr lang="zh-CN" altLang="en-US" sz="2800" dirty="0" smtClean="0">
                <a:solidFill>
                  <a:srgbClr val="000000"/>
                </a:solidFill>
                <a:ea typeface="宋体" pitchFamily="2" charset="-122"/>
              </a:rPr>
              <a:t>等，其</a:t>
            </a:r>
            <a:r>
              <a:rPr lang="zh-CN" altLang="en-US" sz="2800" dirty="0">
                <a:solidFill>
                  <a:srgbClr val="000000"/>
                </a:solidFill>
                <a:ea typeface="宋体" pitchFamily="2" charset="-122"/>
              </a:rPr>
              <a:t>计划完成</a:t>
            </a:r>
            <a:r>
              <a:rPr lang="zh-CN" altLang="en-US" sz="2800" dirty="0" smtClean="0">
                <a:solidFill>
                  <a:srgbClr val="000000"/>
                </a:solidFill>
                <a:ea typeface="宋体" pitchFamily="2" charset="-122"/>
              </a:rPr>
              <a:t>相对数大于</a:t>
            </a:r>
            <a:r>
              <a:rPr lang="en-US" altLang="zh-CN" sz="2800" dirty="0">
                <a:solidFill>
                  <a:srgbClr val="000000"/>
                </a:solidFill>
                <a:ea typeface="宋体" pitchFamily="2" charset="-122"/>
                <a:cs typeface="Times New Roman" pitchFamily="18" charset="0"/>
              </a:rPr>
              <a:t>100</a:t>
            </a:r>
            <a:r>
              <a:rPr lang="en-US" altLang="zh-CN" sz="2800" dirty="0" smtClean="0">
                <a:solidFill>
                  <a:srgbClr val="000000"/>
                </a:solidFill>
                <a:ea typeface="宋体" pitchFamily="2" charset="-122"/>
                <a:cs typeface="Times New Roman" pitchFamily="18" charset="0"/>
              </a:rPr>
              <a:t>%</a:t>
            </a:r>
            <a:r>
              <a:rPr lang="zh-CN" altLang="en-US" sz="2800" dirty="0" smtClean="0">
                <a:solidFill>
                  <a:srgbClr val="000000"/>
                </a:solidFill>
                <a:ea typeface="宋体" pitchFamily="2" charset="-122"/>
              </a:rPr>
              <a:t>表示超额完成了计划</a:t>
            </a:r>
            <a:r>
              <a:rPr lang="zh-CN" altLang="en-US" sz="2800" dirty="0">
                <a:solidFill>
                  <a:srgbClr val="000000"/>
                </a:solidFill>
                <a:ea typeface="宋体" pitchFamily="2" charset="-122"/>
              </a:rPr>
              <a:t>。</a:t>
            </a:r>
            <a:r>
              <a:rPr lang="zh-CN" altLang="en-US" sz="2800" dirty="0">
                <a:solidFill>
                  <a:srgbClr val="000000"/>
                </a:solidFill>
                <a:latin typeface="Verdana" pitchFamily="34" charset="0"/>
                <a:ea typeface="宋体" pitchFamily="2" charset="-122"/>
              </a:rPr>
              <a:t> </a:t>
            </a:r>
            <a:endParaRPr lang="zh-CN" altLang="en-US" sz="2800" dirty="0">
              <a:solidFill>
                <a:srgbClr val="000000"/>
              </a:solidFill>
              <a:ea typeface="宋体" pitchFamily="2" charset="-122"/>
            </a:endParaRPr>
          </a:p>
          <a:p>
            <a:pPr lvl="2" algn="just">
              <a:lnSpc>
                <a:spcPct val="120000"/>
              </a:lnSpc>
              <a:spcBef>
                <a:spcPts val="1200"/>
              </a:spcBef>
            </a:pPr>
            <a:r>
              <a:rPr lang="zh-CN" altLang="en-US" sz="2800" b="1" dirty="0">
                <a:solidFill>
                  <a:srgbClr val="7030A0"/>
                </a:solidFill>
                <a:latin typeface="+mn-ea"/>
                <a:ea typeface="+mn-ea"/>
              </a:rPr>
              <a:t>超额完成计划</a:t>
            </a:r>
            <a:r>
              <a:rPr lang="zh-CN" altLang="en-US" sz="2800" b="1" dirty="0" smtClean="0">
                <a:solidFill>
                  <a:srgbClr val="7030A0"/>
                </a:solidFill>
                <a:latin typeface="+mn-ea"/>
                <a:ea typeface="+mn-ea"/>
              </a:rPr>
              <a:t>百分比</a:t>
            </a:r>
            <a:r>
              <a:rPr lang="en-US" altLang="zh-CN" sz="2800" b="1" dirty="0" smtClean="0">
                <a:solidFill>
                  <a:srgbClr val="7030A0"/>
                </a:solidFill>
                <a:latin typeface="+mn-ea"/>
                <a:ea typeface="+mn-ea"/>
              </a:rPr>
              <a:t>=</a:t>
            </a:r>
            <a:r>
              <a:rPr lang="zh-CN" altLang="en-US" sz="2800" b="1" dirty="0" smtClean="0">
                <a:solidFill>
                  <a:srgbClr val="7030A0"/>
                </a:solidFill>
                <a:latin typeface="+mn-ea"/>
                <a:ea typeface="+mn-ea"/>
              </a:rPr>
              <a:t>计划</a:t>
            </a:r>
            <a:r>
              <a:rPr lang="zh-CN" altLang="en-US" sz="2800" b="1" dirty="0">
                <a:solidFill>
                  <a:srgbClr val="7030A0"/>
                </a:solidFill>
                <a:latin typeface="+mn-ea"/>
                <a:ea typeface="+mn-ea"/>
              </a:rPr>
              <a:t>完成</a:t>
            </a:r>
            <a:r>
              <a:rPr lang="zh-CN" altLang="en-US" sz="2800" b="1" dirty="0" smtClean="0">
                <a:solidFill>
                  <a:srgbClr val="7030A0"/>
                </a:solidFill>
                <a:latin typeface="+mn-ea"/>
                <a:ea typeface="+mn-ea"/>
              </a:rPr>
              <a:t>相对数</a:t>
            </a:r>
            <a:r>
              <a:rPr lang="en-US" altLang="zh-CN" sz="2800" b="1" dirty="0" smtClean="0">
                <a:solidFill>
                  <a:srgbClr val="7030A0"/>
                </a:solidFill>
                <a:latin typeface="+mn-ea"/>
                <a:ea typeface="+mn-ea"/>
              </a:rPr>
              <a:t>-100%</a:t>
            </a:r>
            <a:endParaRPr lang="zh-CN" altLang="en-US" sz="2800" b="1" dirty="0">
              <a:solidFill>
                <a:srgbClr val="7030A0"/>
              </a:solidFill>
              <a:latin typeface="+mn-ea"/>
              <a:ea typeface="+mn-ea"/>
            </a:endParaRPr>
          </a:p>
          <a:p>
            <a:pPr marL="914400" lvl="1" indent="-457200" algn="just">
              <a:lnSpc>
                <a:spcPct val="120000"/>
              </a:lnSpc>
              <a:spcBef>
                <a:spcPts val="1200"/>
              </a:spcBef>
              <a:buFont typeface="Wingdings" panose="05000000000000000000" pitchFamily="2" charset="2"/>
              <a:buChar char="Ø"/>
            </a:pPr>
            <a:r>
              <a:rPr lang="zh-CN" altLang="en-US" sz="2800" b="1" dirty="0" smtClean="0">
                <a:solidFill>
                  <a:srgbClr val="000000"/>
                </a:solidFill>
                <a:ea typeface="宋体" pitchFamily="2" charset="-122"/>
              </a:rPr>
              <a:t>若是</a:t>
            </a:r>
            <a:r>
              <a:rPr lang="zh-CN" altLang="en-US" sz="2800" b="1" dirty="0">
                <a:solidFill>
                  <a:srgbClr val="000000"/>
                </a:solidFill>
                <a:ea typeface="宋体" pitchFamily="2" charset="-122"/>
              </a:rPr>
              <a:t>逆</a:t>
            </a:r>
            <a:r>
              <a:rPr lang="zh-CN" altLang="en-US" sz="2800" b="1" dirty="0" smtClean="0">
                <a:solidFill>
                  <a:srgbClr val="000000"/>
                </a:solidFill>
                <a:ea typeface="宋体" pitchFamily="2" charset="-122"/>
              </a:rPr>
              <a:t>指标，</a:t>
            </a:r>
            <a:r>
              <a:rPr lang="zh-CN" altLang="en-US" sz="2800" dirty="0" smtClean="0">
                <a:solidFill>
                  <a:srgbClr val="000000"/>
                </a:solidFill>
                <a:ea typeface="宋体" pitchFamily="2" charset="-122"/>
              </a:rPr>
              <a:t>如</a:t>
            </a:r>
            <a:r>
              <a:rPr lang="zh-CN" altLang="en-US" sz="2800" dirty="0">
                <a:solidFill>
                  <a:srgbClr val="000000"/>
                </a:solidFill>
                <a:ea typeface="宋体" pitchFamily="2" charset="-122"/>
              </a:rPr>
              <a:t>产品成本、原材料消耗量</a:t>
            </a:r>
            <a:r>
              <a:rPr lang="zh-CN" altLang="en-US" sz="2800" dirty="0" smtClean="0">
                <a:solidFill>
                  <a:srgbClr val="000000"/>
                </a:solidFill>
                <a:ea typeface="宋体" pitchFamily="2" charset="-122"/>
              </a:rPr>
              <a:t>等</a:t>
            </a:r>
            <a:r>
              <a:rPr lang="zh-CN" altLang="en-US" sz="2800" dirty="0">
                <a:solidFill>
                  <a:srgbClr val="000000"/>
                </a:solidFill>
                <a:ea typeface="宋体" pitchFamily="2" charset="-122"/>
              </a:rPr>
              <a:t>其计划完成</a:t>
            </a:r>
            <a:r>
              <a:rPr lang="zh-CN" altLang="en-US" sz="2800" dirty="0" smtClean="0">
                <a:solidFill>
                  <a:srgbClr val="000000"/>
                </a:solidFill>
                <a:ea typeface="宋体" pitchFamily="2" charset="-122"/>
              </a:rPr>
              <a:t>相对数低于</a:t>
            </a:r>
            <a:r>
              <a:rPr lang="en-US" altLang="zh-CN" sz="2800" dirty="0">
                <a:solidFill>
                  <a:srgbClr val="000000"/>
                </a:solidFill>
                <a:ea typeface="宋体" pitchFamily="2" charset="-122"/>
                <a:cs typeface="Times New Roman" pitchFamily="18" charset="0"/>
              </a:rPr>
              <a:t>100</a:t>
            </a:r>
            <a:r>
              <a:rPr lang="en-US" altLang="zh-CN" sz="2800" dirty="0" smtClean="0">
                <a:solidFill>
                  <a:srgbClr val="000000"/>
                </a:solidFill>
                <a:ea typeface="宋体" pitchFamily="2" charset="-122"/>
                <a:cs typeface="Times New Roman" pitchFamily="18" charset="0"/>
              </a:rPr>
              <a:t>%</a:t>
            </a:r>
            <a:r>
              <a:rPr lang="zh-CN" altLang="en-US" sz="2800" dirty="0" smtClean="0">
                <a:solidFill>
                  <a:srgbClr val="000000"/>
                </a:solidFill>
                <a:ea typeface="宋体" pitchFamily="2" charset="-122"/>
              </a:rPr>
              <a:t>才超额</a:t>
            </a:r>
            <a:r>
              <a:rPr lang="zh-CN" altLang="en-US" sz="2800" dirty="0">
                <a:solidFill>
                  <a:srgbClr val="000000"/>
                </a:solidFill>
                <a:ea typeface="宋体" pitchFamily="2" charset="-122"/>
              </a:rPr>
              <a:t>完成计划。</a:t>
            </a:r>
            <a:r>
              <a:rPr lang="zh-CN" altLang="en-US" sz="2800" dirty="0">
                <a:solidFill>
                  <a:srgbClr val="000000"/>
                </a:solidFill>
                <a:latin typeface="Verdana" pitchFamily="34" charset="0"/>
                <a:ea typeface="宋体" pitchFamily="2" charset="-122"/>
              </a:rPr>
              <a:t> </a:t>
            </a:r>
            <a:endParaRPr lang="zh-CN" altLang="en-US" sz="2800" dirty="0">
              <a:solidFill>
                <a:srgbClr val="000000"/>
              </a:solidFill>
              <a:ea typeface="宋体" pitchFamily="2" charset="-122"/>
            </a:endParaRPr>
          </a:p>
          <a:p>
            <a:pPr lvl="2" algn="just">
              <a:lnSpc>
                <a:spcPct val="120000"/>
              </a:lnSpc>
              <a:spcBef>
                <a:spcPts val="1200"/>
              </a:spcBef>
            </a:pPr>
            <a:r>
              <a:rPr lang="zh-CN" altLang="en-US" sz="2800" b="1" dirty="0" smtClean="0">
                <a:solidFill>
                  <a:srgbClr val="7030A0"/>
                </a:solidFill>
                <a:latin typeface="+mn-ea"/>
                <a:ea typeface="+mn-ea"/>
              </a:rPr>
              <a:t>超额</a:t>
            </a:r>
            <a:r>
              <a:rPr lang="zh-CN" altLang="en-US" sz="2800" b="1" dirty="0">
                <a:solidFill>
                  <a:srgbClr val="7030A0"/>
                </a:solidFill>
                <a:latin typeface="+mn-ea"/>
                <a:ea typeface="+mn-ea"/>
              </a:rPr>
              <a:t>完成计划百分比</a:t>
            </a:r>
            <a:r>
              <a:rPr lang="en-US" altLang="zh-CN" sz="2800" b="1" dirty="0">
                <a:solidFill>
                  <a:srgbClr val="7030A0"/>
                </a:solidFill>
                <a:latin typeface="+mn-ea"/>
                <a:ea typeface="+mn-ea"/>
              </a:rPr>
              <a:t>=</a:t>
            </a:r>
            <a:r>
              <a:rPr lang="en-US" altLang="zh-CN" sz="2800" b="1" dirty="0">
                <a:solidFill>
                  <a:srgbClr val="7030A0"/>
                </a:solidFill>
                <a:latin typeface="+mn-ea"/>
                <a:ea typeface="+mn-ea"/>
              </a:rPr>
              <a:t>100</a:t>
            </a:r>
            <a:r>
              <a:rPr lang="en-US" altLang="zh-CN" sz="2800" b="1" dirty="0">
                <a:solidFill>
                  <a:srgbClr val="7030A0"/>
                </a:solidFill>
                <a:latin typeface="+mn-ea"/>
                <a:ea typeface="+mn-ea"/>
              </a:rPr>
              <a:t>%-</a:t>
            </a:r>
            <a:r>
              <a:rPr lang="zh-CN" altLang="en-US" sz="2800" b="1" dirty="0">
                <a:solidFill>
                  <a:srgbClr val="7030A0"/>
                </a:solidFill>
                <a:latin typeface="+mn-ea"/>
                <a:ea typeface="+mn-ea"/>
              </a:rPr>
              <a:t>计划</a:t>
            </a:r>
            <a:r>
              <a:rPr lang="zh-CN" altLang="en-US" sz="2800" b="1" dirty="0">
                <a:solidFill>
                  <a:srgbClr val="7030A0"/>
                </a:solidFill>
                <a:latin typeface="+mn-ea"/>
                <a:ea typeface="+mn-ea"/>
              </a:rPr>
              <a:t>完成</a:t>
            </a:r>
            <a:r>
              <a:rPr lang="zh-CN" altLang="en-US" sz="2800" b="1" dirty="0" smtClean="0">
                <a:solidFill>
                  <a:srgbClr val="7030A0"/>
                </a:solidFill>
                <a:latin typeface="+mn-ea"/>
                <a:ea typeface="+mn-ea"/>
              </a:rPr>
              <a:t>相对数</a:t>
            </a:r>
          </a:p>
        </p:txBody>
      </p:sp>
      <p:sp>
        <p:nvSpPr>
          <p:cNvPr id="97284" name="Rectangle 3"/>
          <p:cNvSpPr>
            <a:spLocks noGrp="1" noChangeArrowheads="1"/>
          </p:cNvSpPr>
          <p:nvPr>
            <p:ph type="title" idx="4294967295"/>
          </p:nvPr>
        </p:nvSpPr>
        <p:spPr>
          <a:xfrm>
            <a:off x="928688" y="357188"/>
            <a:ext cx="7772400" cy="990600"/>
          </a:xfrm>
        </p:spPr>
        <p:txBody>
          <a:bodyPr/>
          <a:lstStyle/>
          <a:p>
            <a:pPr eaLnBrk="1" hangingPunct="1"/>
            <a:r>
              <a:rPr lang="zh-CN" altLang="en-US" sz="3600" b="0" dirty="0" smtClean="0">
                <a:solidFill>
                  <a:srgbClr val="1313FF"/>
                </a:solidFill>
              </a:rPr>
              <a:t>怎样计算</a:t>
            </a:r>
            <a:r>
              <a:rPr lang="zh-CN" altLang="en-US" sz="4000" dirty="0" smtClean="0">
                <a:solidFill>
                  <a:srgbClr val="1313FF"/>
                </a:solidFill>
              </a:rPr>
              <a:t>超额完成计划百分比</a:t>
            </a:r>
            <a:r>
              <a:rPr lang="zh-CN" altLang="en-US" sz="3600" b="0" dirty="0" smtClean="0">
                <a:solidFill>
                  <a:srgbClr val="1313FF"/>
                </a:solidFill>
              </a:rPr>
              <a:t>？</a:t>
            </a:r>
            <a:endParaRPr lang="zh-CN" altLang="en-US" sz="4000" b="0" dirty="0" smtClean="0">
              <a:solidFill>
                <a:srgbClr val="1313FF"/>
              </a:solidFill>
            </a:endParaRPr>
          </a:p>
        </p:txBody>
      </p:sp>
      <p:sp>
        <p:nvSpPr>
          <p:cNvPr id="5" name="灯片编号占位符 4"/>
          <p:cNvSpPr>
            <a:spLocks noGrp="1"/>
          </p:cNvSpPr>
          <p:nvPr>
            <p:ph type="sldNum" sz="quarter" idx="12"/>
          </p:nvPr>
        </p:nvSpPr>
        <p:spPr/>
        <p:txBody>
          <a:bodyPr/>
          <a:lstStyle/>
          <a:p>
            <a:pPr>
              <a:defRPr/>
            </a:pPr>
            <a:fld id="{4D36EFB7-0D9F-4BC1-ADE9-F0E399591344}" type="slidenum">
              <a:rPr lang="en-US" altLang="zh-CN" smtClean="0"/>
              <a:pPr>
                <a:defRPr/>
              </a:pPr>
              <a:t>33</a:t>
            </a:fld>
            <a:endParaRPr lang="en-US" altLang="zh-CN" dirty="0"/>
          </a:p>
        </p:txBody>
      </p:sp>
    </p:spTree>
    <p:extLst>
      <p:ext uri="{BB962C8B-B14F-4D97-AF65-F5344CB8AC3E}">
        <p14:creationId xmlns:p14="http://schemas.microsoft.com/office/powerpoint/2010/main" val="15571251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09282">
                                            <p:txEl>
                                              <p:pRg st="0" end="0"/>
                                            </p:txEl>
                                          </p:spTgt>
                                        </p:tgtEl>
                                        <p:attrNameLst>
                                          <p:attrName>style.visibility</p:attrName>
                                        </p:attrNameLst>
                                      </p:cBhvr>
                                      <p:to>
                                        <p:strVal val="visible"/>
                                      </p:to>
                                    </p:set>
                                    <p:anim calcmode="lin" valueType="num">
                                      <p:cBhvr additive="base">
                                        <p:cTn id="7" dur="250" fill="hold"/>
                                        <p:tgtEl>
                                          <p:spTgt spid="609282">
                                            <p:txEl>
                                              <p:pRg st="0" end="0"/>
                                            </p:txEl>
                                          </p:spTgt>
                                        </p:tgtEl>
                                        <p:attrNameLst>
                                          <p:attrName>ppt_x</p:attrName>
                                        </p:attrNameLst>
                                      </p:cBhvr>
                                      <p:tavLst>
                                        <p:tav tm="0">
                                          <p:val>
                                            <p:strVal val="0-#ppt_w/2"/>
                                          </p:val>
                                        </p:tav>
                                        <p:tav tm="100000">
                                          <p:val>
                                            <p:strVal val="#ppt_x"/>
                                          </p:val>
                                        </p:tav>
                                      </p:tavLst>
                                    </p:anim>
                                    <p:anim calcmode="lin" valueType="num">
                                      <p:cBhvr additive="base">
                                        <p:cTn id="8" dur="250" fill="hold"/>
                                        <p:tgtEl>
                                          <p:spTgt spid="6092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9282">
                                            <p:txEl>
                                              <p:pRg st="1" end="1"/>
                                            </p:txEl>
                                          </p:spTgt>
                                        </p:tgtEl>
                                        <p:attrNameLst>
                                          <p:attrName>style.visibility</p:attrName>
                                        </p:attrNameLst>
                                      </p:cBhvr>
                                      <p:to>
                                        <p:strVal val="visible"/>
                                      </p:to>
                                    </p:set>
                                    <p:anim calcmode="lin" valueType="num">
                                      <p:cBhvr additive="base">
                                        <p:cTn id="13" dur="500" fill="hold"/>
                                        <p:tgtEl>
                                          <p:spTgt spid="60928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9282">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09282">
                                            <p:txEl>
                                              <p:pRg st="2" end="2"/>
                                            </p:txEl>
                                          </p:spTgt>
                                        </p:tgtEl>
                                        <p:attrNameLst>
                                          <p:attrName>style.visibility</p:attrName>
                                        </p:attrNameLst>
                                      </p:cBhvr>
                                      <p:to>
                                        <p:strVal val="visible"/>
                                      </p:to>
                                    </p:set>
                                    <p:anim calcmode="lin" valueType="num">
                                      <p:cBhvr additive="base">
                                        <p:cTn id="17" dur="500" fill="hold"/>
                                        <p:tgtEl>
                                          <p:spTgt spid="60928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092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09282">
                                            <p:txEl>
                                              <p:pRg st="3" end="3"/>
                                            </p:txEl>
                                          </p:spTgt>
                                        </p:tgtEl>
                                        <p:attrNameLst>
                                          <p:attrName>style.visibility</p:attrName>
                                        </p:attrNameLst>
                                      </p:cBhvr>
                                      <p:to>
                                        <p:strVal val="visible"/>
                                      </p:to>
                                    </p:set>
                                    <p:anim calcmode="lin" valueType="num">
                                      <p:cBhvr additive="base">
                                        <p:cTn id="23" dur="500" fill="hold"/>
                                        <p:tgtEl>
                                          <p:spTgt spid="60928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09282">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09282">
                                            <p:txEl>
                                              <p:pRg st="4" end="4"/>
                                            </p:txEl>
                                          </p:spTgt>
                                        </p:tgtEl>
                                        <p:attrNameLst>
                                          <p:attrName>style.visibility</p:attrName>
                                        </p:attrNameLst>
                                      </p:cBhvr>
                                      <p:to>
                                        <p:strVal val="visible"/>
                                      </p:to>
                                    </p:set>
                                    <p:anim calcmode="lin" valueType="num">
                                      <p:cBhvr additive="base">
                                        <p:cTn id="27" dur="500" fill="hold"/>
                                        <p:tgtEl>
                                          <p:spTgt spid="609282">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0928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2" grpId="0" uiExpand="1"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836712"/>
            <a:ext cx="6480720" cy="504056"/>
          </a:xfrm>
        </p:spPr>
        <p:txBody>
          <a:bodyPr/>
          <a:lstStyle/>
          <a:p>
            <a:r>
              <a:rPr lang="zh-CN" altLang="en-US" sz="3200" dirty="0" smtClean="0"/>
              <a:t>中长期</a:t>
            </a:r>
            <a:r>
              <a:rPr lang="zh-CN" altLang="zh-CN" sz="3200" dirty="0" smtClean="0"/>
              <a:t>计划</a:t>
            </a:r>
            <a:r>
              <a:rPr lang="zh-CN" altLang="en-US" sz="3200" dirty="0" smtClean="0"/>
              <a:t>的</a:t>
            </a:r>
            <a:r>
              <a:rPr lang="zh-CN" altLang="zh-CN" sz="3200" dirty="0" smtClean="0"/>
              <a:t>完成</a:t>
            </a:r>
            <a:r>
              <a:rPr lang="zh-CN" altLang="en-US" sz="3200" dirty="0" smtClean="0"/>
              <a:t>程度</a:t>
            </a:r>
            <a:endParaRPr lang="zh-CN" altLang="en-US" sz="3200" dirty="0"/>
          </a:p>
        </p:txBody>
      </p:sp>
      <p:sp>
        <p:nvSpPr>
          <p:cNvPr id="3" name="内容占位符 2"/>
          <p:cNvSpPr>
            <a:spLocks noGrp="1"/>
          </p:cNvSpPr>
          <p:nvPr>
            <p:ph idx="1"/>
          </p:nvPr>
        </p:nvSpPr>
        <p:spPr>
          <a:xfrm>
            <a:off x="394556" y="1556792"/>
            <a:ext cx="7922840" cy="4730063"/>
          </a:xfrm>
        </p:spPr>
        <p:txBody>
          <a:bodyPr/>
          <a:lstStyle/>
          <a:p>
            <a:pPr>
              <a:lnSpc>
                <a:spcPct val="105000"/>
              </a:lnSpc>
              <a:spcBef>
                <a:spcPts val="1200"/>
              </a:spcBef>
              <a:buNone/>
            </a:pPr>
            <a:r>
              <a:rPr lang="zh-CN" altLang="zh-CN" sz="2800" dirty="0" smtClean="0">
                <a:solidFill>
                  <a:srgbClr val="000000"/>
                </a:solidFill>
              </a:rPr>
              <a:t>分析长期</a:t>
            </a:r>
            <a:r>
              <a:rPr lang="zh-CN" altLang="zh-CN" sz="2800" dirty="0" smtClean="0">
                <a:solidFill>
                  <a:srgbClr val="000000"/>
                </a:solidFill>
              </a:rPr>
              <a:t>计划</a:t>
            </a:r>
            <a:r>
              <a:rPr lang="en-US" altLang="zh-CN" sz="2400" b="0" dirty="0" smtClean="0">
                <a:solidFill>
                  <a:srgbClr val="000000"/>
                </a:solidFill>
              </a:rPr>
              <a:t>(</a:t>
            </a:r>
            <a:r>
              <a:rPr lang="zh-CN" altLang="zh-CN" sz="2400" b="0" dirty="0" smtClean="0">
                <a:solidFill>
                  <a:srgbClr val="000000"/>
                </a:solidFill>
              </a:rPr>
              <a:t>如</a:t>
            </a:r>
            <a:r>
              <a:rPr lang="zh-CN" altLang="zh-CN" sz="2400" b="0" dirty="0" smtClean="0">
                <a:solidFill>
                  <a:srgbClr val="000000"/>
                </a:solidFill>
              </a:rPr>
              <a:t>五年、十年</a:t>
            </a:r>
            <a:r>
              <a:rPr lang="zh-CN" altLang="zh-CN" sz="2400" b="0" dirty="0" smtClean="0">
                <a:solidFill>
                  <a:srgbClr val="000000"/>
                </a:solidFill>
              </a:rPr>
              <a:t>计划</a:t>
            </a:r>
            <a:r>
              <a:rPr lang="en-US" altLang="zh-CN" sz="2400" b="0" dirty="0" smtClean="0">
                <a:solidFill>
                  <a:srgbClr val="000000"/>
                </a:solidFill>
              </a:rPr>
              <a:t>)</a:t>
            </a:r>
            <a:r>
              <a:rPr lang="zh-CN" altLang="en-US" sz="2800" b="0" dirty="0" smtClean="0">
                <a:solidFill>
                  <a:srgbClr val="000000"/>
                </a:solidFill>
              </a:rPr>
              <a:t>的</a:t>
            </a:r>
            <a:r>
              <a:rPr lang="zh-CN" altLang="zh-CN" sz="2400" b="0" dirty="0" smtClean="0">
                <a:solidFill>
                  <a:srgbClr val="000000"/>
                </a:solidFill>
              </a:rPr>
              <a:t> </a:t>
            </a:r>
            <a:r>
              <a:rPr lang="zh-CN" altLang="zh-CN" sz="2800" dirty="0" smtClean="0">
                <a:solidFill>
                  <a:srgbClr val="7030A0"/>
                </a:solidFill>
              </a:rPr>
              <a:t>完成</a:t>
            </a:r>
            <a:r>
              <a:rPr lang="zh-CN" altLang="en-US" sz="2800" dirty="0" smtClean="0">
                <a:solidFill>
                  <a:srgbClr val="7030A0"/>
                </a:solidFill>
              </a:rPr>
              <a:t>程度</a:t>
            </a:r>
            <a:r>
              <a:rPr lang="zh-CN" altLang="zh-CN" sz="2800" dirty="0" smtClean="0">
                <a:solidFill>
                  <a:srgbClr val="000000"/>
                </a:solidFill>
              </a:rPr>
              <a:t>，</a:t>
            </a:r>
            <a:r>
              <a:rPr lang="zh-CN" altLang="en-US" sz="2800" dirty="0" smtClean="0">
                <a:solidFill>
                  <a:srgbClr val="000000"/>
                </a:solidFill>
              </a:rPr>
              <a:t>有</a:t>
            </a:r>
            <a:r>
              <a:rPr lang="zh-CN" altLang="en-US" sz="2800" dirty="0" smtClean="0">
                <a:solidFill>
                  <a:srgbClr val="000000"/>
                </a:solidFill>
              </a:rPr>
              <a:t>两种</a:t>
            </a:r>
            <a:r>
              <a:rPr lang="zh-CN" altLang="en-US" sz="2800" dirty="0">
                <a:solidFill>
                  <a:srgbClr val="000000"/>
                </a:solidFill>
              </a:rPr>
              <a:t>方法</a:t>
            </a:r>
            <a:r>
              <a:rPr lang="zh-CN" altLang="en-US" sz="2400" dirty="0" smtClean="0">
                <a:solidFill>
                  <a:srgbClr val="000000"/>
                </a:solidFill>
              </a:rPr>
              <a:t>：</a:t>
            </a:r>
            <a:endParaRPr lang="en-US" altLang="zh-CN" sz="2400" dirty="0" smtClean="0">
              <a:solidFill>
                <a:srgbClr val="000000"/>
              </a:solidFill>
            </a:endParaRPr>
          </a:p>
          <a:p>
            <a:pPr lvl="1">
              <a:lnSpc>
                <a:spcPct val="105000"/>
              </a:lnSpc>
              <a:spcBef>
                <a:spcPts val="1200"/>
              </a:spcBef>
              <a:buNone/>
            </a:pPr>
            <a:r>
              <a:rPr lang="zh-CN" altLang="en-US" sz="2400" dirty="0" smtClean="0">
                <a:solidFill>
                  <a:srgbClr val="1313FF"/>
                </a:solidFill>
              </a:rPr>
              <a:t>累计</a:t>
            </a:r>
            <a:r>
              <a:rPr lang="zh-CN" altLang="en-US" sz="2400" dirty="0" smtClean="0">
                <a:solidFill>
                  <a:srgbClr val="1313FF"/>
                </a:solidFill>
              </a:rPr>
              <a:t>法</a:t>
            </a:r>
            <a:r>
              <a:rPr lang="en-US" altLang="zh-CN" sz="2400" dirty="0" smtClean="0"/>
              <a:t>——</a:t>
            </a:r>
            <a:r>
              <a:rPr lang="zh-CN" altLang="zh-CN" sz="2400" dirty="0" smtClean="0"/>
              <a:t>计划任务是规定全期应完成的总量，则用整个计划期实际完成的累计数和计划规定的累计数对比来计算计划完成相对数。</a:t>
            </a:r>
            <a:endParaRPr lang="en-US" altLang="zh-CN" sz="2400" dirty="0" smtClean="0"/>
          </a:p>
          <a:p>
            <a:pPr lvl="1">
              <a:lnSpc>
                <a:spcPct val="105000"/>
              </a:lnSpc>
              <a:spcBef>
                <a:spcPts val="1200"/>
              </a:spcBef>
              <a:buNone/>
            </a:pPr>
            <a:r>
              <a:rPr lang="zh-CN" altLang="en-US" sz="2400" dirty="0" smtClean="0">
                <a:solidFill>
                  <a:srgbClr val="1313FF"/>
                </a:solidFill>
              </a:rPr>
              <a:t>水平法</a:t>
            </a:r>
            <a:r>
              <a:rPr lang="en-US" altLang="zh-CN" sz="2400" dirty="0" smtClean="0">
                <a:solidFill>
                  <a:srgbClr val="000000"/>
                </a:solidFill>
              </a:rPr>
              <a:t>——</a:t>
            </a:r>
            <a:r>
              <a:rPr lang="zh-CN" altLang="zh-CN" sz="2400" dirty="0" smtClean="0">
                <a:solidFill>
                  <a:srgbClr val="000000"/>
                </a:solidFill>
              </a:rPr>
              <a:t>计划任务是规定计划期末应达到的水平，则实际完成数和计划任务数都是整个计划</a:t>
            </a:r>
            <a:r>
              <a:rPr lang="zh-CN" altLang="zh-CN" sz="2400" dirty="0" smtClean="0">
                <a:solidFill>
                  <a:srgbClr val="002060"/>
                </a:solidFill>
              </a:rPr>
              <a:t>期末</a:t>
            </a:r>
            <a:r>
              <a:rPr lang="zh-CN" altLang="en-US" sz="2400" dirty="0" smtClean="0">
                <a:solidFill>
                  <a:srgbClr val="002060"/>
                </a:solidFill>
              </a:rPr>
              <a:t>（或</a:t>
            </a:r>
            <a:r>
              <a:rPr lang="zh-CN" altLang="zh-CN" sz="2400" dirty="0" smtClean="0">
                <a:solidFill>
                  <a:srgbClr val="002060"/>
                </a:solidFill>
              </a:rPr>
              <a:t>最一年</a:t>
            </a:r>
            <a:r>
              <a:rPr lang="zh-CN" altLang="en-US" sz="2400" dirty="0" smtClean="0">
                <a:solidFill>
                  <a:srgbClr val="002060"/>
                </a:solidFill>
              </a:rPr>
              <a:t>）</a:t>
            </a:r>
            <a:r>
              <a:rPr lang="zh-CN" altLang="zh-CN" sz="2400" dirty="0" smtClean="0">
                <a:solidFill>
                  <a:srgbClr val="000000"/>
                </a:solidFill>
              </a:rPr>
              <a:t>的水平</a:t>
            </a:r>
            <a:r>
              <a:rPr lang="zh-CN" altLang="en-US" sz="2400" dirty="0" smtClean="0"/>
              <a:t>。</a:t>
            </a:r>
            <a:endParaRPr lang="en-US" altLang="zh-CN" sz="2400" dirty="0" smtClean="0"/>
          </a:p>
          <a:p>
            <a:pPr lvl="2" indent="293688">
              <a:lnSpc>
                <a:spcPct val="105000"/>
              </a:lnSpc>
              <a:spcBef>
                <a:spcPts val="1200"/>
              </a:spcBef>
              <a:buFont typeface="Wingdings" panose="05000000000000000000" pitchFamily="2" charset="2"/>
              <a:buChar char="Ø"/>
            </a:pPr>
            <a:r>
              <a:rPr lang="zh-CN" altLang="en-US" dirty="0" smtClean="0"/>
              <a:t>提前完成计划时间</a:t>
            </a:r>
            <a:r>
              <a:rPr lang="en-US" altLang="zh-CN" dirty="0" smtClean="0">
                <a:solidFill>
                  <a:srgbClr val="000000"/>
                </a:solidFill>
              </a:rPr>
              <a:t>——</a:t>
            </a:r>
            <a:r>
              <a:rPr lang="zh-CN" altLang="en-US" dirty="0" smtClean="0">
                <a:solidFill>
                  <a:srgbClr val="000000"/>
                </a:solidFill>
              </a:rPr>
              <a:t>连续一年时间（可跨自然年度）达到计划目标，剩余时间即是</a:t>
            </a:r>
            <a:r>
              <a:rPr lang="en-US" altLang="zh-CN" sz="2000" b="0" dirty="0" smtClean="0">
                <a:solidFill>
                  <a:srgbClr val="000000"/>
                </a:solidFill>
              </a:rPr>
              <a:t>(</a:t>
            </a:r>
            <a:r>
              <a:rPr lang="zh-CN" altLang="en-US" sz="2000" b="0" dirty="0" smtClean="0">
                <a:solidFill>
                  <a:srgbClr val="000000"/>
                </a:solidFill>
              </a:rPr>
              <a:t>见练习题</a:t>
            </a:r>
            <a:r>
              <a:rPr lang="en-US" altLang="zh-CN" sz="2000" b="0" dirty="0" smtClean="0">
                <a:solidFill>
                  <a:srgbClr val="000000"/>
                </a:solidFill>
              </a:rPr>
              <a:t>)</a:t>
            </a:r>
            <a:endParaRPr lang="zh-CN" altLang="en-US" dirty="0">
              <a:solidFill>
                <a:srgbClr val="000000"/>
              </a:solidFill>
            </a:endParaRP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34</a:t>
            </a:fld>
            <a:endParaRPr lang="en-US" altLang="zh-CN" dirty="0"/>
          </a:p>
        </p:txBody>
      </p:sp>
    </p:spTree>
    <p:extLst>
      <p:ext uri="{BB962C8B-B14F-4D97-AF65-F5344CB8AC3E}">
        <p14:creationId xmlns:p14="http://schemas.microsoft.com/office/powerpoint/2010/main" val="31632617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5"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8604" y="908720"/>
            <a:ext cx="6480720" cy="504056"/>
          </a:xfrm>
        </p:spPr>
        <p:txBody>
          <a:bodyPr/>
          <a:lstStyle/>
          <a:p>
            <a:r>
              <a:rPr lang="zh-CN" altLang="zh-CN" sz="3600" dirty="0" smtClean="0">
                <a:solidFill>
                  <a:srgbClr val="1313FF"/>
                </a:solidFill>
              </a:rPr>
              <a:t>计划执行进度</a:t>
            </a:r>
            <a:endParaRPr lang="zh-CN" altLang="en-US" sz="3600" dirty="0">
              <a:solidFill>
                <a:srgbClr val="1313FF"/>
              </a:solidFill>
            </a:endParaRPr>
          </a:p>
        </p:txBody>
      </p:sp>
      <p:sp>
        <p:nvSpPr>
          <p:cNvPr id="3" name="内容占位符 2"/>
          <p:cNvSpPr>
            <a:spLocks noGrp="1"/>
          </p:cNvSpPr>
          <p:nvPr>
            <p:ph idx="1"/>
          </p:nvPr>
        </p:nvSpPr>
        <p:spPr>
          <a:xfrm>
            <a:off x="467544" y="1988840"/>
            <a:ext cx="7922840" cy="4176464"/>
          </a:xfrm>
        </p:spPr>
        <p:txBody>
          <a:bodyPr/>
          <a:lstStyle/>
          <a:p>
            <a:pPr>
              <a:lnSpc>
                <a:spcPct val="105000"/>
              </a:lnSpc>
              <a:spcBef>
                <a:spcPts val="1200"/>
              </a:spcBef>
              <a:buNone/>
            </a:pPr>
            <a:r>
              <a:rPr lang="en-US" altLang="zh-CN" sz="2400" dirty="0" smtClean="0">
                <a:solidFill>
                  <a:srgbClr val="000000"/>
                </a:solidFill>
              </a:rPr>
              <a:t>	</a:t>
            </a:r>
            <a:r>
              <a:rPr lang="zh-CN" altLang="zh-CN" dirty="0" smtClean="0">
                <a:solidFill>
                  <a:srgbClr val="000000"/>
                </a:solidFill>
              </a:rPr>
              <a:t>监督</a:t>
            </a:r>
            <a:r>
              <a:rPr lang="zh-CN" altLang="zh-CN" dirty="0" smtClean="0">
                <a:solidFill>
                  <a:srgbClr val="7030A0"/>
                </a:solidFill>
              </a:rPr>
              <a:t>计划执行进度</a:t>
            </a:r>
            <a:r>
              <a:rPr lang="zh-CN" altLang="en-US" dirty="0" smtClean="0">
                <a:solidFill>
                  <a:srgbClr val="000000"/>
                </a:solidFill>
              </a:rPr>
              <a:t>时</a:t>
            </a:r>
            <a:r>
              <a:rPr lang="zh-CN" altLang="zh-CN" dirty="0" smtClean="0">
                <a:solidFill>
                  <a:srgbClr val="000000"/>
                </a:solidFill>
              </a:rPr>
              <a:t>，分子是计划期内某一段时间的实际完成数，分母是全期计划任务数：</a:t>
            </a:r>
            <a:endParaRPr lang="zh-CN" altLang="en-US" dirty="0">
              <a:solidFill>
                <a:srgbClr val="000000"/>
              </a:solidFill>
            </a:endParaRPr>
          </a:p>
        </p:txBody>
      </p:sp>
      <p:pic>
        <p:nvPicPr>
          <p:cNvPr id="279554" name="Picture 2"/>
          <p:cNvPicPr>
            <a:picLocks noChangeAspect="1" noChangeArrowheads="1"/>
          </p:cNvPicPr>
          <p:nvPr/>
        </p:nvPicPr>
        <p:blipFill>
          <a:blip r:embed="rId2" cstate="print"/>
          <a:srcRect/>
          <a:stretch>
            <a:fillRect/>
          </a:stretch>
        </p:blipFill>
        <p:spPr bwMode="auto">
          <a:xfrm>
            <a:off x="289991" y="4077072"/>
            <a:ext cx="8603183" cy="1440160"/>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35</a:t>
            </a:fld>
            <a:endParaRPr lang="en-US" altLang="zh-CN" dirty="0"/>
          </a:p>
        </p:txBody>
      </p:sp>
    </p:spTree>
    <p:extLst>
      <p:ext uri="{BB962C8B-B14F-4D97-AF65-F5344CB8AC3E}">
        <p14:creationId xmlns:p14="http://schemas.microsoft.com/office/powerpoint/2010/main" val="36971874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9554"/>
                                        </p:tgtEl>
                                        <p:attrNameLst>
                                          <p:attrName>style.visibility</p:attrName>
                                        </p:attrNameLst>
                                      </p:cBhvr>
                                      <p:to>
                                        <p:strVal val="visible"/>
                                      </p:to>
                                    </p:set>
                                    <p:animEffect transition="in" filter="wipe(left)">
                                      <p:cBhvr>
                                        <p:cTn id="7" dur="2000"/>
                                        <p:tgtEl>
                                          <p:spTgt spid="279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pPr eaLnBrk="1" hangingPunct="1"/>
            <a:r>
              <a:rPr lang="zh-CN" altLang="en-US" smtClean="0"/>
              <a:t>有关</a:t>
            </a:r>
            <a:r>
              <a:rPr lang="en-US" altLang="zh-CN" smtClean="0"/>
              <a:t>13</a:t>
            </a:r>
            <a:r>
              <a:rPr lang="zh-CN" altLang="en-US" smtClean="0"/>
              <a:t>亿的大小</a:t>
            </a:r>
          </a:p>
        </p:txBody>
      </p:sp>
      <p:sp>
        <p:nvSpPr>
          <p:cNvPr id="418819" name="Rectangle 3"/>
          <p:cNvSpPr>
            <a:spLocks noGrp="1" noChangeArrowheads="1"/>
          </p:cNvSpPr>
          <p:nvPr>
            <p:ph type="body" idx="1"/>
          </p:nvPr>
        </p:nvSpPr>
        <p:spPr>
          <a:xfrm>
            <a:off x="552450" y="1219200"/>
            <a:ext cx="8058150" cy="5039890"/>
          </a:xfrm>
        </p:spPr>
        <p:txBody>
          <a:bodyPr/>
          <a:lstStyle/>
          <a:p>
            <a:pPr eaLnBrk="1" hangingPunct="1">
              <a:lnSpc>
                <a:spcPct val="150000"/>
              </a:lnSpc>
              <a:spcBef>
                <a:spcPct val="30000"/>
              </a:spcBef>
            </a:pPr>
            <a:r>
              <a:rPr lang="en-US" altLang="zh-CN" sz="2800" dirty="0" smtClean="0">
                <a:solidFill>
                  <a:schemeClr val="tx1"/>
                </a:solidFill>
              </a:rPr>
              <a:t>13</a:t>
            </a:r>
            <a:r>
              <a:rPr lang="zh-CN" altLang="en-US" sz="2800" dirty="0" smtClean="0">
                <a:solidFill>
                  <a:schemeClr val="tx1"/>
                </a:solidFill>
              </a:rPr>
              <a:t>亿，是一个很大的数字，</a:t>
            </a:r>
          </a:p>
          <a:p>
            <a:pPr lvl="1" eaLnBrk="1" hangingPunct="1">
              <a:lnSpc>
                <a:spcPct val="150000"/>
              </a:lnSpc>
              <a:spcBef>
                <a:spcPct val="30000"/>
              </a:spcBef>
            </a:pPr>
            <a:r>
              <a:rPr lang="zh-CN" altLang="en-US" sz="2400" dirty="0" smtClean="0">
                <a:solidFill>
                  <a:schemeClr val="tx1"/>
                </a:solidFill>
              </a:rPr>
              <a:t>如果你用乘法来算，一个很小的问题，乘以</a:t>
            </a:r>
            <a:r>
              <a:rPr lang="en-US" altLang="zh-CN" sz="2400" dirty="0" smtClean="0">
                <a:solidFill>
                  <a:schemeClr val="tx1"/>
                </a:solidFill>
              </a:rPr>
              <a:t>13</a:t>
            </a:r>
            <a:r>
              <a:rPr lang="zh-CN" altLang="en-US" sz="2400" dirty="0" smtClean="0">
                <a:solidFill>
                  <a:schemeClr val="tx1"/>
                </a:solidFill>
              </a:rPr>
              <a:t>亿，就会变成一个大问题；如果如果你用除法来算，一个很大的总量，除以</a:t>
            </a:r>
            <a:r>
              <a:rPr lang="en-US" altLang="zh-CN" sz="2400" dirty="0" smtClean="0">
                <a:solidFill>
                  <a:schemeClr val="tx1"/>
                </a:solidFill>
              </a:rPr>
              <a:t>13</a:t>
            </a:r>
            <a:r>
              <a:rPr lang="zh-CN" altLang="en-US" sz="2400" dirty="0" smtClean="0">
                <a:solidFill>
                  <a:schemeClr val="tx1"/>
                </a:solidFill>
              </a:rPr>
              <a:t>亿，就会变成一个小数目。这是许多外国人不容易理解的。</a:t>
            </a:r>
          </a:p>
          <a:p>
            <a:pPr lvl="1" eaLnBrk="1" hangingPunct="1">
              <a:lnSpc>
                <a:spcPct val="150000"/>
              </a:lnSpc>
              <a:spcBef>
                <a:spcPct val="30000"/>
              </a:spcBef>
              <a:buNone/>
            </a:pPr>
            <a:r>
              <a:rPr lang="en-US" altLang="zh-CN" sz="2000" dirty="0" smtClean="0">
                <a:latin typeface="Times New Roman" pitchFamily="18" charset="0"/>
              </a:rPr>
              <a:t>               ——</a:t>
            </a:r>
            <a:r>
              <a:rPr lang="zh-CN" altLang="en-US" sz="2000" dirty="0" smtClean="0"/>
              <a:t>温家宝总理接受</a:t>
            </a:r>
            <a:r>
              <a:rPr lang="en-US" altLang="zh-CN" sz="2000" dirty="0" smtClean="0"/>
              <a:t>《</a:t>
            </a:r>
            <a:r>
              <a:rPr lang="zh-CN" altLang="en-US" sz="2000" dirty="0" smtClean="0"/>
              <a:t>华盛顿邮报</a:t>
            </a:r>
            <a:r>
              <a:rPr lang="en-US" altLang="zh-CN" sz="2000" dirty="0" smtClean="0"/>
              <a:t>》 </a:t>
            </a:r>
            <a:r>
              <a:rPr lang="zh-CN" altLang="en-US" sz="2000" dirty="0" smtClean="0"/>
              <a:t>总编采访时说</a:t>
            </a:r>
          </a:p>
          <a:p>
            <a:pPr eaLnBrk="1" hangingPunct="1">
              <a:lnSpc>
                <a:spcPct val="120000"/>
              </a:lnSpc>
              <a:spcBef>
                <a:spcPct val="30000"/>
              </a:spcBef>
            </a:pPr>
            <a:r>
              <a:rPr lang="zh-CN" altLang="en-US" sz="2400" dirty="0" smtClean="0">
                <a:solidFill>
                  <a:srgbClr val="000000"/>
                </a:solidFill>
              </a:rPr>
              <a:t>我国铁路货运量、客运周转量</a:t>
            </a:r>
            <a:r>
              <a:rPr lang="zh-CN" altLang="en-US" sz="2400" dirty="0" smtClean="0">
                <a:solidFill>
                  <a:schemeClr val="tx1"/>
                </a:solidFill>
              </a:rPr>
              <a:t>居世界第一。</a:t>
            </a:r>
            <a:r>
              <a:rPr lang="en-US" altLang="zh-CN" sz="2400" b="0" dirty="0" smtClean="0">
                <a:solidFill>
                  <a:srgbClr val="000000"/>
                </a:solidFill>
              </a:rPr>
              <a:t>2021</a:t>
            </a:r>
            <a:r>
              <a:rPr lang="zh-CN" altLang="en-US" sz="2400" b="0" dirty="0">
                <a:solidFill>
                  <a:srgbClr val="000000"/>
                </a:solidFill>
              </a:rPr>
              <a:t>年底，全国</a:t>
            </a:r>
            <a:r>
              <a:rPr lang="zh-CN" altLang="en-US" sz="2400" dirty="0">
                <a:solidFill>
                  <a:srgbClr val="000000"/>
                </a:solidFill>
              </a:rPr>
              <a:t>铁路营业里程</a:t>
            </a:r>
            <a:r>
              <a:rPr lang="zh-CN" altLang="en-US" sz="2400" b="0" dirty="0">
                <a:solidFill>
                  <a:srgbClr val="000000"/>
                </a:solidFill>
              </a:rPr>
              <a:t>达到</a:t>
            </a:r>
            <a:r>
              <a:rPr lang="en-US" altLang="zh-CN" sz="2400" b="0" dirty="0">
                <a:solidFill>
                  <a:srgbClr val="000000"/>
                </a:solidFill>
              </a:rPr>
              <a:t>15.7</a:t>
            </a:r>
            <a:r>
              <a:rPr lang="zh-CN" altLang="en-US" sz="2400" b="0" dirty="0">
                <a:solidFill>
                  <a:srgbClr val="000000"/>
                </a:solidFill>
              </a:rPr>
              <a:t>万</a:t>
            </a:r>
            <a:r>
              <a:rPr lang="zh-CN" altLang="en-US" sz="2400" b="0" dirty="0" smtClean="0">
                <a:solidFill>
                  <a:srgbClr val="000000"/>
                </a:solidFill>
              </a:rPr>
              <a:t>公里，</a:t>
            </a:r>
            <a:r>
              <a:rPr lang="zh-CN" altLang="en-US" sz="2400" dirty="0"/>
              <a:t>人均铁路营业里程</a:t>
            </a:r>
            <a:r>
              <a:rPr lang="en-US" altLang="zh-CN" sz="2400" b="0" dirty="0" smtClean="0"/>
              <a:t>11.1</a:t>
            </a:r>
            <a:r>
              <a:rPr lang="zh-CN" altLang="en-US" sz="2400" dirty="0" smtClean="0"/>
              <a:t>厘米</a:t>
            </a:r>
            <a:r>
              <a:rPr lang="en-US" altLang="zh-CN" sz="2400" b="0" dirty="0" smtClean="0">
                <a:solidFill>
                  <a:srgbClr val="0070C0"/>
                </a:solidFill>
              </a:rPr>
              <a:t>——</a:t>
            </a:r>
            <a:r>
              <a:rPr lang="zh-CN" altLang="en-US" sz="2400" b="0" dirty="0" smtClean="0">
                <a:solidFill>
                  <a:srgbClr val="0070C0"/>
                </a:solidFill>
              </a:rPr>
              <a:t>不及一</a:t>
            </a:r>
            <a:r>
              <a:rPr lang="zh-CN" altLang="en-US" sz="2400" b="0" dirty="0">
                <a:solidFill>
                  <a:srgbClr val="0070C0"/>
                </a:solidFill>
              </a:rPr>
              <a:t>支普通香烟的长度（</a:t>
            </a:r>
            <a:r>
              <a:rPr lang="en-US" altLang="zh-CN" sz="2400" b="0" dirty="0">
                <a:solidFill>
                  <a:srgbClr val="0070C0"/>
                </a:solidFill>
              </a:rPr>
              <a:t>12</a:t>
            </a:r>
            <a:r>
              <a:rPr lang="zh-CN" altLang="en-US" sz="2400" b="0" dirty="0">
                <a:solidFill>
                  <a:srgbClr val="0070C0"/>
                </a:solidFill>
              </a:rPr>
              <a:t>厘米）</a:t>
            </a:r>
            <a:r>
              <a:rPr lang="zh-CN" altLang="en-US" sz="2400" b="0" dirty="0" smtClean="0">
                <a:solidFill>
                  <a:srgbClr val="0070C0"/>
                </a:solidFill>
              </a:rPr>
              <a:t>。</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36</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animEffect transition="in" filter="wipe(left)">
                                      <p:cBhvr>
                                        <p:cTn id="7" dur="10"/>
                                        <p:tgtEl>
                                          <p:spTgt spid="41881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8819">
                                            <p:txEl>
                                              <p:pRg st="2" end="2"/>
                                            </p:txEl>
                                          </p:spTgt>
                                        </p:tgtEl>
                                        <p:attrNameLst>
                                          <p:attrName>style.visibility</p:attrName>
                                        </p:attrNameLst>
                                      </p:cBhvr>
                                      <p:to>
                                        <p:strVal val="visible"/>
                                      </p:to>
                                    </p:set>
                                    <p:animEffect transition="in" filter="wipe(left)">
                                      <p:cBhvr>
                                        <p:cTn id="10" dur="500"/>
                                        <p:tgtEl>
                                          <p:spTgt spid="41881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18819">
                                            <p:txEl>
                                              <p:pRg st="3" end="3"/>
                                            </p:txEl>
                                          </p:spTgt>
                                        </p:tgtEl>
                                        <p:attrNameLst>
                                          <p:attrName>style.visibility</p:attrName>
                                        </p:attrNameLst>
                                      </p:cBhvr>
                                      <p:to>
                                        <p:strVal val="visible"/>
                                      </p:to>
                                    </p:set>
                                    <p:animEffect transition="in" filter="wipe(left)">
                                      <p:cBhvr>
                                        <p:cTn id="15" dur="500"/>
                                        <p:tgtEl>
                                          <p:spTgt spid="418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1043608" y="188640"/>
            <a:ext cx="4464496" cy="990600"/>
          </a:xfrm>
        </p:spPr>
        <p:txBody>
          <a:bodyPr/>
          <a:lstStyle/>
          <a:p>
            <a:pPr eaLnBrk="1" hangingPunct="1"/>
            <a:r>
              <a:rPr lang="zh-CN" altLang="en-US" dirty="0" smtClean="0">
                <a:solidFill>
                  <a:srgbClr val="1313FF"/>
                </a:solidFill>
              </a:rPr>
              <a:t>（</a:t>
            </a:r>
            <a:r>
              <a:rPr lang="en-US" altLang="zh-CN" dirty="0" smtClean="0">
                <a:solidFill>
                  <a:srgbClr val="1313FF"/>
                </a:solidFill>
              </a:rPr>
              <a:t>5</a:t>
            </a:r>
            <a:r>
              <a:rPr lang="zh-CN" altLang="en-US" dirty="0" smtClean="0">
                <a:solidFill>
                  <a:srgbClr val="1313FF"/>
                </a:solidFill>
              </a:rPr>
              <a:t>）强度相对数</a:t>
            </a:r>
          </a:p>
        </p:txBody>
      </p:sp>
      <p:graphicFrame>
        <p:nvGraphicFramePr>
          <p:cNvPr id="7170" name="Object 7"/>
          <p:cNvGraphicFramePr>
            <a:graphicFrameLocks noGrp="1" noChangeAspect="1"/>
          </p:cNvGraphicFramePr>
          <p:nvPr>
            <p:ph sz="half" idx="1"/>
            <p:extLst>
              <p:ext uri="{D42A27DB-BD31-4B8C-83A1-F6EECF244321}">
                <p14:modId xmlns:p14="http://schemas.microsoft.com/office/powerpoint/2010/main" val="2960597225"/>
              </p:ext>
            </p:extLst>
          </p:nvPr>
        </p:nvGraphicFramePr>
        <p:xfrm>
          <a:off x="4427983" y="980728"/>
          <a:ext cx="4212313" cy="1053026"/>
        </p:xfrm>
        <a:graphic>
          <a:graphicData uri="http://schemas.openxmlformats.org/presentationml/2006/ole">
            <mc:AlternateContent xmlns:mc="http://schemas.openxmlformats.org/markup-compatibility/2006">
              <mc:Choice xmlns:v="urn:schemas-microsoft-com:vml" Requires="v">
                <p:oleObj spid="_x0000_s7351" name="Equation" r:id="rId4" imgW="3898800" imgH="622080" progId="Equation.DSMT4">
                  <p:embed/>
                </p:oleObj>
              </mc:Choice>
              <mc:Fallback>
                <p:oleObj name="Equation" r:id="rId4" imgW="3898800" imgH="6220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983" y="980728"/>
                        <a:ext cx="4212313" cy="1053026"/>
                      </a:xfrm>
                      <a:prstGeom prst="rect">
                        <a:avLst/>
                      </a:prstGeom>
                      <a:noFill/>
                      <a:extLst/>
                    </p:spPr>
                  </p:pic>
                </p:oleObj>
              </mc:Fallback>
            </mc:AlternateContent>
          </a:graphicData>
        </a:graphic>
      </p:graphicFrame>
      <p:sp>
        <p:nvSpPr>
          <p:cNvPr id="384003" name="Rectangle 3"/>
          <p:cNvSpPr>
            <a:spLocks noGrp="1" noChangeArrowheads="1"/>
          </p:cNvSpPr>
          <p:nvPr>
            <p:ph type="body" sz="half" idx="2"/>
          </p:nvPr>
        </p:nvSpPr>
        <p:spPr>
          <a:xfrm>
            <a:off x="323529" y="2133737"/>
            <a:ext cx="8496622" cy="4175583"/>
          </a:xfrm>
        </p:spPr>
        <p:txBody>
          <a:bodyPr/>
          <a:lstStyle/>
          <a:p>
            <a:pPr eaLnBrk="1" hangingPunct="1">
              <a:lnSpc>
                <a:spcPct val="105000"/>
              </a:lnSpc>
              <a:spcBef>
                <a:spcPts val="600"/>
              </a:spcBef>
            </a:pPr>
            <a:r>
              <a:rPr lang="zh-CN" altLang="en-US" sz="2400" dirty="0" smtClean="0">
                <a:solidFill>
                  <a:schemeClr val="tx2"/>
                </a:solidFill>
              </a:rPr>
              <a:t>反映现象的强度，</a:t>
            </a:r>
            <a:r>
              <a:rPr lang="zh-CN" altLang="en-US" sz="2400" dirty="0" smtClean="0">
                <a:solidFill>
                  <a:srgbClr val="807D00"/>
                </a:solidFill>
              </a:rPr>
              <a:t>如：人均</a:t>
            </a:r>
            <a:r>
              <a:rPr lang="en-US" altLang="zh-CN" sz="2400" dirty="0" smtClean="0">
                <a:solidFill>
                  <a:srgbClr val="807D00"/>
                </a:solidFill>
              </a:rPr>
              <a:t>GDP</a:t>
            </a:r>
            <a:r>
              <a:rPr lang="zh-CN" altLang="en-US" sz="2400" dirty="0" smtClean="0">
                <a:solidFill>
                  <a:srgbClr val="807D00"/>
                </a:solidFill>
              </a:rPr>
              <a:t>、人均粮食产量</a:t>
            </a:r>
            <a:r>
              <a:rPr lang="en-US" altLang="zh-CN" sz="2400" dirty="0" smtClean="0">
                <a:solidFill>
                  <a:srgbClr val="807D00"/>
                </a:solidFill>
                <a:latin typeface="Times New Roman" pitchFamily="18" charset="0"/>
              </a:rPr>
              <a:t>…</a:t>
            </a:r>
            <a:endParaRPr lang="en-US" altLang="zh-CN" sz="2400" b="0" dirty="0" smtClean="0">
              <a:solidFill>
                <a:srgbClr val="807D00"/>
              </a:solidFill>
            </a:endParaRPr>
          </a:p>
          <a:p>
            <a:pPr eaLnBrk="1" hangingPunct="1">
              <a:lnSpc>
                <a:spcPct val="105000"/>
              </a:lnSpc>
              <a:spcBef>
                <a:spcPts val="600"/>
              </a:spcBef>
            </a:pPr>
            <a:r>
              <a:rPr lang="zh-CN" altLang="en-US" sz="2400" dirty="0" smtClean="0">
                <a:solidFill>
                  <a:schemeClr val="tx2"/>
                </a:solidFill>
              </a:rPr>
              <a:t>反映现象的密度和普遍程度。</a:t>
            </a:r>
            <a:r>
              <a:rPr lang="zh-CN" altLang="en-US" sz="2200" dirty="0" smtClean="0">
                <a:solidFill>
                  <a:srgbClr val="807D00"/>
                </a:solidFill>
              </a:rPr>
              <a:t>如：人口密度、每万人拥有医院数</a:t>
            </a:r>
            <a:r>
              <a:rPr lang="en-US" altLang="zh-CN" sz="2200" dirty="0" smtClean="0">
                <a:solidFill>
                  <a:srgbClr val="807D00"/>
                </a:solidFill>
              </a:rPr>
              <a:t>(</a:t>
            </a:r>
            <a:r>
              <a:rPr lang="zh-CN" altLang="en-US" sz="2200" dirty="0" smtClean="0">
                <a:solidFill>
                  <a:srgbClr val="807D00"/>
                </a:solidFill>
              </a:rPr>
              <a:t>病床数、医生数）、</a:t>
            </a:r>
            <a:r>
              <a:rPr lang="en-US" altLang="zh-CN" sz="2200" b="0" dirty="0" smtClean="0">
                <a:solidFill>
                  <a:srgbClr val="006600"/>
                </a:solidFill>
              </a:rPr>
              <a:t>2023</a:t>
            </a:r>
            <a:r>
              <a:rPr lang="zh-CN" altLang="en-US" sz="2200" dirty="0" smtClean="0">
                <a:solidFill>
                  <a:srgbClr val="006600"/>
                </a:solidFill>
              </a:rPr>
              <a:t>年移动电话普及率</a:t>
            </a:r>
            <a:r>
              <a:rPr lang="en-US" altLang="zh-CN" sz="2000" dirty="0">
                <a:solidFill>
                  <a:srgbClr val="006600"/>
                </a:solidFill>
              </a:rPr>
              <a:t>122.5</a:t>
            </a:r>
            <a:r>
              <a:rPr lang="zh-CN" altLang="en-US" sz="2000" dirty="0" smtClean="0">
                <a:solidFill>
                  <a:srgbClr val="006600"/>
                </a:solidFill>
              </a:rPr>
              <a:t>部</a:t>
            </a:r>
            <a:r>
              <a:rPr lang="en-US" altLang="zh-CN" sz="2000" dirty="0" smtClean="0">
                <a:solidFill>
                  <a:srgbClr val="006600"/>
                </a:solidFill>
              </a:rPr>
              <a:t>/</a:t>
            </a:r>
            <a:r>
              <a:rPr lang="zh-CN" altLang="en-US" sz="2000" dirty="0" smtClean="0">
                <a:solidFill>
                  <a:srgbClr val="006600"/>
                </a:solidFill>
              </a:rPr>
              <a:t>百人</a:t>
            </a:r>
            <a:r>
              <a:rPr lang="zh-CN" altLang="en-US" sz="2000" dirty="0" smtClean="0">
                <a:solidFill>
                  <a:srgbClr val="807D00"/>
                </a:solidFill>
              </a:rPr>
              <a:t>。</a:t>
            </a:r>
            <a:endParaRPr lang="zh-CN" altLang="en-US" sz="2200" dirty="0" smtClean="0">
              <a:solidFill>
                <a:srgbClr val="807D00"/>
              </a:solidFill>
            </a:endParaRPr>
          </a:p>
          <a:p>
            <a:pPr eaLnBrk="1" hangingPunct="1">
              <a:lnSpc>
                <a:spcPct val="105000"/>
              </a:lnSpc>
              <a:spcBef>
                <a:spcPts val="600"/>
              </a:spcBef>
            </a:pPr>
            <a:r>
              <a:rPr lang="zh-CN" altLang="en-US" sz="2400" dirty="0" smtClean="0">
                <a:solidFill>
                  <a:schemeClr val="tx2"/>
                </a:solidFill>
              </a:rPr>
              <a:t>反映经济效益，</a:t>
            </a:r>
            <a:r>
              <a:rPr lang="zh-CN" altLang="en-US" sz="2200" dirty="0" smtClean="0">
                <a:solidFill>
                  <a:srgbClr val="807D00"/>
                </a:solidFill>
              </a:rPr>
              <a:t>如资金利润率、投资效果系数</a:t>
            </a:r>
            <a:r>
              <a:rPr lang="zh-CN" altLang="en-US" sz="2200" dirty="0" smtClean="0"/>
              <a:t> </a:t>
            </a:r>
            <a:r>
              <a:rPr lang="zh-CN" altLang="en-US" sz="2200" dirty="0" smtClean="0">
                <a:solidFill>
                  <a:srgbClr val="807D00"/>
                </a:solidFill>
              </a:rPr>
              <a:t>。</a:t>
            </a:r>
          </a:p>
          <a:p>
            <a:pPr eaLnBrk="1" hangingPunct="1">
              <a:lnSpc>
                <a:spcPct val="105000"/>
              </a:lnSpc>
              <a:spcBef>
                <a:spcPts val="600"/>
              </a:spcBef>
            </a:pPr>
            <a:r>
              <a:rPr lang="zh-CN" altLang="en-US" sz="2400" dirty="0" smtClean="0">
                <a:solidFill>
                  <a:schemeClr val="tx2"/>
                </a:solidFill>
              </a:rPr>
              <a:t>其它，如</a:t>
            </a:r>
            <a:r>
              <a:rPr lang="zh-CN" altLang="en-US" sz="2200" dirty="0" smtClean="0">
                <a:solidFill>
                  <a:srgbClr val="807D00"/>
                </a:solidFill>
              </a:rPr>
              <a:t>： 外贸依存度</a:t>
            </a:r>
            <a:r>
              <a:rPr lang="en-US" altLang="zh-CN" sz="2200" dirty="0" smtClean="0">
                <a:solidFill>
                  <a:srgbClr val="807D00"/>
                </a:solidFill>
              </a:rPr>
              <a:t>=</a:t>
            </a:r>
            <a:r>
              <a:rPr lang="zh-CN" altLang="en-US" sz="2200" dirty="0" smtClean="0">
                <a:solidFill>
                  <a:srgbClr val="807D00"/>
                </a:solidFill>
              </a:rPr>
              <a:t>对外贸易总额</a:t>
            </a:r>
            <a:r>
              <a:rPr lang="en-US" altLang="zh-CN" sz="2200" dirty="0" smtClean="0">
                <a:solidFill>
                  <a:srgbClr val="807D00"/>
                </a:solidFill>
              </a:rPr>
              <a:t>/GDP</a:t>
            </a:r>
          </a:p>
          <a:p>
            <a:pPr lvl="1" eaLnBrk="1" hangingPunct="1">
              <a:lnSpc>
                <a:spcPct val="105000"/>
              </a:lnSpc>
              <a:spcBef>
                <a:spcPts val="600"/>
              </a:spcBef>
            </a:pPr>
            <a:r>
              <a:rPr lang="zh-CN" altLang="en-US" sz="2200" dirty="0" smtClean="0">
                <a:solidFill>
                  <a:srgbClr val="807D00"/>
                </a:solidFill>
              </a:rPr>
              <a:t>保险</a:t>
            </a:r>
            <a:r>
              <a:rPr lang="zh-CN" altLang="en-US" sz="2200" dirty="0" smtClean="0">
                <a:solidFill>
                  <a:srgbClr val="807D00"/>
                </a:solidFill>
              </a:rPr>
              <a:t>密度</a:t>
            </a:r>
            <a:r>
              <a:rPr lang="en-US" altLang="zh-CN" sz="2200" dirty="0" smtClean="0">
                <a:solidFill>
                  <a:srgbClr val="807D00"/>
                </a:solidFill>
              </a:rPr>
              <a:t>=</a:t>
            </a:r>
            <a:r>
              <a:rPr lang="zh-CN" altLang="en-US" sz="2200" dirty="0" smtClean="0">
                <a:solidFill>
                  <a:srgbClr val="807D00"/>
                </a:solidFill>
              </a:rPr>
              <a:t>保费</a:t>
            </a:r>
            <a:r>
              <a:rPr lang="en-US" altLang="zh-CN" sz="2200" dirty="0" smtClean="0">
                <a:solidFill>
                  <a:srgbClr val="807D00"/>
                </a:solidFill>
              </a:rPr>
              <a:t>/</a:t>
            </a:r>
            <a:r>
              <a:rPr lang="zh-CN" altLang="en-US" sz="2200" dirty="0" smtClean="0">
                <a:solidFill>
                  <a:srgbClr val="807D00"/>
                </a:solidFill>
              </a:rPr>
              <a:t>人口</a:t>
            </a:r>
            <a:r>
              <a:rPr lang="zh-CN" altLang="en-US" sz="2200" dirty="0" smtClean="0">
                <a:solidFill>
                  <a:srgbClr val="807D00"/>
                </a:solidFill>
              </a:rPr>
              <a:t>数</a:t>
            </a:r>
            <a:r>
              <a:rPr lang="en-US" altLang="zh-CN" sz="2200" dirty="0" smtClean="0">
                <a:solidFill>
                  <a:srgbClr val="807D00"/>
                </a:solidFill>
                <a:latin typeface="+mn-ea"/>
              </a:rPr>
              <a:t>,</a:t>
            </a:r>
            <a:r>
              <a:rPr lang="zh-CN" altLang="en-US" sz="2200" dirty="0" smtClean="0">
                <a:solidFill>
                  <a:srgbClr val="006600"/>
                </a:solidFill>
              </a:rPr>
              <a:t>金融相关率</a:t>
            </a:r>
            <a:r>
              <a:rPr lang="en-US" altLang="zh-CN" sz="2200" dirty="0" smtClean="0">
                <a:solidFill>
                  <a:srgbClr val="807D00"/>
                </a:solidFill>
              </a:rPr>
              <a:t>=</a:t>
            </a:r>
            <a:r>
              <a:rPr lang="zh-CN" altLang="en-US" sz="2200" dirty="0" smtClean="0">
                <a:solidFill>
                  <a:srgbClr val="807D00"/>
                </a:solidFill>
              </a:rPr>
              <a:t>金融资产总量</a:t>
            </a:r>
            <a:r>
              <a:rPr lang="en-US" altLang="zh-CN" sz="2200" dirty="0" smtClean="0">
                <a:solidFill>
                  <a:srgbClr val="807D00"/>
                </a:solidFill>
              </a:rPr>
              <a:t>/GNP</a:t>
            </a:r>
          </a:p>
          <a:p>
            <a:pPr lvl="1" eaLnBrk="1" hangingPunct="1">
              <a:lnSpc>
                <a:spcPct val="105000"/>
              </a:lnSpc>
              <a:spcBef>
                <a:spcPts val="600"/>
              </a:spcBef>
            </a:pPr>
            <a:r>
              <a:rPr lang="zh-CN" altLang="en-US" sz="2200" dirty="0" smtClean="0">
                <a:solidFill>
                  <a:srgbClr val="807D00"/>
                </a:solidFill>
              </a:rPr>
              <a:t>能源消耗的弹性系数＝能源消耗的增长率</a:t>
            </a:r>
            <a:r>
              <a:rPr lang="en-US" altLang="zh-CN" sz="2200" dirty="0" smtClean="0">
                <a:solidFill>
                  <a:srgbClr val="807D00"/>
                </a:solidFill>
              </a:rPr>
              <a:t>/GDP</a:t>
            </a:r>
            <a:r>
              <a:rPr lang="zh-CN" altLang="en-US" sz="2200" dirty="0" smtClean="0">
                <a:solidFill>
                  <a:srgbClr val="807D00"/>
                </a:solidFill>
              </a:rPr>
              <a:t>增长率</a:t>
            </a:r>
          </a:p>
          <a:p>
            <a:pPr lvl="1" eaLnBrk="1" hangingPunct="1">
              <a:lnSpc>
                <a:spcPct val="105000"/>
              </a:lnSpc>
              <a:spcBef>
                <a:spcPts val="600"/>
              </a:spcBef>
            </a:pPr>
            <a:r>
              <a:rPr lang="zh-CN" altLang="en-US" sz="2200" dirty="0" smtClean="0"/>
              <a:t>研究与试验发展（</a:t>
            </a:r>
            <a:r>
              <a:rPr lang="en-US" altLang="zh-CN" sz="2200" dirty="0" smtClean="0"/>
              <a:t>R&amp;D</a:t>
            </a:r>
            <a:r>
              <a:rPr lang="zh-CN" altLang="en-US" sz="2200" dirty="0" smtClean="0"/>
              <a:t>）经费投入强度：</a:t>
            </a:r>
            <a:r>
              <a:rPr lang="en-US" altLang="zh-CN" sz="2200" b="0" dirty="0" smtClean="0"/>
              <a:t>R&amp;D</a:t>
            </a:r>
            <a:r>
              <a:rPr lang="zh-CN" altLang="en-US" sz="2200" b="0" dirty="0" smtClean="0"/>
              <a:t>经费支出</a:t>
            </a:r>
            <a:r>
              <a:rPr lang="en-US" altLang="zh-CN" sz="2200" b="0" dirty="0" smtClean="0"/>
              <a:t>/</a:t>
            </a:r>
            <a:r>
              <a:rPr lang="zh-CN" altLang="en-US" sz="2200" b="0" dirty="0" smtClean="0"/>
              <a:t>销售收入（或</a:t>
            </a:r>
            <a:r>
              <a:rPr lang="en-US" altLang="zh-CN" sz="2200" b="0" dirty="0" smtClean="0"/>
              <a:t>GDP</a:t>
            </a:r>
            <a:r>
              <a:rPr lang="zh-CN" altLang="en-US" sz="2200" b="0" dirty="0" smtClean="0"/>
              <a:t>），</a:t>
            </a:r>
            <a:r>
              <a:rPr lang="zh-CN" altLang="en-US" sz="2200" dirty="0" smtClean="0">
                <a:solidFill>
                  <a:srgbClr val="006600"/>
                </a:solidFill>
              </a:rPr>
              <a:t>我国</a:t>
            </a:r>
            <a:r>
              <a:rPr lang="en-US" altLang="zh-CN" sz="2200" dirty="0" smtClean="0">
                <a:solidFill>
                  <a:srgbClr val="006600"/>
                </a:solidFill>
              </a:rPr>
              <a:t>2023</a:t>
            </a:r>
            <a:r>
              <a:rPr lang="zh-CN" altLang="en-US" sz="2200" dirty="0" smtClean="0">
                <a:solidFill>
                  <a:srgbClr val="006600"/>
                </a:solidFill>
              </a:rPr>
              <a:t>年</a:t>
            </a:r>
            <a:r>
              <a:rPr lang="en-US" altLang="zh-CN" sz="2200" dirty="0" smtClean="0">
                <a:solidFill>
                  <a:srgbClr val="006600"/>
                </a:solidFill>
              </a:rPr>
              <a:t>R&amp;D</a:t>
            </a:r>
            <a:r>
              <a:rPr lang="zh-CN" altLang="en-US" sz="2200" dirty="0" smtClean="0">
                <a:solidFill>
                  <a:srgbClr val="006600"/>
                </a:solidFill>
              </a:rPr>
              <a:t>经费支出</a:t>
            </a:r>
            <a:r>
              <a:rPr lang="en-US" altLang="zh-CN" sz="2200" dirty="0">
                <a:solidFill>
                  <a:srgbClr val="006600"/>
                </a:solidFill>
              </a:rPr>
              <a:t>33278</a:t>
            </a:r>
            <a:r>
              <a:rPr lang="zh-CN" altLang="en-US" sz="2200" dirty="0" smtClean="0">
                <a:solidFill>
                  <a:srgbClr val="006600"/>
                </a:solidFill>
              </a:rPr>
              <a:t>亿</a:t>
            </a:r>
            <a:r>
              <a:rPr lang="zh-CN" altLang="en-US" sz="2200" dirty="0">
                <a:solidFill>
                  <a:srgbClr val="006600"/>
                </a:solidFill>
              </a:rPr>
              <a:t>元，比上年</a:t>
            </a:r>
            <a:r>
              <a:rPr lang="zh-CN" altLang="en-US" sz="2200" dirty="0" smtClean="0">
                <a:solidFill>
                  <a:srgbClr val="006600"/>
                </a:solidFill>
              </a:rPr>
              <a:t>增长</a:t>
            </a:r>
            <a:r>
              <a:rPr lang="en-US" altLang="zh-CN" sz="2200" dirty="0" smtClean="0">
                <a:solidFill>
                  <a:srgbClr val="006600"/>
                </a:solidFill>
              </a:rPr>
              <a:t>8.1%</a:t>
            </a:r>
            <a:r>
              <a:rPr lang="zh-CN" altLang="en-US" sz="2200" dirty="0">
                <a:solidFill>
                  <a:srgbClr val="006600"/>
                </a:solidFill>
              </a:rPr>
              <a:t>，与国内生产总值之比为</a:t>
            </a:r>
            <a:r>
              <a:rPr lang="en-US" altLang="zh-CN" sz="2200" dirty="0" smtClean="0">
                <a:solidFill>
                  <a:srgbClr val="006600"/>
                </a:solidFill>
              </a:rPr>
              <a:t>2.64</a:t>
            </a:r>
            <a:r>
              <a:rPr lang="en-US" altLang="zh-CN" sz="2200" dirty="0">
                <a:solidFill>
                  <a:srgbClr val="006600"/>
                </a:solidFill>
              </a:rPr>
              <a:t>%</a:t>
            </a:r>
            <a:r>
              <a:rPr lang="zh-CN" altLang="en-US" sz="2200" b="0" dirty="0" smtClean="0"/>
              <a:t>。</a:t>
            </a:r>
          </a:p>
        </p:txBody>
      </p:sp>
      <p:sp>
        <p:nvSpPr>
          <p:cNvPr id="6" name="灯片编号占位符 5"/>
          <p:cNvSpPr>
            <a:spLocks noGrp="1"/>
          </p:cNvSpPr>
          <p:nvPr>
            <p:ph type="sldNum" sz="quarter" idx="12"/>
          </p:nvPr>
        </p:nvSpPr>
        <p:spPr/>
        <p:txBody>
          <a:bodyPr/>
          <a:lstStyle/>
          <a:p>
            <a:pPr>
              <a:defRPr/>
            </a:pPr>
            <a:fld id="{0A67D148-B689-4F94-8A46-9AA1F42A1866}" type="slidenum">
              <a:rPr lang="en-US" altLang="zh-CN" smtClean="0"/>
              <a:pPr>
                <a:defRPr/>
              </a:pPr>
              <a:t>37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Effect transition="in" filter="diamond(in)">
                                      <p:cBhvr>
                                        <p:cTn id="7" dur="2000"/>
                                        <p:tgtEl>
                                          <p:spTgt spid="384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84003">
                                            <p:txEl>
                                              <p:pRg st="1" end="1"/>
                                            </p:txEl>
                                          </p:spTgt>
                                        </p:tgtEl>
                                        <p:attrNameLst>
                                          <p:attrName>style.visibility</p:attrName>
                                        </p:attrNameLst>
                                      </p:cBhvr>
                                      <p:to>
                                        <p:strVal val="visible"/>
                                      </p:to>
                                    </p:set>
                                    <p:animEffect transition="in" filter="diamond(in)">
                                      <p:cBhvr>
                                        <p:cTn id="12" dur="2000"/>
                                        <p:tgtEl>
                                          <p:spTgt spid="384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84003">
                                            <p:txEl>
                                              <p:pRg st="2" end="2"/>
                                            </p:txEl>
                                          </p:spTgt>
                                        </p:tgtEl>
                                        <p:attrNameLst>
                                          <p:attrName>style.visibility</p:attrName>
                                        </p:attrNameLst>
                                      </p:cBhvr>
                                      <p:to>
                                        <p:strVal val="visible"/>
                                      </p:to>
                                    </p:set>
                                    <p:animEffect transition="in" filter="diamond(in)">
                                      <p:cBhvr>
                                        <p:cTn id="17" dur="2000"/>
                                        <p:tgtEl>
                                          <p:spTgt spid="384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84003">
                                            <p:txEl>
                                              <p:pRg st="3" end="3"/>
                                            </p:txEl>
                                          </p:spTgt>
                                        </p:tgtEl>
                                        <p:attrNameLst>
                                          <p:attrName>style.visibility</p:attrName>
                                        </p:attrNameLst>
                                      </p:cBhvr>
                                      <p:to>
                                        <p:strVal val="visible"/>
                                      </p:to>
                                    </p:set>
                                    <p:animEffect transition="in" filter="diamond(in)">
                                      <p:cBhvr>
                                        <p:cTn id="22" dur="2000"/>
                                        <p:tgtEl>
                                          <p:spTgt spid="384003">
                                            <p:txEl>
                                              <p:pRg st="3" end="3"/>
                                            </p:txEl>
                                          </p:spTgt>
                                        </p:tgtEl>
                                      </p:cBhvr>
                                    </p:animEffect>
                                  </p:childTnLst>
                                </p:cTn>
                              </p:par>
                              <p:par>
                                <p:cTn id="23" presetID="8" presetClass="entr" presetSubtype="16" fill="hold" grpId="0" nodeType="withEffect">
                                  <p:stCondLst>
                                    <p:cond delay="0"/>
                                  </p:stCondLst>
                                  <p:childTnLst>
                                    <p:set>
                                      <p:cBhvr>
                                        <p:cTn id="24" dur="1" fill="hold">
                                          <p:stCondLst>
                                            <p:cond delay="0"/>
                                          </p:stCondLst>
                                        </p:cTn>
                                        <p:tgtEl>
                                          <p:spTgt spid="384003">
                                            <p:txEl>
                                              <p:pRg st="4" end="4"/>
                                            </p:txEl>
                                          </p:spTgt>
                                        </p:tgtEl>
                                        <p:attrNameLst>
                                          <p:attrName>style.visibility</p:attrName>
                                        </p:attrNameLst>
                                      </p:cBhvr>
                                      <p:to>
                                        <p:strVal val="visible"/>
                                      </p:to>
                                    </p:set>
                                    <p:animEffect transition="in" filter="diamond(in)">
                                      <p:cBhvr>
                                        <p:cTn id="25" dur="2000"/>
                                        <p:tgtEl>
                                          <p:spTgt spid="384003">
                                            <p:txEl>
                                              <p:pRg st="4" end="4"/>
                                            </p:txEl>
                                          </p:spTgt>
                                        </p:tgtEl>
                                      </p:cBhvr>
                                    </p:animEffect>
                                  </p:childTnLst>
                                </p:cTn>
                              </p:par>
                              <p:par>
                                <p:cTn id="26" presetID="8" presetClass="entr" presetSubtype="16" fill="hold" grpId="0" nodeType="withEffect">
                                  <p:stCondLst>
                                    <p:cond delay="0"/>
                                  </p:stCondLst>
                                  <p:childTnLst>
                                    <p:set>
                                      <p:cBhvr>
                                        <p:cTn id="27" dur="1" fill="hold">
                                          <p:stCondLst>
                                            <p:cond delay="0"/>
                                          </p:stCondLst>
                                        </p:cTn>
                                        <p:tgtEl>
                                          <p:spTgt spid="384003">
                                            <p:txEl>
                                              <p:pRg st="5" end="5"/>
                                            </p:txEl>
                                          </p:spTgt>
                                        </p:tgtEl>
                                        <p:attrNameLst>
                                          <p:attrName>style.visibility</p:attrName>
                                        </p:attrNameLst>
                                      </p:cBhvr>
                                      <p:to>
                                        <p:strVal val="visible"/>
                                      </p:to>
                                    </p:set>
                                    <p:animEffect transition="in" filter="diamond(in)">
                                      <p:cBhvr>
                                        <p:cTn id="28" dur="2000"/>
                                        <p:tgtEl>
                                          <p:spTgt spid="384003">
                                            <p:txEl>
                                              <p:pRg st="5" end="5"/>
                                            </p:txEl>
                                          </p:spTgt>
                                        </p:tgtEl>
                                      </p:cBhvr>
                                    </p:animEffect>
                                  </p:childTnLst>
                                </p:cTn>
                              </p:par>
                              <p:par>
                                <p:cTn id="29" presetID="8" presetClass="entr" presetSubtype="16" fill="hold" grpId="0" nodeType="withEffect">
                                  <p:stCondLst>
                                    <p:cond delay="0"/>
                                  </p:stCondLst>
                                  <p:childTnLst>
                                    <p:set>
                                      <p:cBhvr>
                                        <p:cTn id="30" dur="1" fill="hold">
                                          <p:stCondLst>
                                            <p:cond delay="0"/>
                                          </p:stCondLst>
                                        </p:cTn>
                                        <p:tgtEl>
                                          <p:spTgt spid="384003">
                                            <p:txEl>
                                              <p:pRg st="6" end="6"/>
                                            </p:txEl>
                                          </p:spTgt>
                                        </p:tgtEl>
                                        <p:attrNameLst>
                                          <p:attrName>style.visibility</p:attrName>
                                        </p:attrNameLst>
                                      </p:cBhvr>
                                      <p:to>
                                        <p:strVal val="visible"/>
                                      </p:to>
                                    </p:set>
                                    <p:animEffect transition="in" filter="diamond(in)">
                                      <p:cBhvr>
                                        <p:cTn id="31" dur="2000"/>
                                        <p:tgtEl>
                                          <p:spTgt spid="3840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755650" y="908050"/>
            <a:ext cx="7010400" cy="838200"/>
          </a:xfrm>
          <a:noFill/>
        </p:spPr>
        <p:txBody>
          <a:bodyPr/>
          <a:lstStyle/>
          <a:p>
            <a:pPr eaLnBrk="1" hangingPunct="1"/>
            <a:r>
              <a:rPr lang="zh-CN" altLang="en-US" sz="3800" dirty="0" smtClean="0">
                <a:solidFill>
                  <a:srgbClr val="1313FF"/>
                </a:solidFill>
              </a:rPr>
              <a:t>强度相对数的特点</a:t>
            </a:r>
            <a:endParaRPr lang="zh-CN" altLang="en-US" sz="3800" b="0" dirty="0" smtClean="0">
              <a:solidFill>
                <a:srgbClr val="1313FF"/>
              </a:solidFill>
            </a:endParaRPr>
          </a:p>
        </p:txBody>
      </p:sp>
      <p:sp>
        <p:nvSpPr>
          <p:cNvPr id="299011" name="Rectangle 3"/>
          <p:cNvSpPr>
            <a:spLocks noGrp="1" noChangeArrowheads="1"/>
          </p:cNvSpPr>
          <p:nvPr>
            <p:ph type="body" idx="1"/>
          </p:nvPr>
        </p:nvSpPr>
        <p:spPr>
          <a:xfrm>
            <a:off x="684213" y="1916113"/>
            <a:ext cx="7924800" cy="4105275"/>
          </a:xfrm>
          <a:noFill/>
        </p:spPr>
        <p:txBody>
          <a:bodyPr/>
          <a:lstStyle/>
          <a:p>
            <a:pPr eaLnBrk="1" hangingPunct="1">
              <a:lnSpc>
                <a:spcPct val="110000"/>
              </a:lnSpc>
              <a:spcBef>
                <a:spcPct val="30000"/>
              </a:spcBef>
            </a:pPr>
            <a:r>
              <a:rPr lang="zh-CN" altLang="en-US" dirty="0" smtClean="0">
                <a:solidFill>
                  <a:srgbClr val="006600"/>
                </a:solidFill>
              </a:rPr>
              <a:t>强度相对数是惟一有单位（且为复名数）的相对数（有的也用无名数形式）；</a:t>
            </a:r>
          </a:p>
          <a:p>
            <a:pPr eaLnBrk="1" hangingPunct="1">
              <a:lnSpc>
                <a:spcPct val="110000"/>
              </a:lnSpc>
              <a:spcBef>
                <a:spcPct val="30000"/>
              </a:spcBef>
            </a:pPr>
            <a:r>
              <a:rPr lang="zh-CN" altLang="en-US" dirty="0" smtClean="0">
                <a:solidFill>
                  <a:srgbClr val="006600"/>
                </a:solidFill>
              </a:rPr>
              <a:t>分子分母一般可以互换</a:t>
            </a:r>
          </a:p>
          <a:p>
            <a:pPr lvl="1" eaLnBrk="1" hangingPunct="1">
              <a:lnSpc>
                <a:spcPct val="110000"/>
              </a:lnSpc>
              <a:spcBef>
                <a:spcPct val="30000"/>
              </a:spcBef>
            </a:pPr>
            <a:r>
              <a:rPr lang="zh-CN" altLang="en-US" b="0" dirty="0" smtClean="0">
                <a:solidFill>
                  <a:srgbClr val="006600"/>
                </a:solidFill>
              </a:rPr>
              <a:t>故有</a:t>
            </a:r>
            <a:r>
              <a:rPr lang="zh-CN" altLang="en-US" b="0" dirty="0" smtClean="0">
                <a:solidFill>
                  <a:schemeClr val="tx2"/>
                </a:solidFill>
              </a:rPr>
              <a:t>正指标与逆指标</a:t>
            </a:r>
            <a:r>
              <a:rPr lang="zh-CN" altLang="en-US" b="0" dirty="0" smtClean="0">
                <a:solidFill>
                  <a:srgbClr val="006600"/>
                </a:solidFill>
              </a:rPr>
              <a:t>之分。</a:t>
            </a:r>
          </a:p>
          <a:p>
            <a:pPr eaLnBrk="1" hangingPunct="1">
              <a:lnSpc>
                <a:spcPct val="110000"/>
              </a:lnSpc>
              <a:spcBef>
                <a:spcPct val="30000"/>
              </a:spcBef>
            </a:pPr>
            <a:r>
              <a:rPr lang="zh-CN" altLang="en-US" sz="3600" dirty="0" smtClean="0">
                <a:solidFill>
                  <a:srgbClr val="006600"/>
                </a:solidFill>
                <a:latin typeface="Times New Roman" pitchFamily="18" charset="0"/>
              </a:rPr>
              <a:t>强度相对数常带有“平均”字样，但不是平均数（含义不同）。</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38</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9011">
                                            <p:txEl>
                                              <p:pRg st="1" end="1"/>
                                            </p:txEl>
                                          </p:spTgt>
                                        </p:tgtEl>
                                        <p:attrNameLst>
                                          <p:attrName>style.visibility</p:attrName>
                                        </p:attrNameLst>
                                      </p:cBhvr>
                                      <p:to>
                                        <p:strVal val="visible"/>
                                      </p:to>
                                    </p:set>
                                    <p:anim calcmode="lin" valueType="num">
                                      <p:cBhvr additive="base">
                                        <p:cTn id="7" dur="500" fill="hold"/>
                                        <p:tgtEl>
                                          <p:spTgt spid="29901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9011">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9011">
                                            <p:txEl>
                                              <p:pRg st="2" end="2"/>
                                            </p:txEl>
                                          </p:spTgt>
                                        </p:tgtEl>
                                        <p:attrNameLst>
                                          <p:attrName>style.visibility</p:attrName>
                                        </p:attrNameLst>
                                      </p:cBhvr>
                                      <p:to>
                                        <p:strVal val="visible"/>
                                      </p:to>
                                    </p:set>
                                    <p:anim calcmode="lin" valueType="num">
                                      <p:cBhvr additive="base">
                                        <p:cTn id="11" dur="500" fill="hold"/>
                                        <p:tgtEl>
                                          <p:spTgt spid="299011">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9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99011">
                                            <p:txEl>
                                              <p:pRg st="3" end="3"/>
                                            </p:txEl>
                                          </p:spTgt>
                                        </p:tgtEl>
                                        <p:attrNameLst>
                                          <p:attrName>style.visibility</p:attrName>
                                        </p:attrNameLst>
                                      </p:cBhvr>
                                      <p:to>
                                        <p:strVal val="visible"/>
                                      </p:to>
                                    </p:set>
                                    <p:anim calcmode="lin" valueType="num">
                                      <p:cBhvr additive="base">
                                        <p:cTn id="17" dur="500" fill="hold"/>
                                        <p:tgtEl>
                                          <p:spTgt spid="299011">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990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a:xfrm>
            <a:off x="457200" y="381000"/>
            <a:ext cx="8162925" cy="869950"/>
          </a:xfrm>
        </p:spPr>
        <p:txBody>
          <a:bodyPr/>
          <a:lstStyle/>
          <a:p>
            <a:pPr eaLnBrk="1" hangingPunct="1"/>
            <a:r>
              <a:rPr lang="zh-CN" altLang="en-US" sz="4000" dirty="0" smtClean="0">
                <a:solidFill>
                  <a:srgbClr val="1313FF"/>
                </a:solidFill>
              </a:rPr>
              <a:t>相对指标的种类</a:t>
            </a:r>
            <a:r>
              <a:rPr lang="zh-CN" altLang="en-US" sz="4800" dirty="0" smtClean="0">
                <a:solidFill>
                  <a:srgbClr val="1313FF"/>
                </a:solidFill>
              </a:rPr>
              <a:t>小结</a:t>
            </a:r>
          </a:p>
        </p:txBody>
      </p:sp>
      <p:sp>
        <p:nvSpPr>
          <p:cNvPr id="98308" name="Rectangle 3"/>
          <p:cNvSpPr>
            <a:spLocks noGrp="1" noChangeArrowheads="1"/>
          </p:cNvSpPr>
          <p:nvPr>
            <p:ph type="body" idx="1"/>
          </p:nvPr>
        </p:nvSpPr>
        <p:spPr>
          <a:xfrm>
            <a:off x="395288" y="1628775"/>
            <a:ext cx="8458200" cy="4495800"/>
          </a:xfrm>
        </p:spPr>
        <p:txBody>
          <a:bodyPr/>
          <a:lstStyle/>
          <a:p>
            <a:pPr eaLnBrk="1" hangingPunct="1">
              <a:buFontTx/>
              <a:buNone/>
            </a:pPr>
            <a:r>
              <a:rPr lang="en-US" altLang="zh-CN" sz="2800" dirty="0" smtClean="0"/>
              <a:t> </a:t>
            </a:r>
            <a:r>
              <a:rPr lang="zh-CN" altLang="en-US" sz="2800" dirty="0" smtClean="0">
                <a:solidFill>
                  <a:srgbClr val="000000"/>
                </a:solidFill>
              </a:rPr>
              <a:t>根据研究的目的不同、对比的基础不同，分为：</a:t>
            </a:r>
          </a:p>
          <a:p>
            <a:pPr eaLnBrk="1" hangingPunct="1">
              <a:lnSpc>
                <a:spcPct val="125000"/>
              </a:lnSpc>
              <a:buFontTx/>
              <a:buNone/>
            </a:pPr>
            <a:r>
              <a:rPr lang="zh-CN" altLang="en-US" sz="2800" dirty="0" smtClean="0"/>
              <a:t>       结构相对数</a:t>
            </a:r>
            <a:r>
              <a:rPr lang="en-US" altLang="zh-CN" sz="2800" dirty="0" smtClean="0">
                <a:solidFill>
                  <a:srgbClr val="000000"/>
                </a:solidFill>
                <a:latin typeface="Times New Roman" pitchFamily="18" charset="0"/>
              </a:rPr>
              <a:t>——</a:t>
            </a:r>
            <a:r>
              <a:rPr lang="zh-CN" altLang="en-US" sz="2800" b="0" dirty="0" smtClean="0">
                <a:solidFill>
                  <a:srgbClr val="000000"/>
                </a:solidFill>
              </a:rPr>
              <a:t>反映现象的结构和分布</a:t>
            </a:r>
            <a:endParaRPr lang="zh-CN" altLang="en-US" sz="2800" dirty="0" smtClean="0">
              <a:solidFill>
                <a:srgbClr val="000000"/>
              </a:solidFill>
            </a:endParaRPr>
          </a:p>
          <a:p>
            <a:pPr eaLnBrk="1" hangingPunct="1">
              <a:lnSpc>
                <a:spcPct val="125000"/>
              </a:lnSpc>
              <a:buFontTx/>
              <a:buNone/>
            </a:pPr>
            <a:r>
              <a:rPr lang="zh-CN" altLang="en-US" sz="2800" dirty="0" smtClean="0"/>
              <a:t>       比例相对数</a:t>
            </a:r>
            <a:r>
              <a:rPr lang="en-US" altLang="zh-CN" sz="2800" dirty="0" smtClean="0">
                <a:solidFill>
                  <a:srgbClr val="000000"/>
                </a:solidFill>
                <a:latin typeface="Times New Roman" pitchFamily="18" charset="0"/>
              </a:rPr>
              <a:t>——</a:t>
            </a:r>
            <a:r>
              <a:rPr lang="zh-CN" altLang="en-US" sz="2800" b="0" dirty="0" smtClean="0">
                <a:solidFill>
                  <a:srgbClr val="000000"/>
                </a:solidFill>
              </a:rPr>
              <a:t>反映现象内部比例关系</a:t>
            </a:r>
          </a:p>
          <a:p>
            <a:pPr eaLnBrk="1" hangingPunct="1">
              <a:lnSpc>
                <a:spcPct val="125000"/>
              </a:lnSpc>
              <a:buFontTx/>
              <a:buNone/>
            </a:pPr>
            <a:r>
              <a:rPr lang="zh-CN" altLang="en-US" sz="2800" dirty="0" smtClean="0"/>
              <a:t>       比较相对数</a:t>
            </a:r>
            <a:r>
              <a:rPr lang="en-US" altLang="zh-CN" sz="2800" dirty="0" smtClean="0">
                <a:solidFill>
                  <a:srgbClr val="000000"/>
                </a:solidFill>
                <a:latin typeface="Times New Roman" pitchFamily="18" charset="0"/>
              </a:rPr>
              <a:t>——</a:t>
            </a:r>
            <a:r>
              <a:rPr lang="zh-CN" altLang="en-US" sz="2800" b="0" dirty="0" smtClean="0">
                <a:solidFill>
                  <a:srgbClr val="000000"/>
                </a:solidFill>
              </a:rPr>
              <a:t>评价不同单位的实力、优劣</a:t>
            </a:r>
          </a:p>
          <a:p>
            <a:pPr eaLnBrk="1" hangingPunct="1">
              <a:lnSpc>
                <a:spcPct val="125000"/>
              </a:lnSpc>
              <a:buFontTx/>
              <a:buNone/>
            </a:pPr>
            <a:r>
              <a:rPr lang="zh-CN" altLang="en-US" sz="2800" dirty="0" smtClean="0"/>
              <a:t>　　动态相对数</a:t>
            </a:r>
            <a:r>
              <a:rPr lang="en-US" altLang="zh-CN" sz="2800" dirty="0" smtClean="0">
                <a:solidFill>
                  <a:srgbClr val="000000"/>
                </a:solidFill>
                <a:latin typeface="Times New Roman" pitchFamily="18" charset="0"/>
              </a:rPr>
              <a:t>——</a:t>
            </a:r>
            <a:r>
              <a:rPr lang="zh-CN" altLang="en-US" sz="2800" b="0" dirty="0" smtClean="0">
                <a:solidFill>
                  <a:srgbClr val="000000"/>
                </a:solidFill>
              </a:rPr>
              <a:t>反映现象发展变化的状态</a:t>
            </a:r>
            <a:endParaRPr lang="zh-CN" altLang="en-US" sz="2800" dirty="0" smtClean="0">
              <a:solidFill>
                <a:srgbClr val="000000"/>
              </a:solidFill>
            </a:endParaRPr>
          </a:p>
          <a:p>
            <a:pPr eaLnBrk="1" hangingPunct="1">
              <a:lnSpc>
                <a:spcPct val="125000"/>
              </a:lnSpc>
              <a:buNone/>
            </a:pPr>
            <a:r>
              <a:rPr lang="zh-CN" altLang="en-US" sz="2800" dirty="0" smtClean="0"/>
              <a:t>       计划完成相对数</a:t>
            </a:r>
            <a:r>
              <a:rPr lang="en-US" altLang="zh-CN" sz="2800" dirty="0" smtClean="0">
                <a:solidFill>
                  <a:srgbClr val="000000"/>
                </a:solidFill>
                <a:latin typeface="Times New Roman" pitchFamily="18" charset="0"/>
              </a:rPr>
              <a:t>——</a:t>
            </a:r>
            <a:r>
              <a:rPr lang="zh-CN" altLang="en-US" sz="2800" b="0" dirty="0" smtClean="0">
                <a:solidFill>
                  <a:srgbClr val="000000"/>
                </a:solidFill>
              </a:rPr>
              <a:t>检查计划完成程度</a:t>
            </a:r>
            <a:endParaRPr lang="en-US" altLang="zh-CN" sz="2800" b="0" dirty="0" smtClean="0">
              <a:solidFill>
                <a:srgbClr val="000000"/>
              </a:solidFill>
            </a:endParaRPr>
          </a:p>
          <a:p>
            <a:pPr eaLnBrk="1" hangingPunct="1">
              <a:lnSpc>
                <a:spcPct val="125000"/>
              </a:lnSpc>
              <a:buNone/>
            </a:pPr>
            <a:r>
              <a:rPr lang="zh-CN" altLang="en-US" sz="2800" dirty="0" smtClean="0"/>
              <a:t>       强度</a:t>
            </a:r>
            <a:r>
              <a:rPr lang="zh-CN" altLang="en-US" sz="2800" dirty="0"/>
              <a:t>相对数</a:t>
            </a:r>
            <a:r>
              <a:rPr lang="en-US" altLang="zh-CN" sz="2800" dirty="0">
                <a:solidFill>
                  <a:srgbClr val="000000"/>
                </a:solidFill>
                <a:latin typeface="Times New Roman" pitchFamily="18" charset="0"/>
              </a:rPr>
              <a:t>——</a:t>
            </a:r>
            <a:r>
              <a:rPr lang="zh-CN" altLang="en-US" sz="2800" b="0" dirty="0">
                <a:solidFill>
                  <a:srgbClr val="000000"/>
                </a:solidFill>
              </a:rPr>
              <a:t>反映现象强度、密度和普遍程度</a:t>
            </a:r>
            <a:endParaRPr lang="zh-CN" altLang="en-US" sz="2800" dirty="0">
              <a:solidFill>
                <a:srgbClr val="000000"/>
              </a:solidFill>
            </a:endParaRPr>
          </a:p>
          <a:p>
            <a:pPr eaLnBrk="1" hangingPunct="1">
              <a:lnSpc>
                <a:spcPct val="125000"/>
              </a:lnSpc>
              <a:buFontTx/>
              <a:buNone/>
            </a:pPr>
            <a:endParaRPr lang="zh-CN" altLang="en-US" sz="2800" b="0" dirty="0" smtClean="0">
              <a:solidFill>
                <a:srgbClr val="000000"/>
              </a:solidFill>
            </a:endParaRPr>
          </a:p>
        </p:txBody>
      </p:sp>
      <p:sp>
        <p:nvSpPr>
          <p:cNvPr id="98309" name="Rectangle 4"/>
          <p:cNvSpPr>
            <a:spLocks noChangeArrowheads="1"/>
          </p:cNvSpPr>
          <p:nvPr/>
        </p:nvSpPr>
        <p:spPr bwMode="auto">
          <a:xfrm>
            <a:off x="468313" y="2060575"/>
            <a:ext cx="661987" cy="701675"/>
          </a:xfrm>
          <a:prstGeom prst="rect">
            <a:avLst/>
          </a:prstGeom>
          <a:noFill/>
          <a:ln w="9525">
            <a:noFill/>
            <a:miter lim="800000"/>
            <a:headEnd/>
            <a:tailEnd/>
          </a:ln>
        </p:spPr>
        <p:txBody>
          <a:bodyPr wrap="none">
            <a:spAutoFit/>
          </a:bodyPr>
          <a:lstStyle/>
          <a:p>
            <a:r>
              <a:rPr lang="en-US" altLang="zh-CN" sz="4000">
                <a:solidFill>
                  <a:srgbClr val="CC9900"/>
                </a:solidFill>
                <a:latin typeface="Tahoma" pitchFamily="34" charset="0"/>
                <a:ea typeface="宋体" pitchFamily="2" charset="-122"/>
                <a:sym typeface="Wingdings 2" pitchFamily="18" charset="2"/>
              </a:rPr>
              <a:t></a:t>
            </a:r>
          </a:p>
        </p:txBody>
      </p:sp>
      <p:sp>
        <p:nvSpPr>
          <p:cNvPr id="98310" name="Rectangle 5"/>
          <p:cNvSpPr>
            <a:spLocks noChangeArrowheads="1"/>
          </p:cNvSpPr>
          <p:nvPr/>
        </p:nvSpPr>
        <p:spPr bwMode="auto">
          <a:xfrm>
            <a:off x="468313" y="2743200"/>
            <a:ext cx="661987" cy="701675"/>
          </a:xfrm>
          <a:prstGeom prst="rect">
            <a:avLst/>
          </a:prstGeom>
          <a:noFill/>
          <a:ln w="9525">
            <a:noFill/>
            <a:miter lim="800000"/>
            <a:headEnd/>
            <a:tailEnd/>
          </a:ln>
        </p:spPr>
        <p:txBody>
          <a:bodyPr wrap="none">
            <a:spAutoFit/>
          </a:bodyPr>
          <a:lstStyle/>
          <a:p>
            <a:r>
              <a:rPr lang="en-US" altLang="zh-CN" sz="4000">
                <a:solidFill>
                  <a:srgbClr val="CC9900"/>
                </a:solidFill>
                <a:latin typeface="Tahoma" pitchFamily="34" charset="0"/>
                <a:ea typeface="宋体" pitchFamily="2" charset="-122"/>
                <a:sym typeface="Wingdings 2" pitchFamily="18" charset="2"/>
              </a:rPr>
              <a:t></a:t>
            </a:r>
          </a:p>
        </p:txBody>
      </p:sp>
      <p:sp>
        <p:nvSpPr>
          <p:cNvPr id="98311" name="Rectangle 6"/>
          <p:cNvSpPr>
            <a:spLocks noChangeArrowheads="1"/>
          </p:cNvSpPr>
          <p:nvPr/>
        </p:nvSpPr>
        <p:spPr bwMode="auto">
          <a:xfrm>
            <a:off x="468313" y="3962400"/>
            <a:ext cx="661987" cy="701675"/>
          </a:xfrm>
          <a:prstGeom prst="rect">
            <a:avLst/>
          </a:prstGeom>
          <a:noFill/>
          <a:ln w="9525">
            <a:noFill/>
            <a:miter lim="800000"/>
            <a:headEnd/>
            <a:tailEnd/>
          </a:ln>
        </p:spPr>
        <p:txBody>
          <a:bodyPr wrap="none">
            <a:spAutoFit/>
          </a:bodyPr>
          <a:lstStyle/>
          <a:p>
            <a:r>
              <a:rPr lang="en-US" altLang="zh-CN" sz="4000">
                <a:solidFill>
                  <a:srgbClr val="CC9900"/>
                </a:solidFill>
                <a:latin typeface="Tahoma" pitchFamily="34" charset="0"/>
                <a:ea typeface="宋体" pitchFamily="2" charset="-122"/>
                <a:sym typeface="Wingdings 2" pitchFamily="18" charset="2"/>
              </a:rPr>
              <a:t></a:t>
            </a:r>
          </a:p>
        </p:txBody>
      </p:sp>
      <p:sp>
        <p:nvSpPr>
          <p:cNvPr id="98312" name="Rectangle 7"/>
          <p:cNvSpPr>
            <a:spLocks noChangeArrowheads="1"/>
          </p:cNvSpPr>
          <p:nvPr/>
        </p:nvSpPr>
        <p:spPr bwMode="auto">
          <a:xfrm>
            <a:off x="468313" y="3276600"/>
            <a:ext cx="661987" cy="701675"/>
          </a:xfrm>
          <a:prstGeom prst="rect">
            <a:avLst/>
          </a:prstGeom>
          <a:noFill/>
          <a:ln w="9525">
            <a:noFill/>
            <a:miter lim="800000"/>
            <a:headEnd/>
            <a:tailEnd/>
          </a:ln>
        </p:spPr>
        <p:txBody>
          <a:bodyPr wrap="none">
            <a:spAutoFit/>
          </a:bodyPr>
          <a:lstStyle/>
          <a:p>
            <a:r>
              <a:rPr lang="en-US" altLang="zh-CN" sz="4000">
                <a:solidFill>
                  <a:srgbClr val="CC9900"/>
                </a:solidFill>
                <a:latin typeface="Tahoma" pitchFamily="34" charset="0"/>
                <a:ea typeface="宋体" pitchFamily="2" charset="-122"/>
                <a:sym typeface="Wingdings 2" pitchFamily="18" charset="2"/>
              </a:rPr>
              <a:t></a:t>
            </a:r>
          </a:p>
        </p:txBody>
      </p:sp>
      <p:sp>
        <p:nvSpPr>
          <p:cNvPr id="98313" name="Rectangle 8"/>
          <p:cNvSpPr>
            <a:spLocks noChangeArrowheads="1"/>
          </p:cNvSpPr>
          <p:nvPr/>
        </p:nvSpPr>
        <p:spPr bwMode="auto">
          <a:xfrm>
            <a:off x="468313" y="4572000"/>
            <a:ext cx="661987" cy="701675"/>
          </a:xfrm>
          <a:prstGeom prst="rect">
            <a:avLst/>
          </a:prstGeom>
          <a:noFill/>
          <a:ln w="9525">
            <a:noFill/>
            <a:miter lim="800000"/>
            <a:headEnd/>
            <a:tailEnd/>
          </a:ln>
        </p:spPr>
        <p:txBody>
          <a:bodyPr wrap="none">
            <a:spAutoFit/>
          </a:bodyPr>
          <a:lstStyle/>
          <a:p>
            <a:r>
              <a:rPr lang="en-US" altLang="zh-CN" sz="4000" dirty="0">
                <a:solidFill>
                  <a:srgbClr val="CC9900"/>
                </a:solidFill>
                <a:latin typeface="Tahoma" pitchFamily="34" charset="0"/>
                <a:ea typeface="宋体" pitchFamily="2" charset="-122"/>
                <a:sym typeface="Wingdings 2" pitchFamily="18" charset="2"/>
              </a:rPr>
              <a:t></a:t>
            </a:r>
          </a:p>
        </p:txBody>
      </p:sp>
      <p:sp>
        <p:nvSpPr>
          <p:cNvPr id="98314" name="Rectangle 9"/>
          <p:cNvSpPr>
            <a:spLocks noChangeArrowheads="1"/>
          </p:cNvSpPr>
          <p:nvPr/>
        </p:nvSpPr>
        <p:spPr bwMode="auto">
          <a:xfrm>
            <a:off x="468313" y="5257800"/>
            <a:ext cx="547786" cy="707886"/>
          </a:xfrm>
          <a:prstGeom prst="rect">
            <a:avLst/>
          </a:prstGeom>
          <a:noFill/>
          <a:ln w="9525">
            <a:noFill/>
            <a:miter lim="800000"/>
            <a:headEnd/>
            <a:tailEnd/>
          </a:ln>
        </p:spPr>
        <p:txBody>
          <a:bodyPr wrap="square">
            <a:spAutoFit/>
          </a:bodyPr>
          <a:lstStyle/>
          <a:p>
            <a:r>
              <a:rPr lang="en-US" altLang="zh-CN" sz="4000" dirty="0" smtClean="0">
                <a:solidFill>
                  <a:srgbClr val="CC9900"/>
                </a:solidFill>
                <a:latin typeface="Tahoma" pitchFamily="34" charset="0"/>
                <a:ea typeface="宋体" pitchFamily="2" charset="-122"/>
                <a:sym typeface="Wingdings 2" pitchFamily="18" charset="2"/>
              </a:rPr>
              <a:t></a:t>
            </a:r>
            <a:endParaRPr lang="en-US" altLang="zh-CN" sz="4000" dirty="0">
              <a:solidFill>
                <a:srgbClr val="CC9900"/>
              </a:solidFill>
              <a:latin typeface="Tahoma" pitchFamily="34" charset="0"/>
              <a:ea typeface="宋体" pitchFamily="2" charset="-122"/>
              <a:sym typeface="Wingdings 2" pitchFamily="18" charset="2"/>
            </a:endParaRPr>
          </a:p>
        </p:txBody>
      </p:sp>
      <p:sp>
        <p:nvSpPr>
          <p:cNvPr id="11" name="灯片编号占位符 10"/>
          <p:cNvSpPr>
            <a:spLocks noGrp="1"/>
          </p:cNvSpPr>
          <p:nvPr>
            <p:ph type="sldNum" sz="quarter" idx="12"/>
          </p:nvPr>
        </p:nvSpPr>
        <p:spPr/>
        <p:txBody>
          <a:bodyPr/>
          <a:lstStyle/>
          <a:p>
            <a:pPr>
              <a:defRPr/>
            </a:pPr>
            <a:fld id="{62FC49CA-8014-4DA2-ABEB-AF96863EC77D}" type="slidenum">
              <a:rPr lang="en-US" altLang="zh-CN" smtClean="0"/>
              <a:pPr>
                <a:defRPr/>
              </a:pPr>
              <a:t>39</a:t>
            </a:fld>
            <a:endParaRPr lang="en-US" altLang="zh-CN"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a:xfrm>
            <a:off x="539552" y="476672"/>
            <a:ext cx="7916416" cy="864096"/>
          </a:xfrm>
        </p:spPr>
        <p:txBody>
          <a:bodyPr/>
          <a:lstStyle/>
          <a:p>
            <a:pPr eaLnBrk="1" hangingPunct="1"/>
            <a:r>
              <a:rPr lang="zh-CN" altLang="en-US" sz="3200" dirty="0" smtClean="0">
                <a:solidFill>
                  <a:srgbClr val="1313FF"/>
                </a:solidFill>
              </a:rPr>
              <a:t>（三）计算和应用相对指标应注意的问题</a:t>
            </a:r>
          </a:p>
        </p:txBody>
      </p:sp>
      <p:sp>
        <p:nvSpPr>
          <p:cNvPr id="99332" name="Rectangle 3"/>
          <p:cNvSpPr>
            <a:spLocks noGrp="1" noChangeArrowheads="1"/>
          </p:cNvSpPr>
          <p:nvPr>
            <p:ph type="body" idx="1"/>
          </p:nvPr>
        </p:nvSpPr>
        <p:spPr>
          <a:xfrm>
            <a:off x="971600" y="1484784"/>
            <a:ext cx="7269162" cy="4896544"/>
          </a:xfrm>
        </p:spPr>
        <p:txBody>
          <a:bodyPr/>
          <a:lstStyle/>
          <a:p>
            <a:pPr lvl="1" eaLnBrk="1" hangingPunct="1">
              <a:spcBef>
                <a:spcPts val="600"/>
              </a:spcBef>
            </a:pPr>
            <a:r>
              <a:rPr lang="zh-CN" altLang="en-US" dirty="0" smtClean="0"/>
              <a:t>正确选择比较基础</a:t>
            </a:r>
          </a:p>
          <a:p>
            <a:pPr lvl="2" eaLnBrk="1" hangingPunct="1">
              <a:spcBef>
                <a:spcPts val="600"/>
              </a:spcBef>
            </a:pPr>
            <a:r>
              <a:rPr lang="zh-CN" altLang="en-US" dirty="0" smtClean="0">
                <a:solidFill>
                  <a:srgbClr val="002060"/>
                </a:solidFill>
              </a:rPr>
              <a:t>如失业率、就业率的计算</a:t>
            </a:r>
          </a:p>
          <a:p>
            <a:pPr lvl="1" eaLnBrk="1" hangingPunct="1">
              <a:spcBef>
                <a:spcPts val="600"/>
              </a:spcBef>
            </a:pPr>
            <a:r>
              <a:rPr lang="zh-CN" altLang="en-US" dirty="0" smtClean="0"/>
              <a:t>确保分子分母的可比性</a:t>
            </a:r>
          </a:p>
          <a:p>
            <a:pPr lvl="2" eaLnBrk="1" hangingPunct="1">
              <a:spcBef>
                <a:spcPts val="600"/>
              </a:spcBef>
            </a:pPr>
            <a:r>
              <a:rPr lang="zh-CN" altLang="en-US" dirty="0" smtClean="0">
                <a:solidFill>
                  <a:srgbClr val="002060"/>
                </a:solidFill>
              </a:rPr>
              <a:t>指标内容、口径范围、计算方法、时间等</a:t>
            </a:r>
            <a:endParaRPr lang="en-US" altLang="zh-CN" dirty="0" smtClean="0">
              <a:solidFill>
                <a:srgbClr val="002060"/>
              </a:solidFill>
            </a:endParaRPr>
          </a:p>
          <a:p>
            <a:pPr lvl="1" eaLnBrk="1" hangingPunct="1">
              <a:spcBef>
                <a:spcPts val="600"/>
              </a:spcBef>
            </a:pPr>
            <a:r>
              <a:rPr lang="zh-CN" altLang="en-US" dirty="0" smtClean="0"/>
              <a:t>相对数与绝对数结合运用</a:t>
            </a:r>
          </a:p>
          <a:p>
            <a:pPr lvl="2" eaLnBrk="1" hangingPunct="1">
              <a:spcBef>
                <a:spcPts val="600"/>
              </a:spcBef>
            </a:pPr>
            <a:r>
              <a:rPr lang="zh-CN" altLang="en-US" sz="2000" dirty="0" smtClean="0">
                <a:solidFill>
                  <a:srgbClr val="002060"/>
                </a:solidFill>
              </a:rPr>
              <a:t>产品合格率若能达到</a:t>
            </a:r>
            <a:r>
              <a:rPr lang="en-US" altLang="zh-CN" sz="2000" dirty="0" smtClean="0">
                <a:solidFill>
                  <a:srgbClr val="002060"/>
                </a:solidFill>
              </a:rPr>
              <a:t>99.99%</a:t>
            </a:r>
            <a:r>
              <a:rPr lang="zh-CN" altLang="en-US" sz="2000" dirty="0" smtClean="0">
                <a:solidFill>
                  <a:srgbClr val="002060"/>
                </a:solidFill>
              </a:rPr>
              <a:t>是非常高了，但阿波罗宇宙飞船上零件达五千六百万个，</a:t>
            </a:r>
            <a:r>
              <a:rPr lang="en-US" altLang="zh-CN" sz="2000" dirty="0" smtClean="0">
                <a:solidFill>
                  <a:srgbClr val="002060"/>
                </a:solidFill>
              </a:rPr>
              <a:t>0.001%【</a:t>
            </a:r>
            <a:r>
              <a:rPr lang="zh-CN" altLang="en-US" sz="2000" dirty="0" smtClean="0">
                <a:solidFill>
                  <a:srgbClr val="002060"/>
                </a:solidFill>
              </a:rPr>
              <a:t>十万分之一</a:t>
            </a:r>
            <a:r>
              <a:rPr lang="en-US" altLang="zh-CN" sz="2000" dirty="0" smtClean="0">
                <a:solidFill>
                  <a:srgbClr val="002060"/>
                </a:solidFill>
              </a:rPr>
              <a:t>】</a:t>
            </a:r>
            <a:r>
              <a:rPr lang="zh-CN" altLang="en-US" sz="2000" dirty="0" smtClean="0">
                <a:solidFill>
                  <a:srgbClr val="002060"/>
                </a:solidFill>
              </a:rPr>
              <a:t>的不合格意味着什么？</a:t>
            </a:r>
          </a:p>
          <a:p>
            <a:pPr lvl="1" eaLnBrk="1" hangingPunct="1">
              <a:spcBef>
                <a:spcPts val="600"/>
              </a:spcBef>
            </a:pPr>
            <a:r>
              <a:rPr lang="zh-CN" altLang="en-US" dirty="0" smtClean="0"/>
              <a:t>多种相对数综合运用</a:t>
            </a:r>
          </a:p>
          <a:p>
            <a:pPr lvl="2" eaLnBrk="1" hangingPunct="1">
              <a:spcBef>
                <a:spcPts val="600"/>
              </a:spcBef>
            </a:pPr>
            <a:r>
              <a:rPr lang="zh-CN" altLang="en-US" dirty="0" smtClean="0">
                <a:solidFill>
                  <a:srgbClr val="002060"/>
                </a:solidFill>
              </a:rPr>
              <a:t>一个相对指标只能说明一个方面的联系或对比关系</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40</a:t>
            </a:fld>
            <a:endParaRPr lang="en-US" altLang="zh-CN"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ctrTitle"/>
          </p:nvPr>
        </p:nvSpPr>
        <p:spPr>
          <a:xfrm>
            <a:off x="898525" y="1612107"/>
            <a:ext cx="7345883" cy="1600200"/>
          </a:xfrm>
        </p:spPr>
        <p:txBody>
          <a:bodyPr/>
          <a:lstStyle/>
          <a:p>
            <a:pPr eaLnBrk="1" hangingPunct="1"/>
            <a:r>
              <a:rPr lang="en-US" altLang="zh-CN" sz="4800" dirty="0" smtClean="0"/>
              <a:t>3.2  </a:t>
            </a:r>
            <a:r>
              <a:rPr lang="zh-CN" altLang="en-US" dirty="0" smtClean="0"/>
              <a:t>数据</a:t>
            </a:r>
            <a:r>
              <a:rPr lang="zh-CN" altLang="en-US" dirty="0"/>
              <a:t>集中趋势的</a:t>
            </a:r>
            <a:r>
              <a:rPr lang="zh-CN" altLang="en-US" dirty="0" smtClean="0"/>
              <a:t>描述</a:t>
            </a:r>
            <a:r>
              <a:rPr lang="en-US" altLang="zh-CN" dirty="0" smtClean="0"/>
              <a:t/>
            </a:r>
            <a:br>
              <a:rPr lang="en-US" altLang="zh-CN" dirty="0" smtClean="0"/>
            </a:br>
            <a:r>
              <a:rPr lang="zh-CN" altLang="en-US" dirty="0" smtClean="0"/>
              <a:t> </a:t>
            </a:r>
            <a:r>
              <a:rPr lang="en-US" altLang="zh-CN" sz="4000" b="0" dirty="0" smtClean="0">
                <a:latin typeface="Times New Roman" pitchFamily="18" charset="0"/>
              </a:rPr>
              <a:t>——</a:t>
            </a:r>
            <a:r>
              <a:rPr lang="zh-CN" altLang="en-US" sz="4000" b="0" dirty="0" smtClean="0"/>
              <a:t>平均指标</a:t>
            </a:r>
            <a:endParaRPr lang="zh-CN" altLang="en-US" sz="3600" b="0" dirty="0" smtClean="0"/>
          </a:p>
        </p:txBody>
      </p:sp>
      <p:sp>
        <p:nvSpPr>
          <p:cNvPr id="101380" name="Rectangle 3"/>
          <p:cNvSpPr>
            <a:spLocks noChangeArrowheads="1"/>
          </p:cNvSpPr>
          <p:nvPr/>
        </p:nvSpPr>
        <p:spPr bwMode="auto">
          <a:xfrm>
            <a:off x="1043608" y="3500438"/>
            <a:ext cx="7343155" cy="2447925"/>
          </a:xfrm>
          <a:prstGeom prst="rect">
            <a:avLst/>
          </a:prstGeom>
          <a:noFill/>
          <a:ln w="9525">
            <a:noFill/>
            <a:miter lim="800000"/>
            <a:headEnd/>
            <a:tailEnd/>
          </a:ln>
        </p:spPr>
        <p:txBody>
          <a:bodyPr/>
          <a:lstStyle/>
          <a:p>
            <a:pPr marL="742950" lvl="1" indent="-285750" algn="just">
              <a:lnSpc>
                <a:spcPct val="120000"/>
              </a:lnSpc>
              <a:spcBef>
                <a:spcPct val="20000"/>
              </a:spcBef>
              <a:buSzPct val="80000"/>
            </a:pPr>
            <a:r>
              <a:rPr lang="en-US" altLang="zh-CN" sz="3600" b="1" dirty="0" smtClean="0">
                <a:solidFill>
                  <a:srgbClr val="000000"/>
                </a:solidFill>
                <a:latin typeface="Tahoma" pitchFamily="34" charset="0"/>
                <a:ea typeface="宋体" pitchFamily="2" charset="-122"/>
              </a:rPr>
              <a:t>3.2.1 </a:t>
            </a:r>
            <a:r>
              <a:rPr lang="zh-CN" altLang="en-US" sz="3600" b="1" dirty="0">
                <a:solidFill>
                  <a:srgbClr val="000000"/>
                </a:solidFill>
                <a:latin typeface="Tahoma" pitchFamily="34" charset="0"/>
                <a:ea typeface="宋体" pitchFamily="2" charset="-122"/>
              </a:rPr>
              <a:t>数值平均数</a:t>
            </a:r>
          </a:p>
          <a:p>
            <a:pPr marL="742950" lvl="1" indent="-285750" algn="just">
              <a:lnSpc>
                <a:spcPct val="120000"/>
              </a:lnSpc>
              <a:spcBef>
                <a:spcPct val="20000"/>
              </a:spcBef>
              <a:buSzPct val="80000"/>
            </a:pPr>
            <a:r>
              <a:rPr lang="en-US" altLang="zh-CN" sz="3600" b="1" dirty="0" smtClean="0">
                <a:solidFill>
                  <a:srgbClr val="000000"/>
                </a:solidFill>
                <a:latin typeface="Tahoma" pitchFamily="34" charset="0"/>
                <a:ea typeface="宋体" pitchFamily="2" charset="-122"/>
              </a:rPr>
              <a:t>3.3.2 </a:t>
            </a:r>
            <a:r>
              <a:rPr lang="zh-CN" altLang="en-US" sz="3600" b="1" dirty="0">
                <a:solidFill>
                  <a:srgbClr val="000000"/>
                </a:solidFill>
                <a:latin typeface="Tahoma" pitchFamily="34" charset="0"/>
                <a:ea typeface="宋体" pitchFamily="2" charset="-122"/>
              </a:rPr>
              <a:t>位置平均数</a:t>
            </a:r>
          </a:p>
          <a:p>
            <a:pPr marL="742950" lvl="1" indent="-285750" algn="just">
              <a:lnSpc>
                <a:spcPct val="120000"/>
              </a:lnSpc>
              <a:spcBef>
                <a:spcPct val="20000"/>
              </a:spcBef>
              <a:buSzPct val="80000"/>
            </a:pPr>
            <a:r>
              <a:rPr lang="en-US" altLang="zh-CN" sz="3600" b="1" dirty="0" smtClean="0">
                <a:solidFill>
                  <a:srgbClr val="000000"/>
                </a:solidFill>
                <a:latin typeface="Tahoma" pitchFamily="34" charset="0"/>
                <a:ea typeface="宋体" pitchFamily="2" charset="-122"/>
              </a:rPr>
              <a:t>3.3.3 </a:t>
            </a:r>
            <a:r>
              <a:rPr lang="zh-CN" altLang="en-US" sz="2800" b="1" dirty="0">
                <a:solidFill>
                  <a:srgbClr val="000000"/>
                </a:solidFill>
                <a:latin typeface="Tahoma" pitchFamily="34" charset="0"/>
                <a:ea typeface="宋体" pitchFamily="2" charset="-122"/>
              </a:rPr>
              <a:t>计算和应用平均指标应注意的问题</a:t>
            </a:r>
            <a:r>
              <a:rPr lang="zh-CN" altLang="en-US" sz="3200" b="1" dirty="0">
                <a:solidFill>
                  <a:srgbClr val="3333FF"/>
                </a:solidFill>
                <a:latin typeface="Tahoma" pitchFamily="34" charset="0"/>
                <a:ea typeface="宋体" pitchFamily="2" charset="-122"/>
              </a:rPr>
              <a:t> </a:t>
            </a:r>
          </a:p>
        </p:txBody>
      </p:sp>
      <p:sp>
        <p:nvSpPr>
          <p:cNvPr id="6" name="灯片编号占位符 5"/>
          <p:cNvSpPr>
            <a:spLocks noGrp="1"/>
          </p:cNvSpPr>
          <p:nvPr>
            <p:ph type="sldNum" sz="quarter" idx="12"/>
          </p:nvPr>
        </p:nvSpPr>
        <p:spPr/>
        <p:txBody>
          <a:bodyPr/>
          <a:lstStyle/>
          <a:p>
            <a:pPr>
              <a:defRPr/>
            </a:pPr>
            <a:fld id="{115FE61E-FA6F-4312-971A-B6F10F3D3BF0}" type="slidenum">
              <a:rPr lang="en-US" altLang="zh-CN" smtClean="0"/>
              <a:pPr>
                <a:defRPr/>
              </a:pPr>
              <a:t>41</a:t>
            </a:fld>
            <a:endParaRPr lang="en-US" altLang="zh-CN"/>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a:xfrm>
            <a:off x="827088" y="350838"/>
            <a:ext cx="7772400" cy="990600"/>
          </a:xfrm>
        </p:spPr>
        <p:txBody>
          <a:bodyPr/>
          <a:lstStyle/>
          <a:p>
            <a:pPr eaLnBrk="1" hangingPunct="1"/>
            <a:r>
              <a:rPr lang="zh-CN" altLang="en-US" dirty="0" smtClean="0">
                <a:solidFill>
                  <a:srgbClr val="1313FF"/>
                </a:solidFill>
              </a:rPr>
              <a:t>集中趋势</a:t>
            </a:r>
            <a:r>
              <a:rPr lang="en-US" altLang="zh-CN" sz="4000" dirty="0" smtClean="0">
                <a:solidFill>
                  <a:srgbClr val="1313FF"/>
                </a:solidFill>
                <a:latin typeface="Times New Roman" pitchFamily="18" charset="0"/>
                <a:cs typeface="Times New Roman" pitchFamily="18" charset="0"/>
              </a:rPr>
              <a:t>(Central tendency)</a:t>
            </a:r>
          </a:p>
        </p:txBody>
      </p:sp>
      <p:sp>
        <p:nvSpPr>
          <p:cNvPr id="102404" name="Rectangle 3"/>
          <p:cNvSpPr>
            <a:spLocks noGrp="1" noChangeArrowheads="1"/>
          </p:cNvSpPr>
          <p:nvPr>
            <p:ph type="body" idx="1"/>
          </p:nvPr>
        </p:nvSpPr>
        <p:spPr/>
        <p:txBody>
          <a:bodyPr/>
          <a:lstStyle/>
          <a:p>
            <a:pPr eaLnBrk="1" hangingPunct="1">
              <a:lnSpc>
                <a:spcPct val="115000"/>
              </a:lnSpc>
              <a:spcBef>
                <a:spcPct val="35000"/>
              </a:spcBef>
            </a:pPr>
            <a:r>
              <a:rPr lang="zh-CN" altLang="en-US" smtClean="0">
                <a:solidFill>
                  <a:srgbClr val="1313FF"/>
                </a:solidFill>
              </a:rPr>
              <a:t>集中趋势</a:t>
            </a:r>
            <a:r>
              <a:rPr lang="en-US" altLang="zh-CN" smtClean="0">
                <a:solidFill>
                  <a:srgbClr val="1313FF"/>
                </a:solidFill>
                <a:latin typeface="Times New Roman" pitchFamily="18" charset="0"/>
              </a:rPr>
              <a:t>——</a:t>
            </a:r>
            <a:r>
              <a:rPr lang="zh-CN" altLang="en-US" smtClean="0">
                <a:solidFill>
                  <a:srgbClr val="000000"/>
                </a:solidFill>
              </a:rPr>
              <a:t>一组数据向其中心值靠拢的倾向和态势；</a:t>
            </a:r>
          </a:p>
          <a:p>
            <a:pPr eaLnBrk="1" hangingPunct="1">
              <a:lnSpc>
                <a:spcPct val="115000"/>
              </a:lnSpc>
              <a:spcBef>
                <a:spcPct val="35000"/>
              </a:spcBef>
            </a:pPr>
            <a:r>
              <a:rPr lang="zh-CN" altLang="en-US" smtClean="0">
                <a:solidFill>
                  <a:srgbClr val="000000"/>
                </a:solidFill>
              </a:rPr>
              <a:t>测度集中趋势就是寻找数据一般水平的代表值或中心值</a:t>
            </a:r>
            <a:r>
              <a:rPr lang="en-US" altLang="zh-CN" smtClean="0">
                <a:solidFill>
                  <a:srgbClr val="1313FF"/>
                </a:solidFill>
                <a:latin typeface="Times New Roman" pitchFamily="18" charset="0"/>
              </a:rPr>
              <a:t>——</a:t>
            </a:r>
            <a:r>
              <a:rPr lang="zh-CN" altLang="en-US" smtClean="0">
                <a:solidFill>
                  <a:srgbClr val="1313FF"/>
                </a:solidFill>
              </a:rPr>
              <a:t>平均指标。</a:t>
            </a:r>
          </a:p>
          <a:p>
            <a:pPr eaLnBrk="1" hangingPunct="1">
              <a:lnSpc>
                <a:spcPct val="115000"/>
              </a:lnSpc>
              <a:spcBef>
                <a:spcPct val="35000"/>
              </a:spcBef>
            </a:pPr>
            <a:endParaRPr lang="en-US" altLang="zh-CN" smtClean="0"/>
          </a:p>
        </p:txBody>
      </p:sp>
      <p:grpSp>
        <p:nvGrpSpPr>
          <p:cNvPr id="102405" name="Group 4"/>
          <p:cNvGrpSpPr>
            <a:grpSpLocks/>
          </p:cNvGrpSpPr>
          <p:nvPr/>
        </p:nvGrpSpPr>
        <p:grpSpPr bwMode="auto">
          <a:xfrm>
            <a:off x="2339975" y="4292600"/>
            <a:ext cx="4686300" cy="1828800"/>
            <a:chOff x="1488" y="2784"/>
            <a:chExt cx="2952" cy="1152"/>
          </a:xfrm>
        </p:grpSpPr>
        <p:sp>
          <p:nvSpPr>
            <p:cNvPr id="539653" name="Line 5"/>
            <p:cNvSpPr>
              <a:spLocks noChangeShapeType="1"/>
            </p:cNvSpPr>
            <p:nvPr/>
          </p:nvSpPr>
          <p:spPr bwMode="auto">
            <a:xfrm flipH="1" flipV="1">
              <a:off x="2928" y="3744"/>
              <a:ext cx="624" cy="0"/>
            </a:xfrm>
            <a:prstGeom prst="line">
              <a:avLst/>
            </a:prstGeom>
            <a:noFill/>
            <a:ln w="28575">
              <a:solidFill>
                <a:schemeClr val="tx2"/>
              </a:solidFill>
              <a:round/>
              <a:headEnd/>
              <a:tailEnd type="arrow" w="med" len="med"/>
            </a:ln>
            <a:effectLst>
              <a:outerShdw dist="35921" dir="2700000" algn="ctr" rotWithShape="0">
                <a:schemeClr val="bg2"/>
              </a:outerShdw>
            </a:effectLst>
          </p:spPr>
          <p:txBody>
            <a:bodyPr/>
            <a:lstStyle/>
            <a:p>
              <a:pPr>
                <a:defRPr/>
              </a:pPr>
              <a:endParaRPr lang="zh-CN" altLang="en-US"/>
            </a:p>
          </p:txBody>
        </p:sp>
        <p:grpSp>
          <p:nvGrpSpPr>
            <p:cNvPr id="102407" name="Group 6"/>
            <p:cNvGrpSpPr>
              <a:grpSpLocks/>
            </p:cNvGrpSpPr>
            <p:nvPr/>
          </p:nvGrpSpPr>
          <p:grpSpPr bwMode="auto">
            <a:xfrm>
              <a:off x="1488" y="2784"/>
              <a:ext cx="2952" cy="1152"/>
              <a:chOff x="1488" y="2784"/>
              <a:chExt cx="2952" cy="1152"/>
            </a:xfrm>
          </p:grpSpPr>
          <p:sp>
            <p:nvSpPr>
              <p:cNvPr id="539655" name="Line 7"/>
              <p:cNvSpPr>
                <a:spLocks noChangeShapeType="1"/>
              </p:cNvSpPr>
              <p:nvPr/>
            </p:nvSpPr>
            <p:spPr bwMode="auto">
              <a:xfrm flipV="1">
                <a:off x="1488" y="3936"/>
                <a:ext cx="2952" cy="0"/>
              </a:xfrm>
              <a:prstGeom prst="line">
                <a:avLst/>
              </a:prstGeom>
              <a:noFill/>
              <a:ln w="28575">
                <a:solidFill>
                  <a:srgbClr val="000000"/>
                </a:solidFill>
                <a:round/>
                <a:headEnd/>
                <a:tailEnd type="triangle" w="med" len="med"/>
              </a:ln>
              <a:effectLst>
                <a:outerShdw dist="28398" dir="3806097" algn="ctr" rotWithShape="0">
                  <a:schemeClr val="bg2"/>
                </a:outerShdw>
              </a:effectLst>
            </p:spPr>
            <p:txBody>
              <a:bodyPr/>
              <a:lstStyle/>
              <a:p>
                <a:pPr>
                  <a:defRPr/>
                </a:pPr>
                <a:endParaRPr lang="zh-CN" altLang="en-US"/>
              </a:p>
            </p:txBody>
          </p:sp>
          <p:sp>
            <p:nvSpPr>
              <p:cNvPr id="539656" name="Line 8"/>
              <p:cNvSpPr>
                <a:spLocks noChangeShapeType="1"/>
              </p:cNvSpPr>
              <p:nvPr/>
            </p:nvSpPr>
            <p:spPr bwMode="auto">
              <a:xfrm>
                <a:off x="2880" y="2832"/>
                <a:ext cx="0" cy="1104"/>
              </a:xfrm>
              <a:prstGeom prst="line">
                <a:avLst/>
              </a:prstGeom>
              <a:noFill/>
              <a:ln w="38100">
                <a:solidFill>
                  <a:schemeClr val="folHlink"/>
                </a:solidFill>
                <a:prstDash val="dash"/>
                <a:round/>
                <a:headEnd/>
                <a:tailEnd/>
              </a:ln>
              <a:effectLst>
                <a:outerShdw dist="28398" dir="3806097" algn="ctr" rotWithShape="0">
                  <a:schemeClr val="bg2"/>
                </a:outerShdw>
              </a:effectLst>
            </p:spPr>
            <p:txBody>
              <a:bodyPr/>
              <a:lstStyle/>
              <a:p>
                <a:pPr>
                  <a:defRPr/>
                </a:pPr>
                <a:endParaRPr lang="zh-CN" altLang="en-US"/>
              </a:p>
            </p:txBody>
          </p:sp>
          <p:grpSp>
            <p:nvGrpSpPr>
              <p:cNvPr id="102411" name="Group 9"/>
              <p:cNvGrpSpPr>
                <a:grpSpLocks/>
              </p:cNvGrpSpPr>
              <p:nvPr/>
            </p:nvGrpSpPr>
            <p:grpSpPr bwMode="auto">
              <a:xfrm>
                <a:off x="1584" y="2784"/>
                <a:ext cx="2613" cy="1056"/>
                <a:chOff x="1152" y="2496"/>
                <a:chExt cx="2613" cy="1056"/>
              </a:xfrm>
            </p:grpSpPr>
            <p:sp>
              <p:nvSpPr>
                <p:cNvPr id="539658" name="Freeform 10"/>
                <p:cNvSpPr>
                  <a:spLocks/>
                </p:cNvSpPr>
                <p:nvPr/>
              </p:nvSpPr>
              <p:spPr bwMode="auto">
                <a:xfrm>
                  <a:off x="2448" y="2496"/>
                  <a:ext cx="1317" cy="1038"/>
                </a:xfrm>
                <a:custGeom>
                  <a:avLst/>
                  <a:gdLst/>
                  <a:ahLst/>
                  <a:cxnLst>
                    <a:cxn ang="0">
                      <a:pos x="569" y="674"/>
                    </a:cxn>
                    <a:cxn ang="0">
                      <a:pos x="508" y="667"/>
                    </a:cxn>
                    <a:cxn ang="0">
                      <a:pos x="478" y="659"/>
                    </a:cxn>
                    <a:cxn ang="0">
                      <a:pos x="449" y="648"/>
                    </a:cxn>
                    <a:cxn ang="0">
                      <a:pos x="419" y="633"/>
                    </a:cxn>
                    <a:cxn ang="0">
                      <a:pos x="389" y="612"/>
                    </a:cxn>
                    <a:cxn ang="0">
                      <a:pos x="358" y="583"/>
                    </a:cxn>
                    <a:cxn ang="0">
                      <a:pos x="300" y="506"/>
                    </a:cxn>
                    <a:cxn ang="0">
                      <a:pos x="239" y="396"/>
                    </a:cxn>
                    <a:cxn ang="0">
                      <a:pos x="178" y="263"/>
                    </a:cxn>
                    <a:cxn ang="0">
                      <a:pos x="150" y="197"/>
                    </a:cxn>
                    <a:cxn ang="0">
                      <a:pos x="120" y="133"/>
                    </a:cxn>
                    <a:cxn ang="0">
                      <a:pos x="89" y="78"/>
                    </a:cxn>
                    <a:cxn ang="0">
                      <a:pos x="59" y="36"/>
                    </a:cxn>
                    <a:cxn ang="0">
                      <a:pos x="29" y="10"/>
                    </a:cxn>
                    <a:cxn ang="0">
                      <a:pos x="0" y="0"/>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57150" cap="rnd" cmpd="sng">
                  <a:solidFill>
                    <a:srgbClr val="006600"/>
                  </a:solidFill>
                  <a:prstDash val="solid"/>
                  <a:round/>
                  <a:headEnd type="none" w="med" len="med"/>
                  <a:tailEnd type="none" w="med" len="med"/>
                </a:ln>
                <a:effectLst>
                  <a:outerShdw dist="45791" dir="2021404" algn="ctr" rotWithShape="0">
                    <a:schemeClr val="bg2"/>
                  </a:outerShdw>
                </a:effectLst>
              </p:spPr>
              <p:txBody>
                <a:bodyPr/>
                <a:lstStyle/>
                <a:p>
                  <a:pPr>
                    <a:defRPr/>
                  </a:pPr>
                  <a:endParaRPr lang="zh-CN" altLang="en-US"/>
                </a:p>
              </p:txBody>
            </p:sp>
            <p:sp>
              <p:nvSpPr>
                <p:cNvPr id="539659" name="Freeform 11"/>
                <p:cNvSpPr>
                  <a:spLocks/>
                </p:cNvSpPr>
                <p:nvPr/>
              </p:nvSpPr>
              <p:spPr bwMode="auto">
                <a:xfrm>
                  <a:off x="1152" y="2496"/>
                  <a:ext cx="1294" cy="1056"/>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57150" cap="rnd" cmpd="sng">
                  <a:solidFill>
                    <a:srgbClr val="006600"/>
                  </a:solidFill>
                  <a:prstDash val="solid"/>
                  <a:round/>
                  <a:headEnd type="none" w="med" len="med"/>
                  <a:tailEnd type="none" w="med" len="med"/>
                </a:ln>
                <a:effectLst>
                  <a:outerShdw dist="28398" dir="6993903" algn="ctr" rotWithShape="0">
                    <a:schemeClr val="bg2"/>
                  </a:outerShdw>
                </a:effectLst>
              </p:spPr>
              <p:txBody>
                <a:bodyPr/>
                <a:lstStyle/>
                <a:p>
                  <a:pPr>
                    <a:defRPr/>
                  </a:pPr>
                  <a:endParaRPr lang="zh-CN" altLang="en-US"/>
                </a:p>
              </p:txBody>
            </p:sp>
          </p:grpSp>
        </p:grpSp>
        <p:sp>
          <p:nvSpPr>
            <p:cNvPr id="539660" name="Line 12"/>
            <p:cNvSpPr>
              <a:spLocks noChangeShapeType="1"/>
            </p:cNvSpPr>
            <p:nvPr/>
          </p:nvSpPr>
          <p:spPr bwMode="auto">
            <a:xfrm flipH="1" flipV="1">
              <a:off x="2160" y="3744"/>
              <a:ext cx="624" cy="0"/>
            </a:xfrm>
            <a:prstGeom prst="line">
              <a:avLst/>
            </a:prstGeom>
            <a:noFill/>
            <a:ln w="28575">
              <a:solidFill>
                <a:schemeClr val="tx2"/>
              </a:solidFill>
              <a:round/>
              <a:headEnd type="arrow" w="med" len="med"/>
              <a:tailEnd/>
            </a:ln>
            <a:effectLst>
              <a:outerShdw dist="35921" dir="2700000" algn="ctr" rotWithShape="0">
                <a:schemeClr val="bg2"/>
              </a:outerShdw>
            </a:effectLst>
          </p:spPr>
          <p:txBody>
            <a:bodyPr/>
            <a:lstStyle/>
            <a:p>
              <a:pPr>
                <a:defRPr/>
              </a:pPr>
              <a:endParaRPr lang="zh-CN" altLang="en-US"/>
            </a:p>
          </p:txBody>
        </p:sp>
      </p:grpSp>
      <p:sp>
        <p:nvSpPr>
          <p:cNvPr id="14" name="灯片编号占位符 13"/>
          <p:cNvSpPr>
            <a:spLocks noGrp="1"/>
          </p:cNvSpPr>
          <p:nvPr>
            <p:ph type="sldNum" sz="quarter" idx="12"/>
          </p:nvPr>
        </p:nvSpPr>
        <p:spPr/>
        <p:txBody>
          <a:bodyPr/>
          <a:lstStyle/>
          <a:p>
            <a:pPr>
              <a:defRPr/>
            </a:pPr>
            <a:fld id="{62FC49CA-8014-4DA2-ABEB-AF96863EC77D}" type="slidenum">
              <a:rPr lang="en-US" altLang="zh-CN" smtClean="0"/>
              <a:pPr>
                <a:defRPr/>
              </a:pPr>
              <a:t>42</a:t>
            </a:fld>
            <a:endParaRPr lang="en-US" altLang="zh-CN"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pPr eaLnBrk="1" hangingPunct="1"/>
            <a:r>
              <a:rPr lang="zh-CN" altLang="en-US" dirty="0" smtClean="0"/>
              <a:t>平均数的种类</a:t>
            </a:r>
            <a:endParaRPr lang="zh-CN" altLang="en-US" sz="3600" b="0" dirty="0" smtClean="0"/>
          </a:p>
        </p:txBody>
      </p:sp>
      <p:sp>
        <p:nvSpPr>
          <p:cNvPr id="457731" name="Rectangle 3"/>
          <p:cNvSpPr>
            <a:spLocks noGrp="1" noChangeArrowheads="1"/>
          </p:cNvSpPr>
          <p:nvPr>
            <p:ph type="body" idx="1"/>
          </p:nvPr>
        </p:nvSpPr>
        <p:spPr>
          <a:xfrm>
            <a:off x="755576" y="1143989"/>
            <a:ext cx="7772400" cy="5164735"/>
          </a:xfrm>
        </p:spPr>
        <p:txBody>
          <a:bodyPr/>
          <a:lstStyle/>
          <a:p>
            <a:pPr eaLnBrk="1" hangingPunct="1"/>
            <a:r>
              <a:rPr lang="zh-CN" altLang="en-US" dirty="0" smtClean="0">
                <a:solidFill>
                  <a:schemeClr val="tx1"/>
                </a:solidFill>
              </a:rPr>
              <a:t>按计算方法分</a:t>
            </a:r>
            <a:r>
              <a:rPr lang="en-US" altLang="zh-CN" dirty="0" smtClean="0">
                <a:solidFill>
                  <a:schemeClr val="tx1"/>
                </a:solidFill>
              </a:rPr>
              <a:t>:</a:t>
            </a:r>
          </a:p>
          <a:p>
            <a:pPr lvl="1" eaLnBrk="1" hangingPunct="1"/>
            <a:r>
              <a:rPr lang="zh-CN" altLang="en-US" dirty="0" smtClean="0">
                <a:solidFill>
                  <a:srgbClr val="1313FF"/>
                </a:solidFill>
              </a:rPr>
              <a:t>数值平均数</a:t>
            </a:r>
            <a:r>
              <a:rPr lang="en-US" altLang="zh-CN" dirty="0" smtClean="0">
                <a:latin typeface="Times New Roman" pitchFamily="18" charset="0"/>
              </a:rPr>
              <a:t>——</a:t>
            </a:r>
            <a:r>
              <a:rPr lang="zh-CN" altLang="en-US" dirty="0" smtClean="0"/>
              <a:t>根据全部数值计算得到的代表值；</a:t>
            </a:r>
          </a:p>
          <a:p>
            <a:pPr marL="1614488" lvl="2" indent="-450850" eaLnBrk="1" hangingPunct="1"/>
            <a:r>
              <a:rPr lang="zh-CN" altLang="en-US" dirty="0" smtClean="0"/>
              <a:t>算术平均数</a:t>
            </a:r>
          </a:p>
          <a:p>
            <a:pPr marL="1614488" lvl="2" indent="-450850" eaLnBrk="1" hangingPunct="1"/>
            <a:r>
              <a:rPr lang="zh-CN" altLang="en-US" dirty="0" smtClean="0"/>
              <a:t>调和平均数</a:t>
            </a:r>
          </a:p>
          <a:p>
            <a:pPr marL="1614488" lvl="2" indent="-450850" eaLnBrk="1" hangingPunct="1"/>
            <a:r>
              <a:rPr lang="zh-CN" altLang="en-US" dirty="0" smtClean="0"/>
              <a:t>几何平均数</a:t>
            </a:r>
          </a:p>
          <a:p>
            <a:pPr lvl="1" eaLnBrk="1" hangingPunct="1"/>
            <a:r>
              <a:rPr lang="zh-CN" altLang="en-US" dirty="0" smtClean="0">
                <a:solidFill>
                  <a:srgbClr val="1313FF"/>
                </a:solidFill>
              </a:rPr>
              <a:t>位置平均数</a:t>
            </a:r>
            <a:r>
              <a:rPr lang="en-US" altLang="zh-CN" dirty="0" smtClean="0">
                <a:latin typeface="Times New Roman" pitchFamily="18" charset="0"/>
              </a:rPr>
              <a:t>——</a:t>
            </a:r>
            <a:r>
              <a:rPr lang="zh-CN" altLang="en-US" dirty="0" smtClean="0"/>
              <a:t>根据数据所处位置直接观察或根据与所处位置有关的部分数据计算确定的代表值。</a:t>
            </a:r>
          </a:p>
          <a:p>
            <a:pPr marL="1698625" lvl="2" indent="-439738" eaLnBrk="1" hangingPunct="1"/>
            <a:r>
              <a:rPr lang="zh-CN" altLang="en-US" dirty="0"/>
              <a:t>中位数</a:t>
            </a:r>
          </a:p>
          <a:p>
            <a:pPr marL="1698625" lvl="2" indent="-439738" eaLnBrk="1" hangingPunct="1"/>
            <a:r>
              <a:rPr lang="zh-CN" altLang="en-US" dirty="0" smtClean="0"/>
              <a:t>众 数</a:t>
            </a:r>
            <a:endParaRPr lang="zh-CN" altLang="en-US" dirty="0"/>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43</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7731">
                                            <p:txEl>
                                              <p:pRg st="1" end="1"/>
                                            </p:txEl>
                                          </p:spTgt>
                                        </p:tgtEl>
                                        <p:attrNameLst>
                                          <p:attrName>style.visibility</p:attrName>
                                        </p:attrNameLst>
                                      </p:cBhvr>
                                      <p:to>
                                        <p:strVal val="visible"/>
                                      </p:to>
                                    </p:set>
                                    <p:animEffect transition="in" filter="wipe(left)">
                                      <p:cBhvr>
                                        <p:cTn id="7" dur="500"/>
                                        <p:tgtEl>
                                          <p:spTgt spid="4577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7731">
                                            <p:txEl>
                                              <p:pRg st="2" end="2"/>
                                            </p:txEl>
                                          </p:spTgt>
                                        </p:tgtEl>
                                        <p:attrNameLst>
                                          <p:attrName>style.visibility</p:attrName>
                                        </p:attrNameLst>
                                      </p:cBhvr>
                                      <p:to>
                                        <p:strVal val="visible"/>
                                      </p:to>
                                    </p:set>
                                    <p:animEffect transition="in" filter="wipe(left)">
                                      <p:cBhvr>
                                        <p:cTn id="12" dur="500"/>
                                        <p:tgtEl>
                                          <p:spTgt spid="45773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57731">
                                            <p:txEl>
                                              <p:pRg st="3" end="3"/>
                                            </p:txEl>
                                          </p:spTgt>
                                        </p:tgtEl>
                                        <p:attrNameLst>
                                          <p:attrName>style.visibility</p:attrName>
                                        </p:attrNameLst>
                                      </p:cBhvr>
                                      <p:to>
                                        <p:strVal val="visible"/>
                                      </p:to>
                                    </p:set>
                                    <p:animEffect transition="in" filter="wipe(left)">
                                      <p:cBhvr>
                                        <p:cTn id="15" dur="500"/>
                                        <p:tgtEl>
                                          <p:spTgt spid="457731">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57731">
                                            <p:txEl>
                                              <p:pRg st="4" end="4"/>
                                            </p:txEl>
                                          </p:spTgt>
                                        </p:tgtEl>
                                        <p:attrNameLst>
                                          <p:attrName>style.visibility</p:attrName>
                                        </p:attrNameLst>
                                      </p:cBhvr>
                                      <p:to>
                                        <p:strVal val="visible"/>
                                      </p:to>
                                    </p:set>
                                    <p:animEffect transition="in" filter="wipe(left)">
                                      <p:cBhvr>
                                        <p:cTn id="18" dur="500"/>
                                        <p:tgtEl>
                                          <p:spTgt spid="457731">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57731">
                                            <p:txEl>
                                              <p:pRg st="5" end="5"/>
                                            </p:txEl>
                                          </p:spTgt>
                                        </p:tgtEl>
                                        <p:attrNameLst>
                                          <p:attrName>style.visibility</p:attrName>
                                        </p:attrNameLst>
                                      </p:cBhvr>
                                      <p:to>
                                        <p:strVal val="visible"/>
                                      </p:to>
                                    </p:set>
                                    <p:animEffect transition="in" filter="wipe(left)">
                                      <p:cBhvr>
                                        <p:cTn id="21" dur="500"/>
                                        <p:tgtEl>
                                          <p:spTgt spid="457731">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57731">
                                            <p:txEl>
                                              <p:pRg st="6" end="6"/>
                                            </p:txEl>
                                          </p:spTgt>
                                        </p:tgtEl>
                                        <p:attrNameLst>
                                          <p:attrName>style.visibility</p:attrName>
                                        </p:attrNameLst>
                                      </p:cBhvr>
                                      <p:to>
                                        <p:strVal val="visible"/>
                                      </p:to>
                                    </p:set>
                                    <p:animEffect transition="in" filter="wipe(left)">
                                      <p:cBhvr>
                                        <p:cTn id="24" dur="500"/>
                                        <p:tgtEl>
                                          <p:spTgt spid="457731">
                                            <p:txEl>
                                              <p:pRg st="6" end="6"/>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57731">
                                            <p:txEl>
                                              <p:pRg st="7" end="7"/>
                                            </p:txEl>
                                          </p:spTgt>
                                        </p:tgtEl>
                                        <p:attrNameLst>
                                          <p:attrName>style.visibility</p:attrName>
                                        </p:attrNameLst>
                                      </p:cBhvr>
                                      <p:to>
                                        <p:strVal val="visible"/>
                                      </p:to>
                                    </p:set>
                                    <p:animEffect transition="in" filter="wipe(left)">
                                      <p:cBhvr>
                                        <p:cTn id="27" dur="500"/>
                                        <p:tgtEl>
                                          <p:spTgt spid="4577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584548" y="442968"/>
            <a:ext cx="7560195" cy="916526"/>
          </a:xfrm>
        </p:spPr>
        <p:txBody>
          <a:bodyPr/>
          <a:lstStyle/>
          <a:p>
            <a:pPr eaLnBrk="1" hangingPunct="1"/>
            <a:r>
              <a:rPr lang="en-US" altLang="zh-CN" dirty="0" smtClean="0">
                <a:solidFill>
                  <a:srgbClr val="1313FF"/>
                </a:solidFill>
              </a:rPr>
              <a:t>1</a:t>
            </a:r>
            <a:r>
              <a:rPr lang="zh-CN" altLang="en-US" dirty="0" smtClean="0">
                <a:solidFill>
                  <a:srgbClr val="1313FF"/>
                </a:solidFill>
              </a:rPr>
              <a:t>、算术平均数（均值）</a:t>
            </a:r>
          </a:p>
        </p:txBody>
      </p:sp>
      <p:sp>
        <p:nvSpPr>
          <p:cNvPr id="12293" name="Rectangle 3"/>
          <p:cNvSpPr>
            <a:spLocks noGrp="1" noChangeArrowheads="1"/>
          </p:cNvSpPr>
          <p:nvPr>
            <p:ph type="body" idx="1"/>
          </p:nvPr>
        </p:nvSpPr>
        <p:spPr>
          <a:xfrm>
            <a:off x="611188" y="1773238"/>
            <a:ext cx="4535487" cy="1584325"/>
          </a:xfrm>
        </p:spPr>
        <p:txBody>
          <a:bodyPr/>
          <a:lstStyle/>
          <a:p>
            <a:pPr marL="268288" indent="-268288" eaLnBrk="1" hangingPunct="1">
              <a:buFont typeface="Monotype Sorts" pitchFamily="2" charset="2"/>
              <a:buChar char="§"/>
            </a:pPr>
            <a:r>
              <a:rPr lang="zh-CN" altLang="en-US" dirty="0" smtClean="0">
                <a:solidFill>
                  <a:schemeClr val="tx2"/>
                </a:solidFill>
              </a:rPr>
              <a:t>基本公式：</a:t>
            </a:r>
          </a:p>
        </p:txBody>
      </p:sp>
      <p:sp>
        <p:nvSpPr>
          <p:cNvPr id="12294" name="Rectangle 5"/>
          <p:cNvSpPr>
            <a:spLocks noChangeArrowheads="1"/>
          </p:cNvSpPr>
          <p:nvPr/>
        </p:nvSpPr>
        <p:spPr bwMode="auto">
          <a:xfrm>
            <a:off x="1187722" y="3117990"/>
            <a:ext cx="6624638" cy="936347"/>
          </a:xfrm>
          <a:prstGeom prst="rect">
            <a:avLst/>
          </a:prstGeom>
          <a:noFill/>
          <a:ln w="9525">
            <a:noFill/>
            <a:miter lim="800000"/>
            <a:headEnd/>
            <a:tailEnd/>
          </a:ln>
        </p:spPr>
        <p:txBody>
          <a:bodyPr>
            <a:spAutoFit/>
          </a:bodyPr>
          <a:lstStyle/>
          <a:p>
            <a:pPr>
              <a:lnSpc>
                <a:spcPct val="120000"/>
              </a:lnSpc>
            </a:pPr>
            <a:r>
              <a:rPr lang="zh-CN" altLang="en-US" b="1" dirty="0">
                <a:solidFill>
                  <a:srgbClr val="000000"/>
                </a:solidFill>
                <a:ea typeface="宋体" pitchFamily="2" charset="-122"/>
              </a:rPr>
              <a:t>例：  平均工资</a:t>
            </a:r>
            <a:r>
              <a:rPr lang="en-US" altLang="zh-CN" b="1" dirty="0">
                <a:solidFill>
                  <a:srgbClr val="000000"/>
                </a:solidFill>
                <a:ea typeface="宋体" pitchFamily="2" charset="-122"/>
              </a:rPr>
              <a:t>=</a:t>
            </a:r>
            <a:r>
              <a:rPr lang="zh-CN" altLang="en-US" b="1" dirty="0">
                <a:solidFill>
                  <a:srgbClr val="000000"/>
                </a:solidFill>
                <a:ea typeface="宋体" pitchFamily="2" charset="-122"/>
              </a:rPr>
              <a:t>工资总额</a:t>
            </a:r>
            <a:r>
              <a:rPr lang="en-US" altLang="zh-CN" b="1" dirty="0">
                <a:solidFill>
                  <a:srgbClr val="000000"/>
                </a:solidFill>
                <a:ea typeface="宋体" pitchFamily="2" charset="-122"/>
              </a:rPr>
              <a:t>÷</a:t>
            </a:r>
            <a:r>
              <a:rPr lang="zh-CN" altLang="en-US" b="1" dirty="0">
                <a:solidFill>
                  <a:srgbClr val="000000"/>
                </a:solidFill>
                <a:ea typeface="宋体" pitchFamily="2" charset="-122"/>
              </a:rPr>
              <a:t>职工人数</a:t>
            </a:r>
          </a:p>
          <a:p>
            <a:pPr>
              <a:lnSpc>
                <a:spcPct val="120000"/>
              </a:lnSpc>
            </a:pPr>
            <a:r>
              <a:rPr lang="zh-CN" altLang="en-US" b="1" dirty="0">
                <a:solidFill>
                  <a:srgbClr val="000000"/>
                </a:solidFill>
                <a:ea typeface="宋体" pitchFamily="2" charset="-122"/>
              </a:rPr>
              <a:t>          平均成本</a:t>
            </a:r>
            <a:r>
              <a:rPr lang="en-US" altLang="zh-CN" b="1" dirty="0">
                <a:solidFill>
                  <a:srgbClr val="000000"/>
                </a:solidFill>
                <a:ea typeface="宋体" pitchFamily="2" charset="-122"/>
              </a:rPr>
              <a:t>=</a:t>
            </a:r>
            <a:r>
              <a:rPr lang="zh-CN" altLang="en-US" b="1" dirty="0">
                <a:solidFill>
                  <a:srgbClr val="000000"/>
                </a:solidFill>
                <a:ea typeface="宋体" pitchFamily="2" charset="-122"/>
              </a:rPr>
              <a:t>总成本</a:t>
            </a:r>
            <a:r>
              <a:rPr lang="en-US" altLang="zh-CN" b="1" dirty="0">
                <a:solidFill>
                  <a:srgbClr val="000000"/>
                </a:solidFill>
                <a:ea typeface="宋体" pitchFamily="2" charset="-122"/>
              </a:rPr>
              <a:t>÷</a:t>
            </a:r>
            <a:r>
              <a:rPr lang="zh-CN" altLang="en-US" b="1" dirty="0">
                <a:solidFill>
                  <a:srgbClr val="000000"/>
                </a:solidFill>
                <a:ea typeface="宋体" pitchFamily="2" charset="-122"/>
              </a:rPr>
              <a:t>产量</a:t>
            </a:r>
          </a:p>
        </p:txBody>
      </p:sp>
      <p:graphicFrame>
        <p:nvGraphicFramePr>
          <p:cNvPr id="12290" name="Object 7"/>
          <p:cNvGraphicFramePr>
            <a:graphicFrameLocks noChangeAspect="1"/>
          </p:cNvGraphicFramePr>
          <p:nvPr>
            <p:extLst>
              <p:ext uri="{D42A27DB-BD31-4B8C-83A1-F6EECF244321}">
                <p14:modId xmlns:p14="http://schemas.microsoft.com/office/powerpoint/2010/main" val="3076808735"/>
              </p:ext>
            </p:extLst>
          </p:nvPr>
        </p:nvGraphicFramePr>
        <p:xfrm>
          <a:off x="3038661" y="1428992"/>
          <a:ext cx="3888432" cy="1581906"/>
        </p:xfrm>
        <a:graphic>
          <a:graphicData uri="http://schemas.openxmlformats.org/presentationml/2006/ole">
            <mc:AlternateContent xmlns:mc="http://schemas.openxmlformats.org/markup-compatibility/2006">
              <mc:Choice xmlns:v="urn:schemas-microsoft-com:vml" Requires="v">
                <p:oleObj spid="_x0000_s12469" name="Equation" r:id="rId4" imgW="1879560" imgH="419040" progId="Equation.DSMT4">
                  <p:embed/>
                </p:oleObj>
              </mc:Choice>
              <mc:Fallback>
                <p:oleObj name="Equation" r:id="rId4" imgW="1879560" imgH="419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8661" y="1428992"/>
                        <a:ext cx="3888432" cy="1581906"/>
                      </a:xfrm>
                      <a:prstGeom prst="rect">
                        <a:avLst/>
                      </a:prstGeom>
                      <a:noFill/>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44</a:t>
            </a:fld>
            <a:endParaRPr lang="en-US" altLang="zh-CN" dirty="0"/>
          </a:p>
        </p:txBody>
      </p:sp>
      <p:sp>
        <p:nvSpPr>
          <p:cNvPr id="3" name="矩形 2"/>
          <p:cNvSpPr/>
          <p:nvPr/>
        </p:nvSpPr>
        <p:spPr>
          <a:xfrm>
            <a:off x="687329" y="4369733"/>
            <a:ext cx="7253770" cy="1938992"/>
          </a:xfrm>
          <a:prstGeom prst="rect">
            <a:avLst/>
          </a:prstGeom>
        </p:spPr>
        <p:txBody>
          <a:bodyPr wrap="square">
            <a:spAutoFit/>
          </a:bodyPr>
          <a:lstStyle/>
          <a:p>
            <a:pPr marL="342900" lvl="0" indent="-342900" fontAlgn="auto">
              <a:spcBef>
                <a:spcPct val="50000"/>
              </a:spcBef>
              <a:spcAft>
                <a:spcPts val="0"/>
              </a:spcAft>
              <a:buFont typeface="Wingdings" panose="05000000000000000000" pitchFamily="2" charset="2"/>
              <a:buChar char="Ø"/>
            </a:pPr>
            <a:r>
              <a:rPr kumimoji="0" lang="zh-CN" altLang="en-US" b="1" dirty="0">
                <a:solidFill>
                  <a:prstClr val="black"/>
                </a:solidFill>
                <a:latin typeface="Arial" panose="020B0604020202020204" pitchFamily="34" charset="0"/>
                <a:ea typeface="等线" panose="02010600030101010101" pitchFamily="2" charset="-122"/>
              </a:rPr>
              <a:t>均值削弱了个体数值的差异，从整体上揭示了偶然性中的必然性；</a:t>
            </a:r>
          </a:p>
          <a:p>
            <a:pPr marL="342900" lvl="0" indent="-342900" fontAlgn="auto">
              <a:spcBef>
                <a:spcPct val="50000"/>
              </a:spcBef>
              <a:spcAft>
                <a:spcPts val="0"/>
              </a:spcAft>
              <a:buFont typeface="Wingdings" panose="05000000000000000000" pitchFamily="2" charset="2"/>
              <a:buChar char="Ø"/>
            </a:pPr>
            <a:r>
              <a:rPr kumimoji="0" lang="zh-CN" altLang="en-US" b="1" dirty="0">
                <a:solidFill>
                  <a:prstClr val="black"/>
                </a:solidFill>
                <a:latin typeface="Arial" panose="020B0604020202020204" pitchFamily="34" charset="0"/>
                <a:ea typeface="等线" panose="02010600030101010101" pitchFamily="2" charset="-122"/>
              </a:rPr>
              <a:t>均值具有唯一性；</a:t>
            </a:r>
          </a:p>
          <a:p>
            <a:pPr marL="342900" lvl="0" indent="-342900" fontAlgn="auto">
              <a:spcBef>
                <a:spcPct val="50000"/>
              </a:spcBef>
              <a:spcAft>
                <a:spcPts val="0"/>
              </a:spcAft>
              <a:buFont typeface="Wingdings" panose="05000000000000000000" pitchFamily="2" charset="2"/>
              <a:buChar char="Ø"/>
            </a:pPr>
            <a:r>
              <a:rPr kumimoji="0" lang="zh-CN" altLang="en-US" b="1" dirty="0">
                <a:solidFill>
                  <a:prstClr val="black"/>
                </a:solidFill>
                <a:latin typeface="Arial" panose="020B0604020202020204" pitchFamily="34" charset="0"/>
                <a:ea typeface="等线" panose="02010600030101010101" pitchFamily="2" charset="-122"/>
              </a:rPr>
              <a:t>具有良好的数学性质，是统计推断的重要指标。</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Rectangle 2"/>
          <p:cNvSpPr>
            <a:spLocks noGrp="1" noChangeArrowheads="1"/>
          </p:cNvSpPr>
          <p:nvPr>
            <p:ph type="title"/>
          </p:nvPr>
        </p:nvSpPr>
        <p:spPr>
          <a:xfrm>
            <a:off x="611188" y="476250"/>
            <a:ext cx="7772400" cy="569913"/>
          </a:xfrm>
        </p:spPr>
        <p:txBody>
          <a:bodyPr/>
          <a:lstStyle/>
          <a:p>
            <a:pPr eaLnBrk="1" hangingPunct="1"/>
            <a:r>
              <a:rPr lang="en-US" altLang="zh-CN" sz="3200" dirty="0" smtClean="0">
                <a:solidFill>
                  <a:srgbClr val="1313FF"/>
                </a:solidFill>
              </a:rPr>
              <a:t>【</a:t>
            </a:r>
            <a:r>
              <a:rPr lang="zh-CN" altLang="en-US" sz="3200" dirty="0" smtClean="0">
                <a:solidFill>
                  <a:srgbClr val="1313FF"/>
                </a:solidFill>
              </a:rPr>
              <a:t>附</a:t>
            </a:r>
            <a:r>
              <a:rPr lang="en-US" altLang="zh-CN" sz="3200" dirty="0" smtClean="0">
                <a:solidFill>
                  <a:srgbClr val="1313FF"/>
                </a:solidFill>
              </a:rPr>
              <a:t>】</a:t>
            </a:r>
            <a:r>
              <a:rPr lang="zh-CN" altLang="en-US" sz="3200" dirty="0" smtClean="0">
                <a:solidFill>
                  <a:srgbClr val="1313FF"/>
                </a:solidFill>
              </a:rPr>
              <a:t>算术平均数与强度相对指标的区别</a:t>
            </a:r>
          </a:p>
        </p:txBody>
      </p:sp>
      <p:sp>
        <p:nvSpPr>
          <p:cNvPr id="13320" name="Text Box 6"/>
          <p:cNvSpPr txBox="1">
            <a:spLocks noChangeArrowheads="1"/>
          </p:cNvSpPr>
          <p:nvPr/>
        </p:nvSpPr>
        <p:spPr bwMode="auto">
          <a:xfrm>
            <a:off x="539750" y="1341438"/>
            <a:ext cx="6985000" cy="457200"/>
          </a:xfrm>
          <a:prstGeom prst="rect">
            <a:avLst/>
          </a:prstGeom>
          <a:noFill/>
          <a:ln w="9525">
            <a:noFill/>
            <a:miter lim="800000"/>
            <a:headEnd/>
            <a:tailEnd/>
          </a:ln>
        </p:spPr>
        <p:txBody>
          <a:bodyPr>
            <a:spAutoFit/>
          </a:bodyPr>
          <a:lstStyle/>
          <a:p>
            <a:pPr>
              <a:spcBef>
                <a:spcPct val="50000"/>
              </a:spcBef>
            </a:pPr>
            <a:r>
              <a:rPr lang="en-US" altLang="zh-CN" b="1" dirty="0">
                <a:solidFill>
                  <a:srgbClr val="000000"/>
                </a:solidFill>
                <a:latin typeface="宋体" pitchFamily="2" charset="-122"/>
                <a:ea typeface="宋体" pitchFamily="2" charset="-122"/>
              </a:rPr>
              <a:t>___</a:t>
            </a:r>
            <a:r>
              <a:rPr lang="zh-CN" altLang="en-US" b="1" dirty="0" smtClean="0">
                <a:solidFill>
                  <a:srgbClr val="000000"/>
                </a:solidFill>
                <a:latin typeface="宋体" pitchFamily="2" charset="-122"/>
                <a:ea typeface="宋体" pitchFamily="2" charset="-122"/>
              </a:rPr>
              <a:t>分子</a:t>
            </a:r>
            <a:r>
              <a:rPr lang="zh-CN" altLang="en-US" b="1" dirty="0">
                <a:solidFill>
                  <a:srgbClr val="000000"/>
                </a:solidFill>
                <a:latin typeface="宋体" pitchFamily="2" charset="-122"/>
                <a:ea typeface="宋体" pitchFamily="2" charset="-122"/>
              </a:rPr>
              <a:t>与分母的对应</a:t>
            </a:r>
            <a:r>
              <a:rPr lang="zh-CN" altLang="en-US" b="1" dirty="0" smtClean="0">
                <a:solidFill>
                  <a:srgbClr val="000000"/>
                </a:solidFill>
                <a:latin typeface="宋体" pitchFamily="2" charset="-122"/>
                <a:ea typeface="宋体" pitchFamily="2" charset="-122"/>
              </a:rPr>
              <a:t>关系，例</a:t>
            </a:r>
            <a:r>
              <a:rPr lang="en-US" altLang="zh-CN" b="1" dirty="0">
                <a:solidFill>
                  <a:srgbClr val="000000"/>
                </a:solidFill>
                <a:latin typeface="宋体" pitchFamily="2" charset="-122"/>
                <a:ea typeface="宋体" pitchFamily="2" charset="-122"/>
              </a:rPr>
              <a:t>:</a:t>
            </a:r>
          </a:p>
        </p:txBody>
      </p:sp>
      <p:graphicFrame>
        <p:nvGraphicFramePr>
          <p:cNvPr id="424969" name="Object 9"/>
          <p:cNvGraphicFramePr>
            <a:graphicFrameLocks noChangeAspect="1"/>
          </p:cNvGraphicFramePr>
          <p:nvPr/>
        </p:nvGraphicFramePr>
        <p:xfrm>
          <a:off x="323850" y="1989138"/>
          <a:ext cx="4187825" cy="962025"/>
        </p:xfrm>
        <a:graphic>
          <a:graphicData uri="http://schemas.openxmlformats.org/presentationml/2006/ole">
            <mc:AlternateContent xmlns:mc="http://schemas.openxmlformats.org/markup-compatibility/2006">
              <mc:Choice xmlns:v="urn:schemas-microsoft-com:vml" Requires="v">
                <p:oleObj spid="_x0000_s14026" name="Equation" r:id="rId4" imgW="1892160" imgH="419040" progId="Equation.DSMT4">
                  <p:embed/>
                </p:oleObj>
              </mc:Choice>
              <mc:Fallback>
                <p:oleObj name="Equation" r:id="rId4" imgW="1892160" imgH="41904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989138"/>
                        <a:ext cx="4187825"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4970" name="Object 10"/>
          <p:cNvGraphicFramePr>
            <a:graphicFrameLocks noChangeAspect="1"/>
          </p:cNvGraphicFramePr>
          <p:nvPr/>
        </p:nvGraphicFramePr>
        <p:xfrm>
          <a:off x="4067175" y="2924944"/>
          <a:ext cx="4862513" cy="962025"/>
        </p:xfrm>
        <a:graphic>
          <a:graphicData uri="http://schemas.openxmlformats.org/presentationml/2006/ole">
            <mc:AlternateContent xmlns:mc="http://schemas.openxmlformats.org/markup-compatibility/2006">
              <mc:Choice xmlns:v="urn:schemas-microsoft-com:vml" Requires="v">
                <p:oleObj spid="_x0000_s14027" name="Equation" r:id="rId6" imgW="2197080" imgH="419040" progId="Equation.DSMT4">
                  <p:embed/>
                </p:oleObj>
              </mc:Choice>
              <mc:Fallback>
                <p:oleObj name="Equation" r:id="rId6" imgW="2197080" imgH="41904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7175" y="2924944"/>
                        <a:ext cx="4862513" cy="962025"/>
                      </a:xfrm>
                      <a:prstGeom prst="rect">
                        <a:avLst/>
                      </a:prstGeom>
                      <a:noFill/>
                      <a:ln w="9525">
                        <a:solidFill>
                          <a:srgbClr val="6565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4971" name="Object 11"/>
          <p:cNvGraphicFramePr>
            <a:graphicFrameLocks noChangeAspect="1"/>
          </p:cNvGraphicFramePr>
          <p:nvPr/>
        </p:nvGraphicFramePr>
        <p:xfrm>
          <a:off x="4427538" y="5085184"/>
          <a:ext cx="4159250" cy="962025"/>
        </p:xfrm>
        <a:graphic>
          <a:graphicData uri="http://schemas.openxmlformats.org/presentationml/2006/ole">
            <mc:AlternateContent xmlns:mc="http://schemas.openxmlformats.org/markup-compatibility/2006">
              <mc:Choice xmlns:v="urn:schemas-microsoft-com:vml" Requires="v">
                <p:oleObj spid="_x0000_s14028" name="Equation" r:id="rId8" imgW="1879560" imgH="419040" progId="Equation.DSMT4">
                  <p:embed/>
                </p:oleObj>
              </mc:Choice>
              <mc:Fallback>
                <p:oleObj name="Equation" r:id="rId8" imgW="1879560" imgH="41904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7538" y="5085184"/>
                        <a:ext cx="4159250" cy="962025"/>
                      </a:xfrm>
                      <a:prstGeom prst="rect">
                        <a:avLst/>
                      </a:prstGeom>
                      <a:noFill/>
                      <a:ln w="9525">
                        <a:solidFill>
                          <a:srgbClr val="6565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4972" name="Object 12"/>
          <p:cNvGraphicFramePr>
            <a:graphicFrameLocks noChangeAspect="1"/>
          </p:cNvGraphicFramePr>
          <p:nvPr/>
        </p:nvGraphicFramePr>
        <p:xfrm>
          <a:off x="250825" y="4077072"/>
          <a:ext cx="4665663" cy="962025"/>
        </p:xfrm>
        <a:graphic>
          <a:graphicData uri="http://schemas.openxmlformats.org/presentationml/2006/ole">
            <mc:AlternateContent xmlns:mc="http://schemas.openxmlformats.org/markup-compatibility/2006">
              <mc:Choice xmlns:v="urn:schemas-microsoft-com:vml" Requires="v">
                <p:oleObj spid="_x0000_s14029" name="Equation" r:id="rId10" imgW="2108160" imgH="419040" progId="Equation.DSMT4">
                  <p:embed/>
                </p:oleObj>
              </mc:Choice>
              <mc:Fallback>
                <p:oleObj name="Equation" r:id="rId10" imgW="2108160" imgH="41904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0825" y="4077072"/>
                        <a:ext cx="4665663"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8749668" y="904949"/>
            <a:ext cx="360040" cy="461665"/>
          </a:xfrm>
          <a:prstGeom prst="rect">
            <a:avLst/>
          </a:prstGeom>
          <a:solidFill>
            <a:schemeClr val="accent2">
              <a:lumMod val="90000"/>
            </a:schemeClr>
          </a:solidFill>
        </p:spPr>
        <p:txBody>
          <a:bodyPr wrap="square" rtlCol="0">
            <a:spAutoFit/>
          </a:bodyPr>
          <a:lstStyle/>
          <a:p>
            <a:r>
              <a:rPr lang="en-US" altLang="zh-CN" b="1" dirty="0" smtClean="0">
                <a:solidFill>
                  <a:srgbClr val="1313FF"/>
                </a:solidFill>
              </a:rPr>
              <a:t>?</a:t>
            </a:r>
            <a:endParaRPr lang="zh-CN" altLang="en-US" b="1" dirty="0">
              <a:solidFill>
                <a:srgbClr val="1313FF"/>
              </a:solidFill>
            </a:endParaRPr>
          </a:p>
        </p:txBody>
      </p:sp>
      <p:sp>
        <p:nvSpPr>
          <p:cNvPr id="11" name="灯片编号占位符 10"/>
          <p:cNvSpPr>
            <a:spLocks noGrp="1"/>
          </p:cNvSpPr>
          <p:nvPr>
            <p:ph type="sldNum" sz="quarter" idx="12"/>
          </p:nvPr>
        </p:nvSpPr>
        <p:spPr/>
        <p:txBody>
          <a:bodyPr/>
          <a:lstStyle/>
          <a:p>
            <a:pPr>
              <a:defRPr/>
            </a:pPr>
            <a:fld id="{62FC49CA-8014-4DA2-ABEB-AF96863EC77D}" type="slidenum">
              <a:rPr lang="en-US" altLang="zh-CN" smtClean="0"/>
              <a:pPr>
                <a:defRPr/>
              </a:pPr>
              <a:t>45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4969"/>
                                        </p:tgtEl>
                                        <p:attrNameLst>
                                          <p:attrName>style.visibility</p:attrName>
                                        </p:attrNameLst>
                                      </p:cBhvr>
                                      <p:to>
                                        <p:strVal val="visible"/>
                                      </p:to>
                                    </p:set>
                                    <p:animEffect transition="in" filter="blinds(horizontal)">
                                      <p:cBhvr>
                                        <p:cTn id="7" dur="500"/>
                                        <p:tgtEl>
                                          <p:spTgt spid="424969"/>
                                        </p:tgtEl>
                                      </p:cBhvr>
                                    </p:animEffect>
                                  </p:childTnLst>
                                </p:cTn>
                              </p:par>
                              <p:par>
                                <p:cTn id="8" presetID="3" presetClass="entr" presetSubtype="10" fill="hold" nodeType="withEffect">
                                  <p:stCondLst>
                                    <p:cond delay="0"/>
                                  </p:stCondLst>
                                  <p:childTnLst>
                                    <p:set>
                                      <p:cBhvr>
                                        <p:cTn id="9" dur="1" fill="hold">
                                          <p:stCondLst>
                                            <p:cond delay="0"/>
                                          </p:stCondLst>
                                        </p:cTn>
                                        <p:tgtEl>
                                          <p:spTgt spid="424970"/>
                                        </p:tgtEl>
                                        <p:attrNameLst>
                                          <p:attrName>style.visibility</p:attrName>
                                        </p:attrNameLst>
                                      </p:cBhvr>
                                      <p:to>
                                        <p:strVal val="visible"/>
                                      </p:to>
                                    </p:set>
                                    <p:animEffect transition="in" filter="blinds(horizontal)">
                                      <p:cBhvr>
                                        <p:cTn id="10" dur="500"/>
                                        <p:tgtEl>
                                          <p:spTgt spid="42497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24972"/>
                                        </p:tgtEl>
                                        <p:attrNameLst>
                                          <p:attrName>style.visibility</p:attrName>
                                        </p:attrNameLst>
                                      </p:cBhvr>
                                      <p:to>
                                        <p:strVal val="visible"/>
                                      </p:to>
                                    </p:set>
                                    <p:animEffect transition="in" filter="blinds(horizontal)">
                                      <p:cBhvr>
                                        <p:cTn id="15" dur="500"/>
                                        <p:tgtEl>
                                          <p:spTgt spid="424972"/>
                                        </p:tgtEl>
                                      </p:cBhvr>
                                    </p:animEffect>
                                  </p:childTnLst>
                                </p:cTn>
                              </p:par>
                              <p:par>
                                <p:cTn id="16" presetID="3" presetClass="entr" presetSubtype="10" fill="hold" nodeType="withEffect">
                                  <p:stCondLst>
                                    <p:cond delay="0"/>
                                  </p:stCondLst>
                                  <p:childTnLst>
                                    <p:set>
                                      <p:cBhvr>
                                        <p:cTn id="17" dur="1" fill="hold">
                                          <p:stCondLst>
                                            <p:cond delay="0"/>
                                          </p:stCondLst>
                                        </p:cTn>
                                        <p:tgtEl>
                                          <p:spTgt spid="424971"/>
                                        </p:tgtEl>
                                        <p:attrNameLst>
                                          <p:attrName>style.visibility</p:attrName>
                                        </p:attrNameLst>
                                      </p:cBhvr>
                                      <p:to>
                                        <p:strVal val="visible"/>
                                      </p:to>
                                    </p:set>
                                    <p:animEffect transition="in" filter="blinds(horizontal)">
                                      <p:cBhvr>
                                        <p:cTn id="18" dur="500"/>
                                        <p:tgtEl>
                                          <p:spTgt spid="424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685800" y="838200"/>
            <a:ext cx="7772400" cy="660400"/>
          </a:xfrm>
          <a:noFill/>
        </p:spPr>
        <p:txBody>
          <a:bodyPr/>
          <a:lstStyle/>
          <a:p>
            <a:pPr eaLnBrk="1" hangingPunct="1"/>
            <a:r>
              <a:rPr lang="zh-CN" altLang="en-US" sz="3600" dirty="0" smtClean="0">
                <a:solidFill>
                  <a:srgbClr val="1313FF"/>
                </a:solidFill>
              </a:rPr>
              <a:t>（</a:t>
            </a:r>
            <a:r>
              <a:rPr lang="en-US" altLang="zh-CN" sz="3600" dirty="0" smtClean="0">
                <a:solidFill>
                  <a:srgbClr val="1313FF"/>
                </a:solidFill>
              </a:rPr>
              <a:t>1</a:t>
            </a:r>
            <a:r>
              <a:rPr lang="zh-CN" altLang="en-US" sz="3600" dirty="0" smtClean="0">
                <a:solidFill>
                  <a:srgbClr val="1313FF"/>
                </a:solidFill>
              </a:rPr>
              <a:t>）简单算术平均数</a:t>
            </a:r>
            <a:r>
              <a:rPr lang="en-US" altLang="zh-CN" sz="3600" dirty="0" smtClean="0">
                <a:solidFill>
                  <a:srgbClr val="7F132D"/>
                </a:solidFill>
                <a:latin typeface="Times New Roman" pitchFamily="18" charset="0"/>
              </a:rPr>
              <a:t>——</a:t>
            </a:r>
            <a:r>
              <a:rPr lang="zh-CN" altLang="en-US" sz="3600" dirty="0" smtClean="0">
                <a:solidFill>
                  <a:srgbClr val="7F132D"/>
                </a:solidFill>
              </a:rPr>
              <a:t>未分组时</a:t>
            </a:r>
            <a:r>
              <a:rPr lang="zh-CN" altLang="en-US" sz="3200" dirty="0" smtClean="0">
                <a:solidFill>
                  <a:srgbClr val="006600"/>
                </a:solidFill>
              </a:rPr>
              <a:t> </a:t>
            </a:r>
          </a:p>
        </p:txBody>
      </p:sp>
      <p:sp>
        <p:nvSpPr>
          <p:cNvPr id="14341" name="Rectangle 3"/>
          <p:cNvSpPr>
            <a:spLocks noGrp="1" noChangeArrowheads="1"/>
          </p:cNvSpPr>
          <p:nvPr>
            <p:ph type="body" idx="1"/>
          </p:nvPr>
        </p:nvSpPr>
        <p:spPr>
          <a:xfrm>
            <a:off x="685800" y="1600200"/>
            <a:ext cx="7772400" cy="4495800"/>
          </a:xfrm>
        </p:spPr>
        <p:txBody>
          <a:bodyPr/>
          <a:lstStyle/>
          <a:p>
            <a:pPr eaLnBrk="1" hangingPunct="1">
              <a:lnSpc>
                <a:spcPct val="140000"/>
              </a:lnSpc>
              <a:buFontTx/>
              <a:buNone/>
            </a:pPr>
            <a:r>
              <a:rPr lang="en-US" altLang="zh-CN" smtClean="0">
                <a:solidFill>
                  <a:srgbClr val="000000"/>
                </a:solidFill>
              </a:rPr>
              <a:t>      </a:t>
            </a:r>
            <a:r>
              <a:rPr lang="en-US" altLang="zh-CN" b="0" smtClean="0">
                <a:solidFill>
                  <a:srgbClr val="000000"/>
                </a:solidFill>
              </a:rPr>
              <a:t>5</a:t>
            </a:r>
            <a:r>
              <a:rPr lang="zh-CN" altLang="en-US" b="0" smtClean="0">
                <a:solidFill>
                  <a:srgbClr val="000000"/>
                </a:solidFill>
              </a:rPr>
              <a:t>名学生的考试成绩分别为（分）：</a:t>
            </a:r>
          </a:p>
          <a:p>
            <a:pPr eaLnBrk="1" hangingPunct="1">
              <a:lnSpc>
                <a:spcPct val="140000"/>
              </a:lnSpc>
              <a:buFontTx/>
              <a:buNone/>
            </a:pPr>
            <a:r>
              <a:rPr lang="zh-CN" altLang="en-US" b="0" smtClean="0">
                <a:solidFill>
                  <a:srgbClr val="000000"/>
                </a:solidFill>
              </a:rPr>
              <a:t>             </a:t>
            </a:r>
            <a:r>
              <a:rPr lang="en-US" altLang="zh-CN" b="0" smtClean="0">
                <a:solidFill>
                  <a:srgbClr val="000000"/>
                </a:solidFill>
              </a:rPr>
              <a:t>70</a:t>
            </a:r>
            <a:r>
              <a:rPr lang="zh-CN" altLang="en-US" b="0" smtClean="0">
                <a:solidFill>
                  <a:srgbClr val="000000"/>
                </a:solidFill>
              </a:rPr>
              <a:t>、</a:t>
            </a:r>
            <a:r>
              <a:rPr lang="en-US" altLang="zh-CN" b="0" smtClean="0">
                <a:solidFill>
                  <a:srgbClr val="000000"/>
                </a:solidFill>
              </a:rPr>
              <a:t>80</a:t>
            </a:r>
            <a:r>
              <a:rPr lang="zh-CN" altLang="en-US" b="0" smtClean="0">
                <a:solidFill>
                  <a:srgbClr val="000000"/>
                </a:solidFill>
              </a:rPr>
              <a:t>、</a:t>
            </a:r>
            <a:r>
              <a:rPr lang="en-US" altLang="zh-CN" b="0" smtClean="0">
                <a:solidFill>
                  <a:srgbClr val="000000"/>
                </a:solidFill>
              </a:rPr>
              <a:t>80</a:t>
            </a:r>
            <a:r>
              <a:rPr lang="zh-CN" altLang="en-US" b="0" smtClean="0">
                <a:solidFill>
                  <a:srgbClr val="000000"/>
                </a:solidFill>
              </a:rPr>
              <a:t>、</a:t>
            </a:r>
            <a:r>
              <a:rPr lang="en-US" altLang="zh-CN" b="0" smtClean="0">
                <a:solidFill>
                  <a:srgbClr val="000000"/>
                </a:solidFill>
              </a:rPr>
              <a:t>85</a:t>
            </a:r>
            <a:r>
              <a:rPr lang="zh-CN" altLang="en-US" b="0" smtClean="0">
                <a:solidFill>
                  <a:srgbClr val="000000"/>
                </a:solidFill>
              </a:rPr>
              <a:t>、</a:t>
            </a:r>
            <a:r>
              <a:rPr lang="en-US" altLang="zh-CN" b="0" smtClean="0">
                <a:solidFill>
                  <a:srgbClr val="000000"/>
                </a:solidFill>
              </a:rPr>
              <a:t>85</a:t>
            </a:r>
            <a:r>
              <a:rPr lang="zh-CN" altLang="en-US" b="0" smtClean="0">
                <a:solidFill>
                  <a:srgbClr val="000000"/>
                </a:solidFill>
              </a:rPr>
              <a:t>，</a:t>
            </a:r>
          </a:p>
          <a:p>
            <a:pPr eaLnBrk="1" hangingPunct="1">
              <a:lnSpc>
                <a:spcPct val="140000"/>
              </a:lnSpc>
              <a:buFontTx/>
              <a:buNone/>
            </a:pPr>
            <a:r>
              <a:rPr lang="zh-CN" altLang="en-US" b="0" smtClean="0">
                <a:solidFill>
                  <a:srgbClr val="000000"/>
                </a:solidFill>
              </a:rPr>
              <a:t>   他们的平均成绩是多少？</a:t>
            </a:r>
          </a:p>
          <a:p>
            <a:pPr eaLnBrk="1" hangingPunct="1">
              <a:lnSpc>
                <a:spcPct val="140000"/>
              </a:lnSpc>
              <a:buFontTx/>
              <a:buNone/>
            </a:pPr>
            <a:r>
              <a:rPr lang="zh-CN" altLang="en-US" b="0" smtClean="0">
                <a:solidFill>
                  <a:srgbClr val="000000"/>
                </a:solidFill>
              </a:rPr>
              <a:t>    （</a:t>
            </a:r>
            <a:r>
              <a:rPr lang="en-US" altLang="zh-CN" b="0" smtClean="0">
                <a:solidFill>
                  <a:srgbClr val="000000"/>
                </a:solidFill>
              </a:rPr>
              <a:t>70+80+80+85+85</a:t>
            </a:r>
            <a:r>
              <a:rPr lang="zh-CN" altLang="en-US" b="0" smtClean="0">
                <a:solidFill>
                  <a:srgbClr val="000000"/>
                </a:solidFill>
              </a:rPr>
              <a:t>）</a:t>
            </a:r>
            <a:r>
              <a:rPr lang="en-US" altLang="zh-CN" b="0" smtClean="0">
                <a:solidFill>
                  <a:srgbClr val="000000"/>
                </a:solidFill>
              </a:rPr>
              <a:t>/5=80</a:t>
            </a:r>
            <a:r>
              <a:rPr lang="zh-CN" altLang="en-US" b="0" smtClean="0">
                <a:solidFill>
                  <a:srgbClr val="000000"/>
                </a:solidFill>
              </a:rPr>
              <a:t>（分）</a:t>
            </a:r>
          </a:p>
          <a:p>
            <a:pPr eaLnBrk="1" hangingPunct="1">
              <a:lnSpc>
                <a:spcPct val="140000"/>
              </a:lnSpc>
              <a:buFontTx/>
              <a:buNone/>
            </a:pPr>
            <a:endParaRPr lang="zh-CN" altLang="en-US" b="0" smtClean="0">
              <a:solidFill>
                <a:srgbClr val="000000"/>
              </a:solidFill>
            </a:endParaRPr>
          </a:p>
          <a:p>
            <a:pPr eaLnBrk="1" hangingPunct="1">
              <a:lnSpc>
                <a:spcPct val="140000"/>
              </a:lnSpc>
              <a:buFontTx/>
              <a:buNone/>
            </a:pPr>
            <a:endParaRPr lang="en-US" altLang="zh-CN" b="0" smtClean="0">
              <a:solidFill>
                <a:srgbClr val="000000"/>
              </a:solidFill>
            </a:endParaRPr>
          </a:p>
        </p:txBody>
      </p:sp>
      <p:graphicFrame>
        <p:nvGraphicFramePr>
          <p:cNvPr id="185348" name="Object 4"/>
          <p:cNvGraphicFramePr>
            <a:graphicFrameLocks noChangeAspect="1"/>
          </p:cNvGraphicFramePr>
          <p:nvPr>
            <p:extLst>
              <p:ext uri="{D42A27DB-BD31-4B8C-83A1-F6EECF244321}">
                <p14:modId xmlns:p14="http://schemas.microsoft.com/office/powerpoint/2010/main" val="806388344"/>
              </p:ext>
            </p:extLst>
          </p:nvPr>
        </p:nvGraphicFramePr>
        <p:xfrm>
          <a:off x="2057151" y="5063086"/>
          <a:ext cx="4956944" cy="1111250"/>
        </p:xfrm>
        <a:graphic>
          <a:graphicData uri="http://schemas.openxmlformats.org/presentationml/2006/ole">
            <mc:AlternateContent xmlns:mc="http://schemas.openxmlformats.org/markup-compatibility/2006">
              <mc:Choice xmlns:v="urn:schemas-microsoft-com:vml" Requires="v">
                <p:oleObj spid="_x0000_s14516" name="公式" r:id="rId3" imgW="1574640" imgH="393480" progId="Equation.3">
                  <p:embed/>
                </p:oleObj>
              </mc:Choice>
              <mc:Fallback>
                <p:oleObj name="公式" r:id="rId3" imgW="1574640" imgH="3934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151" y="5063086"/>
                        <a:ext cx="4956944" cy="1111250"/>
                      </a:xfrm>
                      <a:prstGeom prst="rect">
                        <a:avLst/>
                      </a:prstGeom>
                      <a:solidFill>
                        <a:schemeClr val="accent1"/>
                      </a:solidFill>
                      <a:ln w="9525">
                        <a:solidFill>
                          <a:schemeClr val="tx2"/>
                        </a:solidFill>
                        <a:miter lim="800000"/>
                        <a:headEnd/>
                        <a:tailEnd/>
                      </a:ln>
                      <a:effectLs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46</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5348"/>
                                        </p:tgtEl>
                                        <p:attrNameLst>
                                          <p:attrName>style.visibility</p:attrName>
                                        </p:attrNameLst>
                                      </p:cBhvr>
                                      <p:to>
                                        <p:strVal val="visible"/>
                                      </p:to>
                                    </p:set>
                                    <p:anim calcmode="lin" valueType="num">
                                      <p:cBhvr additive="base">
                                        <p:cTn id="7" dur="500" fill="hold"/>
                                        <p:tgtEl>
                                          <p:spTgt spid="185348"/>
                                        </p:tgtEl>
                                        <p:attrNameLst>
                                          <p:attrName>ppt_x</p:attrName>
                                        </p:attrNameLst>
                                      </p:cBhvr>
                                      <p:tavLst>
                                        <p:tav tm="0">
                                          <p:val>
                                            <p:strVal val="0-#ppt_w/2"/>
                                          </p:val>
                                        </p:tav>
                                        <p:tav tm="100000">
                                          <p:val>
                                            <p:strVal val="#ppt_x"/>
                                          </p:val>
                                        </p:tav>
                                      </p:tavLst>
                                    </p:anim>
                                    <p:anim calcmode="lin" valueType="num">
                                      <p:cBhvr additive="base">
                                        <p:cTn id="8"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323850" y="260350"/>
            <a:ext cx="7772400" cy="990600"/>
          </a:xfrm>
        </p:spPr>
        <p:txBody>
          <a:bodyPr/>
          <a:lstStyle/>
          <a:p>
            <a:pPr eaLnBrk="1" hangingPunct="1"/>
            <a:r>
              <a:rPr lang="zh-CN" altLang="en-US" sz="4000" dirty="0" smtClean="0">
                <a:solidFill>
                  <a:srgbClr val="1313FF"/>
                </a:solidFill>
              </a:rPr>
              <a:t>（</a:t>
            </a:r>
            <a:r>
              <a:rPr lang="en-US" altLang="zh-CN" sz="4000" dirty="0" smtClean="0">
                <a:solidFill>
                  <a:srgbClr val="1313FF"/>
                </a:solidFill>
              </a:rPr>
              <a:t>2</a:t>
            </a:r>
            <a:r>
              <a:rPr lang="zh-CN" altLang="en-US" sz="4000" dirty="0" smtClean="0">
                <a:solidFill>
                  <a:srgbClr val="1313FF"/>
                </a:solidFill>
              </a:rPr>
              <a:t>）加权算术平均数</a:t>
            </a:r>
          </a:p>
        </p:txBody>
      </p:sp>
      <p:sp>
        <p:nvSpPr>
          <p:cNvPr id="15365" name="Rectangle 3"/>
          <p:cNvSpPr>
            <a:spLocks noGrp="1" noChangeArrowheads="1"/>
          </p:cNvSpPr>
          <p:nvPr>
            <p:ph type="body" idx="1"/>
          </p:nvPr>
        </p:nvSpPr>
        <p:spPr>
          <a:xfrm>
            <a:off x="971550" y="1125538"/>
            <a:ext cx="7772400" cy="838200"/>
          </a:xfrm>
        </p:spPr>
        <p:txBody>
          <a:bodyPr/>
          <a:lstStyle/>
          <a:p>
            <a:pPr marL="0" indent="0" eaLnBrk="1" hangingPunct="1">
              <a:lnSpc>
                <a:spcPct val="160000"/>
              </a:lnSpc>
              <a:buFontTx/>
              <a:buNone/>
            </a:pPr>
            <a:r>
              <a:rPr lang="en-US" altLang="zh-CN" sz="2800" smtClean="0"/>
              <a:t>         </a:t>
            </a:r>
            <a:r>
              <a:rPr lang="en-US" altLang="zh-CN" sz="2800" smtClean="0">
                <a:solidFill>
                  <a:schemeClr val="tx2"/>
                </a:solidFill>
                <a:latin typeface="Times New Roman" pitchFamily="18" charset="0"/>
              </a:rPr>
              <a:t>——</a:t>
            </a:r>
            <a:r>
              <a:rPr lang="zh-CN" altLang="en-US" sz="2800" smtClean="0">
                <a:solidFill>
                  <a:schemeClr val="tx2"/>
                </a:solidFill>
              </a:rPr>
              <a:t>当数据已分组</a:t>
            </a:r>
            <a:r>
              <a:rPr lang="zh-CN" altLang="en-US" sz="2800" b="0" smtClean="0">
                <a:solidFill>
                  <a:srgbClr val="000000"/>
                </a:solidFill>
              </a:rPr>
              <a:t>，形成了变量数列：</a:t>
            </a:r>
          </a:p>
        </p:txBody>
      </p:sp>
      <p:graphicFrame>
        <p:nvGraphicFramePr>
          <p:cNvPr id="465924" name="Group 4"/>
          <p:cNvGraphicFramePr>
            <a:graphicFrameLocks noGrp="1"/>
          </p:cNvGraphicFramePr>
          <p:nvPr/>
        </p:nvGraphicFramePr>
        <p:xfrm>
          <a:off x="323850" y="1844675"/>
          <a:ext cx="2160588" cy="3227261"/>
        </p:xfrm>
        <a:graphic>
          <a:graphicData uri="http://schemas.openxmlformats.org/drawingml/2006/table">
            <a:tbl>
              <a:tblPr/>
              <a:tblGrid>
                <a:gridCol w="1127125">
                  <a:extLst>
                    <a:ext uri="{9D8B030D-6E8A-4147-A177-3AD203B41FA5}">
                      <a16:colId xmlns:a16="http://schemas.microsoft.com/office/drawing/2014/main" val="20000"/>
                    </a:ext>
                  </a:extLst>
                </a:gridCol>
                <a:gridCol w="1033463">
                  <a:extLst>
                    <a:ext uri="{9D8B030D-6E8A-4147-A177-3AD203B41FA5}">
                      <a16:colId xmlns:a16="http://schemas.microsoft.com/office/drawing/2014/main" val="20001"/>
                    </a:ext>
                  </a:extLst>
                </a:gridCol>
              </a:tblGrid>
              <a:tr h="576263">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成绩</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  </a:t>
                      </a:r>
                      <a:r>
                        <a:rPr kumimoji="1" lang="en-US" altLang="zh-CN" sz="2800" b="1" i="0" u="none" strike="noStrike" cap="none" normalizeH="0" baseline="0" smtClean="0">
                          <a:ln>
                            <a:noFill/>
                          </a:ln>
                          <a:solidFill>
                            <a:srgbClr val="C56B9E"/>
                          </a:solidFill>
                          <a:effectLst/>
                          <a:latin typeface="Tahoma" pitchFamily="34" charset="0"/>
                          <a:ea typeface="宋体" pitchFamily="2" charset="-122"/>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人数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50323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 f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a:noFill/>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636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70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80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85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合计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381" name="Rectangle 19"/>
          <p:cNvSpPr>
            <a:spLocks noChangeArrowheads="1"/>
          </p:cNvSpPr>
          <p:nvPr/>
        </p:nvSpPr>
        <p:spPr bwMode="auto">
          <a:xfrm>
            <a:off x="2843213" y="2205038"/>
            <a:ext cx="5400675" cy="641350"/>
          </a:xfrm>
          <a:prstGeom prst="rect">
            <a:avLst/>
          </a:prstGeom>
          <a:noFill/>
          <a:ln w="9525">
            <a:noFill/>
            <a:miter lim="800000"/>
            <a:headEnd/>
            <a:tailEnd/>
          </a:ln>
        </p:spPr>
        <p:txBody>
          <a:bodyPr>
            <a:spAutoFit/>
          </a:bodyPr>
          <a:lstStyle/>
          <a:p>
            <a:r>
              <a:rPr lang="zh-CN" altLang="en-US" sz="3200" dirty="0">
                <a:solidFill>
                  <a:srgbClr val="000000"/>
                </a:solidFill>
                <a:latin typeface="Tahoma" pitchFamily="34" charset="0"/>
                <a:ea typeface="宋体" pitchFamily="2" charset="-122"/>
              </a:rPr>
              <a:t>平均成绩</a:t>
            </a:r>
            <a:r>
              <a:rPr lang="en-US" altLang="zh-CN" sz="3200" dirty="0">
                <a:solidFill>
                  <a:srgbClr val="000000"/>
                </a:solidFill>
                <a:latin typeface="Tahoma" pitchFamily="34" charset="0"/>
                <a:ea typeface="宋体" pitchFamily="2" charset="-122"/>
              </a:rPr>
              <a:t>=</a:t>
            </a:r>
            <a:r>
              <a:rPr lang="zh-CN" altLang="en-US" dirty="0">
                <a:solidFill>
                  <a:srgbClr val="000000"/>
                </a:solidFill>
                <a:latin typeface="Tahoma" pitchFamily="34" charset="0"/>
                <a:ea typeface="宋体" pitchFamily="2" charset="-122"/>
              </a:rPr>
              <a:t>（</a:t>
            </a:r>
            <a:r>
              <a:rPr lang="en-US" altLang="zh-CN" dirty="0">
                <a:solidFill>
                  <a:srgbClr val="000000"/>
                </a:solidFill>
                <a:latin typeface="Tahoma" pitchFamily="34" charset="0"/>
                <a:ea typeface="宋体" pitchFamily="2" charset="-122"/>
              </a:rPr>
              <a:t>70+80+85</a:t>
            </a:r>
            <a:r>
              <a:rPr lang="zh-CN" altLang="en-US" dirty="0">
                <a:solidFill>
                  <a:srgbClr val="000000"/>
                </a:solidFill>
                <a:latin typeface="Tahoma" pitchFamily="34" charset="0"/>
                <a:ea typeface="宋体" pitchFamily="2" charset="-122"/>
              </a:rPr>
              <a:t>）</a:t>
            </a:r>
            <a:r>
              <a:rPr lang="en-US" altLang="zh-CN" dirty="0">
                <a:solidFill>
                  <a:srgbClr val="000000"/>
                </a:solidFill>
                <a:latin typeface="Tahoma" pitchFamily="34" charset="0"/>
                <a:ea typeface="宋体" pitchFamily="2" charset="-122"/>
              </a:rPr>
              <a:t>/ 3   </a:t>
            </a:r>
            <a:r>
              <a:rPr lang="en-US" altLang="zh-CN" dirty="0" smtClean="0">
                <a:solidFill>
                  <a:srgbClr val="000000"/>
                </a:solidFill>
                <a:latin typeface="Tahoma" pitchFamily="34" charset="0"/>
                <a:ea typeface="宋体" pitchFamily="2" charset="-122"/>
              </a:rPr>
              <a:t>   </a:t>
            </a:r>
            <a:r>
              <a:rPr lang="zh-CN" altLang="en-US" sz="3600" b="1" dirty="0" smtClean="0">
                <a:solidFill>
                  <a:srgbClr val="FF3300"/>
                </a:solidFill>
                <a:latin typeface="Tahoma" pitchFamily="34" charset="0"/>
                <a:ea typeface="宋体" pitchFamily="2" charset="-122"/>
              </a:rPr>
              <a:t>？</a:t>
            </a:r>
            <a:r>
              <a:rPr lang="zh-CN" altLang="en-US" b="1" dirty="0" smtClean="0">
                <a:solidFill>
                  <a:srgbClr val="FF3300"/>
                </a:solidFill>
                <a:latin typeface="Tahoma" pitchFamily="34" charset="0"/>
                <a:ea typeface="宋体" pitchFamily="2" charset="-122"/>
              </a:rPr>
              <a:t>     </a:t>
            </a:r>
            <a:endParaRPr lang="zh-CN" altLang="en-US" sz="4000" b="1" dirty="0">
              <a:solidFill>
                <a:srgbClr val="FF3300"/>
              </a:solidFill>
              <a:latin typeface="Tahoma" pitchFamily="34" charset="0"/>
              <a:ea typeface="宋体" pitchFamily="2" charset="-122"/>
            </a:endParaRPr>
          </a:p>
        </p:txBody>
      </p:sp>
      <p:sp>
        <p:nvSpPr>
          <p:cNvPr id="465940" name="Rectangle 20"/>
          <p:cNvSpPr>
            <a:spLocks noChangeArrowheads="1"/>
          </p:cNvSpPr>
          <p:nvPr/>
        </p:nvSpPr>
        <p:spPr bwMode="auto">
          <a:xfrm>
            <a:off x="2854261" y="3250112"/>
            <a:ext cx="5832475" cy="1569660"/>
          </a:xfrm>
          <a:prstGeom prst="rect">
            <a:avLst/>
          </a:prstGeom>
          <a:noFill/>
          <a:ln w="9525">
            <a:noFill/>
            <a:miter lim="800000"/>
            <a:headEnd/>
            <a:tailEnd/>
          </a:ln>
        </p:spPr>
        <p:txBody>
          <a:bodyPr>
            <a:spAutoFit/>
          </a:bodyPr>
          <a:lstStyle/>
          <a:p>
            <a:r>
              <a:rPr lang="zh-CN" altLang="en-US" sz="3200" b="1" dirty="0">
                <a:solidFill>
                  <a:srgbClr val="000000"/>
                </a:solidFill>
                <a:latin typeface="Tahoma" pitchFamily="34" charset="0"/>
                <a:ea typeface="宋体" pitchFamily="2" charset="-122"/>
              </a:rPr>
              <a:t>平均成绩</a:t>
            </a:r>
          </a:p>
          <a:p>
            <a:r>
              <a:rPr lang="en-US" altLang="zh-CN" sz="3200" b="1" dirty="0">
                <a:solidFill>
                  <a:srgbClr val="000000"/>
                </a:solidFill>
                <a:latin typeface="Tahoma" pitchFamily="34" charset="0"/>
                <a:ea typeface="宋体" pitchFamily="2" charset="-122"/>
              </a:rPr>
              <a:t>=</a:t>
            </a:r>
            <a:r>
              <a:rPr lang="zh-CN" altLang="en-US" sz="2800" b="1" dirty="0">
                <a:solidFill>
                  <a:srgbClr val="000000"/>
                </a:solidFill>
                <a:latin typeface="Tahoma" pitchFamily="34" charset="0"/>
                <a:ea typeface="宋体" pitchFamily="2" charset="-122"/>
              </a:rPr>
              <a:t>所有人的成绩总和</a:t>
            </a:r>
            <a:r>
              <a:rPr lang="en-US" altLang="zh-CN" sz="2800" b="1" dirty="0">
                <a:solidFill>
                  <a:srgbClr val="000000"/>
                </a:solidFill>
                <a:latin typeface="Tahoma" pitchFamily="34" charset="0"/>
                <a:ea typeface="宋体" pitchFamily="2" charset="-122"/>
              </a:rPr>
              <a:t>/</a:t>
            </a:r>
            <a:r>
              <a:rPr lang="zh-CN" altLang="en-US" sz="2800" b="1" dirty="0">
                <a:solidFill>
                  <a:srgbClr val="000000"/>
                </a:solidFill>
                <a:latin typeface="Tahoma" pitchFamily="34" charset="0"/>
                <a:ea typeface="宋体" pitchFamily="2" charset="-122"/>
              </a:rPr>
              <a:t>总人数</a:t>
            </a:r>
            <a:endParaRPr lang="zh-CN" altLang="en-US" sz="4000" b="1" dirty="0">
              <a:solidFill>
                <a:srgbClr val="FF3300"/>
              </a:solidFill>
              <a:latin typeface="Tahoma" pitchFamily="34" charset="0"/>
              <a:ea typeface="宋体" pitchFamily="2" charset="-122"/>
            </a:endParaRPr>
          </a:p>
          <a:p>
            <a:r>
              <a:rPr lang="en-US" altLang="zh-CN" sz="3200" dirty="0">
                <a:solidFill>
                  <a:srgbClr val="000000"/>
                </a:solidFill>
                <a:latin typeface="Tahoma" pitchFamily="34" charset="0"/>
                <a:ea typeface="宋体" pitchFamily="2" charset="-122"/>
              </a:rPr>
              <a:t>=</a:t>
            </a:r>
            <a:r>
              <a:rPr lang="zh-CN" altLang="en-US" dirty="0">
                <a:solidFill>
                  <a:srgbClr val="000000"/>
                </a:solidFill>
                <a:latin typeface="Tahoma" pitchFamily="34" charset="0"/>
                <a:ea typeface="宋体" pitchFamily="2" charset="-122"/>
              </a:rPr>
              <a:t>（</a:t>
            </a:r>
            <a:r>
              <a:rPr lang="en-US" altLang="zh-CN" dirty="0">
                <a:solidFill>
                  <a:srgbClr val="000000"/>
                </a:solidFill>
                <a:latin typeface="Tahoma" pitchFamily="34" charset="0"/>
                <a:ea typeface="宋体" pitchFamily="2" charset="-122"/>
              </a:rPr>
              <a:t>70</a:t>
            </a:r>
            <a:r>
              <a:rPr lang="en-US" altLang="zh-CN" dirty="0">
                <a:solidFill>
                  <a:srgbClr val="C00000"/>
                </a:solidFill>
                <a:latin typeface="Tahoma" pitchFamily="34" charset="0"/>
                <a:ea typeface="宋体" pitchFamily="2" charset="-122"/>
                <a:cs typeface="Tahoma" pitchFamily="34" charset="0"/>
              </a:rPr>
              <a:t>×1</a:t>
            </a:r>
            <a:r>
              <a:rPr lang="en-US" altLang="zh-CN" dirty="0">
                <a:solidFill>
                  <a:srgbClr val="000000"/>
                </a:solidFill>
                <a:latin typeface="Tahoma" pitchFamily="34" charset="0"/>
                <a:ea typeface="宋体" pitchFamily="2" charset="-122"/>
              </a:rPr>
              <a:t>+80</a:t>
            </a:r>
            <a:r>
              <a:rPr lang="en-US" altLang="zh-CN" dirty="0">
                <a:solidFill>
                  <a:srgbClr val="C00000"/>
                </a:solidFill>
                <a:latin typeface="Tahoma" pitchFamily="34" charset="0"/>
                <a:ea typeface="宋体" pitchFamily="2" charset="-122"/>
              </a:rPr>
              <a:t>×2</a:t>
            </a:r>
            <a:r>
              <a:rPr lang="en-US" altLang="zh-CN" dirty="0">
                <a:solidFill>
                  <a:srgbClr val="000000"/>
                </a:solidFill>
                <a:latin typeface="Tahoma" pitchFamily="34" charset="0"/>
                <a:ea typeface="宋体" pitchFamily="2" charset="-122"/>
              </a:rPr>
              <a:t>+85</a:t>
            </a:r>
            <a:r>
              <a:rPr lang="en-US" altLang="zh-CN" dirty="0">
                <a:solidFill>
                  <a:srgbClr val="C00000"/>
                </a:solidFill>
                <a:latin typeface="Tahoma" pitchFamily="34" charset="0"/>
                <a:ea typeface="宋体" pitchFamily="2" charset="-122"/>
              </a:rPr>
              <a:t>×2</a:t>
            </a:r>
            <a:r>
              <a:rPr lang="zh-CN" altLang="en-US" dirty="0">
                <a:solidFill>
                  <a:srgbClr val="000000"/>
                </a:solidFill>
                <a:latin typeface="Tahoma" pitchFamily="34" charset="0"/>
                <a:ea typeface="宋体" pitchFamily="2" charset="-122"/>
              </a:rPr>
              <a:t>）</a:t>
            </a:r>
            <a:r>
              <a:rPr lang="en-US" altLang="zh-CN" dirty="0">
                <a:solidFill>
                  <a:srgbClr val="C00000"/>
                </a:solidFill>
                <a:latin typeface="Tahoma" pitchFamily="34" charset="0"/>
                <a:ea typeface="宋体" pitchFamily="2" charset="-122"/>
              </a:rPr>
              <a:t>/</a:t>
            </a:r>
            <a:r>
              <a:rPr lang="en-US" altLang="zh-CN" dirty="0" smtClean="0">
                <a:solidFill>
                  <a:srgbClr val="C00000"/>
                </a:solidFill>
                <a:latin typeface="Tahoma" pitchFamily="34" charset="0"/>
                <a:ea typeface="宋体" pitchFamily="2" charset="-122"/>
              </a:rPr>
              <a:t>5</a:t>
            </a:r>
            <a:r>
              <a:rPr lang="en-US" altLang="zh-CN" dirty="0" smtClean="0">
                <a:solidFill>
                  <a:srgbClr val="000000"/>
                </a:solidFill>
                <a:latin typeface="Tahoma" pitchFamily="34" charset="0"/>
                <a:ea typeface="宋体" pitchFamily="2" charset="-122"/>
              </a:rPr>
              <a:t>=80</a:t>
            </a:r>
            <a:endParaRPr lang="zh-CN" altLang="en-US" sz="4000" dirty="0">
              <a:solidFill>
                <a:srgbClr val="FF3300"/>
              </a:solidFill>
              <a:latin typeface="Tahoma" pitchFamily="34" charset="0"/>
              <a:ea typeface="宋体" pitchFamily="2" charset="-122"/>
            </a:endParaRPr>
          </a:p>
        </p:txBody>
      </p:sp>
      <p:graphicFrame>
        <p:nvGraphicFramePr>
          <p:cNvPr id="465941" name="Object 21"/>
          <p:cNvGraphicFramePr>
            <a:graphicFrameLocks noChangeAspect="1"/>
          </p:cNvGraphicFramePr>
          <p:nvPr/>
        </p:nvGraphicFramePr>
        <p:xfrm>
          <a:off x="2987824" y="5157192"/>
          <a:ext cx="5153823" cy="1162370"/>
        </p:xfrm>
        <a:graphic>
          <a:graphicData uri="http://schemas.openxmlformats.org/presentationml/2006/ole">
            <mc:AlternateContent xmlns:mc="http://schemas.openxmlformats.org/markup-compatibility/2006">
              <mc:Choice xmlns:v="urn:schemas-microsoft-com:vml" Requires="v">
                <p:oleObj spid="_x0000_s15540" name="公式" r:id="rId3" imgW="2031840" imgH="431640" progId="Equation.3">
                  <p:embed/>
                </p:oleObj>
              </mc:Choice>
              <mc:Fallback>
                <p:oleObj name="公式" r:id="rId3" imgW="2031840" imgH="4316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5157192"/>
                        <a:ext cx="5153823" cy="1162370"/>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47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5940"/>
                                        </p:tgtEl>
                                        <p:attrNameLst>
                                          <p:attrName>style.visibility</p:attrName>
                                        </p:attrNameLst>
                                      </p:cBhvr>
                                      <p:to>
                                        <p:strVal val="visible"/>
                                      </p:to>
                                    </p:set>
                                    <p:anim calcmode="lin" valueType="num">
                                      <p:cBhvr additive="base">
                                        <p:cTn id="7" dur="500" fill="hold"/>
                                        <p:tgtEl>
                                          <p:spTgt spid="465940"/>
                                        </p:tgtEl>
                                        <p:attrNameLst>
                                          <p:attrName>ppt_x</p:attrName>
                                        </p:attrNameLst>
                                      </p:cBhvr>
                                      <p:tavLst>
                                        <p:tav tm="0">
                                          <p:val>
                                            <p:strVal val="1+#ppt_w/2"/>
                                          </p:val>
                                        </p:tav>
                                        <p:tav tm="100000">
                                          <p:val>
                                            <p:strVal val="#ppt_x"/>
                                          </p:val>
                                        </p:tav>
                                      </p:tavLst>
                                    </p:anim>
                                    <p:anim calcmode="lin" valueType="num">
                                      <p:cBhvr additive="base">
                                        <p:cTn id="8" dur="500" fill="hold"/>
                                        <p:tgtEl>
                                          <p:spTgt spid="465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465941"/>
                                        </p:tgtEl>
                                        <p:attrNameLst>
                                          <p:attrName>style.visibility</p:attrName>
                                        </p:attrNameLst>
                                      </p:cBhvr>
                                      <p:to>
                                        <p:strVal val="visible"/>
                                      </p:to>
                                    </p:set>
                                    <p:anim calcmode="lin" valueType="num">
                                      <p:cBhvr additive="base">
                                        <p:cTn id="13" dur="500" fill="hold"/>
                                        <p:tgtEl>
                                          <p:spTgt spid="465941"/>
                                        </p:tgtEl>
                                        <p:attrNameLst>
                                          <p:attrName>ppt_x</p:attrName>
                                        </p:attrNameLst>
                                      </p:cBhvr>
                                      <p:tavLst>
                                        <p:tav tm="0">
                                          <p:val>
                                            <p:strVal val="#ppt_x"/>
                                          </p:val>
                                        </p:tav>
                                        <p:tav tm="100000">
                                          <p:val>
                                            <p:strVal val="#ppt_x"/>
                                          </p:val>
                                        </p:tav>
                                      </p:tavLst>
                                    </p:anim>
                                    <p:anim calcmode="lin" valueType="num">
                                      <p:cBhvr additive="base">
                                        <p:cTn id="14" dur="500" fill="hold"/>
                                        <p:tgtEl>
                                          <p:spTgt spid="46594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4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6438" name="Object 6"/>
          <p:cNvGraphicFramePr>
            <a:graphicFrameLocks noChangeAspect="1"/>
          </p:cNvGraphicFramePr>
          <p:nvPr>
            <p:extLst>
              <p:ext uri="{D42A27DB-BD31-4B8C-83A1-F6EECF244321}">
                <p14:modId xmlns:p14="http://schemas.microsoft.com/office/powerpoint/2010/main" val="1545129566"/>
              </p:ext>
            </p:extLst>
          </p:nvPr>
        </p:nvGraphicFramePr>
        <p:xfrm>
          <a:off x="2843809" y="4486036"/>
          <a:ext cx="4824536" cy="1032655"/>
        </p:xfrm>
        <a:graphic>
          <a:graphicData uri="http://schemas.openxmlformats.org/presentationml/2006/ole">
            <mc:AlternateContent xmlns:mc="http://schemas.openxmlformats.org/markup-compatibility/2006">
              <mc:Choice xmlns:v="urn:schemas-microsoft-com:vml" Requires="v">
                <p:oleObj spid="_x0000_s16744" name="Equation" r:id="rId3" imgW="1765080" imgH="419040" progId="Equation.DSMT4">
                  <p:embed/>
                </p:oleObj>
              </mc:Choice>
              <mc:Fallback>
                <p:oleObj name="Equation" r:id="rId3" imgW="1765080" imgH="4190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9" y="4486036"/>
                        <a:ext cx="4824536" cy="1032655"/>
                      </a:xfrm>
                      <a:prstGeom prst="rect">
                        <a:avLst/>
                      </a:prstGeom>
                      <a:noFill/>
                      <a:extLst/>
                    </p:spPr>
                  </p:pic>
                </p:oleObj>
              </mc:Fallback>
            </mc:AlternateContent>
          </a:graphicData>
        </a:graphic>
      </p:graphicFrame>
      <p:sp>
        <p:nvSpPr>
          <p:cNvPr id="146440" name="Text Box 8"/>
          <p:cNvSpPr txBox="1">
            <a:spLocks noChangeArrowheads="1"/>
          </p:cNvSpPr>
          <p:nvPr/>
        </p:nvSpPr>
        <p:spPr bwMode="auto">
          <a:xfrm>
            <a:off x="684213" y="1052513"/>
            <a:ext cx="7561262" cy="3651250"/>
          </a:xfrm>
          <a:prstGeom prst="rect">
            <a:avLst/>
          </a:prstGeom>
          <a:noFill/>
          <a:ln w="9525">
            <a:noFill/>
            <a:miter lim="800000"/>
            <a:headEnd/>
            <a:tailEnd/>
          </a:ln>
        </p:spPr>
        <p:txBody>
          <a:bodyPr>
            <a:spAutoFit/>
          </a:bodyPr>
          <a:lstStyle/>
          <a:p>
            <a:pPr>
              <a:lnSpc>
                <a:spcPct val="115000"/>
              </a:lnSpc>
              <a:spcBef>
                <a:spcPct val="25000"/>
              </a:spcBef>
              <a:buSzPct val="80000"/>
              <a:buFontTx/>
              <a:buBlip>
                <a:blip r:embed="rId5"/>
              </a:buBlip>
            </a:pPr>
            <a:r>
              <a:rPr lang="zh-CN" altLang="en-US" sz="2800" b="1" dirty="0">
                <a:solidFill>
                  <a:srgbClr val="1313FF"/>
                </a:solidFill>
                <a:latin typeface="Tahoma" pitchFamily="34" charset="0"/>
                <a:ea typeface="宋体" pitchFamily="2" charset="-122"/>
              </a:rPr>
              <a:t>权数（权重）</a:t>
            </a:r>
          </a:p>
          <a:p>
            <a:pPr lvl="1">
              <a:lnSpc>
                <a:spcPct val="115000"/>
              </a:lnSpc>
              <a:spcBef>
                <a:spcPct val="25000"/>
              </a:spcBef>
            </a:pPr>
            <a:r>
              <a:rPr lang="en-US" altLang="zh-CN" b="1" dirty="0">
                <a:solidFill>
                  <a:schemeClr val="tx2"/>
                </a:solidFill>
                <a:ea typeface="宋体" pitchFamily="2" charset="-122"/>
              </a:rPr>
              <a:t>——</a:t>
            </a:r>
            <a:r>
              <a:rPr lang="zh-CN" altLang="en-US" b="1" dirty="0">
                <a:solidFill>
                  <a:schemeClr val="tx2"/>
                </a:solidFill>
                <a:latin typeface="Verdana" pitchFamily="34" charset="0"/>
                <a:ea typeface="宋体" pitchFamily="2" charset="-122"/>
              </a:rPr>
              <a:t>权衡影响作用的轻重大小的数（变量）；</a:t>
            </a:r>
          </a:p>
          <a:p>
            <a:pPr lvl="1">
              <a:lnSpc>
                <a:spcPct val="115000"/>
              </a:lnSpc>
              <a:spcBef>
                <a:spcPct val="25000"/>
              </a:spcBef>
            </a:pPr>
            <a:r>
              <a:rPr lang="en-US" altLang="zh-CN" b="1" dirty="0">
                <a:solidFill>
                  <a:srgbClr val="006600"/>
                </a:solidFill>
                <a:ea typeface="宋体" pitchFamily="2" charset="-122"/>
              </a:rPr>
              <a:t>——</a:t>
            </a:r>
            <a:r>
              <a:rPr lang="zh-CN" altLang="en-US" b="1" dirty="0">
                <a:solidFill>
                  <a:srgbClr val="006600"/>
                </a:solidFill>
                <a:latin typeface="Tahoma" pitchFamily="34" charset="0"/>
                <a:ea typeface="宋体" pitchFamily="2" charset="-122"/>
              </a:rPr>
              <a:t>由变量数列计算平均数时，</a:t>
            </a:r>
            <a:r>
              <a:rPr lang="zh-CN" altLang="en-US" b="1" dirty="0">
                <a:solidFill>
                  <a:srgbClr val="006600"/>
                </a:solidFill>
              </a:rPr>
              <a:t>变量值出现的次数或比重就是权数。</a:t>
            </a:r>
            <a:endParaRPr lang="zh-CN" altLang="en-US" b="1" dirty="0">
              <a:solidFill>
                <a:srgbClr val="006600"/>
              </a:solidFill>
              <a:latin typeface="Verdana" pitchFamily="34" charset="0"/>
              <a:ea typeface="宋体" pitchFamily="2" charset="-122"/>
            </a:endParaRPr>
          </a:p>
          <a:p>
            <a:pPr>
              <a:lnSpc>
                <a:spcPct val="115000"/>
              </a:lnSpc>
              <a:spcBef>
                <a:spcPct val="25000"/>
              </a:spcBef>
              <a:buSzPct val="80000"/>
              <a:buFontTx/>
              <a:buBlip>
                <a:blip r:embed="rId5"/>
              </a:buBlip>
            </a:pPr>
            <a:r>
              <a:rPr lang="zh-CN" altLang="en-US" sz="2800" b="1" dirty="0">
                <a:solidFill>
                  <a:srgbClr val="1313FF"/>
                </a:solidFill>
                <a:latin typeface="Tahoma" pitchFamily="34" charset="0"/>
                <a:ea typeface="宋体" pitchFamily="2" charset="-122"/>
              </a:rPr>
              <a:t>权数的两种形式：</a:t>
            </a:r>
          </a:p>
          <a:p>
            <a:pPr lvl="1">
              <a:lnSpc>
                <a:spcPct val="115000"/>
              </a:lnSpc>
              <a:spcBef>
                <a:spcPct val="25000"/>
              </a:spcBef>
            </a:pPr>
            <a:r>
              <a:rPr lang="en-US" altLang="zh-CN" b="1" dirty="0">
                <a:solidFill>
                  <a:schemeClr val="tx2"/>
                </a:solidFill>
                <a:ea typeface="宋体" pitchFamily="2" charset="-122"/>
              </a:rPr>
              <a:t>—</a:t>
            </a:r>
            <a:r>
              <a:rPr lang="zh-CN" altLang="en-US" b="1" dirty="0">
                <a:solidFill>
                  <a:srgbClr val="000000"/>
                </a:solidFill>
                <a:latin typeface="Verdana" pitchFamily="34" charset="0"/>
                <a:ea typeface="宋体" pitchFamily="2" charset="-122"/>
              </a:rPr>
              <a:t>绝对数</a:t>
            </a:r>
            <a:r>
              <a:rPr lang="zh-CN" altLang="en-US" b="1" dirty="0" smtClean="0">
                <a:solidFill>
                  <a:srgbClr val="000000"/>
                </a:solidFill>
                <a:latin typeface="Verdana" pitchFamily="34" charset="0"/>
                <a:ea typeface="宋体" pitchFamily="2" charset="-122"/>
              </a:rPr>
              <a:t>（频数</a:t>
            </a:r>
            <a:r>
              <a:rPr lang="en-US" altLang="zh-CN" b="1" dirty="0" smtClean="0">
                <a:solidFill>
                  <a:srgbClr val="000000"/>
                </a:solidFill>
                <a:latin typeface="Verdana" pitchFamily="34" charset="0"/>
                <a:ea typeface="宋体" pitchFamily="2" charset="-122"/>
              </a:rPr>
              <a:t>f</a:t>
            </a:r>
            <a:r>
              <a:rPr lang="zh-CN" altLang="en-US" b="1" dirty="0" smtClean="0">
                <a:solidFill>
                  <a:srgbClr val="000000"/>
                </a:solidFill>
                <a:latin typeface="Verdana" pitchFamily="34" charset="0"/>
                <a:ea typeface="宋体" pitchFamily="2" charset="-122"/>
              </a:rPr>
              <a:t>）</a:t>
            </a:r>
            <a:endParaRPr lang="zh-CN" altLang="en-US" b="1" dirty="0">
              <a:solidFill>
                <a:srgbClr val="000000"/>
              </a:solidFill>
              <a:latin typeface="Verdana" pitchFamily="34" charset="0"/>
              <a:ea typeface="宋体" pitchFamily="2" charset="-122"/>
            </a:endParaRPr>
          </a:p>
          <a:p>
            <a:pPr lvl="1">
              <a:lnSpc>
                <a:spcPct val="115000"/>
              </a:lnSpc>
              <a:spcBef>
                <a:spcPct val="25000"/>
              </a:spcBef>
            </a:pPr>
            <a:r>
              <a:rPr lang="en-US" altLang="zh-CN" b="1" dirty="0">
                <a:solidFill>
                  <a:schemeClr val="tx2"/>
                </a:solidFill>
                <a:ea typeface="宋体" pitchFamily="2" charset="-122"/>
              </a:rPr>
              <a:t>—</a:t>
            </a:r>
            <a:r>
              <a:rPr lang="zh-CN" altLang="en-US" b="1" dirty="0">
                <a:solidFill>
                  <a:srgbClr val="000000"/>
                </a:solidFill>
                <a:latin typeface="Verdana" pitchFamily="34" charset="0"/>
                <a:ea typeface="宋体" pitchFamily="2" charset="-122"/>
              </a:rPr>
              <a:t>相对数（</a:t>
            </a:r>
            <a:r>
              <a:rPr lang="zh-CN" altLang="en-US" b="1" dirty="0" smtClean="0">
                <a:solidFill>
                  <a:srgbClr val="000000"/>
                </a:solidFill>
                <a:latin typeface="Verdana" pitchFamily="34" charset="0"/>
                <a:ea typeface="宋体" pitchFamily="2" charset="-122"/>
              </a:rPr>
              <a:t>比重</a:t>
            </a:r>
            <a:r>
              <a:rPr lang="en-US" altLang="zh-CN" b="1" dirty="0" smtClean="0">
                <a:solidFill>
                  <a:srgbClr val="000000"/>
                </a:solidFill>
                <a:latin typeface="Verdana" pitchFamily="34" charset="0"/>
                <a:ea typeface="宋体" pitchFamily="2" charset="-122"/>
              </a:rPr>
              <a:t>w</a:t>
            </a:r>
            <a:r>
              <a:rPr lang="zh-CN" altLang="en-US" b="1" dirty="0" smtClean="0">
                <a:solidFill>
                  <a:srgbClr val="000000"/>
                </a:solidFill>
                <a:latin typeface="Verdana" pitchFamily="34" charset="0"/>
                <a:ea typeface="宋体" pitchFamily="2" charset="-122"/>
              </a:rPr>
              <a:t>）</a:t>
            </a:r>
            <a:endParaRPr lang="zh-CN" altLang="en-US" b="1" dirty="0">
              <a:solidFill>
                <a:srgbClr val="000000"/>
              </a:solidFill>
              <a:latin typeface="Verdana" pitchFamily="34" charset="0"/>
              <a:ea typeface="宋体" pitchFamily="2" charset="-122"/>
            </a:endParaRPr>
          </a:p>
        </p:txBody>
      </p:sp>
      <p:sp>
        <p:nvSpPr>
          <p:cNvPr id="16390" name="Rectangle 11"/>
          <p:cNvSpPr>
            <a:spLocks noGrp="1" noChangeArrowheads="1"/>
          </p:cNvSpPr>
          <p:nvPr>
            <p:ph type="title"/>
          </p:nvPr>
        </p:nvSpPr>
        <p:spPr>
          <a:xfrm>
            <a:off x="827088" y="0"/>
            <a:ext cx="7772400" cy="990600"/>
          </a:xfrm>
        </p:spPr>
        <p:txBody>
          <a:bodyPr/>
          <a:lstStyle/>
          <a:p>
            <a:pPr eaLnBrk="1" hangingPunct="1"/>
            <a:r>
              <a:rPr lang="zh-CN" altLang="en-US" dirty="0" smtClean="0"/>
              <a:t>权数（权重）</a:t>
            </a:r>
          </a:p>
        </p:txBody>
      </p:sp>
      <p:graphicFrame>
        <p:nvGraphicFramePr>
          <p:cNvPr id="146437" name="Object 5"/>
          <p:cNvGraphicFramePr>
            <a:graphicFrameLocks noGrp="1" noChangeAspect="1"/>
          </p:cNvGraphicFramePr>
          <p:nvPr>
            <p:ph type="body" idx="1"/>
            <p:extLst>
              <p:ext uri="{D42A27DB-BD31-4B8C-83A1-F6EECF244321}">
                <p14:modId xmlns:p14="http://schemas.microsoft.com/office/powerpoint/2010/main" val="190800244"/>
              </p:ext>
            </p:extLst>
          </p:nvPr>
        </p:nvGraphicFramePr>
        <p:xfrm>
          <a:off x="3851920" y="3228099"/>
          <a:ext cx="2087562" cy="1277937"/>
        </p:xfrm>
        <a:graphic>
          <a:graphicData uri="http://schemas.openxmlformats.org/presentationml/2006/ole">
            <mc:AlternateContent xmlns:mc="http://schemas.openxmlformats.org/markup-compatibility/2006">
              <mc:Choice xmlns:v="urn:schemas-microsoft-com:vml" Requires="v">
                <p:oleObj spid="_x0000_s16745" name="Equation" r:id="rId6" imgW="545760" imgH="419040" progId="Equation.DSMT4">
                  <p:embed/>
                </p:oleObj>
              </mc:Choice>
              <mc:Fallback>
                <p:oleObj name="Equation" r:id="rId6" imgW="545760" imgH="41904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920" y="3228099"/>
                        <a:ext cx="2087562" cy="1277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6444" name="Rectangle 12"/>
          <p:cNvSpPr>
            <a:spLocks noChangeArrowheads="1"/>
          </p:cNvSpPr>
          <p:nvPr/>
        </p:nvSpPr>
        <p:spPr bwMode="auto">
          <a:xfrm>
            <a:off x="251520" y="5661248"/>
            <a:ext cx="7696200" cy="576262"/>
          </a:xfrm>
          <a:prstGeom prst="rect">
            <a:avLst/>
          </a:prstGeom>
          <a:noFill/>
          <a:ln w="9525">
            <a:noFill/>
            <a:miter lim="800000"/>
            <a:headEnd/>
            <a:tailEnd/>
          </a:ln>
        </p:spPr>
        <p:txBody>
          <a:bodyPr/>
          <a:lstStyle/>
          <a:p>
            <a:pPr marL="742950" lvl="1" indent="-285750">
              <a:lnSpc>
                <a:spcPct val="105000"/>
              </a:lnSpc>
              <a:spcBef>
                <a:spcPct val="20000"/>
              </a:spcBef>
              <a:buSzPct val="80000"/>
              <a:buFontTx/>
              <a:buBlip>
                <a:blip r:embed="rId5"/>
              </a:buBlip>
            </a:pPr>
            <a:r>
              <a:rPr lang="zh-CN" altLang="en-US" sz="2800" b="1" dirty="0">
                <a:solidFill>
                  <a:srgbClr val="1313FF"/>
                </a:solidFill>
                <a:latin typeface="Tahoma" pitchFamily="34" charset="0"/>
                <a:ea typeface="宋体" pitchFamily="2" charset="-122"/>
              </a:rPr>
              <a:t>简单算术平均法是加权算术平均法的特例</a:t>
            </a:r>
            <a:endParaRPr lang="zh-CN" altLang="en-US" sz="2800" b="1" dirty="0">
              <a:solidFill>
                <a:srgbClr val="1313FF"/>
              </a:solidFill>
              <a:latin typeface="Verdana" pitchFamily="34" charset="0"/>
              <a:ea typeface="宋体" pitchFamily="2" charset="-122"/>
            </a:endParaRPr>
          </a:p>
        </p:txBody>
      </p:sp>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48</a:t>
            </a:fld>
            <a:endParaRPr lang="en-US" altLang="zh-CN" dirty="0"/>
          </a:p>
        </p:txBody>
      </p:sp>
      <mc:AlternateContent xmlns:mc="http://schemas.openxmlformats.org/markup-compatibility/2006" xmlns:a14="http://schemas.microsoft.com/office/drawing/2010/main">
        <mc:Choice Requires="a14">
          <p:sp>
            <p:nvSpPr>
              <p:cNvPr id="3" name="文本框 2"/>
              <p:cNvSpPr txBox="1"/>
              <p:nvPr/>
            </p:nvSpPr>
            <p:spPr>
              <a:xfrm>
                <a:off x="7519369" y="4725144"/>
                <a:ext cx="1301103" cy="523220"/>
              </a:xfrm>
              <a:prstGeom prst="rect">
                <a:avLst/>
              </a:prstGeom>
              <a:noFill/>
            </p:spPr>
            <p:txBody>
              <a:bodyPr wrap="square" rtlCol="0">
                <a:spAutoFit/>
              </a:bodyPr>
              <a:lstStyle/>
              <a:p>
                <a:r>
                  <a:rPr lang="en-US" altLang="zh-CN" sz="2800" dirty="0" smtClean="0">
                    <a:solidFill>
                      <a:srgbClr val="006600"/>
                    </a:solidFill>
                  </a:rPr>
                  <a:t>=</a:t>
                </a:r>
                <a14:m>
                  <m:oMath xmlns:m="http://schemas.openxmlformats.org/officeDocument/2006/math">
                    <m:nary>
                      <m:naryPr>
                        <m:chr m:val="∑"/>
                        <m:subHide m:val="on"/>
                        <m:supHide m:val="on"/>
                        <m:ctrlPr>
                          <a:rPr lang="en-US" altLang="zh-CN" sz="2800" i="1" smtClean="0">
                            <a:solidFill>
                              <a:srgbClr val="006600"/>
                            </a:solidFill>
                            <a:latin typeface="Cambria Math" panose="02040503050406030204" pitchFamily="18" charset="0"/>
                          </a:rPr>
                        </m:ctrlPr>
                      </m:naryPr>
                      <m:sub/>
                      <m:sup/>
                      <m:e>
                        <m:r>
                          <m:rPr>
                            <m:sty m:val="p"/>
                          </m:rPr>
                          <a:rPr lang="en-US" altLang="zh-CN" sz="2800" i="1">
                            <a:solidFill>
                              <a:srgbClr val="006600"/>
                            </a:solidFill>
                            <a:latin typeface="Cambria Math" panose="02040503050406030204" pitchFamily="18" charset="0"/>
                          </a:rPr>
                          <m:t>xw</m:t>
                        </m:r>
                      </m:e>
                    </m:nary>
                  </m:oMath>
                </a14:m>
                <a:endParaRPr lang="zh-CN" altLang="en-US" sz="2800" dirty="0">
                  <a:solidFill>
                    <a:srgbClr val="006600"/>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7519369" y="4725144"/>
                <a:ext cx="1301103" cy="523220"/>
              </a:xfrm>
              <a:prstGeom prst="rect">
                <a:avLst/>
              </a:prstGeom>
              <a:blipFill>
                <a:blip r:embed="rId8"/>
                <a:stretch>
                  <a:fillRect l="-9346" t="-11628" b="-31395"/>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6440">
                                            <p:txEl>
                                              <p:pRg st="3" end="3"/>
                                            </p:txEl>
                                          </p:spTgt>
                                        </p:tgtEl>
                                        <p:attrNameLst>
                                          <p:attrName>style.visibility</p:attrName>
                                        </p:attrNameLst>
                                      </p:cBhvr>
                                      <p:to>
                                        <p:strVal val="visible"/>
                                      </p:to>
                                    </p:set>
                                    <p:animEffect transition="in" filter="blinds(horizontal)">
                                      <p:cBhvr>
                                        <p:cTn id="7" dur="500"/>
                                        <p:tgtEl>
                                          <p:spTgt spid="146440">
                                            <p:txEl>
                                              <p:pRg st="3" end="3"/>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6440">
                                            <p:txEl>
                                              <p:pRg st="4" end="4"/>
                                            </p:txEl>
                                          </p:spTgt>
                                        </p:tgtEl>
                                        <p:attrNameLst>
                                          <p:attrName>style.visibility</p:attrName>
                                        </p:attrNameLst>
                                      </p:cBhvr>
                                      <p:to>
                                        <p:strVal val="visible"/>
                                      </p:to>
                                    </p:set>
                                    <p:animEffect transition="in" filter="blinds(horizontal)">
                                      <p:cBhvr>
                                        <p:cTn id="10" dur="500"/>
                                        <p:tgtEl>
                                          <p:spTgt spid="146440">
                                            <p:txEl>
                                              <p:pRg st="4" end="4"/>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6440">
                                            <p:txEl>
                                              <p:pRg st="5" end="5"/>
                                            </p:txEl>
                                          </p:spTgt>
                                        </p:tgtEl>
                                        <p:attrNameLst>
                                          <p:attrName>style.visibility</p:attrName>
                                        </p:attrNameLst>
                                      </p:cBhvr>
                                      <p:to>
                                        <p:strVal val="visible"/>
                                      </p:to>
                                    </p:set>
                                    <p:animEffect transition="in" filter="blinds(horizontal)">
                                      <p:cBhvr>
                                        <p:cTn id="13" dur="500"/>
                                        <p:tgtEl>
                                          <p:spTgt spid="146440">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6437"/>
                                        </p:tgtEl>
                                        <p:attrNameLst>
                                          <p:attrName>style.visibility</p:attrName>
                                        </p:attrNameLst>
                                      </p:cBhvr>
                                      <p:to>
                                        <p:strVal val="visible"/>
                                      </p:to>
                                    </p:set>
                                    <p:anim calcmode="lin" valueType="num">
                                      <p:cBhvr additive="base">
                                        <p:cTn id="18" dur="250" fill="hold"/>
                                        <p:tgtEl>
                                          <p:spTgt spid="146437"/>
                                        </p:tgtEl>
                                        <p:attrNameLst>
                                          <p:attrName>ppt_x</p:attrName>
                                        </p:attrNameLst>
                                      </p:cBhvr>
                                      <p:tavLst>
                                        <p:tav tm="0">
                                          <p:val>
                                            <p:strVal val="0-#ppt_w/2"/>
                                          </p:val>
                                        </p:tav>
                                        <p:tav tm="100000">
                                          <p:val>
                                            <p:strVal val="#ppt_x"/>
                                          </p:val>
                                        </p:tav>
                                      </p:tavLst>
                                    </p:anim>
                                    <p:anim calcmode="lin" valueType="num">
                                      <p:cBhvr additive="base">
                                        <p:cTn id="19" dur="250" fill="hold"/>
                                        <p:tgtEl>
                                          <p:spTgt spid="146437"/>
                                        </p:tgtEl>
                                        <p:attrNameLst>
                                          <p:attrName>ppt_y</p:attrName>
                                        </p:attrNameLst>
                                      </p:cBhvr>
                                      <p:tavLst>
                                        <p:tav tm="0">
                                          <p:val>
                                            <p:strVal val="#ppt_y"/>
                                          </p:val>
                                        </p:tav>
                                        <p:tav tm="100000">
                                          <p:val>
                                            <p:strVal val="#ppt_y"/>
                                          </p:val>
                                        </p:tav>
                                      </p:tavLst>
                                    </p:anim>
                                  </p:childTnLst>
                                </p:cTn>
                              </p:par>
                            </p:childTnLst>
                          </p:cTn>
                        </p:par>
                        <p:par>
                          <p:cTn id="20" fill="hold">
                            <p:stCondLst>
                              <p:cond delay="250"/>
                            </p:stCondLst>
                            <p:childTnLst>
                              <p:par>
                                <p:cTn id="21" presetID="2" presetClass="entr" presetSubtype="8" fill="hold" nodeType="afterEffect">
                                  <p:stCondLst>
                                    <p:cond delay="0"/>
                                  </p:stCondLst>
                                  <p:childTnLst>
                                    <p:set>
                                      <p:cBhvr>
                                        <p:cTn id="22" dur="1" fill="hold">
                                          <p:stCondLst>
                                            <p:cond delay="0"/>
                                          </p:stCondLst>
                                        </p:cTn>
                                        <p:tgtEl>
                                          <p:spTgt spid="146438"/>
                                        </p:tgtEl>
                                        <p:attrNameLst>
                                          <p:attrName>style.visibility</p:attrName>
                                        </p:attrNameLst>
                                      </p:cBhvr>
                                      <p:to>
                                        <p:strVal val="visible"/>
                                      </p:to>
                                    </p:set>
                                    <p:anim calcmode="lin" valueType="num">
                                      <p:cBhvr additive="base">
                                        <p:cTn id="23" dur="500" fill="hold"/>
                                        <p:tgtEl>
                                          <p:spTgt spid="146438"/>
                                        </p:tgtEl>
                                        <p:attrNameLst>
                                          <p:attrName>ppt_x</p:attrName>
                                        </p:attrNameLst>
                                      </p:cBhvr>
                                      <p:tavLst>
                                        <p:tav tm="0">
                                          <p:val>
                                            <p:strVal val="0-#ppt_w/2"/>
                                          </p:val>
                                        </p:tav>
                                        <p:tav tm="100000">
                                          <p:val>
                                            <p:strVal val="#ppt_x"/>
                                          </p:val>
                                        </p:tav>
                                      </p:tavLst>
                                    </p:anim>
                                    <p:anim calcmode="lin" valueType="num">
                                      <p:cBhvr additive="base">
                                        <p:cTn id="24" dur="500" fill="hold"/>
                                        <p:tgtEl>
                                          <p:spTgt spid="146438"/>
                                        </p:tgtEl>
                                        <p:attrNameLst>
                                          <p:attrName>ppt_y</p:attrName>
                                        </p:attrNameLst>
                                      </p:cBhvr>
                                      <p:tavLst>
                                        <p:tav tm="0">
                                          <p:val>
                                            <p:strVal val="#ppt_y"/>
                                          </p:val>
                                        </p:tav>
                                        <p:tav tm="100000">
                                          <p:val>
                                            <p:strVal val="#ppt_y"/>
                                          </p:val>
                                        </p:tav>
                                      </p:tavLst>
                                    </p:anim>
                                  </p:childTnLst>
                                </p:cTn>
                              </p:par>
                            </p:childTnLst>
                          </p:cTn>
                        </p:par>
                        <p:par>
                          <p:cTn id="25" fill="hold">
                            <p:stCondLst>
                              <p:cond delay="750"/>
                            </p:stCondLst>
                            <p:childTnLst>
                              <p:par>
                                <p:cTn id="26" presetID="2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1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146444"/>
                                        </p:tgtEl>
                                        <p:attrNameLst>
                                          <p:attrName>style.visibility</p:attrName>
                                        </p:attrNameLst>
                                      </p:cBhvr>
                                      <p:to>
                                        <p:strVal val="visible"/>
                                      </p:to>
                                    </p:set>
                                    <p:anim calcmode="discrete" valueType="clr">
                                      <p:cBhvr override="childStyle">
                                        <p:cTn id="33" dur="80"/>
                                        <p:tgtEl>
                                          <p:spTgt spid="146444"/>
                                        </p:tgtEl>
                                        <p:attrNameLst>
                                          <p:attrName>style.color</p:attrName>
                                        </p:attrNameLst>
                                      </p:cBhvr>
                                      <p:tavLst>
                                        <p:tav tm="0">
                                          <p:val>
                                            <p:clrVal>
                                              <a:schemeClr val="tx2"/>
                                            </p:clrVal>
                                          </p:val>
                                        </p:tav>
                                        <p:tav tm="50000">
                                          <p:val>
                                            <p:clrVal>
                                              <a:schemeClr val="hlink"/>
                                            </p:clrVal>
                                          </p:val>
                                        </p:tav>
                                      </p:tavLst>
                                    </p:anim>
                                    <p:anim calcmode="discrete" valueType="clr">
                                      <p:cBhvr>
                                        <p:cTn id="34" dur="80"/>
                                        <p:tgtEl>
                                          <p:spTgt spid="146444"/>
                                        </p:tgtEl>
                                        <p:attrNameLst>
                                          <p:attrName>fillcolor</p:attrName>
                                        </p:attrNameLst>
                                      </p:cBhvr>
                                      <p:tavLst>
                                        <p:tav tm="0">
                                          <p:val>
                                            <p:clrVal>
                                              <a:schemeClr val="accent2"/>
                                            </p:clrVal>
                                          </p:val>
                                        </p:tav>
                                        <p:tav tm="50000">
                                          <p:val>
                                            <p:clrVal>
                                              <a:schemeClr val="hlink"/>
                                            </p:clrVal>
                                          </p:val>
                                        </p:tav>
                                      </p:tavLst>
                                    </p:anim>
                                    <p:set>
                                      <p:cBhvr>
                                        <p:cTn id="35" dur="80"/>
                                        <p:tgtEl>
                                          <p:spTgt spid="14644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40" grpId="0" build="p"/>
      <p:bldP spid="146444"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type="body" idx="1"/>
          </p:nvPr>
        </p:nvSpPr>
        <p:spPr>
          <a:xfrm>
            <a:off x="685800" y="914400"/>
            <a:ext cx="7772400" cy="5181600"/>
          </a:xfrm>
        </p:spPr>
        <p:txBody>
          <a:bodyPr/>
          <a:lstStyle/>
          <a:p>
            <a:pPr algn="just" eaLnBrk="1" hangingPunct="1">
              <a:buFontTx/>
              <a:buNone/>
            </a:pPr>
            <a:r>
              <a:rPr lang="en-US" altLang="zh-CN" smtClean="0">
                <a:solidFill>
                  <a:srgbClr val="000000"/>
                </a:solidFill>
              </a:rPr>
              <a:t> </a:t>
            </a:r>
          </a:p>
          <a:p>
            <a:pPr algn="just" eaLnBrk="1" hangingPunct="1">
              <a:buFontTx/>
              <a:buNone/>
            </a:pPr>
            <a:endParaRPr lang="en-US" altLang="zh-CN" smtClean="0">
              <a:solidFill>
                <a:srgbClr val="000000"/>
              </a:solidFill>
            </a:endParaRPr>
          </a:p>
          <a:p>
            <a:pPr algn="just" eaLnBrk="1" hangingPunct="1">
              <a:buFontTx/>
              <a:buNone/>
            </a:pPr>
            <a:endParaRPr lang="en-US" altLang="zh-CN" smtClean="0">
              <a:solidFill>
                <a:srgbClr val="000000"/>
              </a:solidFill>
            </a:endParaRPr>
          </a:p>
          <a:p>
            <a:pPr algn="just" eaLnBrk="1" hangingPunct="1">
              <a:buFontTx/>
              <a:buNone/>
            </a:pPr>
            <a:endParaRPr lang="en-US" altLang="zh-CN" smtClean="0">
              <a:solidFill>
                <a:srgbClr val="000000"/>
              </a:solidFill>
            </a:endParaRPr>
          </a:p>
          <a:p>
            <a:pPr algn="just" eaLnBrk="1" hangingPunct="1">
              <a:buFontTx/>
              <a:buNone/>
            </a:pPr>
            <a:endParaRPr lang="en-US" altLang="zh-CN" smtClean="0">
              <a:solidFill>
                <a:srgbClr val="000000"/>
              </a:solidFill>
            </a:endParaRPr>
          </a:p>
          <a:p>
            <a:pPr algn="just" eaLnBrk="1" hangingPunct="1">
              <a:buFontTx/>
              <a:buNone/>
            </a:pPr>
            <a:r>
              <a:rPr lang="en-US" altLang="zh-CN" smtClean="0">
                <a:solidFill>
                  <a:srgbClr val="000000"/>
                </a:solidFill>
              </a:rPr>
              <a:t>   </a:t>
            </a:r>
          </a:p>
        </p:txBody>
      </p:sp>
      <p:graphicFrame>
        <p:nvGraphicFramePr>
          <p:cNvPr id="188444" name="Group 28"/>
          <p:cNvGraphicFramePr>
            <a:graphicFrameLocks noGrp="1"/>
          </p:cNvGraphicFramePr>
          <p:nvPr>
            <p:extLst>
              <p:ext uri="{D42A27DB-BD31-4B8C-83A1-F6EECF244321}">
                <p14:modId xmlns:p14="http://schemas.microsoft.com/office/powerpoint/2010/main" val="2072324247"/>
              </p:ext>
            </p:extLst>
          </p:nvPr>
        </p:nvGraphicFramePr>
        <p:xfrm>
          <a:off x="838200" y="1600200"/>
          <a:ext cx="7010400" cy="4281806"/>
        </p:xfrm>
        <a:graphic>
          <a:graphicData uri="http://schemas.openxmlformats.org/drawingml/2006/table">
            <a:tbl>
              <a:tblPr/>
              <a:tblGrid>
                <a:gridCol w="2220913">
                  <a:extLst>
                    <a:ext uri="{9D8B030D-6E8A-4147-A177-3AD203B41FA5}">
                      <a16:colId xmlns:a16="http://schemas.microsoft.com/office/drawing/2014/main" val="20000"/>
                    </a:ext>
                  </a:extLst>
                </a:gridCol>
                <a:gridCol w="2130425">
                  <a:extLst>
                    <a:ext uri="{9D8B030D-6E8A-4147-A177-3AD203B41FA5}">
                      <a16:colId xmlns:a16="http://schemas.microsoft.com/office/drawing/2014/main" val="20001"/>
                    </a:ext>
                  </a:extLst>
                </a:gridCol>
                <a:gridCol w="2659062">
                  <a:extLst>
                    <a:ext uri="{9D8B030D-6E8A-4147-A177-3AD203B41FA5}">
                      <a16:colId xmlns:a16="http://schemas.microsoft.com/office/drawing/2014/main" val="20002"/>
                    </a:ext>
                  </a:extLst>
                </a:gridCol>
              </a:tblGrid>
              <a:tr h="62547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工人日产量（件）</a:t>
                      </a:r>
                      <a:r>
                        <a:rPr kumimoji="1" lang="en-US" altLang="zh-CN" sz="2800" b="0" i="1" u="none" strike="noStrike" cap="none" normalizeH="0" baseline="0" dirty="0" smtClean="0">
                          <a:ln>
                            <a:noFill/>
                          </a:ln>
                          <a:solidFill>
                            <a:srgbClr val="C00000"/>
                          </a:solidFill>
                          <a:effectLst/>
                          <a:latin typeface="Times New Roman" panose="02020603050405020304" pitchFamily="18" charset="0"/>
                          <a:ea typeface="宋体" pitchFamily="2" charset="-122"/>
                          <a:cs typeface="Times New Roman" panose="02020603050405020304" pitchFamily="18" charset="0"/>
                        </a:rPr>
                        <a:t>x</a:t>
                      </a:r>
                      <a:endParaRPr kumimoji="1" lang="zh-CN" altLang="en-US" sz="2800" b="0" i="1" u="none" strike="noStrike" cap="none" normalizeH="0" baseline="0" dirty="0" smtClean="0">
                        <a:ln>
                          <a:noFill/>
                        </a:ln>
                        <a:solidFill>
                          <a:srgbClr val="C00000"/>
                        </a:solidFill>
                        <a:effectLst/>
                        <a:latin typeface="Times New Roman" panose="02020603050405020304" pitchFamily="18" charset="0"/>
                        <a:ea typeface="宋体" pitchFamily="2" charset="-122"/>
                        <a:cs typeface="Times New Roman" panose="02020603050405020304" pitchFamily="18" charset="0"/>
                      </a:endParaRP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工人人数（人）</a:t>
                      </a:r>
                      <a:r>
                        <a:rPr kumimoji="1" lang="en-US" altLang="zh-CN" sz="2800" b="0" i="1" u="none" strike="noStrike" cap="none" normalizeH="0" baseline="0" dirty="0" smtClean="0">
                          <a:ln>
                            <a:noFill/>
                          </a:ln>
                          <a:solidFill>
                            <a:srgbClr val="C00000"/>
                          </a:solidFill>
                          <a:effectLst/>
                          <a:latin typeface="Times New Roman" panose="02020603050405020304" pitchFamily="18" charset="0"/>
                          <a:ea typeface="宋体" pitchFamily="2" charset="-122"/>
                          <a:cs typeface="Times New Roman" panose="02020603050405020304" pitchFamily="18" charset="0"/>
                        </a:rPr>
                        <a:t>f</a:t>
                      </a:r>
                      <a:endParaRPr kumimoji="1" lang="zh-CN" altLang="en-US" sz="2800" b="0"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工人人数比重（</a:t>
                      </a: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a:t>
                      </a: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a:t>
                      </a:r>
                      <a:r>
                        <a:rPr kumimoji="1" lang="en-US" altLang="zh-CN" sz="2800" b="0" i="1" u="none" strike="noStrike" cap="none" normalizeH="0" baseline="0" dirty="0" smtClean="0">
                          <a:ln>
                            <a:noFill/>
                          </a:ln>
                          <a:solidFill>
                            <a:srgbClr val="C00000"/>
                          </a:solidFill>
                          <a:effectLst/>
                          <a:latin typeface="Times New Roman" panose="02020603050405020304" pitchFamily="18" charset="0"/>
                          <a:ea typeface="宋体" pitchFamily="2" charset="-122"/>
                          <a:cs typeface="Times New Roman" panose="02020603050405020304" pitchFamily="18" charset="0"/>
                        </a:rPr>
                        <a:t>w</a:t>
                      </a:r>
                      <a:endParaRPr kumimoji="1" lang="zh-CN" altLang="en-US" sz="2800" b="0"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366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smtClean="0">
                          <a:ln>
                            <a:noFill/>
                          </a:ln>
                          <a:solidFill>
                            <a:srgbClr val="000000"/>
                          </a:solidFill>
                          <a:effectLst/>
                          <a:latin typeface="Tahoma" pitchFamily="34" charset="0"/>
                          <a:ea typeface="宋体" pitchFamily="2" charset="-122"/>
                        </a:rPr>
                        <a:t>     10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smtClean="0">
                          <a:ln>
                            <a:noFill/>
                          </a:ln>
                          <a:solidFill>
                            <a:srgbClr val="000000"/>
                          </a:solidFill>
                          <a:effectLst/>
                          <a:latin typeface="Tahoma" pitchFamily="34" charset="0"/>
                          <a:ea typeface="宋体" pitchFamily="2" charset="-122"/>
                        </a:rPr>
                        <a:t>     11</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smtClean="0">
                          <a:ln>
                            <a:noFill/>
                          </a:ln>
                          <a:solidFill>
                            <a:srgbClr val="000000"/>
                          </a:solidFill>
                          <a:effectLst/>
                          <a:latin typeface="Tahoma" pitchFamily="34" charset="0"/>
                          <a:ea typeface="宋体" pitchFamily="2" charset="-122"/>
                        </a:rPr>
                        <a:t>     12</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smtClean="0">
                          <a:ln>
                            <a:noFill/>
                          </a:ln>
                          <a:solidFill>
                            <a:srgbClr val="000000"/>
                          </a:solidFill>
                          <a:effectLst/>
                          <a:latin typeface="Tahoma" pitchFamily="34" charset="0"/>
                          <a:ea typeface="宋体" pitchFamily="2" charset="-122"/>
                        </a:rPr>
                        <a:t>     13</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smtClean="0">
                          <a:ln>
                            <a:noFill/>
                          </a:ln>
                          <a:solidFill>
                            <a:srgbClr val="000000"/>
                          </a:solidFill>
                          <a:effectLst/>
                          <a:latin typeface="Tahoma" pitchFamily="34" charset="0"/>
                          <a:ea typeface="宋体" pitchFamily="2" charset="-122"/>
                        </a:rPr>
                        <a:t>     14</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70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150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380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150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8.75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12.50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47.50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18725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 12.50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326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smtClean="0">
                          <a:ln>
                            <a:noFill/>
                          </a:ln>
                          <a:solidFill>
                            <a:srgbClr val="000000"/>
                          </a:solidFill>
                          <a:effectLst/>
                          <a:latin typeface="Tahoma" pitchFamily="34" charset="0"/>
                          <a:ea typeface="宋体" pitchFamily="2" charset="-122"/>
                        </a:rPr>
                        <a:t>合   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800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0" i="0" u="none" strike="noStrike" cap="none" normalizeH="0" baseline="0" dirty="0" smtClean="0">
                          <a:ln>
                            <a:noFill/>
                          </a:ln>
                          <a:solidFill>
                            <a:srgbClr val="000000"/>
                          </a:solidFill>
                          <a:effectLst/>
                          <a:latin typeface="Tahoma" pitchFamily="34" charset="0"/>
                          <a:ea typeface="宋体" pitchFamily="2" charset="-122"/>
                        </a:rPr>
                        <a:t>100.00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5495" name="Text Box 27"/>
          <p:cNvSpPr txBox="1">
            <a:spLocks noChangeArrowheads="1"/>
          </p:cNvSpPr>
          <p:nvPr/>
        </p:nvSpPr>
        <p:spPr bwMode="auto">
          <a:xfrm>
            <a:off x="900113" y="1052513"/>
            <a:ext cx="2376487" cy="579437"/>
          </a:xfrm>
          <a:prstGeom prst="rect">
            <a:avLst/>
          </a:prstGeom>
          <a:noFill/>
          <a:ln w="9525">
            <a:noFill/>
            <a:miter lim="800000"/>
            <a:headEnd/>
            <a:tailEnd/>
          </a:ln>
        </p:spPr>
        <p:txBody>
          <a:bodyPr>
            <a:spAutoFit/>
          </a:bodyPr>
          <a:lstStyle/>
          <a:p>
            <a:pPr>
              <a:spcBef>
                <a:spcPct val="50000"/>
              </a:spcBef>
            </a:pPr>
            <a:r>
              <a:rPr lang="zh-CN" altLang="en-US" sz="3200" b="1">
                <a:ea typeface="宋体" pitchFamily="2" charset="-122"/>
              </a:rPr>
              <a:t>表</a:t>
            </a:r>
            <a:r>
              <a:rPr lang="en-US" altLang="zh-CN" sz="3200" b="1">
                <a:ea typeface="宋体" pitchFamily="2" charset="-122"/>
              </a:rPr>
              <a:t>3</a:t>
            </a:r>
            <a:r>
              <a:rPr lang="zh-CN" altLang="en-US" sz="3200" b="1">
                <a:ea typeface="宋体" pitchFamily="2" charset="-122"/>
              </a:rPr>
              <a:t>－</a:t>
            </a:r>
            <a:r>
              <a:rPr lang="en-US" altLang="zh-CN" sz="3200" b="1">
                <a:ea typeface="宋体" pitchFamily="2" charset="-122"/>
              </a:rPr>
              <a:t>1</a:t>
            </a:r>
          </a:p>
        </p:txBody>
      </p:sp>
      <p:sp>
        <p:nvSpPr>
          <p:cNvPr id="105496" name="Rectangle 29"/>
          <p:cNvSpPr>
            <a:spLocks noGrp="1" noChangeArrowheads="1"/>
          </p:cNvSpPr>
          <p:nvPr>
            <p:ph type="title"/>
          </p:nvPr>
        </p:nvSpPr>
        <p:spPr/>
        <p:txBody>
          <a:bodyPr/>
          <a:lstStyle/>
          <a:p>
            <a:pPr eaLnBrk="1" hangingPunct="1"/>
            <a:r>
              <a:rPr lang="en-US" altLang="zh-CN" dirty="0" smtClean="0"/>
              <a:t>【</a:t>
            </a:r>
            <a:r>
              <a:rPr lang="zh-CN" altLang="en-US" dirty="0" smtClean="0"/>
              <a:t>例</a:t>
            </a:r>
            <a:r>
              <a:rPr lang="en-US" altLang="zh-CN" dirty="0" smtClean="0"/>
              <a:t>3-1】 </a:t>
            </a: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49</a:t>
            </a:fld>
            <a:endParaRPr lang="en-US" altLang="zh-CN"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a:xfrm>
            <a:off x="684213" y="404813"/>
            <a:ext cx="7772400" cy="803275"/>
          </a:xfrm>
        </p:spPr>
        <p:txBody>
          <a:bodyPr/>
          <a:lstStyle/>
          <a:p>
            <a:pPr eaLnBrk="1" hangingPunct="1"/>
            <a:r>
              <a:rPr lang="en-US" altLang="zh-CN" dirty="0" smtClean="0"/>
              <a:t>【</a:t>
            </a:r>
            <a:r>
              <a:rPr lang="zh-CN" altLang="en-US" dirty="0" smtClean="0"/>
              <a:t>例</a:t>
            </a:r>
            <a:r>
              <a:rPr lang="en-US" altLang="zh-CN" dirty="0" smtClean="0"/>
              <a:t>3-1】</a:t>
            </a:r>
            <a:r>
              <a:rPr lang="zh-CN" altLang="en-US" dirty="0" smtClean="0"/>
              <a:t>解</a:t>
            </a:r>
          </a:p>
        </p:txBody>
      </p:sp>
      <p:graphicFrame>
        <p:nvGraphicFramePr>
          <p:cNvPr id="17410" name="Object 4"/>
          <p:cNvGraphicFramePr>
            <a:graphicFrameLocks noGrp="1" noChangeAspect="1"/>
          </p:cNvGraphicFramePr>
          <p:nvPr>
            <p:ph type="body" idx="1"/>
          </p:nvPr>
        </p:nvGraphicFramePr>
        <p:xfrm>
          <a:off x="611188" y="1557338"/>
          <a:ext cx="6840537" cy="1263650"/>
        </p:xfrm>
        <a:graphic>
          <a:graphicData uri="http://schemas.openxmlformats.org/presentationml/2006/ole">
            <mc:AlternateContent xmlns:mc="http://schemas.openxmlformats.org/markup-compatibility/2006">
              <mc:Choice xmlns:v="urn:schemas-microsoft-com:vml" Requires="v">
                <p:oleObj spid="_x0000_s17766" name="Equation" r:id="rId3" imgW="5587920" imgH="990360" progId="Equation.DSMT4">
                  <p:embed/>
                </p:oleObj>
              </mc:Choice>
              <mc:Fallback>
                <p:oleObj name="Equation" r:id="rId3" imgW="5587920" imgH="99036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557338"/>
                        <a:ext cx="6840537"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Rectangle 5"/>
          <p:cNvSpPr>
            <a:spLocks noChangeArrowheads="1"/>
          </p:cNvSpPr>
          <p:nvPr/>
        </p:nvSpPr>
        <p:spPr bwMode="auto">
          <a:xfrm>
            <a:off x="7235825" y="1773238"/>
            <a:ext cx="1584325" cy="641350"/>
          </a:xfrm>
          <a:prstGeom prst="rect">
            <a:avLst/>
          </a:prstGeom>
          <a:noFill/>
          <a:ln w="9525">
            <a:noFill/>
            <a:miter lim="800000"/>
            <a:headEnd/>
            <a:tailEnd/>
          </a:ln>
        </p:spPr>
        <p:txBody>
          <a:bodyPr>
            <a:spAutoFit/>
          </a:bodyPr>
          <a:lstStyle/>
          <a:p>
            <a:r>
              <a:rPr lang="zh-CN" altLang="en-US" sz="3600">
                <a:solidFill>
                  <a:srgbClr val="000000"/>
                </a:solidFill>
                <a:ea typeface="宋体" pitchFamily="2" charset="-122"/>
              </a:rPr>
              <a:t>（件）</a:t>
            </a:r>
          </a:p>
        </p:txBody>
      </p:sp>
      <p:sp>
        <p:nvSpPr>
          <p:cNvPr id="17415" name="Rectangle 7"/>
          <p:cNvSpPr>
            <a:spLocks noChangeArrowheads="1"/>
          </p:cNvSpPr>
          <p:nvPr/>
        </p:nvSpPr>
        <p:spPr bwMode="auto">
          <a:xfrm>
            <a:off x="0" y="32575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411" name="Object 6"/>
          <p:cNvGraphicFramePr>
            <a:graphicFrameLocks noChangeAspect="1"/>
          </p:cNvGraphicFramePr>
          <p:nvPr>
            <p:extLst>
              <p:ext uri="{D42A27DB-BD31-4B8C-83A1-F6EECF244321}">
                <p14:modId xmlns:p14="http://schemas.microsoft.com/office/powerpoint/2010/main" val="1345595359"/>
              </p:ext>
            </p:extLst>
          </p:nvPr>
        </p:nvGraphicFramePr>
        <p:xfrm>
          <a:off x="715853" y="4189414"/>
          <a:ext cx="7921625" cy="1984375"/>
        </p:xfrm>
        <a:graphic>
          <a:graphicData uri="http://schemas.openxmlformats.org/presentationml/2006/ole">
            <mc:AlternateContent xmlns:mc="http://schemas.openxmlformats.org/markup-compatibility/2006">
              <mc:Choice xmlns:v="urn:schemas-microsoft-com:vml" Requires="v">
                <p:oleObj spid="_x0000_s17767" name="Equation" r:id="rId5" imgW="2908080" imgH="660240" progId="Equation.DSMT4">
                  <p:embed/>
                </p:oleObj>
              </mc:Choice>
              <mc:Fallback>
                <p:oleObj name="Equation" r:id="rId5" imgW="2908080" imgH="66024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5853" y="4189414"/>
                        <a:ext cx="7921625" cy="198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6" name="Rectangle 8"/>
          <p:cNvSpPr>
            <a:spLocks noChangeArrowheads="1"/>
          </p:cNvSpPr>
          <p:nvPr/>
        </p:nvSpPr>
        <p:spPr bwMode="auto">
          <a:xfrm>
            <a:off x="323850" y="3068638"/>
            <a:ext cx="1477963" cy="762000"/>
          </a:xfrm>
          <a:prstGeom prst="rect">
            <a:avLst/>
          </a:prstGeom>
          <a:noFill/>
          <a:ln w="9525">
            <a:noFill/>
            <a:miter lim="800000"/>
            <a:headEnd/>
            <a:tailEnd/>
          </a:ln>
        </p:spPr>
        <p:txBody>
          <a:bodyPr>
            <a:spAutoFit/>
          </a:bodyPr>
          <a:lstStyle/>
          <a:p>
            <a:r>
              <a:rPr lang="zh-CN" altLang="en-US" sz="4400" dirty="0" smtClean="0">
                <a:solidFill>
                  <a:srgbClr val="000000"/>
                </a:solidFill>
                <a:ea typeface="宋体" pitchFamily="2" charset="-122"/>
              </a:rPr>
              <a:t>或</a:t>
            </a:r>
            <a:endParaRPr lang="zh-CN" altLang="en-US" sz="4400" dirty="0">
              <a:solidFill>
                <a:srgbClr val="1313FF"/>
              </a:solidFill>
              <a:ea typeface="宋体" pitchFamily="2" charset="-122"/>
            </a:endParaRP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50</a:t>
            </a:fld>
            <a:endParaRPr lang="en-US" altLang="zh-CN" dirty="0"/>
          </a:p>
        </p:txBody>
      </p:sp>
      <p:pic>
        <p:nvPicPr>
          <p:cNvPr id="3" name="图片 2"/>
          <p:cNvPicPr>
            <a:picLocks noChangeAspect="1"/>
          </p:cNvPicPr>
          <p:nvPr/>
        </p:nvPicPr>
        <p:blipFill>
          <a:blip r:embed="rId7"/>
          <a:stretch>
            <a:fillRect/>
          </a:stretch>
        </p:blipFill>
        <p:spPr>
          <a:xfrm>
            <a:off x="1062831" y="3313052"/>
            <a:ext cx="1564953" cy="954148"/>
          </a:xfrm>
          <a:prstGeom prst="rect">
            <a:avLst/>
          </a:prstGeom>
          <a:noFill/>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9" name="Group 29"/>
          <p:cNvGraphicFramePr>
            <a:graphicFrameLocks noGrp="1"/>
          </p:cNvGraphicFramePr>
          <p:nvPr/>
        </p:nvGraphicFramePr>
        <p:xfrm>
          <a:off x="611188" y="2276475"/>
          <a:ext cx="4105275" cy="3228213"/>
        </p:xfrm>
        <a:graphic>
          <a:graphicData uri="http://schemas.openxmlformats.org/drawingml/2006/table">
            <a:tbl>
              <a:tblPr/>
              <a:tblGrid>
                <a:gridCol w="1012825">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1130300">
                  <a:extLst>
                    <a:ext uri="{9D8B030D-6E8A-4147-A177-3AD203B41FA5}">
                      <a16:colId xmlns:a16="http://schemas.microsoft.com/office/drawing/2014/main" val="20002"/>
                    </a:ext>
                  </a:extLst>
                </a:gridCol>
                <a:gridCol w="1012825">
                  <a:extLst>
                    <a:ext uri="{9D8B030D-6E8A-4147-A177-3AD203B41FA5}">
                      <a16:colId xmlns:a16="http://schemas.microsoft.com/office/drawing/2014/main" val="20003"/>
                    </a:ext>
                  </a:extLst>
                </a:gridCol>
              </a:tblGrid>
              <a:tr h="533400">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成绩</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人数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619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f</a:t>
                      </a:r>
                      <a:r>
                        <a:rPr kumimoji="1" lang="en-US" altLang="zh-CN" sz="2800" b="1" i="0" u="none" strike="noStrike" cap="none" normalizeH="0" baseline="-25000" smtClean="0">
                          <a:ln>
                            <a:noFill/>
                          </a:ln>
                          <a:solidFill>
                            <a:srgbClr val="000000"/>
                          </a:solidFill>
                          <a:effectLst/>
                          <a:latin typeface="Tahoma" pitchFamily="34" charset="0"/>
                          <a:ea typeface="宋体" pitchFamily="2" charset="-122"/>
                        </a:rPr>
                        <a:t> 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f</a:t>
                      </a:r>
                      <a:r>
                        <a:rPr kumimoji="1" lang="en-US" altLang="zh-CN" sz="2800" b="1" i="0" u="none" strike="noStrike" cap="none" normalizeH="0" baseline="-25000" smtClean="0">
                          <a:ln>
                            <a:noFill/>
                          </a:ln>
                          <a:solidFill>
                            <a:srgbClr val="000000"/>
                          </a:solidFill>
                          <a:effectLst/>
                          <a:latin typeface="Tahoma" pitchFamily="34" charset="0"/>
                          <a:ea typeface="宋体" pitchFamily="2" charset="-122"/>
                        </a:rPr>
                        <a:t>B</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f</a:t>
                      </a:r>
                      <a:r>
                        <a:rPr kumimoji="1" lang="en-US" altLang="zh-CN" sz="2800" b="1" i="0" u="none" strike="noStrike" cap="none" normalizeH="0" baseline="-25000" smtClean="0">
                          <a:ln>
                            <a:noFill/>
                          </a:ln>
                          <a:solidFill>
                            <a:srgbClr val="000000"/>
                          </a:solidFill>
                          <a:effectLst/>
                          <a:latin typeface="Tahoma" pitchFamily="34" charset="0"/>
                          <a:ea typeface="宋体" pitchFamily="2" charset="-122"/>
                        </a:rPr>
                        <a:t>C</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636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70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80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85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 </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 </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40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07230" name="Text Box 30"/>
          <p:cNvSpPr txBox="1">
            <a:spLocks noChangeArrowheads="1"/>
          </p:cNvSpPr>
          <p:nvPr/>
        </p:nvSpPr>
        <p:spPr bwMode="auto">
          <a:xfrm>
            <a:off x="5219700" y="3141663"/>
            <a:ext cx="2879725" cy="1373187"/>
          </a:xfrm>
          <a:prstGeom prst="rect">
            <a:avLst/>
          </a:prstGeom>
          <a:noFill/>
          <a:ln w="9525">
            <a:noFill/>
            <a:miter lim="800000"/>
            <a:headEnd/>
            <a:tailEnd/>
          </a:ln>
        </p:spPr>
        <p:txBody>
          <a:bodyPr>
            <a:spAutoFit/>
          </a:bodyPr>
          <a:lstStyle/>
          <a:p>
            <a:pPr>
              <a:spcBef>
                <a:spcPct val="50000"/>
              </a:spcBef>
            </a:pPr>
            <a:r>
              <a:rPr lang="en-US" altLang="zh-CN" sz="2800" b="1">
                <a:solidFill>
                  <a:srgbClr val="006600"/>
                </a:solidFill>
                <a:ea typeface="宋体" pitchFamily="2" charset="-122"/>
              </a:rPr>
              <a:t>     </a:t>
            </a:r>
            <a:r>
              <a:rPr lang="zh-CN" altLang="en-US" sz="2800" b="1">
                <a:solidFill>
                  <a:srgbClr val="006600"/>
                </a:solidFill>
                <a:ea typeface="宋体" pitchFamily="2" charset="-122"/>
              </a:rPr>
              <a:t>不同权数加权的平均数之间有何差异？</a:t>
            </a:r>
          </a:p>
        </p:txBody>
      </p:sp>
      <p:sp>
        <p:nvSpPr>
          <p:cNvPr id="106524" name="Rectangle 31"/>
          <p:cNvSpPr>
            <a:spLocks noGrp="1" noChangeArrowheads="1"/>
          </p:cNvSpPr>
          <p:nvPr>
            <p:ph type="title"/>
          </p:nvPr>
        </p:nvSpPr>
        <p:spPr>
          <a:xfrm>
            <a:off x="684213" y="549275"/>
            <a:ext cx="7772400" cy="990600"/>
          </a:xfrm>
        </p:spPr>
        <p:txBody>
          <a:bodyPr/>
          <a:lstStyle/>
          <a:p>
            <a:pPr eaLnBrk="1" hangingPunct="1"/>
            <a:r>
              <a:rPr lang="zh-CN" altLang="en-US" sz="3600" dirty="0" smtClean="0">
                <a:solidFill>
                  <a:srgbClr val="1313FF"/>
                </a:solidFill>
                <a:latin typeface="Verdana" pitchFamily="34" charset="0"/>
              </a:rPr>
              <a:t>比重权数更能够直接体现权数的实质</a:t>
            </a: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51</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307230"/>
                                        </p:tgtEl>
                                        <p:attrNameLst>
                                          <p:attrName>style.visibility</p:attrName>
                                        </p:attrNameLst>
                                      </p:cBhvr>
                                      <p:to>
                                        <p:strVal val="visible"/>
                                      </p:to>
                                    </p:set>
                                    <p:animEffect transition="in" filter="box(in)">
                                      <p:cBhvr>
                                        <p:cTn id="7" dur="500"/>
                                        <p:tgtEl>
                                          <p:spTgt spid="307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97" name="Group 57"/>
          <p:cNvGraphicFramePr>
            <a:graphicFrameLocks noGrp="1"/>
          </p:cNvGraphicFramePr>
          <p:nvPr/>
        </p:nvGraphicFramePr>
        <p:xfrm>
          <a:off x="1258888" y="2349500"/>
          <a:ext cx="6096000" cy="3602736"/>
        </p:xfrm>
        <a:graphic>
          <a:graphicData uri="http://schemas.openxmlformats.org/drawingml/2006/table">
            <a:tbl>
              <a:tblPr/>
              <a:tblGrid>
                <a:gridCol w="3124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5080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按成绩分组（分）</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学生人数（人）</a:t>
                      </a:r>
                    </a:p>
                  </a:txBody>
                  <a:tcP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55725">
                <a:tc>
                  <a:txBody>
                    <a:bodyPr/>
                    <a:lstStyle/>
                    <a:p>
                      <a:pPr marL="0" marR="0" lvl="0" indent="173038"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以下</a:t>
                      </a:r>
                    </a:p>
                    <a:p>
                      <a:pPr marL="0" marR="0" lvl="0" indent="173038"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p>
                    <a:p>
                      <a:pPr marL="0" marR="0" lvl="0" indent="173038"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p>
                    <a:p>
                      <a:pPr marL="0" marR="0" lvl="0" indent="173038"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p>
                    <a:p>
                      <a:pPr marL="0" marR="0" lvl="0" indent="173038"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100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2</a:t>
                      </a:r>
                    </a:p>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15</a:t>
                      </a:r>
                    </a:p>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20</a:t>
                      </a:r>
                    </a:p>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15</a:t>
                      </a:r>
                    </a:p>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26670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kern="1200" cap="none" normalizeH="0" baseline="0" dirty="0" smtClean="0">
                          <a:ln>
                            <a:noFill/>
                          </a:ln>
                          <a:solidFill>
                            <a:srgbClr val="000000"/>
                          </a:solidFill>
                          <a:effectLst/>
                          <a:latin typeface="Tahoma" pitchFamily="34" charset="0"/>
                          <a:ea typeface="宋体" pitchFamily="2" charset="-122"/>
                          <a:cs typeface="+mn-cs"/>
                        </a:rPr>
                        <a:t>56</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7535" name="Rectangle 62"/>
          <p:cNvSpPr>
            <a:spLocks noGrp="1" noChangeArrowheads="1"/>
          </p:cNvSpPr>
          <p:nvPr>
            <p:ph type="title" idx="4294967295"/>
          </p:nvPr>
        </p:nvSpPr>
        <p:spPr>
          <a:xfrm>
            <a:off x="684213" y="476250"/>
            <a:ext cx="7772400" cy="990600"/>
          </a:xfrm>
        </p:spPr>
        <p:txBody>
          <a:bodyPr/>
          <a:lstStyle/>
          <a:p>
            <a:pPr eaLnBrk="1" hangingPunct="1"/>
            <a:r>
              <a:rPr lang="zh-CN" altLang="en-US" sz="3600" dirty="0" smtClean="0">
                <a:solidFill>
                  <a:srgbClr val="1313FF"/>
                </a:solidFill>
              </a:rPr>
              <a:t>怎样由组距数列计算总平均数？</a:t>
            </a:r>
          </a:p>
        </p:txBody>
      </p:sp>
      <p:sp>
        <p:nvSpPr>
          <p:cNvPr id="107536" name="Rectangle 63"/>
          <p:cNvSpPr>
            <a:spLocks noChangeArrowheads="1"/>
          </p:cNvSpPr>
          <p:nvPr/>
        </p:nvSpPr>
        <p:spPr bwMode="auto">
          <a:xfrm>
            <a:off x="1258888" y="1773238"/>
            <a:ext cx="1581150" cy="457200"/>
          </a:xfrm>
          <a:prstGeom prst="rect">
            <a:avLst/>
          </a:prstGeom>
          <a:noFill/>
          <a:ln w="9525">
            <a:noFill/>
            <a:miter lim="800000"/>
            <a:headEnd/>
            <a:tailEnd/>
          </a:ln>
        </p:spPr>
        <p:txBody>
          <a:bodyPr wrap="none" anchor="ctr">
            <a:spAutoFit/>
          </a:bodyPr>
          <a:lstStyle/>
          <a:p>
            <a:r>
              <a:rPr lang="en-US" altLang="zh-CN" b="1">
                <a:solidFill>
                  <a:srgbClr val="1313FF"/>
                </a:solidFill>
              </a:rPr>
              <a:t>【</a:t>
            </a:r>
            <a:r>
              <a:rPr lang="zh-CN" altLang="en-US" b="1">
                <a:solidFill>
                  <a:srgbClr val="1313FF"/>
                </a:solidFill>
              </a:rPr>
              <a:t>例</a:t>
            </a:r>
            <a:r>
              <a:rPr lang="en-US" altLang="zh-CN" b="1">
                <a:solidFill>
                  <a:srgbClr val="1313FF"/>
                </a:solidFill>
              </a:rPr>
              <a:t>3-2</a:t>
            </a:r>
            <a:r>
              <a:rPr lang="en-US" altLang="zh-CN">
                <a:solidFill>
                  <a:srgbClr val="1313FF"/>
                </a:solidFill>
              </a:rPr>
              <a:t> 】</a:t>
            </a:r>
          </a:p>
        </p:txBody>
      </p:sp>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52</a:t>
            </a:fld>
            <a:endParaRPr lang="en-US" altLang="zh-CN"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187450" y="620713"/>
            <a:ext cx="7772400" cy="1371600"/>
          </a:xfrm>
        </p:spPr>
        <p:txBody>
          <a:bodyPr/>
          <a:lstStyle/>
          <a:p>
            <a:pPr algn="l" eaLnBrk="1" hangingPunct="1">
              <a:lnSpc>
                <a:spcPct val="120000"/>
              </a:lnSpc>
            </a:pPr>
            <a:r>
              <a:rPr lang="zh-CN" altLang="en-US" sz="3600" dirty="0" smtClean="0">
                <a:solidFill>
                  <a:srgbClr val="1313FF"/>
                </a:solidFill>
              </a:rPr>
              <a:t>根据组距数列计算总平均数的方法</a:t>
            </a:r>
            <a:br>
              <a:rPr lang="zh-CN" altLang="en-US" sz="3600" dirty="0" smtClean="0">
                <a:solidFill>
                  <a:srgbClr val="1313FF"/>
                </a:solidFill>
              </a:rPr>
            </a:br>
            <a:r>
              <a:rPr lang="zh-CN" altLang="en-US" sz="3600" dirty="0" smtClean="0">
                <a:solidFill>
                  <a:srgbClr val="1313FF"/>
                </a:solidFill>
              </a:rPr>
              <a:t>  </a:t>
            </a:r>
            <a:r>
              <a:rPr lang="en-US" altLang="zh-CN" sz="3600" dirty="0" smtClean="0">
                <a:solidFill>
                  <a:srgbClr val="1313FF"/>
                </a:solidFill>
                <a:latin typeface="Times New Roman" pitchFamily="18" charset="0"/>
              </a:rPr>
              <a:t>——</a:t>
            </a:r>
            <a:r>
              <a:rPr lang="zh-CN" altLang="en-US" sz="3600" dirty="0" smtClean="0">
                <a:solidFill>
                  <a:schemeClr val="tx2"/>
                </a:solidFill>
              </a:rPr>
              <a:t>加权算术平均法</a:t>
            </a:r>
            <a:endParaRPr lang="zh-CN" altLang="en-US" sz="3200" dirty="0" smtClean="0">
              <a:solidFill>
                <a:schemeClr val="tx2"/>
              </a:solidFill>
            </a:endParaRPr>
          </a:p>
        </p:txBody>
      </p:sp>
      <p:sp>
        <p:nvSpPr>
          <p:cNvPr id="167942" name="Rectangle 6"/>
          <p:cNvSpPr>
            <a:spLocks noChangeArrowheads="1"/>
          </p:cNvSpPr>
          <p:nvPr/>
        </p:nvSpPr>
        <p:spPr bwMode="auto">
          <a:xfrm>
            <a:off x="468313" y="2205038"/>
            <a:ext cx="8137525" cy="2501900"/>
          </a:xfrm>
          <a:prstGeom prst="rect">
            <a:avLst/>
          </a:prstGeom>
          <a:noFill/>
          <a:ln w="9525">
            <a:noFill/>
            <a:miter lim="800000"/>
            <a:headEnd/>
            <a:tailEnd/>
          </a:ln>
        </p:spPr>
        <p:txBody>
          <a:bodyPr>
            <a:spAutoFit/>
          </a:bodyPr>
          <a:lstStyle/>
          <a:p>
            <a:pPr lvl="1">
              <a:lnSpc>
                <a:spcPct val="120000"/>
              </a:lnSpc>
              <a:buFontTx/>
              <a:buChar char="•"/>
            </a:pPr>
            <a:r>
              <a:rPr lang="en-US" altLang="zh-CN" sz="3200" dirty="0">
                <a:solidFill>
                  <a:srgbClr val="000000"/>
                </a:solidFill>
                <a:latin typeface="Tahoma" pitchFamily="34" charset="0"/>
                <a:ea typeface="宋体" pitchFamily="2" charset="-122"/>
              </a:rPr>
              <a:t> </a:t>
            </a:r>
            <a:r>
              <a:rPr lang="en-US" altLang="zh-CN" sz="3200" i="1" dirty="0">
                <a:solidFill>
                  <a:srgbClr val="1313FF"/>
                </a:solidFill>
                <a:ea typeface="宋体" pitchFamily="2" charset="-122"/>
              </a:rPr>
              <a:t>x</a:t>
            </a:r>
            <a:r>
              <a:rPr lang="en-US" altLang="zh-CN" sz="3200" dirty="0">
                <a:solidFill>
                  <a:srgbClr val="000000"/>
                </a:solidFill>
                <a:ea typeface="宋体" pitchFamily="2" charset="-122"/>
              </a:rPr>
              <a:t>——</a:t>
            </a:r>
            <a:r>
              <a:rPr lang="zh-CN" altLang="en-US" sz="3200" dirty="0">
                <a:solidFill>
                  <a:srgbClr val="000000"/>
                </a:solidFill>
                <a:latin typeface="Tahoma" pitchFamily="34" charset="0"/>
                <a:ea typeface="宋体" pitchFamily="2" charset="-122"/>
              </a:rPr>
              <a:t>各组的组中值（代表组平均水平）</a:t>
            </a:r>
          </a:p>
          <a:p>
            <a:pPr lvl="1">
              <a:lnSpc>
                <a:spcPct val="120000"/>
              </a:lnSpc>
              <a:buFontTx/>
              <a:buChar char="•"/>
            </a:pPr>
            <a:r>
              <a:rPr lang="zh-CN" altLang="en-US" sz="3200" dirty="0">
                <a:solidFill>
                  <a:srgbClr val="000000"/>
                </a:solidFill>
                <a:latin typeface="Tahoma" pitchFamily="34" charset="0"/>
                <a:ea typeface="宋体" pitchFamily="2" charset="-122"/>
              </a:rPr>
              <a:t> </a:t>
            </a:r>
            <a:r>
              <a:rPr lang="zh-CN" altLang="en-US" sz="3200" dirty="0">
                <a:solidFill>
                  <a:srgbClr val="1313FF"/>
                </a:solidFill>
                <a:latin typeface="Tahoma" pitchFamily="34" charset="0"/>
                <a:ea typeface="宋体" pitchFamily="2" charset="-122"/>
              </a:rPr>
              <a:t>假定条件</a:t>
            </a:r>
            <a:r>
              <a:rPr lang="zh-CN" altLang="en-US" sz="3200" dirty="0">
                <a:solidFill>
                  <a:srgbClr val="000000"/>
                </a:solidFill>
                <a:latin typeface="Tahoma" pitchFamily="34" charset="0"/>
                <a:ea typeface="宋体" pitchFamily="2" charset="-122"/>
              </a:rPr>
              <a:t>：组内均匀分布或对称分布</a:t>
            </a:r>
          </a:p>
          <a:p>
            <a:pPr lvl="1">
              <a:lnSpc>
                <a:spcPct val="120000"/>
              </a:lnSpc>
              <a:buFontTx/>
              <a:buChar char="•"/>
            </a:pPr>
            <a:r>
              <a:rPr lang="zh-CN" altLang="en-US" sz="3200" dirty="0">
                <a:solidFill>
                  <a:srgbClr val="000000"/>
                </a:solidFill>
                <a:latin typeface="Tahoma" pitchFamily="34" charset="0"/>
                <a:ea typeface="宋体" pitchFamily="2" charset="-122"/>
              </a:rPr>
              <a:t> 一般地，</a:t>
            </a:r>
            <a:r>
              <a:rPr lang="zh-CN" altLang="en-US" sz="3200" dirty="0">
                <a:solidFill>
                  <a:srgbClr val="1313FF"/>
                </a:solidFill>
                <a:latin typeface="Tahoma" pitchFamily="34" charset="0"/>
                <a:ea typeface="宋体" pitchFamily="2" charset="-122"/>
              </a:rPr>
              <a:t>计算结果是近似值</a:t>
            </a:r>
            <a:r>
              <a:rPr lang="zh-CN" altLang="en-US" sz="3200" dirty="0">
                <a:solidFill>
                  <a:srgbClr val="000000"/>
                </a:solidFill>
                <a:latin typeface="Tahoma" pitchFamily="34" charset="0"/>
                <a:ea typeface="宋体" pitchFamily="2" charset="-122"/>
              </a:rPr>
              <a:t>。</a:t>
            </a:r>
          </a:p>
          <a:p>
            <a:pPr lvl="4">
              <a:lnSpc>
                <a:spcPct val="120000"/>
              </a:lnSpc>
              <a:buFontTx/>
              <a:buChar char="•"/>
            </a:pPr>
            <a:endParaRPr lang="zh-CN" altLang="en-US" sz="1200" dirty="0">
              <a:solidFill>
                <a:srgbClr val="000000"/>
              </a:solidFill>
              <a:latin typeface="Tahoma" pitchFamily="34" charset="0"/>
              <a:ea typeface="宋体" pitchFamily="2" charset="-122"/>
            </a:endParaRPr>
          </a:p>
          <a:p>
            <a:pPr lvl="2">
              <a:lnSpc>
                <a:spcPct val="120000"/>
              </a:lnSpc>
            </a:pPr>
            <a:r>
              <a:rPr lang="zh-CN" altLang="en-US" b="1" dirty="0"/>
              <a:t>例</a:t>
            </a:r>
            <a:r>
              <a:rPr lang="en-US" altLang="zh-CN" b="1" dirty="0"/>
              <a:t>3-2 </a:t>
            </a:r>
            <a:r>
              <a:rPr lang="zh-CN" altLang="en-US" b="1" dirty="0"/>
              <a:t>的计算结果：</a:t>
            </a:r>
          </a:p>
        </p:txBody>
      </p:sp>
      <p:sp>
        <p:nvSpPr>
          <p:cNvPr id="18438" name="Rectangle 8"/>
          <p:cNvSpPr>
            <a:spLocks noChangeArrowheads="1"/>
          </p:cNvSpPr>
          <p:nvPr/>
        </p:nvSpPr>
        <p:spPr bwMode="auto">
          <a:xfrm>
            <a:off x="0" y="32289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67943" name="Object 7"/>
          <p:cNvGraphicFramePr>
            <a:graphicFrameLocks noChangeAspect="1"/>
          </p:cNvGraphicFramePr>
          <p:nvPr/>
        </p:nvGraphicFramePr>
        <p:xfrm>
          <a:off x="539552" y="4941888"/>
          <a:ext cx="8424936" cy="1008062"/>
        </p:xfrm>
        <a:graphic>
          <a:graphicData uri="http://schemas.openxmlformats.org/presentationml/2006/ole">
            <mc:AlternateContent xmlns:mc="http://schemas.openxmlformats.org/markup-compatibility/2006">
              <mc:Choice xmlns:v="urn:schemas-microsoft-com:vml" Requires="v">
                <p:oleObj spid="_x0000_s18611" name="公式" r:id="rId3" imgW="4572000" imgH="482600" progId="Equation.3">
                  <p:embed/>
                </p:oleObj>
              </mc:Choice>
              <mc:Fallback>
                <p:oleObj name="公式" r:id="rId3" imgW="4572000" imgH="482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4941888"/>
                        <a:ext cx="8424936"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53</a:t>
            </a:fld>
            <a:endParaRPr lang="en-US" altLang="zh-CN"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4"/>
          <p:cNvSpPr>
            <a:spLocks noGrp="1" noChangeArrowheads="1"/>
          </p:cNvSpPr>
          <p:nvPr>
            <p:ph type="title"/>
          </p:nvPr>
        </p:nvSpPr>
        <p:spPr>
          <a:xfrm>
            <a:off x="827088" y="404813"/>
            <a:ext cx="6686550" cy="990600"/>
          </a:xfrm>
        </p:spPr>
        <p:txBody>
          <a:bodyPr/>
          <a:lstStyle/>
          <a:p>
            <a:pPr algn="l" eaLnBrk="1" hangingPunct="1"/>
            <a:r>
              <a:rPr lang="zh-CN" altLang="en-US" sz="4000" dirty="0" smtClean="0">
                <a:solidFill>
                  <a:srgbClr val="1313FF"/>
                </a:solidFill>
              </a:rPr>
              <a:t>（</a:t>
            </a:r>
            <a:r>
              <a:rPr lang="en-US" altLang="zh-CN" sz="4000" dirty="0" smtClean="0">
                <a:solidFill>
                  <a:srgbClr val="1313FF"/>
                </a:solidFill>
              </a:rPr>
              <a:t>3</a:t>
            </a:r>
            <a:r>
              <a:rPr lang="zh-CN" altLang="en-US" sz="4000" dirty="0" smtClean="0">
                <a:solidFill>
                  <a:srgbClr val="1313FF"/>
                </a:solidFill>
              </a:rPr>
              <a:t>）</a:t>
            </a:r>
            <a:r>
              <a:rPr lang="zh-CN" altLang="en-US" sz="5400" dirty="0" smtClean="0">
                <a:solidFill>
                  <a:srgbClr val="1313FF"/>
                </a:solidFill>
                <a:latin typeface="宋体" pitchFamily="2" charset="-122"/>
              </a:rPr>
              <a:t>调和平均数</a:t>
            </a:r>
          </a:p>
        </p:txBody>
      </p:sp>
      <p:sp>
        <p:nvSpPr>
          <p:cNvPr id="19463" name="Rectangle 3"/>
          <p:cNvSpPr>
            <a:spLocks noGrp="1" noChangeArrowheads="1"/>
          </p:cNvSpPr>
          <p:nvPr>
            <p:ph type="body" sz="half" idx="1"/>
          </p:nvPr>
        </p:nvSpPr>
        <p:spPr>
          <a:xfrm>
            <a:off x="762000" y="1524000"/>
            <a:ext cx="7770813" cy="4724400"/>
          </a:xfrm>
        </p:spPr>
        <p:txBody>
          <a:bodyPr/>
          <a:lstStyle/>
          <a:p>
            <a:pPr marL="0" indent="0" algn="just" eaLnBrk="1" hangingPunct="1">
              <a:lnSpc>
                <a:spcPct val="120000"/>
              </a:lnSpc>
              <a:spcBef>
                <a:spcPct val="35000"/>
              </a:spcBef>
              <a:buFontTx/>
              <a:buChar char="•"/>
            </a:pPr>
            <a:r>
              <a:rPr lang="zh-CN" altLang="en-US" sz="2800" dirty="0" smtClean="0">
                <a:solidFill>
                  <a:srgbClr val="0070C0"/>
                </a:solidFill>
              </a:rPr>
              <a:t>也称倒数平均数</a:t>
            </a:r>
            <a:endParaRPr lang="en-US" altLang="zh-CN" sz="2800" dirty="0" smtClean="0">
              <a:solidFill>
                <a:srgbClr val="0070C0"/>
              </a:solidFill>
            </a:endParaRPr>
          </a:p>
          <a:p>
            <a:pPr marL="476250" indent="-120650" algn="just" eaLnBrk="1" hangingPunct="1">
              <a:lnSpc>
                <a:spcPct val="120000"/>
              </a:lnSpc>
              <a:spcBef>
                <a:spcPct val="35000"/>
              </a:spcBef>
              <a:buFontTx/>
              <a:buNone/>
            </a:pPr>
            <a:r>
              <a:rPr lang="en-US" altLang="zh-CN" sz="2800" dirty="0" smtClean="0">
                <a:solidFill>
                  <a:srgbClr val="000000"/>
                </a:solidFill>
              </a:rPr>
              <a:t>__</a:t>
            </a:r>
            <a:r>
              <a:rPr lang="zh-CN" altLang="en-US" sz="2800" dirty="0" smtClean="0">
                <a:solidFill>
                  <a:srgbClr val="000000"/>
                </a:solidFill>
              </a:rPr>
              <a:t>变量值的倒数的算术平均数的倒数。</a:t>
            </a:r>
            <a:endParaRPr lang="en-US" altLang="zh-CN" sz="2800" dirty="0" smtClean="0">
              <a:solidFill>
                <a:srgbClr val="000000"/>
              </a:solidFill>
            </a:endParaRPr>
          </a:p>
          <a:p>
            <a:pPr marL="476250" indent="-120650" algn="just" eaLnBrk="1" hangingPunct="1">
              <a:lnSpc>
                <a:spcPct val="120000"/>
              </a:lnSpc>
              <a:spcBef>
                <a:spcPct val="35000"/>
              </a:spcBef>
              <a:buFontTx/>
              <a:buNone/>
            </a:pPr>
            <a:r>
              <a:rPr lang="zh-CN" altLang="zh-CN" sz="2800" dirty="0" smtClean="0">
                <a:solidFill>
                  <a:srgbClr val="1313FF"/>
                </a:solidFill>
              </a:rPr>
              <a:t>加权</a:t>
            </a:r>
            <a:r>
              <a:rPr lang="zh-CN" altLang="zh-CN" sz="2800" dirty="0" smtClean="0">
                <a:solidFill>
                  <a:srgbClr val="0070C0"/>
                </a:solidFill>
              </a:rPr>
              <a:t>调和平均数的计算公式</a:t>
            </a:r>
            <a:r>
              <a:rPr lang="zh-CN" altLang="en-US" sz="2800" dirty="0" smtClean="0">
                <a:solidFill>
                  <a:srgbClr val="0070C0"/>
                </a:solidFill>
              </a:rPr>
              <a:t>（</a:t>
            </a:r>
            <a:r>
              <a:rPr lang="en-US" altLang="zh-CN" sz="2800" i="1" dirty="0" smtClean="0">
                <a:solidFill>
                  <a:srgbClr val="1313FF"/>
                </a:solidFill>
                <a:latin typeface="Times New Roman" pitchFamily="18" charset="0"/>
                <a:cs typeface="Times New Roman" pitchFamily="18" charset="0"/>
              </a:rPr>
              <a:t>m</a:t>
            </a:r>
            <a:r>
              <a:rPr lang="en-US" altLang="zh-CN" sz="2800" dirty="0" smtClean="0">
                <a:solidFill>
                  <a:srgbClr val="0070C0"/>
                </a:solidFill>
              </a:rPr>
              <a:t>=</a:t>
            </a:r>
            <a:r>
              <a:rPr lang="zh-CN" altLang="en-US" sz="2800" dirty="0" smtClean="0">
                <a:solidFill>
                  <a:srgbClr val="0070C0"/>
                </a:solidFill>
              </a:rPr>
              <a:t>权数）：</a:t>
            </a:r>
            <a:endParaRPr lang="en-US" altLang="zh-CN" sz="2800" dirty="0" smtClean="0">
              <a:solidFill>
                <a:srgbClr val="0070C0"/>
              </a:solidFill>
            </a:endParaRPr>
          </a:p>
          <a:p>
            <a:pPr marL="476250" lvl="1" indent="-120650" algn="just" eaLnBrk="1" hangingPunct="1">
              <a:lnSpc>
                <a:spcPct val="120000"/>
              </a:lnSpc>
              <a:spcBef>
                <a:spcPct val="35000"/>
              </a:spcBef>
              <a:buFontTx/>
              <a:buNone/>
            </a:pPr>
            <a:r>
              <a:rPr lang="en-US" altLang="zh-CN" sz="2400" dirty="0" smtClean="0"/>
              <a:t> </a:t>
            </a:r>
            <a:endParaRPr lang="zh-CN" altLang="en-US" dirty="0" smtClean="0">
              <a:solidFill>
                <a:srgbClr val="000000"/>
              </a:solidFill>
              <a:latin typeface="宋体" pitchFamily="2" charset="-122"/>
            </a:endParaRPr>
          </a:p>
        </p:txBody>
      </p:sp>
      <p:pic>
        <p:nvPicPr>
          <p:cNvPr id="19461" name="Picture 5"/>
          <p:cNvPicPr>
            <a:picLocks noChangeAspect="1" noChangeArrowheads="1"/>
          </p:cNvPicPr>
          <p:nvPr/>
        </p:nvPicPr>
        <p:blipFill>
          <a:blip r:embed="rId2" cstate="print"/>
          <a:srcRect/>
          <a:stretch>
            <a:fillRect/>
          </a:stretch>
        </p:blipFill>
        <p:spPr bwMode="auto">
          <a:xfrm>
            <a:off x="323528" y="3639666"/>
            <a:ext cx="8640960" cy="259764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3"/>
          <p:cNvSpPr>
            <a:spLocks noGrp="1" noChangeArrowheads="1"/>
          </p:cNvSpPr>
          <p:nvPr>
            <p:ph type="body" sz="half" idx="1"/>
          </p:nvPr>
        </p:nvSpPr>
        <p:spPr>
          <a:xfrm>
            <a:off x="683568" y="1124744"/>
            <a:ext cx="7770813" cy="4724400"/>
          </a:xfrm>
        </p:spPr>
        <p:txBody>
          <a:bodyPr/>
          <a:lstStyle/>
          <a:p>
            <a:pPr marL="476250" indent="-120650" algn="just" eaLnBrk="1" hangingPunct="1">
              <a:lnSpc>
                <a:spcPct val="120000"/>
              </a:lnSpc>
              <a:spcBef>
                <a:spcPct val="35000"/>
              </a:spcBef>
              <a:buNone/>
            </a:pPr>
            <a:r>
              <a:rPr lang="zh-CN" altLang="en-US" dirty="0" smtClean="0">
                <a:solidFill>
                  <a:srgbClr val="0070C0"/>
                </a:solidFill>
              </a:rPr>
              <a:t>调和平均数通常作为加权算术平均数的变形公式使用</a:t>
            </a:r>
          </a:p>
          <a:p>
            <a:pPr lvl="2" indent="-609600" algn="just" eaLnBrk="1" hangingPunct="1">
              <a:lnSpc>
                <a:spcPct val="120000"/>
              </a:lnSpc>
              <a:spcBef>
                <a:spcPct val="35000"/>
              </a:spcBef>
              <a:buFontTx/>
              <a:buNone/>
            </a:pPr>
            <a:r>
              <a:rPr lang="en-US" altLang="zh-CN" sz="2800" dirty="0" smtClean="0">
                <a:solidFill>
                  <a:srgbClr val="000000"/>
                </a:solidFill>
              </a:rPr>
              <a:t>——</a:t>
            </a:r>
            <a:r>
              <a:rPr lang="zh-CN" altLang="en-US" sz="2800" dirty="0" smtClean="0">
                <a:solidFill>
                  <a:srgbClr val="000000"/>
                </a:solidFill>
              </a:rPr>
              <a:t>当缺乏分子数据时，采用</a:t>
            </a:r>
            <a:r>
              <a:rPr lang="zh-CN" altLang="en-US" sz="2800" dirty="0" smtClean="0">
                <a:solidFill>
                  <a:srgbClr val="000000"/>
                </a:solidFill>
                <a:latin typeface="宋体" pitchFamily="2" charset="-122"/>
              </a:rPr>
              <a:t>算术平均数；</a:t>
            </a:r>
          </a:p>
          <a:p>
            <a:pPr lvl="2" indent="-609600" algn="just" eaLnBrk="1" hangingPunct="1">
              <a:lnSpc>
                <a:spcPct val="120000"/>
              </a:lnSpc>
              <a:spcBef>
                <a:spcPct val="35000"/>
              </a:spcBef>
              <a:buFontTx/>
              <a:buNone/>
            </a:pPr>
            <a:r>
              <a:rPr lang="en-US" altLang="zh-CN" sz="2800" dirty="0" smtClean="0">
                <a:solidFill>
                  <a:srgbClr val="000000"/>
                </a:solidFill>
              </a:rPr>
              <a:t>——</a:t>
            </a:r>
            <a:r>
              <a:rPr lang="zh-CN" altLang="en-US" sz="2800" dirty="0" smtClean="0">
                <a:solidFill>
                  <a:srgbClr val="000000"/>
                </a:solidFill>
              </a:rPr>
              <a:t>当缺乏分母数据时，采用</a:t>
            </a:r>
            <a:r>
              <a:rPr lang="zh-CN" altLang="en-US" sz="2800" dirty="0" smtClean="0">
                <a:solidFill>
                  <a:srgbClr val="000000"/>
                </a:solidFill>
                <a:latin typeface="宋体" pitchFamily="2" charset="-122"/>
              </a:rPr>
              <a:t>调和平均数。</a:t>
            </a:r>
          </a:p>
        </p:txBody>
      </p:sp>
      <p:graphicFrame>
        <p:nvGraphicFramePr>
          <p:cNvPr id="241669" name="Object 5"/>
          <p:cNvGraphicFramePr>
            <a:graphicFrameLocks noGrp="1" noChangeAspect="1"/>
          </p:cNvGraphicFramePr>
          <p:nvPr>
            <p:ph sz="quarter" idx="2"/>
          </p:nvPr>
        </p:nvGraphicFramePr>
        <p:xfrm>
          <a:off x="683568" y="4077072"/>
          <a:ext cx="2736304" cy="1800225"/>
        </p:xfrm>
        <a:graphic>
          <a:graphicData uri="http://schemas.openxmlformats.org/presentationml/2006/ole">
            <mc:AlternateContent xmlns:mc="http://schemas.openxmlformats.org/markup-compatibility/2006">
              <mc:Choice xmlns:v="urn:schemas-microsoft-com:vml" Requires="v">
                <p:oleObj spid="_x0000_s199189" name="公式" r:id="rId3" imgW="558720" imgH="419040" progId="Equation.3">
                  <p:embed/>
                </p:oleObj>
              </mc:Choice>
              <mc:Fallback>
                <p:oleObj name="公式" r:id="rId3" imgW="558720" imgH="4190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4077072"/>
                        <a:ext cx="2736304" cy="180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1671" name="Object 7"/>
          <p:cNvGraphicFramePr>
            <a:graphicFrameLocks noGrp="1" noChangeAspect="1"/>
          </p:cNvGraphicFramePr>
          <p:nvPr>
            <p:ph sz="quarter" idx="3"/>
          </p:nvPr>
        </p:nvGraphicFramePr>
        <p:xfrm>
          <a:off x="3419872" y="4365104"/>
          <a:ext cx="2448272" cy="1800225"/>
        </p:xfrm>
        <a:graphic>
          <a:graphicData uri="http://schemas.openxmlformats.org/presentationml/2006/ole">
            <mc:AlternateContent xmlns:mc="http://schemas.openxmlformats.org/markup-compatibility/2006">
              <mc:Choice xmlns:v="urn:schemas-microsoft-com:vml" Requires="v">
                <p:oleObj spid="_x0000_s199190" name="Equation" r:id="rId5" imgW="685800" imgH="583920" progId="Equation.DSMT4">
                  <p:embed/>
                </p:oleObj>
              </mc:Choice>
              <mc:Fallback>
                <p:oleObj name="Equation" r:id="rId5" imgW="685800" imgH="58392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872" y="4365104"/>
                        <a:ext cx="2448272" cy="180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8660" name="Object 9"/>
          <p:cNvGraphicFramePr>
            <a:graphicFrameLocks noChangeAspect="1"/>
          </p:cNvGraphicFramePr>
          <p:nvPr/>
        </p:nvGraphicFramePr>
        <p:xfrm>
          <a:off x="6660232" y="4149080"/>
          <a:ext cx="2296589" cy="1701552"/>
        </p:xfrm>
        <a:graphic>
          <a:graphicData uri="http://schemas.openxmlformats.org/presentationml/2006/ole">
            <mc:AlternateContent xmlns:mc="http://schemas.openxmlformats.org/markup-compatibility/2006">
              <mc:Choice xmlns:v="urn:schemas-microsoft-com:vml" Requires="v">
                <p:oleObj spid="_x0000_s199191" name="Equation" r:id="rId7" imgW="698400" imgH="622080" progId="Equation.DSMT4">
                  <p:embed/>
                </p:oleObj>
              </mc:Choice>
              <mc:Fallback>
                <p:oleObj name="Equation" r:id="rId7" imgW="698400" imgH="62208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60232" y="4149080"/>
                        <a:ext cx="2296589" cy="1701552"/>
                      </a:xfrm>
                      <a:prstGeom prst="rect">
                        <a:avLst/>
                      </a:prstGeom>
                      <a:solidFill>
                        <a:srgbClr val="FFFF66"/>
                      </a:solidFill>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41669"/>
                                        </p:tgtEl>
                                        <p:attrNameLst>
                                          <p:attrName>style.visibility</p:attrName>
                                        </p:attrNameLst>
                                      </p:cBhvr>
                                      <p:to>
                                        <p:strVal val="visible"/>
                                      </p:to>
                                    </p:set>
                                    <p:anim calcmode="lin" valueType="num">
                                      <p:cBhvr additive="base">
                                        <p:cTn id="7" dur="500" fill="hold"/>
                                        <p:tgtEl>
                                          <p:spTgt spid="241669"/>
                                        </p:tgtEl>
                                        <p:attrNameLst>
                                          <p:attrName>ppt_x</p:attrName>
                                        </p:attrNameLst>
                                      </p:cBhvr>
                                      <p:tavLst>
                                        <p:tav tm="0">
                                          <p:val>
                                            <p:strVal val="0-#ppt_w/2"/>
                                          </p:val>
                                        </p:tav>
                                        <p:tav tm="100000">
                                          <p:val>
                                            <p:strVal val="#ppt_x"/>
                                          </p:val>
                                        </p:tav>
                                      </p:tavLst>
                                    </p:anim>
                                    <p:anim calcmode="lin" valueType="num">
                                      <p:cBhvr additive="base">
                                        <p:cTn id="8" dur="500" fill="hold"/>
                                        <p:tgtEl>
                                          <p:spTgt spid="24166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 presetClass="entr" presetSubtype="5" fill="hold" nodeType="afterEffect">
                                  <p:stCondLst>
                                    <p:cond delay="0"/>
                                  </p:stCondLst>
                                  <p:childTnLst>
                                    <p:set>
                                      <p:cBhvr>
                                        <p:cTn id="11" dur="1" fill="hold">
                                          <p:stCondLst>
                                            <p:cond delay="0"/>
                                          </p:stCondLst>
                                        </p:cTn>
                                        <p:tgtEl>
                                          <p:spTgt spid="241671"/>
                                        </p:tgtEl>
                                        <p:attrNameLst>
                                          <p:attrName>style.visibility</p:attrName>
                                        </p:attrNameLst>
                                      </p:cBhvr>
                                      <p:to>
                                        <p:strVal val="visible"/>
                                      </p:to>
                                    </p:set>
                                    <p:animEffect transition="in" filter="checkerboard(down)">
                                      <p:cBhvr>
                                        <p:cTn id="12" dur="500"/>
                                        <p:tgtEl>
                                          <p:spTgt spid="241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Rectangle 54"/>
          <p:cNvSpPr>
            <a:spLocks noGrp="1" noChangeArrowheads="1"/>
          </p:cNvSpPr>
          <p:nvPr>
            <p:ph type="title"/>
          </p:nvPr>
        </p:nvSpPr>
        <p:spPr>
          <a:xfrm>
            <a:off x="538594" y="227038"/>
            <a:ext cx="2736304" cy="990600"/>
          </a:xfrm>
        </p:spPr>
        <p:txBody>
          <a:bodyPr/>
          <a:lstStyle/>
          <a:p>
            <a:pPr eaLnBrk="1" hangingPunct="1"/>
            <a:r>
              <a:rPr lang="en-US" altLang="zh-CN" sz="3600" dirty="0" smtClean="0"/>
              <a:t>【</a:t>
            </a:r>
            <a:r>
              <a:rPr lang="zh-CN" altLang="en-US" sz="3600" dirty="0" smtClean="0"/>
              <a:t>例</a:t>
            </a:r>
            <a:r>
              <a:rPr lang="en-US" altLang="zh-CN" sz="3600" dirty="0" smtClean="0"/>
              <a:t>3-1+】</a:t>
            </a:r>
            <a:endParaRPr lang="zh-CN" altLang="en-US" sz="3600" dirty="0" smtClean="0"/>
          </a:p>
        </p:txBody>
      </p:sp>
      <p:sp>
        <p:nvSpPr>
          <p:cNvPr id="56" name="内容占位符 55"/>
          <p:cNvSpPr>
            <a:spLocks noGrp="1"/>
          </p:cNvSpPr>
          <p:nvPr>
            <p:ph idx="1"/>
          </p:nvPr>
        </p:nvSpPr>
        <p:spPr>
          <a:xfrm>
            <a:off x="3043837" y="836712"/>
            <a:ext cx="5632620" cy="4835624"/>
          </a:xfrm>
        </p:spPr>
        <p:txBody>
          <a:bodyPr/>
          <a:lstStyle/>
          <a:p>
            <a:pPr>
              <a:buNone/>
            </a:pPr>
            <a:r>
              <a:rPr lang="zh-CN" altLang="en-US" sz="2800" dirty="0" smtClean="0">
                <a:solidFill>
                  <a:srgbClr val="0070C0"/>
                </a:solidFill>
              </a:rPr>
              <a:t>若</a:t>
            </a:r>
            <a:r>
              <a:rPr lang="zh-CN" altLang="zh-CN" sz="2800" dirty="0" smtClean="0">
                <a:solidFill>
                  <a:srgbClr val="0070C0"/>
                </a:solidFill>
              </a:rPr>
              <a:t>表 </a:t>
            </a:r>
            <a:r>
              <a:rPr lang="en-US" altLang="zh-CN" sz="2800" dirty="0" smtClean="0">
                <a:solidFill>
                  <a:srgbClr val="0070C0"/>
                </a:solidFill>
              </a:rPr>
              <a:t>3-1</a:t>
            </a:r>
            <a:r>
              <a:rPr lang="zh-CN" altLang="zh-CN" sz="2800" dirty="0" smtClean="0">
                <a:solidFill>
                  <a:srgbClr val="0070C0"/>
                </a:solidFill>
              </a:rPr>
              <a:t>的</a:t>
            </a:r>
            <a:r>
              <a:rPr lang="zh-CN" altLang="en-US" sz="2800" dirty="0" smtClean="0">
                <a:solidFill>
                  <a:srgbClr val="0070C0"/>
                </a:solidFill>
              </a:rPr>
              <a:t>工人数未知而已知各组总产量</a:t>
            </a:r>
            <a:r>
              <a:rPr lang="zh-CN" altLang="zh-CN" sz="2800" dirty="0" smtClean="0">
                <a:solidFill>
                  <a:srgbClr val="0070C0"/>
                </a:solidFill>
              </a:rPr>
              <a:t>计算工人平均日产量。</a:t>
            </a:r>
            <a:endParaRPr lang="zh-CN" altLang="en-US" sz="2800" dirty="0">
              <a:solidFill>
                <a:srgbClr val="0070C0"/>
              </a:solidFill>
            </a:endParaRPr>
          </a:p>
        </p:txBody>
      </p:sp>
      <p:pic>
        <p:nvPicPr>
          <p:cNvPr id="3" name="Picture 6"/>
          <p:cNvPicPr>
            <a:picLocks noChangeAspect="1" noChangeArrowheads="1"/>
          </p:cNvPicPr>
          <p:nvPr/>
        </p:nvPicPr>
        <p:blipFill>
          <a:blip r:embed="rId2" cstate="print"/>
          <a:srcRect/>
          <a:stretch>
            <a:fillRect/>
          </a:stretch>
        </p:blipFill>
        <p:spPr bwMode="auto">
          <a:xfrm>
            <a:off x="3851920" y="2134115"/>
            <a:ext cx="5114925" cy="3960440"/>
          </a:xfrm>
          <a:prstGeom prst="rect">
            <a:avLst/>
          </a:prstGeom>
          <a:noFill/>
          <a:ln w="9525">
            <a:noFill/>
            <a:miter lim="800000"/>
            <a:headEnd/>
            <a:tailEnd/>
          </a:ln>
        </p:spPr>
      </p:pic>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56</a:t>
            </a:fld>
            <a:endParaRPr lang="en-US" altLang="zh-CN" dirty="0"/>
          </a:p>
        </p:txBody>
      </p:sp>
      <p:pic>
        <p:nvPicPr>
          <p:cNvPr id="2" name="图片 1"/>
          <p:cNvPicPr>
            <a:picLocks noChangeAspect="1"/>
          </p:cNvPicPr>
          <p:nvPr/>
        </p:nvPicPr>
        <p:blipFill>
          <a:blip r:embed="rId3"/>
          <a:stretch>
            <a:fillRect/>
          </a:stretch>
        </p:blipFill>
        <p:spPr>
          <a:xfrm>
            <a:off x="35242" y="1783664"/>
            <a:ext cx="3743008" cy="473310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type="body" idx="1"/>
          </p:nvPr>
        </p:nvSpPr>
        <p:spPr>
          <a:xfrm>
            <a:off x="611188" y="1412875"/>
            <a:ext cx="7772400" cy="1295400"/>
          </a:xfrm>
        </p:spPr>
        <p:txBody>
          <a:bodyPr/>
          <a:lstStyle/>
          <a:p>
            <a:pPr marL="0" indent="0" algn="just">
              <a:spcBef>
                <a:spcPct val="0"/>
              </a:spcBef>
              <a:buFontTx/>
              <a:buNone/>
            </a:pPr>
            <a:r>
              <a:rPr lang="en-US" altLang="zh-CN" sz="2800" dirty="0" smtClean="0">
                <a:solidFill>
                  <a:srgbClr val="000000"/>
                </a:solidFill>
              </a:rPr>
              <a:t>        </a:t>
            </a:r>
            <a:r>
              <a:rPr lang="zh-CN" altLang="en-US" sz="2800" dirty="0" smtClean="0">
                <a:solidFill>
                  <a:srgbClr val="000000"/>
                </a:solidFill>
              </a:rPr>
              <a:t>某供销社分三批收购某种农副产品，其收购单价及各批收购额如下：</a:t>
            </a:r>
            <a:endParaRPr lang="zh-CN" altLang="en-US" dirty="0" smtClean="0">
              <a:solidFill>
                <a:srgbClr val="000000"/>
              </a:solidFill>
            </a:endParaRPr>
          </a:p>
        </p:txBody>
      </p:sp>
      <p:grpSp>
        <p:nvGrpSpPr>
          <p:cNvPr id="20486" name="Group 4"/>
          <p:cNvGrpSpPr>
            <a:grpSpLocks/>
          </p:cNvGrpSpPr>
          <p:nvPr/>
        </p:nvGrpSpPr>
        <p:grpSpPr bwMode="auto">
          <a:xfrm>
            <a:off x="533400" y="2997200"/>
            <a:ext cx="8001000" cy="2743200"/>
            <a:chOff x="-3" y="-3"/>
            <a:chExt cx="3296" cy="2311"/>
          </a:xfrm>
        </p:grpSpPr>
        <p:grpSp>
          <p:nvGrpSpPr>
            <p:cNvPr id="20488" name="Group 5"/>
            <p:cNvGrpSpPr>
              <a:grpSpLocks/>
            </p:cNvGrpSpPr>
            <p:nvPr/>
          </p:nvGrpSpPr>
          <p:grpSpPr bwMode="auto">
            <a:xfrm>
              <a:off x="0" y="0"/>
              <a:ext cx="3290" cy="2305"/>
              <a:chOff x="0" y="0"/>
              <a:chExt cx="3290" cy="2305"/>
            </a:xfrm>
          </p:grpSpPr>
          <p:grpSp>
            <p:nvGrpSpPr>
              <p:cNvPr id="20490" name="Group 6"/>
              <p:cNvGrpSpPr>
                <a:grpSpLocks/>
              </p:cNvGrpSpPr>
              <p:nvPr/>
            </p:nvGrpSpPr>
            <p:grpSpPr bwMode="auto">
              <a:xfrm>
                <a:off x="0" y="0"/>
                <a:ext cx="967" cy="461"/>
                <a:chOff x="0" y="0"/>
                <a:chExt cx="967" cy="461"/>
              </a:xfrm>
            </p:grpSpPr>
            <p:sp>
              <p:nvSpPr>
                <p:cNvPr id="20533" name="Rectangle 7"/>
                <p:cNvSpPr>
                  <a:spLocks noChangeArrowheads="1"/>
                </p:cNvSpPr>
                <p:nvPr/>
              </p:nvSpPr>
              <p:spPr bwMode="auto">
                <a:xfrm>
                  <a:off x="43" y="0"/>
                  <a:ext cx="881" cy="461"/>
                </a:xfrm>
                <a:prstGeom prst="rect">
                  <a:avLst/>
                </a:prstGeom>
                <a:noFill/>
                <a:ln w="9525">
                  <a:noFill/>
                  <a:miter lim="800000"/>
                  <a:headEnd/>
                  <a:tailEnd/>
                </a:ln>
              </p:spPr>
              <p:txBody>
                <a:bodyPr/>
                <a:lstStyle/>
                <a:p>
                  <a:pPr algn="ctr"/>
                  <a:r>
                    <a:rPr lang="zh-CN" altLang="en-US" sz="3200">
                      <a:solidFill>
                        <a:srgbClr val="006600"/>
                      </a:solidFill>
                      <a:ea typeface="宋体" pitchFamily="2" charset="-122"/>
                    </a:rPr>
                    <a:t>批次</a:t>
                  </a:r>
                </a:p>
                <a:p>
                  <a:pPr algn="ctr" eaLnBrk="0" hangingPunct="0"/>
                  <a:endParaRPr lang="en-US" altLang="zh-CN" sz="3200">
                    <a:solidFill>
                      <a:srgbClr val="006600"/>
                    </a:solidFill>
                    <a:ea typeface="宋体" pitchFamily="2" charset="-122"/>
                  </a:endParaRPr>
                </a:p>
              </p:txBody>
            </p:sp>
            <p:sp>
              <p:nvSpPr>
                <p:cNvPr id="20534" name="Rectangle 8"/>
                <p:cNvSpPr>
                  <a:spLocks noChangeArrowheads="1"/>
                </p:cNvSpPr>
                <p:nvPr/>
              </p:nvSpPr>
              <p:spPr bwMode="auto">
                <a:xfrm>
                  <a:off x="0" y="0"/>
                  <a:ext cx="967" cy="461"/>
                </a:xfrm>
                <a:prstGeom prst="rect">
                  <a:avLst/>
                </a:prstGeom>
                <a:noFill/>
                <a:ln w="7">
                  <a:solidFill>
                    <a:srgbClr val="A0A0A0"/>
                  </a:solidFill>
                  <a:miter lim="800000"/>
                  <a:headEnd/>
                  <a:tailEnd/>
                </a:ln>
              </p:spPr>
              <p:txBody>
                <a:bodyPr/>
                <a:lstStyle/>
                <a:p>
                  <a:endParaRPr lang="zh-CN" altLang="en-US"/>
                </a:p>
              </p:txBody>
            </p:sp>
          </p:grpSp>
          <p:grpSp>
            <p:nvGrpSpPr>
              <p:cNvPr id="20491" name="Group 9"/>
              <p:cNvGrpSpPr>
                <a:grpSpLocks/>
              </p:cNvGrpSpPr>
              <p:nvPr/>
            </p:nvGrpSpPr>
            <p:grpSpPr bwMode="auto">
              <a:xfrm>
                <a:off x="967" y="0"/>
                <a:ext cx="1356" cy="461"/>
                <a:chOff x="967" y="0"/>
                <a:chExt cx="1356" cy="461"/>
              </a:xfrm>
            </p:grpSpPr>
            <p:sp>
              <p:nvSpPr>
                <p:cNvPr id="20531" name="Rectangle 10"/>
                <p:cNvSpPr>
                  <a:spLocks noChangeArrowheads="1"/>
                </p:cNvSpPr>
                <p:nvPr/>
              </p:nvSpPr>
              <p:spPr bwMode="auto">
                <a:xfrm>
                  <a:off x="1010" y="0"/>
                  <a:ext cx="1270" cy="461"/>
                </a:xfrm>
                <a:prstGeom prst="rect">
                  <a:avLst/>
                </a:prstGeom>
                <a:noFill/>
                <a:ln w="9525">
                  <a:noFill/>
                  <a:miter lim="800000"/>
                  <a:headEnd/>
                  <a:tailEnd/>
                </a:ln>
              </p:spPr>
              <p:txBody>
                <a:bodyPr/>
                <a:lstStyle/>
                <a:p>
                  <a:pPr algn="ctr"/>
                  <a:r>
                    <a:rPr lang="zh-CN" altLang="en-US" sz="3200">
                      <a:solidFill>
                        <a:srgbClr val="006600"/>
                      </a:solidFill>
                      <a:ea typeface="宋体" pitchFamily="2" charset="-122"/>
                    </a:rPr>
                    <a:t>单价（元）</a:t>
                  </a:r>
                </a:p>
                <a:p>
                  <a:pPr algn="ctr" eaLnBrk="0" hangingPunct="0"/>
                  <a:endParaRPr lang="en-US" altLang="zh-CN" sz="3200">
                    <a:solidFill>
                      <a:srgbClr val="006600"/>
                    </a:solidFill>
                    <a:ea typeface="宋体" pitchFamily="2" charset="-122"/>
                  </a:endParaRPr>
                </a:p>
              </p:txBody>
            </p:sp>
            <p:sp>
              <p:nvSpPr>
                <p:cNvPr id="20532" name="Rectangle 11"/>
                <p:cNvSpPr>
                  <a:spLocks noChangeArrowheads="1"/>
                </p:cNvSpPr>
                <p:nvPr/>
              </p:nvSpPr>
              <p:spPr bwMode="auto">
                <a:xfrm>
                  <a:off x="967" y="0"/>
                  <a:ext cx="1356" cy="461"/>
                </a:xfrm>
                <a:prstGeom prst="rect">
                  <a:avLst/>
                </a:prstGeom>
                <a:noFill/>
                <a:ln w="7">
                  <a:solidFill>
                    <a:srgbClr val="A0A0A0"/>
                  </a:solidFill>
                  <a:miter lim="800000"/>
                  <a:headEnd/>
                  <a:tailEnd/>
                </a:ln>
              </p:spPr>
              <p:txBody>
                <a:bodyPr/>
                <a:lstStyle/>
                <a:p>
                  <a:endParaRPr lang="zh-CN" altLang="en-US"/>
                </a:p>
              </p:txBody>
            </p:sp>
          </p:grpSp>
          <p:grpSp>
            <p:nvGrpSpPr>
              <p:cNvPr id="20492" name="Group 12"/>
              <p:cNvGrpSpPr>
                <a:grpSpLocks/>
              </p:cNvGrpSpPr>
              <p:nvPr/>
            </p:nvGrpSpPr>
            <p:grpSpPr bwMode="auto">
              <a:xfrm>
                <a:off x="2323" y="0"/>
                <a:ext cx="967" cy="461"/>
                <a:chOff x="2323" y="0"/>
                <a:chExt cx="967" cy="461"/>
              </a:xfrm>
            </p:grpSpPr>
            <p:sp>
              <p:nvSpPr>
                <p:cNvPr id="20529" name="Rectangle 13"/>
                <p:cNvSpPr>
                  <a:spLocks noChangeArrowheads="1"/>
                </p:cNvSpPr>
                <p:nvPr/>
              </p:nvSpPr>
              <p:spPr bwMode="auto">
                <a:xfrm>
                  <a:off x="2366" y="0"/>
                  <a:ext cx="881" cy="461"/>
                </a:xfrm>
                <a:prstGeom prst="rect">
                  <a:avLst/>
                </a:prstGeom>
                <a:noFill/>
                <a:ln w="9525">
                  <a:noFill/>
                  <a:miter lim="800000"/>
                  <a:headEnd/>
                  <a:tailEnd/>
                </a:ln>
              </p:spPr>
              <p:txBody>
                <a:bodyPr/>
                <a:lstStyle/>
                <a:p>
                  <a:pPr algn="ctr"/>
                  <a:r>
                    <a:rPr lang="zh-CN" altLang="en-US" sz="3200">
                      <a:solidFill>
                        <a:srgbClr val="006600"/>
                      </a:solidFill>
                      <a:ea typeface="宋体" pitchFamily="2" charset="-122"/>
                    </a:rPr>
                    <a:t>收购额</a:t>
                  </a:r>
                </a:p>
                <a:p>
                  <a:pPr algn="ctr" eaLnBrk="0" hangingPunct="0"/>
                  <a:endParaRPr lang="en-US" altLang="zh-CN" sz="3200">
                    <a:solidFill>
                      <a:srgbClr val="006600"/>
                    </a:solidFill>
                    <a:ea typeface="宋体" pitchFamily="2" charset="-122"/>
                  </a:endParaRPr>
                </a:p>
              </p:txBody>
            </p:sp>
            <p:sp>
              <p:nvSpPr>
                <p:cNvPr id="20530" name="Rectangle 14"/>
                <p:cNvSpPr>
                  <a:spLocks noChangeArrowheads="1"/>
                </p:cNvSpPr>
                <p:nvPr/>
              </p:nvSpPr>
              <p:spPr bwMode="auto">
                <a:xfrm>
                  <a:off x="2323" y="0"/>
                  <a:ext cx="967" cy="461"/>
                </a:xfrm>
                <a:prstGeom prst="rect">
                  <a:avLst/>
                </a:prstGeom>
                <a:noFill/>
                <a:ln w="7">
                  <a:solidFill>
                    <a:srgbClr val="A0A0A0"/>
                  </a:solidFill>
                  <a:miter lim="800000"/>
                  <a:headEnd/>
                  <a:tailEnd/>
                </a:ln>
              </p:spPr>
              <p:txBody>
                <a:bodyPr/>
                <a:lstStyle/>
                <a:p>
                  <a:endParaRPr lang="zh-CN" altLang="en-US"/>
                </a:p>
              </p:txBody>
            </p:sp>
          </p:grpSp>
          <p:grpSp>
            <p:nvGrpSpPr>
              <p:cNvPr id="20493" name="Group 15"/>
              <p:cNvGrpSpPr>
                <a:grpSpLocks/>
              </p:cNvGrpSpPr>
              <p:nvPr/>
            </p:nvGrpSpPr>
            <p:grpSpPr bwMode="auto">
              <a:xfrm>
                <a:off x="0" y="461"/>
                <a:ext cx="967" cy="461"/>
                <a:chOff x="0" y="461"/>
                <a:chExt cx="967" cy="461"/>
              </a:xfrm>
            </p:grpSpPr>
            <p:sp>
              <p:nvSpPr>
                <p:cNvPr id="20527" name="Rectangle 16"/>
                <p:cNvSpPr>
                  <a:spLocks noChangeArrowheads="1"/>
                </p:cNvSpPr>
                <p:nvPr/>
              </p:nvSpPr>
              <p:spPr bwMode="auto">
                <a:xfrm>
                  <a:off x="43" y="461"/>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1</a:t>
                  </a:r>
                </a:p>
                <a:p>
                  <a:pPr algn="ctr" eaLnBrk="0" hangingPunct="0"/>
                  <a:endParaRPr lang="en-US" altLang="zh-CN" sz="3200">
                    <a:solidFill>
                      <a:srgbClr val="006600"/>
                    </a:solidFill>
                    <a:ea typeface="宋体" pitchFamily="2" charset="-122"/>
                  </a:endParaRPr>
                </a:p>
              </p:txBody>
            </p:sp>
            <p:sp>
              <p:nvSpPr>
                <p:cNvPr id="20528" name="Rectangle 17"/>
                <p:cNvSpPr>
                  <a:spLocks noChangeArrowheads="1"/>
                </p:cNvSpPr>
                <p:nvPr/>
              </p:nvSpPr>
              <p:spPr bwMode="auto">
                <a:xfrm>
                  <a:off x="0" y="461"/>
                  <a:ext cx="967" cy="461"/>
                </a:xfrm>
                <a:prstGeom prst="rect">
                  <a:avLst/>
                </a:prstGeom>
                <a:noFill/>
                <a:ln w="7">
                  <a:solidFill>
                    <a:srgbClr val="A0A0A0"/>
                  </a:solidFill>
                  <a:miter lim="800000"/>
                  <a:headEnd/>
                  <a:tailEnd/>
                </a:ln>
              </p:spPr>
              <p:txBody>
                <a:bodyPr/>
                <a:lstStyle/>
                <a:p>
                  <a:endParaRPr lang="zh-CN" altLang="en-US"/>
                </a:p>
              </p:txBody>
            </p:sp>
          </p:grpSp>
          <p:grpSp>
            <p:nvGrpSpPr>
              <p:cNvPr id="20494" name="Group 18"/>
              <p:cNvGrpSpPr>
                <a:grpSpLocks/>
              </p:cNvGrpSpPr>
              <p:nvPr/>
            </p:nvGrpSpPr>
            <p:grpSpPr bwMode="auto">
              <a:xfrm>
                <a:off x="967" y="461"/>
                <a:ext cx="1356" cy="461"/>
                <a:chOff x="967" y="461"/>
                <a:chExt cx="1356" cy="461"/>
              </a:xfrm>
            </p:grpSpPr>
            <p:sp>
              <p:nvSpPr>
                <p:cNvPr id="20525" name="Rectangle 19"/>
                <p:cNvSpPr>
                  <a:spLocks noChangeArrowheads="1"/>
                </p:cNvSpPr>
                <p:nvPr/>
              </p:nvSpPr>
              <p:spPr bwMode="auto">
                <a:xfrm>
                  <a:off x="1010" y="461"/>
                  <a:ext cx="1270"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2.40</a:t>
                  </a:r>
                </a:p>
                <a:p>
                  <a:pPr algn="ctr" eaLnBrk="0" hangingPunct="0"/>
                  <a:endParaRPr lang="en-US" altLang="zh-CN" sz="3200">
                    <a:solidFill>
                      <a:srgbClr val="006600"/>
                    </a:solidFill>
                    <a:ea typeface="宋体" pitchFamily="2" charset="-122"/>
                  </a:endParaRPr>
                </a:p>
              </p:txBody>
            </p:sp>
            <p:sp>
              <p:nvSpPr>
                <p:cNvPr id="20526" name="Rectangle 20"/>
                <p:cNvSpPr>
                  <a:spLocks noChangeArrowheads="1"/>
                </p:cNvSpPr>
                <p:nvPr/>
              </p:nvSpPr>
              <p:spPr bwMode="auto">
                <a:xfrm>
                  <a:off x="967" y="461"/>
                  <a:ext cx="1356" cy="461"/>
                </a:xfrm>
                <a:prstGeom prst="rect">
                  <a:avLst/>
                </a:prstGeom>
                <a:noFill/>
                <a:ln w="7">
                  <a:solidFill>
                    <a:srgbClr val="A0A0A0"/>
                  </a:solidFill>
                  <a:miter lim="800000"/>
                  <a:headEnd/>
                  <a:tailEnd/>
                </a:ln>
              </p:spPr>
              <p:txBody>
                <a:bodyPr/>
                <a:lstStyle/>
                <a:p>
                  <a:endParaRPr lang="zh-CN" altLang="en-US"/>
                </a:p>
              </p:txBody>
            </p:sp>
          </p:grpSp>
          <p:grpSp>
            <p:nvGrpSpPr>
              <p:cNvPr id="20495" name="Group 21"/>
              <p:cNvGrpSpPr>
                <a:grpSpLocks/>
              </p:cNvGrpSpPr>
              <p:nvPr/>
            </p:nvGrpSpPr>
            <p:grpSpPr bwMode="auto">
              <a:xfrm>
                <a:off x="2323" y="461"/>
                <a:ext cx="967" cy="461"/>
                <a:chOff x="2323" y="461"/>
                <a:chExt cx="967" cy="461"/>
              </a:xfrm>
            </p:grpSpPr>
            <p:sp>
              <p:nvSpPr>
                <p:cNvPr id="20523" name="Rectangle 22"/>
                <p:cNvSpPr>
                  <a:spLocks noChangeArrowheads="1"/>
                </p:cNvSpPr>
                <p:nvPr/>
              </p:nvSpPr>
              <p:spPr bwMode="auto">
                <a:xfrm>
                  <a:off x="2366" y="461"/>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6000</a:t>
                  </a:r>
                </a:p>
                <a:p>
                  <a:pPr algn="ctr" eaLnBrk="0" hangingPunct="0"/>
                  <a:endParaRPr lang="en-US" altLang="zh-CN" sz="3200">
                    <a:solidFill>
                      <a:srgbClr val="006600"/>
                    </a:solidFill>
                    <a:ea typeface="宋体" pitchFamily="2" charset="-122"/>
                  </a:endParaRPr>
                </a:p>
              </p:txBody>
            </p:sp>
            <p:sp>
              <p:nvSpPr>
                <p:cNvPr id="20524" name="Rectangle 23"/>
                <p:cNvSpPr>
                  <a:spLocks noChangeArrowheads="1"/>
                </p:cNvSpPr>
                <p:nvPr/>
              </p:nvSpPr>
              <p:spPr bwMode="auto">
                <a:xfrm>
                  <a:off x="2323" y="461"/>
                  <a:ext cx="967" cy="461"/>
                </a:xfrm>
                <a:prstGeom prst="rect">
                  <a:avLst/>
                </a:prstGeom>
                <a:noFill/>
                <a:ln w="7">
                  <a:solidFill>
                    <a:srgbClr val="A0A0A0"/>
                  </a:solidFill>
                  <a:miter lim="800000"/>
                  <a:headEnd/>
                  <a:tailEnd/>
                </a:ln>
              </p:spPr>
              <p:txBody>
                <a:bodyPr/>
                <a:lstStyle/>
                <a:p>
                  <a:endParaRPr lang="zh-CN" altLang="en-US"/>
                </a:p>
              </p:txBody>
            </p:sp>
          </p:grpSp>
          <p:grpSp>
            <p:nvGrpSpPr>
              <p:cNvPr id="20496" name="Group 24"/>
              <p:cNvGrpSpPr>
                <a:grpSpLocks/>
              </p:cNvGrpSpPr>
              <p:nvPr/>
            </p:nvGrpSpPr>
            <p:grpSpPr bwMode="auto">
              <a:xfrm>
                <a:off x="0" y="922"/>
                <a:ext cx="967" cy="461"/>
                <a:chOff x="0" y="922"/>
                <a:chExt cx="967" cy="461"/>
              </a:xfrm>
            </p:grpSpPr>
            <p:sp>
              <p:nvSpPr>
                <p:cNvPr id="20521" name="Rectangle 25"/>
                <p:cNvSpPr>
                  <a:spLocks noChangeArrowheads="1"/>
                </p:cNvSpPr>
                <p:nvPr/>
              </p:nvSpPr>
              <p:spPr bwMode="auto">
                <a:xfrm>
                  <a:off x="43" y="922"/>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a:t>
                  </a:r>
                </a:p>
                <a:p>
                  <a:pPr algn="ctr" eaLnBrk="0" hangingPunct="0"/>
                  <a:endParaRPr lang="en-US" altLang="zh-CN" sz="3200">
                    <a:solidFill>
                      <a:srgbClr val="006600"/>
                    </a:solidFill>
                    <a:ea typeface="宋体" pitchFamily="2" charset="-122"/>
                  </a:endParaRPr>
                </a:p>
              </p:txBody>
            </p:sp>
            <p:sp>
              <p:nvSpPr>
                <p:cNvPr id="20522" name="Rectangle 26"/>
                <p:cNvSpPr>
                  <a:spLocks noChangeArrowheads="1"/>
                </p:cNvSpPr>
                <p:nvPr/>
              </p:nvSpPr>
              <p:spPr bwMode="auto">
                <a:xfrm>
                  <a:off x="0" y="922"/>
                  <a:ext cx="967" cy="461"/>
                </a:xfrm>
                <a:prstGeom prst="rect">
                  <a:avLst/>
                </a:prstGeom>
                <a:noFill/>
                <a:ln w="7">
                  <a:solidFill>
                    <a:srgbClr val="A0A0A0"/>
                  </a:solidFill>
                  <a:miter lim="800000"/>
                  <a:headEnd/>
                  <a:tailEnd/>
                </a:ln>
              </p:spPr>
              <p:txBody>
                <a:bodyPr/>
                <a:lstStyle/>
                <a:p>
                  <a:endParaRPr lang="zh-CN" altLang="en-US"/>
                </a:p>
              </p:txBody>
            </p:sp>
          </p:grpSp>
          <p:grpSp>
            <p:nvGrpSpPr>
              <p:cNvPr id="20497" name="Group 27"/>
              <p:cNvGrpSpPr>
                <a:grpSpLocks/>
              </p:cNvGrpSpPr>
              <p:nvPr/>
            </p:nvGrpSpPr>
            <p:grpSpPr bwMode="auto">
              <a:xfrm>
                <a:off x="967" y="922"/>
                <a:ext cx="1356" cy="461"/>
                <a:chOff x="967" y="922"/>
                <a:chExt cx="1356" cy="461"/>
              </a:xfrm>
            </p:grpSpPr>
            <p:sp>
              <p:nvSpPr>
                <p:cNvPr id="20519" name="Rectangle 28"/>
                <p:cNvSpPr>
                  <a:spLocks noChangeArrowheads="1"/>
                </p:cNvSpPr>
                <p:nvPr/>
              </p:nvSpPr>
              <p:spPr bwMode="auto">
                <a:xfrm>
                  <a:off x="1010" y="922"/>
                  <a:ext cx="1270"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2.25</a:t>
                  </a:r>
                </a:p>
                <a:p>
                  <a:pPr algn="ctr" eaLnBrk="0" hangingPunct="0"/>
                  <a:endParaRPr lang="en-US" altLang="zh-CN" sz="3200">
                    <a:solidFill>
                      <a:srgbClr val="006600"/>
                    </a:solidFill>
                    <a:ea typeface="宋体" pitchFamily="2" charset="-122"/>
                  </a:endParaRPr>
                </a:p>
              </p:txBody>
            </p:sp>
            <p:sp>
              <p:nvSpPr>
                <p:cNvPr id="20520" name="Rectangle 29"/>
                <p:cNvSpPr>
                  <a:spLocks noChangeArrowheads="1"/>
                </p:cNvSpPr>
                <p:nvPr/>
              </p:nvSpPr>
              <p:spPr bwMode="auto">
                <a:xfrm>
                  <a:off x="967" y="922"/>
                  <a:ext cx="1356" cy="461"/>
                </a:xfrm>
                <a:prstGeom prst="rect">
                  <a:avLst/>
                </a:prstGeom>
                <a:noFill/>
                <a:ln w="7">
                  <a:solidFill>
                    <a:srgbClr val="A0A0A0"/>
                  </a:solidFill>
                  <a:miter lim="800000"/>
                  <a:headEnd/>
                  <a:tailEnd/>
                </a:ln>
              </p:spPr>
              <p:txBody>
                <a:bodyPr/>
                <a:lstStyle/>
                <a:p>
                  <a:endParaRPr lang="zh-CN" altLang="en-US"/>
                </a:p>
              </p:txBody>
            </p:sp>
          </p:grpSp>
          <p:grpSp>
            <p:nvGrpSpPr>
              <p:cNvPr id="20498" name="Group 30"/>
              <p:cNvGrpSpPr>
                <a:grpSpLocks/>
              </p:cNvGrpSpPr>
              <p:nvPr/>
            </p:nvGrpSpPr>
            <p:grpSpPr bwMode="auto">
              <a:xfrm>
                <a:off x="2323" y="922"/>
                <a:ext cx="967" cy="461"/>
                <a:chOff x="2323" y="922"/>
                <a:chExt cx="967" cy="461"/>
              </a:xfrm>
            </p:grpSpPr>
            <p:sp>
              <p:nvSpPr>
                <p:cNvPr id="20517" name="Rectangle 31"/>
                <p:cNvSpPr>
                  <a:spLocks noChangeArrowheads="1"/>
                </p:cNvSpPr>
                <p:nvPr/>
              </p:nvSpPr>
              <p:spPr bwMode="auto">
                <a:xfrm>
                  <a:off x="2366" y="922"/>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12000</a:t>
                  </a:r>
                </a:p>
                <a:p>
                  <a:pPr algn="ctr" eaLnBrk="0" hangingPunct="0"/>
                  <a:endParaRPr lang="en-US" altLang="zh-CN" sz="3200">
                    <a:solidFill>
                      <a:srgbClr val="006600"/>
                    </a:solidFill>
                    <a:ea typeface="宋体" pitchFamily="2" charset="-122"/>
                  </a:endParaRPr>
                </a:p>
              </p:txBody>
            </p:sp>
            <p:sp>
              <p:nvSpPr>
                <p:cNvPr id="20518" name="Rectangle 32"/>
                <p:cNvSpPr>
                  <a:spLocks noChangeArrowheads="1"/>
                </p:cNvSpPr>
                <p:nvPr/>
              </p:nvSpPr>
              <p:spPr bwMode="auto">
                <a:xfrm>
                  <a:off x="2323" y="922"/>
                  <a:ext cx="967" cy="461"/>
                </a:xfrm>
                <a:prstGeom prst="rect">
                  <a:avLst/>
                </a:prstGeom>
                <a:noFill/>
                <a:ln w="7">
                  <a:solidFill>
                    <a:srgbClr val="A0A0A0"/>
                  </a:solidFill>
                  <a:miter lim="800000"/>
                  <a:headEnd/>
                  <a:tailEnd/>
                </a:ln>
              </p:spPr>
              <p:txBody>
                <a:bodyPr/>
                <a:lstStyle/>
                <a:p>
                  <a:endParaRPr lang="zh-CN" altLang="en-US"/>
                </a:p>
              </p:txBody>
            </p:sp>
          </p:grpSp>
          <p:grpSp>
            <p:nvGrpSpPr>
              <p:cNvPr id="20499" name="Group 33"/>
              <p:cNvGrpSpPr>
                <a:grpSpLocks/>
              </p:cNvGrpSpPr>
              <p:nvPr/>
            </p:nvGrpSpPr>
            <p:grpSpPr bwMode="auto">
              <a:xfrm>
                <a:off x="0" y="1383"/>
                <a:ext cx="967" cy="461"/>
                <a:chOff x="0" y="1383"/>
                <a:chExt cx="967" cy="461"/>
              </a:xfrm>
            </p:grpSpPr>
            <p:sp>
              <p:nvSpPr>
                <p:cNvPr id="20515" name="Rectangle 34"/>
                <p:cNvSpPr>
                  <a:spLocks noChangeArrowheads="1"/>
                </p:cNvSpPr>
                <p:nvPr/>
              </p:nvSpPr>
              <p:spPr bwMode="auto">
                <a:xfrm>
                  <a:off x="43" y="1383"/>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3</a:t>
                  </a:r>
                </a:p>
                <a:p>
                  <a:pPr algn="ctr" eaLnBrk="0" hangingPunct="0"/>
                  <a:endParaRPr lang="en-US" altLang="zh-CN" sz="3200">
                    <a:solidFill>
                      <a:srgbClr val="006600"/>
                    </a:solidFill>
                    <a:ea typeface="宋体" pitchFamily="2" charset="-122"/>
                  </a:endParaRPr>
                </a:p>
              </p:txBody>
            </p:sp>
            <p:sp>
              <p:nvSpPr>
                <p:cNvPr id="20516" name="Rectangle 35"/>
                <p:cNvSpPr>
                  <a:spLocks noChangeArrowheads="1"/>
                </p:cNvSpPr>
                <p:nvPr/>
              </p:nvSpPr>
              <p:spPr bwMode="auto">
                <a:xfrm>
                  <a:off x="0" y="1383"/>
                  <a:ext cx="967" cy="461"/>
                </a:xfrm>
                <a:prstGeom prst="rect">
                  <a:avLst/>
                </a:prstGeom>
                <a:noFill/>
                <a:ln w="7">
                  <a:solidFill>
                    <a:srgbClr val="A0A0A0"/>
                  </a:solidFill>
                  <a:miter lim="800000"/>
                  <a:headEnd/>
                  <a:tailEnd/>
                </a:ln>
              </p:spPr>
              <p:txBody>
                <a:bodyPr/>
                <a:lstStyle/>
                <a:p>
                  <a:endParaRPr lang="zh-CN" altLang="en-US"/>
                </a:p>
              </p:txBody>
            </p:sp>
          </p:grpSp>
          <p:grpSp>
            <p:nvGrpSpPr>
              <p:cNvPr id="20500" name="Group 36"/>
              <p:cNvGrpSpPr>
                <a:grpSpLocks/>
              </p:cNvGrpSpPr>
              <p:nvPr/>
            </p:nvGrpSpPr>
            <p:grpSpPr bwMode="auto">
              <a:xfrm>
                <a:off x="967" y="1383"/>
                <a:ext cx="1356" cy="461"/>
                <a:chOff x="967" y="1383"/>
                <a:chExt cx="1356" cy="461"/>
              </a:xfrm>
            </p:grpSpPr>
            <p:sp>
              <p:nvSpPr>
                <p:cNvPr id="20513" name="Rectangle 37"/>
                <p:cNvSpPr>
                  <a:spLocks noChangeArrowheads="1"/>
                </p:cNvSpPr>
                <p:nvPr/>
              </p:nvSpPr>
              <p:spPr bwMode="auto">
                <a:xfrm>
                  <a:off x="1010" y="1383"/>
                  <a:ext cx="1270"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2.15</a:t>
                  </a:r>
                </a:p>
                <a:p>
                  <a:pPr algn="ctr" eaLnBrk="0" hangingPunct="0"/>
                  <a:endParaRPr lang="en-US" altLang="zh-CN" sz="3200">
                    <a:solidFill>
                      <a:srgbClr val="006600"/>
                    </a:solidFill>
                    <a:ea typeface="宋体" pitchFamily="2" charset="-122"/>
                  </a:endParaRPr>
                </a:p>
              </p:txBody>
            </p:sp>
            <p:sp>
              <p:nvSpPr>
                <p:cNvPr id="20514" name="Rectangle 38"/>
                <p:cNvSpPr>
                  <a:spLocks noChangeArrowheads="1"/>
                </p:cNvSpPr>
                <p:nvPr/>
              </p:nvSpPr>
              <p:spPr bwMode="auto">
                <a:xfrm>
                  <a:off x="967" y="1383"/>
                  <a:ext cx="1356" cy="461"/>
                </a:xfrm>
                <a:prstGeom prst="rect">
                  <a:avLst/>
                </a:prstGeom>
                <a:noFill/>
                <a:ln w="7">
                  <a:solidFill>
                    <a:srgbClr val="A0A0A0"/>
                  </a:solidFill>
                  <a:miter lim="800000"/>
                  <a:headEnd/>
                  <a:tailEnd/>
                </a:ln>
              </p:spPr>
              <p:txBody>
                <a:bodyPr/>
                <a:lstStyle/>
                <a:p>
                  <a:endParaRPr lang="zh-CN" altLang="en-US"/>
                </a:p>
              </p:txBody>
            </p:sp>
          </p:grpSp>
          <p:grpSp>
            <p:nvGrpSpPr>
              <p:cNvPr id="20501" name="Group 39"/>
              <p:cNvGrpSpPr>
                <a:grpSpLocks/>
              </p:cNvGrpSpPr>
              <p:nvPr/>
            </p:nvGrpSpPr>
            <p:grpSpPr bwMode="auto">
              <a:xfrm>
                <a:off x="2323" y="1383"/>
                <a:ext cx="967" cy="461"/>
                <a:chOff x="2323" y="1383"/>
                <a:chExt cx="967" cy="461"/>
              </a:xfrm>
            </p:grpSpPr>
            <p:sp>
              <p:nvSpPr>
                <p:cNvPr id="20511" name="Rectangle 40"/>
                <p:cNvSpPr>
                  <a:spLocks noChangeArrowheads="1"/>
                </p:cNvSpPr>
                <p:nvPr/>
              </p:nvSpPr>
              <p:spPr bwMode="auto">
                <a:xfrm>
                  <a:off x="2366" y="1383"/>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2150</a:t>
                  </a:r>
                </a:p>
                <a:p>
                  <a:pPr algn="ctr" eaLnBrk="0" hangingPunct="0"/>
                  <a:endParaRPr lang="en-US" altLang="zh-CN" sz="3200">
                    <a:solidFill>
                      <a:srgbClr val="006600"/>
                    </a:solidFill>
                    <a:ea typeface="宋体" pitchFamily="2" charset="-122"/>
                  </a:endParaRPr>
                </a:p>
              </p:txBody>
            </p:sp>
            <p:sp>
              <p:nvSpPr>
                <p:cNvPr id="20512" name="Rectangle 41"/>
                <p:cNvSpPr>
                  <a:spLocks noChangeArrowheads="1"/>
                </p:cNvSpPr>
                <p:nvPr/>
              </p:nvSpPr>
              <p:spPr bwMode="auto">
                <a:xfrm>
                  <a:off x="2323" y="1383"/>
                  <a:ext cx="967" cy="461"/>
                </a:xfrm>
                <a:prstGeom prst="rect">
                  <a:avLst/>
                </a:prstGeom>
                <a:noFill/>
                <a:ln w="7">
                  <a:solidFill>
                    <a:srgbClr val="A0A0A0"/>
                  </a:solidFill>
                  <a:miter lim="800000"/>
                  <a:headEnd/>
                  <a:tailEnd/>
                </a:ln>
              </p:spPr>
              <p:txBody>
                <a:bodyPr/>
                <a:lstStyle/>
                <a:p>
                  <a:endParaRPr lang="zh-CN" altLang="en-US"/>
                </a:p>
              </p:txBody>
            </p:sp>
          </p:grpSp>
          <p:grpSp>
            <p:nvGrpSpPr>
              <p:cNvPr id="20502" name="Group 42"/>
              <p:cNvGrpSpPr>
                <a:grpSpLocks/>
              </p:cNvGrpSpPr>
              <p:nvPr/>
            </p:nvGrpSpPr>
            <p:grpSpPr bwMode="auto">
              <a:xfrm>
                <a:off x="0" y="1844"/>
                <a:ext cx="967" cy="461"/>
                <a:chOff x="0" y="1844"/>
                <a:chExt cx="967" cy="461"/>
              </a:xfrm>
            </p:grpSpPr>
            <p:sp>
              <p:nvSpPr>
                <p:cNvPr id="20509" name="Rectangle 43"/>
                <p:cNvSpPr>
                  <a:spLocks noChangeArrowheads="1"/>
                </p:cNvSpPr>
                <p:nvPr/>
              </p:nvSpPr>
              <p:spPr bwMode="auto">
                <a:xfrm>
                  <a:off x="43" y="1844"/>
                  <a:ext cx="881" cy="461"/>
                </a:xfrm>
                <a:prstGeom prst="rect">
                  <a:avLst/>
                </a:prstGeom>
                <a:noFill/>
                <a:ln w="9525">
                  <a:noFill/>
                  <a:miter lim="800000"/>
                  <a:headEnd/>
                  <a:tailEnd/>
                </a:ln>
              </p:spPr>
              <p:txBody>
                <a:bodyPr/>
                <a:lstStyle/>
                <a:p>
                  <a:pPr algn="ctr"/>
                  <a:r>
                    <a:rPr lang="zh-CN" altLang="en-US" sz="3200">
                      <a:solidFill>
                        <a:srgbClr val="006600"/>
                      </a:solidFill>
                      <a:ea typeface="宋体" pitchFamily="2" charset="-122"/>
                    </a:rPr>
                    <a:t>合计</a:t>
                  </a:r>
                </a:p>
                <a:p>
                  <a:pPr algn="ctr" eaLnBrk="0" hangingPunct="0"/>
                  <a:endParaRPr lang="en-US" altLang="zh-CN" sz="3200">
                    <a:solidFill>
                      <a:srgbClr val="006600"/>
                    </a:solidFill>
                    <a:ea typeface="宋体" pitchFamily="2" charset="-122"/>
                  </a:endParaRPr>
                </a:p>
              </p:txBody>
            </p:sp>
            <p:sp>
              <p:nvSpPr>
                <p:cNvPr id="20510" name="Rectangle 44"/>
                <p:cNvSpPr>
                  <a:spLocks noChangeArrowheads="1"/>
                </p:cNvSpPr>
                <p:nvPr/>
              </p:nvSpPr>
              <p:spPr bwMode="auto">
                <a:xfrm>
                  <a:off x="0" y="1844"/>
                  <a:ext cx="967" cy="461"/>
                </a:xfrm>
                <a:prstGeom prst="rect">
                  <a:avLst/>
                </a:prstGeom>
                <a:noFill/>
                <a:ln w="7">
                  <a:solidFill>
                    <a:srgbClr val="A0A0A0"/>
                  </a:solidFill>
                  <a:miter lim="800000"/>
                  <a:headEnd/>
                  <a:tailEnd/>
                </a:ln>
              </p:spPr>
              <p:txBody>
                <a:bodyPr/>
                <a:lstStyle/>
                <a:p>
                  <a:endParaRPr lang="zh-CN" altLang="en-US"/>
                </a:p>
              </p:txBody>
            </p:sp>
          </p:grpSp>
          <p:grpSp>
            <p:nvGrpSpPr>
              <p:cNvPr id="20503" name="Group 45"/>
              <p:cNvGrpSpPr>
                <a:grpSpLocks/>
              </p:cNvGrpSpPr>
              <p:nvPr/>
            </p:nvGrpSpPr>
            <p:grpSpPr bwMode="auto">
              <a:xfrm>
                <a:off x="967" y="1844"/>
                <a:ext cx="1356" cy="461"/>
                <a:chOff x="967" y="1844"/>
                <a:chExt cx="1356" cy="461"/>
              </a:xfrm>
            </p:grpSpPr>
            <p:sp>
              <p:nvSpPr>
                <p:cNvPr id="20507" name="Rectangle 46"/>
                <p:cNvSpPr>
                  <a:spLocks noChangeArrowheads="1"/>
                </p:cNvSpPr>
                <p:nvPr/>
              </p:nvSpPr>
              <p:spPr bwMode="auto">
                <a:xfrm>
                  <a:off x="1010" y="1844"/>
                  <a:ext cx="1270"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a:t>
                  </a:r>
                </a:p>
                <a:p>
                  <a:pPr algn="ctr" eaLnBrk="0" hangingPunct="0"/>
                  <a:endParaRPr lang="en-US" altLang="zh-CN" sz="3200">
                    <a:solidFill>
                      <a:srgbClr val="006600"/>
                    </a:solidFill>
                    <a:ea typeface="宋体" pitchFamily="2" charset="-122"/>
                  </a:endParaRPr>
                </a:p>
              </p:txBody>
            </p:sp>
            <p:sp>
              <p:nvSpPr>
                <p:cNvPr id="20508" name="Rectangle 47"/>
                <p:cNvSpPr>
                  <a:spLocks noChangeArrowheads="1"/>
                </p:cNvSpPr>
                <p:nvPr/>
              </p:nvSpPr>
              <p:spPr bwMode="auto">
                <a:xfrm>
                  <a:off x="967" y="1844"/>
                  <a:ext cx="1356" cy="461"/>
                </a:xfrm>
                <a:prstGeom prst="rect">
                  <a:avLst/>
                </a:prstGeom>
                <a:noFill/>
                <a:ln w="7">
                  <a:solidFill>
                    <a:srgbClr val="A0A0A0"/>
                  </a:solidFill>
                  <a:miter lim="800000"/>
                  <a:headEnd/>
                  <a:tailEnd/>
                </a:ln>
              </p:spPr>
              <p:txBody>
                <a:bodyPr/>
                <a:lstStyle/>
                <a:p>
                  <a:endParaRPr lang="zh-CN" altLang="en-US"/>
                </a:p>
              </p:txBody>
            </p:sp>
          </p:grpSp>
          <p:grpSp>
            <p:nvGrpSpPr>
              <p:cNvPr id="20504" name="Group 48"/>
              <p:cNvGrpSpPr>
                <a:grpSpLocks/>
              </p:cNvGrpSpPr>
              <p:nvPr/>
            </p:nvGrpSpPr>
            <p:grpSpPr bwMode="auto">
              <a:xfrm>
                <a:off x="2323" y="1844"/>
                <a:ext cx="967" cy="461"/>
                <a:chOff x="2323" y="1844"/>
                <a:chExt cx="967" cy="461"/>
              </a:xfrm>
            </p:grpSpPr>
            <p:sp>
              <p:nvSpPr>
                <p:cNvPr id="20505" name="Rectangle 49"/>
                <p:cNvSpPr>
                  <a:spLocks noChangeArrowheads="1"/>
                </p:cNvSpPr>
                <p:nvPr/>
              </p:nvSpPr>
              <p:spPr bwMode="auto">
                <a:xfrm>
                  <a:off x="2366" y="1844"/>
                  <a:ext cx="881" cy="461"/>
                </a:xfrm>
                <a:prstGeom prst="rect">
                  <a:avLst/>
                </a:prstGeom>
                <a:noFill/>
                <a:ln w="9525">
                  <a:noFill/>
                  <a:miter lim="800000"/>
                  <a:headEnd/>
                  <a:tailEnd/>
                </a:ln>
              </p:spPr>
              <p:txBody>
                <a:bodyPr/>
                <a:lstStyle/>
                <a:p>
                  <a:pPr algn="ctr"/>
                  <a:r>
                    <a:rPr lang="en-US" altLang="zh-CN" sz="3200">
                      <a:solidFill>
                        <a:srgbClr val="006600"/>
                      </a:solidFill>
                      <a:ea typeface="宋体" pitchFamily="2" charset="-122"/>
                    </a:rPr>
                    <a:t>20150</a:t>
                  </a:r>
                </a:p>
                <a:p>
                  <a:pPr algn="ctr" eaLnBrk="0" hangingPunct="0"/>
                  <a:endParaRPr lang="en-US" altLang="zh-CN" sz="3200">
                    <a:solidFill>
                      <a:srgbClr val="006600"/>
                    </a:solidFill>
                    <a:ea typeface="宋体" pitchFamily="2" charset="-122"/>
                  </a:endParaRPr>
                </a:p>
              </p:txBody>
            </p:sp>
            <p:sp>
              <p:nvSpPr>
                <p:cNvPr id="20506" name="Rectangle 50"/>
                <p:cNvSpPr>
                  <a:spLocks noChangeArrowheads="1"/>
                </p:cNvSpPr>
                <p:nvPr/>
              </p:nvSpPr>
              <p:spPr bwMode="auto">
                <a:xfrm>
                  <a:off x="2323" y="1844"/>
                  <a:ext cx="967" cy="461"/>
                </a:xfrm>
                <a:prstGeom prst="rect">
                  <a:avLst/>
                </a:prstGeom>
                <a:noFill/>
                <a:ln w="7">
                  <a:solidFill>
                    <a:srgbClr val="A0A0A0"/>
                  </a:solidFill>
                  <a:miter lim="800000"/>
                  <a:headEnd/>
                  <a:tailEnd/>
                </a:ln>
              </p:spPr>
              <p:txBody>
                <a:bodyPr/>
                <a:lstStyle/>
                <a:p>
                  <a:endParaRPr lang="zh-CN" altLang="en-US"/>
                </a:p>
              </p:txBody>
            </p:sp>
          </p:grpSp>
        </p:grpSp>
        <p:sp>
          <p:nvSpPr>
            <p:cNvPr id="20489" name="Rectangle 51"/>
            <p:cNvSpPr>
              <a:spLocks noChangeArrowheads="1"/>
            </p:cNvSpPr>
            <p:nvPr/>
          </p:nvSpPr>
          <p:spPr bwMode="auto">
            <a:xfrm>
              <a:off x="-3" y="-3"/>
              <a:ext cx="3296" cy="2311"/>
            </a:xfrm>
            <a:prstGeom prst="rect">
              <a:avLst/>
            </a:prstGeom>
            <a:noFill/>
            <a:ln w="11112">
              <a:solidFill>
                <a:srgbClr val="A0A0A0"/>
              </a:solidFill>
              <a:miter lim="800000"/>
              <a:headEnd/>
              <a:tailEnd/>
            </a:ln>
          </p:spPr>
          <p:txBody>
            <a:bodyPr/>
            <a:lstStyle/>
            <a:p>
              <a:endParaRPr lang="zh-CN" altLang="en-US"/>
            </a:p>
          </p:txBody>
        </p:sp>
      </p:grpSp>
      <p:graphicFrame>
        <p:nvGraphicFramePr>
          <p:cNvPr id="242740" name="Object 52"/>
          <p:cNvGraphicFramePr>
            <a:graphicFrameLocks noChangeAspect="1"/>
          </p:cNvGraphicFramePr>
          <p:nvPr/>
        </p:nvGraphicFramePr>
        <p:xfrm>
          <a:off x="5410200" y="3068638"/>
          <a:ext cx="469900" cy="446087"/>
        </p:xfrm>
        <a:graphic>
          <a:graphicData uri="http://schemas.openxmlformats.org/presentationml/2006/ole">
            <mc:AlternateContent xmlns:mc="http://schemas.openxmlformats.org/markup-compatibility/2006">
              <mc:Choice xmlns:v="urn:schemas-microsoft-com:vml" Requires="v">
                <p:oleObj spid="_x0000_s20836" name="Equation" r:id="rId3" imgW="253800" imgH="241200" progId="Equation.3">
                  <p:embed/>
                </p:oleObj>
              </mc:Choice>
              <mc:Fallback>
                <p:oleObj name="Equation" r:id="rId3" imgW="253800" imgH="241200"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068638"/>
                        <a:ext cx="469900"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2741" name="Object 53"/>
          <p:cNvGraphicFramePr>
            <a:graphicFrameLocks noChangeAspect="1"/>
          </p:cNvGraphicFramePr>
          <p:nvPr/>
        </p:nvGraphicFramePr>
        <p:xfrm>
          <a:off x="7927975" y="2997200"/>
          <a:ext cx="604838" cy="536575"/>
        </p:xfrm>
        <a:graphic>
          <a:graphicData uri="http://schemas.openxmlformats.org/presentationml/2006/ole">
            <mc:AlternateContent xmlns:mc="http://schemas.openxmlformats.org/markup-compatibility/2006">
              <mc:Choice xmlns:v="urn:schemas-microsoft-com:vml" Requires="v">
                <p:oleObj spid="_x0000_s20837" name="Equation" r:id="rId5" imgW="444240" imgH="393480" progId="Equation.3">
                  <p:embed/>
                </p:oleObj>
              </mc:Choice>
              <mc:Fallback>
                <p:oleObj name="Equation" r:id="rId5" imgW="444240" imgH="393480" progId="Equation.3">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7975" y="2997200"/>
                        <a:ext cx="604838"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7" name="Rectangle 54"/>
          <p:cNvSpPr>
            <a:spLocks noGrp="1" noChangeArrowheads="1"/>
          </p:cNvSpPr>
          <p:nvPr>
            <p:ph type="title"/>
          </p:nvPr>
        </p:nvSpPr>
        <p:spPr/>
        <p:txBody>
          <a:bodyPr/>
          <a:lstStyle/>
          <a:p>
            <a:pPr eaLnBrk="1" hangingPunct="1"/>
            <a:r>
              <a:rPr lang="zh-CN" altLang="en-US" dirty="0" smtClean="0"/>
              <a:t>例（</a:t>
            </a:r>
            <a:r>
              <a:rPr lang="en-US" altLang="zh-CN" dirty="0" smtClean="0"/>
              <a:t>3-3*</a:t>
            </a:r>
            <a:r>
              <a:rPr lang="zh-CN" altLang="en-US" dirty="0" smtClean="0"/>
              <a:t>）</a:t>
            </a:r>
          </a:p>
        </p:txBody>
      </p:sp>
      <p:sp>
        <p:nvSpPr>
          <p:cNvPr id="55" name="灯片编号占位符 54"/>
          <p:cNvSpPr>
            <a:spLocks noGrp="1"/>
          </p:cNvSpPr>
          <p:nvPr>
            <p:ph type="sldNum" sz="quarter" idx="12"/>
          </p:nvPr>
        </p:nvSpPr>
        <p:spPr/>
        <p:txBody>
          <a:bodyPr/>
          <a:lstStyle/>
          <a:p>
            <a:pPr>
              <a:defRPr/>
            </a:pPr>
            <a:fld id="{62FC49CA-8014-4DA2-ABEB-AF96863EC77D}" type="slidenum">
              <a:rPr lang="en-US" altLang="zh-CN" smtClean="0"/>
              <a:pPr>
                <a:defRPr/>
              </a:pPr>
              <a:t>57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42740"/>
                                        </p:tgtEl>
                                        <p:attrNameLst>
                                          <p:attrName>style.visibility</p:attrName>
                                        </p:attrNameLst>
                                      </p:cBhvr>
                                      <p:to>
                                        <p:strVal val="visible"/>
                                      </p:to>
                                    </p:set>
                                    <p:animEffect transition="in" filter="box(in)">
                                      <p:cBhvr>
                                        <p:cTn id="7" dur="2000"/>
                                        <p:tgtEl>
                                          <p:spTgt spid="242740"/>
                                        </p:tgtEl>
                                      </p:cBhvr>
                                    </p:animEffect>
                                  </p:childTnLst>
                                </p:cTn>
                              </p:par>
                            </p:childTnLst>
                          </p:cTn>
                        </p:par>
                        <p:par>
                          <p:cTn id="8" fill="hold">
                            <p:stCondLst>
                              <p:cond delay="2000"/>
                            </p:stCondLst>
                            <p:childTnLst>
                              <p:par>
                                <p:cTn id="9" presetID="4" presetClass="entr" presetSubtype="16" fill="hold" nodeType="afterEffect">
                                  <p:stCondLst>
                                    <p:cond delay="0"/>
                                  </p:stCondLst>
                                  <p:childTnLst>
                                    <p:set>
                                      <p:cBhvr>
                                        <p:cTn id="10" dur="1" fill="hold">
                                          <p:stCondLst>
                                            <p:cond delay="0"/>
                                          </p:stCondLst>
                                        </p:cTn>
                                        <p:tgtEl>
                                          <p:spTgt spid="242741"/>
                                        </p:tgtEl>
                                        <p:attrNameLst>
                                          <p:attrName>style.visibility</p:attrName>
                                        </p:attrNameLst>
                                      </p:cBhvr>
                                      <p:to>
                                        <p:strVal val="visible"/>
                                      </p:to>
                                    </p:set>
                                    <p:animEffect transition="in" filter="box(in)">
                                      <p:cBhvr>
                                        <p:cTn id="11" dur="2000"/>
                                        <p:tgtEl>
                                          <p:spTgt spid="242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2"/>
          <p:cNvGraphicFramePr>
            <a:graphicFrameLocks noChangeAspect="1"/>
          </p:cNvGraphicFramePr>
          <p:nvPr/>
        </p:nvGraphicFramePr>
        <p:xfrm>
          <a:off x="971550" y="1209675"/>
          <a:ext cx="3887788" cy="1203325"/>
        </p:xfrm>
        <a:graphic>
          <a:graphicData uri="http://schemas.openxmlformats.org/presentationml/2006/ole">
            <mc:AlternateContent xmlns:mc="http://schemas.openxmlformats.org/markup-compatibility/2006">
              <mc:Choice xmlns:v="urn:schemas-microsoft-com:vml" Requires="v">
                <p:oleObj spid="_x0000_s22396" name="公式" r:id="rId3" imgW="2692080" imgH="914400" progId="Equation.3">
                  <p:embed/>
                </p:oleObj>
              </mc:Choice>
              <mc:Fallback>
                <p:oleObj name="公式" r:id="rId3" imgW="2692080"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209675"/>
                        <a:ext cx="3887788" cy="120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955" name="Object 3"/>
          <p:cNvGraphicFramePr>
            <a:graphicFrameLocks noChangeAspect="1"/>
          </p:cNvGraphicFramePr>
          <p:nvPr/>
        </p:nvGraphicFramePr>
        <p:xfrm>
          <a:off x="4787900" y="1052513"/>
          <a:ext cx="2519363" cy="1736725"/>
        </p:xfrm>
        <a:graphic>
          <a:graphicData uri="http://schemas.openxmlformats.org/presentationml/2006/ole">
            <mc:AlternateContent xmlns:mc="http://schemas.openxmlformats.org/markup-compatibility/2006">
              <mc:Choice xmlns:v="urn:schemas-microsoft-com:vml" Requires="v">
                <p:oleObj spid="_x0000_s22397" name="Equation" r:id="rId5" imgW="1333440" imgH="1257120" progId="Equation.3">
                  <p:embed/>
                </p:oleObj>
              </mc:Choice>
              <mc:Fallback>
                <p:oleObj name="Equation" r:id="rId5" imgW="1333440" imgH="125712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1052513"/>
                        <a:ext cx="2519363" cy="173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956" name="Object 4"/>
          <p:cNvGraphicFramePr>
            <a:graphicFrameLocks noChangeAspect="1"/>
          </p:cNvGraphicFramePr>
          <p:nvPr/>
        </p:nvGraphicFramePr>
        <p:xfrm>
          <a:off x="1447800" y="2971800"/>
          <a:ext cx="6148388" cy="914400"/>
        </p:xfrm>
        <a:graphic>
          <a:graphicData uri="http://schemas.openxmlformats.org/presentationml/2006/ole">
            <mc:AlternateContent xmlns:mc="http://schemas.openxmlformats.org/markup-compatibility/2006">
              <mc:Choice xmlns:v="urn:schemas-microsoft-com:vml" Requires="v">
                <p:oleObj spid="_x0000_s22398" name="Equation" r:id="rId7" imgW="5676840" imgH="825480" progId="Equation.3">
                  <p:embed/>
                </p:oleObj>
              </mc:Choice>
              <mc:Fallback>
                <p:oleObj name="Equation" r:id="rId7" imgW="5676840" imgH="82548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2971800"/>
                        <a:ext cx="61483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957" name="Object 5"/>
          <p:cNvGraphicFramePr>
            <a:graphicFrameLocks noChangeAspect="1"/>
          </p:cNvGraphicFramePr>
          <p:nvPr/>
        </p:nvGraphicFramePr>
        <p:xfrm>
          <a:off x="1447800" y="4114800"/>
          <a:ext cx="4572000" cy="914400"/>
        </p:xfrm>
        <a:graphic>
          <a:graphicData uri="http://schemas.openxmlformats.org/presentationml/2006/ole">
            <mc:AlternateContent xmlns:mc="http://schemas.openxmlformats.org/markup-compatibility/2006">
              <mc:Choice xmlns:v="urn:schemas-microsoft-com:vml" Requires="v">
                <p:oleObj spid="_x0000_s22399" name="Equation" r:id="rId9" imgW="3504960" imgH="825480" progId="Equation.3">
                  <p:embed/>
                </p:oleObj>
              </mc:Choice>
              <mc:Fallback>
                <p:oleObj name="Equation" r:id="rId9" imgW="3504960" imgH="82548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114800"/>
                        <a:ext cx="45720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958" name="Object 6"/>
          <p:cNvGraphicFramePr>
            <a:graphicFrameLocks noChangeAspect="1"/>
          </p:cNvGraphicFramePr>
          <p:nvPr/>
        </p:nvGraphicFramePr>
        <p:xfrm>
          <a:off x="1331640" y="5373216"/>
          <a:ext cx="2721300" cy="959635"/>
        </p:xfrm>
        <a:graphic>
          <a:graphicData uri="http://schemas.openxmlformats.org/presentationml/2006/ole">
            <mc:AlternateContent xmlns:mc="http://schemas.openxmlformats.org/markup-compatibility/2006">
              <mc:Choice xmlns:v="urn:schemas-microsoft-com:vml" Requires="v">
                <p:oleObj spid="_x0000_s22400" name="公式" r:id="rId11" imgW="1104840" imgH="393480" progId="Equation.3">
                  <p:embed/>
                </p:oleObj>
              </mc:Choice>
              <mc:Fallback>
                <p:oleObj name="公式" r:id="rId11" imgW="1104840" imgH="39348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640" y="5373216"/>
                        <a:ext cx="2721300" cy="9596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2" name="Rectangle 7"/>
          <p:cNvSpPr>
            <a:spLocks noGrp="1" noChangeArrowheads="1"/>
          </p:cNvSpPr>
          <p:nvPr>
            <p:ph type="title"/>
          </p:nvPr>
        </p:nvSpPr>
        <p:spPr>
          <a:xfrm>
            <a:off x="827088" y="0"/>
            <a:ext cx="7772400" cy="990600"/>
          </a:xfrm>
        </p:spPr>
        <p:txBody>
          <a:bodyPr/>
          <a:lstStyle/>
          <a:p>
            <a:pPr algn="l" eaLnBrk="1" hangingPunct="1"/>
            <a:r>
              <a:rPr lang="zh-CN" altLang="en-US" dirty="0" smtClean="0"/>
              <a:t>解：</a:t>
            </a: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58</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 calcmode="lin" valueType="num">
                                      <p:cBhvr additive="base">
                                        <p:cTn id="7" dur="500" fill="hold"/>
                                        <p:tgtEl>
                                          <p:spTgt spid="125955"/>
                                        </p:tgtEl>
                                        <p:attrNameLst>
                                          <p:attrName>ppt_x</p:attrName>
                                        </p:attrNameLst>
                                      </p:cBhvr>
                                      <p:tavLst>
                                        <p:tav tm="0">
                                          <p:val>
                                            <p:strVal val="0-#ppt_w/2"/>
                                          </p:val>
                                        </p:tav>
                                        <p:tav tm="100000">
                                          <p:val>
                                            <p:strVal val="#ppt_x"/>
                                          </p:val>
                                        </p:tav>
                                      </p:tavLst>
                                    </p:anim>
                                    <p:anim calcmode="lin" valueType="num">
                                      <p:cBhvr additive="base">
                                        <p:cTn id="8" dur="500" fill="hold"/>
                                        <p:tgtEl>
                                          <p:spTgt spid="12595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25956"/>
                                        </p:tgtEl>
                                        <p:attrNameLst>
                                          <p:attrName>style.visibility</p:attrName>
                                        </p:attrNameLst>
                                      </p:cBhvr>
                                      <p:to>
                                        <p:strVal val="visible"/>
                                      </p:to>
                                    </p:set>
                                    <p:anim calcmode="lin" valueType="num">
                                      <p:cBhvr additive="base">
                                        <p:cTn id="12" dur="2000" fill="hold"/>
                                        <p:tgtEl>
                                          <p:spTgt spid="125956"/>
                                        </p:tgtEl>
                                        <p:attrNameLst>
                                          <p:attrName>ppt_x</p:attrName>
                                        </p:attrNameLst>
                                      </p:cBhvr>
                                      <p:tavLst>
                                        <p:tav tm="0">
                                          <p:val>
                                            <p:strVal val="0-#ppt_w/2"/>
                                          </p:val>
                                        </p:tav>
                                        <p:tav tm="100000">
                                          <p:val>
                                            <p:strVal val="#ppt_x"/>
                                          </p:val>
                                        </p:tav>
                                      </p:tavLst>
                                    </p:anim>
                                    <p:anim calcmode="lin" valueType="num">
                                      <p:cBhvr additive="base">
                                        <p:cTn id="13" dur="2000" fill="hold"/>
                                        <p:tgtEl>
                                          <p:spTgt spid="125956"/>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ID="2" presetClass="entr" presetSubtype="4" fill="hold" nodeType="afterEffect">
                                  <p:stCondLst>
                                    <p:cond delay="0"/>
                                  </p:stCondLst>
                                  <p:childTnLst>
                                    <p:set>
                                      <p:cBhvr>
                                        <p:cTn id="16" dur="1" fill="hold">
                                          <p:stCondLst>
                                            <p:cond delay="0"/>
                                          </p:stCondLst>
                                        </p:cTn>
                                        <p:tgtEl>
                                          <p:spTgt spid="125957"/>
                                        </p:tgtEl>
                                        <p:attrNameLst>
                                          <p:attrName>style.visibility</p:attrName>
                                        </p:attrNameLst>
                                      </p:cBhvr>
                                      <p:to>
                                        <p:strVal val="visible"/>
                                      </p:to>
                                    </p:set>
                                    <p:anim calcmode="lin" valueType="num">
                                      <p:cBhvr additive="base">
                                        <p:cTn id="17" dur="1250" fill="hold"/>
                                        <p:tgtEl>
                                          <p:spTgt spid="125957"/>
                                        </p:tgtEl>
                                        <p:attrNameLst>
                                          <p:attrName>ppt_x</p:attrName>
                                        </p:attrNameLst>
                                      </p:cBhvr>
                                      <p:tavLst>
                                        <p:tav tm="0">
                                          <p:val>
                                            <p:strVal val="#ppt_x"/>
                                          </p:val>
                                        </p:tav>
                                        <p:tav tm="100000">
                                          <p:val>
                                            <p:strVal val="#ppt_x"/>
                                          </p:val>
                                        </p:tav>
                                      </p:tavLst>
                                    </p:anim>
                                    <p:anim calcmode="lin" valueType="num">
                                      <p:cBhvr additive="base">
                                        <p:cTn id="18" dur="1250" fill="hold"/>
                                        <p:tgtEl>
                                          <p:spTgt spid="125957"/>
                                        </p:tgtEl>
                                        <p:attrNameLst>
                                          <p:attrName>ppt_y</p:attrName>
                                        </p:attrNameLst>
                                      </p:cBhvr>
                                      <p:tavLst>
                                        <p:tav tm="0">
                                          <p:val>
                                            <p:strVal val="1+#ppt_h/2"/>
                                          </p:val>
                                        </p:tav>
                                        <p:tav tm="100000">
                                          <p:val>
                                            <p:strVal val="#ppt_y"/>
                                          </p:val>
                                        </p:tav>
                                      </p:tavLst>
                                    </p:anim>
                                  </p:childTnLst>
                                </p:cTn>
                              </p:par>
                            </p:childTnLst>
                          </p:cTn>
                        </p:par>
                        <p:par>
                          <p:cTn id="19" fill="hold">
                            <p:stCondLst>
                              <p:cond delay="3750"/>
                            </p:stCondLst>
                            <p:childTnLst>
                              <p:par>
                                <p:cTn id="20" presetID="2" presetClass="entr" presetSubtype="4" fill="hold" nodeType="afterEffect">
                                  <p:stCondLst>
                                    <p:cond delay="0"/>
                                  </p:stCondLst>
                                  <p:childTnLst>
                                    <p:set>
                                      <p:cBhvr>
                                        <p:cTn id="21" dur="1" fill="hold">
                                          <p:stCondLst>
                                            <p:cond delay="0"/>
                                          </p:stCondLst>
                                        </p:cTn>
                                        <p:tgtEl>
                                          <p:spTgt spid="125958"/>
                                        </p:tgtEl>
                                        <p:attrNameLst>
                                          <p:attrName>style.visibility</p:attrName>
                                        </p:attrNameLst>
                                      </p:cBhvr>
                                      <p:to>
                                        <p:strVal val="visible"/>
                                      </p:to>
                                    </p:set>
                                    <p:anim calcmode="lin" valueType="num">
                                      <p:cBhvr additive="base">
                                        <p:cTn id="22" dur="500" fill="hold"/>
                                        <p:tgtEl>
                                          <p:spTgt spid="125958"/>
                                        </p:tgtEl>
                                        <p:attrNameLst>
                                          <p:attrName>ppt_x</p:attrName>
                                        </p:attrNameLst>
                                      </p:cBhvr>
                                      <p:tavLst>
                                        <p:tav tm="0">
                                          <p:val>
                                            <p:strVal val="#ppt_x"/>
                                          </p:val>
                                        </p:tav>
                                        <p:tav tm="100000">
                                          <p:val>
                                            <p:strVal val="#ppt_x"/>
                                          </p:val>
                                        </p:tav>
                                      </p:tavLst>
                                    </p:anim>
                                    <p:anim calcmode="lin" valueType="num">
                                      <p:cBhvr additive="base">
                                        <p:cTn id="23" dur="500" fill="hold"/>
                                        <p:tgtEl>
                                          <p:spTgt spid="1259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ChangeArrowheads="1"/>
          </p:cNvSpPr>
          <p:nvPr/>
        </p:nvSpPr>
        <p:spPr bwMode="auto">
          <a:xfrm>
            <a:off x="1116013" y="598488"/>
            <a:ext cx="184150" cy="519112"/>
          </a:xfrm>
          <a:prstGeom prst="rect">
            <a:avLst/>
          </a:prstGeom>
          <a:noFill/>
          <a:ln w="9525">
            <a:noFill/>
            <a:miter lim="800000"/>
            <a:headEnd/>
            <a:tailEnd/>
          </a:ln>
        </p:spPr>
        <p:txBody>
          <a:bodyPr wrap="none">
            <a:spAutoFit/>
          </a:bodyPr>
          <a:lstStyle/>
          <a:p>
            <a:endParaRPr lang="zh-CN" altLang="zh-CN" sz="2800" b="1">
              <a:solidFill>
                <a:srgbClr val="1313FF"/>
              </a:solidFill>
              <a:ea typeface="宋体" pitchFamily="2" charset="-122"/>
            </a:endParaRPr>
          </a:p>
        </p:txBody>
      </p:sp>
      <p:graphicFrame>
        <p:nvGraphicFramePr>
          <p:cNvPr id="171138" name="Group 130"/>
          <p:cNvGraphicFramePr>
            <a:graphicFrameLocks noGrp="1"/>
          </p:cNvGraphicFramePr>
          <p:nvPr>
            <p:extLst>
              <p:ext uri="{D42A27DB-BD31-4B8C-83A1-F6EECF244321}">
                <p14:modId xmlns:p14="http://schemas.microsoft.com/office/powerpoint/2010/main" val="340552540"/>
              </p:ext>
            </p:extLst>
          </p:nvPr>
        </p:nvGraphicFramePr>
        <p:xfrm>
          <a:off x="395288" y="2133600"/>
          <a:ext cx="7777162" cy="4140202"/>
        </p:xfrm>
        <a:graphic>
          <a:graphicData uri="http://schemas.openxmlformats.org/drawingml/2006/table">
            <a:tbl>
              <a:tblPr/>
              <a:tblGrid>
                <a:gridCol w="1943100">
                  <a:extLst>
                    <a:ext uri="{9D8B030D-6E8A-4147-A177-3AD203B41FA5}">
                      <a16:colId xmlns:a16="http://schemas.microsoft.com/office/drawing/2014/main" val="20000"/>
                    </a:ext>
                  </a:extLst>
                </a:gridCol>
                <a:gridCol w="1296987">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1655763">
                  <a:extLst>
                    <a:ext uri="{9D8B030D-6E8A-4147-A177-3AD203B41FA5}">
                      <a16:colId xmlns:a16="http://schemas.microsoft.com/office/drawing/2014/main" val="20003"/>
                    </a:ext>
                  </a:extLst>
                </a:gridCol>
                <a:gridCol w="1512887">
                  <a:extLst>
                    <a:ext uri="{9D8B030D-6E8A-4147-A177-3AD203B41FA5}">
                      <a16:colId xmlns:a16="http://schemas.microsoft.com/office/drawing/2014/main" val="20004"/>
                    </a:ext>
                  </a:extLst>
                </a:gridCol>
              </a:tblGrid>
              <a:tr h="12954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600" b="1" i="0" u="none" strike="noStrike" cap="none" normalizeH="0" baseline="0" smtClean="0">
                          <a:ln>
                            <a:noFill/>
                          </a:ln>
                          <a:solidFill>
                            <a:srgbClr val="006600"/>
                          </a:solidFill>
                          <a:effectLst/>
                          <a:latin typeface="Tahoma" pitchFamily="34" charset="0"/>
                          <a:ea typeface="宋体" pitchFamily="2" charset="-122"/>
                        </a:rPr>
                        <a:t>产值计划完成程度</a:t>
                      </a:r>
                      <a:r>
                        <a:rPr kumimoji="1" lang="en-US" altLang="zh-CN" sz="2600" b="1" i="0" u="none" strike="noStrike" cap="none" normalizeH="0" baseline="0" smtClean="0">
                          <a:ln>
                            <a:noFill/>
                          </a:ln>
                          <a:solidFill>
                            <a:srgbClr val="006600"/>
                          </a:solidFill>
                          <a:effectLst/>
                          <a:latin typeface="Tahoma" pitchFamily="34" charset="0"/>
                          <a:ea typeface="宋体" pitchFamily="2" charset="-122"/>
                        </a:rPr>
                        <a:t>(%)</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rgbClr val="006600"/>
                          </a:solidFill>
                          <a:effectLst/>
                          <a:latin typeface="Tahoma" pitchFamily="34" charset="0"/>
                          <a:ea typeface="宋体" pitchFamily="2" charset="-122"/>
                        </a:rPr>
                        <a:t>组中值</a:t>
                      </a:r>
                    </a:p>
                    <a:p>
                      <a:pPr marL="0" marR="0" lvl="0" indent="0" algn="ctr" defTabSz="914400" rtl="0" eaLnBrk="0" fontAlgn="base" latinLnBrk="0" hangingPunct="0">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rgbClr val="006600"/>
                          </a:solidFill>
                          <a:effectLst/>
                          <a:latin typeface="Tahoma" pitchFamily="34" charset="0"/>
                          <a:ea typeface="宋体" pitchFamily="2" charset="-122"/>
                        </a:rPr>
                        <a:t>（</a:t>
                      </a:r>
                      <a:r>
                        <a:rPr kumimoji="1" lang="en-US" altLang="zh-CN" sz="2600" b="1" i="0" u="none" strike="noStrike" cap="none" normalizeH="0" baseline="0" smtClean="0">
                          <a:ln>
                            <a:noFill/>
                          </a:ln>
                          <a:solidFill>
                            <a:srgbClr val="006600"/>
                          </a:solidFill>
                          <a:effectLst/>
                          <a:latin typeface="Tahoma" pitchFamily="34" charset="0"/>
                          <a:ea typeface="宋体" pitchFamily="2" charset="-122"/>
                        </a:rPr>
                        <a:t>%</a:t>
                      </a:r>
                      <a:r>
                        <a:rPr kumimoji="1" lang="zh-CN" altLang="en-US" sz="2600" b="1" i="0" u="none" strike="noStrike" cap="none" normalizeH="0" baseline="0" smtClean="0">
                          <a:ln>
                            <a:noFill/>
                          </a:ln>
                          <a:solidFill>
                            <a:srgbClr val="006600"/>
                          </a:solidFill>
                          <a:effectLst/>
                          <a:latin typeface="Tahoma" pitchFamily="34" charset="0"/>
                          <a:ea typeface="宋体" pitchFamily="2" charset="-122"/>
                        </a:rPr>
                        <a:t>）  </a:t>
                      </a:r>
                      <a:r>
                        <a:rPr kumimoji="1" lang="en-US" altLang="zh-CN" sz="2600" b="1" i="1" u="none" strike="noStrike" cap="none" normalizeH="0" baseline="0" smtClean="0">
                          <a:ln>
                            <a:noFill/>
                          </a:ln>
                          <a:solidFill>
                            <a:srgbClr val="FF3300"/>
                          </a:solidFill>
                          <a:effectLst/>
                          <a:latin typeface="Times New Roman" pitchFamily="18" charset="0"/>
                          <a:ea typeface="宋体" pitchFamily="2" charset="-122"/>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rgbClr val="006600"/>
                          </a:solidFill>
                          <a:effectLst/>
                          <a:latin typeface="Tahoma" pitchFamily="34" charset="0"/>
                          <a:ea typeface="宋体" pitchFamily="2" charset="-122"/>
                        </a:rPr>
                        <a:t>企业数</a:t>
                      </a:r>
                    </a:p>
                    <a:p>
                      <a:pPr marL="0" marR="0" lvl="0" indent="0" algn="just" defTabSz="914400" rtl="0" eaLnBrk="0" fontAlgn="base" latinLnBrk="0" hangingPunct="0">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rgbClr val="006600"/>
                          </a:solidFill>
                          <a:effectLst/>
                          <a:latin typeface="Tahoma" pitchFamily="34" charset="0"/>
                          <a:ea typeface="宋体" pitchFamily="2" charset="-122"/>
                        </a:rPr>
                        <a:t>（个）</a:t>
                      </a:r>
                      <a:br>
                        <a:rPr kumimoji="1" lang="zh-CN" altLang="en-US" sz="2600" b="1" i="0" u="none" strike="noStrike" cap="none" normalizeH="0" baseline="0" smtClean="0">
                          <a:ln>
                            <a:noFill/>
                          </a:ln>
                          <a:solidFill>
                            <a:srgbClr val="006600"/>
                          </a:solidFill>
                          <a:effectLst/>
                          <a:latin typeface="Tahoma" pitchFamily="34" charset="0"/>
                          <a:ea typeface="宋体" pitchFamily="2" charset="-122"/>
                        </a:rPr>
                      </a:br>
                      <a:r>
                        <a:rPr kumimoji="1" lang="zh-CN" altLang="en-US" sz="2600" b="1" i="0" u="none" strike="noStrike" cap="none" normalizeH="0" baseline="0" smtClean="0">
                          <a:ln>
                            <a:noFill/>
                          </a:ln>
                          <a:solidFill>
                            <a:srgbClr val="006600"/>
                          </a:solidFill>
                          <a:effectLst/>
                          <a:latin typeface="Tahoma" pitchFamily="34" charset="0"/>
                          <a:ea typeface="宋体" pitchFamily="2" charset="-122"/>
                        </a:rPr>
                        <a:t>  </a:t>
                      </a:r>
                      <a:r>
                        <a:rPr kumimoji="1" lang="zh-CN" altLang="en-US" sz="2600" b="1" i="1" u="none" strike="noStrike" cap="none" normalizeH="0" baseline="0" smtClean="0">
                          <a:ln>
                            <a:noFill/>
                          </a:ln>
                          <a:solidFill>
                            <a:srgbClr val="006600"/>
                          </a:solidFill>
                          <a:effectLst/>
                          <a:latin typeface="Times New Roman" pitchFamily="18" charset="0"/>
                          <a:ea typeface="宋体" pitchFamily="2" charset="-122"/>
                        </a:rPr>
                        <a:t> </a:t>
                      </a:r>
                      <a:r>
                        <a:rPr kumimoji="1" lang="en-US" altLang="zh-CN" sz="2600" b="1" i="1" u="none" strike="noStrike" cap="none" normalizeH="0" baseline="0" smtClean="0">
                          <a:ln>
                            <a:noFill/>
                          </a:ln>
                          <a:solidFill>
                            <a:srgbClr val="FF3300"/>
                          </a:solidFill>
                          <a:effectLst/>
                          <a:latin typeface="Times New Roman" pitchFamily="18" charset="0"/>
                          <a:ea typeface="宋体" pitchFamily="2" charset="-122"/>
                        </a:rPr>
                        <a:t>f  </a:t>
                      </a:r>
                      <a:r>
                        <a:rPr kumimoji="1" lang="en-US" altLang="zh-CN" sz="2600" b="1" i="0" u="none" strike="noStrike" cap="none" normalizeH="0" baseline="0" smtClean="0">
                          <a:ln>
                            <a:noFill/>
                          </a:ln>
                          <a:solidFill>
                            <a:srgbClr val="FF3300"/>
                          </a:solidFill>
                          <a:effectLst/>
                          <a:latin typeface="Tahoma" pitchFamily="34" charset="0"/>
                          <a:ea typeface="宋体"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chemeClr val="tx2"/>
                          </a:solidFill>
                          <a:effectLst/>
                          <a:latin typeface="Tahoma" pitchFamily="34" charset="0"/>
                          <a:ea typeface="宋体" pitchFamily="2" charset="-122"/>
                        </a:rPr>
                        <a:t>计划产值</a:t>
                      </a:r>
                    </a:p>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600" b="1" i="0" u="none" strike="noStrike" cap="none" normalizeH="0" baseline="0" smtClean="0">
                          <a:ln>
                            <a:noFill/>
                          </a:ln>
                          <a:solidFill>
                            <a:schemeClr val="tx2"/>
                          </a:solidFill>
                          <a:effectLst/>
                          <a:latin typeface="Tahoma" pitchFamily="34" charset="0"/>
                          <a:ea typeface="宋体" pitchFamily="2" charset="-122"/>
                        </a:rPr>
                        <a:t> </a:t>
                      </a:r>
                      <a:r>
                        <a:rPr kumimoji="1" lang="en-US" altLang="zh-CN" sz="2600" b="1" i="0" u="none" strike="noStrike" cap="none" normalizeH="0" baseline="0" smtClean="0">
                          <a:ln>
                            <a:noFill/>
                          </a:ln>
                          <a:solidFill>
                            <a:schemeClr val="tx2"/>
                          </a:solidFill>
                          <a:effectLst/>
                          <a:latin typeface="Tahoma" pitchFamily="34" charset="0"/>
                          <a:ea typeface="宋体" pitchFamily="2" charset="-122"/>
                        </a:rPr>
                        <a:t>(</a:t>
                      </a:r>
                      <a:r>
                        <a:rPr kumimoji="1" lang="zh-CN" altLang="en-US" sz="2600" b="1" i="0" u="none" strike="noStrike" cap="none" normalizeH="0" baseline="0" smtClean="0">
                          <a:ln>
                            <a:noFill/>
                          </a:ln>
                          <a:solidFill>
                            <a:schemeClr val="tx2"/>
                          </a:solidFill>
                          <a:effectLst/>
                          <a:latin typeface="Tahoma" pitchFamily="34" charset="0"/>
                          <a:ea typeface="宋体" pitchFamily="2" charset="-122"/>
                        </a:rPr>
                        <a:t>万元）</a:t>
                      </a:r>
                      <a:endParaRPr kumimoji="1" lang="zh-CN" altLang="en-US" sz="2600" b="1" i="0" u="none" strike="noStrike" cap="none" normalizeH="0" baseline="0" smtClean="0">
                        <a:ln>
                          <a:noFill/>
                        </a:ln>
                        <a:solidFill>
                          <a:srgbClr val="FF3300"/>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600" b="0" i="0" u="none" strike="noStrike" cap="none" normalizeH="0" baseline="0" smtClean="0">
                          <a:ln>
                            <a:noFill/>
                          </a:ln>
                          <a:solidFill>
                            <a:srgbClr val="6565FF"/>
                          </a:solidFill>
                          <a:effectLst/>
                          <a:latin typeface="Tahoma" pitchFamily="34" charset="0"/>
                          <a:ea typeface="宋体" pitchFamily="2" charset="-122"/>
                        </a:rPr>
                        <a:t>实际产值</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600" b="0" i="0" u="none" strike="noStrike" cap="none" normalizeH="0" baseline="0" smtClean="0">
                          <a:ln>
                            <a:noFill/>
                          </a:ln>
                          <a:solidFill>
                            <a:srgbClr val="6565FF"/>
                          </a:solidFill>
                          <a:effectLst/>
                          <a:latin typeface="Tahoma" pitchFamily="34" charset="0"/>
                          <a:ea typeface="宋体" pitchFamily="2" charset="-122"/>
                        </a:rPr>
                        <a:t>（万元）</a:t>
                      </a:r>
                    </a:p>
                  </a:txBody>
                  <a:tcPr horzOverflow="overflow">
                    <a:lnL w="28575"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67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80</a:t>
                      </a:r>
                      <a:r>
                        <a:rPr kumimoji="1" lang="en-US" altLang="zh-CN" sz="2600" b="1" i="0" u="none" strike="noStrike" cap="none" normalizeH="0" baseline="0" dirty="0" smtClean="0">
                          <a:ln>
                            <a:noFill/>
                          </a:ln>
                          <a:solidFill>
                            <a:srgbClr val="C56B9E"/>
                          </a:solidFill>
                          <a:effectLst/>
                          <a:latin typeface="Times New Roman"/>
                          <a:ea typeface="宋体" pitchFamily="2" charset="-122"/>
                        </a:rPr>
                        <a:t>—  </a:t>
                      </a: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90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85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    800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0" i="0" u="none" strike="noStrike" cap="none" normalizeH="0" baseline="0" smtClean="0">
                          <a:ln>
                            <a:noFill/>
                          </a:ln>
                          <a:solidFill>
                            <a:srgbClr val="6565FF"/>
                          </a:solidFill>
                          <a:effectLst/>
                          <a:latin typeface="Tahoma" pitchFamily="34" charset="0"/>
                          <a:ea typeface="宋体" pitchFamily="2" charset="-122"/>
                        </a:rPr>
                        <a:t>   680</a:t>
                      </a:r>
                    </a:p>
                  </a:txBody>
                  <a:tcPr horzOverflow="overflow">
                    <a:lnL w="28575"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3088">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90</a:t>
                      </a:r>
                      <a:r>
                        <a:rPr kumimoji="1" lang="en-US" altLang="zh-CN" sz="2600" b="1" i="0" u="none" strike="noStrike" cap="none" normalizeH="0" baseline="0" dirty="0" smtClean="0">
                          <a:ln>
                            <a:noFill/>
                          </a:ln>
                          <a:solidFill>
                            <a:srgbClr val="C56B9E"/>
                          </a:solidFill>
                          <a:effectLst/>
                          <a:latin typeface="Times New Roman"/>
                          <a:ea typeface="宋体" pitchFamily="2" charset="-122"/>
                        </a:rPr>
                        <a:t>—</a:t>
                      </a: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100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95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  2500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0" i="0" u="none" strike="noStrike" cap="none" normalizeH="0" baseline="0" smtClean="0">
                          <a:ln>
                            <a:noFill/>
                          </a:ln>
                          <a:solidFill>
                            <a:srgbClr val="6565FF"/>
                          </a:solidFill>
                          <a:effectLst/>
                          <a:latin typeface="Tahoma" pitchFamily="34" charset="0"/>
                          <a:ea typeface="宋体" pitchFamily="2" charset="-122"/>
                        </a:rPr>
                        <a:t>  2375</a:t>
                      </a:r>
                    </a:p>
                  </a:txBody>
                  <a:tcPr horzOverflow="overflow">
                    <a:lnL w="28575"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626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100</a:t>
                      </a:r>
                      <a:r>
                        <a:rPr kumimoji="1" lang="en-US" altLang="zh-CN" sz="2600" b="1" i="0" u="none" strike="noStrike" cap="none" normalizeH="0" baseline="0" smtClean="0">
                          <a:ln>
                            <a:noFill/>
                          </a:ln>
                          <a:solidFill>
                            <a:srgbClr val="C56B9E"/>
                          </a:solidFill>
                          <a:effectLst/>
                          <a:latin typeface="Times New Roman"/>
                          <a:ea typeface="宋体" pitchFamily="2" charset="-122"/>
                        </a:rPr>
                        <a:t>—</a:t>
                      </a:r>
                      <a:r>
                        <a:rPr kumimoji="1" lang="en-US" altLang="zh-CN" sz="2600" b="1" i="0" u="none" strike="noStrike" cap="none" normalizeH="0" baseline="0" smtClean="0">
                          <a:ln>
                            <a:noFill/>
                          </a:ln>
                          <a:solidFill>
                            <a:srgbClr val="C56B9E"/>
                          </a:solidFill>
                          <a:effectLst/>
                          <a:latin typeface="Tahoma" pitchFamily="34" charset="0"/>
                          <a:ea typeface="宋体" pitchFamily="2" charset="-122"/>
                        </a:rPr>
                        <a:t>110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105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17200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0" i="0" u="none" strike="noStrike" cap="none" normalizeH="0" baseline="0" smtClean="0">
                          <a:ln>
                            <a:noFill/>
                          </a:ln>
                          <a:solidFill>
                            <a:srgbClr val="6565FF"/>
                          </a:solidFill>
                          <a:effectLst/>
                          <a:latin typeface="Tahoma" pitchFamily="34" charset="0"/>
                          <a:ea typeface="宋体" pitchFamily="2" charset="-122"/>
                        </a:rPr>
                        <a:t>18060</a:t>
                      </a:r>
                    </a:p>
                  </a:txBody>
                  <a:tcPr horzOverflow="overflow">
                    <a:lnL w="28575"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7688">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110</a:t>
                      </a:r>
                      <a:r>
                        <a:rPr kumimoji="1" lang="en-US" altLang="zh-CN" sz="2600" b="1" i="0" u="none" strike="noStrike" cap="none" normalizeH="0" baseline="0" smtClean="0">
                          <a:ln>
                            <a:noFill/>
                          </a:ln>
                          <a:solidFill>
                            <a:srgbClr val="C56B9E"/>
                          </a:solidFill>
                          <a:effectLst/>
                          <a:latin typeface="Times New Roman"/>
                          <a:ea typeface="宋体" pitchFamily="2" charset="-122"/>
                        </a:rPr>
                        <a:t>—</a:t>
                      </a:r>
                      <a:r>
                        <a:rPr kumimoji="1" lang="en-US" altLang="zh-CN" sz="2600" b="1" i="0" u="none" strike="noStrike" cap="none" normalizeH="0" baseline="0" smtClean="0">
                          <a:ln>
                            <a:noFill/>
                          </a:ln>
                          <a:solidFill>
                            <a:srgbClr val="C56B9E"/>
                          </a:solidFill>
                          <a:effectLst/>
                          <a:latin typeface="Tahoma" pitchFamily="34" charset="0"/>
                          <a:ea typeface="宋体" pitchFamily="2" charset="-122"/>
                        </a:rPr>
                        <a:t>120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115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  4400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0" i="0" u="none" strike="noStrike" cap="none" normalizeH="0" baseline="0" smtClean="0">
                          <a:ln>
                            <a:noFill/>
                          </a:ln>
                          <a:solidFill>
                            <a:srgbClr val="6565FF"/>
                          </a:solidFill>
                          <a:effectLst/>
                          <a:latin typeface="Tahoma" pitchFamily="34" charset="0"/>
                          <a:ea typeface="宋体" pitchFamily="2" charset="-122"/>
                        </a:rPr>
                        <a:t>  5060</a:t>
                      </a:r>
                    </a:p>
                  </a:txBody>
                  <a:tcPr horzOverflow="overflow">
                    <a:lnL w="28575"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3088">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600" b="0" i="0" u="none" strike="noStrike" cap="none" normalizeH="0" baseline="0" smtClean="0">
                          <a:ln>
                            <a:noFill/>
                          </a:ln>
                          <a:solidFill>
                            <a:srgbClr val="C56B9E"/>
                          </a:solidFill>
                          <a:effectLst/>
                          <a:latin typeface="Tahoma" pitchFamily="34" charset="0"/>
                          <a:ea typeface="宋体" pitchFamily="2" charset="-122"/>
                        </a:rPr>
                        <a:t>合 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imes New Roman"/>
                          <a:ea typeface="宋体" pitchFamily="2" charset="-122"/>
                        </a:rPr>
                        <a:t>——</a:t>
                      </a:r>
                      <a:endParaRPr kumimoji="1" lang="en-US" altLang="zh-CN" sz="2600" b="1" i="0" u="none" strike="noStrike" cap="none" normalizeH="0" baseline="0" smtClean="0">
                        <a:ln>
                          <a:noFill/>
                        </a:ln>
                        <a:solidFill>
                          <a:srgbClr val="C56B9E"/>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dirty="0" smtClean="0">
                          <a:ln>
                            <a:noFill/>
                          </a:ln>
                          <a:solidFill>
                            <a:srgbClr val="C56B9E"/>
                          </a:solidFill>
                          <a:effectLst/>
                          <a:latin typeface="Tahoma" pitchFamily="34" charset="0"/>
                          <a:ea typeface="宋体" pitchFamily="2" charset="-122"/>
                        </a:rPr>
                        <a:t> 18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1" i="0" u="none" strike="noStrike" cap="none" normalizeH="0" baseline="0" smtClean="0">
                          <a:ln>
                            <a:noFill/>
                          </a:ln>
                          <a:solidFill>
                            <a:srgbClr val="C56B9E"/>
                          </a:solidFill>
                          <a:effectLst/>
                          <a:latin typeface="Tahoma" pitchFamily="34" charset="0"/>
                          <a:ea typeface="宋体" pitchFamily="2" charset="-122"/>
                        </a:rPr>
                        <a:t>24900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600" b="0" i="0" u="none" strike="noStrike" cap="none" normalizeH="0" baseline="0" dirty="0" smtClean="0">
                          <a:ln>
                            <a:noFill/>
                          </a:ln>
                          <a:solidFill>
                            <a:srgbClr val="6565FF"/>
                          </a:solidFill>
                          <a:effectLst/>
                          <a:latin typeface="Tahoma" pitchFamily="34" charset="0"/>
                          <a:ea typeface="宋体" pitchFamily="2" charset="-122"/>
                        </a:rPr>
                        <a:t>26175</a:t>
                      </a:r>
                    </a:p>
                  </a:txBody>
                  <a:tcPr horzOverflow="overflow">
                    <a:lnL w="28575"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8590" name="Rectangle 116"/>
          <p:cNvSpPr>
            <a:spLocks noGrp="1" noChangeArrowheads="1"/>
          </p:cNvSpPr>
          <p:nvPr>
            <p:ph type="title" idx="4294967295"/>
          </p:nvPr>
        </p:nvSpPr>
        <p:spPr>
          <a:xfrm>
            <a:off x="755576" y="157144"/>
            <a:ext cx="7772400" cy="990600"/>
          </a:xfrm>
        </p:spPr>
        <p:txBody>
          <a:bodyPr/>
          <a:lstStyle/>
          <a:p>
            <a:pPr eaLnBrk="1" hangingPunct="1"/>
            <a:r>
              <a:rPr lang="en-US" altLang="zh-CN" sz="3200" dirty="0" smtClean="0"/>
              <a:t>【</a:t>
            </a:r>
            <a:r>
              <a:rPr lang="zh-CN" altLang="en-US" sz="3200" dirty="0" smtClean="0"/>
              <a:t>附</a:t>
            </a:r>
            <a:r>
              <a:rPr lang="en-US" altLang="zh-CN" sz="3200" dirty="0" smtClean="0"/>
              <a:t>】</a:t>
            </a:r>
            <a:r>
              <a:rPr lang="zh-CN" altLang="en-US" sz="3200" dirty="0" smtClean="0">
                <a:solidFill>
                  <a:srgbClr val="1313FF"/>
                </a:solidFill>
              </a:rPr>
              <a:t>对相对数求总平均</a:t>
            </a:r>
          </a:p>
        </p:txBody>
      </p:sp>
      <p:sp>
        <p:nvSpPr>
          <p:cNvPr id="108591" name="Rectangle 117"/>
          <p:cNvSpPr>
            <a:spLocks noChangeArrowheads="1"/>
          </p:cNvSpPr>
          <p:nvPr/>
        </p:nvSpPr>
        <p:spPr bwMode="auto">
          <a:xfrm>
            <a:off x="395288" y="1268413"/>
            <a:ext cx="7129462" cy="830997"/>
          </a:xfrm>
          <a:prstGeom prst="rect">
            <a:avLst/>
          </a:prstGeom>
          <a:noFill/>
          <a:ln w="9525">
            <a:noFill/>
            <a:miter lim="800000"/>
            <a:headEnd/>
            <a:tailEnd/>
          </a:ln>
        </p:spPr>
        <p:txBody>
          <a:bodyPr>
            <a:spAutoFit/>
          </a:bodyPr>
          <a:lstStyle/>
          <a:p>
            <a:r>
              <a:rPr lang="en-US" altLang="zh-CN" dirty="0" smtClean="0">
                <a:solidFill>
                  <a:srgbClr val="1313FF"/>
                </a:solidFill>
              </a:rPr>
              <a:t>【</a:t>
            </a:r>
            <a:r>
              <a:rPr lang="zh-CN" altLang="en-US" dirty="0" smtClean="0">
                <a:solidFill>
                  <a:srgbClr val="1313FF"/>
                </a:solidFill>
              </a:rPr>
              <a:t>例</a:t>
            </a:r>
            <a:r>
              <a:rPr lang="en-US" altLang="zh-CN" dirty="0" smtClean="0">
                <a:solidFill>
                  <a:srgbClr val="1313FF"/>
                </a:solidFill>
              </a:rPr>
              <a:t>】</a:t>
            </a:r>
            <a:r>
              <a:rPr lang="zh-CN" altLang="en-US" b="1" dirty="0" smtClean="0"/>
              <a:t>某</a:t>
            </a:r>
            <a:r>
              <a:rPr lang="zh-CN" altLang="en-US" b="1" dirty="0"/>
              <a:t>公司下属</a:t>
            </a:r>
            <a:r>
              <a:rPr lang="en-US" altLang="zh-CN" b="1" dirty="0"/>
              <a:t>18</a:t>
            </a:r>
            <a:r>
              <a:rPr lang="zh-CN" altLang="en-US" b="1" dirty="0"/>
              <a:t>个企业的计划完成情况如下表，试求它们的平均计划完成百分比</a:t>
            </a:r>
            <a:r>
              <a:rPr lang="en-US" altLang="zh-CN" b="1" dirty="0"/>
              <a:t>:</a:t>
            </a:r>
          </a:p>
        </p:txBody>
      </p:sp>
      <p:sp>
        <p:nvSpPr>
          <p:cNvPr id="7" name="灯片编号占位符 6"/>
          <p:cNvSpPr>
            <a:spLocks noGrp="1"/>
          </p:cNvSpPr>
          <p:nvPr>
            <p:ph type="sldNum" sz="quarter" idx="12"/>
          </p:nvPr>
        </p:nvSpPr>
        <p:spPr/>
        <p:txBody>
          <a:bodyPr/>
          <a:lstStyle/>
          <a:p>
            <a:pPr>
              <a:defRPr/>
            </a:pPr>
            <a:fld id="{4D36EFB7-0D9F-4BC1-ADE9-F0E399591344}" type="slidenum">
              <a:rPr lang="en-US" altLang="zh-CN" smtClean="0"/>
              <a:pPr>
                <a:defRPr/>
              </a:pPr>
              <a:t>59</a:t>
            </a:fld>
            <a:endParaRPr lang="en-US" altLang="zh-CN" dirty="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2530" name="Object 2"/>
          <p:cNvGraphicFramePr>
            <a:graphicFrameLocks noGrp="1" noChangeAspect="1"/>
          </p:cNvGraphicFramePr>
          <p:nvPr>
            <p:ph type="body" idx="1"/>
            <p:extLst>
              <p:ext uri="{D42A27DB-BD31-4B8C-83A1-F6EECF244321}">
                <p14:modId xmlns:p14="http://schemas.microsoft.com/office/powerpoint/2010/main" val="803150907"/>
              </p:ext>
            </p:extLst>
          </p:nvPr>
        </p:nvGraphicFramePr>
        <p:xfrm>
          <a:off x="488059" y="2878310"/>
          <a:ext cx="8064896" cy="973321"/>
        </p:xfrm>
        <a:graphic>
          <a:graphicData uri="http://schemas.openxmlformats.org/presentationml/2006/ole">
            <mc:AlternateContent xmlns:mc="http://schemas.openxmlformats.org/markup-compatibility/2006">
              <mc:Choice xmlns:v="urn:schemas-microsoft-com:vml" Requires="v">
                <p:oleObj spid="_x0000_s199860" name="Equation" r:id="rId3" imgW="7594560" imgH="787320" progId="Equation.DSMT4">
                  <p:embed/>
                </p:oleObj>
              </mc:Choice>
              <mc:Fallback>
                <p:oleObj name="Equation" r:id="rId3" imgW="7594560" imgH="78732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059" y="2878310"/>
                        <a:ext cx="8064896" cy="973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4" name="Rectangle 4"/>
          <p:cNvSpPr>
            <a:spLocks noGrp="1" noChangeArrowheads="1"/>
          </p:cNvSpPr>
          <p:nvPr>
            <p:ph type="title"/>
          </p:nvPr>
        </p:nvSpPr>
        <p:spPr>
          <a:xfrm>
            <a:off x="611560" y="-171400"/>
            <a:ext cx="7772400" cy="990600"/>
          </a:xfrm>
        </p:spPr>
        <p:txBody>
          <a:bodyPr/>
          <a:lstStyle/>
          <a:p>
            <a:pPr eaLnBrk="1" hangingPunct="1"/>
            <a:r>
              <a:rPr lang="zh-CN" altLang="en-US" sz="3200" dirty="0" smtClean="0">
                <a:solidFill>
                  <a:srgbClr val="1313FF"/>
                </a:solidFill>
              </a:rPr>
              <a:t>平均计划完成百分比</a:t>
            </a:r>
            <a:r>
              <a:rPr lang="en-US" altLang="zh-CN" sz="3200" dirty="0" smtClean="0">
                <a:solidFill>
                  <a:srgbClr val="1313FF"/>
                </a:solidFill>
                <a:latin typeface="Times New Roman" pitchFamily="18" charset="0"/>
              </a:rPr>
              <a:t>——</a:t>
            </a:r>
            <a:r>
              <a:rPr lang="zh-CN" altLang="en-US" sz="3200" dirty="0" smtClean="0"/>
              <a:t>解</a:t>
            </a:r>
          </a:p>
        </p:txBody>
      </p:sp>
      <p:sp>
        <p:nvSpPr>
          <p:cNvPr id="8" name="矩形 7"/>
          <p:cNvSpPr/>
          <p:nvPr/>
        </p:nvSpPr>
        <p:spPr>
          <a:xfrm>
            <a:off x="488059" y="1846462"/>
            <a:ext cx="7416824" cy="830997"/>
          </a:xfrm>
          <a:prstGeom prst="rect">
            <a:avLst/>
          </a:prstGeom>
        </p:spPr>
        <p:txBody>
          <a:bodyPr wrap="square">
            <a:spAutoFit/>
          </a:bodyPr>
          <a:lstStyle/>
          <a:p>
            <a:r>
              <a:rPr lang="zh-CN" altLang="zh-CN" dirty="0" smtClean="0">
                <a:solidFill>
                  <a:srgbClr val="0070C0"/>
                </a:solidFill>
              </a:rPr>
              <a:t>如果已知</a:t>
            </a:r>
            <a:r>
              <a:rPr lang="zh-CN" altLang="en-US" dirty="0" smtClean="0">
                <a:solidFill>
                  <a:srgbClr val="0070C0"/>
                </a:solidFill>
              </a:rPr>
              <a:t>各组的</a:t>
            </a:r>
            <a:r>
              <a:rPr lang="zh-CN" altLang="zh-CN" dirty="0" smtClean="0">
                <a:solidFill>
                  <a:srgbClr val="0070C0"/>
                </a:solidFill>
              </a:rPr>
              <a:t>产值计划完成程度和</a:t>
            </a:r>
            <a:r>
              <a:rPr lang="zh-CN" altLang="en-US" dirty="0" smtClean="0">
                <a:solidFill>
                  <a:srgbClr val="7030A0"/>
                </a:solidFill>
              </a:rPr>
              <a:t>计划</a:t>
            </a:r>
            <a:r>
              <a:rPr lang="zh-CN" altLang="zh-CN" dirty="0" smtClean="0">
                <a:solidFill>
                  <a:srgbClr val="7030A0"/>
                </a:solidFill>
              </a:rPr>
              <a:t>产值</a:t>
            </a:r>
            <a:r>
              <a:rPr lang="zh-CN" altLang="zh-CN" dirty="0" smtClean="0">
                <a:solidFill>
                  <a:srgbClr val="0070C0"/>
                </a:solidFill>
              </a:rPr>
              <a:t>，则应</a:t>
            </a:r>
            <a:r>
              <a:rPr lang="zh-CN" altLang="en-US" dirty="0" smtClean="0">
                <a:solidFill>
                  <a:srgbClr val="0070C0"/>
                </a:solidFill>
              </a:rPr>
              <a:t>采用加权算术平均（以计划产值为权数）</a:t>
            </a:r>
            <a:endParaRPr lang="zh-CN" altLang="en-US" dirty="0">
              <a:solidFill>
                <a:srgbClr val="0070C0"/>
              </a:solidFill>
            </a:endParaRPr>
          </a:p>
        </p:txBody>
      </p:sp>
      <p:sp>
        <p:nvSpPr>
          <p:cNvPr id="9" name="矩形 8"/>
          <p:cNvSpPr/>
          <p:nvPr/>
        </p:nvSpPr>
        <p:spPr>
          <a:xfrm>
            <a:off x="488059" y="3960693"/>
            <a:ext cx="7416824" cy="830997"/>
          </a:xfrm>
          <a:prstGeom prst="rect">
            <a:avLst/>
          </a:prstGeom>
        </p:spPr>
        <p:txBody>
          <a:bodyPr wrap="square">
            <a:spAutoFit/>
          </a:bodyPr>
          <a:lstStyle/>
          <a:p>
            <a:r>
              <a:rPr lang="zh-CN" altLang="zh-CN" dirty="0" smtClean="0">
                <a:solidFill>
                  <a:srgbClr val="0070C0"/>
                </a:solidFill>
              </a:rPr>
              <a:t>如果已知</a:t>
            </a:r>
            <a:r>
              <a:rPr lang="zh-CN" altLang="en-US" dirty="0" smtClean="0">
                <a:solidFill>
                  <a:srgbClr val="0070C0"/>
                </a:solidFill>
              </a:rPr>
              <a:t>各组</a:t>
            </a:r>
            <a:r>
              <a:rPr lang="zh-CN" altLang="zh-CN" dirty="0" smtClean="0">
                <a:solidFill>
                  <a:srgbClr val="0070C0"/>
                </a:solidFill>
              </a:rPr>
              <a:t>的产值计划完成程度和</a:t>
            </a:r>
            <a:r>
              <a:rPr lang="zh-CN" altLang="en-US" dirty="0" smtClean="0">
                <a:solidFill>
                  <a:srgbClr val="7030A0"/>
                </a:solidFill>
              </a:rPr>
              <a:t>实际</a:t>
            </a:r>
            <a:r>
              <a:rPr lang="zh-CN" altLang="zh-CN" dirty="0" smtClean="0">
                <a:solidFill>
                  <a:srgbClr val="7030A0"/>
                </a:solidFill>
              </a:rPr>
              <a:t>产值</a:t>
            </a:r>
            <a:r>
              <a:rPr lang="zh-CN" altLang="zh-CN" dirty="0" smtClean="0">
                <a:solidFill>
                  <a:srgbClr val="0070C0"/>
                </a:solidFill>
              </a:rPr>
              <a:t>，则</a:t>
            </a:r>
            <a:r>
              <a:rPr lang="zh-CN" altLang="en-US" dirty="0" smtClean="0">
                <a:solidFill>
                  <a:srgbClr val="0070C0"/>
                </a:solidFill>
              </a:rPr>
              <a:t>采用加权调和平均（以实际产值为权数</a:t>
            </a:r>
            <a:r>
              <a:rPr lang="en-US" altLang="zh-CN" dirty="0" smtClean="0">
                <a:solidFill>
                  <a:srgbClr val="0070C0"/>
                </a:solidFill>
              </a:rPr>
              <a:t>m</a:t>
            </a:r>
            <a:r>
              <a:rPr lang="zh-CN" altLang="en-US" dirty="0" smtClean="0">
                <a:solidFill>
                  <a:srgbClr val="0070C0"/>
                </a:solidFill>
              </a:rPr>
              <a:t>）</a:t>
            </a:r>
            <a:endParaRPr lang="zh-CN" altLang="en-US" dirty="0">
              <a:solidFill>
                <a:srgbClr val="0070C0"/>
              </a:solidFill>
            </a:endParaRPr>
          </a:p>
        </p:txBody>
      </p:sp>
      <p:pic>
        <p:nvPicPr>
          <p:cNvPr id="2" name="Picture 6"/>
          <p:cNvPicPr>
            <a:picLocks noChangeAspect="1" noChangeArrowheads="1"/>
          </p:cNvPicPr>
          <p:nvPr/>
        </p:nvPicPr>
        <p:blipFill>
          <a:blip r:embed="rId5" cstate="print"/>
          <a:srcRect/>
          <a:stretch>
            <a:fillRect/>
          </a:stretch>
        </p:blipFill>
        <p:spPr bwMode="auto">
          <a:xfrm>
            <a:off x="1082531" y="980728"/>
            <a:ext cx="5721717" cy="792088"/>
          </a:xfrm>
          <a:prstGeom prst="rect">
            <a:avLst/>
          </a:prstGeom>
          <a:noFill/>
          <a:ln w="9525">
            <a:noFill/>
            <a:miter lim="800000"/>
            <a:headEnd/>
            <a:tailEnd/>
          </a:ln>
        </p:spPr>
      </p:pic>
      <p:pic>
        <p:nvPicPr>
          <p:cNvPr id="22535" name="Picture 7"/>
          <p:cNvPicPr>
            <a:picLocks noChangeAspect="1" noChangeArrowheads="1"/>
          </p:cNvPicPr>
          <p:nvPr/>
        </p:nvPicPr>
        <p:blipFill>
          <a:blip r:embed="rId6" cstate="print"/>
          <a:srcRect/>
          <a:stretch>
            <a:fillRect/>
          </a:stretch>
        </p:blipFill>
        <p:spPr bwMode="auto">
          <a:xfrm>
            <a:off x="861356" y="5003368"/>
            <a:ext cx="7272808" cy="1276350"/>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pPr>
              <a:defRPr/>
            </a:pPr>
            <a:fld id="{62FC49CA-8014-4DA2-ABEB-AF96863EC77D}" type="slidenum">
              <a:rPr lang="en-US" altLang="zh-CN" smtClean="0"/>
              <a:pPr>
                <a:defRPr/>
              </a:pPr>
              <a:t>60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2530"/>
                                        </p:tgtEl>
                                        <p:attrNameLst>
                                          <p:attrName>style.visibility</p:attrName>
                                        </p:attrNameLst>
                                      </p:cBhvr>
                                      <p:to>
                                        <p:strVal val="visible"/>
                                      </p:to>
                                    </p:set>
                                    <p:animEffect transition="in" filter="wipe(left)">
                                      <p:cBhvr>
                                        <p:cTn id="11" dur="500"/>
                                        <p:tgtEl>
                                          <p:spTgt spid="225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2535"/>
                                        </p:tgtEl>
                                        <p:attrNameLst>
                                          <p:attrName>style.visibility</p:attrName>
                                        </p:attrNameLst>
                                      </p:cBhvr>
                                      <p:to>
                                        <p:strVal val="visible"/>
                                      </p:to>
                                    </p:set>
                                    <p:animEffect transition="in" filter="wipe(left)">
                                      <p:cBhvr>
                                        <p:cTn id="20" dur="5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body" idx="1"/>
          </p:nvPr>
        </p:nvSpPr>
        <p:spPr>
          <a:xfrm>
            <a:off x="685800" y="1196975"/>
            <a:ext cx="7772400" cy="4899025"/>
          </a:xfrm>
        </p:spPr>
        <p:txBody>
          <a:bodyPr/>
          <a:lstStyle/>
          <a:p>
            <a:pPr algn="just" eaLnBrk="1" hangingPunct="1">
              <a:lnSpc>
                <a:spcPct val="150000"/>
              </a:lnSpc>
              <a:buFontTx/>
              <a:buNone/>
            </a:pPr>
            <a:r>
              <a:rPr lang="zh-CN" altLang="en-US" sz="2800" dirty="0" smtClean="0">
                <a:solidFill>
                  <a:srgbClr val="000000"/>
                </a:solidFill>
              </a:rPr>
              <a:t>（１）选择加权算术平均法还是调和平均法，应该根据基本公式和已知资料而定。</a:t>
            </a:r>
          </a:p>
          <a:p>
            <a:pPr algn="just" eaLnBrk="1" hangingPunct="1">
              <a:lnSpc>
                <a:spcPct val="150000"/>
              </a:lnSpc>
              <a:buFontTx/>
              <a:buNone/>
            </a:pPr>
            <a:r>
              <a:rPr lang="zh-CN" altLang="en-US" sz="2800" dirty="0" smtClean="0">
                <a:solidFill>
                  <a:srgbClr val="000000"/>
                </a:solidFill>
              </a:rPr>
              <a:t>（２）计算相对数的算术平均数必须符合相对数本身公式</a:t>
            </a:r>
          </a:p>
          <a:p>
            <a:pPr lvl="1" algn="just" eaLnBrk="1" hangingPunct="1">
              <a:lnSpc>
                <a:spcPct val="150000"/>
              </a:lnSpc>
            </a:pPr>
            <a:r>
              <a:rPr lang="zh-CN" altLang="en-US" dirty="0" smtClean="0">
                <a:solidFill>
                  <a:srgbClr val="006600"/>
                </a:solidFill>
              </a:rPr>
              <a:t> 各组相对数的平均</a:t>
            </a:r>
            <a:r>
              <a:rPr lang="en-US" altLang="zh-CN" dirty="0" smtClean="0">
                <a:solidFill>
                  <a:srgbClr val="006600"/>
                </a:solidFill>
              </a:rPr>
              <a:t>=</a:t>
            </a:r>
            <a:r>
              <a:rPr lang="zh-CN" altLang="en-US" dirty="0" smtClean="0">
                <a:solidFill>
                  <a:srgbClr val="006600"/>
                </a:solidFill>
              </a:rPr>
              <a:t>总体的相对数</a:t>
            </a:r>
          </a:p>
          <a:p>
            <a:pPr lvl="1" algn="just" eaLnBrk="1" hangingPunct="1">
              <a:lnSpc>
                <a:spcPct val="150000"/>
              </a:lnSpc>
            </a:pPr>
            <a:r>
              <a:rPr lang="zh-CN" altLang="en-US" dirty="0" smtClean="0"/>
              <a:t> </a:t>
            </a:r>
            <a:r>
              <a:rPr lang="zh-CN" altLang="en-US" dirty="0" smtClean="0">
                <a:solidFill>
                  <a:srgbClr val="006600"/>
                </a:solidFill>
              </a:rPr>
              <a:t>将分子视为总体标志总量，分母视为总体单位总量</a:t>
            </a:r>
          </a:p>
        </p:txBody>
      </p:sp>
      <p:sp>
        <p:nvSpPr>
          <p:cNvPr id="109572" name="Rectangle 3"/>
          <p:cNvSpPr>
            <a:spLocks noGrp="1" noChangeArrowheads="1"/>
          </p:cNvSpPr>
          <p:nvPr>
            <p:ph type="title"/>
          </p:nvPr>
        </p:nvSpPr>
        <p:spPr/>
        <p:txBody>
          <a:bodyPr/>
          <a:lstStyle/>
          <a:p>
            <a:pPr eaLnBrk="1" hangingPunct="1"/>
            <a:r>
              <a:rPr lang="zh-CN" altLang="en-US" dirty="0" smtClean="0"/>
              <a:t>小结</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61</a:t>
            </a:fld>
            <a:endParaRPr lang="en-US" altLang="zh-CN" dirty="0"/>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p:nvPr>
        </p:nvSpPr>
        <p:spPr>
          <a:xfrm>
            <a:off x="468313" y="476250"/>
            <a:ext cx="8382000" cy="990600"/>
          </a:xfrm>
        </p:spPr>
        <p:txBody>
          <a:bodyPr/>
          <a:lstStyle/>
          <a:p>
            <a:pPr eaLnBrk="1" hangingPunct="1"/>
            <a:r>
              <a:rPr lang="zh-CN" altLang="en-US" sz="3600" smtClean="0">
                <a:solidFill>
                  <a:srgbClr val="1313FF"/>
                </a:solidFill>
              </a:rPr>
              <a:t>（</a:t>
            </a:r>
            <a:r>
              <a:rPr lang="en-US" altLang="zh-CN" sz="3600" smtClean="0">
                <a:solidFill>
                  <a:srgbClr val="1313FF"/>
                </a:solidFill>
              </a:rPr>
              <a:t>4</a:t>
            </a:r>
            <a:r>
              <a:rPr lang="zh-CN" altLang="en-US" sz="3600" smtClean="0">
                <a:solidFill>
                  <a:srgbClr val="1313FF"/>
                </a:solidFill>
              </a:rPr>
              <a:t>）</a:t>
            </a:r>
            <a:r>
              <a:rPr lang="zh-CN" altLang="en-US" sz="4000" smtClean="0">
                <a:solidFill>
                  <a:srgbClr val="1313FF"/>
                </a:solidFill>
              </a:rPr>
              <a:t>算术平均数的特点和数学性质</a:t>
            </a:r>
          </a:p>
        </p:txBody>
      </p:sp>
      <p:sp>
        <p:nvSpPr>
          <p:cNvPr id="110596" name="Rectangle 3"/>
          <p:cNvSpPr>
            <a:spLocks noGrp="1" noChangeArrowheads="1"/>
          </p:cNvSpPr>
          <p:nvPr>
            <p:ph type="body" idx="1"/>
          </p:nvPr>
        </p:nvSpPr>
        <p:spPr>
          <a:xfrm>
            <a:off x="468313" y="1773238"/>
            <a:ext cx="7920037" cy="4392612"/>
          </a:xfrm>
        </p:spPr>
        <p:txBody>
          <a:bodyPr/>
          <a:lstStyle/>
          <a:p>
            <a:pPr algn="just" eaLnBrk="1" hangingPunct="1">
              <a:lnSpc>
                <a:spcPct val="130000"/>
              </a:lnSpc>
            </a:pPr>
            <a:r>
              <a:rPr lang="zh-CN" altLang="en-US" sz="3600" smtClean="0">
                <a:solidFill>
                  <a:srgbClr val="3333FF"/>
                </a:solidFill>
              </a:rPr>
              <a:t>特点：</a:t>
            </a:r>
          </a:p>
          <a:p>
            <a:pPr lvl="1" algn="just" eaLnBrk="1" hangingPunct="1">
              <a:lnSpc>
                <a:spcPct val="130000"/>
              </a:lnSpc>
            </a:pPr>
            <a:r>
              <a:rPr lang="zh-CN" altLang="en-US" sz="3200" b="0" smtClean="0">
                <a:solidFill>
                  <a:srgbClr val="006600"/>
                </a:solidFill>
              </a:rPr>
              <a:t>  </a:t>
            </a:r>
            <a:r>
              <a:rPr lang="zh-CN" altLang="en-US" sz="3200" smtClean="0">
                <a:solidFill>
                  <a:schemeClr val="tx1"/>
                </a:solidFill>
              </a:rPr>
              <a:t>算术平均数受极端变量值的影响</a:t>
            </a:r>
          </a:p>
          <a:p>
            <a:pPr lvl="2" algn="just" eaLnBrk="1" hangingPunct="1">
              <a:lnSpc>
                <a:spcPct val="130000"/>
              </a:lnSpc>
            </a:pPr>
            <a:r>
              <a:rPr lang="zh-CN" altLang="en-US" smtClean="0">
                <a:solidFill>
                  <a:schemeClr val="tx1"/>
                </a:solidFill>
              </a:rPr>
              <a:t>实际工作中为了尽可能避免极端值影响，常常计算</a:t>
            </a:r>
            <a:r>
              <a:rPr lang="zh-CN" altLang="en-US" sz="3200" smtClean="0">
                <a:solidFill>
                  <a:srgbClr val="1313FF"/>
                </a:solidFill>
              </a:rPr>
              <a:t>切尾平均数</a:t>
            </a:r>
            <a:r>
              <a:rPr lang="en-US" altLang="zh-CN" sz="2800" smtClean="0">
                <a:latin typeface="Times New Roman" pitchFamily="18" charset="0"/>
              </a:rPr>
              <a:t>——</a:t>
            </a:r>
            <a:r>
              <a:rPr lang="zh-CN" altLang="en-US" sz="2800" smtClean="0"/>
              <a:t>去掉数据大小两端的若干数值后计算中间数据的平均数。</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62</a:t>
            </a:fld>
            <a:endParaRPr lang="en-US" altLang="zh-CN" dirty="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Rectangle 2"/>
          <p:cNvSpPr>
            <a:spLocks noGrp="1" noChangeArrowheads="1"/>
          </p:cNvSpPr>
          <p:nvPr>
            <p:ph type="body" idx="1"/>
          </p:nvPr>
        </p:nvSpPr>
        <p:spPr>
          <a:xfrm>
            <a:off x="0" y="0"/>
            <a:ext cx="8839200" cy="533400"/>
          </a:xfrm>
          <a:noFill/>
        </p:spPr>
        <p:txBody>
          <a:bodyPr/>
          <a:lstStyle/>
          <a:p>
            <a:pPr algn="just" eaLnBrk="1" hangingPunct="1">
              <a:lnSpc>
                <a:spcPct val="90000"/>
              </a:lnSpc>
              <a:buFontTx/>
              <a:buNone/>
            </a:pPr>
            <a:r>
              <a:rPr lang="en-US" altLang="zh-CN" smtClean="0">
                <a:solidFill>
                  <a:srgbClr val="006600"/>
                </a:solidFill>
              </a:rPr>
              <a:t>       </a:t>
            </a:r>
            <a:endParaRPr lang="en-US" altLang="zh-CN" b="0" smtClean="0">
              <a:solidFill>
                <a:srgbClr val="006600"/>
              </a:solidFill>
            </a:endParaRPr>
          </a:p>
        </p:txBody>
      </p:sp>
      <p:sp>
        <p:nvSpPr>
          <p:cNvPr id="23558" name="Rectangle 3"/>
          <p:cNvSpPr>
            <a:spLocks noChangeArrowheads="1"/>
          </p:cNvSpPr>
          <p:nvPr/>
        </p:nvSpPr>
        <p:spPr bwMode="auto">
          <a:xfrm>
            <a:off x="971600" y="1844675"/>
            <a:ext cx="7561213" cy="1295400"/>
          </a:xfrm>
          <a:prstGeom prst="rect">
            <a:avLst/>
          </a:prstGeom>
          <a:noFill/>
          <a:ln w="9525">
            <a:noFill/>
            <a:miter lim="800000"/>
            <a:headEnd/>
            <a:tailEnd/>
          </a:ln>
        </p:spPr>
        <p:txBody>
          <a:bodyPr/>
          <a:lstStyle/>
          <a:p>
            <a:pPr algn="just">
              <a:lnSpc>
                <a:spcPct val="90000"/>
              </a:lnSpc>
              <a:spcBef>
                <a:spcPct val="20000"/>
              </a:spcBef>
              <a:buSzPct val="90000"/>
            </a:pPr>
            <a:r>
              <a:rPr lang="en-US" altLang="zh-CN" sz="3200" b="1" dirty="0" smtClean="0">
                <a:solidFill>
                  <a:srgbClr val="1313FF"/>
                </a:solidFill>
                <a:latin typeface="Tahoma" pitchFamily="34" charset="0"/>
                <a:ea typeface="宋体" pitchFamily="2" charset="-122"/>
              </a:rPr>
              <a:t>① </a:t>
            </a:r>
            <a:r>
              <a:rPr lang="zh-CN" altLang="en-US" sz="3200" b="1" dirty="0" smtClean="0">
                <a:solidFill>
                  <a:srgbClr val="1313FF"/>
                </a:solidFill>
                <a:latin typeface="Tahoma" pitchFamily="34" charset="0"/>
                <a:ea typeface="宋体" pitchFamily="2" charset="-122"/>
              </a:rPr>
              <a:t>算术平均数与变量值个数的乘积等于</a:t>
            </a:r>
            <a:r>
              <a:rPr lang="zh-CN" altLang="en-US" sz="3200" b="1" dirty="0">
                <a:solidFill>
                  <a:srgbClr val="1313FF"/>
                </a:solidFill>
                <a:latin typeface="Tahoma" pitchFamily="34" charset="0"/>
                <a:ea typeface="宋体" pitchFamily="2" charset="-122"/>
              </a:rPr>
              <a:t>标志</a:t>
            </a:r>
            <a:r>
              <a:rPr lang="zh-CN" altLang="en-US" sz="3200" b="1" dirty="0" smtClean="0">
                <a:solidFill>
                  <a:srgbClr val="1313FF"/>
                </a:solidFill>
                <a:latin typeface="Tahoma" pitchFamily="34" charset="0"/>
                <a:ea typeface="宋体" pitchFamily="2" charset="-122"/>
              </a:rPr>
              <a:t>总量</a:t>
            </a:r>
            <a:r>
              <a:rPr lang="zh-CN" altLang="en-US" sz="3200" b="1" dirty="0">
                <a:solidFill>
                  <a:srgbClr val="1313FF"/>
                </a:solidFill>
                <a:latin typeface="Tahoma" pitchFamily="34" charset="0"/>
                <a:ea typeface="宋体" pitchFamily="2" charset="-122"/>
              </a:rPr>
              <a:t>（</a:t>
            </a:r>
            <a:r>
              <a:rPr lang="zh-CN" altLang="en-US" sz="3200" b="1" dirty="0" smtClean="0">
                <a:solidFill>
                  <a:srgbClr val="1313FF"/>
                </a:solidFill>
                <a:latin typeface="Tahoma" pitchFamily="34" charset="0"/>
                <a:ea typeface="宋体" pitchFamily="2" charset="-122"/>
              </a:rPr>
              <a:t>所有变量值的总和）</a:t>
            </a:r>
            <a:endParaRPr lang="zh-CN" altLang="en-US" sz="3200" b="1" dirty="0">
              <a:solidFill>
                <a:srgbClr val="1313FF"/>
              </a:solidFill>
              <a:latin typeface="Tahoma" pitchFamily="34" charset="0"/>
              <a:ea typeface="宋体" pitchFamily="2" charset="-122"/>
            </a:endParaRPr>
          </a:p>
        </p:txBody>
      </p:sp>
      <p:sp>
        <p:nvSpPr>
          <p:cNvPr id="23559" name="Rectangle 9"/>
          <p:cNvSpPr>
            <a:spLocks noGrp="1" noChangeArrowheads="1"/>
          </p:cNvSpPr>
          <p:nvPr>
            <p:ph type="title"/>
          </p:nvPr>
        </p:nvSpPr>
        <p:spPr>
          <a:xfrm>
            <a:off x="755650" y="260350"/>
            <a:ext cx="7772400" cy="990600"/>
          </a:xfrm>
        </p:spPr>
        <p:txBody>
          <a:bodyPr/>
          <a:lstStyle/>
          <a:p>
            <a:pPr eaLnBrk="1" hangingPunct="1"/>
            <a:r>
              <a:rPr lang="en-US" altLang="zh-CN" sz="4000" smtClean="0">
                <a:solidFill>
                  <a:srgbClr val="1313FF"/>
                </a:solidFill>
              </a:rPr>
              <a:t>(4)  </a:t>
            </a:r>
            <a:r>
              <a:rPr lang="zh-CN" altLang="en-US" sz="4000" smtClean="0">
                <a:solidFill>
                  <a:srgbClr val="1313FF"/>
                </a:solidFill>
              </a:rPr>
              <a:t>算术平均数的数学性质</a:t>
            </a:r>
            <a:r>
              <a:rPr lang="en-US" altLang="zh-CN" sz="3200" b="0" smtClean="0">
                <a:solidFill>
                  <a:srgbClr val="1313FF"/>
                </a:solidFill>
              </a:rPr>
              <a:t>(1)</a:t>
            </a:r>
          </a:p>
        </p:txBody>
      </p:sp>
      <p:sp>
        <p:nvSpPr>
          <p:cNvPr id="392202" name="Rectangle 10"/>
          <p:cNvSpPr>
            <a:spLocks noChangeArrowheads="1"/>
          </p:cNvSpPr>
          <p:nvPr/>
        </p:nvSpPr>
        <p:spPr bwMode="auto">
          <a:xfrm>
            <a:off x="1005446" y="4784456"/>
            <a:ext cx="7272808" cy="2016125"/>
          </a:xfrm>
          <a:prstGeom prst="rect">
            <a:avLst/>
          </a:prstGeom>
          <a:noFill/>
          <a:ln w="9525">
            <a:noFill/>
            <a:miter lim="800000"/>
            <a:headEnd/>
            <a:tailEnd/>
          </a:ln>
        </p:spPr>
        <p:txBody>
          <a:bodyPr/>
          <a:lstStyle/>
          <a:p>
            <a:pPr marL="342900" indent="-342900" algn="just">
              <a:lnSpc>
                <a:spcPct val="90000"/>
              </a:lnSpc>
              <a:spcBef>
                <a:spcPct val="20000"/>
              </a:spcBef>
              <a:buSzPct val="90000"/>
            </a:pPr>
            <a:r>
              <a:rPr lang="zh-CN" altLang="en-US" sz="3200" b="1" dirty="0"/>
              <a:t>这</a:t>
            </a:r>
            <a:r>
              <a:rPr lang="zh-CN" altLang="en-US" sz="3200" b="1" dirty="0" smtClean="0"/>
              <a:t>说明：可以利用算术平均数推算相应的标志总量。</a:t>
            </a:r>
            <a:r>
              <a:rPr lang="zh-CN" altLang="en-US" sz="3200" b="1" dirty="0" smtClean="0">
                <a:solidFill>
                  <a:srgbClr val="006600"/>
                </a:solidFill>
                <a:latin typeface="Tahoma" pitchFamily="34" charset="0"/>
                <a:ea typeface="宋体" pitchFamily="2" charset="-122"/>
              </a:rPr>
              <a:t>  </a:t>
            </a:r>
            <a:endParaRPr lang="zh-CN" altLang="en-US" sz="3200" b="1" dirty="0">
              <a:solidFill>
                <a:srgbClr val="006600"/>
              </a:solidFill>
              <a:latin typeface="Tahoma" pitchFamily="34" charset="0"/>
              <a:ea typeface="宋体" pitchFamily="2" charset="-122"/>
            </a:endParaRP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63</a:t>
            </a:fld>
            <a:endParaRPr lang="en-US" altLang="zh-CN" dirty="0"/>
          </a:p>
        </p:txBody>
      </p:sp>
      <mc:AlternateContent xmlns:mc="http://schemas.openxmlformats.org/markup-compatibility/2006" xmlns:a14="http://schemas.microsoft.com/office/drawing/2010/main">
        <mc:Choice Requires="a14">
          <p:sp>
            <p:nvSpPr>
              <p:cNvPr id="2" name="文本框 1"/>
              <p:cNvSpPr txBox="1"/>
              <p:nvPr/>
            </p:nvSpPr>
            <p:spPr>
              <a:xfrm>
                <a:off x="2051720" y="3145690"/>
                <a:ext cx="1859868"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i="1">
                              <a:latin typeface="Cambria Math" panose="02040503050406030204" pitchFamily="18" charset="0"/>
                            </a:rPr>
                            <m:t>x</m:t>
                          </m:r>
                        </m:e>
                      </m:acc>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m:t>
                      </m:r>
                      <m:nary>
                        <m:naryPr>
                          <m:chr m:val="∑"/>
                          <m:ctrlPr>
                            <a:rPr lang="en-US" altLang="zh-CN" sz="2800" b="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𝑛</m:t>
                          </m:r>
                        </m:sup>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e>
                      </m:nary>
                    </m:oMath>
                  </m:oMathPara>
                </a14:m>
                <a:endParaRPr lang="zh-CN" altLang="en-US" sz="2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2051720" y="3145690"/>
                <a:ext cx="1859868" cy="117621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4641850" y="3145690"/>
                <a:ext cx="2520280" cy="11762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i="1">
                              <a:latin typeface="Cambria Math" panose="02040503050406030204" pitchFamily="18" charset="0"/>
                            </a:rPr>
                            <m:t>x</m:t>
                          </m:r>
                        </m:e>
                      </m:acc>
                      <m:r>
                        <a:rPr lang="en-US" altLang="zh-CN" sz="2800" b="0" i="1" smtClean="0">
                          <a:latin typeface="Cambria Math" panose="02040503050406030204" pitchFamily="18" charset="0"/>
                        </a:rPr>
                        <m:t> </m:t>
                      </m:r>
                      <m:r>
                        <m:rPr>
                          <m:sty m:val="p"/>
                        </m:rPr>
                        <a:rPr lang="el-GR" altLang="zh-CN" sz="2800" i="1" smtClean="0">
                          <a:latin typeface="Cambria Math" panose="02040503050406030204" pitchFamily="18" charset="0"/>
                        </a:rPr>
                        <m:t>Σ</m:t>
                      </m:r>
                      <m:r>
                        <a:rPr lang="en-US" altLang="zh-CN" sz="2800" b="0" i="1" smtClean="0">
                          <a:latin typeface="Cambria Math" panose="02040503050406030204" pitchFamily="18" charset="0"/>
                        </a:rPr>
                        <m:t>𝑓</m:t>
                      </m:r>
                      <m:r>
                        <a:rPr lang="en-US" altLang="zh-CN" sz="2800" b="0" i="1" smtClean="0">
                          <a:latin typeface="Cambria Math" panose="02040503050406030204" pitchFamily="18" charset="0"/>
                        </a:rPr>
                        <m:t>=</m:t>
                      </m:r>
                      <m:nary>
                        <m:naryPr>
                          <m:chr m:val="∑"/>
                          <m:ctrlPr>
                            <a:rPr lang="en-US" altLang="zh-CN" sz="2800" b="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𝑛</m:t>
                          </m:r>
                        </m:sup>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e>
                      </m:nary>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i="1">
                              <a:latin typeface="Cambria Math" panose="02040503050406030204" pitchFamily="18" charset="0"/>
                            </a:rPr>
                            <m:t>𝑖</m:t>
                          </m:r>
                        </m:sub>
                      </m:sSub>
                    </m:oMath>
                  </m:oMathPara>
                </a14:m>
                <a:endParaRPr lang="zh-CN" altLang="en-US" sz="28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4641850" y="3145690"/>
                <a:ext cx="2520280" cy="117621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75707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92202"/>
                                        </p:tgtEl>
                                        <p:attrNameLst>
                                          <p:attrName>style.visibility</p:attrName>
                                        </p:attrNameLst>
                                      </p:cBhvr>
                                      <p:to>
                                        <p:strVal val="visible"/>
                                      </p:to>
                                    </p:set>
                                    <p:animEffect transition="in" filter="blinds(horizontal)">
                                      <p:cBhvr>
                                        <p:cTn id="7" dur="1000"/>
                                        <p:tgtEl>
                                          <p:spTgt spid="392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02"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Rectangle 2"/>
          <p:cNvSpPr>
            <a:spLocks noGrp="1" noChangeArrowheads="1"/>
          </p:cNvSpPr>
          <p:nvPr>
            <p:ph type="body" idx="1"/>
          </p:nvPr>
        </p:nvSpPr>
        <p:spPr>
          <a:xfrm>
            <a:off x="0" y="0"/>
            <a:ext cx="8839200" cy="533400"/>
          </a:xfrm>
          <a:noFill/>
        </p:spPr>
        <p:txBody>
          <a:bodyPr/>
          <a:lstStyle/>
          <a:p>
            <a:pPr algn="just" eaLnBrk="1" hangingPunct="1">
              <a:lnSpc>
                <a:spcPct val="90000"/>
              </a:lnSpc>
              <a:buFontTx/>
              <a:buNone/>
            </a:pPr>
            <a:r>
              <a:rPr lang="en-US" altLang="zh-CN" smtClean="0">
                <a:solidFill>
                  <a:srgbClr val="006600"/>
                </a:solidFill>
              </a:rPr>
              <a:t>       </a:t>
            </a:r>
            <a:endParaRPr lang="en-US" altLang="zh-CN" b="0" smtClean="0">
              <a:solidFill>
                <a:srgbClr val="006600"/>
              </a:solidFill>
            </a:endParaRPr>
          </a:p>
        </p:txBody>
      </p:sp>
      <p:sp>
        <p:nvSpPr>
          <p:cNvPr id="23558" name="Rectangle 3"/>
          <p:cNvSpPr>
            <a:spLocks noChangeArrowheads="1"/>
          </p:cNvSpPr>
          <p:nvPr/>
        </p:nvSpPr>
        <p:spPr bwMode="auto">
          <a:xfrm>
            <a:off x="323850" y="1844675"/>
            <a:ext cx="8208963" cy="1295400"/>
          </a:xfrm>
          <a:prstGeom prst="rect">
            <a:avLst/>
          </a:prstGeom>
          <a:noFill/>
          <a:ln w="9525">
            <a:noFill/>
            <a:miter lim="800000"/>
            <a:headEnd/>
            <a:tailEnd/>
          </a:ln>
        </p:spPr>
        <p:txBody>
          <a:bodyPr/>
          <a:lstStyle/>
          <a:p>
            <a:pPr marL="342900" indent="-342900" algn="just">
              <a:lnSpc>
                <a:spcPct val="90000"/>
              </a:lnSpc>
              <a:spcBef>
                <a:spcPct val="20000"/>
              </a:spcBef>
              <a:buSzPct val="90000"/>
              <a:buFontTx/>
              <a:buChar char="•"/>
            </a:pPr>
            <a:r>
              <a:rPr lang="en-US" altLang="zh-CN" sz="3200" b="1" dirty="0">
                <a:solidFill>
                  <a:srgbClr val="1313FF"/>
                </a:solidFill>
                <a:latin typeface="Tahoma" pitchFamily="34" charset="0"/>
                <a:ea typeface="宋体" pitchFamily="2" charset="-122"/>
              </a:rPr>
              <a:t>②</a:t>
            </a:r>
            <a:r>
              <a:rPr lang="zh-CN" altLang="en-US" sz="3200" b="1" dirty="0" smtClean="0">
                <a:solidFill>
                  <a:srgbClr val="1313FF"/>
                </a:solidFill>
                <a:latin typeface="Tahoma" pitchFamily="34" charset="0"/>
                <a:ea typeface="宋体" pitchFamily="2" charset="-122"/>
              </a:rPr>
              <a:t>变量</a:t>
            </a:r>
            <a:r>
              <a:rPr lang="zh-CN" altLang="en-US" sz="3200" b="1" dirty="0">
                <a:solidFill>
                  <a:srgbClr val="1313FF"/>
                </a:solidFill>
                <a:latin typeface="Tahoma" pitchFamily="34" charset="0"/>
                <a:ea typeface="宋体" pitchFamily="2" charset="-122"/>
              </a:rPr>
              <a:t>值与算术平均数的离差和为零</a:t>
            </a:r>
          </a:p>
        </p:txBody>
      </p:sp>
      <p:graphicFrame>
        <p:nvGraphicFramePr>
          <p:cNvPr id="23554" name="Object 4"/>
          <p:cNvGraphicFramePr>
            <a:graphicFrameLocks noChangeAspect="1"/>
          </p:cNvGraphicFramePr>
          <p:nvPr/>
        </p:nvGraphicFramePr>
        <p:xfrm>
          <a:off x="1331913" y="2781300"/>
          <a:ext cx="2303462" cy="647700"/>
        </p:xfrm>
        <a:graphic>
          <a:graphicData uri="http://schemas.openxmlformats.org/presentationml/2006/ole">
            <mc:AlternateContent xmlns:mc="http://schemas.openxmlformats.org/markup-compatibility/2006">
              <mc:Choice xmlns:v="urn:schemas-microsoft-com:vml" Requires="v">
                <p:oleObj spid="_x0000_s23912" name="Equation" r:id="rId3" imgW="1714320" imgH="419040" progId="Equation.3">
                  <p:embed/>
                </p:oleObj>
              </mc:Choice>
              <mc:Fallback>
                <p:oleObj name="Equation" r:id="rId3" imgW="1714320" imgH="419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781300"/>
                        <a:ext cx="2303462"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5" name="Object 5"/>
          <p:cNvGraphicFramePr>
            <a:graphicFrameLocks noChangeAspect="1"/>
          </p:cNvGraphicFramePr>
          <p:nvPr/>
        </p:nvGraphicFramePr>
        <p:xfrm>
          <a:off x="4572000" y="2709863"/>
          <a:ext cx="2943225" cy="719137"/>
        </p:xfrm>
        <a:graphic>
          <a:graphicData uri="http://schemas.openxmlformats.org/presentationml/2006/ole">
            <mc:AlternateContent xmlns:mc="http://schemas.openxmlformats.org/markup-compatibility/2006">
              <mc:Choice xmlns:v="urn:schemas-microsoft-com:vml" Requires="v">
                <p:oleObj spid="_x0000_s23913" name="Equation" r:id="rId5" imgW="1981080" imgH="419040" progId="Equation.3">
                  <p:embed/>
                </p:oleObj>
              </mc:Choice>
              <mc:Fallback>
                <p:oleObj name="Equation" r:id="rId5" imgW="1981080" imgH="4190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2709863"/>
                        <a:ext cx="2943225"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9" name="Rectangle 9"/>
          <p:cNvSpPr>
            <a:spLocks noGrp="1" noChangeArrowheads="1"/>
          </p:cNvSpPr>
          <p:nvPr>
            <p:ph type="title"/>
          </p:nvPr>
        </p:nvSpPr>
        <p:spPr>
          <a:xfrm>
            <a:off x="755650" y="260350"/>
            <a:ext cx="7772400" cy="990600"/>
          </a:xfrm>
        </p:spPr>
        <p:txBody>
          <a:bodyPr/>
          <a:lstStyle/>
          <a:p>
            <a:pPr eaLnBrk="1" hangingPunct="1"/>
            <a:r>
              <a:rPr lang="en-US" altLang="zh-CN" sz="4000" dirty="0" smtClean="0">
                <a:solidFill>
                  <a:srgbClr val="1313FF"/>
                </a:solidFill>
              </a:rPr>
              <a:t>(4)  </a:t>
            </a:r>
            <a:r>
              <a:rPr lang="zh-CN" altLang="en-US" sz="4000" dirty="0" smtClean="0">
                <a:solidFill>
                  <a:srgbClr val="1313FF"/>
                </a:solidFill>
              </a:rPr>
              <a:t>算术平均数的数学性质</a:t>
            </a:r>
            <a:r>
              <a:rPr lang="en-US" altLang="zh-CN" sz="3200" b="0" dirty="0" smtClean="0">
                <a:solidFill>
                  <a:srgbClr val="1313FF"/>
                </a:solidFill>
              </a:rPr>
              <a:t>(2)</a:t>
            </a:r>
          </a:p>
        </p:txBody>
      </p:sp>
      <p:sp>
        <p:nvSpPr>
          <p:cNvPr id="392202" name="Rectangle 10"/>
          <p:cNvSpPr>
            <a:spLocks noChangeArrowheads="1"/>
          </p:cNvSpPr>
          <p:nvPr/>
        </p:nvSpPr>
        <p:spPr bwMode="auto">
          <a:xfrm>
            <a:off x="785362" y="4165691"/>
            <a:ext cx="7357672" cy="2016125"/>
          </a:xfrm>
          <a:prstGeom prst="rect">
            <a:avLst/>
          </a:prstGeom>
          <a:noFill/>
          <a:ln w="9525">
            <a:noFill/>
            <a:miter lim="800000"/>
            <a:headEnd/>
            <a:tailEnd/>
          </a:ln>
        </p:spPr>
        <p:txBody>
          <a:bodyPr/>
          <a:lstStyle/>
          <a:p>
            <a:pPr marL="342900" indent="-342900" algn="just">
              <a:lnSpc>
                <a:spcPct val="90000"/>
              </a:lnSpc>
              <a:spcBef>
                <a:spcPct val="20000"/>
              </a:spcBef>
              <a:buSzPct val="90000"/>
            </a:pPr>
            <a:r>
              <a:rPr lang="zh-CN" altLang="en-US" sz="3200" b="1" dirty="0"/>
              <a:t>这说明</a:t>
            </a:r>
            <a:r>
              <a:rPr lang="en-US" altLang="zh-CN" sz="3200" b="1" dirty="0" smtClean="0"/>
              <a:t>:</a:t>
            </a:r>
            <a:r>
              <a:rPr lang="zh-CN" altLang="en-US" sz="3200" b="1" dirty="0" smtClean="0"/>
              <a:t>算术平均数</a:t>
            </a:r>
            <a:r>
              <a:rPr lang="zh-CN" altLang="en-US" sz="3200" b="1" dirty="0"/>
              <a:t>实际上</a:t>
            </a:r>
            <a:r>
              <a:rPr lang="zh-CN" altLang="en-US" sz="3200" b="1" dirty="0" smtClean="0"/>
              <a:t>使得变量</a:t>
            </a:r>
            <a:r>
              <a:rPr lang="zh-CN" altLang="en-US" sz="3200" b="1" dirty="0"/>
              <a:t>值的正负离差相互抵消，从而把总体各单位变量值的差异抽象掉了，所以</a:t>
            </a:r>
            <a:r>
              <a:rPr lang="zh-CN" altLang="en-US" sz="3200" b="1" dirty="0" smtClean="0"/>
              <a:t>它是一组数据的重心，可以代表一般</a:t>
            </a:r>
            <a:r>
              <a:rPr lang="zh-CN" altLang="en-US" sz="3200" b="1" dirty="0"/>
              <a:t>水平。</a:t>
            </a:r>
            <a:r>
              <a:rPr lang="zh-CN" altLang="en-US" sz="3200" b="1" dirty="0">
                <a:solidFill>
                  <a:srgbClr val="006600"/>
                </a:solidFill>
                <a:latin typeface="Tahoma" pitchFamily="34" charset="0"/>
                <a:ea typeface="宋体" pitchFamily="2" charset="-122"/>
              </a:rPr>
              <a:t>  </a:t>
            </a: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64</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92202"/>
                                        </p:tgtEl>
                                        <p:attrNameLst>
                                          <p:attrName>style.visibility</p:attrName>
                                        </p:attrNameLst>
                                      </p:cBhvr>
                                      <p:to>
                                        <p:strVal val="visible"/>
                                      </p:to>
                                    </p:set>
                                    <p:animEffect transition="in" filter="blinds(horizontal)">
                                      <p:cBhvr>
                                        <p:cTn id="7" dur="1250"/>
                                        <p:tgtEl>
                                          <p:spTgt spid="392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02" grpId="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1" name="Rectangle 2"/>
          <p:cNvSpPr>
            <a:spLocks noGrp="1" noChangeArrowheads="1"/>
          </p:cNvSpPr>
          <p:nvPr>
            <p:ph type="body" idx="1"/>
          </p:nvPr>
        </p:nvSpPr>
        <p:spPr>
          <a:xfrm>
            <a:off x="0" y="0"/>
            <a:ext cx="8839200" cy="533400"/>
          </a:xfrm>
          <a:noFill/>
        </p:spPr>
        <p:txBody>
          <a:bodyPr/>
          <a:lstStyle/>
          <a:p>
            <a:pPr algn="just" eaLnBrk="1" hangingPunct="1">
              <a:lnSpc>
                <a:spcPct val="90000"/>
              </a:lnSpc>
              <a:buFontTx/>
              <a:buNone/>
            </a:pPr>
            <a:r>
              <a:rPr lang="en-US" altLang="zh-CN" smtClean="0">
                <a:solidFill>
                  <a:srgbClr val="006600"/>
                </a:solidFill>
              </a:rPr>
              <a:t>       </a:t>
            </a:r>
            <a:endParaRPr lang="en-US" altLang="zh-CN" b="0" smtClean="0">
              <a:solidFill>
                <a:srgbClr val="006600"/>
              </a:solidFill>
            </a:endParaRPr>
          </a:p>
        </p:txBody>
      </p:sp>
      <p:graphicFrame>
        <p:nvGraphicFramePr>
          <p:cNvPr id="24578" name="Object 6"/>
          <p:cNvGraphicFramePr>
            <a:graphicFrameLocks noChangeAspect="1"/>
          </p:cNvGraphicFramePr>
          <p:nvPr/>
        </p:nvGraphicFramePr>
        <p:xfrm>
          <a:off x="1763713" y="2349500"/>
          <a:ext cx="4392612" cy="936625"/>
        </p:xfrm>
        <a:graphic>
          <a:graphicData uri="http://schemas.openxmlformats.org/presentationml/2006/ole">
            <mc:AlternateContent xmlns:mc="http://schemas.openxmlformats.org/markup-compatibility/2006">
              <mc:Choice xmlns:v="urn:schemas-microsoft-com:vml" Requires="v">
                <p:oleObj spid="_x0000_s24936" name="Equation" r:id="rId3" imgW="3022560" imgH="520560" progId="Equation.3">
                  <p:embed/>
                </p:oleObj>
              </mc:Choice>
              <mc:Fallback>
                <p:oleObj name="Equation" r:id="rId3" imgW="3022560" imgH="52056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349500"/>
                        <a:ext cx="4392612"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7"/>
          <p:cNvGraphicFramePr>
            <a:graphicFrameLocks noChangeAspect="1"/>
          </p:cNvGraphicFramePr>
          <p:nvPr/>
        </p:nvGraphicFramePr>
        <p:xfrm>
          <a:off x="1476375" y="3429000"/>
          <a:ext cx="5400675" cy="1079500"/>
        </p:xfrm>
        <a:graphic>
          <a:graphicData uri="http://schemas.openxmlformats.org/presentationml/2006/ole">
            <mc:AlternateContent xmlns:mc="http://schemas.openxmlformats.org/markup-compatibility/2006">
              <mc:Choice xmlns:v="urn:schemas-microsoft-com:vml" Requires="v">
                <p:oleObj spid="_x0000_s24937" name="Equation" r:id="rId5" imgW="3504960" imgH="520560" progId="Equation.3">
                  <p:embed/>
                </p:oleObj>
              </mc:Choice>
              <mc:Fallback>
                <p:oleObj name="Equation" r:id="rId5" imgW="3504960" imgH="52056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3429000"/>
                        <a:ext cx="5400675"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2" name="Rectangle 8"/>
          <p:cNvSpPr>
            <a:spLocks noChangeArrowheads="1"/>
          </p:cNvSpPr>
          <p:nvPr/>
        </p:nvSpPr>
        <p:spPr bwMode="auto">
          <a:xfrm>
            <a:off x="828675" y="1482725"/>
            <a:ext cx="8064500" cy="535531"/>
          </a:xfrm>
          <a:prstGeom prst="rect">
            <a:avLst/>
          </a:prstGeom>
          <a:noFill/>
          <a:ln w="9525">
            <a:noFill/>
            <a:miter lim="800000"/>
            <a:headEnd/>
            <a:tailEnd/>
          </a:ln>
        </p:spPr>
        <p:txBody>
          <a:bodyPr>
            <a:spAutoFit/>
          </a:bodyPr>
          <a:lstStyle/>
          <a:p>
            <a:pPr>
              <a:lnSpc>
                <a:spcPct val="90000"/>
              </a:lnSpc>
              <a:spcBef>
                <a:spcPct val="20000"/>
              </a:spcBef>
              <a:buSzPct val="90000"/>
            </a:pPr>
            <a:r>
              <a:rPr lang="en-US" altLang="zh-CN" sz="3200" b="1" dirty="0" smtClean="0">
                <a:solidFill>
                  <a:srgbClr val="1313FF"/>
                </a:solidFill>
                <a:latin typeface="Tahoma" pitchFamily="34" charset="0"/>
                <a:ea typeface="宋体" pitchFamily="2" charset="-122"/>
              </a:rPr>
              <a:t>③</a:t>
            </a:r>
            <a:r>
              <a:rPr lang="zh-CN" altLang="en-US" sz="3200" b="1" dirty="0" smtClean="0">
                <a:solidFill>
                  <a:srgbClr val="1313FF"/>
                </a:solidFill>
                <a:latin typeface="Tahoma" pitchFamily="34" charset="0"/>
                <a:ea typeface="宋体" pitchFamily="2" charset="-122"/>
              </a:rPr>
              <a:t>变量</a:t>
            </a:r>
            <a:r>
              <a:rPr lang="zh-CN" altLang="en-US" sz="3200" b="1" dirty="0">
                <a:solidFill>
                  <a:srgbClr val="1313FF"/>
                </a:solidFill>
                <a:latin typeface="Tahoma" pitchFamily="34" charset="0"/>
                <a:ea typeface="宋体" pitchFamily="2" charset="-122"/>
              </a:rPr>
              <a:t>值与算术平均数的离差平方和最小</a:t>
            </a:r>
          </a:p>
        </p:txBody>
      </p:sp>
      <p:sp>
        <p:nvSpPr>
          <p:cNvPr id="24583" name="Rectangle 9"/>
          <p:cNvSpPr>
            <a:spLocks noGrp="1" noChangeArrowheads="1"/>
          </p:cNvSpPr>
          <p:nvPr>
            <p:ph type="title"/>
          </p:nvPr>
        </p:nvSpPr>
        <p:spPr>
          <a:xfrm>
            <a:off x="684213" y="0"/>
            <a:ext cx="7772400" cy="990600"/>
          </a:xfrm>
        </p:spPr>
        <p:txBody>
          <a:bodyPr/>
          <a:lstStyle/>
          <a:p>
            <a:pPr eaLnBrk="1" hangingPunct="1"/>
            <a:r>
              <a:rPr lang="en-US" altLang="zh-CN" sz="4000" dirty="0" smtClean="0">
                <a:solidFill>
                  <a:srgbClr val="1313FF"/>
                </a:solidFill>
              </a:rPr>
              <a:t>(4)  </a:t>
            </a:r>
            <a:r>
              <a:rPr lang="zh-CN" altLang="en-US" sz="4000" dirty="0" smtClean="0">
                <a:solidFill>
                  <a:srgbClr val="1313FF"/>
                </a:solidFill>
              </a:rPr>
              <a:t>算术平均数的数学性质</a:t>
            </a:r>
            <a:r>
              <a:rPr lang="en-US" altLang="zh-CN" sz="3200" b="0" dirty="0" smtClean="0">
                <a:solidFill>
                  <a:srgbClr val="1313FF"/>
                </a:solidFill>
              </a:rPr>
              <a:t>(3)</a:t>
            </a:r>
          </a:p>
        </p:txBody>
      </p:sp>
      <p:sp>
        <p:nvSpPr>
          <p:cNvPr id="544778" name="Rectangle 10"/>
          <p:cNvSpPr>
            <a:spLocks noChangeArrowheads="1"/>
          </p:cNvSpPr>
          <p:nvPr/>
        </p:nvSpPr>
        <p:spPr bwMode="auto">
          <a:xfrm>
            <a:off x="684213" y="5013325"/>
            <a:ext cx="7488237" cy="1187450"/>
          </a:xfrm>
          <a:prstGeom prst="rect">
            <a:avLst/>
          </a:prstGeom>
          <a:noFill/>
          <a:ln w="9525" algn="ctr">
            <a:noFill/>
            <a:miter lim="800000"/>
            <a:headEnd/>
            <a:tailEnd/>
          </a:ln>
        </p:spPr>
        <p:txBody>
          <a:bodyPr/>
          <a:lstStyle/>
          <a:p>
            <a:pPr marL="342900" indent="-342900" algn="just">
              <a:lnSpc>
                <a:spcPct val="90000"/>
              </a:lnSpc>
              <a:spcBef>
                <a:spcPct val="20000"/>
              </a:spcBef>
              <a:buSzPct val="90000"/>
            </a:pPr>
            <a:r>
              <a:rPr lang="en-US" altLang="zh-CN" sz="3200" b="1"/>
              <a:t> </a:t>
            </a:r>
            <a:r>
              <a:rPr lang="zh-CN" altLang="en-US" sz="3200" b="1"/>
              <a:t>这说明：平均数是集中趋势最好的代表值，若以算术平均数以外的任何数为中心，其离差平方和都更大</a:t>
            </a:r>
          </a:p>
        </p:txBody>
      </p:sp>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65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44778"/>
                                        </p:tgtEl>
                                        <p:attrNameLst>
                                          <p:attrName>style.visibility</p:attrName>
                                        </p:attrNameLst>
                                      </p:cBhvr>
                                      <p:to>
                                        <p:strVal val="visible"/>
                                      </p:to>
                                    </p:set>
                                    <p:animEffect transition="in" filter="blinds(horizontal)">
                                      <p:cBhvr>
                                        <p:cTn id="7" dur="1000"/>
                                        <p:tgtEl>
                                          <p:spTgt spid="54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8"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611188" y="404813"/>
            <a:ext cx="7772400" cy="990600"/>
          </a:xfrm>
        </p:spPr>
        <p:txBody>
          <a:bodyPr/>
          <a:lstStyle/>
          <a:p>
            <a:pPr eaLnBrk="1" hangingPunct="1"/>
            <a:r>
              <a:rPr lang="en-US" altLang="zh-CN" sz="4000" dirty="0" smtClean="0">
                <a:solidFill>
                  <a:srgbClr val="1313FF"/>
                </a:solidFill>
                <a:latin typeface="宋体" pitchFamily="2" charset="-122"/>
              </a:rPr>
              <a:t>2.</a:t>
            </a:r>
            <a:r>
              <a:rPr lang="zh-CN" altLang="en-US" sz="4000" dirty="0" smtClean="0">
                <a:solidFill>
                  <a:srgbClr val="1313FF"/>
                </a:solidFill>
                <a:latin typeface="宋体" pitchFamily="2" charset="-122"/>
              </a:rPr>
              <a:t>几何平均数</a:t>
            </a:r>
            <a:endParaRPr lang="zh-CN" altLang="en-US" sz="3200" dirty="0" smtClean="0">
              <a:solidFill>
                <a:srgbClr val="1313FF"/>
              </a:solidFill>
            </a:endParaRPr>
          </a:p>
        </p:txBody>
      </p:sp>
      <p:sp>
        <p:nvSpPr>
          <p:cNvPr id="25605" name="Rectangle 3"/>
          <p:cNvSpPr>
            <a:spLocks noGrp="1" noChangeArrowheads="1"/>
          </p:cNvSpPr>
          <p:nvPr>
            <p:ph type="body" sz="half" idx="1"/>
          </p:nvPr>
        </p:nvSpPr>
        <p:spPr/>
        <p:txBody>
          <a:bodyPr/>
          <a:lstStyle/>
          <a:p>
            <a:pPr eaLnBrk="1" hangingPunct="1">
              <a:buFontTx/>
              <a:buNone/>
            </a:pPr>
            <a:r>
              <a:rPr lang="en-US" altLang="zh-CN" dirty="0" smtClean="0">
                <a:solidFill>
                  <a:srgbClr val="006600"/>
                </a:solidFill>
              </a:rPr>
              <a:t>       </a:t>
            </a:r>
            <a:endParaRPr lang="en-US" altLang="zh-CN" b="0" dirty="0" smtClean="0">
              <a:solidFill>
                <a:srgbClr val="006600"/>
              </a:solidFill>
            </a:endParaRPr>
          </a:p>
        </p:txBody>
      </p:sp>
      <p:sp>
        <p:nvSpPr>
          <p:cNvPr id="25606" name="Rectangle 8"/>
          <p:cNvSpPr>
            <a:spLocks noChangeArrowheads="1"/>
          </p:cNvSpPr>
          <p:nvPr/>
        </p:nvSpPr>
        <p:spPr bwMode="auto">
          <a:xfrm>
            <a:off x="611188" y="3151820"/>
            <a:ext cx="8077200" cy="3465564"/>
          </a:xfrm>
          <a:prstGeom prst="rect">
            <a:avLst/>
          </a:prstGeom>
          <a:noFill/>
          <a:ln w="9525">
            <a:noFill/>
            <a:miter lim="800000"/>
            <a:headEnd/>
            <a:tailEnd/>
          </a:ln>
        </p:spPr>
        <p:txBody>
          <a:bodyPr>
            <a:spAutoFit/>
          </a:bodyPr>
          <a:lstStyle/>
          <a:p>
            <a:pPr algn="just">
              <a:lnSpc>
                <a:spcPct val="125000"/>
              </a:lnSpc>
              <a:spcBef>
                <a:spcPct val="30000"/>
              </a:spcBef>
              <a:tabLst>
                <a:tab pos="647700" algn="l"/>
              </a:tabLst>
            </a:pPr>
            <a:r>
              <a:rPr lang="en-US" altLang="zh-CN" sz="3200" b="1" dirty="0">
                <a:solidFill>
                  <a:srgbClr val="006600"/>
                </a:solidFill>
                <a:ea typeface="宋体" pitchFamily="2" charset="-122"/>
                <a:cs typeface="Times New Roman" pitchFamily="18" charset="0"/>
              </a:rPr>
              <a:t>   </a:t>
            </a:r>
            <a:r>
              <a:rPr lang="zh-CN" altLang="en-US" sz="3200" b="1" dirty="0">
                <a:ea typeface="宋体" pitchFamily="2" charset="-122"/>
                <a:cs typeface="Times New Roman" pitchFamily="18" charset="0"/>
              </a:rPr>
              <a:t>几何平均数通常用在</a:t>
            </a:r>
            <a:r>
              <a:rPr lang="zh-CN" altLang="en-US" sz="3200" b="1" dirty="0">
                <a:solidFill>
                  <a:srgbClr val="6565FF"/>
                </a:solidFill>
                <a:ea typeface="宋体" pitchFamily="2" charset="-122"/>
                <a:cs typeface="Times New Roman" pitchFamily="18" charset="0"/>
              </a:rPr>
              <a:t>总量等于各分量乘积</a:t>
            </a:r>
            <a:r>
              <a:rPr lang="zh-CN" altLang="en-US" sz="3200" b="1" dirty="0">
                <a:ea typeface="宋体" pitchFamily="2" charset="-122"/>
                <a:cs typeface="Times New Roman" pitchFamily="18" charset="0"/>
              </a:rPr>
              <a:t>的情形</a:t>
            </a:r>
            <a:r>
              <a:rPr lang="zh-CN" altLang="en-US" sz="3200" b="1" dirty="0">
                <a:solidFill>
                  <a:srgbClr val="006600"/>
                </a:solidFill>
                <a:ea typeface="宋体" pitchFamily="2" charset="-122"/>
                <a:cs typeface="Times New Roman" pitchFamily="18" charset="0"/>
              </a:rPr>
              <a:t>（各个数据的</a:t>
            </a:r>
            <a:r>
              <a:rPr lang="zh-CN" altLang="en-US" sz="3200" b="1" dirty="0" smtClean="0">
                <a:solidFill>
                  <a:srgbClr val="006600"/>
                </a:solidFill>
                <a:ea typeface="宋体" pitchFamily="2" charset="-122"/>
                <a:cs typeface="Times New Roman" pitchFamily="18" charset="0"/>
              </a:rPr>
              <a:t>乘积有意义且变量值中不存在</a:t>
            </a:r>
            <a:r>
              <a:rPr lang="en-US" altLang="zh-CN" sz="3200" b="1" dirty="0" smtClean="0">
                <a:solidFill>
                  <a:srgbClr val="006600"/>
                </a:solidFill>
                <a:ea typeface="宋体" pitchFamily="2" charset="-122"/>
                <a:cs typeface="Times New Roman" pitchFamily="18" charset="0"/>
              </a:rPr>
              <a:t>0</a:t>
            </a:r>
            <a:r>
              <a:rPr lang="zh-CN" altLang="en-US" sz="3200" b="1" dirty="0" smtClean="0">
                <a:solidFill>
                  <a:srgbClr val="006600"/>
                </a:solidFill>
                <a:ea typeface="宋体" pitchFamily="2" charset="-122"/>
                <a:cs typeface="Times New Roman" pitchFamily="18" charset="0"/>
              </a:rPr>
              <a:t>或负数</a:t>
            </a:r>
            <a:r>
              <a:rPr lang="zh-CN" altLang="en-US" sz="2800" b="1" dirty="0" smtClean="0">
                <a:solidFill>
                  <a:srgbClr val="006600"/>
                </a:solidFill>
                <a:ea typeface="宋体" pitchFamily="2" charset="-122"/>
                <a:cs typeface="Times New Roman" pitchFamily="18" charset="0"/>
              </a:rPr>
              <a:t>）</a:t>
            </a:r>
            <a:r>
              <a:rPr lang="zh-CN" altLang="en-US" sz="3200" b="1" dirty="0" smtClean="0">
                <a:solidFill>
                  <a:srgbClr val="006600"/>
                </a:solidFill>
                <a:ea typeface="宋体" pitchFamily="2" charset="-122"/>
                <a:cs typeface="Times New Roman" pitchFamily="18" charset="0"/>
              </a:rPr>
              <a:t> </a:t>
            </a:r>
            <a:r>
              <a:rPr lang="zh-CN" altLang="en-US" sz="3200" b="1" dirty="0">
                <a:ea typeface="宋体" pitchFamily="2" charset="-122"/>
                <a:cs typeface="Times New Roman" pitchFamily="18" charset="0"/>
              </a:rPr>
              <a:t>。</a:t>
            </a:r>
          </a:p>
          <a:p>
            <a:pPr marL="354013" lvl="2" indent="182563" algn="just">
              <a:lnSpc>
                <a:spcPct val="125000"/>
              </a:lnSpc>
              <a:spcBef>
                <a:spcPct val="30000"/>
              </a:spcBef>
              <a:buFontTx/>
              <a:buChar char="•"/>
              <a:tabLst>
                <a:tab pos="647700" algn="l"/>
              </a:tabLst>
            </a:pPr>
            <a:r>
              <a:rPr lang="zh-CN" altLang="en-US" sz="3200" b="1" dirty="0">
                <a:ea typeface="宋体" pitchFamily="2" charset="-122"/>
                <a:cs typeface="Times New Roman" pitchFamily="18" charset="0"/>
              </a:rPr>
              <a:t>比如，求平均</a:t>
            </a:r>
            <a:r>
              <a:rPr lang="zh-CN" altLang="en-US" sz="3200" b="1" dirty="0" smtClean="0">
                <a:ea typeface="宋体" pitchFamily="2" charset="-122"/>
                <a:cs typeface="Times New Roman" pitchFamily="18" charset="0"/>
              </a:rPr>
              <a:t>发展速度、某些</a:t>
            </a:r>
            <a:r>
              <a:rPr lang="zh-CN" altLang="en-US" sz="3200" b="1" dirty="0">
                <a:ea typeface="宋体" pitchFamily="2" charset="-122"/>
                <a:cs typeface="Times New Roman" pitchFamily="18" charset="0"/>
              </a:rPr>
              <a:t>平均</a:t>
            </a:r>
            <a:r>
              <a:rPr lang="zh-CN" altLang="en-US" sz="3200" b="1" dirty="0" smtClean="0">
                <a:ea typeface="宋体" pitchFamily="2" charset="-122"/>
                <a:cs typeface="Times New Roman" pitchFamily="18" charset="0"/>
              </a:rPr>
              <a:t>比率等</a:t>
            </a:r>
            <a:r>
              <a:rPr lang="zh-CN" altLang="en-US" sz="3200" b="1" dirty="0">
                <a:ea typeface="宋体" pitchFamily="2" charset="-122"/>
                <a:cs typeface="Times New Roman" pitchFamily="18" charset="0"/>
              </a:rPr>
              <a:t>。</a:t>
            </a:r>
          </a:p>
          <a:p>
            <a:pPr eaLnBrk="0" hangingPunct="0">
              <a:lnSpc>
                <a:spcPct val="125000"/>
              </a:lnSpc>
              <a:spcBef>
                <a:spcPct val="30000"/>
              </a:spcBef>
              <a:tabLst>
                <a:tab pos="647700" algn="l"/>
              </a:tabLst>
            </a:pPr>
            <a:endParaRPr lang="en-US" altLang="zh-CN" sz="3200" b="1" dirty="0">
              <a:solidFill>
                <a:srgbClr val="006600"/>
              </a:solidFill>
              <a:ea typeface="宋体" pitchFamily="2" charset="-122"/>
              <a:cs typeface="Times New Roman" pitchFamily="18" charset="0"/>
            </a:endParaRPr>
          </a:p>
        </p:txBody>
      </p:sp>
      <p:graphicFrame>
        <p:nvGraphicFramePr>
          <p:cNvPr id="25603" name="Object 6"/>
          <p:cNvGraphicFramePr>
            <a:graphicFrameLocks noChangeAspect="1"/>
          </p:cNvGraphicFramePr>
          <p:nvPr/>
        </p:nvGraphicFramePr>
        <p:xfrm>
          <a:off x="2268538" y="1779588"/>
          <a:ext cx="4391025" cy="928687"/>
        </p:xfrm>
        <a:graphic>
          <a:graphicData uri="http://schemas.openxmlformats.org/presentationml/2006/ole">
            <mc:AlternateContent xmlns:mc="http://schemas.openxmlformats.org/markup-compatibility/2006">
              <mc:Choice xmlns:v="urn:schemas-microsoft-com:vml" Requires="v">
                <p:oleObj spid="_x0000_s25781" name="公式" r:id="rId3" imgW="1168200" imgH="266400" progId="Equation.3">
                  <p:embed/>
                </p:oleObj>
              </mc:Choice>
              <mc:Fallback>
                <p:oleObj name="公式" r:id="rId3" imgW="1168200" imgH="2664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779588"/>
                        <a:ext cx="4391025"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7264DFEA-77E3-4439-B29D-F66FE6AC3C04}" type="slidenum">
              <a:rPr lang="en-US" altLang="zh-CN" smtClean="0"/>
              <a:pPr>
                <a:defRPr/>
              </a:pPr>
              <a:t>66</a:t>
            </a:fld>
            <a:endParaRPr lang="en-US" altLang="zh-CN" dirty="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p:cNvSpPr>
            <a:spLocks noChangeArrowheads="1"/>
          </p:cNvSpPr>
          <p:nvPr/>
        </p:nvSpPr>
        <p:spPr bwMode="auto">
          <a:xfrm>
            <a:off x="468313" y="1557338"/>
            <a:ext cx="7989887" cy="2376487"/>
          </a:xfrm>
          <a:prstGeom prst="rect">
            <a:avLst/>
          </a:prstGeom>
          <a:noFill/>
          <a:ln w="9525">
            <a:noFill/>
            <a:miter lim="800000"/>
            <a:headEnd/>
            <a:tailEnd/>
          </a:ln>
        </p:spPr>
        <p:txBody>
          <a:bodyPr/>
          <a:lstStyle/>
          <a:p>
            <a:pPr marL="342900" indent="-342900">
              <a:spcBef>
                <a:spcPct val="20000"/>
              </a:spcBef>
              <a:buSzPct val="90000"/>
            </a:pPr>
            <a:r>
              <a:rPr lang="zh-CN" altLang="en-US" sz="3200">
                <a:solidFill>
                  <a:srgbClr val="000000"/>
                </a:solidFill>
                <a:latin typeface="Tahoma" pitchFamily="34" charset="0"/>
                <a:ea typeface="宋体" pitchFamily="2" charset="-122"/>
              </a:rPr>
              <a:t>如某流水生产线有前后衔接的五道工序，某日各工序产品的合格率分别为</a:t>
            </a:r>
            <a:r>
              <a:rPr lang="en-US" altLang="zh-CN" sz="3200">
                <a:solidFill>
                  <a:srgbClr val="000000"/>
                </a:solidFill>
                <a:latin typeface="Tahoma" pitchFamily="34" charset="0"/>
                <a:ea typeface="宋体" pitchFamily="2" charset="-122"/>
              </a:rPr>
              <a:t>97</a:t>
            </a:r>
            <a:r>
              <a:rPr lang="zh-CN" altLang="en-US" sz="3200">
                <a:solidFill>
                  <a:srgbClr val="000000"/>
                </a:solidFill>
                <a:latin typeface="Tahoma" pitchFamily="34" charset="0"/>
                <a:ea typeface="宋体" pitchFamily="2" charset="-122"/>
              </a:rPr>
              <a:t>％、</a:t>
            </a:r>
            <a:r>
              <a:rPr lang="en-US" altLang="zh-CN" sz="3200">
                <a:solidFill>
                  <a:srgbClr val="000000"/>
                </a:solidFill>
                <a:latin typeface="Tahoma" pitchFamily="34" charset="0"/>
                <a:ea typeface="宋体" pitchFamily="2" charset="-122"/>
              </a:rPr>
              <a:t>96</a:t>
            </a:r>
            <a:r>
              <a:rPr lang="zh-CN" altLang="en-US" sz="3200">
                <a:solidFill>
                  <a:srgbClr val="000000"/>
                </a:solidFill>
                <a:latin typeface="Tahoma" pitchFamily="34" charset="0"/>
                <a:ea typeface="宋体" pitchFamily="2" charset="-122"/>
              </a:rPr>
              <a:t>％、</a:t>
            </a:r>
            <a:r>
              <a:rPr lang="en-US" altLang="zh-CN" sz="3200">
                <a:solidFill>
                  <a:srgbClr val="000000"/>
                </a:solidFill>
                <a:latin typeface="Tahoma" pitchFamily="34" charset="0"/>
                <a:ea typeface="宋体" pitchFamily="2" charset="-122"/>
              </a:rPr>
              <a:t>98</a:t>
            </a:r>
            <a:r>
              <a:rPr lang="zh-CN" altLang="en-US" sz="3200">
                <a:solidFill>
                  <a:srgbClr val="000000"/>
                </a:solidFill>
                <a:latin typeface="Tahoma" pitchFamily="34" charset="0"/>
                <a:ea typeface="宋体" pitchFamily="2" charset="-122"/>
              </a:rPr>
              <a:t>％、</a:t>
            </a:r>
            <a:r>
              <a:rPr lang="en-US" altLang="zh-CN" sz="3200">
                <a:solidFill>
                  <a:srgbClr val="000000"/>
                </a:solidFill>
                <a:latin typeface="Tahoma" pitchFamily="34" charset="0"/>
                <a:ea typeface="宋体" pitchFamily="2" charset="-122"/>
              </a:rPr>
              <a:t>98.5</a:t>
            </a:r>
            <a:r>
              <a:rPr lang="zh-CN" altLang="en-US" sz="3200">
                <a:solidFill>
                  <a:srgbClr val="000000"/>
                </a:solidFill>
                <a:latin typeface="Tahoma" pitchFamily="34" charset="0"/>
                <a:ea typeface="宋体" pitchFamily="2" charset="-122"/>
              </a:rPr>
              <a:t>％、</a:t>
            </a:r>
            <a:r>
              <a:rPr lang="en-US" altLang="zh-CN" sz="3200">
                <a:solidFill>
                  <a:srgbClr val="000000"/>
                </a:solidFill>
                <a:latin typeface="Tahoma" pitchFamily="34" charset="0"/>
                <a:ea typeface="宋体" pitchFamily="2" charset="-122"/>
              </a:rPr>
              <a:t>99</a:t>
            </a:r>
            <a:r>
              <a:rPr lang="zh-CN" altLang="en-US" sz="3200">
                <a:solidFill>
                  <a:srgbClr val="000000"/>
                </a:solidFill>
                <a:latin typeface="Tahoma" pitchFamily="34" charset="0"/>
                <a:ea typeface="宋体" pitchFamily="2" charset="-122"/>
              </a:rPr>
              <a:t>％，整个流水生产线产品的</a:t>
            </a:r>
            <a:r>
              <a:rPr lang="zh-CN" altLang="en-US" sz="3200">
                <a:solidFill>
                  <a:srgbClr val="006600"/>
                </a:solidFill>
                <a:latin typeface="Tahoma" pitchFamily="34" charset="0"/>
                <a:ea typeface="宋体" pitchFamily="2" charset="-122"/>
              </a:rPr>
              <a:t>平均合格率</a:t>
            </a:r>
            <a:r>
              <a:rPr lang="zh-CN" altLang="en-US" sz="3200">
                <a:solidFill>
                  <a:srgbClr val="000000"/>
                </a:solidFill>
                <a:latin typeface="Tahoma" pitchFamily="34" charset="0"/>
                <a:ea typeface="宋体" pitchFamily="2" charset="-122"/>
              </a:rPr>
              <a:t>为：</a:t>
            </a:r>
          </a:p>
        </p:txBody>
      </p:sp>
      <p:sp>
        <p:nvSpPr>
          <p:cNvPr id="26629" name="Rectangle 4"/>
          <p:cNvSpPr>
            <a:spLocks noGrp="1" noChangeArrowheads="1"/>
          </p:cNvSpPr>
          <p:nvPr>
            <p:ph type="title"/>
          </p:nvPr>
        </p:nvSpPr>
        <p:spPr>
          <a:xfrm>
            <a:off x="684213" y="260350"/>
            <a:ext cx="7772400" cy="990600"/>
          </a:xfrm>
        </p:spPr>
        <p:txBody>
          <a:bodyPr/>
          <a:lstStyle/>
          <a:p>
            <a:pPr eaLnBrk="1" hangingPunct="1"/>
            <a:r>
              <a:rPr lang="zh-CN" altLang="en-US" dirty="0" smtClean="0"/>
              <a:t>例</a:t>
            </a:r>
          </a:p>
        </p:txBody>
      </p:sp>
      <p:sp>
        <p:nvSpPr>
          <p:cNvPr id="26630" name="Rectangle 10"/>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6626" name="Object 9"/>
          <p:cNvGraphicFramePr>
            <a:graphicFrameLocks noChangeAspect="1"/>
          </p:cNvGraphicFramePr>
          <p:nvPr/>
        </p:nvGraphicFramePr>
        <p:xfrm>
          <a:off x="611188" y="4149725"/>
          <a:ext cx="7705725" cy="1846263"/>
        </p:xfrm>
        <a:graphic>
          <a:graphicData uri="http://schemas.openxmlformats.org/presentationml/2006/ole">
            <mc:AlternateContent xmlns:mc="http://schemas.openxmlformats.org/markup-compatibility/2006">
              <mc:Choice xmlns:v="urn:schemas-microsoft-com:vml" Requires="v">
                <p:oleObj spid="_x0000_s26803" name="Equation" r:id="rId3" imgW="2336760" imgH="482400" progId="Equation.DSMT4">
                  <p:embed/>
                </p:oleObj>
              </mc:Choice>
              <mc:Fallback>
                <p:oleObj name="Equation" r:id="rId3" imgW="2336760" imgH="482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149725"/>
                        <a:ext cx="7705725" cy="184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67</a:t>
            </a:fld>
            <a:endParaRPr lang="en-US" altLang="zh-CN" dirty="0"/>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Rectangle 3"/>
          <p:cNvSpPr>
            <a:spLocks noGrp="1" noChangeArrowheads="1"/>
          </p:cNvSpPr>
          <p:nvPr>
            <p:ph type="body" idx="1"/>
          </p:nvPr>
        </p:nvSpPr>
        <p:spPr>
          <a:xfrm>
            <a:off x="468313" y="1989138"/>
            <a:ext cx="8229600" cy="1655762"/>
          </a:xfrm>
        </p:spPr>
        <p:txBody>
          <a:bodyPr/>
          <a:lstStyle/>
          <a:p>
            <a:pPr eaLnBrk="1" hangingPunct="1">
              <a:lnSpc>
                <a:spcPct val="110000"/>
              </a:lnSpc>
              <a:spcBef>
                <a:spcPct val="0"/>
              </a:spcBef>
              <a:buFontTx/>
              <a:buNone/>
            </a:pPr>
            <a:r>
              <a:rPr lang="zh-CN" altLang="en-US" sz="2800" smtClean="0">
                <a:solidFill>
                  <a:srgbClr val="006600"/>
                </a:solidFill>
              </a:rPr>
              <a:t>例：</a:t>
            </a:r>
            <a:r>
              <a:rPr lang="zh-CN" altLang="en-US" sz="2800" smtClean="0">
                <a:solidFill>
                  <a:srgbClr val="006600"/>
                </a:solidFill>
                <a:latin typeface="宋体" pitchFamily="2" charset="-122"/>
              </a:rPr>
              <a:t>某流水生产线有前后衔接的五道工序。某日各工序产品的废品率分别为</a:t>
            </a:r>
            <a:r>
              <a:rPr lang="en-US" altLang="zh-CN" sz="2800" smtClean="0">
                <a:solidFill>
                  <a:srgbClr val="006600"/>
                </a:solidFill>
                <a:latin typeface="宋体" pitchFamily="2" charset="-122"/>
              </a:rPr>
              <a:t>3%</a:t>
            </a:r>
            <a:r>
              <a:rPr lang="zh-CN" altLang="en-US" sz="2800" smtClean="0">
                <a:solidFill>
                  <a:srgbClr val="006600"/>
                </a:solidFill>
                <a:latin typeface="宋体" pitchFamily="2" charset="-122"/>
              </a:rPr>
              <a:t>、</a:t>
            </a:r>
            <a:r>
              <a:rPr lang="en-US" altLang="zh-CN" sz="2800" smtClean="0">
                <a:solidFill>
                  <a:srgbClr val="006600"/>
                </a:solidFill>
                <a:latin typeface="宋体" pitchFamily="2" charset="-122"/>
              </a:rPr>
              <a:t>4%</a:t>
            </a:r>
            <a:r>
              <a:rPr lang="zh-CN" altLang="en-US" sz="2800" smtClean="0">
                <a:solidFill>
                  <a:srgbClr val="006600"/>
                </a:solidFill>
                <a:latin typeface="宋体" pitchFamily="2" charset="-122"/>
              </a:rPr>
              <a:t>、</a:t>
            </a:r>
            <a:r>
              <a:rPr lang="en-US" altLang="zh-CN" sz="2800" smtClean="0">
                <a:solidFill>
                  <a:srgbClr val="006600"/>
                </a:solidFill>
                <a:latin typeface="宋体" pitchFamily="2" charset="-122"/>
              </a:rPr>
              <a:t>2%</a:t>
            </a:r>
            <a:r>
              <a:rPr lang="zh-CN" altLang="en-US" sz="2800" smtClean="0">
                <a:solidFill>
                  <a:srgbClr val="006600"/>
                </a:solidFill>
                <a:latin typeface="宋体" pitchFamily="2" charset="-122"/>
              </a:rPr>
              <a:t>、</a:t>
            </a:r>
            <a:r>
              <a:rPr lang="en-US" altLang="zh-CN" sz="2800" smtClean="0">
                <a:solidFill>
                  <a:srgbClr val="006600"/>
                </a:solidFill>
                <a:latin typeface="宋体" pitchFamily="2" charset="-122"/>
              </a:rPr>
              <a:t>1.5% </a:t>
            </a:r>
            <a:r>
              <a:rPr lang="zh-CN" altLang="en-US" sz="2800" smtClean="0">
                <a:solidFill>
                  <a:srgbClr val="006600"/>
                </a:solidFill>
                <a:latin typeface="宋体" pitchFamily="2" charset="-122"/>
              </a:rPr>
              <a:t>、</a:t>
            </a:r>
            <a:r>
              <a:rPr lang="en-US" altLang="zh-CN" sz="2800" smtClean="0">
                <a:solidFill>
                  <a:srgbClr val="006600"/>
                </a:solidFill>
                <a:latin typeface="宋体" pitchFamily="2" charset="-122"/>
              </a:rPr>
              <a:t>1%</a:t>
            </a:r>
            <a:r>
              <a:rPr lang="zh-CN" altLang="en-US" sz="2800" smtClean="0">
                <a:solidFill>
                  <a:srgbClr val="006600"/>
                </a:solidFill>
                <a:latin typeface="宋体" pitchFamily="2" charset="-122"/>
              </a:rPr>
              <a:t>，整个流水线上产品的平均废品率？</a:t>
            </a:r>
            <a:endParaRPr lang="zh-CN" altLang="en-US" sz="2800" smtClean="0">
              <a:solidFill>
                <a:srgbClr val="006600"/>
              </a:solidFill>
            </a:endParaRPr>
          </a:p>
        </p:txBody>
      </p:sp>
      <p:sp>
        <p:nvSpPr>
          <p:cNvPr id="111620" name="Rectangle 6"/>
          <p:cNvSpPr>
            <a:spLocks noChangeArrowheads="1"/>
          </p:cNvSpPr>
          <p:nvPr/>
        </p:nvSpPr>
        <p:spPr bwMode="auto">
          <a:xfrm>
            <a:off x="539750" y="1412875"/>
            <a:ext cx="8153400" cy="935038"/>
          </a:xfrm>
          <a:prstGeom prst="rect">
            <a:avLst/>
          </a:prstGeom>
          <a:noFill/>
          <a:ln w="9525">
            <a:noFill/>
            <a:miter lim="800000"/>
            <a:headEnd/>
            <a:tailEnd/>
          </a:ln>
        </p:spPr>
        <p:txBody>
          <a:bodyPr/>
          <a:lstStyle/>
          <a:p>
            <a:pPr marL="342900" indent="-342900">
              <a:spcBef>
                <a:spcPct val="50000"/>
              </a:spcBef>
              <a:buSzPct val="90000"/>
            </a:pPr>
            <a:endParaRPr lang="zh-CN" altLang="zh-CN" sz="3600" b="1">
              <a:solidFill>
                <a:srgbClr val="3333FF"/>
              </a:solidFill>
              <a:latin typeface="Tahoma" pitchFamily="34" charset="0"/>
              <a:ea typeface="宋体" pitchFamily="2" charset="-122"/>
            </a:endParaRPr>
          </a:p>
        </p:txBody>
      </p:sp>
      <p:sp>
        <p:nvSpPr>
          <p:cNvPr id="111621" name="Rectangle 7"/>
          <p:cNvSpPr>
            <a:spLocks noGrp="1" noChangeArrowheads="1"/>
          </p:cNvSpPr>
          <p:nvPr>
            <p:ph type="title"/>
          </p:nvPr>
        </p:nvSpPr>
        <p:spPr>
          <a:xfrm>
            <a:off x="827088" y="836613"/>
            <a:ext cx="7772400" cy="720725"/>
          </a:xfrm>
        </p:spPr>
        <p:txBody>
          <a:bodyPr/>
          <a:lstStyle/>
          <a:p>
            <a:pPr eaLnBrk="1" hangingPunct="1"/>
            <a:r>
              <a:rPr lang="zh-CN" altLang="en-US" sz="3200" dirty="0" smtClean="0"/>
              <a:t>思考：平均废品率为多少？</a:t>
            </a:r>
          </a:p>
        </p:txBody>
      </p:sp>
      <p:sp>
        <p:nvSpPr>
          <p:cNvPr id="37896" name="Rectangle 8"/>
          <p:cNvSpPr>
            <a:spLocks noChangeArrowheads="1"/>
          </p:cNvSpPr>
          <p:nvPr/>
        </p:nvSpPr>
        <p:spPr bwMode="auto">
          <a:xfrm>
            <a:off x="971550" y="4292600"/>
            <a:ext cx="7632700" cy="1031875"/>
          </a:xfrm>
          <a:prstGeom prst="rect">
            <a:avLst/>
          </a:prstGeom>
          <a:noFill/>
          <a:ln w="9525">
            <a:noFill/>
            <a:miter lim="800000"/>
            <a:headEnd/>
            <a:tailEnd/>
          </a:ln>
        </p:spPr>
        <p:txBody>
          <a:bodyPr>
            <a:spAutoFit/>
          </a:bodyPr>
          <a:lstStyle/>
          <a:p>
            <a:pPr>
              <a:spcBef>
                <a:spcPct val="20000"/>
              </a:spcBef>
              <a:buSzPct val="90000"/>
            </a:pPr>
            <a:r>
              <a:rPr lang="zh-CN" altLang="en-US" sz="2800" b="1" dirty="0">
                <a:solidFill>
                  <a:srgbClr val="006600"/>
                </a:solidFill>
                <a:ea typeface="宋体" pitchFamily="2" charset="-122"/>
              </a:rPr>
              <a:t>平均废品率＝</a:t>
            </a:r>
            <a:r>
              <a:rPr lang="en-US" altLang="zh-CN" sz="2800" b="1" dirty="0">
                <a:solidFill>
                  <a:srgbClr val="006600"/>
                </a:solidFill>
                <a:ea typeface="宋体" pitchFamily="2" charset="-122"/>
              </a:rPr>
              <a:t>1 </a:t>
            </a:r>
            <a:r>
              <a:rPr lang="zh-CN" altLang="en-US" sz="2800" b="1" dirty="0">
                <a:solidFill>
                  <a:srgbClr val="006600"/>
                </a:solidFill>
                <a:ea typeface="宋体" pitchFamily="2" charset="-122"/>
              </a:rPr>
              <a:t>－ 平均合格率</a:t>
            </a:r>
          </a:p>
          <a:p>
            <a:pPr>
              <a:spcBef>
                <a:spcPct val="20000"/>
              </a:spcBef>
              <a:buSzPct val="90000"/>
            </a:pPr>
            <a:r>
              <a:rPr lang="zh-CN" altLang="en-US" sz="2800" b="1" dirty="0">
                <a:solidFill>
                  <a:srgbClr val="006600"/>
                </a:solidFill>
                <a:ea typeface="宋体" pitchFamily="2" charset="-122"/>
              </a:rPr>
              <a:t>                     ＝</a:t>
            </a:r>
            <a:r>
              <a:rPr lang="en-US" altLang="zh-CN" sz="2800" b="1" dirty="0">
                <a:solidFill>
                  <a:srgbClr val="006600"/>
                </a:solidFill>
                <a:ea typeface="宋体" pitchFamily="2" charset="-122"/>
              </a:rPr>
              <a:t>1</a:t>
            </a:r>
            <a:r>
              <a:rPr lang="zh-CN" altLang="en-US" sz="2800" b="1" dirty="0">
                <a:solidFill>
                  <a:srgbClr val="006600"/>
                </a:solidFill>
                <a:ea typeface="宋体" pitchFamily="2" charset="-122"/>
              </a:rPr>
              <a:t>－</a:t>
            </a:r>
            <a:r>
              <a:rPr lang="en-US" altLang="zh-CN" sz="2800" b="1" dirty="0">
                <a:solidFill>
                  <a:srgbClr val="006600"/>
                </a:solidFill>
                <a:ea typeface="宋体" pitchFamily="2" charset="-122"/>
              </a:rPr>
              <a:t>97.69</a:t>
            </a:r>
            <a:r>
              <a:rPr lang="zh-CN" altLang="en-US" sz="2800" b="1" dirty="0">
                <a:solidFill>
                  <a:srgbClr val="006600"/>
                </a:solidFill>
                <a:ea typeface="宋体" pitchFamily="2" charset="-122"/>
              </a:rPr>
              <a:t>％＝</a:t>
            </a:r>
            <a:r>
              <a:rPr lang="en-US" altLang="zh-CN" sz="2800" b="1" dirty="0">
                <a:solidFill>
                  <a:srgbClr val="006600"/>
                </a:solidFill>
                <a:ea typeface="宋体" pitchFamily="2" charset="-122"/>
              </a:rPr>
              <a:t>2.31</a:t>
            </a:r>
            <a:r>
              <a:rPr lang="zh-CN" altLang="en-US" sz="2800" b="1" dirty="0">
                <a:solidFill>
                  <a:srgbClr val="006600"/>
                </a:solidFill>
                <a:ea typeface="宋体" pitchFamily="2" charset="-122"/>
              </a:rPr>
              <a:t>％</a:t>
            </a: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68</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diamond(in)">
                                      <p:cBhvr>
                                        <p:cTn id="7" dur="20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lvl="0" indent="0" algn="just" eaLnBrk="1" fontAlgn="auto" hangingPunct="1">
              <a:lnSpc>
                <a:spcPct val="155000"/>
              </a:lnSpc>
              <a:spcBef>
                <a:spcPts val="0"/>
              </a:spcBef>
              <a:spcAft>
                <a:spcPts val="0"/>
              </a:spcAft>
              <a:buSzTx/>
              <a:buNone/>
            </a:pPr>
            <a:r>
              <a:rPr kumimoji="0" lang="en-US" altLang="zh-CN" sz="2800" kern="1200" dirty="0" smtClean="0">
                <a:solidFill>
                  <a:srgbClr val="1313FF"/>
                </a:solidFill>
                <a:latin typeface="等线" panose="020F0502020204030204"/>
                <a:ea typeface="等线" panose="02010600030101010101" pitchFamily="2" charset="-122"/>
              </a:rPr>
              <a:t>【</a:t>
            </a:r>
            <a:r>
              <a:rPr lang="zh-CN" altLang="en-US" sz="2800" dirty="0" smtClean="0">
                <a:solidFill>
                  <a:srgbClr val="1313FF"/>
                </a:solidFill>
              </a:rPr>
              <a:t>思考</a:t>
            </a:r>
            <a:r>
              <a:rPr kumimoji="0" lang="en-US" altLang="zh-CN" sz="2800" kern="1200" dirty="0" smtClean="0">
                <a:solidFill>
                  <a:srgbClr val="1313FF"/>
                </a:solidFill>
                <a:latin typeface="等线" panose="020F0502020204030204"/>
                <a:ea typeface="等线" panose="02010600030101010101" pitchFamily="2" charset="-122"/>
              </a:rPr>
              <a:t>】</a:t>
            </a:r>
            <a:r>
              <a:rPr kumimoji="0" lang="zh-CN" altLang="en-US" sz="2800" kern="1200" dirty="0">
                <a:solidFill>
                  <a:srgbClr val="000000"/>
                </a:solidFill>
                <a:latin typeface="等线" panose="020F0502020204030204"/>
                <a:ea typeface="等线" panose="02010600030101010101" pitchFamily="2" charset="-122"/>
              </a:rPr>
              <a:t>一位投资者持有一种股票，近四年的年收益率分别为</a:t>
            </a:r>
            <a:r>
              <a:rPr kumimoji="0" lang="en-US" altLang="zh-CN" sz="2800" kern="1200" dirty="0">
                <a:solidFill>
                  <a:srgbClr val="000000"/>
                </a:solidFill>
                <a:latin typeface="等线" panose="020F0502020204030204"/>
                <a:ea typeface="等线" panose="02010600030101010101" pitchFamily="2" charset="-122"/>
              </a:rPr>
              <a:t>4.5%</a:t>
            </a:r>
            <a:r>
              <a:rPr kumimoji="0" lang="zh-CN" altLang="en-US" sz="2800" kern="1200" dirty="0">
                <a:solidFill>
                  <a:srgbClr val="000000"/>
                </a:solidFill>
                <a:latin typeface="等线" panose="020F0502020204030204"/>
                <a:ea typeface="等线" panose="02010600030101010101" pitchFamily="2" charset="-122"/>
              </a:rPr>
              <a:t>、</a:t>
            </a:r>
            <a:r>
              <a:rPr kumimoji="0" lang="en-US" altLang="zh-CN" sz="2800" kern="1200" dirty="0">
                <a:solidFill>
                  <a:srgbClr val="000000"/>
                </a:solidFill>
                <a:latin typeface="等线" panose="020F0502020204030204"/>
                <a:ea typeface="等线" panose="02010600030101010101" pitchFamily="2" charset="-122"/>
              </a:rPr>
              <a:t>2.0%</a:t>
            </a:r>
            <a:r>
              <a:rPr kumimoji="0" lang="zh-CN" altLang="en-US" sz="2800" kern="1200" dirty="0">
                <a:solidFill>
                  <a:srgbClr val="000000"/>
                </a:solidFill>
                <a:latin typeface="等线" panose="020F0502020204030204"/>
                <a:ea typeface="等线" panose="02010600030101010101" pitchFamily="2" charset="-122"/>
              </a:rPr>
              <a:t>、</a:t>
            </a:r>
            <a:r>
              <a:rPr kumimoji="0" lang="en-US" altLang="zh-CN" sz="2800" kern="1200" dirty="0">
                <a:solidFill>
                  <a:srgbClr val="000000"/>
                </a:solidFill>
                <a:latin typeface="等线" panose="020F0502020204030204"/>
                <a:ea typeface="等线" panose="02010600030101010101" pitchFamily="2" charset="-122"/>
              </a:rPr>
              <a:t>3.5%</a:t>
            </a:r>
            <a:r>
              <a:rPr kumimoji="0" lang="zh-CN" altLang="en-US" sz="2800" kern="1200" dirty="0">
                <a:solidFill>
                  <a:srgbClr val="000000"/>
                </a:solidFill>
                <a:latin typeface="等线" panose="020F0502020204030204"/>
                <a:ea typeface="等线" panose="02010600030101010101" pitchFamily="2" charset="-122"/>
              </a:rPr>
              <a:t>、</a:t>
            </a:r>
            <a:r>
              <a:rPr kumimoji="0" lang="en-US" altLang="zh-CN" sz="2800" kern="1200" dirty="0">
                <a:solidFill>
                  <a:srgbClr val="000000"/>
                </a:solidFill>
                <a:latin typeface="等线" panose="020F0502020204030204"/>
                <a:ea typeface="等线" panose="02010600030101010101" pitchFamily="2" charset="-122"/>
              </a:rPr>
              <a:t>5.4%</a:t>
            </a:r>
            <a:r>
              <a:rPr kumimoji="0" lang="zh-CN" altLang="en-US" sz="2800" kern="1200" dirty="0">
                <a:solidFill>
                  <a:srgbClr val="000000"/>
                </a:solidFill>
                <a:latin typeface="等线" panose="020F0502020204030204"/>
                <a:ea typeface="等线" panose="02010600030101010101" pitchFamily="2" charset="-122"/>
              </a:rPr>
              <a:t>。计算该投资者在这四年内</a:t>
            </a:r>
            <a:r>
              <a:rPr kumimoji="0" lang="zh-CN" altLang="en-US" sz="2800" kern="1200" dirty="0" smtClean="0">
                <a:solidFill>
                  <a:srgbClr val="000000"/>
                </a:solidFill>
                <a:latin typeface="等线" panose="020F0502020204030204"/>
                <a:ea typeface="等线" panose="02010600030101010101" pitchFamily="2" charset="-122"/>
              </a:rPr>
              <a:t>的年平均</a:t>
            </a:r>
            <a:r>
              <a:rPr kumimoji="0" lang="zh-CN" altLang="en-US" sz="2800" kern="1200" dirty="0">
                <a:solidFill>
                  <a:srgbClr val="000000"/>
                </a:solidFill>
                <a:latin typeface="等线" panose="020F0502020204030204"/>
                <a:ea typeface="等线" panose="02010600030101010101" pitchFamily="2" charset="-122"/>
              </a:rPr>
              <a:t>收益率。</a:t>
            </a:r>
          </a:p>
          <a:p>
            <a:endParaRPr lang="zh-CN" altLang="en-US" dirty="0"/>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69</a:t>
            </a:fld>
            <a:endParaRPr lang="en-US" altLang="zh-CN" dirty="0"/>
          </a:p>
        </p:txBody>
      </p:sp>
    </p:spTree>
    <p:extLst>
      <p:ext uri="{BB962C8B-B14F-4D97-AF65-F5344CB8AC3E}">
        <p14:creationId xmlns:p14="http://schemas.microsoft.com/office/powerpoint/2010/main" val="3622476876"/>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body" idx="1"/>
          </p:nvPr>
        </p:nvSpPr>
        <p:spPr>
          <a:xfrm>
            <a:off x="250825" y="2565400"/>
            <a:ext cx="8443913" cy="1366838"/>
          </a:xfrm>
        </p:spPr>
        <p:txBody>
          <a:bodyPr/>
          <a:lstStyle/>
          <a:p>
            <a:pPr eaLnBrk="1" hangingPunct="1">
              <a:lnSpc>
                <a:spcPct val="105000"/>
              </a:lnSpc>
              <a:spcBef>
                <a:spcPct val="5000"/>
              </a:spcBef>
              <a:buFontTx/>
              <a:buNone/>
            </a:pPr>
            <a:r>
              <a:rPr lang="en-US" altLang="zh-CN" sz="2800" smtClean="0">
                <a:solidFill>
                  <a:srgbClr val="006600"/>
                </a:solidFill>
              </a:rPr>
              <a:t>【</a:t>
            </a:r>
            <a:r>
              <a:rPr lang="zh-CN" altLang="en-US" sz="2800" smtClean="0">
                <a:solidFill>
                  <a:srgbClr val="006600"/>
                </a:solidFill>
              </a:rPr>
              <a:t>例</a:t>
            </a:r>
            <a:r>
              <a:rPr lang="en-US" altLang="zh-CN" sz="2800" smtClean="0">
                <a:solidFill>
                  <a:srgbClr val="006600"/>
                </a:solidFill>
              </a:rPr>
              <a:t>】</a:t>
            </a:r>
            <a:r>
              <a:rPr lang="zh-CN" altLang="en-US" sz="2800" smtClean="0">
                <a:solidFill>
                  <a:srgbClr val="006600"/>
                </a:solidFill>
              </a:rPr>
              <a:t>某金融机构以复利方式计息。近</a:t>
            </a:r>
            <a:r>
              <a:rPr lang="en-US" altLang="zh-CN" sz="2800" smtClean="0">
                <a:solidFill>
                  <a:srgbClr val="006600"/>
                </a:solidFill>
              </a:rPr>
              <a:t>12</a:t>
            </a:r>
            <a:r>
              <a:rPr lang="zh-CN" altLang="en-US" sz="2800" smtClean="0">
                <a:solidFill>
                  <a:srgbClr val="006600"/>
                </a:solidFill>
              </a:rPr>
              <a:t>年来的年利率有</a:t>
            </a:r>
            <a:r>
              <a:rPr lang="en-US" altLang="zh-CN" sz="2800" smtClean="0">
                <a:solidFill>
                  <a:srgbClr val="006600"/>
                </a:solidFill>
              </a:rPr>
              <a:t>4</a:t>
            </a:r>
            <a:r>
              <a:rPr lang="zh-CN" altLang="en-US" sz="2800" smtClean="0">
                <a:solidFill>
                  <a:srgbClr val="006600"/>
                </a:solidFill>
              </a:rPr>
              <a:t>年为</a:t>
            </a:r>
            <a:r>
              <a:rPr lang="en-US" altLang="zh-CN" sz="2800" smtClean="0">
                <a:solidFill>
                  <a:srgbClr val="006600"/>
                </a:solidFill>
              </a:rPr>
              <a:t>3%</a:t>
            </a:r>
            <a:r>
              <a:rPr lang="zh-CN" altLang="en-US" sz="2800" smtClean="0">
                <a:solidFill>
                  <a:srgbClr val="006600"/>
                </a:solidFill>
              </a:rPr>
              <a:t>、 </a:t>
            </a:r>
            <a:r>
              <a:rPr lang="en-US" altLang="zh-CN" sz="2800" smtClean="0">
                <a:solidFill>
                  <a:srgbClr val="006600"/>
                </a:solidFill>
              </a:rPr>
              <a:t>2</a:t>
            </a:r>
            <a:r>
              <a:rPr lang="zh-CN" altLang="en-US" sz="2800" smtClean="0">
                <a:solidFill>
                  <a:srgbClr val="006600"/>
                </a:solidFill>
              </a:rPr>
              <a:t>年为</a:t>
            </a:r>
            <a:r>
              <a:rPr lang="en-US" altLang="zh-CN" sz="2800" smtClean="0">
                <a:solidFill>
                  <a:srgbClr val="006600"/>
                </a:solidFill>
              </a:rPr>
              <a:t>5% </a:t>
            </a:r>
            <a:r>
              <a:rPr lang="zh-CN" altLang="en-US" sz="2800" smtClean="0">
                <a:solidFill>
                  <a:srgbClr val="006600"/>
                </a:solidFill>
              </a:rPr>
              <a:t>、 </a:t>
            </a:r>
            <a:r>
              <a:rPr lang="en-US" altLang="zh-CN" sz="2800" smtClean="0">
                <a:solidFill>
                  <a:srgbClr val="006600"/>
                </a:solidFill>
              </a:rPr>
              <a:t>2</a:t>
            </a:r>
            <a:r>
              <a:rPr lang="zh-CN" altLang="en-US" sz="2800" smtClean="0">
                <a:solidFill>
                  <a:srgbClr val="006600"/>
                </a:solidFill>
              </a:rPr>
              <a:t>年为</a:t>
            </a:r>
            <a:r>
              <a:rPr lang="en-US" altLang="zh-CN" sz="2800" smtClean="0">
                <a:solidFill>
                  <a:srgbClr val="006600"/>
                </a:solidFill>
              </a:rPr>
              <a:t>8%</a:t>
            </a:r>
            <a:r>
              <a:rPr lang="zh-CN" altLang="en-US" sz="2800" smtClean="0">
                <a:solidFill>
                  <a:srgbClr val="006600"/>
                </a:solidFill>
              </a:rPr>
              <a:t>、</a:t>
            </a:r>
            <a:r>
              <a:rPr lang="en-US" altLang="zh-CN" sz="2800" smtClean="0">
                <a:solidFill>
                  <a:srgbClr val="006600"/>
                </a:solidFill>
              </a:rPr>
              <a:t>3</a:t>
            </a:r>
            <a:r>
              <a:rPr lang="zh-CN" altLang="en-US" sz="2800" smtClean="0">
                <a:solidFill>
                  <a:srgbClr val="006600"/>
                </a:solidFill>
              </a:rPr>
              <a:t>年为</a:t>
            </a:r>
            <a:r>
              <a:rPr lang="en-US" altLang="zh-CN" sz="2800" smtClean="0">
                <a:solidFill>
                  <a:srgbClr val="006600"/>
                </a:solidFill>
              </a:rPr>
              <a:t>10%</a:t>
            </a:r>
            <a:r>
              <a:rPr lang="zh-CN" altLang="en-US" sz="2800" smtClean="0">
                <a:solidFill>
                  <a:srgbClr val="006600"/>
                </a:solidFill>
              </a:rPr>
              <a:t>、 </a:t>
            </a:r>
            <a:r>
              <a:rPr lang="en-US" altLang="zh-CN" sz="2800" smtClean="0">
                <a:solidFill>
                  <a:srgbClr val="006600"/>
                </a:solidFill>
              </a:rPr>
              <a:t>1</a:t>
            </a:r>
            <a:r>
              <a:rPr lang="zh-CN" altLang="en-US" sz="2800" smtClean="0">
                <a:solidFill>
                  <a:srgbClr val="006600"/>
                </a:solidFill>
              </a:rPr>
              <a:t>年为</a:t>
            </a:r>
            <a:r>
              <a:rPr lang="en-US" altLang="zh-CN" sz="2800" smtClean="0">
                <a:solidFill>
                  <a:srgbClr val="006600"/>
                </a:solidFill>
              </a:rPr>
              <a:t>15%</a:t>
            </a:r>
            <a:r>
              <a:rPr lang="zh-CN" altLang="en-US" sz="2800" smtClean="0">
                <a:solidFill>
                  <a:srgbClr val="006600"/>
                </a:solidFill>
              </a:rPr>
              <a:t>。则</a:t>
            </a:r>
            <a:r>
              <a:rPr lang="en-US" altLang="zh-CN" sz="2800" smtClean="0">
                <a:solidFill>
                  <a:srgbClr val="006600"/>
                </a:solidFill>
              </a:rPr>
              <a:t>12</a:t>
            </a:r>
            <a:r>
              <a:rPr lang="zh-CN" altLang="en-US" sz="2800" smtClean="0">
                <a:solidFill>
                  <a:srgbClr val="006600"/>
                </a:solidFill>
              </a:rPr>
              <a:t>年的平均年利率？         </a:t>
            </a:r>
          </a:p>
        </p:txBody>
      </p:sp>
      <p:graphicFrame>
        <p:nvGraphicFramePr>
          <p:cNvPr id="398340" name="Object 4"/>
          <p:cNvGraphicFramePr>
            <a:graphicFrameLocks noChangeAspect="1"/>
          </p:cNvGraphicFramePr>
          <p:nvPr/>
        </p:nvGraphicFramePr>
        <p:xfrm>
          <a:off x="395288" y="4076700"/>
          <a:ext cx="8353425" cy="1512888"/>
        </p:xfrm>
        <a:graphic>
          <a:graphicData uri="http://schemas.openxmlformats.org/presentationml/2006/ole">
            <mc:AlternateContent xmlns:mc="http://schemas.openxmlformats.org/markup-compatibility/2006">
              <mc:Choice xmlns:v="urn:schemas-microsoft-com:vml" Requires="v">
                <p:oleObj spid="_x0000_s28006" name="公式" r:id="rId3" imgW="2489040" imgH="419040" progId="Equation.3">
                  <p:embed/>
                </p:oleObj>
              </mc:Choice>
              <mc:Fallback>
                <p:oleObj name="公式" r:id="rId3" imgW="2489040" imgH="419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4076700"/>
                        <a:ext cx="8353425" cy="151288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27654" name="Rectangle 5"/>
          <p:cNvSpPr>
            <a:spLocks noGrp="1" noChangeArrowheads="1"/>
          </p:cNvSpPr>
          <p:nvPr>
            <p:ph type="title"/>
          </p:nvPr>
        </p:nvSpPr>
        <p:spPr/>
        <p:txBody>
          <a:bodyPr/>
          <a:lstStyle/>
          <a:p>
            <a:pPr eaLnBrk="1" hangingPunct="1"/>
            <a:r>
              <a:rPr lang="zh-CN" altLang="en-US" dirty="0" smtClean="0"/>
              <a:t>加权几何平均法</a:t>
            </a:r>
          </a:p>
        </p:txBody>
      </p:sp>
      <p:sp>
        <p:nvSpPr>
          <p:cNvPr id="398342" name="Rectangle 6"/>
          <p:cNvSpPr>
            <a:spLocks noChangeArrowheads="1"/>
          </p:cNvSpPr>
          <p:nvPr/>
        </p:nvSpPr>
        <p:spPr bwMode="auto">
          <a:xfrm>
            <a:off x="1116013" y="5734050"/>
            <a:ext cx="7127875" cy="530225"/>
          </a:xfrm>
          <a:prstGeom prst="rect">
            <a:avLst/>
          </a:prstGeom>
          <a:noFill/>
          <a:ln w="9525">
            <a:noFill/>
            <a:miter lim="800000"/>
            <a:headEnd/>
            <a:tailEnd/>
          </a:ln>
        </p:spPr>
        <p:txBody>
          <a:bodyPr>
            <a:spAutoFit/>
          </a:bodyPr>
          <a:lstStyle/>
          <a:p>
            <a:pPr>
              <a:lnSpc>
                <a:spcPct val="90000"/>
              </a:lnSpc>
              <a:spcBef>
                <a:spcPct val="20000"/>
              </a:spcBef>
              <a:buSzPct val="90000"/>
            </a:pPr>
            <a:r>
              <a:rPr lang="zh-CN" altLang="en-US" sz="3200" b="1">
                <a:solidFill>
                  <a:srgbClr val="006600"/>
                </a:solidFill>
                <a:ea typeface="宋体" pitchFamily="2" charset="-122"/>
              </a:rPr>
              <a:t>平均年利率</a:t>
            </a:r>
            <a:r>
              <a:rPr lang="en-US" altLang="zh-CN" sz="3200" b="1">
                <a:solidFill>
                  <a:srgbClr val="006600"/>
                </a:solidFill>
                <a:ea typeface="宋体" pitchFamily="2" charset="-122"/>
              </a:rPr>
              <a:t>=106.82%</a:t>
            </a:r>
            <a:r>
              <a:rPr lang="en-US" altLang="zh-CN" sz="3200">
                <a:solidFill>
                  <a:srgbClr val="006600"/>
                </a:solidFill>
                <a:latin typeface="华文宋体" pitchFamily="2" charset="-122"/>
                <a:ea typeface="华文宋体" pitchFamily="2" charset="-122"/>
              </a:rPr>
              <a:t> </a:t>
            </a:r>
            <a:r>
              <a:rPr lang="en-US" altLang="zh-CN" sz="3200" b="1">
                <a:solidFill>
                  <a:srgbClr val="006600"/>
                </a:solidFill>
                <a:latin typeface="华文宋体" pitchFamily="2" charset="-122"/>
                <a:ea typeface="华文宋体" pitchFamily="2" charset="-122"/>
              </a:rPr>
              <a:t>-</a:t>
            </a:r>
            <a:r>
              <a:rPr lang="en-US" altLang="zh-CN" sz="3200">
                <a:solidFill>
                  <a:srgbClr val="006600"/>
                </a:solidFill>
                <a:latin typeface="华文宋体" pitchFamily="2" charset="-122"/>
                <a:ea typeface="华文宋体" pitchFamily="2" charset="-122"/>
              </a:rPr>
              <a:t> </a:t>
            </a:r>
            <a:r>
              <a:rPr lang="en-US" altLang="zh-CN" sz="3200" b="1">
                <a:solidFill>
                  <a:srgbClr val="006600"/>
                </a:solidFill>
                <a:ea typeface="宋体" pitchFamily="2" charset="-122"/>
              </a:rPr>
              <a:t>100%=6.82%</a:t>
            </a:r>
          </a:p>
        </p:txBody>
      </p:sp>
      <p:graphicFrame>
        <p:nvGraphicFramePr>
          <p:cNvPr id="27651" name="Object 7"/>
          <p:cNvGraphicFramePr>
            <a:graphicFrameLocks noChangeAspect="1"/>
          </p:cNvGraphicFramePr>
          <p:nvPr/>
        </p:nvGraphicFramePr>
        <p:xfrm>
          <a:off x="1835150" y="1341438"/>
          <a:ext cx="5473700" cy="1104900"/>
        </p:xfrm>
        <a:graphic>
          <a:graphicData uri="http://schemas.openxmlformats.org/presentationml/2006/ole">
            <mc:AlternateContent xmlns:mc="http://schemas.openxmlformats.org/markup-compatibility/2006">
              <mc:Choice xmlns:v="urn:schemas-microsoft-com:vml" Requires="v">
                <p:oleObj spid="_x0000_s28007" name="Equation" r:id="rId5" imgW="1587240" imgH="291960" progId="Equation.DSMT4">
                  <p:embed/>
                </p:oleObj>
              </mc:Choice>
              <mc:Fallback>
                <p:oleObj name="Equation" r:id="rId5" imgW="1587240" imgH="29196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1341438"/>
                        <a:ext cx="5473700" cy="110490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70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38">
                                            <p:txEl>
                                              <p:pRg st="0" end="0"/>
                                            </p:txEl>
                                          </p:spTgt>
                                        </p:tgtEl>
                                        <p:attrNameLst>
                                          <p:attrName>style.visibility</p:attrName>
                                        </p:attrNameLst>
                                      </p:cBhvr>
                                      <p:to>
                                        <p:strVal val="visible"/>
                                      </p:to>
                                    </p:set>
                                    <p:animEffect transition="in" filter="blinds(horizontal)">
                                      <p:cBhvr>
                                        <p:cTn id="7" dur="1000"/>
                                        <p:tgtEl>
                                          <p:spTgt spid="398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398340"/>
                                        </p:tgtEl>
                                        <p:attrNameLst>
                                          <p:attrName>style.visibility</p:attrName>
                                        </p:attrNameLst>
                                      </p:cBhvr>
                                      <p:to>
                                        <p:strVal val="visible"/>
                                      </p:to>
                                    </p:set>
                                    <p:anim calcmode="lin" valueType="num">
                                      <p:cBhvr>
                                        <p:cTn id="12" dur="500" fill="hold"/>
                                        <p:tgtEl>
                                          <p:spTgt spid="398340"/>
                                        </p:tgtEl>
                                        <p:attrNameLst>
                                          <p:attrName>ppt_x</p:attrName>
                                        </p:attrNameLst>
                                      </p:cBhvr>
                                      <p:tavLst>
                                        <p:tav tm="0">
                                          <p:val>
                                            <p:strVal val="#ppt_x-#ppt_w/2"/>
                                          </p:val>
                                        </p:tav>
                                        <p:tav tm="100000">
                                          <p:val>
                                            <p:strVal val="#ppt_x"/>
                                          </p:val>
                                        </p:tav>
                                      </p:tavLst>
                                    </p:anim>
                                    <p:anim calcmode="lin" valueType="num">
                                      <p:cBhvr>
                                        <p:cTn id="13" dur="500" fill="hold"/>
                                        <p:tgtEl>
                                          <p:spTgt spid="398340"/>
                                        </p:tgtEl>
                                        <p:attrNameLst>
                                          <p:attrName>ppt_y</p:attrName>
                                        </p:attrNameLst>
                                      </p:cBhvr>
                                      <p:tavLst>
                                        <p:tav tm="0">
                                          <p:val>
                                            <p:strVal val="#ppt_y"/>
                                          </p:val>
                                        </p:tav>
                                        <p:tav tm="100000">
                                          <p:val>
                                            <p:strVal val="#ppt_y"/>
                                          </p:val>
                                        </p:tav>
                                      </p:tavLst>
                                    </p:anim>
                                    <p:anim calcmode="lin" valueType="num">
                                      <p:cBhvr>
                                        <p:cTn id="14" dur="500" fill="hold"/>
                                        <p:tgtEl>
                                          <p:spTgt spid="398340"/>
                                        </p:tgtEl>
                                        <p:attrNameLst>
                                          <p:attrName>ppt_w</p:attrName>
                                        </p:attrNameLst>
                                      </p:cBhvr>
                                      <p:tavLst>
                                        <p:tav tm="0">
                                          <p:val>
                                            <p:fltVal val="0"/>
                                          </p:val>
                                        </p:tav>
                                        <p:tav tm="100000">
                                          <p:val>
                                            <p:strVal val="#ppt_w"/>
                                          </p:val>
                                        </p:tav>
                                      </p:tavLst>
                                    </p:anim>
                                    <p:anim calcmode="lin" valueType="num">
                                      <p:cBhvr>
                                        <p:cTn id="15" dur="500" fill="hold"/>
                                        <p:tgtEl>
                                          <p:spTgt spid="398340"/>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98342"/>
                                        </p:tgtEl>
                                        <p:attrNameLst>
                                          <p:attrName>style.visibility</p:attrName>
                                        </p:attrNameLst>
                                      </p:cBhvr>
                                      <p:to>
                                        <p:strVal val="visible"/>
                                      </p:to>
                                    </p:set>
                                    <p:anim calcmode="lin" valueType="num">
                                      <p:cBhvr additive="base">
                                        <p:cTn id="20" dur="500" fill="hold"/>
                                        <p:tgtEl>
                                          <p:spTgt spid="398342"/>
                                        </p:tgtEl>
                                        <p:attrNameLst>
                                          <p:attrName>ppt_x</p:attrName>
                                        </p:attrNameLst>
                                      </p:cBhvr>
                                      <p:tavLst>
                                        <p:tav tm="0">
                                          <p:val>
                                            <p:strVal val="#ppt_x"/>
                                          </p:val>
                                        </p:tav>
                                        <p:tav tm="100000">
                                          <p:val>
                                            <p:strVal val="#ppt_x"/>
                                          </p:val>
                                        </p:tav>
                                      </p:tavLst>
                                    </p:anim>
                                    <p:anim calcmode="lin" valueType="num">
                                      <p:cBhvr additive="base">
                                        <p:cTn id="21" dur="500" fill="hold"/>
                                        <p:tgtEl>
                                          <p:spTgt spid="398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build="p"/>
      <p:bldP spid="39834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ChangeArrowheads="1"/>
          </p:cNvSpPr>
          <p:nvPr>
            <p:ph type="ctrTitle"/>
          </p:nvPr>
        </p:nvSpPr>
        <p:spPr>
          <a:xfrm>
            <a:off x="899592" y="1340768"/>
            <a:ext cx="7200900" cy="1600200"/>
          </a:xfrm>
        </p:spPr>
        <p:txBody>
          <a:bodyPr/>
          <a:lstStyle/>
          <a:p>
            <a:pPr marL="342900" indent="-342900" eaLnBrk="1" hangingPunct="1"/>
            <a:r>
              <a:rPr lang="en-US" altLang="zh-CN" sz="4800" dirty="0" smtClean="0">
                <a:solidFill>
                  <a:srgbClr val="1313FF"/>
                </a:solidFill>
              </a:rPr>
              <a:t>3.3.2   </a:t>
            </a:r>
            <a:r>
              <a:rPr lang="zh-CN" altLang="en-US" sz="4800" dirty="0" smtClean="0">
                <a:solidFill>
                  <a:srgbClr val="1313FF"/>
                </a:solidFill>
              </a:rPr>
              <a:t>位置平均数</a:t>
            </a:r>
            <a:endParaRPr lang="zh-CN" altLang="en-US" sz="4800" dirty="0" smtClean="0"/>
          </a:p>
        </p:txBody>
      </p:sp>
      <p:sp>
        <p:nvSpPr>
          <p:cNvPr id="112644" name="Rectangle 3"/>
          <p:cNvSpPr>
            <a:spLocks noChangeArrowheads="1"/>
          </p:cNvSpPr>
          <p:nvPr/>
        </p:nvSpPr>
        <p:spPr bwMode="auto">
          <a:xfrm>
            <a:off x="2411760" y="3429000"/>
            <a:ext cx="5815013" cy="2304256"/>
          </a:xfrm>
          <a:prstGeom prst="rect">
            <a:avLst/>
          </a:prstGeom>
          <a:noFill/>
          <a:ln w="9525">
            <a:noFill/>
            <a:miter lim="800000"/>
            <a:headEnd/>
            <a:tailEnd/>
          </a:ln>
        </p:spPr>
        <p:txBody>
          <a:bodyPr/>
          <a:lstStyle/>
          <a:p>
            <a:pPr marL="742950" lvl="1" indent="-285750" algn="just">
              <a:lnSpc>
                <a:spcPct val="120000"/>
              </a:lnSpc>
              <a:spcBef>
                <a:spcPct val="20000"/>
              </a:spcBef>
              <a:buSzPct val="80000"/>
            </a:pPr>
            <a:r>
              <a:rPr lang="en-US" altLang="zh-CN" sz="3600" b="1" dirty="0" smtClean="0">
                <a:solidFill>
                  <a:srgbClr val="3333FF"/>
                </a:solidFill>
                <a:latin typeface="Tahoma" pitchFamily="34" charset="0"/>
                <a:ea typeface="宋体" pitchFamily="2" charset="-122"/>
              </a:rPr>
              <a:t>1.</a:t>
            </a:r>
            <a:r>
              <a:rPr lang="zh-CN" altLang="en-US" sz="3600" b="1" dirty="0" smtClean="0">
                <a:solidFill>
                  <a:srgbClr val="3333FF"/>
                </a:solidFill>
                <a:latin typeface="Tahoma" pitchFamily="34" charset="0"/>
                <a:ea typeface="宋体" pitchFamily="2" charset="-122"/>
              </a:rPr>
              <a:t>众数</a:t>
            </a:r>
            <a:endParaRPr lang="en-US" altLang="zh-CN" sz="3600" b="1" dirty="0">
              <a:solidFill>
                <a:srgbClr val="3333FF"/>
              </a:solidFill>
              <a:latin typeface="Tahoma" pitchFamily="34" charset="0"/>
              <a:ea typeface="宋体" pitchFamily="2" charset="-122"/>
            </a:endParaRPr>
          </a:p>
          <a:p>
            <a:pPr marL="742950" lvl="1" indent="-285750" algn="just">
              <a:lnSpc>
                <a:spcPct val="120000"/>
              </a:lnSpc>
              <a:spcBef>
                <a:spcPct val="20000"/>
              </a:spcBef>
              <a:buSzPct val="80000"/>
            </a:pPr>
            <a:r>
              <a:rPr lang="en-US" altLang="zh-CN" sz="3600" b="1" dirty="0" smtClean="0">
                <a:solidFill>
                  <a:srgbClr val="3333FF"/>
                </a:solidFill>
                <a:latin typeface="Tahoma" pitchFamily="34" charset="0"/>
                <a:ea typeface="宋体" pitchFamily="2" charset="-122"/>
              </a:rPr>
              <a:t>2.</a:t>
            </a:r>
            <a:r>
              <a:rPr lang="zh-CN" altLang="en-US" sz="3600" b="1" dirty="0" smtClean="0">
                <a:solidFill>
                  <a:srgbClr val="3333FF"/>
                </a:solidFill>
                <a:latin typeface="Tahoma" pitchFamily="34" charset="0"/>
                <a:ea typeface="宋体" pitchFamily="2" charset="-122"/>
              </a:rPr>
              <a:t>中位数</a:t>
            </a:r>
            <a:endParaRPr lang="en-US" altLang="zh-CN" sz="3600" b="1" dirty="0" smtClean="0">
              <a:solidFill>
                <a:srgbClr val="3333FF"/>
              </a:solidFill>
              <a:latin typeface="Tahoma" pitchFamily="34" charset="0"/>
              <a:ea typeface="宋体" pitchFamily="2" charset="-122"/>
            </a:endParaRPr>
          </a:p>
          <a:p>
            <a:pPr marL="742950" lvl="1" indent="-742950" algn="just">
              <a:lnSpc>
                <a:spcPct val="120000"/>
              </a:lnSpc>
              <a:spcBef>
                <a:spcPct val="20000"/>
              </a:spcBef>
              <a:buSzPct val="80000"/>
            </a:pPr>
            <a:r>
              <a:rPr lang="zh-CN" altLang="en-US" sz="3600" b="1" dirty="0" smtClean="0">
                <a:solidFill>
                  <a:srgbClr val="3333FF"/>
                </a:solidFill>
                <a:latin typeface="Tahoma" pitchFamily="34" charset="0"/>
                <a:ea typeface="宋体" pitchFamily="2" charset="-122"/>
              </a:rPr>
              <a:t>（</a:t>
            </a:r>
            <a:r>
              <a:rPr lang="en-US" altLang="zh-CN" sz="3600" b="1" dirty="0" smtClean="0">
                <a:solidFill>
                  <a:srgbClr val="3333FF"/>
                </a:solidFill>
                <a:latin typeface="Tahoma" pitchFamily="34" charset="0"/>
                <a:ea typeface="宋体" pitchFamily="2" charset="-122"/>
              </a:rPr>
              <a:t>3.</a:t>
            </a:r>
            <a:r>
              <a:rPr lang="zh-CN" altLang="en-US" sz="3600" b="1" dirty="0">
                <a:solidFill>
                  <a:srgbClr val="3333FF"/>
                </a:solidFill>
                <a:latin typeface="Tahoma" pitchFamily="34" charset="0"/>
                <a:ea typeface="宋体" pitchFamily="2" charset="-122"/>
              </a:rPr>
              <a:t>分位数）</a:t>
            </a:r>
          </a:p>
        </p:txBody>
      </p:sp>
      <p:sp>
        <p:nvSpPr>
          <p:cNvPr id="6" name="灯片编号占位符 5"/>
          <p:cNvSpPr>
            <a:spLocks noGrp="1"/>
          </p:cNvSpPr>
          <p:nvPr>
            <p:ph type="sldNum" sz="quarter" idx="12"/>
          </p:nvPr>
        </p:nvSpPr>
        <p:spPr/>
        <p:txBody>
          <a:bodyPr/>
          <a:lstStyle/>
          <a:p>
            <a:pPr>
              <a:defRPr/>
            </a:pPr>
            <a:fld id="{115FE61E-FA6F-4312-971A-B6F10F3D3BF0}" type="slidenum">
              <a:rPr lang="en-US" altLang="zh-CN" smtClean="0"/>
              <a:pPr>
                <a:defRPr/>
              </a:pPr>
              <a:t>71</a:t>
            </a:fld>
            <a:endParaRPr lang="en-US" altLang="zh-CN"/>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a:xfrm>
            <a:off x="539750" y="692150"/>
            <a:ext cx="7772400" cy="906463"/>
          </a:xfrm>
        </p:spPr>
        <p:txBody>
          <a:bodyPr/>
          <a:lstStyle/>
          <a:p>
            <a:pPr eaLnBrk="1" hangingPunct="1"/>
            <a:r>
              <a:rPr lang="en-US" altLang="zh-CN" sz="4000" dirty="0" smtClean="0">
                <a:solidFill>
                  <a:srgbClr val="1313FF"/>
                </a:solidFill>
              </a:rPr>
              <a:t>1. </a:t>
            </a:r>
            <a:r>
              <a:rPr lang="zh-CN" altLang="en-US" sz="4000" dirty="0" smtClean="0">
                <a:solidFill>
                  <a:srgbClr val="1313FF"/>
                </a:solidFill>
              </a:rPr>
              <a:t>众数</a:t>
            </a:r>
            <a:r>
              <a:rPr lang="zh-CN" altLang="en-US" sz="4000" dirty="0" smtClean="0">
                <a:solidFill>
                  <a:srgbClr val="1313FF"/>
                </a:solidFill>
                <a:latin typeface="宋体" pitchFamily="2" charset="-122"/>
              </a:rPr>
              <a:t>（</a:t>
            </a:r>
            <a:r>
              <a:rPr lang="en-US" altLang="zh-CN" sz="4000" dirty="0" smtClean="0">
                <a:solidFill>
                  <a:srgbClr val="1313FF"/>
                </a:solidFill>
                <a:latin typeface="宋体" pitchFamily="2" charset="-122"/>
              </a:rPr>
              <a:t>Mode)</a:t>
            </a:r>
          </a:p>
        </p:txBody>
      </p:sp>
      <p:sp>
        <p:nvSpPr>
          <p:cNvPr id="604163" name="Rectangle 3"/>
          <p:cNvSpPr>
            <a:spLocks noGrp="1" noChangeArrowheads="1"/>
          </p:cNvSpPr>
          <p:nvPr>
            <p:ph type="body" idx="1"/>
          </p:nvPr>
        </p:nvSpPr>
        <p:spPr>
          <a:xfrm>
            <a:off x="611560" y="2201863"/>
            <a:ext cx="8134350" cy="4106862"/>
          </a:xfrm>
        </p:spPr>
        <p:txBody>
          <a:bodyPr/>
          <a:lstStyle/>
          <a:p>
            <a:pPr eaLnBrk="1" hangingPunct="1">
              <a:lnSpc>
                <a:spcPct val="125000"/>
              </a:lnSpc>
              <a:spcBef>
                <a:spcPct val="0"/>
              </a:spcBef>
              <a:buFontTx/>
              <a:buNone/>
            </a:pPr>
            <a:r>
              <a:rPr lang="zh-CN" altLang="en-US" dirty="0" smtClean="0">
                <a:solidFill>
                  <a:srgbClr val="F040F0"/>
                </a:solidFill>
              </a:rPr>
              <a:t>概念</a:t>
            </a:r>
            <a:r>
              <a:rPr lang="zh-CN" altLang="en-US" dirty="0" smtClean="0"/>
              <a:t>：</a:t>
            </a:r>
            <a:r>
              <a:rPr lang="zh-CN" altLang="en-US" dirty="0" smtClean="0">
                <a:solidFill>
                  <a:srgbClr val="000000"/>
                </a:solidFill>
              </a:rPr>
              <a:t>众数是指总体中出现次数最多或频率最大的变量值（数据），用 </a:t>
            </a:r>
            <a:r>
              <a:rPr lang="en-US" altLang="zh-CN" sz="2800" i="1" dirty="0" smtClean="0">
                <a:solidFill>
                  <a:srgbClr val="000000"/>
                </a:solidFill>
                <a:latin typeface="Times New Roman" pitchFamily="18" charset="0"/>
              </a:rPr>
              <a:t>Mo</a:t>
            </a:r>
            <a:r>
              <a:rPr lang="en-US" altLang="zh-CN" sz="2800" dirty="0" smtClean="0">
                <a:solidFill>
                  <a:srgbClr val="000000"/>
                </a:solidFill>
                <a:latin typeface="宋体" pitchFamily="2" charset="-122"/>
              </a:rPr>
              <a:t> </a:t>
            </a:r>
            <a:r>
              <a:rPr lang="zh-CN" altLang="en-US" dirty="0" smtClean="0">
                <a:solidFill>
                  <a:srgbClr val="000000"/>
                </a:solidFill>
              </a:rPr>
              <a:t>表示。</a:t>
            </a:r>
            <a:endParaRPr lang="en-US" altLang="zh-CN" dirty="0" smtClean="0">
              <a:solidFill>
                <a:srgbClr val="000000"/>
              </a:solidFill>
            </a:endParaRPr>
          </a:p>
          <a:p>
            <a:pPr lvl="1" eaLnBrk="1" hangingPunct="1">
              <a:lnSpc>
                <a:spcPct val="125000"/>
              </a:lnSpc>
              <a:spcBef>
                <a:spcPct val="0"/>
              </a:spcBef>
              <a:buFontTx/>
              <a:buNone/>
            </a:pPr>
            <a:r>
              <a:rPr lang="en-US" altLang="zh-CN" dirty="0">
                <a:solidFill>
                  <a:schemeClr val="bg2"/>
                </a:solidFill>
              </a:rPr>
              <a:t> </a:t>
            </a:r>
            <a:r>
              <a:rPr lang="en-US" altLang="zh-CN" dirty="0" smtClean="0">
                <a:solidFill>
                  <a:schemeClr val="bg2"/>
                </a:solidFill>
              </a:rPr>
              <a:t>  </a:t>
            </a:r>
            <a:r>
              <a:rPr lang="zh-CN" altLang="en-US" dirty="0" smtClean="0">
                <a:solidFill>
                  <a:schemeClr val="bg2"/>
                </a:solidFill>
              </a:rPr>
              <a:t>例如</a:t>
            </a:r>
          </a:p>
          <a:p>
            <a:pPr marL="457200" lvl="1" indent="0" eaLnBrk="1" hangingPunct="1">
              <a:lnSpc>
                <a:spcPct val="125000"/>
              </a:lnSpc>
              <a:spcBef>
                <a:spcPct val="0"/>
              </a:spcBef>
              <a:buNone/>
            </a:pPr>
            <a:endParaRPr lang="zh-CN" altLang="en-US" dirty="0" smtClean="0"/>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72</a:t>
            </a:fld>
            <a:endParaRPr lang="en-US" altLang="zh-CN" dirty="0"/>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p:nvPr>
        </p:nvSpPr>
        <p:spPr>
          <a:xfrm>
            <a:off x="338040" y="908720"/>
            <a:ext cx="8410424" cy="1143000"/>
          </a:xfrm>
        </p:spPr>
        <p:txBody>
          <a:bodyPr lIns="90488" tIns="44450" rIns="90488" bIns="44450" anchor="ctr" anchorCtr="1"/>
          <a:lstStyle/>
          <a:p>
            <a:pPr eaLnBrk="1" hangingPunct="1"/>
            <a:r>
              <a:rPr lang="zh-CN" altLang="en-US" sz="3200" dirty="0" smtClean="0">
                <a:solidFill>
                  <a:srgbClr val="1313FF"/>
                </a:solidFill>
              </a:rPr>
              <a:t>   由未分组数据或单变量值分组的数列确定众数时，直接找出创新次数最多的变量值即可</a:t>
            </a:r>
          </a:p>
        </p:txBody>
      </p:sp>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73</a:t>
            </a:fld>
            <a:endParaRPr lang="en-US" altLang="zh-CN" dirty="0"/>
          </a:p>
        </p:txBody>
      </p:sp>
      <p:pic>
        <p:nvPicPr>
          <p:cNvPr id="2" name="图片 1"/>
          <p:cNvPicPr>
            <a:picLocks noChangeAspect="1"/>
          </p:cNvPicPr>
          <p:nvPr/>
        </p:nvPicPr>
        <p:blipFill>
          <a:blip r:embed="rId3"/>
          <a:stretch>
            <a:fillRect/>
          </a:stretch>
        </p:blipFill>
        <p:spPr>
          <a:xfrm>
            <a:off x="1504353" y="2303535"/>
            <a:ext cx="6077798" cy="3753374"/>
          </a:xfrm>
          <a:prstGeom prst="rect">
            <a:avLst/>
          </a:prstGeom>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Grp="1" noChangeArrowheads="1"/>
          </p:cNvSpPr>
          <p:nvPr>
            <p:ph type="title"/>
          </p:nvPr>
        </p:nvSpPr>
        <p:spPr>
          <a:xfrm>
            <a:off x="643731" y="406400"/>
            <a:ext cx="7772400" cy="990600"/>
          </a:xfrm>
        </p:spPr>
        <p:txBody>
          <a:bodyPr/>
          <a:lstStyle/>
          <a:p>
            <a:pPr eaLnBrk="1" hangingPunct="1"/>
            <a:r>
              <a:rPr lang="zh-CN" altLang="en-US" dirty="0" smtClean="0"/>
              <a:t>由等距数列近似计算众数</a:t>
            </a:r>
          </a:p>
        </p:txBody>
      </p:sp>
      <p:sp>
        <p:nvSpPr>
          <p:cNvPr id="116740" name="Text Box 3"/>
          <p:cNvSpPr>
            <a:spLocks noGrp="1" noChangeArrowheads="1"/>
          </p:cNvSpPr>
          <p:nvPr>
            <p:ph type="body" idx="1"/>
          </p:nvPr>
        </p:nvSpPr>
        <p:spPr>
          <a:xfrm>
            <a:off x="725488" y="1726552"/>
            <a:ext cx="7772400" cy="2087562"/>
          </a:xfrm>
          <a:noFill/>
        </p:spPr>
        <p:txBody>
          <a:bodyPr/>
          <a:lstStyle/>
          <a:p>
            <a:pPr eaLnBrk="1" hangingPunct="1"/>
            <a:r>
              <a:rPr lang="zh-CN" altLang="en-US" dirty="0" smtClean="0">
                <a:solidFill>
                  <a:schemeClr val="tx1"/>
                </a:solidFill>
              </a:rPr>
              <a:t>先确定众数所在</a:t>
            </a:r>
            <a:r>
              <a:rPr lang="zh-CN" altLang="en-US" dirty="0" smtClean="0">
                <a:solidFill>
                  <a:schemeClr val="tx1"/>
                </a:solidFill>
              </a:rPr>
              <a:t>组</a:t>
            </a:r>
            <a:r>
              <a:rPr lang="en-US" altLang="zh-CN" b="0" dirty="0">
                <a:solidFill>
                  <a:schemeClr val="tx1"/>
                </a:solidFill>
              </a:rPr>
              <a:t>——</a:t>
            </a:r>
            <a:r>
              <a:rPr lang="zh-CN" altLang="en-US" dirty="0" smtClean="0">
                <a:solidFill>
                  <a:schemeClr val="tx1"/>
                </a:solidFill>
              </a:rPr>
              <a:t>次数</a:t>
            </a:r>
            <a:r>
              <a:rPr lang="zh-CN" altLang="en-US" dirty="0" smtClean="0">
                <a:solidFill>
                  <a:schemeClr val="tx1"/>
                </a:solidFill>
              </a:rPr>
              <a:t>最</a:t>
            </a:r>
            <a:r>
              <a:rPr lang="zh-CN" altLang="en-US" dirty="0">
                <a:solidFill>
                  <a:schemeClr val="tx1"/>
                </a:solidFill>
              </a:rPr>
              <a:t>多</a:t>
            </a:r>
            <a:r>
              <a:rPr lang="zh-CN" altLang="en-US" dirty="0" smtClean="0">
                <a:solidFill>
                  <a:schemeClr val="tx1"/>
                </a:solidFill>
              </a:rPr>
              <a:t>的</a:t>
            </a:r>
            <a:r>
              <a:rPr lang="zh-CN" altLang="en-US" dirty="0">
                <a:solidFill>
                  <a:schemeClr val="tx1"/>
                </a:solidFill>
              </a:rPr>
              <a:t>组。</a:t>
            </a:r>
            <a:endParaRPr lang="en-US" altLang="zh-CN" dirty="0" smtClean="0">
              <a:solidFill>
                <a:schemeClr val="tx1"/>
              </a:solidFill>
            </a:endParaRPr>
          </a:p>
          <a:p>
            <a:pPr marL="342900" lvl="2" indent="-342900" eaLnBrk="1" hangingPunct="1">
              <a:buSzPct val="90000"/>
              <a:buBlip>
                <a:blip r:embed="rId2"/>
              </a:buBlip>
            </a:pPr>
            <a:r>
              <a:rPr lang="zh-CN" altLang="en-US" sz="3200" dirty="0" smtClean="0">
                <a:solidFill>
                  <a:schemeClr val="tx1"/>
                </a:solidFill>
              </a:rPr>
              <a:t>再根据众数组与</a:t>
            </a:r>
            <a:r>
              <a:rPr lang="zh-CN" altLang="en-US" sz="3200" dirty="0">
                <a:solidFill>
                  <a:schemeClr val="tx1"/>
                </a:solidFill>
              </a:rPr>
              <a:t>相邻两</a:t>
            </a:r>
            <a:r>
              <a:rPr lang="zh-CN" altLang="en-US" sz="3200" dirty="0" smtClean="0">
                <a:solidFill>
                  <a:schemeClr val="tx1"/>
                </a:solidFill>
              </a:rPr>
              <a:t>组的次数差来近似推算，如图：</a:t>
            </a:r>
          </a:p>
        </p:txBody>
      </p:sp>
      <p:grpSp>
        <p:nvGrpSpPr>
          <p:cNvPr id="2" name="Group 4"/>
          <p:cNvGrpSpPr>
            <a:grpSpLocks/>
          </p:cNvGrpSpPr>
          <p:nvPr/>
        </p:nvGrpSpPr>
        <p:grpSpPr bwMode="auto">
          <a:xfrm>
            <a:off x="684213" y="3887788"/>
            <a:ext cx="1943100" cy="1917700"/>
            <a:chOff x="4416" y="1104"/>
            <a:chExt cx="960" cy="716"/>
          </a:xfrm>
        </p:grpSpPr>
        <p:grpSp>
          <p:nvGrpSpPr>
            <p:cNvPr id="116765" name="Group 5"/>
            <p:cNvGrpSpPr>
              <a:grpSpLocks/>
            </p:cNvGrpSpPr>
            <p:nvPr/>
          </p:nvGrpSpPr>
          <p:grpSpPr bwMode="auto">
            <a:xfrm>
              <a:off x="4544" y="1144"/>
              <a:ext cx="634" cy="676"/>
              <a:chOff x="4323" y="1292"/>
              <a:chExt cx="729" cy="783"/>
            </a:xfrm>
          </p:grpSpPr>
          <p:sp>
            <p:nvSpPr>
              <p:cNvPr id="609286" name="Rectangle 6"/>
              <p:cNvSpPr>
                <a:spLocks noChangeArrowheads="1"/>
              </p:cNvSpPr>
              <p:nvPr/>
            </p:nvSpPr>
            <p:spPr bwMode="auto">
              <a:xfrm>
                <a:off x="4566" y="1292"/>
                <a:ext cx="243" cy="783"/>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287" name="Rectangle 7"/>
              <p:cNvSpPr>
                <a:spLocks noChangeArrowheads="1"/>
              </p:cNvSpPr>
              <p:nvPr/>
            </p:nvSpPr>
            <p:spPr bwMode="auto">
              <a:xfrm>
                <a:off x="4323" y="1522"/>
                <a:ext cx="243" cy="553"/>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288" name="Rectangle 8"/>
              <p:cNvSpPr>
                <a:spLocks noChangeArrowheads="1"/>
              </p:cNvSpPr>
              <p:nvPr/>
            </p:nvSpPr>
            <p:spPr bwMode="auto">
              <a:xfrm>
                <a:off x="4809" y="1522"/>
                <a:ext cx="243" cy="553"/>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289" name="Line 9"/>
              <p:cNvSpPr>
                <a:spLocks noChangeShapeType="1"/>
              </p:cNvSpPr>
              <p:nvPr/>
            </p:nvSpPr>
            <p:spPr bwMode="auto">
              <a:xfrm>
                <a:off x="4566" y="1292"/>
                <a:ext cx="243" cy="230"/>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290" name="Line 10"/>
              <p:cNvSpPr>
                <a:spLocks noChangeShapeType="1"/>
              </p:cNvSpPr>
              <p:nvPr/>
            </p:nvSpPr>
            <p:spPr bwMode="auto">
              <a:xfrm flipV="1">
                <a:off x="4566" y="1292"/>
                <a:ext cx="243" cy="230"/>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291" name="Line 11"/>
              <p:cNvSpPr>
                <a:spLocks noChangeShapeType="1"/>
              </p:cNvSpPr>
              <p:nvPr/>
            </p:nvSpPr>
            <p:spPr bwMode="auto">
              <a:xfrm>
                <a:off x="4688" y="1430"/>
                <a:ext cx="0" cy="645"/>
              </a:xfrm>
              <a:prstGeom prst="line">
                <a:avLst/>
              </a:prstGeom>
              <a:noFill/>
              <a:ln w="19050">
                <a:solidFill>
                  <a:schemeClr val="accent2"/>
                </a:solidFill>
                <a:prstDash val="dash"/>
                <a:round/>
                <a:headEnd/>
                <a:tailEnd/>
              </a:ln>
              <a:effectLst>
                <a:outerShdw dist="17961" dir="2700000" algn="ctr" rotWithShape="0">
                  <a:schemeClr val="bg2"/>
                </a:outerShdw>
              </a:effectLst>
            </p:spPr>
            <p:txBody>
              <a:bodyPr/>
              <a:lstStyle/>
              <a:p>
                <a:pPr>
                  <a:defRPr/>
                </a:pPr>
                <a:endParaRPr lang="zh-CN" altLang="en-US"/>
              </a:p>
            </p:txBody>
          </p:sp>
        </p:grpSp>
        <p:grpSp>
          <p:nvGrpSpPr>
            <p:cNvPr id="116766" name="Group 12"/>
            <p:cNvGrpSpPr>
              <a:grpSpLocks/>
            </p:cNvGrpSpPr>
            <p:nvPr/>
          </p:nvGrpSpPr>
          <p:grpSpPr bwMode="auto">
            <a:xfrm>
              <a:off x="4416" y="1104"/>
              <a:ext cx="960" cy="716"/>
              <a:chOff x="2640" y="3072"/>
              <a:chExt cx="1536" cy="912"/>
            </a:xfrm>
          </p:grpSpPr>
          <p:sp>
            <p:nvSpPr>
              <p:cNvPr id="609293" name="Line 13"/>
              <p:cNvSpPr>
                <a:spLocks noChangeShapeType="1"/>
              </p:cNvSpPr>
              <p:nvPr/>
            </p:nvSpPr>
            <p:spPr bwMode="auto">
              <a:xfrm>
                <a:off x="2640" y="3984"/>
                <a:ext cx="1536" cy="0"/>
              </a:xfrm>
              <a:prstGeom prst="line">
                <a:avLst/>
              </a:prstGeom>
              <a:noFill/>
              <a:ln w="38100">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609294" name="Line 14"/>
              <p:cNvSpPr>
                <a:spLocks noChangeShapeType="1"/>
              </p:cNvSpPr>
              <p:nvPr/>
            </p:nvSpPr>
            <p:spPr bwMode="auto">
              <a:xfrm>
                <a:off x="2640" y="3072"/>
                <a:ext cx="0" cy="912"/>
              </a:xfrm>
              <a:prstGeom prst="line">
                <a:avLst/>
              </a:prstGeom>
              <a:noFill/>
              <a:ln w="38100">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grpSp>
      </p:grpSp>
      <p:sp>
        <p:nvSpPr>
          <p:cNvPr id="609295" name="Text Box 15"/>
          <p:cNvSpPr txBox="1">
            <a:spLocks noChangeArrowheads="1"/>
          </p:cNvSpPr>
          <p:nvPr/>
        </p:nvSpPr>
        <p:spPr bwMode="auto">
          <a:xfrm>
            <a:off x="1404938" y="5734050"/>
            <a:ext cx="719137" cy="51911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lang="en-US" altLang="zh-CN" sz="2000">
                <a:solidFill>
                  <a:srgbClr val="F040F0"/>
                </a:solidFill>
                <a:effectLst>
                  <a:outerShdw blurRad="38100" dist="38100" dir="2700000" algn="tl">
                    <a:srgbClr val="C0C0C0"/>
                  </a:outerShdw>
                </a:effectLst>
                <a:latin typeface="Arial" charset="0"/>
                <a:ea typeface="宋体" pitchFamily="2" charset="-122"/>
              </a:rPr>
              <a:t>M</a:t>
            </a:r>
            <a:r>
              <a:rPr lang="en-US" altLang="zh-CN" sz="2800" baseline="-25000">
                <a:solidFill>
                  <a:srgbClr val="F040F0"/>
                </a:solidFill>
                <a:effectLst>
                  <a:outerShdw blurRad="38100" dist="38100" dir="2700000" algn="tl">
                    <a:srgbClr val="C0C0C0"/>
                  </a:outerShdw>
                </a:effectLst>
                <a:latin typeface="Arial" charset="0"/>
                <a:ea typeface="宋体" pitchFamily="2" charset="-122"/>
              </a:rPr>
              <a:t>o</a:t>
            </a:r>
            <a:endParaRPr lang="en-US" altLang="zh-CN" sz="2800">
              <a:solidFill>
                <a:srgbClr val="F040F0"/>
              </a:solidFill>
              <a:effectLst>
                <a:outerShdw blurRad="38100" dist="38100" dir="2700000" algn="tl">
                  <a:srgbClr val="C0C0C0"/>
                </a:outerShdw>
              </a:effectLst>
              <a:latin typeface="Arial" charset="0"/>
              <a:ea typeface="宋体" pitchFamily="2" charset="-122"/>
            </a:endParaRPr>
          </a:p>
        </p:txBody>
      </p:sp>
      <p:grpSp>
        <p:nvGrpSpPr>
          <p:cNvPr id="5" name="Group 16"/>
          <p:cNvGrpSpPr>
            <a:grpSpLocks/>
          </p:cNvGrpSpPr>
          <p:nvPr/>
        </p:nvGrpSpPr>
        <p:grpSpPr bwMode="auto">
          <a:xfrm>
            <a:off x="3479800" y="4092575"/>
            <a:ext cx="2100263" cy="2160588"/>
            <a:chOff x="2192" y="2578"/>
            <a:chExt cx="1323" cy="1361"/>
          </a:xfrm>
        </p:grpSpPr>
        <p:sp>
          <p:nvSpPr>
            <p:cNvPr id="609297" name="Rectangle 17"/>
            <p:cNvSpPr>
              <a:spLocks noChangeArrowheads="1"/>
            </p:cNvSpPr>
            <p:nvPr/>
          </p:nvSpPr>
          <p:spPr bwMode="auto">
            <a:xfrm>
              <a:off x="2653" y="2638"/>
              <a:ext cx="298" cy="1019"/>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298" name="Rectangle 18"/>
            <p:cNvSpPr>
              <a:spLocks noChangeArrowheads="1"/>
            </p:cNvSpPr>
            <p:nvPr/>
          </p:nvSpPr>
          <p:spPr bwMode="auto">
            <a:xfrm>
              <a:off x="2368" y="2938"/>
              <a:ext cx="291" cy="719"/>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299" name="Rectangle 19"/>
            <p:cNvSpPr>
              <a:spLocks noChangeArrowheads="1"/>
            </p:cNvSpPr>
            <p:nvPr/>
          </p:nvSpPr>
          <p:spPr bwMode="auto">
            <a:xfrm>
              <a:off x="2951" y="3157"/>
              <a:ext cx="299" cy="500"/>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300" name="Line 20"/>
            <p:cNvSpPr>
              <a:spLocks noChangeShapeType="1"/>
            </p:cNvSpPr>
            <p:nvPr/>
          </p:nvSpPr>
          <p:spPr bwMode="auto">
            <a:xfrm>
              <a:off x="2653" y="2614"/>
              <a:ext cx="318" cy="544"/>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301" name="Line 21"/>
            <p:cNvSpPr>
              <a:spLocks noChangeShapeType="1"/>
            </p:cNvSpPr>
            <p:nvPr/>
          </p:nvSpPr>
          <p:spPr bwMode="auto">
            <a:xfrm flipV="1">
              <a:off x="2653" y="2659"/>
              <a:ext cx="252" cy="293"/>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302" name="Line 22"/>
            <p:cNvSpPr>
              <a:spLocks noChangeShapeType="1"/>
            </p:cNvSpPr>
            <p:nvPr/>
          </p:nvSpPr>
          <p:spPr bwMode="auto">
            <a:xfrm>
              <a:off x="2744" y="2834"/>
              <a:ext cx="0" cy="796"/>
            </a:xfrm>
            <a:prstGeom prst="line">
              <a:avLst/>
            </a:prstGeom>
            <a:noFill/>
            <a:ln w="19050">
              <a:solidFill>
                <a:schemeClr val="accent2"/>
              </a:solidFill>
              <a:prstDash val="dash"/>
              <a:round/>
              <a:headEnd/>
              <a:tailEnd/>
            </a:ln>
            <a:effectLst>
              <a:outerShdw dist="17961" dir="2700000" algn="ctr" rotWithShape="0">
                <a:schemeClr val="bg2"/>
              </a:outerShdw>
            </a:effectLst>
          </p:spPr>
          <p:txBody>
            <a:bodyPr/>
            <a:lstStyle/>
            <a:p>
              <a:pPr>
                <a:defRPr/>
              </a:pPr>
              <a:endParaRPr lang="zh-CN" altLang="en-US"/>
            </a:p>
          </p:txBody>
        </p:sp>
        <p:grpSp>
          <p:nvGrpSpPr>
            <p:cNvPr id="116761" name="Group 23"/>
            <p:cNvGrpSpPr>
              <a:grpSpLocks/>
            </p:cNvGrpSpPr>
            <p:nvPr/>
          </p:nvGrpSpPr>
          <p:grpSpPr bwMode="auto">
            <a:xfrm>
              <a:off x="2192" y="2578"/>
              <a:ext cx="1323" cy="1079"/>
              <a:chOff x="2640" y="3072"/>
              <a:chExt cx="1536" cy="912"/>
            </a:xfrm>
          </p:grpSpPr>
          <p:sp>
            <p:nvSpPr>
              <p:cNvPr id="609304" name="Line 24"/>
              <p:cNvSpPr>
                <a:spLocks noChangeShapeType="1"/>
              </p:cNvSpPr>
              <p:nvPr/>
            </p:nvSpPr>
            <p:spPr bwMode="auto">
              <a:xfrm>
                <a:off x="2640" y="3984"/>
                <a:ext cx="1536" cy="0"/>
              </a:xfrm>
              <a:prstGeom prst="line">
                <a:avLst/>
              </a:prstGeom>
              <a:noFill/>
              <a:ln w="38100">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609305" name="Line 25"/>
              <p:cNvSpPr>
                <a:spLocks noChangeShapeType="1"/>
              </p:cNvSpPr>
              <p:nvPr/>
            </p:nvSpPr>
            <p:spPr bwMode="auto">
              <a:xfrm>
                <a:off x="2640" y="3072"/>
                <a:ext cx="0" cy="912"/>
              </a:xfrm>
              <a:prstGeom prst="line">
                <a:avLst/>
              </a:prstGeom>
              <a:noFill/>
              <a:ln w="38100">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grpSp>
        <p:sp>
          <p:nvSpPr>
            <p:cNvPr id="609306" name="Text Box 26"/>
            <p:cNvSpPr txBox="1">
              <a:spLocks noChangeArrowheads="1"/>
            </p:cNvSpPr>
            <p:nvPr/>
          </p:nvSpPr>
          <p:spPr bwMode="auto">
            <a:xfrm>
              <a:off x="2653" y="3612"/>
              <a:ext cx="453" cy="32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lang="en-US" altLang="zh-CN" sz="2000">
                  <a:solidFill>
                    <a:srgbClr val="F040F0"/>
                  </a:solidFill>
                  <a:effectLst>
                    <a:outerShdw blurRad="38100" dist="38100" dir="2700000" algn="tl">
                      <a:srgbClr val="C0C0C0"/>
                    </a:outerShdw>
                  </a:effectLst>
                  <a:latin typeface="Arial" charset="0"/>
                  <a:ea typeface="宋体" pitchFamily="2" charset="-122"/>
                </a:rPr>
                <a:t>M</a:t>
              </a:r>
              <a:r>
                <a:rPr lang="en-US" altLang="zh-CN" sz="2800" baseline="-25000">
                  <a:solidFill>
                    <a:srgbClr val="F040F0"/>
                  </a:solidFill>
                  <a:effectLst>
                    <a:outerShdw blurRad="38100" dist="38100" dir="2700000" algn="tl">
                      <a:srgbClr val="C0C0C0"/>
                    </a:outerShdw>
                  </a:effectLst>
                  <a:latin typeface="Arial" charset="0"/>
                  <a:ea typeface="宋体" pitchFamily="2" charset="-122"/>
                </a:rPr>
                <a:t>o</a:t>
              </a:r>
              <a:endParaRPr lang="en-US" altLang="zh-CN" sz="2800">
                <a:solidFill>
                  <a:srgbClr val="F040F0"/>
                </a:solidFill>
                <a:effectLst>
                  <a:outerShdw blurRad="38100" dist="38100" dir="2700000" algn="tl">
                    <a:srgbClr val="C0C0C0"/>
                  </a:outerShdw>
                </a:effectLst>
                <a:latin typeface="Arial" charset="0"/>
                <a:ea typeface="宋体" pitchFamily="2" charset="-122"/>
              </a:endParaRPr>
            </a:p>
          </p:txBody>
        </p:sp>
      </p:grpSp>
      <p:grpSp>
        <p:nvGrpSpPr>
          <p:cNvPr id="7" name="Group 27"/>
          <p:cNvGrpSpPr>
            <a:grpSpLocks/>
          </p:cNvGrpSpPr>
          <p:nvPr/>
        </p:nvGrpSpPr>
        <p:grpSpPr bwMode="auto">
          <a:xfrm>
            <a:off x="6588125" y="4149725"/>
            <a:ext cx="2087563" cy="2103438"/>
            <a:chOff x="4150" y="2614"/>
            <a:chExt cx="1315" cy="1325"/>
          </a:xfrm>
        </p:grpSpPr>
        <p:grpSp>
          <p:nvGrpSpPr>
            <p:cNvPr id="116745" name="Group 28"/>
            <p:cNvGrpSpPr>
              <a:grpSpLocks/>
            </p:cNvGrpSpPr>
            <p:nvPr/>
          </p:nvGrpSpPr>
          <p:grpSpPr bwMode="auto">
            <a:xfrm>
              <a:off x="4150" y="2614"/>
              <a:ext cx="1315" cy="1088"/>
              <a:chOff x="4195" y="2704"/>
              <a:chExt cx="960" cy="726"/>
            </a:xfrm>
          </p:grpSpPr>
          <p:sp>
            <p:nvSpPr>
              <p:cNvPr id="609309" name="Rectangle 29"/>
              <p:cNvSpPr>
                <a:spLocks noChangeArrowheads="1"/>
              </p:cNvSpPr>
              <p:nvPr/>
            </p:nvSpPr>
            <p:spPr bwMode="auto">
              <a:xfrm>
                <a:off x="4543" y="2709"/>
                <a:ext cx="197" cy="721"/>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310" name="Rectangle 30"/>
              <p:cNvSpPr>
                <a:spLocks noChangeArrowheads="1"/>
              </p:cNvSpPr>
              <p:nvPr/>
            </p:nvSpPr>
            <p:spPr bwMode="auto">
              <a:xfrm>
                <a:off x="4339" y="3088"/>
                <a:ext cx="195" cy="332"/>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311" name="Rectangle 31"/>
              <p:cNvSpPr>
                <a:spLocks noChangeArrowheads="1"/>
              </p:cNvSpPr>
              <p:nvPr/>
            </p:nvSpPr>
            <p:spPr bwMode="auto">
              <a:xfrm>
                <a:off x="4746" y="2943"/>
                <a:ext cx="211" cy="477"/>
              </a:xfrm>
              <a:prstGeom prst="rect">
                <a:avLst/>
              </a:prstGeom>
              <a:noFill/>
              <a:ln w="28575">
                <a:solidFill>
                  <a:schemeClr val="hlink"/>
                </a:solid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09312" name="Line 32"/>
              <p:cNvSpPr>
                <a:spLocks noChangeShapeType="1"/>
              </p:cNvSpPr>
              <p:nvPr/>
            </p:nvSpPr>
            <p:spPr bwMode="auto">
              <a:xfrm>
                <a:off x="4534" y="2744"/>
                <a:ext cx="212" cy="199"/>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313" name="Line 33"/>
              <p:cNvSpPr>
                <a:spLocks noChangeShapeType="1"/>
              </p:cNvSpPr>
              <p:nvPr/>
            </p:nvSpPr>
            <p:spPr bwMode="auto">
              <a:xfrm flipV="1">
                <a:off x="4531" y="2744"/>
                <a:ext cx="215" cy="344"/>
              </a:xfrm>
              <a:prstGeom prst="line">
                <a:avLst/>
              </a:prstGeom>
              <a:noFill/>
              <a:ln w="28575">
                <a:solidFill>
                  <a:schemeClr val="tx2"/>
                </a:solidFill>
                <a:round/>
                <a:headEnd/>
                <a:tailEnd/>
              </a:ln>
              <a:effectLst>
                <a:outerShdw dist="17961" dir="2700000" algn="ctr" rotWithShape="0">
                  <a:schemeClr val="bg2"/>
                </a:outerShdw>
              </a:effectLst>
            </p:spPr>
            <p:txBody>
              <a:bodyPr/>
              <a:lstStyle/>
              <a:p>
                <a:pPr>
                  <a:defRPr/>
                </a:pPr>
                <a:endParaRPr lang="zh-CN" altLang="en-US"/>
              </a:p>
            </p:txBody>
          </p:sp>
          <p:sp>
            <p:nvSpPr>
              <p:cNvPr id="609314" name="Line 34"/>
              <p:cNvSpPr>
                <a:spLocks noChangeShapeType="1"/>
              </p:cNvSpPr>
              <p:nvPr/>
            </p:nvSpPr>
            <p:spPr bwMode="auto">
              <a:xfrm>
                <a:off x="4675" y="2896"/>
                <a:ext cx="0" cy="509"/>
              </a:xfrm>
              <a:prstGeom prst="line">
                <a:avLst/>
              </a:prstGeom>
              <a:noFill/>
              <a:ln w="19050">
                <a:solidFill>
                  <a:schemeClr val="accent2"/>
                </a:solidFill>
                <a:prstDash val="dash"/>
                <a:round/>
                <a:headEnd/>
                <a:tailEnd/>
              </a:ln>
              <a:effectLst>
                <a:outerShdw dist="17961" dir="2700000" algn="ctr" rotWithShape="0">
                  <a:schemeClr val="bg2"/>
                </a:outerShdw>
              </a:effectLst>
            </p:spPr>
            <p:txBody>
              <a:bodyPr/>
              <a:lstStyle/>
              <a:p>
                <a:pPr>
                  <a:defRPr/>
                </a:pPr>
                <a:endParaRPr lang="zh-CN" altLang="en-US"/>
              </a:p>
            </p:txBody>
          </p:sp>
          <p:sp>
            <p:nvSpPr>
              <p:cNvPr id="609315" name="Line 35"/>
              <p:cNvSpPr>
                <a:spLocks noChangeShapeType="1"/>
              </p:cNvSpPr>
              <p:nvPr/>
            </p:nvSpPr>
            <p:spPr bwMode="auto">
              <a:xfrm>
                <a:off x="4195" y="3420"/>
                <a:ext cx="960" cy="0"/>
              </a:xfrm>
              <a:prstGeom prst="line">
                <a:avLst/>
              </a:prstGeom>
              <a:noFill/>
              <a:ln w="38100">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609316" name="Line 36"/>
              <p:cNvSpPr>
                <a:spLocks noChangeShapeType="1"/>
              </p:cNvSpPr>
              <p:nvPr/>
            </p:nvSpPr>
            <p:spPr bwMode="auto">
              <a:xfrm>
                <a:off x="4195" y="2704"/>
                <a:ext cx="0" cy="716"/>
              </a:xfrm>
              <a:prstGeom prst="line">
                <a:avLst/>
              </a:prstGeom>
              <a:noFill/>
              <a:ln w="38100">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grpSp>
        <p:sp>
          <p:nvSpPr>
            <p:cNvPr id="609317" name="Text Box 37"/>
            <p:cNvSpPr txBox="1">
              <a:spLocks noChangeArrowheads="1"/>
            </p:cNvSpPr>
            <p:nvPr/>
          </p:nvSpPr>
          <p:spPr bwMode="auto">
            <a:xfrm>
              <a:off x="4695" y="3612"/>
              <a:ext cx="453" cy="32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lang="en-US" altLang="zh-CN" sz="2000">
                  <a:solidFill>
                    <a:srgbClr val="F040F0"/>
                  </a:solidFill>
                  <a:effectLst>
                    <a:outerShdw blurRad="38100" dist="38100" dir="2700000" algn="tl">
                      <a:srgbClr val="C0C0C0"/>
                    </a:outerShdw>
                  </a:effectLst>
                  <a:latin typeface="Arial" charset="0"/>
                  <a:ea typeface="宋体" pitchFamily="2" charset="-122"/>
                </a:rPr>
                <a:t>M</a:t>
              </a:r>
              <a:r>
                <a:rPr lang="en-US" altLang="zh-CN" sz="2800" baseline="-25000">
                  <a:solidFill>
                    <a:srgbClr val="F040F0"/>
                  </a:solidFill>
                  <a:effectLst>
                    <a:outerShdw blurRad="38100" dist="38100" dir="2700000" algn="tl">
                      <a:srgbClr val="C0C0C0"/>
                    </a:outerShdw>
                  </a:effectLst>
                  <a:latin typeface="Arial" charset="0"/>
                  <a:ea typeface="宋体" pitchFamily="2" charset="-122"/>
                </a:rPr>
                <a:t>o</a:t>
              </a:r>
              <a:endParaRPr lang="en-US" altLang="zh-CN" sz="2800">
                <a:solidFill>
                  <a:srgbClr val="F040F0"/>
                </a:solidFill>
                <a:effectLst>
                  <a:outerShdw blurRad="38100" dist="38100" dir="2700000" algn="tl">
                    <a:srgbClr val="C0C0C0"/>
                  </a:outerShdw>
                </a:effectLst>
                <a:latin typeface="Arial" charset="0"/>
                <a:ea typeface="宋体" pitchFamily="2" charset="-122"/>
              </a:endParaRPr>
            </a:p>
          </p:txBody>
        </p:sp>
      </p:grpSp>
      <p:sp>
        <p:nvSpPr>
          <p:cNvPr id="39" name="灯片编号占位符 38"/>
          <p:cNvSpPr>
            <a:spLocks noGrp="1"/>
          </p:cNvSpPr>
          <p:nvPr>
            <p:ph type="sldNum" sz="quarter" idx="12"/>
          </p:nvPr>
        </p:nvSpPr>
        <p:spPr/>
        <p:txBody>
          <a:bodyPr/>
          <a:lstStyle/>
          <a:p>
            <a:pPr>
              <a:defRPr/>
            </a:pPr>
            <a:fld id="{62FC49CA-8014-4DA2-ABEB-AF96863EC77D}" type="slidenum">
              <a:rPr lang="en-US" altLang="zh-CN" smtClean="0"/>
              <a:pPr>
                <a:defRPr/>
              </a:pPr>
              <a:t>74</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609295"/>
                                        </p:tgtEl>
                                        <p:attrNameLst>
                                          <p:attrName>style.visibility</p:attrName>
                                        </p:attrNameLst>
                                      </p:cBhvr>
                                      <p:to>
                                        <p:strVal val="visible"/>
                                      </p:to>
                                    </p:set>
                                    <p:anim calcmode="lin" valueType="num">
                                      <p:cBhvr additive="base">
                                        <p:cTn id="10" dur="2000" fill="hold"/>
                                        <p:tgtEl>
                                          <p:spTgt spid="609295"/>
                                        </p:tgtEl>
                                        <p:attrNameLst>
                                          <p:attrName>ppt_x</p:attrName>
                                        </p:attrNameLst>
                                      </p:cBhvr>
                                      <p:tavLst>
                                        <p:tav tm="0">
                                          <p:val>
                                            <p:strVal val="#ppt_x"/>
                                          </p:val>
                                        </p:tav>
                                        <p:tav tm="100000">
                                          <p:val>
                                            <p:strVal val="#ppt_x"/>
                                          </p:val>
                                        </p:tav>
                                      </p:tavLst>
                                    </p:anim>
                                    <p:anim calcmode="lin" valueType="num">
                                      <p:cBhvr additive="base">
                                        <p:cTn id="11" dur="2000" fill="hold"/>
                                        <p:tgtEl>
                                          <p:spTgt spid="609295"/>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amond(in)">
                                      <p:cBhvr>
                                        <p:cTn id="16" dur="2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ox(in)">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9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1383" name="Group 55"/>
          <p:cNvGraphicFramePr>
            <a:graphicFrameLocks noGrp="1"/>
          </p:cNvGraphicFramePr>
          <p:nvPr>
            <p:extLst>
              <p:ext uri="{D42A27DB-BD31-4B8C-83A1-F6EECF244321}">
                <p14:modId xmlns:p14="http://schemas.microsoft.com/office/powerpoint/2010/main" val="669656078"/>
              </p:ext>
            </p:extLst>
          </p:nvPr>
        </p:nvGraphicFramePr>
        <p:xfrm>
          <a:off x="304800" y="1524000"/>
          <a:ext cx="3962400" cy="4187952"/>
        </p:xfrm>
        <a:graphic>
          <a:graphicData uri="http://schemas.openxmlformats.org/drawingml/2006/table">
            <a:tbl>
              <a:tblPr/>
              <a:tblGrid>
                <a:gridCol w="17526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5445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C56B9E"/>
                          </a:solidFill>
                          <a:effectLst/>
                          <a:latin typeface="Tahoma" pitchFamily="34" charset="0"/>
                          <a:ea typeface="宋体" pitchFamily="2" charset="-122"/>
                        </a:rPr>
                        <a:t>按成绩分组（分）</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学生人数</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（人）</a:t>
                      </a:r>
                    </a:p>
                  </a:txBody>
                  <a:tcP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6857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C56B9E"/>
                          </a:solidFill>
                          <a:effectLst/>
                          <a:latin typeface="Tahoma" pitchFamily="34" charset="0"/>
                          <a:ea typeface="宋体" pitchFamily="2" charset="-122"/>
                        </a:rPr>
                        <a:t>以下</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60</a:t>
                      </a:r>
                      <a:r>
                        <a:rPr kumimoji="1" lang="en-US" altLang="zh-CN" sz="2800" b="1" i="0" u="none" strike="noStrike" cap="none" normalizeH="0" baseline="0" dirty="0" smtClean="0">
                          <a:ln>
                            <a:noFill/>
                          </a:ln>
                          <a:solidFill>
                            <a:srgbClr val="C56B9E"/>
                          </a:solidFill>
                          <a:effectLst/>
                          <a:latin typeface="Times New Roman"/>
                          <a:ea typeface="宋体" pitchFamily="2" charset="-122"/>
                        </a:rPr>
                        <a:t>—</a:t>
                      </a: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70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3200" b="1" i="0" u="none" strike="noStrike" cap="none" normalizeH="0" baseline="0" dirty="0" smtClean="0">
                          <a:ln>
                            <a:noFill/>
                          </a:ln>
                          <a:solidFill>
                            <a:srgbClr val="C00000"/>
                          </a:solidFill>
                          <a:effectLst/>
                          <a:latin typeface="Times New Roman" pitchFamily="18" charset="0"/>
                          <a:ea typeface="宋体" pitchFamily="2" charset="-122"/>
                        </a:rPr>
                        <a:t>70—80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80</a:t>
                      </a:r>
                      <a:r>
                        <a:rPr kumimoji="1" lang="en-US" altLang="zh-CN" sz="2800" b="1" i="0" u="none" strike="noStrike" cap="none" normalizeH="0" baseline="0" dirty="0" smtClean="0">
                          <a:ln>
                            <a:noFill/>
                          </a:ln>
                          <a:solidFill>
                            <a:srgbClr val="C56B9E"/>
                          </a:solidFill>
                          <a:effectLst/>
                          <a:latin typeface="Times New Roman"/>
                          <a:ea typeface="宋体" pitchFamily="2" charset="-122"/>
                        </a:rPr>
                        <a:t>—</a:t>
                      </a: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90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90</a:t>
                      </a:r>
                      <a:r>
                        <a:rPr kumimoji="1" lang="en-US" altLang="zh-CN" sz="2800" b="1" i="0" u="none" strike="noStrike" cap="none" normalizeH="0" baseline="0" dirty="0" smtClean="0">
                          <a:ln>
                            <a:noFill/>
                          </a:ln>
                          <a:solidFill>
                            <a:srgbClr val="C56B9E"/>
                          </a:solidFill>
                          <a:effectLst/>
                          <a:latin typeface="Times New Roman"/>
                          <a:ea typeface="宋体" pitchFamily="2" charset="-122"/>
                        </a:rPr>
                        <a:t>—</a:t>
                      </a: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100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   2</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 15</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3200" b="1" i="0" u="none" strike="noStrike" cap="none" normalizeH="0" baseline="0" dirty="0" smtClean="0">
                          <a:ln>
                            <a:noFill/>
                          </a:ln>
                          <a:solidFill>
                            <a:srgbClr val="000099"/>
                          </a:solidFill>
                          <a:effectLst/>
                          <a:latin typeface="Times New Roman" pitchFamily="18" charset="0"/>
                          <a:ea typeface="宋体" pitchFamily="2" charset="-122"/>
                        </a:rPr>
                        <a:t> </a:t>
                      </a:r>
                      <a:r>
                        <a:rPr kumimoji="1" lang="en-US" altLang="zh-CN" sz="3200" b="1" i="0" u="none" strike="noStrike" cap="none" normalizeH="0" baseline="0" dirty="0" smtClean="0">
                          <a:ln>
                            <a:noFill/>
                          </a:ln>
                          <a:solidFill>
                            <a:srgbClr val="C00000"/>
                          </a:solidFill>
                          <a:effectLst/>
                          <a:latin typeface="Times New Roman" pitchFamily="18" charset="0"/>
                          <a:ea typeface="宋体" pitchFamily="2" charset="-122"/>
                        </a:rPr>
                        <a:t>20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 15</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C56B9E"/>
                          </a:solidFill>
                          <a:effectLst/>
                          <a:latin typeface="Tahoma" pitchFamily="34" charset="0"/>
                          <a:ea typeface="宋体" pitchFamily="2" charset="-122"/>
                        </a:rPr>
                        <a:t>合计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C56B9E"/>
                          </a:solidFill>
                          <a:effectLst/>
                          <a:latin typeface="Tahoma" pitchFamily="34" charset="0"/>
                          <a:ea typeface="宋体" pitchFamily="2" charset="-122"/>
                        </a:rPr>
                        <a:t> 56</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8688" name="Rectangle 23"/>
          <p:cNvSpPr>
            <a:spLocks noGrp="1" noChangeArrowheads="1"/>
          </p:cNvSpPr>
          <p:nvPr>
            <p:ph type="title" idx="4294967295"/>
          </p:nvPr>
        </p:nvSpPr>
        <p:spPr>
          <a:xfrm>
            <a:off x="838200" y="228600"/>
            <a:ext cx="1573560" cy="990600"/>
          </a:xfrm>
        </p:spPr>
        <p:txBody>
          <a:bodyPr/>
          <a:lstStyle/>
          <a:p>
            <a:pPr eaLnBrk="1" hangingPunct="1"/>
            <a:r>
              <a:rPr lang="zh-CN" altLang="en-US" dirty="0" smtClean="0"/>
              <a:t>例</a:t>
            </a:r>
          </a:p>
        </p:txBody>
      </p:sp>
      <p:sp>
        <p:nvSpPr>
          <p:cNvPr id="28689" name="Rectangle 57"/>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pic>
        <p:nvPicPr>
          <p:cNvPr id="7" name="Picture 7"/>
          <p:cNvPicPr>
            <a:picLocks noChangeAspect="1" noChangeArrowheads="1"/>
          </p:cNvPicPr>
          <p:nvPr/>
        </p:nvPicPr>
        <p:blipFill>
          <a:blip r:embed="rId2" cstate="print"/>
          <a:srcRect/>
          <a:stretch>
            <a:fillRect/>
          </a:stretch>
        </p:blipFill>
        <p:spPr bwMode="auto">
          <a:xfrm>
            <a:off x="3635896" y="1219200"/>
            <a:ext cx="5436096" cy="2227734"/>
          </a:xfrm>
          <a:prstGeom prst="rect">
            <a:avLst/>
          </a:prstGeom>
          <a:noFill/>
          <a:ln w="9525">
            <a:noFill/>
            <a:miter lim="800000"/>
            <a:headEnd/>
            <a:tailEnd/>
          </a:ln>
        </p:spPr>
      </p:pic>
      <p:pic>
        <p:nvPicPr>
          <p:cNvPr id="8" name="Picture 6"/>
          <p:cNvPicPr>
            <a:picLocks noChangeAspect="1" noChangeArrowheads="1"/>
          </p:cNvPicPr>
          <p:nvPr/>
        </p:nvPicPr>
        <p:blipFill>
          <a:blip r:embed="rId3" cstate="print"/>
          <a:srcRect/>
          <a:stretch>
            <a:fillRect/>
          </a:stretch>
        </p:blipFill>
        <p:spPr bwMode="auto">
          <a:xfrm>
            <a:off x="3587750" y="3874740"/>
            <a:ext cx="5305425" cy="2142012"/>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pPr>
              <a:defRPr/>
            </a:pPr>
            <a:fld id="{4D36EFB7-0D9F-4BC1-ADE9-F0E399591344}" type="slidenum">
              <a:rPr lang="en-US" altLang="zh-CN" smtClean="0"/>
              <a:pPr>
                <a:defRPr/>
              </a:pPr>
              <a:t>75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ChangeArrowheads="1"/>
          </p:cNvSpPr>
          <p:nvPr/>
        </p:nvSpPr>
        <p:spPr bwMode="auto">
          <a:xfrm>
            <a:off x="304800" y="762000"/>
            <a:ext cx="5181600" cy="579438"/>
          </a:xfrm>
          <a:prstGeom prst="rect">
            <a:avLst/>
          </a:prstGeom>
          <a:noFill/>
          <a:ln w="9525">
            <a:noFill/>
            <a:miter lim="800000"/>
            <a:headEnd/>
            <a:tailEnd/>
          </a:ln>
        </p:spPr>
        <p:txBody>
          <a:bodyPr>
            <a:spAutoFit/>
          </a:bodyPr>
          <a:lstStyle/>
          <a:p>
            <a:pPr>
              <a:tabLst>
                <a:tab pos="1028700" algn="l"/>
              </a:tabLst>
            </a:pPr>
            <a:r>
              <a:rPr lang="en-US" altLang="zh-CN" sz="3200" b="1">
                <a:solidFill>
                  <a:srgbClr val="008000"/>
                </a:solidFill>
                <a:ea typeface="宋体" pitchFamily="2" charset="-122"/>
              </a:rPr>
              <a:t>    </a:t>
            </a:r>
            <a:r>
              <a:rPr lang="zh-CN" altLang="en-US" sz="3200" b="1">
                <a:solidFill>
                  <a:srgbClr val="008000"/>
                </a:solidFill>
                <a:ea typeface="宋体" pitchFamily="2" charset="-122"/>
              </a:rPr>
              <a:t>公司职工按月生产量分组</a:t>
            </a:r>
          </a:p>
        </p:txBody>
      </p:sp>
      <p:grpSp>
        <p:nvGrpSpPr>
          <p:cNvPr id="29702" name="Group 3"/>
          <p:cNvGrpSpPr>
            <a:grpSpLocks/>
          </p:cNvGrpSpPr>
          <p:nvPr/>
        </p:nvGrpSpPr>
        <p:grpSpPr bwMode="auto">
          <a:xfrm>
            <a:off x="457200" y="1447800"/>
            <a:ext cx="4876800" cy="4918661"/>
            <a:chOff x="-3" y="458"/>
            <a:chExt cx="2131" cy="4633"/>
          </a:xfrm>
        </p:grpSpPr>
        <p:grpSp>
          <p:nvGrpSpPr>
            <p:cNvPr id="29704" name="Group 4"/>
            <p:cNvGrpSpPr>
              <a:grpSpLocks/>
            </p:cNvGrpSpPr>
            <p:nvPr/>
          </p:nvGrpSpPr>
          <p:grpSpPr bwMode="auto">
            <a:xfrm>
              <a:off x="0" y="461"/>
              <a:ext cx="2125" cy="4630"/>
              <a:chOff x="0" y="461"/>
              <a:chExt cx="2125" cy="4630"/>
            </a:xfrm>
          </p:grpSpPr>
          <p:grpSp>
            <p:nvGrpSpPr>
              <p:cNvPr id="29706" name="Group 5"/>
              <p:cNvGrpSpPr>
                <a:grpSpLocks/>
              </p:cNvGrpSpPr>
              <p:nvPr/>
            </p:nvGrpSpPr>
            <p:grpSpPr bwMode="auto">
              <a:xfrm>
                <a:off x="0" y="461"/>
                <a:ext cx="967" cy="461"/>
                <a:chOff x="0" y="461"/>
                <a:chExt cx="967" cy="461"/>
              </a:xfrm>
            </p:grpSpPr>
            <p:sp>
              <p:nvSpPr>
                <p:cNvPr id="29764" name="Rectangle 6"/>
                <p:cNvSpPr>
                  <a:spLocks noChangeArrowheads="1"/>
                </p:cNvSpPr>
                <p:nvPr/>
              </p:nvSpPr>
              <p:spPr bwMode="auto">
                <a:xfrm>
                  <a:off x="43" y="461"/>
                  <a:ext cx="881" cy="461"/>
                </a:xfrm>
                <a:prstGeom prst="rect">
                  <a:avLst/>
                </a:prstGeom>
                <a:noFill/>
                <a:ln w="9525">
                  <a:noFill/>
                  <a:miter lim="800000"/>
                  <a:headEnd/>
                  <a:tailEnd/>
                </a:ln>
              </p:spPr>
              <p:txBody>
                <a:bodyPr/>
                <a:lstStyle/>
                <a:p>
                  <a:pPr>
                    <a:tabLst>
                      <a:tab pos="1028700" algn="l"/>
                    </a:tabLst>
                  </a:pPr>
                  <a:r>
                    <a:rPr lang="zh-CN" altLang="en-US" sz="2800" b="1">
                      <a:solidFill>
                        <a:srgbClr val="008000"/>
                      </a:solidFill>
                      <a:ea typeface="宋体" pitchFamily="2" charset="-122"/>
                    </a:rPr>
                    <a:t>月产量</a:t>
                  </a:r>
                  <a:r>
                    <a:rPr lang="zh-CN" altLang="en-US" sz="1800" b="1">
                      <a:solidFill>
                        <a:srgbClr val="008000"/>
                      </a:solidFill>
                      <a:ea typeface="宋体" pitchFamily="2" charset="-122"/>
                    </a:rPr>
                    <a:t>（件）</a:t>
                  </a:r>
                </a:p>
              </p:txBody>
            </p:sp>
            <p:sp>
              <p:nvSpPr>
                <p:cNvPr id="29765" name="Rectangle 7"/>
                <p:cNvSpPr>
                  <a:spLocks noChangeArrowheads="1"/>
                </p:cNvSpPr>
                <p:nvPr/>
              </p:nvSpPr>
              <p:spPr bwMode="auto">
                <a:xfrm>
                  <a:off x="0" y="461"/>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07" name="Group 8"/>
              <p:cNvGrpSpPr>
                <a:grpSpLocks/>
              </p:cNvGrpSpPr>
              <p:nvPr/>
            </p:nvGrpSpPr>
            <p:grpSpPr bwMode="auto">
              <a:xfrm>
                <a:off x="967" y="461"/>
                <a:ext cx="1158" cy="461"/>
                <a:chOff x="967" y="461"/>
                <a:chExt cx="1158" cy="461"/>
              </a:xfrm>
            </p:grpSpPr>
            <p:sp>
              <p:nvSpPr>
                <p:cNvPr id="29762" name="Rectangle 9"/>
                <p:cNvSpPr>
                  <a:spLocks noChangeArrowheads="1"/>
                </p:cNvSpPr>
                <p:nvPr/>
              </p:nvSpPr>
              <p:spPr bwMode="auto">
                <a:xfrm>
                  <a:off x="1010" y="461"/>
                  <a:ext cx="1072" cy="461"/>
                </a:xfrm>
                <a:prstGeom prst="rect">
                  <a:avLst/>
                </a:prstGeom>
                <a:noFill/>
                <a:ln w="9525">
                  <a:noFill/>
                  <a:miter lim="800000"/>
                  <a:headEnd/>
                  <a:tailEnd/>
                </a:ln>
              </p:spPr>
              <p:txBody>
                <a:bodyPr/>
                <a:lstStyle/>
                <a:p>
                  <a:pPr>
                    <a:tabLst>
                      <a:tab pos="1028700" algn="l"/>
                      <a:tab pos="1260475" algn="l"/>
                    </a:tabLst>
                  </a:pPr>
                  <a:r>
                    <a:rPr lang="zh-CN" altLang="en-US" sz="2800" b="1">
                      <a:solidFill>
                        <a:srgbClr val="008000"/>
                      </a:solidFill>
                      <a:ea typeface="宋体" pitchFamily="2" charset="-122"/>
                    </a:rPr>
                    <a:t>职工人数</a:t>
                  </a:r>
                  <a:r>
                    <a:rPr lang="zh-CN" altLang="en-US" sz="1800" b="1">
                      <a:solidFill>
                        <a:srgbClr val="008000"/>
                      </a:solidFill>
                      <a:ea typeface="宋体" pitchFamily="2" charset="-122"/>
                    </a:rPr>
                    <a:t>（人）</a:t>
                  </a:r>
                </a:p>
                <a:p>
                  <a:pPr eaLnBrk="0" hangingPunct="0">
                    <a:tabLst>
                      <a:tab pos="1028700" algn="l"/>
                      <a:tab pos="1260475" algn="l"/>
                    </a:tabLst>
                  </a:pPr>
                  <a:endParaRPr lang="en-US" altLang="zh-CN" sz="1800" b="1">
                    <a:solidFill>
                      <a:srgbClr val="008000"/>
                    </a:solidFill>
                    <a:ea typeface="宋体" pitchFamily="2" charset="-122"/>
                  </a:endParaRPr>
                </a:p>
              </p:txBody>
            </p:sp>
            <p:sp>
              <p:nvSpPr>
                <p:cNvPr id="29763" name="Rectangle 10"/>
                <p:cNvSpPr>
                  <a:spLocks noChangeArrowheads="1"/>
                </p:cNvSpPr>
                <p:nvPr/>
              </p:nvSpPr>
              <p:spPr bwMode="auto">
                <a:xfrm>
                  <a:off x="967" y="461"/>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08" name="Group 11"/>
              <p:cNvGrpSpPr>
                <a:grpSpLocks/>
              </p:cNvGrpSpPr>
              <p:nvPr/>
            </p:nvGrpSpPr>
            <p:grpSpPr bwMode="auto">
              <a:xfrm>
                <a:off x="0" y="922"/>
                <a:ext cx="967" cy="461"/>
                <a:chOff x="0" y="922"/>
                <a:chExt cx="967" cy="461"/>
              </a:xfrm>
            </p:grpSpPr>
            <p:sp>
              <p:nvSpPr>
                <p:cNvPr id="29760" name="Rectangle 12"/>
                <p:cNvSpPr>
                  <a:spLocks noChangeArrowheads="1"/>
                </p:cNvSpPr>
                <p:nvPr/>
              </p:nvSpPr>
              <p:spPr bwMode="auto">
                <a:xfrm>
                  <a:off x="43" y="922"/>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500 </a:t>
                  </a:r>
                  <a:r>
                    <a:rPr lang="zh-CN" altLang="en-US" sz="2800" b="1">
                      <a:solidFill>
                        <a:srgbClr val="008000"/>
                      </a:solidFill>
                      <a:ea typeface="宋体" pitchFamily="2" charset="-122"/>
                    </a:rPr>
                    <a:t>以下</a:t>
                  </a:r>
                </a:p>
                <a:p>
                  <a:pPr eaLnBrk="0" hangingPunct="0">
                    <a:tabLst>
                      <a:tab pos="1028700" algn="l"/>
                    </a:tabLst>
                  </a:pPr>
                  <a:endParaRPr lang="en-US" altLang="zh-CN" sz="2800" b="1">
                    <a:solidFill>
                      <a:srgbClr val="008000"/>
                    </a:solidFill>
                    <a:ea typeface="宋体" pitchFamily="2" charset="-122"/>
                  </a:endParaRPr>
                </a:p>
              </p:txBody>
            </p:sp>
            <p:sp>
              <p:nvSpPr>
                <p:cNvPr id="29761" name="Rectangle 13"/>
                <p:cNvSpPr>
                  <a:spLocks noChangeArrowheads="1"/>
                </p:cNvSpPr>
                <p:nvPr/>
              </p:nvSpPr>
              <p:spPr bwMode="auto">
                <a:xfrm>
                  <a:off x="0" y="922"/>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09" name="Group 14"/>
              <p:cNvGrpSpPr>
                <a:grpSpLocks/>
              </p:cNvGrpSpPr>
              <p:nvPr/>
            </p:nvGrpSpPr>
            <p:grpSpPr bwMode="auto">
              <a:xfrm>
                <a:off x="967" y="922"/>
                <a:ext cx="1158" cy="461"/>
                <a:chOff x="967" y="922"/>
                <a:chExt cx="1158" cy="461"/>
              </a:xfrm>
            </p:grpSpPr>
            <p:sp>
              <p:nvSpPr>
                <p:cNvPr id="29758" name="Rectangle 15"/>
                <p:cNvSpPr>
                  <a:spLocks noChangeArrowheads="1"/>
                </p:cNvSpPr>
                <p:nvPr/>
              </p:nvSpPr>
              <p:spPr bwMode="auto">
                <a:xfrm>
                  <a:off x="1010" y="922"/>
                  <a:ext cx="1072" cy="461"/>
                </a:xfrm>
                <a:prstGeom prst="rect">
                  <a:avLst/>
                </a:prstGeom>
                <a:noFill/>
                <a:ln w="9525">
                  <a:noFill/>
                  <a:miter lim="800000"/>
                  <a:headEnd/>
                  <a:tailEnd/>
                </a:ln>
              </p:spPr>
              <p:txBody>
                <a:bodyPr/>
                <a:lstStyle/>
                <a:p>
                  <a:pPr>
                    <a:tabLst>
                      <a:tab pos="1028700" algn="l"/>
                    </a:tabLst>
                  </a:pPr>
                  <a:r>
                    <a:rPr lang="en-US" altLang="zh-CN" sz="2800" b="1" dirty="0">
                      <a:solidFill>
                        <a:srgbClr val="008000"/>
                      </a:solidFill>
                      <a:ea typeface="宋体" pitchFamily="2" charset="-122"/>
                    </a:rPr>
                    <a:t>208</a:t>
                  </a:r>
                </a:p>
                <a:p>
                  <a:pPr eaLnBrk="0" hangingPunct="0">
                    <a:tabLst>
                      <a:tab pos="1028700" algn="l"/>
                    </a:tabLst>
                  </a:pPr>
                  <a:endParaRPr lang="en-US" altLang="zh-CN" sz="2800" b="1" dirty="0">
                    <a:solidFill>
                      <a:srgbClr val="008000"/>
                    </a:solidFill>
                    <a:ea typeface="宋体" pitchFamily="2" charset="-122"/>
                  </a:endParaRPr>
                </a:p>
              </p:txBody>
            </p:sp>
            <p:sp>
              <p:nvSpPr>
                <p:cNvPr id="29759" name="Rectangle 16"/>
                <p:cNvSpPr>
                  <a:spLocks noChangeArrowheads="1"/>
                </p:cNvSpPr>
                <p:nvPr/>
              </p:nvSpPr>
              <p:spPr bwMode="auto">
                <a:xfrm>
                  <a:off x="967" y="922"/>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10" name="Group 17"/>
              <p:cNvGrpSpPr>
                <a:grpSpLocks/>
              </p:cNvGrpSpPr>
              <p:nvPr/>
            </p:nvGrpSpPr>
            <p:grpSpPr bwMode="auto">
              <a:xfrm>
                <a:off x="0" y="1383"/>
                <a:ext cx="967" cy="461"/>
                <a:chOff x="0" y="1383"/>
                <a:chExt cx="967" cy="461"/>
              </a:xfrm>
            </p:grpSpPr>
            <p:sp>
              <p:nvSpPr>
                <p:cNvPr id="29756" name="Rectangle 18"/>
                <p:cNvSpPr>
                  <a:spLocks noChangeArrowheads="1"/>
                </p:cNvSpPr>
                <p:nvPr/>
              </p:nvSpPr>
              <p:spPr bwMode="auto">
                <a:xfrm>
                  <a:off x="43" y="1383"/>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500-600</a:t>
                  </a:r>
                </a:p>
                <a:p>
                  <a:pPr eaLnBrk="0" hangingPunct="0">
                    <a:tabLst>
                      <a:tab pos="1028700" algn="l"/>
                    </a:tabLst>
                  </a:pPr>
                  <a:endParaRPr lang="en-US" altLang="zh-CN" sz="2800" b="1">
                    <a:solidFill>
                      <a:srgbClr val="008000"/>
                    </a:solidFill>
                    <a:ea typeface="宋体" pitchFamily="2" charset="-122"/>
                  </a:endParaRPr>
                </a:p>
              </p:txBody>
            </p:sp>
            <p:sp>
              <p:nvSpPr>
                <p:cNvPr id="29757" name="Rectangle 19"/>
                <p:cNvSpPr>
                  <a:spLocks noChangeArrowheads="1"/>
                </p:cNvSpPr>
                <p:nvPr/>
              </p:nvSpPr>
              <p:spPr bwMode="auto">
                <a:xfrm>
                  <a:off x="0" y="1383"/>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11" name="Group 20"/>
              <p:cNvGrpSpPr>
                <a:grpSpLocks/>
              </p:cNvGrpSpPr>
              <p:nvPr/>
            </p:nvGrpSpPr>
            <p:grpSpPr bwMode="auto">
              <a:xfrm>
                <a:off x="967" y="1383"/>
                <a:ext cx="1158" cy="461"/>
                <a:chOff x="967" y="1383"/>
                <a:chExt cx="1158" cy="461"/>
              </a:xfrm>
            </p:grpSpPr>
            <p:sp>
              <p:nvSpPr>
                <p:cNvPr id="29754" name="Rectangle 21"/>
                <p:cNvSpPr>
                  <a:spLocks noChangeArrowheads="1"/>
                </p:cNvSpPr>
                <p:nvPr/>
              </p:nvSpPr>
              <p:spPr bwMode="auto">
                <a:xfrm>
                  <a:off x="1010" y="1383"/>
                  <a:ext cx="1072"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314</a:t>
                  </a:r>
                </a:p>
                <a:p>
                  <a:pPr eaLnBrk="0" hangingPunct="0">
                    <a:tabLst>
                      <a:tab pos="1028700" algn="l"/>
                    </a:tabLst>
                  </a:pPr>
                  <a:endParaRPr lang="en-US" altLang="zh-CN" sz="2800" b="1">
                    <a:solidFill>
                      <a:srgbClr val="008000"/>
                    </a:solidFill>
                    <a:ea typeface="宋体" pitchFamily="2" charset="-122"/>
                  </a:endParaRPr>
                </a:p>
              </p:txBody>
            </p:sp>
            <p:sp>
              <p:nvSpPr>
                <p:cNvPr id="29755" name="Rectangle 22"/>
                <p:cNvSpPr>
                  <a:spLocks noChangeArrowheads="1"/>
                </p:cNvSpPr>
                <p:nvPr/>
              </p:nvSpPr>
              <p:spPr bwMode="auto">
                <a:xfrm>
                  <a:off x="967" y="1383"/>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12" name="Group 23"/>
              <p:cNvGrpSpPr>
                <a:grpSpLocks/>
              </p:cNvGrpSpPr>
              <p:nvPr/>
            </p:nvGrpSpPr>
            <p:grpSpPr bwMode="auto">
              <a:xfrm>
                <a:off x="0" y="1844"/>
                <a:ext cx="967" cy="461"/>
                <a:chOff x="0" y="1844"/>
                <a:chExt cx="967" cy="461"/>
              </a:xfrm>
            </p:grpSpPr>
            <p:sp>
              <p:nvSpPr>
                <p:cNvPr id="29752" name="Rectangle 24"/>
                <p:cNvSpPr>
                  <a:spLocks noChangeArrowheads="1"/>
                </p:cNvSpPr>
                <p:nvPr/>
              </p:nvSpPr>
              <p:spPr bwMode="auto">
                <a:xfrm>
                  <a:off x="43" y="1844"/>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600-700</a:t>
                  </a:r>
                </a:p>
                <a:p>
                  <a:pPr eaLnBrk="0" hangingPunct="0">
                    <a:tabLst>
                      <a:tab pos="1028700" algn="l"/>
                    </a:tabLst>
                  </a:pPr>
                  <a:endParaRPr lang="en-US" altLang="zh-CN" sz="2800" b="1">
                    <a:solidFill>
                      <a:srgbClr val="008000"/>
                    </a:solidFill>
                    <a:ea typeface="宋体" pitchFamily="2" charset="-122"/>
                  </a:endParaRPr>
                </a:p>
              </p:txBody>
            </p:sp>
            <p:sp>
              <p:nvSpPr>
                <p:cNvPr id="29753" name="Rectangle 25"/>
                <p:cNvSpPr>
                  <a:spLocks noChangeArrowheads="1"/>
                </p:cNvSpPr>
                <p:nvPr/>
              </p:nvSpPr>
              <p:spPr bwMode="auto">
                <a:xfrm>
                  <a:off x="0" y="1844"/>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13" name="Group 26"/>
              <p:cNvGrpSpPr>
                <a:grpSpLocks/>
              </p:cNvGrpSpPr>
              <p:nvPr/>
            </p:nvGrpSpPr>
            <p:grpSpPr bwMode="auto">
              <a:xfrm>
                <a:off x="967" y="1844"/>
                <a:ext cx="1158" cy="461"/>
                <a:chOff x="967" y="1844"/>
                <a:chExt cx="1158" cy="461"/>
              </a:xfrm>
            </p:grpSpPr>
            <p:sp>
              <p:nvSpPr>
                <p:cNvPr id="29750" name="Rectangle 27"/>
                <p:cNvSpPr>
                  <a:spLocks noChangeArrowheads="1"/>
                </p:cNvSpPr>
                <p:nvPr/>
              </p:nvSpPr>
              <p:spPr bwMode="auto">
                <a:xfrm>
                  <a:off x="1010" y="1844"/>
                  <a:ext cx="1072"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382</a:t>
                  </a:r>
                </a:p>
                <a:p>
                  <a:pPr eaLnBrk="0" hangingPunct="0">
                    <a:tabLst>
                      <a:tab pos="1028700" algn="l"/>
                    </a:tabLst>
                  </a:pPr>
                  <a:endParaRPr lang="en-US" altLang="zh-CN" sz="2800" b="1">
                    <a:solidFill>
                      <a:srgbClr val="008000"/>
                    </a:solidFill>
                    <a:ea typeface="宋体" pitchFamily="2" charset="-122"/>
                  </a:endParaRPr>
                </a:p>
              </p:txBody>
            </p:sp>
            <p:sp>
              <p:nvSpPr>
                <p:cNvPr id="29751" name="Rectangle 28"/>
                <p:cNvSpPr>
                  <a:spLocks noChangeArrowheads="1"/>
                </p:cNvSpPr>
                <p:nvPr/>
              </p:nvSpPr>
              <p:spPr bwMode="auto">
                <a:xfrm>
                  <a:off x="967" y="1844"/>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14" name="Group 29"/>
              <p:cNvGrpSpPr>
                <a:grpSpLocks/>
              </p:cNvGrpSpPr>
              <p:nvPr/>
            </p:nvGrpSpPr>
            <p:grpSpPr bwMode="auto">
              <a:xfrm>
                <a:off x="0" y="2305"/>
                <a:ext cx="967" cy="461"/>
                <a:chOff x="0" y="2305"/>
                <a:chExt cx="967" cy="461"/>
              </a:xfrm>
            </p:grpSpPr>
            <p:sp>
              <p:nvSpPr>
                <p:cNvPr id="29748" name="Rectangle 30"/>
                <p:cNvSpPr>
                  <a:spLocks noChangeArrowheads="1"/>
                </p:cNvSpPr>
                <p:nvPr/>
              </p:nvSpPr>
              <p:spPr bwMode="auto">
                <a:xfrm>
                  <a:off x="43" y="2305"/>
                  <a:ext cx="881" cy="461"/>
                </a:xfrm>
                <a:prstGeom prst="rect">
                  <a:avLst/>
                </a:prstGeom>
                <a:noFill/>
                <a:ln w="9525">
                  <a:noFill/>
                  <a:miter lim="800000"/>
                  <a:headEnd/>
                  <a:tailEnd/>
                </a:ln>
              </p:spPr>
              <p:txBody>
                <a:bodyPr/>
                <a:lstStyle/>
                <a:p>
                  <a:pPr>
                    <a:tabLst>
                      <a:tab pos="1028700" algn="l"/>
                    </a:tabLst>
                  </a:pPr>
                  <a:r>
                    <a:rPr lang="en-US" altLang="zh-CN" sz="2800" b="1">
                      <a:solidFill>
                        <a:srgbClr val="000099"/>
                      </a:solidFill>
                      <a:ea typeface="宋体" pitchFamily="2" charset="-122"/>
                    </a:rPr>
                    <a:t>700-800</a:t>
                  </a:r>
                </a:p>
                <a:p>
                  <a:pPr eaLnBrk="0" hangingPunct="0">
                    <a:tabLst>
                      <a:tab pos="1028700" algn="l"/>
                    </a:tabLst>
                  </a:pPr>
                  <a:endParaRPr lang="en-US" altLang="zh-CN" sz="2800" b="1">
                    <a:solidFill>
                      <a:srgbClr val="000099"/>
                    </a:solidFill>
                    <a:ea typeface="宋体" pitchFamily="2" charset="-122"/>
                  </a:endParaRPr>
                </a:p>
              </p:txBody>
            </p:sp>
            <p:sp>
              <p:nvSpPr>
                <p:cNvPr id="29749" name="Rectangle 31"/>
                <p:cNvSpPr>
                  <a:spLocks noChangeArrowheads="1"/>
                </p:cNvSpPr>
                <p:nvPr/>
              </p:nvSpPr>
              <p:spPr bwMode="auto">
                <a:xfrm>
                  <a:off x="0" y="2305"/>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15" name="Group 32"/>
              <p:cNvGrpSpPr>
                <a:grpSpLocks/>
              </p:cNvGrpSpPr>
              <p:nvPr/>
            </p:nvGrpSpPr>
            <p:grpSpPr bwMode="auto">
              <a:xfrm>
                <a:off x="967" y="2305"/>
                <a:ext cx="1158" cy="461"/>
                <a:chOff x="967" y="2305"/>
                <a:chExt cx="1158" cy="461"/>
              </a:xfrm>
            </p:grpSpPr>
            <p:sp>
              <p:nvSpPr>
                <p:cNvPr id="29746" name="Rectangle 33"/>
                <p:cNvSpPr>
                  <a:spLocks noChangeArrowheads="1"/>
                </p:cNvSpPr>
                <p:nvPr/>
              </p:nvSpPr>
              <p:spPr bwMode="auto">
                <a:xfrm>
                  <a:off x="1010" y="2305"/>
                  <a:ext cx="1072" cy="461"/>
                </a:xfrm>
                <a:prstGeom prst="rect">
                  <a:avLst/>
                </a:prstGeom>
                <a:noFill/>
                <a:ln w="9525">
                  <a:noFill/>
                  <a:miter lim="800000"/>
                  <a:headEnd/>
                  <a:tailEnd/>
                </a:ln>
              </p:spPr>
              <p:txBody>
                <a:bodyPr/>
                <a:lstStyle/>
                <a:p>
                  <a:pPr>
                    <a:tabLst>
                      <a:tab pos="1028700" algn="l"/>
                    </a:tabLst>
                  </a:pPr>
                  <a:r>
                    <a:rPr lang="en-US" altLang="zh-CN" sz="2800" b="1">
                      <a:solidFill>
                        <a:srgbClr val="000099"/>
                      </a:solidFill>
                      <a:ea typeface="宋体" pitchFamily="2" charset="-122"/>
                    </a:rPr>
                    <a:t>456</a:t>
                  </a:r>
                </a:p>
                <a:p>
                  <a:pPr eaLnBrk="0" hangingPunct="0">
                    <a:tabLst>
                      <a:tab pos="1028700" algn="l"/>
                    </a:tabLst>
                  </a:pPr>
                  <a:endParaRPr lang="en-US" altLang="zh-CN" sz="2800" b="1">
                    <a:solidFill>
                      <a:srgbClr val="000099"/>
                    </a:solidFill>
                    <a:ea typeface="宋体" pitchFamily="2" charset="-122"/>
                  </a:endParaRPr>
                </a:p>
              </p:txBody>
            </p:sp>
            <p:sp>
              <p:nvSpPr>
                <p:cNvPr id="29747" name="Rectangle 34"/>
                <p:cNvSpPr>
                  <a:spLocks noChangeArrowheads="1"/>
                </p:cNvSpPr>
                <p:nvPr/>
              </p:nvSpPr>
              <p:spPr bwMode="auto">
                <a:xfrm>
                  <a:off x="967" y="2305"/>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16" name="Group 35"/>
              <p:cNvGrpSpPr>
                <a:grpSpLocks/>
              </p:cNvGrpSpPr>
              <p:nvPr/>
            </p:nvGrpSpPr>
            <p:grpSpPr bwMode="auto">
              <a:xfrm>
                <a:off x="0" y="2766"/>
                <a:ext cx="967" cy="461"/>
                <a:chOff x="0" y="2766"/>
                <a:chExt cx="967" cy="461"/>
              </a:xfrm>
            </p:grpSpPr>
            <p:sp>
              <p:nvSpPr>
                <p:cNvPr id="29744" name="Rectangle 36"/>
                <p:cNvSpPr>
                  <a:spLocks noChangeArrowheads="1"/>
                </p:cNvSpPr>
                <p:nvPr/>
              </p:nvSpPr>
              <p:spPr bwMode="auto">
                <a:xfrm>
                  <a:off x="43" y="2766"/>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800-900</a:t>
                  </a:r>
                </a:p>
                <a:p>
                  <a:pPr eaLnBrk="0" hangingPunct="0">
                    <a:tabLst>
                      <a:tab pos="1028700" algn="l"/>
                    </a:tabLst>
                  </a:pPr>
                  <a:endParaRPr lang="en-US" altLang="zh-CN" sz="2800" b="1">
                    <a:solidFill>
                      <a:srgbClr val="008000"/>
                    </a:solidFill>
                    <a:ea typeface="宋体" pitchFamily="2" charset="-122"/>
                  </a:endParaRPr>
                </a:p>
              </p:txBody>
            </p:sp>
            <p:sp>
              <p:nvSpPr>
                <p:cNvPr id="29745" name="Rectangle 37"/>
                <p:cNvSpPr>
                  <a:spLocks noChangeArrowheads="1"/>
                </p:cNvSpPr>
                <p:nvPr/>
              </p:nvSpPr>
              <p:spPr bwMode="auto">
                <a:xfrm>
                  <a:off x="0" y="2766"/>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17" name="Group 38"/>
              <p:cNvGrpSpPr>
                <a:grpSpLocks/>
              </p:cNvGrpSpPr>
              <p:nvPr/>
            </p:nvGrpSpPr>
            <p:grpSpPr bwMode="auto">
              <a:xfrm>
                <a:off x="967" y="2766"/>
                <a:ext cx="1158" cy="461"/>
                <a:chOff x="967" y="2766"/>
                <a:chExt cx="1158" cy="461"/>
              </a:xfrm>
            </p:grpSpPr>
            <p:sp>
              <p:nvSpPr>
                <p:cNvPr id="29742" name="Rectangle 39"/>
                <p:cNvSpPr>
                  <a:spLocks noChangeArrowheads="1"/>
                </p:cNvSpPr>
                <p:nvPr/>
              </p:nvSpPr>
              <p:spPr bwMode="auto">
                <a:xfrm>
                  <a:off x="1010" y="2766"/>
                  <a:ext cx="1072"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305</a:t>
                  </a:r>
                </a:p>
                <a:p>
                  <a:pPr eaLnBrk="0" hangingPunct="0">
                    <a:tabLst>
                      <a:tab pos="1028700" algn="l"/>
                    </a:tabLst>
                  </a:pPr>
                  <a:endParaRPr lang="en-US" altLang="zh-CN" sz="2800" b="1">
                    <a:solidFill>
                      <a:srgbClr val="008000"/>
                    </a:solidFill>
                    <a:ea typeface="宋体" pitchFamily="2" charset="-122"/>
                  </a:endParaRPr>
                </a:p>
              </p:txBody>
            </p:sp>
            <p:sp>
              <p:nvSpPr>
                <p:cNvPr id="29743" name="Rectangle 40"/>
                <p:cNvSpPr>
                  <a:spLocks noChangeArrowheads="1"/>
                </p:cNvSpPr>
                <p:nvPr/>
              </p:nvSpPr>
              <p:spPr bwMode="auto">
                <a:xfrm>
                  <a:off x="967" y="2766"/>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18" name="Group 41"/>
              <p:cNvGrpSpPr>
                <a:grpSpLocks/>
              </p:cNvGrpSpPr>
              <p:nvPr/>
            </p:nvGrpSpPr>
            <p:grpSpPr bwMode="auto">
              <a:xfrm>
                <a:off x="0" y="3227"/>
                <a:ext cx="967" cy="461"/>
                <a:chOff x="0" y="3227"/>
                <a:chExt cx="967" cy="461"/>
              </a:xfrm>
            </p:grpSpPr>
            <p:sp>
              <p:nvSpPr>
                <p:cNvPr id="29740" name="Rectangle 42"/>
                <p:cNvSpPr>
                  <a:spLocks noChangeArrowheads="1"/>
                </p:cNvSpPr>
                <p:nvPr/>
              </p:nvSpPr>
              <p:spPr bwMode="auto">
                <a:xfrm>
                  <a:off x="43" y="3227"/>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900-1000</a:t>
                  </a:r>
                </a:p>
                <a:p>
                  <a:pPr eaLnBrk="0" hangingPunct="0">
                    <a:tabLst>
                      <a:tab pos="1028700" algn="l"/>
                    </a:tabLst>
                  </a:pPr>
                  <a:endParaRPr lang="en-US" altLang="zh-CN" sz="2800" b="1">
                    <a:solidFill>
                      <a:srgbClr val="008000"/>
                    </a:solidFill>
                    <a:ea typeface="宋体" pitchFamily="2" charset="-122"/>
                  </a:endParaRPr>
                </a:p>
              </p:txBody>
            </p:sp>
            <p:sp>
              <p:nvSpPr>
                <p:cNvPr id="29741" name="Rectangle 43"/>
                <p:cNvSpPr>
                  <a:spLocks noChangeArrowheads="1"/>
                </p:cNvSpPr>
                <p:nvPr/>
              </p:nvSpPr>
              <p:spPr bwMode="auto">
                <a:xfrm>
                  <a:off x="0" y="3227"/>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19" name="Group 44"/>
              <p:cNvGrpSpPr>
                <a:grpSpLocks/>
              </p:cNvGrpSpPr>
              <p:nvPr/>
            </p:nvGrpSpPr>
            <p:grpSpPr bwMode="auto">
              <a:xfrm>
                <a:off x="967" y="3227"/>
                <a:ext cx="1158" cy="461"/>
                <a:chOff x="967" y="3227"/>
                <a:chExt cx="1158" cy="461"/>
              </a:xfrm>
            </p:grpSpPr>
            <p:sp>
              <p:nvSpPr>
                <p:cNvPr id="29738" name="Rectangle 45"/>
                <p:cNvSpPr>
                  <a:spLocks noChangeArrowheads="1"/>
                </p:cNvSpPr>
                <p:nvPr/>
              </p:nvSpPr>
              <p:spPr bwMode="auto">
                <a:xfrm>
                  <a:off x="1010" y="3227"/>
                  <a:ext cx="1072"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237</a:t>
                  </a:r>
                </a:p>
                <a:p>
                  <a:pPr eaLnBrk="0" hangingPunct="0">
                    <a:tabLst>
                      <a:tab pos="1028700" algn="l"/>
                    </a:tabLst>
                  </a:pPr>
                  <a:endParaRPr lang="en-US" altLang="zh-CN" sz="2800" b="1">
                    <a:solidFill>
                      <a:srgbClr val="008000"/>
                    </a:solidFill>
                    <a:ea typeface="宋体" pitchFamily="2" charset="-122"/>
                  </a:endParaRPr>
                </a:p>
              </p:txBody>
            </p:sp>
            <p:sp>
              <p:nvSpPr>
                <p:cNvPr id="29739" name="Rectangle 46"/>
                <p:cNvSpPr>
                  <a:spLocks noChangeArrowheads="1"/>
                </p:cNvSpPr>
                <p:nvPr/>
              </p:nvSpPr>
              <p:spPr bwMode="auto">
                <a:xfrm>
                  <a:off x="967" y="3227"/>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20" name="Group 47"/>
              <p:cNvGrpSpPr>
                <a:grpSpLocks/>
              </p:cNvGrpSpPr>
              <p:nvPr/>
            </p:nvGrpSpPr>
            <p:grpSpPr bwMode="auto">
              <a:xfrm>
                <a:off x="0" y="3688"/>
                <a:ext cx="967" cy="461"/>
                <a:chOff x="0" y="3688"/>
                <a:chExt cx="967" cy="461"/>
              </a:xfrm>
            </p:grpSpPr>
            <p:sp>
              <p:nvSpPr>
                <p:cNvPr id="29736" name="Rectangle 48"/>
                <p:cNvSpPr>
                  <a:spLocks noChangeArrowheads="1"/>
                </p:cNvSpPr>
                <p:nvPr/>
              </p:nvSpPr>
              <p:spPr bwMode="auto">
                <a:xfrm>
                  <a:off x="43" y="3688"/>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1000-1100</a:t>
                  </a:r>
                </a:p>
                <a:p>
                  <a:pPr eaLnBrk="0" hangingPunct="0">
                    <a:tabLst>
                      <a:tab pos="1028700" algn="l"/>
                    </a:tabLst>
                  </a:pPr>
                  <a:endParaRPr lang="en-US" altLang="zh-CN" sz="2800" b="1">
                    <a:solidFill>
                      <a:srgbClr val="008000"/>
                    </a:solidFill>
                    <a:ea typeface="宋体" pitchFamily="2" charset="-122"/>
                  </a:endParaRPr>
                </a:p>
              </p:txBody>
            </p:sp>
            <p:sp>
              <p:nvSpPr>
                <p:cNvPr id="29737" name="Rectangle 49"/>
                <p:cNvSpPr>
                  <a:spLocks noChangeArrowheads="1"/>
                </p:cNvSpPr>
                <p:nvPr/>
              </p:nvSpPr>
              <p:spPr bwMode="auto">
                <a:xfrm>
                  <a:off x="0" y="3688"/>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21" name="Group 50"/>
              <p:cNvGrpSpPr>
                <a:grpSpLocks/>
              </p:cNvGrpSpPr>
              <p:nvPr/>
            </p:nvGrpSpPr>
            <p:grpSpPr bwMode="auto">
              <a:xfrm>
                <a:off x="967" y="3688"/>
                <a:ext cx="1158" cy="461"/>
                <a:chOff x="967" y="3688"/>
                <a:chExt cx="1158" cy="461"/>
              </a:xfrm>
            </p:grpSpPr>
            <p:sp>
              <p:nvSpPr>
                <p:cNvPr id="29734" name="Rectangle 51"/>
                <p:cNvSpPr>
                  <a:spLocks noChangeArrowheads="1"/>
                </p:cNvSpPr>
                <p:nvPr/>
              </p:nvSpPr>
              <p:spPr bwMode="auto">
                <a:xfrm>
                  <a:off x="1010" y="3688"/>
                  <a:ext cx="1072" cy="461"/>
                </a:xfrm>
                <a:prstGeom prst="rect">
                  <a:avLst/>
                </a:prstGeom>
                <a:noFill/>
                <a:ln w="9525">
                  <a:noFill/>
                  <a:miter lim="800000"/>
                  <a:headEnd/>
                  <a:tailEnd/>
                </a:ln>
              </p:spPr>
              <p:txBody>
                <a:bodyPr/>
                <a:lstStyle/>
                <a:p>
                  <a:pPr>
                    <a:tabLst>
                      <a:tab pos="1028700" algn="l"/>
                    </a:tabLst>
                  </a:pPr>
                  <a:r>
                    <a:rPr lang="en-US" altLang="zh-CN" sz="2800" b="1" dirty="0" smtClean="0">
                      <a:solidFill>
                        <a:srgbClr val="008000"/>
                      </a:solidFill>
                      <a:ea typeface="宋体" pitchFamily="2" charset="-122"/>
                    </a:rPr>
                    <a:t>  78</a:t>
                  </a:r>
                  <a:endParaRPr lang="en-US" altLang="zh-CN" sz="2800" b="1" dirty="0">
                    <a:solidFill>
                      <a:srgbClr val="008000"/>
                    </a:solidFill>
                    <a:ea typeface="宋体" pitchFamily="2" charset="-122"/>
                  </a:endParaRPr>
                </a:p>
                <a:p>
                  <a:pPr eaLnBrk="0" hangingPunct="0">
                    <a:tabLst>
                      <a:tab pos="1028700" algn="l"/>
                    </a:tabLst>
                  </a:pPr>
                  <a:endParaRPr lang="en-US" altLang="zh-CN" sz="2800" b="1" dirty="0">
                    <a:solidFill>
                      <a:srgbClr val="008000"/>
                    </a:solidFill>
                    <a:ea typeface="宋体" pitchFamily="2" charset="-122"/>
                  </a:endParaRPr>
                </a:p>
              </p:txBody>
            </p:sp>
            <p:sp>
              <p:nvSpPr>
                <p:cNvPr id="29735" name="Rectangle 52"/>
                <p:cNvSpPr>
                  <a:spLocks noChangeArrowheads="1"/>
                </p:cNvSpPr>
                <p:nvPr/>
              </p:nvSpPr>
              <p:spPr bwMode="auto">
                <a:xfrm>
                  <a:off x="967" y="3688"/>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22" name="Group 53"/>
              <p:cNvGrpSpPr>
                <a:grpSpLocks/>
              </p:cNvGrpSpPr>
              <p:nvPr/>
            </p:nvGrpSpPr>
            <p:grpSpPr bwMode="auto">
              <a:xfrm>
                <a:off x="0" y="4149"/>
                <a:ext cx="967" cy="461"/>
                <a:chOff x="0" y="4149"/>
                <a:chExt cx="967" cy="461"/>
              </a:xfrm>
            </p:grpSpPr>
            <p:sp>
              <p:nvSpPr>
                <p:cNvPr id="29732" name="Rectangle 54"/>
                <p:cNvSpPr>
                  <a:spLocks noChangeArrowheads="1"/>
                </p:cNvSpPr>
                <p:nvPr/>
              </p:nvSpPr>
              <p:spPr bwMode="auto">
                <a:xfrm>
                  <a:off x="43" y="4149"/>
                  <a:ext cx="881" cy="461"/>
                </a:xfrm>
                <a:prstGeom prst="rect">
                  <a:avLst/>
                </a:prstGeom>
                <a:noFill/>
                <a:ln w="9525">
                  <a:noFill/>
                  <a:miter lim="800000"/>
                  <a:headEnd/>
                  <a:tailEnd/>
                </a:ln>
              </p:spPr>
              <p:txBody>
                <a:bodyPr/>
                <a:lstStyle/>
                <a:p>
                  <a:pPr>
                    <a:tabLst>
                      <a:tab pos="1028700" algn="l"/>
                    </a:tabLst>
                  </a:pPr>
                  <a:r>
                    <a:rPr lang="en-US" altLang="zh-CN" sz="2800" b="1">
                      <a:solidFill>
                        <a:srgbClr val="008000"/>
                      </a:solidFill>
                      <a:ea typeface="宋体" pitchFamily="2" charset="-122"/>
                    </a:rPr>
                    <a:t>1100</a:t>
                  </a:r>
                  <a:r>
                    <a:rPr lang="zh-CN" altLang="en-US" sz="2800" b="1">
                      <a:solidFill>
                        <a:srgbClr val="008000"/>
                      </a:solidFill>
                      <a:ea typeface="宋体" pitchFamily="2" charset="-122"/>
                    </a:rPr>
                    <a:t>以上</a:t>
                  </a:r>
                </a:p>
                <a:p>
                  <a:pPr eaLnBrk="0" hangingPunct="0">
                    <a:tabLst>
                      <a:tab pos="1028700" algn="l"/>
                    </a:tabLst>
                  </a:pPr>
                  <a:endParaRPr lang="en-US" altLang="zh-CN" sz="2800" b="1">
                    <a:solidFill>
                      <a:srgbClr val="008000"/>
                    </a:solidFill>
                    <a:ea typeface="宋体" pitchFamily="2" charset="-122"/>
                  </a:endParaRPr>
                </a:p>
              </p:txBody>
            </p:sp>
            <p:sp>
              <p:nvSpPr>
                <p:cNvPr id="29733" name="Rectangle 55"/>
                <p:cNvSpPr>
                  <a:spLocks noChangeArrowheads="1"/>
                </p:cNvSpPr>
                <p:nvPr/>
              </p:nvSpPr>
              <p:spPr bwMode="auto">
                <a:xfrm>
                  <a:off x="0" y="4149"/>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23" name="Group 56"/>
              <p:cNvGrpSpPr>
                <a:grpSpLocks/>
              </p:cNvGrpSpPr>
              <p:nvPr/>
            </p:nvGrpSpPr>
            <p:grpSpPr bwMode="auto">
              <a:xfrm>
                <a:off x="967" y="4149"/>
                <a:ext cx="1158" cy="461"/>
                <a:chOff x="967" y="4149"/>
                <a:chExt cx="1158" cy="461"/>
              </a:xfrm>
            </p:grpSpPr>
            <p:sp>
              <p:nvSpPr>
                <p:cNvPr id="29730" name="Rectangle 57"/>
                <p:cNvSpPr>
                  <a:spLocks noChangeArrowheads="1"/>
                </p:cNvSpPr>
                <p:nvPr/>
              </p:nvSpPr>
              <p:spPr bwMode="auto">
                <a:xfrm>
                  <a:off x="1010" y="4149"/>
                  <a:ext cx="1072" cy="461"/>
                </a:xfrm>
                <a:prstGeom prst="rect">
                  <a:avLst/>
                </a:prstGeom>
                <a:noFill/>
                <a:ln w="9525">
                  <a:noFill/>
                  <a:miter lim="800000"/>
                  <a:headEnd/>
                  <a:tailEnd/>
                </a:ln>
              </p:spPr>
              <p:txBody>
                <a:bodyPr/>
                <a:lstStyle/>
                <a:p>
                  <a:pPr>
                    <a:tabLst>
                      <a:tab pos="1028700" algn="l"/>
                    </a:tabLst>
                  </a:pPr>
                  <a:r>
                    <a:rPr lang="en-US" altLang="zh-CN" sz="2800" b="1" dirty="0" smtClean="0">
                      <a:solidFill>
                        <a:srgbClr val="008000"/>
                      </a:solidFill>
                      <a:ea typeface="宋体" pitchFamily="2" charset="-122"/>
                    </a:rPr>
                    <a:t>  20</a:t>
                  </a:r>
                  <a:endParaRPr lang="en-US" altLang="zh-CN" sz="2800" b="1" dirty="0">
                    <a:solidFill>
                      <a:srgbClr val="008000"/>
                    </a:solidFill>
                    <a:ea typeface="宋体" pitchFamily="2" charset="-122"/>
                  </a:endParaRPr>
                </a:p>
                <a:p>
                  <a:pPr eaLnBrk="0" hangingPunct="0">
                    <a:tabLst>
                      <a:tab pos="1028700" algn="l"/>
                    </a:tabLst>
                  </a:pPr>
                  <a:endParaRPr lang="en-US" altLang="zh-CN" sz="2800" b="1" dirty="0">
                    <a:solidFill>
                      <a:srgbClr val="008000"/>
                    </a:solidFill>
                    <a:ea typeface="宋体" pitchFamily="2" charset="-122"/>
                  </a:endParaRPr>
                </a:p>
              </p:txBody>
            </p:sp>
            <p:sp>
              <p:nvSpPr>
                <p:cNvPr id="29731" name="Rectangle 58"/>
                <p:cNvSpPr>
                  <a:spLocks noChangeArrowheads="1"/>
                </p:cNvSpPr>
                <p:nvPr/>
              </p:nvSpPr>
              <p:spPr bwMode="auto">
                <a:xfrm>
                  <a:off x="967" y="4149"/>
                  <a:ext cx="1158" cy="461"/>
                </a:xfrm>
                <a:prstGeom prst="rect">
                  <a:avLst/>
                </a:prstGeom>
                <a:noFill/>
                <a:ln w="7">
                  <a:solidFill>
                    <a:srgbClr val="A0A0A0"/>
                  </a:solidFill>
                  <a:miter lim="800000"/>
                  <a:headEnd/>
                  <a:tailEnd/>
                </a:ln>
              </p:spPr>
              <p:txBody>
                <a:bodyPr wrap="none"/>
                <a:lstStyle/>
                <a:p>
                  <a:endParaRPr lang="zh-CN" altLang="en-US"/>
                </a:p>
              </p:txBody>
            </p:sp>
          </p:grpSp>
          <p:grpSp>
            <p:nvGrpSpPr>
              <p:cNvPr id="29724" name="Group 59"/>
              <p:cNvGrpSpPr>
                <a:grpSpLocks/>
              </p:cNvGrpSpPr>
              <p:nvPr/>
            </p:nvGrpSpPr>
            <p:grpSpPr bwMode="auto">
              <a:xfrm>
                <a:off x="0" y="4610"/>
                <a:ext cx="967" cy="461"/>
                <a:chOff x="0" y="4610"/>
                <a:chExt cx="967" cy="461"/>
              </a:xfrm>
            </p:grpSpPr>
            <p:sp>
              <p:nvSpPr>
                <p:cNvPr id="29728" name="Rectangle 60"/>
                <p:cNvSpPr>
                  <a:spLocks noChangeArrowheads="1"/>
                </p:cNvSpPr>
                <p:nvPr/>
              </p:nvSpPr>
              <p:spPr bwMode="auto">
                <a:xfrm>
                  <a:off x="43" y="4610"/>
                  <a:ext cx="881" cy="461"/>
                </a:xfrm>
                <a:prstGeom prst="rect">
                  <a:avLst/>
                </a:prstGeom>
                <a:noFill/>
                <a:ln w="9525">
                  <a:noFill/>
                  <a:miter lim="800000"/>
                  <a:headEnd/>
                  <a:tailEnd/>
                </a:ln>
              </p:spPr>
              <p:txBody>
                <a:bodyPr/>
                <a:lstStyle/>
                <a:p>
                  <a:pPr>
                    <a:tabLst>
                      <a:tab pos="1028700" algn="l"/>
                    </a:tabLst>
                  </a:pPr>
                  <a:r>
                    <a:rPr lang="zh-CN" altLang="en-US" sz="2800" b="1">
                      <a:solidFill>
                        <a:srgbClr val="008000"/>
                      </a:solidFill>
                      <a:ea typeface="宋体" pitchFamily="2" charset="-122"/>
                    </a:rPr>
                    <a:t>合计</a:t>
                  </a:r>
                </a:p>
                <a:p>
                  <a:pPr eaLnBrk="0" hangingPunct="0">
                    <a:tabLst>
                      <a:tab pos="1028700" algn="l"/>
                    </a:tabLst>
                  </a:pPr>
                  <a:endParaRPr lang="en-US" altLang="zh-CN" sz="2800" b="1">
                    <a:solidFill>
                      <a:srgbClr val="008000"/>
                    </a:solidFill>
                    <a:ea typeface="宋体" pitchFamily="2" charset="-122"/>
                  </a:endParaRPr>
                </a:p>
              </p:txBody>
            </p:sp>
            <p:sp>
              <p:nvSpPr>
                <p:cNvPr id="29729" name="Rectangle 61"/>
                <p:cNvSpPr>
                  <a:spLocks noChangeArrowheads="1"/>
                </p:cNvSpPr>
                <p:nvPr/>
              </p:nvSpPr>
              <p:spPr bwMode="auto">
                <a:xfrm>
                  <a:off x="0" y="4610"/>
                  <a:ext cx="967" cy="461"/>
                </a:xfrm>
                <a:prstGeom prst="rect">
                  <a:avLst/>
                </a:prstGeom>
                <a:noFill/>
                <a:ln w="7">
                  <a:solidFill>
                    <a:srgbClr val="A0A0A0"/>
                  </a:solidFill>
                  <a:miter lim="800000"/>
                  <a:headEnd/>
                  <a:tailEnd/>
                </a:ln>
              </p:spPr>
              <p:txBody>
                <a:bodyPr wrap="none"/>
                <a:lstStyle/>
                <a:p>
                  <a:endParaRPr lang="zh-CN" altLang="en-US"/>
                </a:p>
              </p:txBody>
            </p:sp>
          </p:grpSp>
          <p:grpSp>
            <p:nvGrpSpPr>
              <p:cNvPr id="29725" name="Group 62"/>
              <p:cNvGrpSpPr>
                <a:grpSpLocks/>
              </p:cNvGrpSpPr>
              <p:nvPr/>
            </p:nvGrpSpPr>
            <p:grpSpPr bwMode="auto">
              <a:xfrm>
                <a:off x="945" y="4610"/>
                <a:ext cx="1180" cy="481"/>
                <a:chOff x="945" y="4610"/>
                <a:chExt cx="1180" cy="481"/>
              </a:xfrm>
            </p:grpSpPr>
            <p:sp>
              <p:nvSpPr>
                <p:cNvPr id="29726" name="Rectangle 63"/>
                <p:cNvSpPr>
                  <a:spLocks noChangeArrowheads="1"/>
                </p:cNvSpPr>
                <p:nvPr/>
              </p:nvSpPr>
              <p:spPr bwMode="auto">
                <a:xfrm>
                  <a:off x="945" y="4630"/>
                  <a:ext cx="1072" cy="461"/>
                </a:xfrm>
                <a:prstGeom prst="rect">
                  <a:avLst/>
                </a:prstGeom>
                <a:noFill/>
                <a:ln w="9525">
                  <a:noFill/>
                  <a:miter lim="800000"/>
                  <a:headEnd/>
                  <a:tailEnd/>
                </a:ln>
              </p:spPr>
              <p:txBody>
                <a:bodyPr/>
                <a:lstStyle/>
                <a:p>
                  <a:pPr>
                    <a:tabLst>
                      <a:tab pos="1028700" algn="l"/>
                    </a:tabLst>
                  </a:pPr>
                  <a:r>
                    <a:rPr lang="en-US" altLang="zh-CN" sz="2800" b="1" dirty="0">
                      <a:solidFill>
                        <a:srgbClr val="008000"/>
                      </a:solidFill>
                      <a:ea typeface="宋体" pitchFamily="2" charset="-122"/>
                    </a:rPr>
                    <a:t>2000</a:t>
                  </a:r>
                </a:p>
                <a:p>
                  <a:pPr eaLnBrk="0" hangingPunct="0">
                    <a:tabLst>
                      <a:tab pos="1028700" algn="l"/>
                    </a:tabLst>
                  </a:pPr>
                  <a:endParaRPr lang="en-US" altLang="zh-CN" sz="2800" b="1" dirty="0">
                    <a:solidFill>
                      <a:srgbClr val="008000"/>
                    </a:solidFill>
                    <a:ea typeface="宋体" pitchFamily="2" charset="-122"/>
                  </a:endParaRPr>
                </a:p>
              </p:txBody>
            </p:sp>
            <p:sp>
              <p:nvSpPr>
                <p:cNvPr id="29727" name="Rectangle 64"/>
                <p:cNvSpPr>
                  <a:spLocks noChangeArrowheads="1"/>
                </p:cNvSpPr>
                <p:nvPr/>
              </p:nvSpPr>
              <p:spPr bwMode="auto">
                <a:xfrm>
                  <a:off x="967" y="4610"/>
                  <a:ext cx="1158" cy="461"/>
                </a:xfrm>
                <a:prstGeom prst="rect">
                  <a:avLst/>
                </a:prstGeom>
                <a:noFill/>
                <a:ln w="7">
                  <a:solidFill>
                    <a:srgbClr val="A0A0A0"/>
                  </a:solidFill>
                  <a:miter lim="800000"/>
                  <a:headEnd/>
                  <a:tailEnd/>
                </a:ln>
              </p:spPr>
              <p:txBody>
                <a:bodyPr wrap="none"/>
                <a:lstStyle/>
                <a:p>
                  <a:endParaRPr lang="zh-CN" altLang="en-US"/>
                </a:p>
              </p:txBody>
            </p:sp>
          </p:grpSp>
        </p:grpSp>
        <p:sp>
          <p:nvSpPr>
            <p:cNvPr id="29705" name="Rectangle 65"/>
            <p:cNvSpPr>
              <a:spLocks noChangeArrowheads="1"/>
            </p:cNvSpPr>
            <p:nvPr/>
          </p:nvSpPr>
          <p:spPr bwMode="auto">
            <a:xfrm>
              <a:off x="-3" y="458"/>
              <a:ext cx="2131" cy="4616"/>
            </a:xfrm>
            <a:prstGeom prst="rect">
              <a:avLst/>
            </a:prstGeom>
            <a:noFill/>
            <a:ln w="11112">
              <a:solidFill>
                <a:srgbClr val="A0A0A0"/>
              </a:solidFill>
              <a:miter lim="800000"/>
              <a:headEnd/>
              <a:tailEnd/>
            </a:ln>
          </p:spPr>
          <p:txBody>
            <a:bodyPr wrap="none"/>
            <a:lstStyle/>
            <a:p>
              <a:endParaRPr lang="zh-CN" altLang="en-US"/>
            </a:p>
          </p:txBody>
        </p:sp>
      </p:grpSp>
      <p:graphicFrame>
        <p:nvGraphicFramePr>
          <p:cNvPr id="612418" name="Object 66"/>
          <p:cNvGraphicFramePr>
            <a:graphicFrameLocks noChangeAspect="1"/>
          </p:cNvGraphicFramePr>
          <p:nvPr/>
        </p:nvGraphicFramePr>
        <p:xfrm>
          <a:off x="5357813" y="2857500"/>
          <a:ext cx="3571875" cy="1000125"/>
        </p:xfrm>
        <a:graphic>
          <a:graphicData uri="http://schemas.openxmlformats.org/presentationml/2006/ole">
            <mc:AlternateContent xmlns:mc="http://schemas.openxmlformats.org/markup-compatibility/2006">
              <mc:Choice xmlns:v="urn:schemas-microsoft-com:vml" Requires="v">
                <p:oleObj spid="_x0000_s30054" name="公式" r:id="rId3" imgW="1612800" imgH="393480" progId="Equation.3">
                  <p:embed/>
                </p:oleObj>
              </mc:Choice>
              <mc:Fallback>
                <p:oleObj name="公式" r:id="rId3" imgW="1612800" imgH="393480" progId="Equation.3">
                  <p:embed/>
                  <p:pic>
                    <p:nvPicPr>
                      <p:cNvPr id="0"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813" y="2857500"/>
                        <a:ext cx="3571875"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2419" name="Object 67"/>
          <p:cNvGraphicFramePr>
            <a:graphicFrameLocks noChangeAspect="1"/>
          </p:cNvGraphicFramePr>
          <p:nvPr/>
        </p:nvGraphicFramePr>
        <p:xfrm>
          <a:off x="5572125" y="4071938"/>
          <a:ext cx="1295400" cy="314325"/>
        </p:xfrm>
        <a:graphic>
          <a:graphicData uri="http://schemas.openxmlformats.org/presentationml/2006/ole">
            <mc:AlternateContent xmlns:mc="http://schemas.openxmlformats.org/markup-compatibility/2006">
              <mc:Choice xmlns:v="urn:schemas-microsoft-com:vml" Requires="v">
                <p:oleObj spid="_x0000_s30055" name="Equation" r:id="rId5" imgW="1295280" imgH="317160" progId="Equation.3">
                  <p:embed/>
                </p:oleObj>
              </mc:Choice>
              <mc:Fallback>
                <p:oleObj name="Equation" r:id="rId5" imgW="1295280" imgH="317160" progId="Equation.3">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2125" y="4071938"/>
                        <a:ext cx="1295400"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3" name="Rectangle 68"/>
          <p:cNvSpPr>
            <a:spLocks noChangeArrowheads="1"/>
          </p:cNvSpPr>
          <p:nvPr/>
        </p:nvSpPr>
        <p:spPr bwMode="auto">
          <a:xfrm>
            <a:off x="6629400" y="4133850"/>
            <a:ext cx="1262063" cy="523875"/>
          </a:xfrm>
          <a:prstGeom prst="rect">
            <a:avLst/>
          </a:prstGeom>
          <a:noFill/>
          <a:ln w="9525">
            <a:noFill/>
            <a:miter lim="800000"/>
            <a:headEnd/>
            <a:tailEnd/>
          </a:ln>
        </p:spPr>
        <p:txBody>
          <a:bodyPr wrap="none">
            <a:spAutoFit/>
          </a:bodyPr>
          <a:lstStyle/>
          <a:p>
            <a:r>
              <a:rPr lang="zh-CN" altLang="en-US" sz="2800">
                <a:solidFill>
                  <a:srgbClr val="008000"/>
                </a:solidFill>
                <a:ea typeface="宋体" pitchFamily="2" charset="-122"/>
              </a:rPr>
              <a:t>（件）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12418"/>
                                        </p:tgtEl>
                                        <p:attrNameLst>
                                          <p:attrName>style.visibility</p:attrName>
                                        </p:attrNameLst>
                                      </p:cBhvr>
                                      <p:to>
                                        <p:strVal val="visible"/>
                                      </p:to>
                                    </p:set>
                                    <p:anim calcmode="lin" valueType="num">
                                      <p:cBhvr additive="base">
                                        <p:cTn id="7" dur="500" fill="hold"/>
                                        <p:tgtEl>
                                          <p:spTgt spid="612418"/>
                                        </p:tgtEl>
                                        <p:attrNameLst>
                                          <p:attrName>ppt_x</p:attrName>
                                        </p:attrNameLst>
                                      </p:cBhvr>
                                      <p:tavLst>
                                        <p:tav tm="0">
                                          <p:val>
                                            <p:strVal val="0-#ppt_w/2"/>
                                          </p:val>
                                        </p:tav>
                                        <p:tav tm="100000">
                                          <p:val>
                                            <p:strVal val="#ppt_x"/>
                                          </p:val>
                                        </p:tav>
                                      </p:tavLst>
                                    </p:anim>
                                    <p:anim calcmode="lin" valueType="num">
                                      <p:cBhvr additive="base">
                                        <p:cTn id="8" dur="500" fill="hold"/>
                                        <p:tgtEl>
                                          <p:spTgt spid="6124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12419"/>
                                        </p:tgtEl>
                                        <p:attrNameLst>
                                          <p:attrName>style.visibility</p:attrName>
                                        </p:attrNameLst>
                                      </p:cBhvr>
                                      <p:to>
                                        <p:strVal val="visible"/>
                                      </p:to>
                                    </p:set>
                                    <p:anim calcmode="lin" valueType="num">
                                      <p:cBhvr additive="base">
                                        <p:cTn id="12" dur="250" fill="hold"/>
                                        <p:tgtEl>
                                          <p:spTgt spid="612419"/>
                                        </p:tgtEl>
                                        <p:attrNameLst>
                                          <p:attrName>ppt_x</p:attrName>
                                        </p:attrNameLst>
                                      </p:cBhvr>
                                      <p:tavLst>
                                        <p:tav tm="0">
                                          <p:val>
                                            <p:strVal val="0-#ppt_w/2"/>
                                          </p:val>
                                        </p:tav>
                                        <p:tav tm="100000">
                                          <p:val>
                                            <p:strVal val="#ppt_x"/>
                                          </p:val>
                                        </p:tav>
                                      </p:tavLst>
                                    </p:anim>
                                    <p:anim calcmode="lin" valueType="num">
                                      <p:cBhvr additive="base">
                                        <p:cTn id="13" dur="250" fill="hold"/>
                                        <p:tgtEl>
                                          <p:spTgt spid="6124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3" name="Rectangle 3"/>
          <p:cNvSpPr>
            <a:spLocks noGrp="1" noChangeArrowheads="1"/>
          </p:cNvSpPr>
          <p:nvPr>
            <p:ph type="body" idx="1"/>
          </p:nvPr>
        </p:nvSpPr>
        <p:spPr>
          <a:xfrm>
            <a:off x="755576" y="1196752"/>
            <a:ext cx="7666806" cy="4896544"/>
          </a:xfrm>
        </p:spPr>
        <p:txBody>
          <a:bodyPr/>
          <a:lstStyle/>
          <a:p>
            <a:pPr eaLnBrk="1" hangingPunct="1">
              <a:lnSpc>
                <a:spcPct val="125000"/>
              </a:lnSpc>
              <a:spcBef>
                <a:spcPts val="600"/>
              </a:spcBef>
              <a:buFontTx/>
              <a:buNone/>
            </a:pPr>
            <a:r>
              <a:rPr lang="zh-CN" altLang="en-US" sz="3600" dirty="0" smtClean="0">
                <a:solidFill>
                  <a:srgbClr val="1313FF"/>
                </a:solidFill>
              </a:rPr>
              <a:t>众数的特性：</a:t>
            </a:r>
          </a:p>
          <a:p>
            <a:pPr lvl="1" eaLnBrk="1" hangingPunct="1">
              <a:lnSpc>
                <a:spcPct val="125000"/>
              </a:lnSpc>
              <a:spcBef>
                <a:spcPts val="600"/>
              </a:spcBef>
            </a:pPr>
            <a:r>
              <a:rPr lang="zh-CN" altLang="en-US" sz="3200" dirty="0" smtClean="0"/>
              <a:t>众数适用于所有量化层次的数据；</a:t>
            </a:r>
            <a:endParaRPr lang="en-US" altLang="zh-CN" sz="3200" dirty="0" smtClean="0"/>
          </a:p>
          <a:p>
            <a:pPr lvl="1" eaLnBrk="1" hangingPunct="1">
              <a:lnSpc>
                <a:spcPct val="125000"/>
              </a:lnSpc>
              <a:spcBef>
                <a:spcPts val="600"/>
              </a:spcBef>
            </a:pPr>
            <a:r>
              <a:rPr lang="zh-CN" altLang="en-US" sz="3200" dirty="0" smtClean="0"/>
              <a:t>众数是一种位置平均数，不受极端变量值的影响；</a:t>
            </a:r>
          </a:p>
          <a:p>
            <a:pPr lvl="1" eaLnBrk="1" hangingPunct="1">
              <a:lnSpc>
                <a:spcPct val="125000"/>
              </a:lnSpc>
              <a:spcBef>
                <a:spcPts val="600"/>
              </a:spcBef>
            </a:pPr>
            <a:r>
              <a:rPr lang="zh-CN" altLang="en-US" sz="3200" dirty="0" smtClean="0"/>
              <a:t>众数可能不</a:t>
            </a:r>
            <a:r>
              <a:rPr lang="zh-CN" altLang="en-US" sz="3200" dirty="0" smtClean="0"/>
              <a:t>存在</a:t>
            </a:r>
            <a:r>
              <a:rPr lang="zh-CN" altLang="en-US" b="0" dirty="0" smtClean="0"/>
              <a:t>（有前提  ）</a:t>
            </a:r>
            <a:r>
              <a:rPr lang="zh-CN" altLang="en-US" sz="3200" dirty="0" smtClean="0"/>
              <a:t>；</a:t>
            </a:r>
            <a:endParaRPr lang="en-US" altLang="zh-CN" sz="3200" dirty="0" smtClean="0"/>
          </a:p>
          <a:p>
            <a:pPr lvl="1" eaLnBrk="1" hangingPunct="1">
              <a:lnSpc>
                <a:spcPct val="125000"/>
              </a:lnSpc>
              <a:spcBef>
                <a:spcPts val="600"/>
              </a:spcBef>
            </a:pPr>
            <a:r>
              <a:rPr lang="zh-CN" altLang="en-US" sz="3200" dirty="0" smtClean="0"/>
              <a:t>众数不一定是唯一的</a:t>
            </a:r>
            <a:r>
              <a:rPr lang="zh-CN" altLang="en-US" sz="3200" b="0" dirty="0" smtClean="0"/>
              <a:t>（</a:t>
            </a:r>
            <a:r>
              <a:rPr lang="zh-CN" altLang="en-US" sz="3200" b="0" dirty="0" smtClean="0"/>
              <a:t>可能存在多个</a:t>
            </a:r>
            <a:r>
              <a:rPr lang="zh-CN" altLang="en-US" sz="3200" b="0" dirty="0" smtClean="0"/>
              <a:t>众</a:t>
            </a:r>
            <a:r>
              <a:rPr lang="zh-CN" altLang="en-US" sz="3200" b="0" dirty="0" smtClean="0"/>
              <a:t>数）</a:t>
            </a:r>
            <a:r>
              <a:rPr lang="zh-CN" altLang="en-US" sz="3200" dirty="0"/>
              <a:t>。</a:t>
            </a:r>
            <a:endParaRPr lang="zh-CN" altLang="en-US" sz="3200" dirty="0" smtClean="0"/>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77</a:t>
            </a:fld>
            <a:endParaRPr lang="en-US" altLang="zh-CN" dirty="0"/>
          </a:p>
        </p:txBody>
      </p:sp>
      <p:sp>
        <p:nvSpPr>
          <p:cNvPr id="3" name="虚尾箭头 2"/>
          <p:cNvSpPr/>
          <p:nvPr/>
        </p:nvSpPr>
        <p:spPr bwMode="auto">
          <a:xfrm rot="5400000">
            <a:off x="8197414" y="4437113"/>
            <a:ext cx="792089" cy="360040"/>
          </a:xfrm>
          <a:prstGeom prst="stripedRightArrow">
            <a:avLst/>
          </a:prstGeom>
          <a:solidFill>
            <a:schemeClr val="accent1">
              <a:lumMod val="20000"/>
              <a:lumOff val="8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endParaRPr>
          </a:p>
        </p:txBody>
      </p:sp>
    </p:spTree>
    <p:extLst>
      <p:ext uri="{BB962C8B-B14F-4D97-AF65-F5344CB8AC3E}">
        <p14:creationId xmlns:p14="http://schemas.microsoft.com/office/powerpoint/2010/main" val="36109361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04163">
                                            <p:txEl>
                                              <p:pRg st="1" end="1"/>
                                            </p:txEl>
                                          </p:spTgt>
                                        </p:tgtEl>
                                        <p:attrNameLst>
                                          <p:attrName>style.visibility</p:attrName>
                                        </p:attrNameLst>
                                      </p:cBhvr>
                                      <p:to>
                                        <p:strVal val="visible"/>
                                      </p:to>
                                    </p:set>
                                    <p:animEffect transition="in" filter="wipe(up)">
                                      <p:cBhvr>
                                        <p:cTn id="7" dur="250"/>
                                        <p:tgtEl>
                                          <p:spTgt spid="604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04163">
                                            <p:txEl>
                                              <p:pRg st="2" end="2"/>
                                            </p:txEl>
                                          </p:spTgt>
                                        </p:tgtEl>
                                        <p:attrNameLst>
                                          <p:attrName>style.visibility</p:attrName>
                                        </p:attrNameLst>
                                      </p:cBhvr>
                                      <p:to>
                                        <p:strVal val="visible"/>
                                      </p:to>
                                    </p:set>
                                    <p:animEffect transition="in" filter="wipe(up)">
                                      <p:cBhvr>
                                        <p:cTn id="12" dur="10"/>
                                        <p:tgtEl>
                                          <p:spTgt spid="6041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04163">
                                            <p:txEl>
                                              <p:pRg st="3" end="3"/>
                                            </p:txEl>
                                          </p:spTgt>
                                        </p:tgtEl>
                                        <p:attrNameLst>
                                          <p:attrName>style.visibility</p:attrName>
                                        </p:attrNameLst>
                                      </p:cBhvr>
                                      <p:to>
                                        <p:strVal val="visible"/>
                                      </p:to>
                                    </p:set>
                                    <p:animEffect transition="in" filter="wipe(up)">
                                      <p:cBhvr>
                                        <p:cTn id="17" dur="500"/>
                                        <p:tgtEl>
                                          <p:spTgt spid="604163">
                                            <p:txEl>
                                              <p:pRg st="3" end="3"/>
                                            </p:txEl>
                                          </p:spTgt>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749"/>
                                          </p:stCondLst>
                                        </p:cTn>
                                        <p:tgtEl>
                                          <p:spTgt spid="3"/>
                                        </p:tgtEl>
                                        <p:attrNameLst>
                                          <p:attrName>style.visibility</p:attrName>
                                        </p:attrNameLst>
                                      </p:cBhvr>
                                      <p:to>
                                        <p:strVal val="visible"/>
                                      </p:to>
                                    </p:set>
                                  </p:childTnLst>
                                </p:cTn>
                              </p:par>
                            </p:childTnLst>
                          </p:cTn>
                        </p:par>
                        <p:par>
                          <p:cTn id="21" fill="hold">
                            <p:stCondLst>
                              <p:cond delay="1250"/>
                            </p:stCondLst>
                            <p:childTnLst>
                              <p:par>
                                <p:cTn id="22" presetID="22" presetClass="entr" presetSubtype="1" fill="hold" grpId="0" nodeType="afterEffect">
                                  <p:stCondLst>
                                    <p:cond delay="0"/>
                                  </p:stCondLst>
                                  <p:childTnLst>
                                    <p:set>
                                      <p:cBhvr>
                                        <p:cTn id="23" dur="1" fill="hold">
                                          <p:stCondLst>
                                            <p:cond delay="0"/>
                                          </p:stCondLst>
                                        </p:cTn>
                                        <p:tgtEl>
                                          <p:spTgt spid="604163">
                                            <p:txEl>
                                              <p:pRg st="4" end="4"/>
                                            </p:txEl>
                                          </p:spTgt>
                                        </p:tgtEl>
                                        <p:attrNameLst>
                                          <p:attrName>style.visibility</p:attrName>
                                        </p:attrNameLst>
                                      </p:cBhvr>
                                      <p:to>
                                        <p:strVal val="visible"/>
                                      </p:to>
                                    </p:set>
                                    <p:animEffect transition="in" filter="wipe(up)">
                                      <p:cBhvr>
                                        <p:cTn id="24" dur="1000"/>
                                        <p:tgtEl>
                                          <p:spTgt spid="604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3" grpId="0" uiExpand="1" build="p" bldLvl="2"/>
      <p:bldP spid="3"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2" name="Picture 1"/>
          <p:cNvPicPr>
            <a:picLocks noChangeAspect="1" noChangeArrowheads="1"/>
          </p:cNvPicPr>
          <p:nvPr/>
        </p:nvPicPr>
        <p:blipFill>
          <a:blip r:embed="rId3" cstate="print"/>
          <a:srcRect/>
          <a:stretch>
            <a:fillRect/>
          </a:stretch>
        </p:blipFill>
        <p:spPr bwMode="auto">
          <a:xfrm>
            <a:off x="6357950" y="3212976"/>
            <a:ext cx="2390514" cy="1725502"/>
          </a:xfrm>
          <a:prstGeom prst="rect">
            <a:avLst/>
          </a:prstGeom>
          <a:noFill/>
          <a:ln w="9525">
            <a:noFill/>
            <a:miter lim="800000"/>
            <a:headEnd/>
            <a:tailEnd/>
          </a:ln>
          <a:effectLst/>
        </p:spPr>
      </p:pic>
      <p:sp>
        <p:nvSpPr>
          <p:cNvPr id="114691" name="Rectangle 2"/>
          <p:cNvSpPr>
            <a:spLocks noGrp="1" noChangeArrowheads="1"/>
          </p:cNvSpPr>
          <p:nvPr>
            <p:ph type="title"/>
          </p:nvPr>
        </p:nvSpPr>
        <p:spPr>
          <a:xfrm>
            <a:off x="1318592" y="311151"/>
            <a:ext cx="6781800" cy="1066800"/>
          </a:xfrm>
          <a:noFill/>
        </p:spPr>
        <p:txBody>
          <a:bodyPr lIns="90488" tIns="44450" rIns="90488" bIns="44450" anchor="ctr" anchorCtr="1"/>
          <a:lstStyle/>
          <a:p>
            <a:pPr eaLnBrk="1" hangingPunct="1"/>
            <a:r>
              <a:rPr lang="zh-CN" altLang="en-US" sz="4000" dirty="0" smtClean="0"/>
              <a:t>计算和应用众数的前提条件</a:t>
            </a:r>
            <a:endParaRPr lang="zh-CN" altLang="en-US" sz="3600" dirty="0" smtClean="0">
              <a:solidFill>
                <a:schemeClr val="hlink"/>
              </a:solidFill>
            </a:endParaRPr>
          </a:p>
        </p:txBody>
      </p:sp>
      <p:grpSp>
        <p:nvGrpSpPr>
          <p:cNvPr id="114693" name="Group 8"/>
          <p:cNvGrpSpPr>
            <a:grpSpLocks/>
          </p:cNvGrpSpPr>
          <p:nvPr/>
        </p:nvGrpSpPr>
        <p:grpSpPr bwMode="auto">
          <a:xfrm>
            <a:off x="900113" y="3500315"/>
            <a:ext cx="1660525" cy="1296988"/>
            <a:chOff x="4656" y="1200"/>
            <a:chExt cx="912" cy="624"/>
          </a:xfrm>
        </p:grpSpPr>
        <p:sp>
          <p:nvSpPr>
            <p:cNvPr id="605193" name="Line 9"/>
            <p:cNvSpPr>
              <a:spLocks noChangeShapeType="1"/>
            </p:cNvSpPr>
            <p:nvPr/>
          </p:nvSpPr>
          <p:spPr bwMode="auto">
            <a:xfrm>
              <a:off x="4656" y="1200"/>
              <a:ext cx="0" cy="624"/>
            </a:xfrm>
            <a:prstGeom prst="line">
              <a:avLst/>
            </a:prstGeom>
            <a:noFill/>
            <a:ln w="38100">
              <a:solidFill>
                <a:srgbClr val="000000"/>
              </a:solidFill>
              <a:round/>
              <a:headEnd type="triangle" w="med" len="med"/>
              <a:tailEnd/>
            </a:ln>
            <a:effectLst>
              <a:outerShdw dist="35921" dir="2700000" algn="ctr" rotWithShape="0">
                <a:schemeClr val="bg2"/>
              </a:outerShdw>
            </a:effectLst>
          </p:spPr>
          <p:txBody>
            <a:bodyPr/>
            <a:lstStyle/>
            <a:p>
              <a:pPr>
                <a:defRPr/>
              </a:pPr>
              <a:endParaRPr lang="zh-CN" altLang="en-US"/>
            </a:p>
          </p:txBody>
        </p:sp>
        <p:sp>
          <p:nvSpPr>
            <p:cNvPr id="605194" name="Line 10"/>
            <p:cNvSpPr>
              <a:spLocks noChangeShapeType="1"/>
            </p:cNvSpPr>
            <p:nvPr/>
          </p:nvSpPr>
          <p:spPr bwMode="auto">
            <a:xfrm>
              <a:off x="4656" y="1824"/>
              <a:ext cx="912" cy="0"/>
            </a:xfrm>
            <a:prstGeom prst="line">
              <a:avLst/>
            </a:prstGeom>
            <a:noFill/>
            <a:ln w="38100">
              <a:solidFill>
                <a:srgbClr val="000000"/>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sp>
        <p:nvSpPr>
          <p:cNvPr id="605195" name="Freeform 11"/>
          <p:cNvSpPr>
            <a:spLocks/>
          </p:cNvSpPr>
          <p:nvPr/>
        </p:nvSpPr>
        <p:spPr bwMode="auto">
          <a:xfrm>
            <a:off x="969963" y="4076577"/>
            <a:ext cx="1514475" cy="144462"/>
          </a:xfrm>
          <a:custGeom>
            <a:avLst/>
            <a:gdLst/>
            <a:ahLst/>
            <a:cxnLst>
              <a:cxn ang="0">
                <a:pos x="0" y="144"/>
              </a:cxn>
              <a:cxn ang="0">
                <a:pos x="432" y="0"/>
              </a:cxn>
              <a:cxn ang="0">
                <a:pos x="864" y="144"/>
              </a:cxn>
            </a:cxnLst>
            <a:rect l="0" t="0" r="r" b="b"/>
            <a:pathLst>
              <a:path w="864" h="144">
                <a:moveTo>
                  <a:pt x="0" y="144"/>
                </a:moveTo>
                <a:cubicBezTo>
                  <a:pt x="144" y="72"/>
                  <a:pt x="288" y="0"/>
                  <a:pt x="432" y="0"/>
                </a:cubicBezTo>
                <a:cubicBezTo>
                  <a:pt x="576" y="0"/>
                  <a:pt x="720" y="72"/>
                  <a:pt x="864" y="144"/>
                </a:cubicBezTo>
              </a:path>
            </a:pathLst>
          </a:custGeom>
          <a:noFill/>
          <a:ln w="38100" cap="flat"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grpSp>
        <p:nvGrpSpPr>
          <p:cNvPr id="5" name="Group 12"/>
          <p:cNvGrpSpPr>
            <a:grpSpLocks/>
          </p:cNvGrpSpPr>
          <p:nvPr/>
        </p:nvGrpSpPr>
        <p:grpSpPr bwMode="auto">
          <a:xfrm>
            <a:off x="3563938" y="3500314"/>
            <a:ext cx="1800150" cy="1295400"/>
            <a:chOff x="1292" y="2523"/>
            <a:chExt cx="1089" cy="816"/>
          </a:xfrm>
        </p:grpSpPr>
        <p:grpSp>
          <p:nvGrpSpPr>
            <p:cNvPr id="114700" name="Group 13"/>
            <p:cNvGrpSpPr>
              <a:grpSpLocks/>
            </p:cNvGrpSpPr>
            <p:nvPr/>
          </p:nvGrpSpPr>
          <p:grpSpPr bwMode="auto">
            <a:xfrm>
              <a:off x="1292" y="2523"/>
              <a:ext cx="1089" cy="816"/>
              <a:chOff x="4656" y="1200"/>
              <a:chExt cx="912" cy="624"/>
            </a:xfrm>
          </p:grpSpPr>
          <p:sp>
            <p:nvSpPr>
              <p:cNvPr id="605198" name="Line 14"/>
              <p:cNvSpPr>
                <a:spLocks noChangeShapeType="1"/>
              </p:cNvSpPr>
              <p:nvPr/>
            </p:nvSpPr>
            <p:spPr bwMode="auto">
              <a:xfrm>
                <a:off x="4656" y="1200"/>
                <a:ext cx="0" cy="624"/>
              </a:xfrm>
              <a:prstGeom prst="line">
                <a:avLst/>
              </a:prstGeom>
              <a:noFill/>
              <a:ln w="38100">
                <a:solidFill>
                  <a:srgbClr val="000000"/>
                </a:solidFill>
                <a:round/>
                <a:headEnd type="triangle" w="med" len="med"/>
                <a:tailEnd/>
              </a:ln>
              <a:effectLst>
                <a:outerShdw dist="35921" dir="2700000" algn="ctr" rotWithShape="0">
                  <a:schemeClr val="bg2"/>
                </a:outerShdw>
              </a:effectLst>
            </p:spPr>
            <p:txBody>
              <a:bodyPr/>
              <a:lstStyle/>
              <a:p>
                <a:pPr>
                  <a:defRPr/>
                </a:pPr>
                <a:endParaRPr lang="zh-CN" altLang="en-US"/>
              </a:p>
            </p:txBody>
          </p:sp>
          <p:sp>
            <p:nvSpPr>
              <p:cNvPr id="605199" name="Line 15"/>
              <p:cNvSpPr>
                <a:spLocks noChangeShapeType="1"/>
              </p:cNvSpPr>
              <p:nvPr/>
            </p:nvSpPr>
            <p:spPr bwMode="auto">
              <a:xfrm>
                <a:off x="4656" y="1824"/>
                <a:ext cx="912" cy="0"/>
              </a:xfrm>
              <a:prstGeom prst="line">
                <a:avLst/>
              </a:prstGeom>
              <a:noFill/>
              <a:ln w="38100">
                <a:solidFill>
                  <a:srgbClr val="000000"/>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sp>
          <p:nvSpPr>
            <p:cNvPr id="605200" name="Freeform 16"/>
            <p:cNvSpPr>
              <a:spLocks/>
            </p:cNvSpPr>
            <p:nvPr/>
          </p:nvSpPr>
          <p:spPr bwMode="auto">
            <a:xfrm>
              <a:off x="1383" y="2659"/>
              <a:ext cx="953" cy="568"/>
            </a:xfrm>
            <a:custGeom>
              <a:avLst/>
              <a:gdLst/>
              <a:ahLst/>
              <a:cxnLst>
                <a:cxn ang="0">
                  <a:pos x="0" y="288"/>
                </a:cxn>
                <a:cxn ang="0">
                  <a:pos x="336" y="0"/>
                </a:cxn>
                <a:cxn ang="0">
                  <a:pos x="672" y="288"/>
                </a:cxn>
              </a:cxnLst>
              <a:rect l="0" t="0" r="r" b="b"/>
              <a:pathLst>
                <a:path w="672" h="288">
                  <a:moveTo>
                    <a:pt x="0" y="288"/>
                  </a:moveTo>
                  <a:cubicBezTo>
                    <a:pt x="112" y="144"/>
                    <a:pt x="224" y="0"/>
                    <a:pt x="336" y="0"/>
                  </a:cubicBezTo>
                  <a:cubicBezTo>
                    <a:pt x="448" y="0"/>
                    <a:pt x="608" y="240"/>
                    <a:pt x="672" y="288"/>
                  </a:cubicBezTo>
                </a:path>
              </a:pathLst>
            </a:custGeom>
            <a:noFill/>
            <a:ln w="38100" cap="flat"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grpSp>
      <p:sp>
        <p:nvSpPr>
          <p:cNvPr id="605201" name="Text Box 17"/>
          <p:cNvSpPr txBox="1">
            <a:spLocks noChangeArrowheads="1"/>
          </p:cNvSpPr>
          <p:nvPr/>
        </p:nvSpPr>
        <p:spPr bwMode="auto">
          <a:xfrm>
            <a:off x="179388" y="1268413"/>
            <a:ext cx="8153400" cy="1952625"/>
          </a:xfrm>
          <a:prstGeom prst="rect">
            <a:avLst/>
          </a:prstGeom>
          <a:noFill/>
          <a:ln w="9525">
            <a:noFill/>
            <a:miter lim="800000"/>
            <a:headEnd/>
            <a:tailEnd/>
          </a:ln>
        </p:spPr>
        <p:txBody>
          <a:bodyPr>
            <a:spAutoFit/>
          </a:bodyPr>
          <a:lstStyle/>
          <a:p>
            <a:pPr lvl="1">
              <a:spcBef>
                <a:spcPct val="50000"/>
              </a:spcBef>
              <a:buFontTx/>
              <a:buChar char="•"/>
            </a:pPr>
            <a:r>
              <a:rPr lang="zh-CN" altLang="en-US" sz="3200" b="1" dirty="0">
                <a:solidFill>
                  <a:srgbClr val="0070C0"/>
                </a:solidFill>
                <a:latin typeface="Verdana" pitchFamily="34" charset="0"/>
                <a:ea typeface="宋体" pitchFamily="2" charset="-122"/>
              </a:rPr>
              <a:t>总体单位多</a:t>
            </a:r>
            <a:endParaRPr lang="zh-CN" altLang="en-US" sz="3200" dirty="0">
              <a:solidFill>
                <a:srgbClr val="0070C0"/>
              </a:solidFill>
              <a:latin typeface="Verdana" pitchFamily="34" charset="0"/>
              <a:ea typeface="宋体" pitchFamily="2" charset="-122"/>
            </a:endParaRPr>
          </a:p>
          <a:p>
            <a:pPr lvl="2">
              <a:spcBef>
                <a:spcPct val="50000"/>
              </a:spcBef>
              <a:buFontTx/>
              <a:buChar char="•"/>
            </a:pPr>
            <a:r>
              <a:rPr lang="zh-CN" altLang="en-US" sz="2800" b="1" dirty="0">
                <a:solidFill>
                  <a:srgbClr val="006600"/>
                </a:solidFill>
                <a:ea typeface="宋体" pitchFamily="2" charset="-122"/>
              </a:rPr>
              <a:t>数据： </a:t>
            </a:r>
            <a:r>
              <a:rPr lang="en-US" altLang="zh-CN" sz="2800" b="1" dirty="0">
                <a:solidFill>
                  <a:srgbClr val="006600"/>
                </a:solidFill>
                <a:ea typeface="宋体" pitchFamily="2" charset="-122"/>
              </a:rPr>
              <a:t>8    7    9    8   7   7    ——</a:t>
            </a:r>
            <a:r>
              <a:rPr lang="zh-CN" altLang="en-US" sz="2800" b="1" dirty="0">
                <a:solidFill>
                  <a:srgbClr val="006600"/>
                </a:solidFill>
                <a:ea typeface="宋体" pitchFamily="2" charset="-122"/>
              </a:rPr>
              <a:t>众数＝</a:t>
            </a:r>
            <a:r>
              <a:rPr lang="en-US" altLang="zh-CN" sz="2800" b="1" dirty="0">
                <a:solidFill>
                  <a:srgbClr val="006600"/>
                </a:solidFill>
                <a:ea typeface="宋体" pitchFamily="2" charset="-122"/>
              </a:rPr>
              <a:t>7   </a:t>
            </a:r>
            <a:r>
              <a:rPr lang="zh-CN" altLang="en-US" sz="2800" b="1" dirty="0">
                <a:solidFill>
                  <a:srgbClr val="1313FF"/>
                </a:solidFill>
                <a:ea typeface="宋体" pitchFamily="2" charset="-122"/>
              </a:rPr>
              <a:t>？</a:t>
            </a:r>
            <a:endParaRPr lang="zh-CN" altLang="en-US" sz="2800" b="1" dirty="0">
              <a:solidFill>
                <a:srgbClr val="1313FF"/>
              </a:solidFill>
              <a:latin typeface="Verdana" pitchFamily="34" charset="0"/>
              <a:ea typeface="宋体" pitchFamily="2" charset="-122"/>
            </a:endParaRPr>
          </a:p>
          <a:p>
            <a:pPr lvl="1">
              <a:spcBef>
                <a:spcPct val="50000"/>
              </a:spcBef>
              <a:buFontTx/>
              <a:buChar char="•"/>
            </a:pPr>
            <a:r>
              <a:rPr lang="zh-CN" altLang="en-US" sz="3200" b="1" dirty="0">
                <a:solidFill>
                  <a:srgbClr val="0070C0"/>
                </a:solidFill>
                <a:latin typeface="Verdana" pitchFamily="34" charset="0"/>
                <a:ea typeface="宋体" pitchFamily="2" charset="-122"/>
              </a:rPr>
              <a:t>分布有明显的集中趋势</a:t>
            </a:r>
          </a:p>
        </p:txBody>
      </p:sp>
      <p:sp>
        <p:nvSpPr>
          <p:cNvPr id="605202" name="Text Box 18"/>
          <p:cNvSpPr txBox="1">
            <a:spLocks noChangeArrowheads="1"/>
          </p:cNvSpPr>
          <p:nvPr/>
        </p:nvSpPr>
        <p:spPr bwMode="auto">
          <a:xfrm>
            <a:off x="3419475" y="5084639"/>
            <a:ext cx="1800225" cy="946150"/>
          </a:xfrm>
          <a:prstGeom prst="rect">
            <a:avLst/>
          </a:prstGeom>
          <a:solidFill>
            <a:schemeClr val="accent1"/>
          </a:solidFill>
          <a:ln w="9525">
            <a:noFill/>
            <a:miter lim="800000"/>
            <a:headEnd/>
            <a:tailEnd/>
          </a:ln>
        </p:spPr>
        <p:txBody>
          <a:bodyPr>
            <a:spAutoFit/>
          </a:bodyPr>
          <a:lstStyle/>
          <a:p>
            <a:pPr algn="ctr">
              <a:spcBef>
                <a:spcPct val="50000"/>
              </a:spcBef>
            </a:pPr>
            <a:r>
              <a:rPr lang="zh-CN" altLang="en-US" sz="2800" b="1" dirty="0">
                <a:solidFill>
                  <a:srgbClr val="000000"/>
                </a:solidFill>
                <a:ea typeface="宋体" pitchFamily="2" charset="-122"/>
              </a:rPr>
              <a:t>存在一个众数</a:t>
            </a:r>
          </a:p>
        </p:txBody>
      </p:sp>
      <p:sp>
        <p:nvSpPr>
          <p:cNvPr id="605203" name="Text Box 19"/>
          <p:cNvSpPr txBox="1">
            <a:spLocks noChangeArrowheads="1"/>
          </p:cNvSpPr>
          <p:nvPr/>
        </p:nvSpPr>
        <p:spPr bwMode="auto">
          <a:xfrm>
            <a:off x="6299200" y="5195784"/>
            <a:ext cx="2377256" cy="892552"/>
          </a:xfrm>
          <a:prstGeom prst="rect">
            <a:avLst/>
          </a:prstGeom>
          <a:solidFill>
            <a:schemeClr val="accent1"/>
          </a:solidFill>
          <a:ln w="9525">
            <a:noFill/>
            <a:miter lim="800000"/>
            <a:headEnd/>
            <a:tailEnd/>
          </a:ln>
        </p:spPr>
        <p:txBody>
          <a:bodyPr wrap="square">
            <a:spAutoFit/>
          </a:bodyPr>
          <a:lstStyle/>
          <a:p>
            <a:pPr algn="ctr">
              <a:spcBef>
                <a:spcPct val="50000"/>
              </a:spcBef>
            </a:pPr>
            <a:r>
              <a:rPr lang="zh-CN" altLang="en-US" sz="2800" b="1" dirty="0" smtClean="0">
                <a:solidFill>
                  <a:srgbClr val="000000"/>
                </a:solidFill>
                <a:ea typeface="宋体" pitchFamily="2" charset="-122"/>
              </a:rPr>
              <a:t>存在两个众数</a:t>
            </a:r>
            <a:r>
              <a:rPr lang="zh-CN" altLang="en-US" b="1" dirty="0" smtClean="0">
                <a:solidFill>
                  <a:srgbClr val="0070C0"/>
                </a:solidFill>
                <a:ea typeface="宋体" pitchFamily="2" charset="-122"/>
              </a:rPr>
              <a:t>（双峰分布）</a:t>
            </a:r>
            <a:endParaRPr lang="zh-CN" altLang="en-US" b="1" dirty="0">
              <a:solidFill>
                <a:srgbClr val="0070C0"/>
              </a:solidFill>
              <a:ea typeface="宋体" pitchFamily="2" charset="-122"/>
            </a:endParaRPr>
          </a:p>
        </p:txBody>
      </p:sp>
      <p:sp>
        <p:nvSpPr>
          <p:cNvPr id="605204" name="Text Box 20"/>
          <p:cNvSpPr txBox="1">
            <a:spLocks noChangeArrowheads="1"/>
          </p:cNvSpPr>
          <p:nvPr/>
        </p:nvSpPr>
        <p:spPr bwMode="auto">
          <a:xfrm>
            <a:off x="755650" y="5084639"/>
            <a:ext cx="1584325" cy="946150"/>
          </a:xfrm>
          <a:prstGeom prst="rect">
            <a:avLst/>
          </a:prstGeom>
          <a:solidFill>
            <a:schemeClr val="accent1"/>
          </a:solidFill>
          <a:ln w="9525">
            <a:noFill/>
            <a:miter lim="800000"/>
            <a:headEnd/>
            <a:tailEnd/>
          </a:ln>
        </p:spPr>
        <p:txBody>
          <a:bodyPr>
            <a:spAutoFit/>
          </a:bodyPr>
          <a:lstStyle/>
          <a:p>
            <a:pPr algn="ctr">
              <a:spcBef>
                <a:spcPct val="50000"/>
              </a:spcBef>
            </a:pPr>
            <a:r>
              <a:rPr lang="zh-CN" altLang="en-US" sz="2800" b="1" dirty="0">
                <a:solidFill>
                  <a:srgbClr val="000000"/>
                </a:solidFill>
                <a:ea typeface="宋体" pitchFamily="2" charset="-122"/>
              </a:rPr>
              <a:t>不存在众数</a:t>
            </a:r>
          </a:p>
        </p:txBody>
      </p:sp>
      <p:sp>
        <p:nvSpPr>
          <p:cNvPr id="18" name="椭圆 17"/>
          <p:cNvSpPr/>
          <p:nvPr/>
        </p:nvSpPr>
        <p:spPr bwMode="auto">
          <a:xfrm>
            <a:off x="4427984" y="4724574"/>
            <a:ext cx="144016" cy="144016"/>
          </a:xfrm>
          <a:prstGeom prst="ellipse">
            <a:avLst/>
          </a:prstGeom>
          <a:solidFill>
            <a:srgbClr val="C00000"/>
          </a:solid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smtClean="0">
              <a:ln>
                <a:noFill/>
              </a:ln>
              <a:solidFill>
                <a:srgbClr val="FF0000"/>
              </a:solidFill>
              <a:effectLst/>
              <a:latin typeface="Times New Roman" pitchFamily="18" charset="0"/>
              <a:ea typeface="华文隶书" pitchFamily="2" charset="-122"/>
            </a:endParaRPr>
          </a:p>
        </p:txBody>
      </p:sp>
      <p:sp>
        <p:nvSpPr>
          <p:cNvPr id="19" name="椭圆 18"/>
          <p:cNvSpPr/>
          <p:nvPr/>
        </p:nvSpPr>
        <p:spPr bwMode="auto">
          <a:xfrm>
            <a:off x="8100392" y="4724574"/>
            <a:ext cx="144016" cy="144016"/>
          </a:xfrm>
          <a:prstGeom prst="ellipse">
            <a:avLst/>
          </a:prstGeom>
          <a:solidFill>
            <a:srgbClr val="C00000"/>
          </a:solid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smtClean="0">
              <a:ln>
                <a:noFill/>
              </a:ln>
              <a:solidFill>
                <a:srgbClr val="FF0000"/>
              </a:solidFill>
              <a:effectLst/>
              <a:latin typeface="Times New Roman" pitchFamily="18" charset="0"/>
              <a:ea typeface="华文隶书" pitchFamily="2" charset="-122"/>
            </a:endParaRPr>
          </a:p>
        </p:txBody>
      </p:sp>
      <p:sp>
        <p:nvSpPr>
          <p:cNvPr id="20" name="椭圆 19"/>
          <p:cNvSpPr/>
          <p:nvPr/>
        </p:nvSpPr>
        <p:spPr bwMode="auto">
          <a:xfrm>
            <a:off x="7164288" y="4724574"/>
            <a:ext cx="144016" cy="144016"/>
          </a:xfrm>
          <a:prstGeom prst="ellipse">
            <a:avLst/>
          </a:prstGeom>
          <a:solidFill>
            <a:srgbClr val="C00000"/>
          </a:solid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smtClean="0">
              <a:ln>
                <a:noFill/>
              </a:ln>
              <a:solidFill>
                <a:srgbClr val="FF0000"/>
              </a:solidFill>
              <a:effectLst/>
              <a:latin typeface="Times New Roman" pitchFamily="18" charset="0"/>
              <a:ea typeface="华文隶书" pitchFamily="2" charset="-122"/>
            </a:endParaRPr>
          </a:p>
        </p:txBody>
      </p:sp>
      <p:sp>
        <p:nvSpPr>
          <p:cNvPr id="21" name="灯片编号占位符 20"/>
          <p:cNvSpPr>
            <a:spLocks noGrp="1"/>
          </p:cNvSpPr>
          <p:nvPr>
            <p:ph type="sldNum" sz="quarter" idx="12"/>
          </p:nvPr>
        </p:nvSpPr>
        <p:spPr>
          <a:xfrm>
            <a:off x="8244408" y="6316303"/>
            <a:ext cx="524156" cy="457200"/>
          </a:xfrm>
        </p:spPr>
        <p:txBody>
          <a:bodyPr/>
          <a:lstStyle/>
          <a:p>
            <a:pPr>
              <a:defRPr/>
            </a:pPr>
            <a:fld id="{62FC49CA-8014-4DA2-ABEB-AF96863EC77D}" type="slidenum">
              <a:rPr lang="en-US" altLang="zh-CN" smtClean="0"/>
              <a:pPr>
                <a:defRPr/>
              </a:pPr>
              <a:t>78</a:t>
            </a:fld>
            <a:endParaRPr lang="en-US" altLang="zh-CN" dirty="0"/>
          </a:p>
        </p:txBody>
      </p:sp>
    </p:spTree>
    <p:extLst>
      <p:ext uri="{BB962C8B-B14F-4D97-AF65-F5344CB8AC3E}">
        <p14:creationId xmlns:p14="http://schemas.microsoft.com/office/powerpoint/2010/main" val="6998128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5201">
                                            <p:txEl>
                                              <p:pRg st="2" end="2"/>
                                            </p:txEl>
                                          </p:spTgt>
                                        </p:tgtEl>
                                        <p:attrNameLst>
                                          <p:attrName>style.visibility</p:attrName>
                                        </p:attrNameLst>
                                      </p:cBhvr>
                                      <p:to>
                                        <p:strVal val="visible"/>
                                      </p:to>
                                    </p:set>
                                    <p:animEffect transition="in" filter="wipe(left)">
                                      <p:cBhvr>
                                        <p:cTn id="7" dur="500"/>
                                        <p:tgtEl>
                                          <p:spTgt spid="605201">
                                            <p:txEl>
                                              <p:pRg st="2" end="2"/>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14693"/>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605195"/>
                                        </p:tgtEl>
                                        <p:attrNameLst>
                                          <p:attrName>style.visibility</p:attrName>
                                        </p:attrNameLst>
                                      </p:cBhvr>
                                      <p:to>
                                        <p:strVal val="visible"/>
                                      </p:to>
                                    </p:se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605204"/>
                                        </p:tgtEl>
                                        <p:attrNameLst>
                                          <p:attrName>style.visibility</p:attrName>
                                        </p:attrNameLst>
                                      </p:cBhvr>
                                      <p:to>
                                        <p:strVal val="visible"/>
                                      </p:to>
                                    </p:set>
                                    <p:anim calcmode="lin" valueType="num">
                                      <p:cBhvr additive="base">
                                        <p:cTn id="17" dur="1000" fill="hold"/>
                                        <p:tgtEl>
                                          <p:spTgt spid="605204"/>
                                        </p:tgtEl>
                                        <p:attrNameLst>
                                          <p:attrName>ppt_x</p:attrName>
                                        </p:attrNameLst>
                                      </p:cBhvr>
                                      <p:tavLst>
                                        <p:tav tm="0">
                                          <p:val>
                                            <p:strVal val="#ppt_x"/>
                                          </p:val>
                                        </p:tav>
                                        <p:tav tm="100000">
                                          <p:val>
                                            <p:strVal val="#ppt_x"/>
                                          </p:val>
                                        </p:tav>
                                      </p:tavLst>
                                    </p:anim>
                                    <p:anim calcmode="lin" valueType="num">
                                      <p:cBhvr additive="base">
                                        <p:cTn id="18" dur="1000" fill="hold"/>
                                        <p:tgtEl>
                                          <p:spTgt spid="60520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8" presetClass="entr" presetSubtype="32"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amond(out)">
                                      <p:cBhvr>
                                        <p:cTn id="23" dur="2000"/>
                                        <p:tgtEl>
                                          <p:spTgt spid="5"/>
                                        </p:tgtEl>
                                      </p:cBhvr>
                                    </p:animEffect>
                                  </p:childTnLst>
                                </p:cTn>
                              </p:par>
                            </p:childTnLst>
                          </p:cTn>
                        </p:par>
                        <p:par>
                          <p:cTn id="24" fill="hold">
                            <p:stCondLst>
                              <p:cond delay="2000"/>
                            </p:stCondLst>
                            <p:childTnLst>
                              <p:par>
                                <p:cTn id="25" presetID="22" presetClass="entr" presetSubtype="4"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605202"/>
                                        </p:tgtEl>
                                        <p:attrNameLst>
                                          <p:attrName>style.visibility</p:attrName>
                                        </p:attrNameLst>
                                      </p:cBhvr>
                                      <p:to>
                                        <p:strVal val="visible"/>
                                      </p:to>
                                    </p:set>
                                    <p:anim calcmode="lin" valueType="num">
                                      <p:cBhvr additive="base">
                                        <p:cTn id="30" dur="1000" fill="hold"/>
                                        <p:tgtEl>
                                          <p:spTgt spid="605202"/>
                                        </p:tgtEl>
                                        <p:attrNameLst>
                                          <p:attrName>ppt_x</p:attrName>
                                        </p:attrNameLst>
                                      </p:cBhvr>
                                      <p:tavLst>
                                        <p:tav tm="0">
                                          <p:val>
                                            <p:strVal val="#ppt_x"/>
                                          </p:val>
                                        </p:tav>
                                        <p:tav tm="100000">
                                          <p:val>
                                            <p:strVal val="#ppt_x"/>
                                          </p:val>
                                        </p:tav>
                                      </p:tavLst>
                                    </p:anim>
                                    <p:anim calcmode="lin" valueType="num">
                                      <p:cBhvr additive="base">
                                        <p:cTn id="31" dur="1000" fill="hold"/>
                                        <p:tgtEl>
                                          <p:spTgt spid="60520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750"/>
                                        <p:tgtEl>
                                          <p:spTgt spid="19"/>
                                        </p:tgtEl>
                                      </p:cBhvr>
                                    </p:animEffect>
                                  </p:childTnLst>
                                </p:cTn>
                              </p:par>
                            </p:childTnLst>
                          </p:cTn>
                        </p:par>
                        <p:par>
                          <p:cTn id="41" fill="hold">
                            <p:stCondLst>
                              <p:cond delay="1250"/>
                            </p:stCondLst>
                            <p:childTnLst>
                              <p:par>
                                <p:cTn id="42" presetID="22" presetClass="entr" presetSubtype="4"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605203"/>
                                        </p:tgtEl>
                                        <p:attrNameLst>
                                          <p:attrName>style.visibility</p:attrName>
                                        </p:attrNameLst>
                                      </p:cBhvr>
                                      <p:to>
                                        <p:strVal val="visible"/>
                                      </p:to>
                                    </p:set>
                                    <p:anim calcmode="lin" valueType="num">
                                      <p:cBhvr additive="base">
                                        <p:cTn id="47" dur="1250" fill="hold"/>
                                        <p:tgtEl>
                                          <p:spTgt spid="605203"/>
                                        </p:tgtEl>
                                        <p:attrNameLst>
                                          <p:attrName>ppt_x</p:attrName>
                                        </p:attrNameLst>
                                      </p:cBhvr>
                                      <p:tavLst>
                                        <p:tav tm="0">
                                          <p:val>
                                            <p:strVal val="#ppt_x"/>
                                          </p:val>
                                        </p:tav>
                                        <p:tav tm="100000">
                                          <p:val>
                                            <p:strVal val="#ppt_x"/>
                                          </p:val>
                                        </p:tav>
                                      </p:tavLst>
                                    </p:anim>
                                    <p:anim calcmode="lin" valueType="num">
                                      <p:cBhvr additive="base">
                                        <p:cTn id="48" dur="1250" fill="hold"/>
                                        <p:tgtEl>
                                          <p:spTgt spid="605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95" grpId="0" animBg="1"/>
      <p:bldP spid="605201" grpId="0" uiExpand="1" build="p" bldLvl="2"/>
      <p:bldP spid="605202" grpId="0" animBg="1"/>
      <p:bldP spid="605203" grpId="0" animBg="1"/>
      <p:bldP spid="605204" grpId="0" animBg="1"/>
      <p:bldP spid="18" grpId="0" animBg="1"/>
      <p:bldP spid="19" grpId="0" animBg="1"/>
      <p:bldP spid="2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nvSpPr>
        <p:spPr bwMode="auto">
          <a:xfrm>
            <a:off x="6988175" y="6308725"/>
            <a:ext cx="1905000" cy="457200"/>
          </a:xfrm>
          <a:prstGeom prst="rect">
            <a:avLst/>
          </a:prstGeom>
          <a:noFill/>
          <a:ln>
            <a:miter lim="800000"/>
            <a:headEnd/>
            <a:tailEnd/>
          </a:ln>
        </p:spPr>
        <p:txBody>
          <a:bodyPr anchor="b"/>
          <a:lstStyle/>
          <a:p>
            <a:pPr algn="r">
              <a:defRPr/>
            </a:pPr>
            <a:r>
              <a:rPr kumimoji="0" lang="en-US" altLang="zh-CN" sz="1400">
                <a:ea typeface="+mn-ea"/>
              </a:rPr>
              <a:t>2.4--</a:t>
            </a:r>
            <a:fld id="{8CCC1A27-40EE-4D3E-82DA-18BEA9F618D1}" type="slidenum">
              <a:rPr kumimoji="0" lang="en-US" altLang="zh-CN" sz="1400">
                <a:ea typeface="+mn-ea"/>
              </a:rPr>
              <a:pPr algn="r">
                <a:defRPr/>
              </a:pPr>
              <a:t>79</a:t>
            </a:fld>
            <a:endParaRPr kumimoji="0" lang="en-US" altLang="zh-CN" sz="1400">
              <a:ea typeface="+mn-ea"/>
            </a:endParaRPr>
          </a:p>
        </p:txBody>
      </p:sp>
      <p:sp>
        <p:nvSpPr>
          <p:cNvPr id="118787" name="Rectangle 2"/>
          <p:cNvSpPr>
            <a:spLocks noGrp="1" noChangeArrowheads="1"/>
          </p:cNvSpPr>
          <p:nvPr>
            <p:ph type="title" idx="4294967295"/>
          </p:nvPr>
        </p:nvSpPr>
        <p:spPr>
          <a:xfrm>
            <a:off x="683568" y="332656"/>
            <a:ext cx="7772400" cy="752475"/>
          </a:xfrm>
        </p:spPr>
        <p:txBody>
          <a:bodyPr/>
          <a:lstStyle/>
          <a:p>
            <a:pPr eaLnBrk="1" hangingPunct="1"/>
            <a:r>
              <a:rPr lang="zh-CN" altLang="en-US" sz="4000" dirty="0" smtClean="0"/>
              <a:t>收入的中位数</a:t>
            </a:r>
          </a:p>
        </p:txBody>
      </p:sp>
      <p:sp>
        <p:nvSpPr>
          <p:cNvPr id="458755" name="Rectangle 3"/>
          <p:cNvSpPr>
            <a:spLocks noGrp="1" noChangeArrowheads="1"/>
          </p:cNvSpPr>
          <p:nvPr>
            <p:ph type="body" idx="4294967295"/>
          </p:nvPr>
        </p:nvSpPr>
        <p:spPr>
          <a:xfrm>
            <a:off x="393304" y="1060790"/>
            <a:ext cx="8352928" cy="5183981"/>
          </a:xfrm>
        </p:spPr>
        <p:txBody>
          <a:bodyPr/>
          <a:lstStyle/>
          <a:p>
            <a:pPr marL="0" indent="450850" eaLnBrk="1" hangingPunct="1">
              <a:lnSpc>
                <a:spcPct val="114000"/>
              </a:lnSpc>
              <a:spcBef>
                <a:spcPts val="900"/>
              </a:spcBef>
              <a:buNone/>
              <a:defRPr/>
            </a:pPr>
            <a:r>
              <a:rPr lang="en-US" altLang="zh-CN" dirty="0" smtClean="0">
                <a:solidFill>
                  <a:srgbClr val="000000"/>
                </a:solidFill>
              </a:rPr>
              <a:t>2023</a:t>
            </a:r>
            <a:r>
              <a:rPr lang="zh-CN" altLang="en-US" dirty="0" smtClean="0">
                <a:solidFill>
                  <a:srgbClr val="000000"/>
                </a:solidFill>
              </a:rPr>
              <a:t>年</a:t>
            </a:r>
            <a:r>
              <a:rPr lang="zh-CN" altLang="en-US" dirty="0">
                <a:solidFill>
                  <a:srgbClr val="000000"/>
                </a:solidFill>
              </a:rPr>
              <a:t>全国居民人均可支配收入</a:t>
            </a:r>
            <a:r>
              <a:rPr lang="en-US" altLang="zh-CN" dirty="0">
                <a:solidFill>
                  <a:srgbClr val="000000"/>
                </a:solidFill>
              </a:rPr>
              <a:t>39218</a:t>
            </a:r>
            <a:r>
              <a:rPr lang="zh-CN" altLang="en-US" dirty="0">
                <a:solidFill>
                  <a:srgbClr val="000000"/>
                </a:solidFill>
              </a:rPr>
              <a:t>元，比上年增长</a:t>
            </a:r>
            <a:r>
              <a:rPr lang="en-US" altLang="zh-CN" dirty="0">
                <a:solidFill>
                  <a:srgbClr val="000000"/>
                </a:solidFill>
              </a:rPr>
              <a:t>6.3%</a:t>
            </a:r>
            <a:r>
              <a:rPr lang="zh-CN" altLang="en-US" dirty="0">
                <a:solidFill>
                  <a:srgbClr val="000000"/>
                </a:solidFill>
              </a:rPr>
              <a:t>，扣除价格因素，实际增长</a:t>
            </a:r>
            <a:r>
              <a:rPr lang="en-US" altLang="zh-CN" dirty="0">
                <a:solidFill>
                  <a:srgbClr val="000000"/>
                </a:solidFill>
              </a:rPr>
              <a:t>6.1%</a:t>
            </a:r>
            <a:r>
              <a:rPr lang="zh-CN" altLang="en-US" dirty="0">
                <a:solidFill>
                  <a:srgbClr val="000000"/>
                </a:solidFill>
              </a:rPr>
              <a:t>。全国居民</a:t>
            </a:r>
            <a:r>
              <a:rPr lang="zh-CN" altLang="en-US" dirty="0">
                <a:solidFill>
                  <a:srgbClr val="C00000"/>
                </a:solidFill>
              </a:rPr>
              <a:t>人均可支配收入</a:t>
            </a:r>
            <a:r>
              <a:rPr lang="zh-CN" altLang="en-US" dirty="0" smtClean="0">
                <a:solidFill>
                  <a:srgbClr val="C00000"/>
                </a:solidFill>
              </a:rPr>
              <a:t>中位数</a:t>
            </a:r>
            <a:r>
              <a:rPr lang="en-US" altLang="zh-CN" dirty="0" smtClean="0">
                <a:solidFill>
                  <a:srgbClr val="000000"/>
                </a:solidFill>
              </a:rPr>
              <a:t>33036</a:t>
            </a:r>
            <a:r>
              <a:rPr lang="zh-CN" altLang="en-US" dirty="0">
                <a:solidFill>
                  <a:srgbClr val="000000"/>
                </a:solidFill>
              </a:rPr>
              <a:t>元，增长</a:t>
            </a:r>
            <a:r>
              <a:rPr lang="en-US" altLang="zh-CN" dirty="0">
                <a:solidFill>
                  <a:srgbClr val="000000"/>
                </a:solidFill>
              </a:rPr>
              <a:t>5.3%</a:t>
            </a:r>
            <a:r>
              <a:rPr lang="zh-CN" altLang="en-US" dirty="0" smtClean="0">
                <a:solidFill>
                  <a:srgbClr val="000000"/>
                </a:solidFill>
              </a:rPr>
              <a:t>。</a:t>
            </a:r>
            <a:endParaRPr lang="en-US" altLang="zh-CN" dirty="0" smtClean="0">
              <a:solidFill>
                <a:srgbClr val="000000"/>
              </a:solidFill>
            </a:endParaRPr>
          </a:p>
          <a:p>
            <a:pPr marL="0" indent="450850" eaLnBrk="1" hangingPunct="1">
              <a:lnSpc>
                <a:spcPct val="114000"/>
              </a:lnSpc>
              <a:spcBef>
                <a:spcPts val="900"/>
              </a:spcBef>
              <a:buNone/>
              <a:defRPr/>
            </a:pPr>
            <a:r>
              <a:rPr lang="zh-CN" altLang="en-US" sz="2800" dirty="0" smtClean="0">
                <a:solidFill>
                  <a:srgbClr val="000000"/>
                </a:solidFill>
              </a:rPr>
              <a:t>按</a:t>
            </a:r>
            <a:r>
              <a:rPr lang="zh-CN" altLang="en-US" sz="2800" dirty="0">
                <a:solidFill>
                  <a:srgbClr val="000000"/>
                </a:solidFill>
              </a:rPr>
              <a:t>常住地分，</a:t>
            </a:r>
            <a:r>
              <a:rPr lang="zh-CN" altLang="en-US" sz="2800" dirty="0">
                <a:solidFill>
                  <a:srgbClr val="7030A0"/>
                </a:solidFill>
              </a:rPr>
              <a:t>城镇</a:t>
            </a:r>
            <a:r>
              <a:rPr lang="zh-CN" altLang="en-US" sz="2800" dirty="0">
                <a:solidFill>
                  <a:srgbClr val="000000"/>
                </a:solidFill>
              </a:rPr>
              <a:t>居民人均可支配收入</a:t>
            </a:r>
            <a:r>
              <a:rPr lang="en-US" altLang="zh-CN" sz="2800" dirty="0">
                <a:solidFill>
                  <a:srgbClr val="000000"/>
                </a:solidFill>
              </a:rPr>
              <a:t>51821</a:t>
            </a:r>
            <a:r>
              <a:rPr lang="zh-CN" altLang="en-US" sz="2800" dirty="0">
                <a:solidFill>
                  <a:srgbClr val="000000"/>
                </a:solidFill>
              </a:rPr>
              <a:t>元，比上年增长</a:t>
            </a:r>
            <a:r>
              <a:rPr lang="en-US" altLang="zh-CN" sz="2800" dirty="0">
                <a:solidFill>
                  <a:srgbClr val="000000"/>
                </a:solidFill>
              </a:rPr>
              <a:t>5.1%</a:t>
            </a:r>
            <a:r>
              <a:rPr lang="zh-CN" altLang="en-US" sz="2800" dirty="0">
                <a:solidFill>
                  <a:srgbClr val="000000"/>
                </a:solidFill>
              </a:rPr>
              <a:t>，扣除价格因素，实际增长</a:t>
            </a:r>
            <a:r>
              <a:rPr lang="en-US" altLang="zh-CN" sz="2800" dirty="0">
                <a:solidFill>
                  <a:srgbClr val="000000"/>
                </a:solidFill>
              </a:rPr>
              <a:t>4.8%</a:t>
            </a:r>
            <a:r>
              <a:rPr lang="zh-CN" altLang="en-US" sz="2800" dirty="0">
                <a:solidFill>
                  <a:srgbClr val="000000"/>
                </a:solidFill>
              </a:rPr>
              <a:t>。城镇居民人均可支配收入中位数</a:t>
            </a:r>
            <a:r>
              <a:rPr lang="en-US" altLang="zh-CN" sz="2800" dirty="0">
                <a:solidFill>
                  <a:srgbClr val="000000"/>
                </a:solidFill>
              </a:rPr>
              <a:t>47122</a:t>
            </a:r>
            <a:r>
              <a:rPr lang="zh-CN" altLang="en-US" sz="2800" dirty="0">
                <a:solidFill>
                  <a:srgbClr val="000000"/>
                </a:solidFill>
              </a:rPr>
              <a:t>元，增长</a:t>
            </a:r>
            <a:r>
              <a:rPr lang="en-US" altLang="zh-CN" sz="2800" dirty="0">
                <a:solidFill>
                  <a:srgbClr val="000000"/>
                </a:solidFill>
              </a:rPr>
              <a:t>4.4%</a:t>
            </a:r>
            <a:r>
              <a:rPr lang="zh-CN" altLang="en-US" sz="2800" dirty="0">
                <a:solidFill>
                  <a:srgbClr val="000000"/>
                </a:solidFill>
              </a:rPr>
              <a:t>。</a:t>
            </a:r>
            <a:r>
              <a:rPr lang="zh-CN" altLang="en-US" sz="2800" dirty="0">
                <a:solidFill>
                  <a:srgbClr val="7030A0"/>
                </a:solidFill>
              </a:rPr>
              <a:t>农村</a:t>
            </a:r>
            <a:r>
              <a:rPr lang="zh-CN" altLang="en-US" sz="2800" dirty="0">
                <a:solidFill>
                  <a:srgbClr val="000000"/>
                </a:solidFill>
              </a:rPr>
              <a:t>居民人均可支配收入</a:t>
            </a:r>
            <a:r>
              <a:rPr lang="en-US" altLang="zh-CN" sz="2800" dirty="0">
                <a:solidFill>
                  <a:srgbClr val="000000"/>
                </a:solidFill>
              </a:rPr>
              <a:t>21691</a:t>
            </a:r>
            <a:r>
              <a:rPr lang="zh-CN" altLang="en-US" sz="2800" dirty="0">
                <a:solidFill>
                  <a:srgbClr val="000000"/>
                </a:solidFill>
              </a:rPr>
              <a:t>元，比上年增长</a:t>
            </a:r>
            <a:r>
              <a:rPr lang="en-US" altLang="zh-CN" sz="2800" dirty="0">
                <a:solidFill>
                  <a:srgbClr val="000000"/>
                </a:solidFill>
              </a:rPr>
              <a:t>7.7%</a:t>
            </a:r>
            <a:r>
              <a:rPr lang="zh-CN" altLang="en-US" sz="2800" dirty="0">
                <a:solidFill>
                  <a:srgbClr val="000000"/>
                </a:solidFill>
              </a:rPr>
              <a:t>，扣除价格因素，实际增长</a:t>
            </a:r>
            <a:r>
              <a:rPr lang="en-US" altLang="zh-CN" sz="2800" dirty="0">
                <a:solidFill>
                  <a:srgbClr val="000000"/>
                </a:solidFill>
              </a:rPr>
              <a:t>7.6%</a:t>
            </a:r>
            <a:r>
              <a:rPr lang="zh-CN" altLang="en-US" sz="2800" dirty="0">
                <a:solidFill>
                  <a:srgbClr val="000000"/>
                </a:solidFill>
              </a:rPr>
              <a:t>。农村居民人均可支配收入中位数</a:t>
            </a:r>
            <a:r>
              <a:rPr lang="en-US" altLang="zh-CN" sz="2800" dirty="0">
                <a:solidFill>
                  <a:srgbClr val="000000"/>
                </a:solidFill>
              </a:rPr>
              <a:t>18748</a:t>
            </a:r>
            <a:r>
              <a:rPr lang="zh-CN" altLang="en-US" sz="2800" dirty="0">
                <a:solidFill>
                  <a:srgbClr val="000000"/>
                </a:solidFill>
              </a:rPr>
              <a:t>元</a:t>
            </a:r>
            <a:r>
              <a:rPr lang="zh-CN" altLang="en-US" sz="2400" dirty="0">
                <a:solidFill>
                  <a:srgbClr val="000000"/>
                </a:solidFill>
              </a:rPr>
              <a:t>，增长</a:t>
            </a:r>
            <a:r>
              <a:rPr lang="en-US" altLang="zh-CN" sz="2400" dirty="0">
                <a:solidFill>
                  <a:srgbClr val="000000"/>
                </a:solidFill>
              </a:rPr>
              <a:t>5.7%</a:t>
            </a:r>
            <a:r>
              <a:rPr lang="zh-CN" altLang="en-US" sz="2400" dirty="0">
                <a:solidFill>
                  <a:srgbClr val="000000"/>
                </a:solidFill>
              </a:rPr>
              <a:t>。</a:t>
            </a:r>
            <a:endParaRPr lang="zh-CN" altLang="en-US" sz="2400" dirty="0" smtClean="0">
              <a:solidFill>
                <a:srgbClr val="000000"/>
              </a:solidFill>
              <a:effectLst>
                <a:outerShdw blurRad="38100" dist="38100" dir="2700000" algn="tl">
                  <a:srgbClr val="C0C0C0"/>
                </a:outerShdw>
              </a:effectLst>
            </a:endParaRPr>
          </a:p>
        </p:txBody>
      </p:sp>
      <p:sp>
        <p:nvSpPr>
          <p:cNvPr id="5" name="灯片编号占位符 4"/>
          <p:cNvSpPr>
            <a:spLocks noGrp="1"/>
          </p:cNvSpPr>
          <p:nvPr>
            <p:ph type="sldNum" sz="quarter" idx="12"/>
          </p:nvPr>
        </p:nvSpPr>
        <p:spPr/>
        <p:txBody>
          <a:bodyPr/>
          <a:lstStyle/>
          <a:p>
            <a:pPr>
              <a:defRPr/>
            </a:pPr>
            <a:fld id="{4D36EFB7-0D9F-4BC1-ADE9-F0E399591344}" type="slidenum">
              <a:rPr lang="en-US" altLang="zh-CN" smtClean="0"/>
              <a:pPr>
                <a:defRPr/>
              </a:pPr>
              <a:t>79</a:t>
            </a:fld>
            <a:endParaRPr lang="en-US" altLang="zh-CN" dirty="0"/>
          </a:p>
        </p:txBody>
      </p:sp>
    </p:spTree>
  </p:cSld>
  <p:clrMapOvr>
    <a:masterClrMapping/>
  </p:clrMapOvr>
  <p:transition/>
  <p:timing>
    <p:tnLst>
      <p:par>
        <p:cTn id="1" dur="indefinite" restart="never" nodeType="tmRoot"/>
      </p:par>
    </p:tnLst>
    <p:bldLst>
      <p:bldP spid="458755"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type="title"/>
          </p:nvPr>
        </p:nvSpPr>
        <p:spPr>
          <a:xfrm>
            <a:off x="827088" y="404813"/>
            <a:ext cx="7772400" cy="906462"/>
          </a:xfrm>
          <a:solidFill>
            <a:schemeClr val="bg1"/>
          </a:solidFill>
        </p:spPr>
        <p:txBody>
          <a:bodyPr/>
          <a:lstStyle/>
          <a:p>
            <a:pPr eaLnBrk="1" hangingPunct="1"/>
            <a:r>
              <a:rPr lang="en-US" altLang="zh-CN" sz="4000" dirty="0" smtClean="0">
                <a:solidFill>
                  <a:srgbClr val="1313FF"/>
                </a:solidFill>
              </a:rPr>
              <a:t>2. </a:t>
            </a:r>
            <a:r>
              <a:rPr lang="zh-CN" altLang="en-US" sz="4000" dirty="0" smtClean="0">
                <a:solidFill>
                  <a:srgbClr val="1313FF"/>
                </a:solidFill>
              </a:rPr>
              <a:t>中位数（</a:t>
            </a:r>
            <a:r>
              <a:rPr lang="en-US" altLang="zh-CN" sz="4000" dirty="0" smtClean="0">
                <a:solidFill>
                  <a:srgbClr val="1313FF"/>
                </a:solidFill>
              </a:rPr>
              <a:t>Median)</a:t>
            </a:r>
          </a:p>
        </p:txBody>
      </p:sp>
      <p:sp>
        <p:nvSpPr>
          <p:cNvPr id="179203" name="Rectangle 3"/>
          <p:cNvSpPr>
            <a:spLocks noGrp="1" noChangeArrowheads="1"/>
          </p:cNvSpPr>
          <p:nvPr>
            <p:ph type="body" idx="1"/>
          </p:nvPr>
        </p:nvSpPr>
        <p:spPr>
          <a:xfrm>
            <a:off x="468313" y="1557338"/>
            <a:ext cx="8142287" cy="2506662"/>
          </a:xfrm>
        </p:spPr>
        <p:txBody>
          <a:bodyPr/>
          <a:lstStyle/>
          <a:p>
            <a:pPr eaLnBrk="1" hangingPunct="1">
              <a:lnSpc>
                <a:spcPct val="110000"/>
              </a:lnSpc>
              <a:spcBef>
                <a:spcPct val="0"/>
              </a:spcBef>
              <a:defRPr/>
            </a:pPr>
            <a:r>
              <a:rPr lang="zh-CN" altLang="en-US" dirty="0" smtClean="0"/>
              <a:t>概念：</a:t>
            </a:r>
            <a:r>
              <a:rPr lang="zh-CN" altLang="en-US" dirty="0" smtClean="0">
                <a:solidFill>
                  <a:srgbClr val="000000"/>
                </a:solidFill>
              </a:rPr>
              <a:t>中位数是将变量值按大小顺序排序，处于中间位置的变量值（或数据）即中位数，用 </a:t>
            </a:r>
            <a:r>
              <a:rPr lang="en-US" altLang="zh-CN" dirty="0" smtClean="0">
                <a:solidFill>
                  <a:srgbClr val="000000"/>
                </a:solidFill>
                <a:effectLst>
                  <a:outerShdw blurRad="38100" dist="38100" dir="2700000" algn="tl">
                    <a:srgbClr val="C0C0C0"/>
                  </a:outerShdw>
                </a:effectLst>
              </a:rPr>
              <a:t>Me </a:t>
            </a:r>
            <a:r>
              <a:rPr lang="zh-CN" altLang="en-US" dirty="0" smtClean="0">
                <a:solidFill>
                  <a:srgbClr val="000000"/>
                </a:solidFill>
              </a:rPr>
              <a:t>表示。</a:t>
            </a:r>
          </a:p>
        </p:txBody>
      </p:sp>
      <p:grpSp>
        <p:nvGrpSpPr>
          <p:cNvPr id="12" name="Group 12"/>
          <p:cNvGrpSpPr>
            <a:grpSpLocks/>
          </p:cNvGrpSpPr>
          <p:nvPr/>
        </p:nvGrpSpPr>
        <p:grpSpPr bwMode="auto">
          <a:xfrm>
            <a:off x="827584" y="4005064"/>
            <a:ext cx="7272335" cy="1285875"/>
            <a:chOff x="521" y="2840"/>
            <a:chExt cx="4581" cy="810"/>
          </a:xfrm>
        </p:grpSpPr>
        <p:sp>
          <p:nvSpPr>
            <p:cNvPr id="14" name="Rectangle 5"/>
            <p:cNvSpPr>
              <a:spLocks noChangeArrowheads="1"/>
            </p:cNvSpPr>
            <p:nvPr/>
          </p:nvSpPr>
          <p:spPr bwMode="auto">
            <a:xfrm>
              <a:off x="2335" y="3248"/>
              <a:ext cx="771" cy="402"/>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en-US" altLang="zh-CN" sz="3600" b="1" dirty="0">
                  <a:solidFill>
                    <a:srgbClr val="FF3300"/>
                  </a:solidFill>
                  <a:effectLst>
                    <a:outerShdw blurRad="38100" dist="38100" dir="2700000" algn="tl">
                      <a:srgbClr val="C0C0C0"/>
                    </a:outerShdw>
                  </a:effectLst>
                  <a:latin typeface="Arial" charset="0"/>
                  <a:ea typeface="宋体" pitchFamily="2" charset="-122"/>
                </a:rPr>
                <a:t>M</a:t>
              </a:r>
              <a:r>
                <a:rPr lang="en-US" altLang="zh-CN" sz="3600" b="1" baseline="-25000" dirty="0">
                  <a:solidFill>
                    <a:srgbClr val="FF3300"/>
                  </a:solidFill>
                  <a:effectLst>
                    <a:outerShdw blurRad="38100" dist="38100" dir="2700000" algn="tl">
                      <a:srgbClr val="C0C0C0"/>
                    </a:outerShdw>
                  </a:effectLst>
                  <a:latin typeface="Arial" charset="0"/>
                  <a:ea typeface="宋体" pitchFamily="2" charset="-122"/>
                </a:rPr>
                <a:t>e</a:t>
              </a:r>
            </a:p>
          </p:txBody>
        </p:sp>
        <p:grpSp>
          <p:nvGrpSpPr>
            <p:cNvPr id="15" name="Group 11"/>
            <p:cNvGrpSpPr>
              <a:grpSpLocks/>
            </p:cNvGrpSpPr>
            <p:nvPr/>
          </p:nvGrpSpPr>
          <p:grpSpPr bwMode="auto">
            <a:xfrm>
              <a:off x="793" y="2840"/>
              <a:ext cx="3946" cy="373"/>
              <a:chOff x="793" y="2840"/>
              <a:chExt cx="3946" cy="373"/>
            </a:xfrm>
          </p:grpSpPr>
          <p:sp>
            <p:nvSpPr>
              <p:cNvPr id="18" name="Text Box 7"/>
              <p:cNvSpPr txBox="1">
                <a:spLocks noChangeArrowheads="1"/>
              </p:cNvSpPr>
              <p:nvPr/>
            </p:nvSpPr>
            <p:spPr bwMode="auto">
              <a:xfrm>
                <a:off x="793" y="2840"/>
                <a:ext cx="1860" cy="373"/>
              </a:xfrm>
              <a:prstGeom prst="rect">
                <a:avLst/>
              </a:prstGeom>
              <a:solidFill>
                <a:srgbClr val="C56B9E"/>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a:solidFill>
                      <a:srgbClr val="FFFF66"/>
                    </a:solidFill>
                    <a:effectLst>
                      <a:outerShdw blurRad="38100" dist="38100" dir="2700000" algn="tl">
                        <a:srgbClr val="000000"/>
                      </a:outerShdw>
                    </a:effectLst>
                    <a:latin typeface="Arial" charset="0"/>
                    <a:ea typeface="宋体" pitchFamily="2" charset="-122"/>
                  </a:rPr>
                  <a:t>50%</a:t>
                </a:r>
              </a:p>
            </p:txBody>
          </p:sp>
          <p:sp>
            <p:nvSpPr>
              <p:cNvPr id="19" name="Text Box 8"/>
              <p:cNvSpPr txBox="1">
                <a:spLocks noChangeArrowheads="1"/>
              </p:cNvSpPr>
              <p:nvPr/>
            </p:nvSpPr>
            <p:spPr bwMode="auto">
              <a:xfrm>
                <a:off x="2653" y="2840"/>
                <a:ext cx="2086" cy="373"/>
              </a:xfrm>
              <a:prstGeom prst="rect">
                <a:avLst/>
              </a:prstGeom>
              <a:solidFill>
                <a:schemeClr val="hlink"/>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a:solidFill>
                      <a:srgbClr val="FFFF66"/>
                    </a:solidFill>
                    <a:effectLst>
                      <a:outerShdw blurRad="38100" dist="38100" dir="2700000" algn="tl">
                        <a:srgbClr val="000000"/>
                      </a:outerShdw>
                    </a:effectLst>
                    <a:latin typeface="Arial" charset="0"/>
                    <a:ea typeface="宋体" pitchFamily="2" charset="-122"/>
                  </a:rPr>
                  <a:t>50%</a:t>
                </a:r>
              </a:p>
            </p:txBody>
          </p:sp>
        </p:grpSp>
        <p:sp>
          <p:nvSpPr>
            <p:cNvPr id="16" name="Text Box 9"/>
            <p:cNvSpPr txBox="1">
              <a:spLocks noChangeArrowheads="1"/>
            </p:cNvSpPr>
            <p:nvPr/>
          </p:nvSpPr>
          <p:spPr bwMode="auto">
            <a:xfrm>
              <a:off x="521" y="3248"/>
              <a:ext cx="635" cy="291"/>
            </a:xfrm>
            <a:prstGeom prst="rect">
              <a:avLst/>
            </a:prstGeom>
            <a:noFill/>
            <a:ln w="9525">
              <a:noFill/>
              <a:miter lim="800000"/>
              <a:headEnd/>
              <a:tailEnd/>
            </a:ln>
          </p:spPr>
          <p:txBody>
            <a:bodyPr wrap="square">
              <a:spAutoFit/>
            </a:bodyPr>
            <a:lstStyle/>
            <a:p>
              <a:pPr>
                <a:spcBef>
                  <a:spcPct val="50000"/>
                </a:spcBef>
              </a:pPr>
              <a:r>
                <a:rPr lang="en-US" altLang="zh-CN" b="1" dirty="0" err="1" smtClean="0">
                  <a:solidFill>
                    <a:srgbClr val="000000"/>
                  </a:solidFill>
                  <a:ea typeface="宋体" pitchFamily="2" charset="-122"/>
                </a:rPr>
                <a:t>X</a:t>
              </a:r>
              <a:r>
                <a:rPr lang="en-US" altLang="zh-CN" sz="3600" b="1" baseline="-25000" dirty="0" err="1" smtClean="0">
                  <a:solidFill>
                    <a:srgbClr val="000000"/>
                  </a:solidFill>
                  <a:ea typeface="宋体" pitchFamily="2" charset="-122"/>
                </a:rPr>
                <a:t>min</a:t>
              </a:r>
              <a:endParaRPr lang="en-US" altLang="zh-CN" sz="3600" b="1" baseline="-25000" dirty="0">
                <a:solidFill>
                  <a:srgbClr val="000000"/>
                </a:solidFill>
                <a:ea typeface="宋体" pitchFamily="2" charset="-122"/>
              </a:endParaRPr>
            </a:p>
          </p:txBody>
        </p:sp>
        <p:sp>
          <p:nvSpPr>
            <p:cNvPr id="17" name="Text Box 10"/>
            <p:cNvSpPr txBox="1">
              <a:spLocks noChangeArrowheads="1"/>
            </p:cNvSpPr>
            <p:nvPr/>
          </p:nvSpPr>
          <p:spPr bwMode="auto">
            <a:xfrm>
              <a:off x="4422" y="3248"/>
              <a:ext cx="680" cy="291"/>
            </a:xfrm>
            <a:prstGeom prst="rect">
              <a:avLst/>
            </a:prstGeom>
            <a:noFill/>
            <a:ln w="9525">
              <a:noFill/>
              <a:miter lim="800000"/>
              <a:headEnd/>
              <a:tailEnd/>
            </a:ln>
          </p:spPr>
          <p:txBody>
            <a:bodyPr wrap="square">
              <a:spAutoFit/>
            </a:bodyPr>
            <a:lstStyle/>
            <a:p>
              <a:pPr>
                <a:spcBef>
                  <a:spcPct val="50000"/>
                </a:spcBef>
              </a:pPr>
              <a:r>
                <a:rPr lang="en-US" altLang="zh-CN" b="1" dirty="0" err="1" smtClean="0">
                  <a:solidFill>
                    <a:srgbClr val="000000"/>
                  </a:solidFill>
                  <a:ea typeface="宋体" pitchFamily="2" charset="-122"/>
                </a:rPr>
                <a:t>X</a:t>
              </a:r>
              <a:r>
                <a:rPr lang="en-US" altLang="zh-CN" sz="3600" b="1" baseline="-25000" dirty="0" err="1" smtClean="0">
                  <a:solidFill>
                    <a:srgbClr val="000000"/>
                  </a:solidFill>
                  <a:ea typeface="宋体" pitchFamily="2" charset="-122"/>
                </a:rPr>
                <a:t>max</a:t>
              </a:r>
              <a:endParaRPr lang="en-US" altLang="zh-CN" sz="3600" b="1" baseline="-25000" dirty="0">
                <a:solidFill>
                  <a:srgbClr val="000000"/>
                </a:solidFill>
                <a:ea typeface="宋体" pitchFamily="2" charset="-122"/>
              </a:endParaRPr>
            </a:p>
          </p:txBody>
        </p:sp>
      </p:grpSp>
      <p:sp>
        <p:nvSpPr>
          <p:cNvPr id="20" name="灯片编号占位符 19"/>
          <p:cNvSpPr>
            <a:spLocks noGrp="1"/>
          </p:cNvSpPr>
          <p:nvPr>
            <p:ph type="sldNum" sz="quarter" idx="12"/>
          </p:nvPr>
        </p:nvSpPr>
        <p:spPr/>
        <p:txBody>
          <a:bodyPr/>
          <a:lstStyle/>
          <a:p>
            <a:pPr>
              <a:defRPr/>
            </a:pPr>
            <a:fld id="{62FC49CA-8014-4DA2-ABEB-AF96863EC77D}" type="slidenum">
              <a:rPr lang="en-US" altLang="zh-CN" smtClean="0"/>
              <a:pPr>
                <a:defRPr/>
              </a:pPr>
              <a:t>80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wipe(left)">
                                      <p:cBhvr>
                                        <p:cTn id="7" dur="500"/>
                                        <p:tgtEl>
                                          <p:spTgt spid="1792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a:noFill/>
        </p:spPr>
        <p:txBody>
          <a:bodyPr lIns="90488" tIns="44450" rIns="90488" bIns="44450" anchor="ctr" anchorCtr="1"/>
          <a:lstStyle/>
          <a:p>
            <a:pPr eaLnBrk="1" hangingPunct="1"/>
            <a:r>
              <a:rPr lang="zh-CN" altLang="en-US" sz="4000" dirty="0" smtClean="0"/>
              <a:t>中位数</a:t>
            </a:r>
            <a:r>
              <a:rPr lang="zh-CN" altLang="en-US" sz="3600" dirty="0" smtClean="0"/>
              <a:t>的确定</a:t>
            </a:r>
          </a:p>
        </p:txBody>
      </p:sp>
      <p:sp>
        <p:nvSpPr>
          <p:cNvPr id="30725" name="Text Box 12"/>
          <p:cNvSpPr txBox="1">
            <a:spLocks noChangeArrowheads="1"/>
          </p:cNvSpPr>
          <p:nvPr/>
        </p:nvSpPr>
        <p:spPr bwMode="auto">
          <a:xfrm>
            <a:off x="900113" y="1412875"/>
            <a:ext cx="3527425" cy="579438"/>
          </a:xfrm>
          <a:prstGeom prst="rect">
            <a:avLst/>
          </a:prstGeom>
          <a:noFill/>
          <a:ln w="12700">
            <a:noFill/>
            <a:miter lim="800000"/>
            <a:headEnd/>
            <a:tailEnd/>
          </a:ln>
        </p:spPr>
        <p:txBody>
          <a:bodyPr>
            <a:spAutoFit/>
          </a:bodyPr>
          <a:lstStyle/>
          <a:p>
            <a:pPr eaLnBrk="0" hangingPunct="0">
              <a:spcBef>
                <a:spcPct val="50000"/>
              </a:spcBef>
            </a:pPr>
            <a:r>
              <a:rPr lang="zh-CN" altLang="en-US" sz="3200" b="1">
                <a:solidFill>
                  <a:schemeClr val="tx2"/>
                </a:solidFill>
                <a:latin typeface="Arial" charset="0"/>
                <a:ea typeface="宋体" pitchFamily="2" charset="-122"/>
              </a:rPr>
              <a:t>未分组数据：</a:t>
            </a:r>
            <a:endParaRPr lang="zh-CN" altLang="en-US" sz="3200">
              <a:solidFill>
                <a:schemeClr val="tx2"/>
              </a:solidFill>
              <a:latin typeface="Arial" charset="0"/>
              <a:ea typeface="宋体" pitchFamily="2" charset="-122"/>
            </a:endParaRPr>
          </a:p>
        </p:txBody>
      </p:sp>
      <p:sp>
        <p:nvSpPr>
          <p:cNvPr id="219153" name="Rectangle 17"/>
          <p:cNvSpPr>
            <a:spLocks noChangeArrowheads="1"/>
          </p:cNvSpPr>
          <p:nvPr/>
        </p:nvSpPr>
        <p:spPr bwMode="auto">
          <a:xfrm>
            <a:off x="6804025" y="3860800"/>
            <a:ext cx="180975" cy="576263"/>
          </a:xfrm>
          <a:prstGeom prst="rect">
            <a:avLst/>
          </a:prstGeom>
          <a:noFill/>
          <a:ln w="12700">
            <a:noFill/>
            <a:miter lim="800000"/>
            <a:headEnd/>
            <a:tailEnd/>
          </a:ln>
          <a:effectLst/>
        </p:spPr>
        <p:txBody>
          <a:bodyPr wrap="none" lIns="90488" tIns="44450" rIns="90488" bIns="44450">
            <a:spAutoFit/>
          </a:bodyPr>
          <a:lstStyle/>
          <a:p>
            <a:pPr eaLnBrk="0" hangingPunct="0">
              <a:defRPr/>
            </a:pPr>
            <a:endParaRPr lang="zh-CN" altLang="zh-CN" sz="3200" b="1">
              <a:effectLst>
                <a:outerShdw blurRad="38100" dist="38100" dir="2700000" algn="tl">
                  <a:srgbClr val="C0C0C0"/>
                </a:outerShdw>
              </a:effectLst>
              <a:latin typeface="Symbol" pitchFamily="18" charset="2"/>
              <a:ea typeface="宋体" pitchFamily="2" charset="-122"/>
            </a:endParaRPr>
          </a:p>
        </p:txBody>
      </p:sp>
      <p:grpSp>
        <p:nvGrpSpPr>
          <p:cNvPr id="2" name="Group 26"/>
          <p:cNvGrpSpPr>
            <a:grpSpLocks/>
          </p:cNvGrpSpPr>
          <p:nvPr/>
        </p:nvGrpSpPr>
        <p:grpSpPr bwMode="auto">
          <a:xfrm>
            <a:off x="2051050" y="1989138"/>
            <a:ext cx="4068763" cy="1079500"/>
            <a:chOff x="2177" y="1480"/>
            <a:chExt cx="2563" cy="680"/>
          </a:xfrm>
        </p:grpSpPr>
        <p:sp>
          <p:nvSpPr>
            <p:cNvPr id="219155" name="Rectangle 19"/>
            <p:cNvSpPr>
              <a:spLocks noChangeArrowheads="1"/>
            </p:cNvSpPr>
            <p:nvPr/>
          </p:nvSpPr>
          <p:spPr bwMode="auto">
            <a:xfrm>
              <a:off x="4150" y="1797"/>
              <a:ext cx="256" cy="363"/>
            </a:xfrm>
            <a:prstGeom prst="rect">
              <a:avLst/>
            </a:prstGeom>
            <a:noFill/>
            <a:ln w="12700">
              <a:noFill/>
              <a:miter lim="800000"/>
              <a:headEnd/>
              <a:tailEnd/>
            </a:ln>
            <a:effectLst/>
          </p:spPr>
          <p:txBody>
            <a:bodyPr wrap="none" lIns="90488" tIns="44450" rIns="90488" bIns="44450">
              <a:spAutoFit/>
            </a:bodyPr>
            <a:lstStyle/>
            <a:p>
              <a:pPr eaLnBrk="0" hangingPunct="0">
                <a:defRPr/>
              </a:pPr>
              <a:r>
                <a:rPr lang="en-US" altLang="zh-CN" sz="3200" b="1">
                  <a:effectLst>
                    <a:outerShdw blurRad="38100" dist="38100" dir="2700000" algn="tl">
                      <a:srgbClr val="C0C0C0"/>
                    </a:outerShdw>
                  </a:effectLst>
                  <a:latin typeface="Arial" charset="0"/>
                  <a:ea typeface="宋体" pitchFamily="2" charset="-122"/>
                </a:rPr>
                <a:t>2</a:t>
              </a:r>
            </a:p>
          </p:txBody>
        </p:sp>
        <p:sp>
          <p:nvSpPr>
            <p:cNvPr id="30729" name="Rectangle 21"/>
            <p:cNvSpPr>
              <a:spLocks noChangeArrowheads="1"/>
            </p:cNvSpPr>
            <p:nvPr/>
          </p:nvSpPr>
          <p:spPr bwMode="auto">
            <a:xfrm>
              <a:off x="2177" y="1653"/>
              <a:ext cx="1658" cy="365"/>
            </a:xfrm>
            <a:prstGeom prst="rect">
              <a:avLst/>
            </a:prstGeom>
            <a:noFill/>
            <a:ln w="9525">
              <a:noFill/>
              <a:miter lim="800000"/>
              <a:headEnd/>
              <a:tailEnd/>
            </a:ln>
          </p:spPr>
          <p:txBody>
            <a:bodyPr wrap="none">
              <a:spAutoFit/>
            </a:bodyPr>
            <a:lstStyle/>
            <a:p>
              <a:r>
                <a:rPr lang="zh-CN" altLang="en-US" sz="3200" b="1">
                  <a:latin typeface="Arial" charset="0"/>
                  <a:ea typeface="宋体" pitchFamily="2" charset="-122"/>
                </a:rPr>
                <a:t>中位数位置＝</a:t>
              </a:r>
            </a:p>
          </p:txBody>
        </p:sp>
        <p:sp>
          <p:nvSpPr>
            <p:cNvPr id="219159" name="Rectangle 23"/>
            <p:cNvSpPr>
              <a:spLocks noChangeArrowheads="1"/>
            </p:cNvSpPr>
            <p:nvPr/>
          </p:nvSpPr>
          <p:spPr bwMode="auto">
            <a:xfrm>
              <a:off x="3878" y="1480"/>
              <a:ext cx="862" cy="363"/>
            </a:xfrm>
            <a:prstGeom prst="rect">
              <a:avLst/>
            </a:prstGeom>
            <a:noFill/>
            <a:ln w="12700">
              <a:noFill/>
              <a:miter lim="800000"/>
              <a:headEnd/>
              <a:tailEnd/>
            </a:ln>
            <a:effectLst/>
          </p:spPr>
          <p:txBody>
            <a:bodyPr lIns="90488" tIns="44450" rIns="90488" bIns="44450">
              <a:spAutoFit/>
            </a:bodyPr>
            <a:lstStyle/>
            <a:p>
              <a:pPr eaLnBrk="0" hangingPunct="0">
                <a:defRPr/>
              </a:pPr>
              <a:r>
                <a:rPr lang="en-US" altLang="zh-CN" sz="3200" b="1" i="1">
                  <a:effectLst>
                    <a:outerShdw blurRad="38100" dist="38100" dir="2700000" algn="tl">
                      <a:srgbClr val="C0C0C0"/>
                    </a:outerShdw>
                  </a:effectLst>
                  <a:latin typeface="Arial" charset="0"/>
                  <a:ea typeface="宋体" pitchFamily="2" charset="-122"/>
                </a:rPr>
                <a:t>N</a:t>
              </a:r>
              <a:r>
                <a:rPr lang="zh-CN" altLang="en-US" sz="3200" b="1">
                  <a:effectLst>
                    <a:outerShdw blurRad="38100" dist="38100" dir="2700000" algn="tl">
                      <a:srgbClr val="C0C0C0"/>
                    </a:outerShdw>
                  </a:effectLst>
                  <a:latin typeface="Arial" charset="0"/>
                  <a:ea typeface="宋体" pitchFamily="2" charset="-122"/>
                </a:rPr>
                <a:t>＋</a:t>
              </a:r>
              <a:r>
                <a:rPr lang="en-US" altLang="zh-CN" sz="3200" b="1">
                  <a:effectLst>
                    <a:outerShdw blurRad="38100" dist="38100" dir="2700000" algn="tl">
                      <a:srgbClr val="C0C0C0"/>
                    </a:outerShdw>
                  </a:effectLst>
                  <a:latin typeface="Arial" charset="0"/>
                  <a:ea typeface="宋体" pitchFamily="2" charset="-122"/>
                </a:rPr>
                <a:t>1</a:t>
              </a:r>
            </a:p>
          </p:txBody>
        </p:sp>
        <p:sp>
          <p:nvSpPr>
            <p:cNvPr id="30731" name="Line 25"/>
            <p:cNvSpPr>
              <a:spLocks noChangeShapeType="1"/>
            </p:cNvSpPr>
            <p:nvPr/>
          </p:nvSpPr>
          <p:spPr bwMode="auto">
            <a:xfrm flipV="1">
              <a:off x="3787" y="1842"/>
              <a:ext cx="907" cy="0"/>
            </a:xfrm>
            <a:prstGeom prst="line">
              <a:avLst/>
            </a:prstGeom>
            <a:noFill/>
            <a:ln w="38100">
              <a:solidFill>
                <a:schemeClr val="tx1"/>
              </a:solidFill>
              <a:miter lim="800000"/>
              <a:headEnd/>
              <a:tailEnd/>
            </a:ln>
          </p:spPr>
          <p:txBody>
            <a:bodyPr wrap="none"/>
            <a:lstStyle/>
            <a:p>
              <a:endParaRPr lang="zh-CN" altLang="en-US"/>
            </a:p>
          </p:txBody>
        </p:sp>
      </p:grpSp>
      <p:graphicFrame>
        <p:nvGraphicFramePr>
          <p:cNvPr id="219163" name="Object 27">
            <a:hlinkClick r:id="" action="ppaction://ole?verb=0"/>
          </p:cNvPr>
          <p:cNvGraphicFramePr>
            <a:graphicFrameLocks noGrp="1"/>
          </p:cNvGraphicFramePr>
          <p:nvPr>
            <p:ph idx="1"/>
          </p:nvPr>
        </p:nvGraphicFramePr>
        <p:xfrm>
          <a:off x="1331913" y="3644900"/>
          <a:ext cx="6840537" cy="2232025"/>
        </p:xfrm>
        <a:graphic>
          <a:graphicData uri="http://schemas.openxmlformats.org/presentationml/2006/ole">
            <mc:AlternateContent xmlns:mc="http://schemas.openxmlformats.org/markup-compatibility/2006">
              <mc:Choice xmlns:v="urn:schemas-microsoft-com:vml" Requires="v">
                <p:oleObj spid="_x0000_s30899" name="公式" r:id="rId4" imgW="2184120" imgH="850680" progId="Equation.3">
                  <p:embed/>
                </p:oleObj>
              </mc:Choice>
              <mc:Fallback>
                <p:oleObj name="公式" r:id="rId4" imgW="2184120" imgH="850680" progId="Equation.3">
                  <p:embed/>
                  <p:pic>
                    <p:nvPicPr>
                      <p:cNvPr id="0" name="Object 2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3644900"/>
                        <a:ext cx="6840537" cy="22320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81</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19163"/>
                                        </p:tgtEl>
                                        <p:attrNameLst>
                                          <p:attrName>style.visibility</p:attrName>
                                        </p:attrNameLst>
                                      </p:cBhvr>
                                      <p:to>
                                        <p:strVal val="visible"/>
                                      </p:to>
                                    </p:set>
                                    <p:animEffect transition="in" filter="diamond(in)">
                                      <p:cBhvr>
                                        <p:cTn id="12" dur="2000"/>
                                        <p:tgtEl>
                                          <p:spTgt spid="219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Rectangle 3"/>
          <p:cNvSpPr>
            <a:spLocks noGrp="1" noChangeArrowheads="1"/>
          </p:cNvSpPr>
          <p:nvPr>
            <p:ph type="body" idx="1"/>
          </p:nvPr>
        </p:nvSpPr>
        <p:spPr>
          <a:xfrm>
            <a:off x="684213" y="1484313"/>
            <a:ext cx="7772400" cy="4251325"/>
          </a:xfrm>
          <a:noFill/>
          <a:ln w="12700">
            <a:solidFill>
              <a:srgbClr val="6565FF"/>
            </a:solidFill>
          </a:ln>
        </p:spPr>
        <p:txBody>
          <a:bodyPr lIns="90488" tIns="44450" rIns="90488" bIns="44450"/>
          <a:lstStyle/>
          <a:p>
            <a:pPr marL="571500" indent="-571500" eaLnBrk="1" hangingPunct="1">
              <a:lnSpc>
                <a:spcPct val="130000"/>
              </a:lnSpc>
              <a:spcBef>
                <a:spcPct val="10000"/>
              </a:spcBef>
              <a:tabLst>
                <a:tab pos="2514600" algn="ctr"/>
                <a:tab pos="3543300" algn="ctr"/>
                <a:tab pos="4572000" algn="ctr"/>
                <a:tab pos="5600700" algn="ctr"/>
                <a:tab pos="6578600" algn="ctr"/>
                <a:tab pos="7086600" algn="ctr"/>
              </a:tabLst>
            </a:pPr>
            <a:r>
              <a:rPr lang="zh-CN" altLang="en-US" b="0" smtClean="0">
                <a:solidFill>
                  <a:srgbClr val="000000"/>
                </a:solidFill>
              </a:rPr>
              <a:t>原始数据</a:t>
            </a:r>
            <a:r>
              <a:rPr lang="en-US" altLang="zh-CN" b="0" smtClean="0">
                <a:solidFill>
                  <a:srgbClr val="000000"/>
                </a:solidFill>
              </a:rPr>
              <a:t>:    </a:t>
            </a:r>
            <a:r>
              <a:rPr lang="en-US" altLang="zh-CN" smtClean="0">
                <a:solidFill>
                  <a:srgbClr val="000000"/>
                </a:solidFill>
              </a:rPr>
              <a:t>	84    82    81    86    80</a:t>
            </a:r>
          </a:p>
          <a:p>
            <a:pPr marL="571500" indent="-571500" eaLnBrk="1" hangingPunct="1">
              <a:lnSpc>
                <a:spcPct val="130000"/>
              </a:lnSpc>
              <a:spcBef>
                <a:spcPct val="10000"/>
              </a:spcBef>
              <a:tabLst>
                <a:tab pos="2514600" algn="ctr"/>
                <a:tab pos="3543300" algn="ctr"/>
                <a:tab pos="4572000" algn="ctr"/>
                <a:tab pos="5600700" algn="ctr"/>
                <a:tab pos="6578600" algn="ctr"/>
                <a:tab pos="7086600" algn="ctr"/>
              </a:tabLst>
            </a:pPr>
            <a:r>
              <a:rPr lang="zh-CN" altLang="en-US" b="0" smtClean="0">
                <a:solidFill>
                  <a:srgbClr val="000000"/>
                </a:solidFill>
              </a:rPr>
              <a:t>排       序</a:t>
            </a:r>
            <a:r>
              <a:rPr lang="en-US" altLang="zh-CN" b="0" smtClean="0">
                <a:solidFill>
                  <a:srgbClr val="000000"/>
                </a:solidFill>
              </a:rPr>
              <a:t>:</a:t>
            </a:r>
            <a:r>
              <a:rPr lang="en-US" altLang="zh-CN" smtClean="0">
                <a:solidFill>
                  <a:srgbClr val="000000"/>
                </a:solidFill>
              </a:rPr>
              <a:t>	    80    81    </a:t>
            </a:r>
            <a:r>
              <a:rPr lang="en-US" altLang="zh-CN" smtClean="0">
                <a:solidFill>
                  <a:srgbClr val="FF3300"/>
                </a:solidFill>
              </a:rPr>
              <a:t>82 </a:t>
            </a:r>
            <a:r>
              <a:rPr lang="en-US" altLang="zh-CN" smtClean="0">
                <a:solidFill>
                  <a:srgbClr val="000000"/>
                </a:solidFill>
              </a:rPr>
              <a:t>   84    86</a:t>
            </a:r>
          </a:p>
          <a:p>
            <a:pPr marL="571500" indent="-571500" eaLnBrk="1" hangingPunct="1">
              <a:lnSpc>
                <a:spcPct val="130000"/>
              </a:lnSpc>
              <a:spcBef>
                <a:spcPct val="10000"/>
              </a:spcBef>
              <a:tabLst>
                <a:tab pos="2514600" algn="ctr"/>
                <a:tab pos="3543300" algn="ctr"/>
                <a:tab pos="4572000" algn="ctr"/>
                <a:tab pos="5600700" algn="ctr"/>
                <a:tab pos="6578600" algn="ctr"/>
                <a:tab pos="7086600" algn="ctr"/>
              </a:tabLst>
            </a:pPr>
            <a:r>
              <a:rPr lang="zh-CN" altLang="en-US" b="0" smtClean="0">
                <a:solidFill>
                  <a:srgbClr val="000000"/>
                </a:solidFill>
              </a:rPr>
              <a:t>位       置</a:t>
            </a:r>
            <a:r>
              <a:rPr lang="en-US" altLang="zh-CN" b="0" smtClean="0">
                <a:solidFill>
                  <a:srgbClr val="000000"/>
                </a:solidFill>
              </a:rPr>
              <a:t>:</a:t>
            </a:r>
            <a:r>
              <a:rPr lang="en-US" altLang="zh-CN" smtClean="0">
                <a:solidFill>
                  <a:srgbClr val="000000"/>
                </a:solidFill>
              </a:rPr>
              <a:t>	      1      2      </a:t>
            </a:r>
            <a:r>
              <a:rPr lang="en-US" altLang="zh-CN" smtClean="0"/>
              <a:t>3	</a:t>
            </a:r>
            <a:r>
              <a:rPr lang="en-US" altLang="zh-CN" smtClean="0">
                <a:solidFill>
                  <a:srgbClr val="000000"/>
                </a:solidFill>
              </a:rPr>
              <a:t>      4      5</a:t>
            </a:r>
          </a:p>
        </p:txBody>
      </p:sp>
      <p:sp>
        <p:nvSpPr>
          <p:cNvPr id="120836" name="Rectangle 22"/>
          <p:cNvSpPr>
            <a:spLocks noGrp="1" noChangeArrowheads="1"/>
          </p:cNvSpPr>
          <p:nvPr>
            <p:ph type="title"/>
          </p:nvPr>
        </p:nvSpPr>
        <p:spPr/>
        <p:txBody>
          <a:bodyPr/>
          <a:lstStyle/>
          <a:p>
            <a:pPr eaLnBrk="1" hangingPunct="1"/>
            <a:r>
              <a:rPr lang="zh-CN" altLang="en-US" dirty="0" smtClean="0"/>
              <a:t>例</a:t>
            </a:r>
          </a:p>
        </p:txBody>
      </p:sp>
      <p:grpSp>
        <p:nvGrpSpPr>
          <p:cNvPr id="120837" name="Group 27"/>
          <p:cNvGrpSpPr>
            <a:grpSpLocks/>
          </p:cNvGrpSpPr>
          <p:nvPr/>
        </p:nvGrpSpPr>
        <p:grpSpPr bwMode="auto">
          <a:xfrm>
            <a:off x="1692275" y="3789363"/>
            <a:ext cx="5688013" cy="1046162"/>
            <a:chOff x="884" y="2501"/>
            <a:chExt cx="3583" cy="659"/>
          </a:xfrm>
        </p:grpSpPr>
        <p:sp>
          <p:nvSpPr>
            <p:cNvPr id="120839" name="Line 5"/>
            <p:cNvSpPr>
              <a:spLocks noChangeShapeType="1"/>
            </p:cNvSpPr>
            <p:nvPr/>
          </p:nvSpPr>
          <p:spPr bwMode="auto">
            <a:xfrm>
              <a:off x="2531" y="2855"/>
              <a:ext cx="484" cy="0"/>
            </a:xfrm>
            <a:prstGeom prst="line">
              <a:avLst/>
            </a:prstGeom>
            <a:noFill/>
            <a:ln w="12700">
              <a:solidFill>
                <a:schemeClr val="tx1"/>
              </a:solidFill>
              <a:round/>
              <a:headEnd/>
              <a:tailEnd/>
            </a:ln>
          </p:spPr>
          <p:txBody>
            <a:bodyPr wrap="none" anchor="ctr"/>
            <a:lstStyle/>
            <a:p>
              <a:endParaRPr lang="zh-CN" altLang="en-US"/>
            </a:p>
          </p:txBody>
        </p:sp>
        <p:sp>
          <p:nvSpPr>
            <p:cNvPr id="120840" name="Line 6"/>
            <p:cNvSpPr>
              <a:spLocks noChangeShapeType="1"/>
            </p:cNvSpPr>
            <p:nvPr/>
          </p:nvSpPr>
          <p:spPr bwMode="auto">
            <a:xfrm>
              <a:off x="3313" y="2855"/>
              <a:ext cx="475" cy="0"/>
            </a:xfrm>
            <a:prstGeom prst="line">
              <a:avLst/>
            </a:prstGeom>
            <a:noFill/>
            <a:ln w="12700">
              <a:solidFill>
                <a:schemeClr val="tx1"/>
              </a:solidFill>
              <a:round/>
              <a:headEnd/>
              <a:tailEnd/>
            </a:ln>
          </p:spPr>
          <p:txBody>
            <a:bodyPr wrap="none" anchor="ctr"/>
            <a:lstStyle/>
            <a:p>
              <a:endParaRPr lang="zh-CN" altLang="en-US"/>
            </a:p>
          </p:txBody>
        </p:sp>
        <p:sp>
          <p:nvSpPr>
            <p:cNvPr id="120841" name="Rectangle 7"/>
            <p:cNvSpPr>
              <a:spLocks noChangeArrowheads="1"/>
            </p:cNvSpPr>
            <p:nvPr/>
          </p:nvSpPr>
          <p:spPr bwMode="auto">
            <a:xfrm>
              <a:off x="884" y="2659"/>
              <a:ext cx="1755" cy="363"/>
            </a:xfrm>
            <a:prstGeom prst="rect">
              <a:avLst/>
            </a:prstGeom>
            <a:noFill/>
            <a:ln w="12700">
              <a:noFill/>
              <a:miter lim="800000"/>
              <a:headEnd/>
              <a:tailEnd/>
            </a:ln>
          </p:spPr>
          <p:txBody>
            <a:bodyPr lIns="90488" tIns="44450" rIns="90488" bIns="44450">
              <a:spAutoFit/>
            </a:bodyPr>
            <a:lstStyle/>
            <a:p>
              <a:pPr eaLnBrk="0" hangingPunct="0"/>
              <a:r>
                <a:rPr lang="zh-CN" altLang="en-US" sz="3200" b="1">
                  <a:latin typeface="Arial" charset="0"/>
                  <a:ea typeface="宋体" pitchFamily="2" charset="-122"/>
                </a:rPr>
                <a:t>中位数位置＝</a:t>
              </a:r>
            </a:p>
          </p:txBody>
        </p:sp>
        <p:sp>
          <p:nvSpPr>
            <p:cNvPr id="224265" name="Rectangle 9"/>
            <p:cNvSpPr>
              <a:spLocks noChangeArrowheads="1"/>
            </p:cNvSpPr>
            <p:nvPr/>
          </p:nvSpPr>
          <p:spPr bwMode="auto">
            <a:xfrm>
              <a:off x="3033" y="2659"/>
              <a:ext cx="255" cy="363"/>
            </a:xfrm>
            <a:prstGeom prst="rect">
              <a:avLst/>
            </a:prstGeom>
            <a:noFill/>
            <a:ln w="12700">
              <a:noFill/>
              <a:miter lim="800000"/>
              <a:headEnd/>
              <a:tailEnd/>
            </a:ln>
            <a:effectLst/>
          </p:spPr>
          <p:txBody>
            <a:bodyPr wrap="none" lIns="90488" tIns="44450" rIns="90488" bIns="44450">
              <a:spAutoFit/>
            </a:bodyPr>
            <a:lstStyle/>
            <a:p>
              <a:pPr eaLnBrk="0" hangingPunct="0">
                <a:defRPr/>
              </a:pPr>
              <a:r>
                <a:rPr lang="en-US" altLang="zh-CN" sz="3200">
                  <a:effectLst>
                    <a:outerShdw blurRad="38100" dist="38100" dir="2700000" algn="tl">
                      <a:srgbClr val="C0C0C0"/>
                    </a:outerShdw>
                  </a:effectLst>
                  <a:latin typeface="Symbol" pitchFamily="18" charset="2"/>
                  <a:ea typeface="宋体" pitchFamily="2" charset="-122"/>
                </a:rPr>
                <a:t></a:t>
              </a:r>
            </a:p>
          </p:txBody>
        </p:sp>
        <p:sp>
          <p:nvSpPr>
            <p:cNvPr id="120843" name="Rectangle 11"/>
            <p:cNvSpPr>
              <a:spLocks noChangeArrowheads="1"/>
            </p:cNvSpPr>
            <p:nvPr/>
          </p:nvSpPr>
          <p:spPr bwMode="auto">
            <a:xfrm>
              <a:off x="2517" y="2523"/>
              <a:ext cx="548" cy="363"/>
            </a:xfrm>
            <a:prstGeom prst="rect">
              <a:avLst/>
            </a:prstGeom>
            <a:noFill/>
            <a:ln w="12700">
              <a:noFill/>
              <a:miter lim="800000"/>
              <a:headEnd/>
              <a:tailEnd/>
            </a:ln>
          </p:spPr>
          <p:txBody>
            <a:bodyPr wrap="none" lIns="90488" tIns="44450" rIns="90488" bIns="44450">
              <a:spAutoFit/>
            </a:bodyPr>
            <a:lstStyle/>
            <a:p>
              <a:pPr eaLnBrk="0" hangingPunct="0"/>
              <a:r>
                <a:rPr lang="en-US" altLang="zh-CN" sz="3200" i="1">
                  <a:latin typeface="Arial" charset="0"/>
                  <a:ea typeface="宋体" pitchFamily="2" charset="-122"/>
                </a:rPr>
                <a:t>n+</a:t>
              </a:r>
              <a:r>
                <a:rPr lang="en-US" altLang="zh-CN" sz="3200">
                  <a:latin typeface="Arial" charset="0"/>
                  <a:ea typeface="宋体" pitchFamily="2" charset="-122"/>
                </a:rPr>
                <a:t>1</a:t>
              </a:r>
            </a:p>
          </p:txBody>
        </p:sp>
        <p:sp>
          <p:nvSpPr>
            <p:cNvPr id="120844" name="Rectangle 13"/>
            <p:cNvSpPr>
              <a:spLocks noChangeArrowheads="1"/>
            </p:cNvSpPr>
            <p:nvPr/>
          </p:nvSpPr>
          <p:spPr bwMode="auto">
            <a:xfrm>
              <a:off x="3295" y="2501"/>
              <a:ext cx="548" cy="363"/>
            </a:xfrm>
            <a:prstGeom prst="rect">
              <a:avLst/>
            </a:prstGeom>
            <a:noFill/>
            <a:ln w="12700">
              <a:noFill/>
              <a:miter lim="800000"/>
              <a:headEnd/>
              <a:tailEnd/>
            </a:ln>
          </p:spPr>
          <p:txBody>
            <a:bodyPr wrap="none" lIns="90488" tIns="44450" rIns="90488" bIns="44450">
              <a:spAutoFit/>
            </a:bodyPr>
            <a:lstStyle/>
            <a:p>
              <a:pPr eaLnBrk="0" hangingPunct="0"/>
              <a:r>
                <a:rPr lang="en-US" altLang="zh-CN" sz="3200">
                  <a:latin typeface="Arial" charset="0"/>
                  <a:ea typeface="宋体" pitchFamily="2" charset="-122"/>
                </a:rPr>
                <a:t>5+1</a:t>
              </a:r>
            </a:p>
          </p:txBody>
        </p:sp>
        <p:sp>
          <p:nvSpPr>
            <p:cNvPr id="120845" name="Text Box 24"/>
            <p:cNvSpPr txBox="1">
              <a:spLocks noChangeArrowheads="1"/>
            </p:cNvSpPr>
            <p:nvPr/>
          </p:nvSpPr>
          <p:spPr bwMode="auto">
            <a:xfrm>
              <a:off x="3787" y="2614"/>
              <a:ext cx="680" cy="404"/>
            </a:xfrm>
            <a:prstGeom prst="rect">
              <a:avLst/>
            </a:prstGeom>
            <a:noFill/>
            <a:ln w="9525">
              <a:noFill/>
              <a:miter lim="800000"/>
              <a:headEnd/>
              <a:tailEnd/>
            </a:ln>
          </p:spPr>
          <p:txBody>
            <a:bodyPr>
              <a:spAutoFit/>
            </a:bodyPr>
            <a:lstStyle/>
            <a:p>
              <a:pPr>
                <a:spcBef>
                  <a:spcPct val="50000"/>
                </a:spcBef>
              </a:pPr>
              <a:r>
                <a:rPr lang="zh-CN" altLang="en-US" sz="3600" b="1">
                  <a:ea typeface="宋体" pitchFamily="2" charset="-122"/>
                </a:rPr>
                <a:t>＝</a:t>
              </a:r>
              <a:r>
                <a:rPr lang="en-US" altLang="zh-CN" sz="3600" b="1">
                  <a:ea typeface="宋体" pitchFamily="2" charset="-122"/>
                </a:rPr>
                <a:t>3</a:t>
              </a:r>
            </a:p>
          </p:txBody>
        </p:sp>
        <p:sp>
          <p:nvSpPr>
            <p:cNvPr id="120846" name="Text Box 25"/>
            <p:cNvSpPr txBox="1">
              <a:spLocks noChangeArrowheads="1"/>
            </p:cNvSpPr>
            <p:nvPr/>
          </p:nvSpPr>
          <p:spPr bwMode="auto">
            <a:xfrm>
              <a:off x="2653" y="2795"/>
              <a:ext cx="273" cy="365"/>
            </a:xfrm>
            <a:prstGeom prst="rect">
              <a:avLst/>
            </a:prstGeom>
            <a:noFill/>
            <a:ln w="9525">
              <a:noFill/>
              <a:miter lim="800000"/>
              <a:headEnd/>
              <a:tailEnd/>
            </a:ln>
          </p:spPr>
          <p:txBody>
            <a:bodyPr>
              <a:spAutoFit/>
            </a:bodyPr>
            <a:lstStyle/>
            <a:p>
              <a:pPr>
                <a:spcBef>
                  <a:spcPct val="50000"/>
                </a:spcBef>
              </a:pPr>
              <a:r>
                <a:rPr lang="en-US" altLang="zh-CN" sz="3200" b="1">
                  <a:ea typeface="宋体" pitchFamily="2" charset="-122"/>
                </a:rPr>
                <a:t>2</a:t>
              </a:r>
            </a:p>
          </p:txBody>
        </p:sp>
        <p:sp>
          <p:nvSpPr>
            <p:cNvPr id="120847" name="Text Box 26"/>
            <p:cNvSpPr txBox="1">
              <a:spLocks noChangeArrowheads="1"/>
            </p:cNvSpPr>
            <p:nvPr/>
          </p:nvSpPr>
          <p:spPr bwMode="auto">
            <a:xfrm>
              <a:off x="3424" y="2795"/>
              <a:ext cx="273" cy="365"/>
            </a:xfrm>
            <a:prstGeom prst="rect">
              <a:avLst/>
            </a:prstGeom>
            <a:noFill/>
            <a:ln w="9525">
              <a:noFill/>
              <a:miter lim="800000"/>
              <a:headEnd/>
              <a:tailEnd/>
            </a:ln>
          </p:spPr>
          <p:txBody>
            <a:bodyPr>
              <a:spAutoFit/>
            </a:bodyPr>
            <a:lstStyle/>
            <a:p>
              <a:pPr>
                <a:spcBef>
                  <a:spcPct val="50000"/>
                </a:spcBef>
              </a:pPr>
              <a:r>
                <a:rPr lang="en-US" altLang="zh-CN" sz="3200" b="1">
                  <a:ea typeface="宋体" pitchFamily="2" charset="-122"/>
                </a:rPr>
                <a:t>2</a:t>
              </a:r>
            </a:p>
          </p:txBody>
        </p:sp>
      </p:grpSp>
      <p:sp>
        <p:nvSpPr>
          <p:cNvPr id="224284" name="Text Box 28"/>
          <p:cNvSpPr txBox="1">
            <a:spLocks noChangeArrowheads="1"/>
          </p:cNvSpPr>
          <p:nvPr/>
        </p:nvSpPr>
        <p:spPr bwMode="auto">
          <a:xfrm>
            <a:off x="2268538" y="5084763"/>
            <a:ext cx="3743325" cy="641350"/>
          </a:xfrm>
          <a:prstGeom prst="rect">
            <a:avLst/>
          </a:prstGeom>
          <a:noFill/>
          <a:ln w="9525">
            <a:noFill/>
            <a:miter lim="800000"/>
            <a:headEnd/>
            <a:tailEnd/>
          </a:ln>
          <a:effectLst/>
        </p:spPr>
        <p:txBody>
          <a:bodyPr>
            <a:spAutoFit/>
          </a:bodyPr>
          <a:lstStyle/>
          <a:p>
            <a:pPr>
              <a:spcBef>
                <a:spcPct val="50000"/>
              </a:spcBef>
              <a:defRPr/>
            </a:pPr>
            <a:r>
              <a:rPr lang="zh-CN" altLang="en-US" sz="3600" b="1">
                <a:ea typeface="宋体" pitchFamily="2" charset="-122"/>
              </a:rPr>
              <a:t>中位数</a:t>
            </a:r>
            <a:r>
              <a:rPr lang="en-US" altLang="zh-CN" sz="3600" b="1">
                <a:solidFill>
                  <a:srgbClr val="FF3300"/>
                </a:solidFill>
                <a:effectLst>
                  <a:outerShdw blurRad="38100" dist="38100" dir="2700000" algn="tl">
                    <a:srgbClr val="C0C0C0"/>
                  </a:outerShdw>
                </a:effectLst>
                <a:ea typeface="宋体" pitchFamily="2" charset="-122"/>
              </a:rPr>
              <a:t>Me</a:t>
            </a:r>
            <a:r>
              <a:rPr lang="en-US" altLang="zh-CN" sz="3600" b="1">
                <a:ea typeface="宋体" pitchFamily="2" charset="-122"/>
              </a:rPr>
              <a:t> </a:t>
            </a:r>
            <a:r>
              <a:rPr lang="zh-CN" altLang="en-US" sz="3600" b="1">
                <a:ea typeface="宋体" pitchFamily="2" charset="-122"/>
              </a:rPr>
              <a:t>＝</a:t>
            </a:r>
            <a:r>
              <a:rPr lang="en-US" altLang="zh-CN" sz="3600" b="1">
                <a:solidFill>
                  <a:srgbClr val="FF3300"/>
                </a:solidFill>
                <a:ea typeface="宋体" pitchFamily="2" charset="-122"/>
              </a:rPr>
              <a:t>82</a:t>
            </a:r>
          </a:p>
        </p:txBody>
      </p:sp>
      <p:sp>
        <p:nvSpPr>
          <p:cNvPr id="16" name="灯片编号占位符 15"/>
          <p:cNvSpPr>
            <a:spLocks noGrp="1"/>
          </p:cNvSpPr>
          <p:nvPr>
            <p:ph type="sldNum" sz="quarter" idx="12"/>
          </p:nvPr>
        </p:nvSpPr>
        <p:spPr/>
        <p:txBody>
          <a:bodyPr/>
          <a:lstStyle/>
          <a:p>
            <a:pPr>
              <a:defRPr/>
            </a:pPr>
            <a:fld id="{62FC49CA-8014-4DA2-ABEB-AF96863EC77D}" type="slidenum">
              <a:rPr lang="en-US" altLang="zh-CN" smtClean="0"/>
              <a:pPr>
                <a:defRPr/>
              </a:pPr>
              <a:t>82</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9">
                                            <p:txEl>
                                              <p:pRg st="1" end="1"/>
                                            </p:txEl>
                                          </p:spTgt>
                                        </p:tgtEl>
                                        <p:attrNameLst>
                                          <p:attrName>style.visibility</p:attrName>
                                        </p:attrNameLst>
                                      </p:cBhvr>
                                      <p:to>
                                        <p:strVal val="visible"/>
                                      </p:to>
                                    </p:set>
                                    <p:animEffect transition="in" filter="wipe(left)">
                                      <p:cBhvr>
                                        <p:cTn id="7" dur="2000"/>
                                        <p:tgtEl>
                                          <p:spTgt spid="224259">
                                            <p:txEl>
                                              <p:pRg st="1" end="1"/>
                                            </p:txEl>
                                          </p:spTgt>
                                        </p:tgtEl>
                                      </p:cBhvr>
                                    </p:animEffect>
                                  </p:childTnLst>
                                </p:cTn>
                              </p:par>
                            </p:childTnLst>
                          </p:cTn>
                        </p:par>
                        <p:par>
                          <p:cTn id="8" fill="hold">
                            <p:stCondLst>
                              <p:cond delay="2000"/>
                            </p:stCondLst>
                            <p:childTnLst>
                              <p:par>
                                <p:cTn id="9" presetID="8" presetClass="entr" presetSubtype="16" fill="hold" grpId="0" nodeType="afterEffect">
                                  <p:stCondLst>
                                    <p:cond delay="0"/>
                                  </p:stCondLst>
                                  <p:childTnLst>
                                    <p:set>
                                      <p:cBhvr>
                                        <p:cTn id="10" dur="1" fill="hold">
                                          <p:stCondLst>
                                            <p:cond delay="0"/>
                                          </p:stCondLst>
                                        </p:cTn>
                                        <p:tgtEl>
                                          <p:spTgt spid="224284"/>
                                        </p:tgtEl>
                                        <p:attrNameLst>
                                          <p:attrName>style.visibility</p:attrName>
                                        </p:attrNameLst>
                                      </p:cBhvr>
                                      <p:to>
                                        <p:strVal val="visible"/>
                                      </p:to>
                                    </p:set>
                                    <p:animEffect transition="in" filter="diamond(in)">
                                      <p:cBhvr>
                                        <p:cTn id="11" dur="2000"/>
                                        <p:tgtEl>
                                          <p:spTgt spid="224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P spid="22428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body" idx="1"/>
          </p:nvPr>
        </p:nvSpPr>
        <p:spPr>
          <a:xfrm>
            <a:off x="395288" y="836613"/>
            <a:ext cx="8064500" cy="4251325"/>
          </a:xfrm>
          <a:noFill/>
        </p:spPr>
        <p:txBody>
          <a:bodyPr lIns="90488" tIns="44450" rIns="90488" bIns="44450"/>
          <a:lstStyle/>
          <a:p>
            <a:pPr marL="0" indent="0" eaLnBrk="1" hangingPunct="1">
              <a:lnSpc>
                <a:spcPct val="130000"/>
              </a:lnSpc>
              <a:spcBef>
                <a:spcPct val="10000"/>
              </a:spcBef>
              <a:buNone/>
              <a:tabLst>
                <a:tab pos="2514600" algn="ctr"/>
                <a:tab pos="3543300" algn="ctr"/>
                <a:tab pos="4572000" algn="ctr"/>
                <a:tab pos="5600700" algn="ctr"/>
                <a:tab pos="6578600" algn="ctr"/>
                <a:tab pos="7086600" algn="ctr"/>
              </a:tabLst>
            </a:pPr>
            <a:r>
              <a:rPr lang="zh-CN" altLang="en-US" b="0" dirty="0" smtClean="0">
                <a:solidFill>
                  <a:srgbClr val="000000"/>
                </a:solidFill>
              </a:rPr>
              <a:t>原始数据</a:t>
            </a:r>
            <a:r>
              <a:rPr lang="en-US" altLang="zh-CN" b="0" dirty="0" smtClean="0">
                <a:solidFill>
                  <a:srgbClr val="000000"/>
                </a:solidFill>
              </a:rPr>
              <a:t>:  </a:t>
            </a:r>
            <a:r>
              <a:rPr lang="en-US" altLang="zh-CN" dirty="0" smtClean="0">
                <a:solidFill>
                  <a:srgbClr val="000000"/>
                </a:solidFill>
              </a:rPr>
              <a:t>	84   82    81   86    80    90</a:t>
            </a:r>
          </a:p>
          <a:p>
            <a:pPr marL="0" indent="0" eaLnBrk="1" hangingPunct="1">
              <a:lnSpc>
                <a:spcPct val="130000"/>
              </a:lnSpc>
              <a:spcBef>
                <a:spcPct val="10000"/>
              </a:spcBef>
              <a:buNone/>
              <a:tabLst>
                <a:tab pos="2514600" algn="ctr"/>
                <a:tab pos="3543300" algn="ctr"/>
                <a:tab pos="4572000" algn="ctr"/>
                <a:tab pos="5600700" algn="ctr"/>
                <a:tab pos="6578600" algn="ctr"/>
                <a:tab pos="7086600" algn="ctr"/>
              </a:tabLst>
            </a:pPr>
            <a:r>
              <a:rPr lang="zh-CN" altLang="en-US" b="0" dirty="0" smtClean="0">
                <a:solidFill>
                  <a:srgbClr val="000000"/>
                </a:solidFill>
              </a:rPr>
              <a:t>排       序</a:t>
            </a:r>
            <a:r>
              <a:rPr lang="en-US" altLang="zh-CN" b="0" dirty="0" smtClean="0">
                <a:solidFill>
                  <a:srgbClr val="000000"/>
                </a:solidFill>
              </a:rPr>
              <a:t>: </a:t>
            </a:r>
            <a:r>
              <a:rPr lang="en-US" altLang="zh-CN" dirty="0" smtClean="0">
                <a:solidFill>
                  <a:srgbClr val="000000"/>
                </a:solidFill>
              </a:rPr>
              <a:t>80   81    </a:t>
            </a:r>
            <a:r>
              <a:rPr lang="en-US" altLang="zh-CN" dirty="0" smtClean="0">
                <a:solidFill>
                  <a:srgbClr val="F040F0"/>
                </a:solidFill>
              </a:rPr>
              <a:t>82    84</a:t>
            </a:r>
            <a:r>
              <a:rPr lang="en-US" altLang="zh-CN" dirty="0" smtClean="0">
                <a:solidFill>
                  <a:srgbClr val="000000"/>
                </a:solidFill>
              </a:rPr>
              <a:t>    86    90</a:t>
            </a:r>
          </a:p>
          <a:p>
            <a:pPr marL="0" indent="0" eaLnBrk="1" hangingPunct="1">
              <a:lnSpc>
                <a:spcPct val="130000"/>
              </a:lnSpc>
              <a:spcBef>
                <a:spcPct val="10000"/>
              </a:spcBef>
              <a:buNone/>
              <a:tabLst>
                <a:tab pos="2514600" algn="ctr"/>
                <a:tab pos="3543300" algn="ctr"/>
                <a:tab pos="4572000" algn="ctr"/>
                <a:tab pos="5600700" algn="ctr"/>
                <a:tab pos="6578600" algn="ctr"/>
                <a:tab pos="7086600" algn="ctr"/>
              </a:tabLst>
            </a:pPr>
            <a:r>
              <a:rPr lang="zh-CN" altLang="en-US" b="0" dirty="0" smtClean="0">
                <a:solidFill>
                  <a:srgbClr val="000000"/>
                </a:solidFill>
              </a:rPr>
              <a:t>位       置</a:t>
            </a:r>
            <a:r>
              <a:rPr lang="en-US" altLang="zh-CN" b="0" dirty="0" smtClean="0">
                <a:solidFill>
                  <a:srgbClr val="000000"/>
                </a:solidFill>
              </a:rPr>
              <a:t>:</a:t>
            </a:r>
            <a:r>
              <a:rPr lang="en-US" altLang="zh-CN" dirty="0" smtClean="0">
                <a:solidFill>
                  <a:srgbClr val="000000"/>
                </a:solidFill>
              </a:rPr>
              <a:t>	  1      2      </a:t>
            </a:r>
            <a:r>
              <a:rPr lang="en-US" altLang="zh-CN" dirty="0" smtClean="0"/>
              <a:t>3	      4</a:t>
            </a:r>
            <a:r>
              <a:rPr lang="en-US" altLang="zh-CN" dirty="0" smtClean="0">
                <a:solidFill>
                  <a:srgbClr val="000000"/>
                </a:solidFill>
              </a:rPr>
              <a:t>       5     6</a:t>
            </a:r>
          </a:p>
        </p:txBody>
      </p:sp>
      <p:sp>
        <p:nvSpPr>
          <p:cNvPr id="121860" name="Rectangle 3"/>
          <p:cNvSpPr>
            <a:spLocks noGrp="1" noChangeArrowheads="1"/>
          </p:cNvSpPr>
          <p:nvPr>
            <p:ph type="title"/>
          </p:nvPr>
        </p:nvSpPr>
        <p:spPr>
          <a:xfrm>
            <a:off x="838200" y="228600"/>
            <a:ext cx="7772400" cy="752128"/>
          </a:xfrm>
        </p:spPr>
        <p:txBody>
          <a:bodyPr/>
          <a:lstStyle/>
          <a:p>
            <a:pPr eaLnBrk="1" hangingPunct="1"/>
            <a:r>
              <a:rPr lang="zh-CN" altLang="en-US" dirty="0" smtClean="0"/>
              <a:t>例</a:t>
            </a:r>
          </a:p>
        </p:txBody>
      </p:sp>
      <p:sp>
        <p:nvSpPr>
          <p:cNvPr id="400398" name="Text Box 14"/>
          <p:cNvSpPr txBox="1">
            <a:spLocks noChangeArrowheads="1"/>
          </p:cNvSpPr>
          <p:nvPr/>
        </p:nvSpPr>
        <p:spPr bwMode="auto">
          <a:xfrm>
            <a:off x="2555875" y="3841631"/>
            <a:ext cx="3743325" cy="584775"/>
          </a:xfrm>
          <a:prstGeom prst="rect">
            <a:avLst/>
          </a:prstGeom>
          <a:noFill/>
          <a:ln w="9525">
            <a:noFill/>
            <a:miter lim="800000"/>
            <a:headEnd/>
            <a:tailEnd/>
          </a:ln>
          <a:effectLst/>
        </p:spPr>
        <p:txBody>
          <a:bodyPr>
            <a:spAutoFit/>
          </a:bodyPr>
          <a:lstStyle/>
          <a:p>
            <a:pPr>
              <a:spcBef>
                <a:spcPct val="50000"/>
              </a:spcBef>
              <a:defRPr/>
            </a:pPr>
            <a:r>
              <a:rPr lang="zh-CN" altLang="en-US" sz="3200" b="1" dirty="0">
                <a:ea typeface="宋体" pitchFamily="2" charset="-122"/>
              </a:rPr>
              <a:t>中位数 </a:t>
            </a:r>
            <a:r>
              <a:rPr lang="en-US" altLang="zh-CN" sz="3200" b="1" dirty="0">
                <a:solidFill>
                  <a:srgbClr val="FF3300"/>
                </a:solidFill>
                <a:effectLst>
                  <a:outerShdw blurRad="38100" dist="38100" dir="2700000" algn="tl">
                    <a:srgbClr val="C0C0C0"/>
                  </a:outerShdw>
                </a:effectLst>
                <a:ea typeface="宋体" pitchFamily="2" charset="-122"/>
              </a:rPr>
              <a:t>Me</a:t>
            </a:r>
            <a:r>
              <a:rPr lang="en-US" altLang="zh-CN" sz="3200" b="1" dirty="0">
                <a:ea typeface="宋体" pitchFamily="2" charset="-122"/>
              </a:rPr>
              <a:t> </a:t>
            </a:r>
            <a:r>
              <a:rPr lang="zh-CN" altLang="en-US" sz="3200" b="1" dirty="0">
                <a:ea typeface="宋体" pitchFamily="2" charset="-122"/>
              </a:rPr>
              <a:t>＝</a:t>
            </a:r>
            <a:r>
              <a:rPr lang="en-US" altLang="zh-CN" sz="3200" b="1" dirty="0">
                <a:solidFill>
                  <a:srgbClr val="FF3300"/>
                </a:solidFill>
                <a:ea typeface="宋体" pitchFamily="2" charset="-122"/>
              </a:rPr>
              <a:t>83</a:t>
            </a:r>
          </a:p>
        </p:txBody>
      </p:sp>
      <p:sp>
        <p:nvSpPr>
          <p:cNvPr id="121862" name="Line 15"/>
          <p:cNvSpPr>
            <a:spLocks noChangeShapeType="1"/>
          </p:cNvSpPr>
          <p:nvPr/>
        </p:nvSpPr>
        <p:spPr bwMode="auto">
          <a:xfrm>
            <a:off x="3873500" y="3451994"/>
            <a:ext cx="768350" cy="1588"/>
          </a:xfrm>
          <a:prstGeom prst="line">
            <a:avLst/>
          </a:prstGeom>
          <a:noFill/>
          <a:ln w="12700">
            <a:solidFill>
              <a:schemeClr val="tx1"/>
            </a:solidFill>
            <a:round/>
            <a:headEnd/>
            <a:tailEnd/>
          </a:ln>
        </p:spPr>
        <p:txBody>
          <a:bodyPr wrap="none" anchor="ctr"/>
          <a:lstStyle/>
          <a:p>
            <a:endParaRPr lang="zh-CN" altLang="en-US"/>
          </a:p>
        </p:txBody>
      </p:sp>
      <p:sp>
        <p:nvSpPr>
          <p:cNvPr id="121863" name="Line 16"/>
          <p:cNvSpPr>
            <a:spLocks noChangeShapeType="1"/>
          </p:cNvSpPr>
          <p:nvPr/>
        </p:nvSpPr>
        <p:spPr bwMode="auto">
          <a:xfrm>
            <a:off x="5114925" y="3451994"/>
            <a:ext cx="754063" cy="1588"/>
          </a:xfrm>
          <a:prstGeom prst="line">
            <a:avLst/>
          </a:prstGeom>
          <a:noFill/>
          <a:ln w="12700">
            <a:solidFill>
              <a:schemeClr val="tx1"/>
            </a:solidFill>
            <a:round/>
            <a:headEnd/>
            <a:tailEnd/>
          </a:ln>
        </p:spPr>
        <p:txBody>
          <a:bodyPr wrap="none" anchor="ctr"/>
          <a:lstStyle/>
          <a:p>
            <a:endParaRPr lang="zh-CN" altLang="en-US"/>
          </a:p>
        </p:txBody>
      </p:sp>
      <p:sp>
        <p:nvSpPr>
          <p:cNvPr id="121864" name="Rectangle 17"/>
          <p:cNvSpPr>
            <a:spLocks noChangeArrowheads="1"/>
          </p:cNvSpPr>
          <p:nvPr/>
        </p:nvSpPr>
        <p:spPr bwMode="auto">
          <a:xfrm>
            <a:off x="1451229" y="3140844"/>
            <a:ext cx="2786062" cy="582211"/>
          </a:xfrm>
          <a:prstGeom prst="rect">
            <a:avLst/>
          </a:prstGeom>
          <a:noFill/>
          <a:ln w="12700">
            <a:noFill/>
            <a:miter lim="800000"/>
            <a:headEnd/>
            <a:tailEnd/>
          </a:ln>
        </p:spPr>
        <p:txBody>
          <a:bodyPr lIns="90488" tIns="44450" rIns="90488" bIns="44450">
            <a:spAutoFit/>
          </a:bodyPr>
          <a:lstStyle/>
          <a:p>
            <a:pPr eaLnBrk="0" hangingPunct="0"/>
            <a:r>
              <a:rPr lang="zh-CN" altLang="en-US" sz="3200" b="1" dirty="0">
                <a:latin typeface="Arial" charset="0"/>
                <a:ea typeface="宋体" pitchFamily="2" charset="-122"/>
              </a:rPr>
              <a:t>中位数</a:t>
            </a:r>
            <a:r>
              <a:rPr lang="zh-CN" altLang="en-US" sz="3200" b="1" dirty="0" smtClean="0">
                <a:latin typeface="Arial" charset="0"/>
                <a:ea typeface="宋体" pitchFamily="2" charset="-122"/>
              </a:rPr>
              <a:t>位置</a:t>
            </a:r>
            <a:r>
              <a:rPr lang="en-US" altLang="zh-CN" sz="3200" b="1" dirty="0" smtClean="0">
                <a:latin typeface="Arial" charset="0"/>
                <a:ea typeface="宋体" pitchFamily="2" charset="-122"/>
              </a:rPr>
              <a:t>=</a:t>
            </a:r>
            <a:endParaRPr lang="zh-CN" altLang="en-US" sz="3200" b="1" dirty="0">
              <a:latin typeface="Arial" charset="0"/>
              <a:ea typeface="宋体" pitchFamily="2" charset="-122"/>
            </a:endParaRPr>
          </a:p>
        </p:txBody>
      </p:sp>
      <p:sp>
        <p:nvSpPr>
          <p:cNvPr id="400402" name="Rectangle 18"/>
          <p:cNvSpPr>
            <a:spLocks noChangeArrowheads="1"/>
          </p:cNvSpPr>
          <p:nvPr/>
        </p:nvSpPr>
        <p:spPr bwMode="auto">
          <a:xfrm>
            <a:off x="4682396" y="3140844"/>
            <a:ext cx="408767" cy="582211"/>
          </a:xfrm>
          <a:prstGeom prst="rect">
            <a:avLst/>
          </a:prstGeom>
          <a:noFill/>
          <a:ln w="12700">
            <a:noFill/>
            <a:miter lim="800000"/>
            <a:headEnd/>
            <a:tailEnd/>
          </a:ln>
          <a:effectLst/>
        </p:spPr>
        <p:txBody>
          <a:bodyPr wrap="none" lIns="90488" tIns="44450" rIns="90488" bIns="44450">
            <a:spAutoFit/>
          </a:bodyPr>
          <a:lstStyle/>
          <a:p>
            <a:pPr eaLnBrk="0" hangingPunct="0">
              <a:defRPr/>
            </a:pPr>
            <a:r>
              <a:rPr lang="en-US" altLang="zh-CN" sz="3200" dirty="0" smtClean="0">
                <a:effectLst>
                  <a:outerShdw blurRad="38100" dist="38100" dir="2700000" algn="tl">
                    <a:srgbClr val="C0C0C0"/>
                  </a:outerShdw>
                </a:effectLst>
                <a:latin typeface="Symbol" pitchFamily="18" charset="2"/>
                <a:ea typeface="宋体" pitchFamily="2" charset="-122"/>
              </a:rPr>
              <a:t>=</a:t>
            </a:r>
            <a:endParaRPr lang="zh-CN" altLang="en-US" sz="3200" dirty="0">
              <a:effectLst>
                <a:outerShdw blurRad="38100" dist="38100" dir="2700000" algn="tl">
                  <a:srgbClr val="C0C0C0"/>
                </a:outerShdw>
              </a:effectLst>
              <a:latin typeface="Symbol" pitchFamily="18" charset="2"/>
              <a:ea typeface="宋体" pitchFamily="2" charset="-122"/>
            </a:endParaRPr>
          </a:p>
        </p:txBody>
      </p:sp>
      <p:sp>
        <p:nvSpPr>
          <p:cNvPr id="121866" name="Rectangle 19"/>
          <p:cNvSpPr>
            <a:spLocks noChangeArrowheads="1"/>
          </p:cNvSpPr>
          <p:nvPr/>
        </p:nvSpPr>
        <p:spPr bwMode="auto">
          <a:xfrm>
            <a:off x="3876611" y="2895142"/>
            <a:ext cx="869950" cy="576263"/>
          </a:xfrm>
          <a:prstGeom prst="rect">
            <a:avLst/>
          </a:prstGeom>
          <a:noFill/>
          <a:ln w="12700">
            <a:noFill/>
            <a:miter lim="800000"/>
            <a:headEnd/>
            <a:tailEnd/>
          </a:ln>
        </p:spPr>
        <p:txBody>
          <a:bodyPr wrap="none" lIns="90488" tIns="44450" rIns="90488" bIns="44450">
            <a:spAutoFit/>
          </a:bodyPr>
          <a:lstStyle/>
          <a:p>
            <a:pPr eaLnBrk="0" hangingPunct="0"/>
            <a:r>
              <a:rPr lang="en-US" altLang="zh-CN" sz="3200" i="1" dirty="0">
                <a:latin typeface="Arial" charset="0"/>
                <a:ea typeface="宋体" pitchFamily="2" charset="-122"/>
              </a:rPr>
              <a:t>n+</a:t>
            </a:r>
            <a:r>
              <a:rPr lang="en-US" altLang="zh-CN" sz="3200" dirty="0">
                <a:latin typeface="Arial" charset="0"/>
                <a:ea typeface="宋体" pitchFamily="2" charset="-122"/>
              </a:rPr>
              <a:t>1</a:t>
            </a:r>
          </a:p>
        </p:txBody>
      </p:sp>
      <p:sp>
        <p:nvSpPr>
          <p:cNvPr id="121867" name="Text Box 20"/>
          <p:cNvSpPr txBox="1">
            <a:spLocks noChangeArrowheads="1"/>
          </p:cNvSpPr>
          <p:nvPr/>
        </p:nvSpPr>
        <p:spPr bwMode="auto">
          <a:xfrm>
            <a:off x="5940425" y="3081705"/>
            <a:ext cx="1657350" cy="641350"/>
          </a:xfrm>
          <a:prstGeom prst="rect">
            <a:avLst/>
          </a:prstGeom>
          <a:noFill/>
          <a:ln w="9525">
            <a:noFill/>
            <a:miter lim="800000"/>
            <a:headEnd/>
            <a:tailEnd/>
          </a:ln>
        </p:spPr>
        <p:txBody>
          <a:bodyPr>
            <a:spAutoFit/>
          </a:bodyPr>
          <a:lstStyle/>
          <a:p>
            <a:pPr>
              <a:spcBef>
                <a:spcPct val="50000"/>
              </a:spcBef>
            </a:pPr>
            <a:r>
              <a:rPr lang="en-US" altLang="zh-CN" sz="3600" b="1" dirty="0" smtClean="0">
                <a:ea typeface="宋体" pitchFamily="2" charset="-122"/>
              </a:rPr>
              <a:t>=3.5</a:t>
            </a:r>
            <a:endParaRPr lang="en-US" altLang="zh-CN" sz="3600" b="1" dirty="0">
              <a:ea typeface="宋体" pitchFamily="2" charset="-122"/>
            </a:endParaRPr>
          </a:p>
        </p:txBody>
      </p:sp>
      <p:sp>
        <p:nvSpPr>
          <p:cNvPr id="121868" name="Text Box 21"/>
          <p:cNvSpPr txBox="1">
            <a:spLocks noChangeArrowheads="1"/>
          </p:cNvSpPr>
          <p:nvPr/>
        </p:nvSpPr>
        <p:spPr bwMode="auto">
          <a:xfrm>
            <a:off x="4107721" y="3370544"/>
            <a:ext cx="392842" cy="584775"/>
          </a:xfrm>
          <a:prstGeom prst="rect">
            <a:avLst/>
          </a:prstGeom>
          <a:noFill/>
          <a:ln w="9525">
            <a:noFill/>
            <a:miter lim="800000"/>
            <a:headEnd/>
            <a:tailEnd/>
          </a:ln>
        </p:spPr>
        <p:txBody>
          <a:bodyPr wrap="square">
            <a:spAutoFit/>
          </a:bodyPr>
          <a:lstStyle/>
          <a:p>
            <a:pPr>
              <a:spcBef>
                <a:spcPct val="50000"/>
              </a:spcBef>
            </a:pPr>
            <a:r>
              <a:rPr lang="en-US" altLang="zh-CN" sz="3200" b="1" dirty="0">
                <a:ea typeface="宋体" pitchFamily="2" charset="-122"/>
              </a:rPr>
              <a:t>2</a:t>
            </a:r>
          </a:p>
        </p:txBody>
      </p:sp>
      <p:sp>
        <p:nvSpPr>
          <p:cNvPr id="121869" name="Text Box 22"/>
          <p:cNvSpPr txBox="1">
            <a:spLocks noChangeArrowheads="1"/>
          </p:cNvSpPr>
          <p:nvPr/>
        </p:nvSpPr>
        <p:spPr bwMode="auto">
          <a:xfrm>
            <a:off x="5291138" y="3356744"/>
            <a:ext cx="433387" cy="579438"/>
          </a:xfrm>
          <a:prstGeom prst="rect">
            <a:avLst/>
          </a:prstGeom>
          <a:noFill/>
          <a:ln w="9525">
            <a:noFill/>
            <a:miter lim="800000"/>
            <a:headEnd/>
            <a:tailEnd/>
          </a:ln>
        </p:spPr>
        <p:txBody>
          <a:bodyPr>
            <a:spAutoFit/>
          </a:bodyPr>
          <a:lstStyle/>
          <a:p>
            <a:pPr>
              <a:spcBef>
                <a:spcPct val="50000"/>
              </a:spcBef>
            </a:pPr>
            <a:r>
              <a:rPr lang="en-US" altLang="zh-CN" sz="3200" b="1">
                <a:ea typeface="宋体" pitchFamily="2" charset="-122"/>
              </a:rPr>
              <a:t>2</a:t>
            </a:r>
          </a:p>
        </p:txBody>
      </p:sp>
      <p:sp>
        <p:nvSpPr>
          <p:cNvPr id="121870" name="Rectangle 23"/>
          <p:cNvSpPr>
            <a:spLocks noChangeArrowheads="1"/>
          </p:cNvSpPr>
          <p:nvPr/>
        </p:nvSpPr>
        <p:spPr bwMode="auto">
          <a:xfrm>
            <a:off x="5070475" y="2924944"/>
            <a:ext cx="869950" cy="576263"/>
          </a:xfrm>
          <a:prstGeom prst="rect">
            <a:avLst/>
          </a:prstGeom>
          <a:noFill/>
          <a:ln w="12700">
            <a:noFill/>
            <a:miter lim="800000"/>
            <a:headEnd/>
            <a:tailEnd/>
          </a:ln>
        </p:spPr>
        <p:txBody>
          <a:bodyPr wrap="none" lIns="90488" tIns="44450" rIns="90488" bIns="44450">
            <a:spAutoFit/>
          </a:bodyPr>
          <a:lstStyle/>
          <a:p>
            <a:pPr eaLnBrk="0" hangingPunct="0"/>
            <a:r>
              <a:rPr lang="en-US" altLang="zh-CN" sz="3200" dirty="0">
                <a:latin typeface="Arial" charset="0"/>
                <a:ea typeface="宋体" pitchFamily="2" charset="-122"/>
              </a:rPr>
              <a:t>6+1</a:t>
            </a:r>
          </a:p>
        </p:txBody>
      </p:sp>
      <p:sp>
        <p:nvSpPr>
          <p:cNvPr id="400408" name="Rectangle 24"/>
          <p:cNvSpPr>
            <a:spLocks noChangeArrowheads="1"/>
          </p:cNvSpPr>
          <p:nvPr/>
        </p:nvSpPr>
        <p:spPr bwMode="auto">
          <a:xfrm>
            <a:off x="737393" y="4721994"/>
            <a:ext cx="7380287" cy="1717393"/>
          </a:xfrm>
          <a:prstGeom prst="rect">
            <a:avLst/>
          </a:prstGeom>
          <a:noFill/>
          <a:ln w="9525">
            <a:solidFill>
              <a:srgbClr val="6565FF"/>
            </a:solidFill>
            <a:miter lim="800000"/>
            <a:headEnd/>
            <a:tailEnd/>
          </a:ln>
        </p:spPr>
        <p:txBody>
          <a:bodyPr>
            <a:spAutoFit/>
          </a:bodyPr>
          <a:lstStyle/>
          <a:p>
            <a:pPr>
              <a:lnSpc>
                <a:spcPct val="110000"/>
              </a:lnSpc>
              <a:buSzPct val="90000"/>
              <a:buFontTx/>
              <a:buBlip>
                <a:blip r:embed="rId3"/>
              </a:buBlip>
            </a:pPr>
            <a:r>
              <a:rPr lang="zh-CN" altLang="en-US" sz="3200" b="1" dirty="0">
                <a:solidFill>
                  <a:srgbClr val="C56B9E"/>
                </a:solidFill>
              </a:rPr>
              <a:t>特性：</a:t>
            </a:r>
            <a:r>
              <a:rPr lang="zh-CN" altLang="en-US" sz="3200" b="1" dirty="0">
                <a:solidFill>
                  <a:srgbClr val="000000"/>
                </a:solidFill>
              </a:rPr>
              <a:t>中位数是位置代表值，不受极端值的</a:t>
            </a:r>
            <a:r>
              <a:rPr lang="zh-CN" altLang="en-US" sz="3200" b="1" dirty="0" smtClean="0">
                <a:solidFill>
                  <a:srgbClr val="000000"/>
                </a:solidFill>
              </a:rPr>
              <a:t>影响；具有</a:t>
            </a:r>
            <a:r>
              <a:rPr lang="zh-CN" altLang="en-US" sz="3200" b="1" dirty="0">
                <a:solidFill>
                  <a:srgbClr val="000000"/>
                </a:solidFill>
              </a:rPr>
              <a:t>较高的</a:t>
            </a:r>
            <a:r>
              <a:rPr lang="zh-CN" altLang="en-US" sz="3200" b="1" dirty="0" smtClean="0">
                <a:solidFill>
                  <a:srgbClr val="000000"/>
                </a:solidFill>
              </a:rPr>
              <a:t>稳健性；可用于定序数据和定量数据。</a:t>
            </a:r>
            <a:endParaRPr lang="zh-CN" altLang="en-US" sz="3200" b="1" dirty="0">
              <a:solidFill>
                <a:srgbClr val="000000"/>
              </a:solidFill>
            </a:endParaRPr>
          </a:p>
        </p:txBody>
      </p:sp>
      <p:sp>
        <p:nvSpPr>
          <p:cNvPr id="16" name="灯片编号占位符 15"/>
          <p:cNvSpPr>
            <a:spLocks noGrp="1"/>
          </p:cNvSpPr>
          <p:nvPr>
            <p:ph type="sldNum" sz="quarter" idx="12"/>
          </p:nvPr>
        </p:nvSpPr>
        <p:spPr/>
        <p:txBody>
          <a:bodyPr/>
          <a:lstStyle/>
          <a:p>
            <a:pPr>
              <a:defRPr/>
            </a:pPr>
            <a:fld id="{62FC49CA-8014-4DA2-ABEB-AF96863EC77D}" type="slidenum">
              <a:rPr lang="en-US" altLang="zh-CN" smtClean="0"/>
              <a:pPr>
                <a:defRPr/>
              </a:pPr>
              <a:t>83</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0398"/>
                                        </p:tgtEl>
                                        <p:attrNameLst>
                                          <p:attrName>style.visibility</p:attrName>
                                        </p:attrNameLst>
                                      </p:cBhvr>
                                      <p:to>
                                        <p:strVal val="visible"/>
                                      </p:to>
                                    </p:set>
                                    <p:anim calcmode="lin" valueType="num">
                                      <p:cBhvr additive="base">
                                        <p:cTn id="7" dur="500" fill="hold"/>
                                        <p:tgtEl>
                                          <p:spTgt spid="400398"/>
                                        </p:tgtEl>
                                        <p:attrNameLst>
                                          <p:attrName>ppt_x</p:attrName>
                                        </p:attrNameLst>
                                      </p:cBhvr>
                                      <p:tavLst>
                                        <p:tav tm="0">
                                          <p:val>
                                            <p:strVal val="#ppt_x"/>
                                          </p:val>
                                        </p:tav>
                                        <p:tav tm="100000">
                                          <p:val>
                                            <p:strVal val="#ppt_x"/>
                                          </p:val>
                                        </p:tav>
                                      </p:tavLst>
                                    </p:anim>
                                    <p:anim calcmode="lin" valueType="num">
                                      <p:cBhvr additive="base">
                                        <p:cTn id="8" dur="500" fill="hold"/>
                                        <p:tgtEl>
                                          <p:spTgt spid="4003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400408"/>
                                        </p:tgtEl>
                                        <p:attrNameLst>
                                          <p:attrName>style.visibility</p:attrName>
                                        </p:attrNameLst>
                                      </p:cBhvr>
                                      <p:to>
                                        <p:strVal val="visible"/>
                                      </p:to>
                                    </p:set>
                                    <p:animEffect transition="in" filter="diamond(in)">
                                      <p:cBhvr>
                                        <p:cTn id="13" dur="2000"/>
                                        <p:tgtEl>
                                          <p:spTgt spid="400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98" grpId="0"/>
      <p:bldP spid="40040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84</a:t>
            </a:fld>
            <a:endParaRPr lang="en-US" altLang="zh-CN" dirty="0"/>
          </a:p>
        </p:txBody>
      </p:sp>
      <p:sp>
        <p:nvSpPr>
          <p:cNvPr id="13" name="Rectangle 2"/>
          <p:cNvSpPr txBox="1">
            <a:spLocks noChangeArrowheads="1"/>
          </p:cNvSpPr>
          <p:nvPr/>
        </p:nvSpPr>
        <p:spPr bwMode="auto">
          <a:xfrm>
            <a:off x="251520" y="848877"/>
            <a:ext cx="8410424" cy="1143000"/>
          </a:xfrm>
          <a:prstGeom prst="rect">
            <a:avLst/>
          </a:prstGeom>
          <a:noFill/>
          <a:ln w="9525">
            <a:noFill/>
            <a:miter lim="800000"/>
            <a:headEnd/>
            <a:tailEnd/>
          </a:ln>
        </p:spPr>
        <p:txBody>
          <a:bodyPr vert="horz" wrap="square" lIns="90488" tIns="44450" rIns="90488" bIns="44450" numCol="1" anchor="ctr" anchorCtr="1" compatLnSpc="1">
            <a:prstTxWarp prst="textNoShape">
              <a:avLst/>
            </a:prstTxWarp>
          </a:bodyPr>
          <a:lstStyle>
            <a:lvl1pPr algn="ctr" rtl="0" eaLnBrk="0" fontAlgn="base" hangingPunct="0">
              <a:spcBef>
                <a:spcPct val="0"/>
              </a:spcBef>
              <a:spcAft>
                <a:spcPct val="0"/>
              </a:spcAft>
              <a:defRPr kumimoji="1" sz="4400" b="1">
                <a:solidFill>
                  <a:srgbClr val="3333FF"/>
                </a:solidFill>
                <a:latin typeface="+mj-lt"/>
                <a:ea typeface="+mj-ea"/>
                <a:cs typeface="+mj-cs"/>
              </a:defRPr>
            </a:lvl1pPr>
            <a:lvl2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5pPr>
            <a:lvl6pPr marL="457200" algn="ctr" rtl="0" fontAlgn="base">
              <a:spcBef>
                <a:spcPct val="0"/>
              </a:spcBef>
              <a:spcAft>
                <a:spcPct val="0"/>
              </a:spcAft>
              <a:defRPr kumimoji="1" sz="4400" b="1">
                <a:solidFill>
                  <a:srgbClr val="3333FF"/>
                </a:solidFill>
                <a:latin typeface="Tahoma" pitchFamily="34" charset="0"/>
                <a:ea typeface="宋体" pitchFamily="2" charset="-122"/>
              </a:defRPr>
            </a:lvl6pPr>
            <a:lvl7pPr marL="914400" algn="ctr" rtl="0" fontAlgn="base">
              <a:spcBef>
                <a:spcPct val="0"/>
              </a:spcBef>
              <a:spcAft>
                <a:spcPct val="0"/>
              </a:spcAft>
              <a:defRPr kumimoji="1" sz="4400" b="1">
                <a:solidFill>
                  <a:srgbClr val="3333FF"/>
                </a:solidFill>
                <a:latin typeface="Tahoma" pitchFamily="34" charset="0"/>
                <a:ea typeface="宋体" pitchFamily="2" charset="-122"/>
              </a:defRPr>
            </a:lvl7pPr>
            <a:lvl8pPr marL="1371600" algn="ctr" rtl="0" fontAlgn="base">
              <a:spcBef>
                <a:spcPct val="0"/>
              </a:spcBef>
              <a:spcAft>
                <a:spcPct val="0"/>
              </a:spcAft>
              <a:defRPr kumimoji="1" sz="4400" b="1">
                <a:solidFill>
                  <a:srgbClr val="3333FF"/>
                </a:solidFill>
                <a:latin typeface="Tahoma" pitchFamily="34" charset="0"/>
                <a:ea typeface="宋体" pitchFamily="2" charset="-122"/>
              </a:defRPr>
            </a:lvl8pPr>
            <a:lvl9pPr marL="1828800" algn="ctr" rtl="0" fontAlgn="base">
              <a:spcBef>
                <a:spcPct val="0"/>
              </a:spcBef>
              <a:spcAft>
                <a:spcPct val="0"/>
              </a:spcAft>
              <a:defRPr kumimoji="1" sz="4400" b="1">
                <a:solidFill>
                  <a:srgbClr val="3333FF"/>
                </a:solidFill>
                <a:latin typeface="Tahoma" pitchFamily="34" charset="0"/>
                <a:ea typeface="宋体" pitchFamily="2" charset="-122"/>
              </a:defRPr>
            </a:lvl9pPr>
          </a:lstStyle>
          <a:p>
            <a:pPr eaLnBrk="1" hangingPunct="1"/>
            <a:r>
              <a:rPr lang="zh-CN" altLang="en-US" sz="2800" kern="0" dirty="0" smtClean="0">
                <a:solidFill>
                  <a:srgbClr val="1313FF"/>
                </a:solidFill>
              </a:rPr>
              <a:t>   由单项数列确定中位数时，需先做次数累计（向上或向下），中间位置所在组的变量值即是。</a:t>
            </a:r>
            <a:r>
              <a:rPr lang="zh-CN" altLang="en-US" sz="2800" kern="0" dirty="0" smtClean="0">
                <a:solidFill>
                  <a:srgbClr val="000000"/>
                </a:solidFill>
              </a:rPr>
              <a:t>如：</a:t>
            </a:r>
          </a:p>
        </p:txBody>
      </p:sp>
      <p:pic>
        <p:nvPicPr>
          <p:cNvPr id="4" name="图片 3"/>
          <p:cNvPicPr>
            <a:picLocks noChangeAspect="1"/>
          </p:cNvPicPr>
          <p:nvPr/>
        </p:nvPicPr>
        <p:blipFill>
          <a:blip r:embed="rId3"/>
          <a:stretch>
            <a:fillRect/>
          </a:stretch>
        </p:blipFill>
        <p:spPr>
          <a:xfrm>
            <a:off x="1216372" y="2279927"/>
            <a:ext cx="6480720" cy="4028798"/>
          </a:xfrm>
          <a:prstGeom prst="rect">
            <a:avLst/>
          </a:prstGeom>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5"/>
          <p:cNvSpPr>
            <a:spLocks noChangeArrowheads="1"/>
          </p:cNvSpPr>
          <p:nvPr/>
        </p:nvSpPr>
        <p:spPr bwMode="auto">
          <a:xfrm>
            <a:off x="1258888" y="1484313"/>
            <a:ext cx="6913562" cy="1630362"/>
          </a:xfrm>
          <a:prstGeom prst="rect">
            <a:avLst/>
          </a:prstGeom>
          <a:noFill/>
          <a:ln w="9525">
            <a:noFill/>
            <a:miter lim="800000"/>
            <a:headEnd/>
            <a:tailEnd/>
          </a:ln>
        </p:spPr>
        <p:txBody>
          <a:bodyPr>
            <a:spAutoFit/>
          </a:bodyPr>
          <a:lstStyle/>
          <a:p>
            <a:pPr algn="just">
              <a:lnSpc>
                <a:spcPct val="120000"/>
              </a:lnSpc>
              <a:buFontTx/>
              <a:buChar char="•"/>
            </a:pPr>
            <a:r>
              <a:rPr lang="zh-CN" altLang="en-US" sz="2800" b="1">
                <a:solidFill>
                  <a:srgbClr val="000000"/>
                </a:solidFill>
                <a:latin typeface="宋体" pitchFamily="2" charset="-122"/>
                <a:ea typeface="宋体" pitchFamily="2" charset="-122"/>
              </a:rPr>
              <a:t>计算向上（下）累计次数；</a:t>
            </a:r>
          </a:p>
          <a:p>
            <a:pPr algn="just">
              <a:lnSpc>
                <a:spcPct val="120000"/>
              </a:lnSpc>
              <a:buFontTx/>
              <a:buChar char="•"/>
            </a:pPr>
            <a:r>
              <a:rPr lang="zh-CN" altLang="en-US" sz="2800" b="1">
                <a:solidFill>
                  <a:srgbClr val="000000"/>
                </a:solidFill>
                <a:latin typeface="宋体" pitchFamily="2" charset="-122"/>
                <a:ea typeface="宋体" pitchFamily="2" charset="-122"/>
              </a:rPr>
              <a:t>确定中位数的位置 </a:t>
            </a:r>
            <a:r>
              <a:rPr lang="en-US" altLang="zh-CN" sz="2800" b="1">
                <a:solidFill>
                  <a:srgbClr val="000000"/>
                </a:solidFill>
                <a:latin typeface="宋体" pitchFamily="2" charset="-122"/>
                <a:ea typeface="宋体" pitchFamily="2" charset="-122"/>
              </a:rPr>
              <a:t>k=N/2 </a:t>
            </a:r>
            <a:r>
              <a:rPr lang="zh-CN" altLang="en-US" sz="2800" b="1">
                <a:solidFill>
                  <a:srgbClr val="000000"/>
                </a:solidFill>
                <a:latin typeface="宋体" pitchFamily="2" charset="-122"/>
                <a:ea typeface="宋体" pitchFamily="2" charset="-122"/>
              </a:rPr>
              <a:t>及其所在组；</a:t>
            </a:r>
          </a:p>
          <a:p>
            <a:pPr algn="just">
              <a:lnSpc>
                <a:spcPct val="120000"/>
              </a:lnSpc>
              <a:buFontTx/>
              <a:buChar char="•"/>
            </a:pPr>
            <a:r>
              <a:rPr lang="zh-CN" altLang="en-US" sz="2800" b="1">
                <a:solidFill>
                  <a:srgbClr val="000000"/>
                </a:solidFill>
                <a:latin typeface="宋体" pitchFamily="2" charset="-122"/>
                <a:ea typeface="宋体" pitchFamily="2" charset="-122"/>
              </a:rPr>
              <a:t>用公式确定中位数： </a:t>
            </a:r>
          </a:p>
        </p:txBody>
      </p:sp>
      <p:sp>
        <p:nvSpPr>
          <p:cNvPr id="31749" name="Rectangle 7"/>
          <p:cNvSpPr>
            <a:spLocks noChangeArrowheads="1"/>
          </p:cNvSpPr>
          <p:nvPr/>
        </p:nvSpPr>
        <p:spPr bwMode="auto">
          <a:xfrm>
            <a:off x="4090988" y="3009900"/>
            <a:ext cx="9144000" cy="0"/>
          </a:xfrm>
          <a:prstGeom prst="rect">
            <a:avLst/>
          </a:prstGeom>
          <a:noFill/>
          <a:ln w="9525">
            <a:noFill/>
            <a:miter lim="800000"/>
            <a:headEnd/>
            <a:tailEnd/>
          </a:ln>
        </p:spPr>
        <p:txBody>
          <a:bodyPr>
            <a:spAutoFit/>
          </a:bodyPr>
          <a:lstStyle/>
          <a:p>
            <a:endParaRPr lang="zh-CN" altLang="en-US"/>
          </a:p>
        </p:txBody>
      </p:sp>
      <p:sp>
        <p:nvSpPr>
          <p:cNvPr id="131081" name="Text Box 9"/>
          <p:cNvSpPr txBox="1">
            <a:spLocks noChangeArrowheads="1"/>
          </p:cNvSpPr>
          <p:nvPr/>
        </p:nvSpPr>
        <p:spPr bwMode="auto">
          <a:xfrm>
            <a:off x="582613" y="5589588"/>
            <a:ext cx="8382000" cy="549275"/>
          </a:xfrm>
          <a:prstGeom prst="rect">
            <a:avLst/>
          </a:prstGeom>
          <a:noFill/>
          <a:ln w="12700">
            <a:noFill/>
            <a:miter lim="800000"/>
            <a:headEnd/>
            <a:tailEnd/>
          </a:ln>
          <a:effectLst/>
        </p:spPr>
        <p:txBody>
          <a:bodyPr>
            <a:spAutoFit/>
          </a:bodyPr>
          <a:lstStyle/>
          <a:p>
            <a:pPr marL="457200" indent="-457200" eaLnBrk="0" hangingPunct="0">
              <a:defRPr/>
            </a:pPr>
            <a:r>
              <a:rPr lang="zh-CN" altLang="en-US" sz="3000" b="1" dirty="0">
                <a:solidFill>
                  <a:srgbClr val="000000"/>
                </a:solidFill>
                <a:effectLst>
                  <a:outerShdw blurRad="38100" dist="38100" dir="2700000" algn="tl">
                    <a:srgbClr val="C0C0C0"/>
                  </a:outerShdw>
                </a:effectLst>
                <a:latin typeface="宋体" pitchFamily="2" charset="-122"/>
                <a:ea typeface="宋体" pitchFamily="2" charset="-122"/>
              </a:rPr>
              <a:t>该公式</a:t>
            </a:r>
            <a:r>
              <a:rPr lang="zh-CN" altLang="en-US" sz="3000" b="1" dirty="0">
                <a:solidFill>
                  <a:srgbClr val="F040F0"/>
                </a:solidFill>
                <a:effectLst>
                  <a:outerShdw blurRad="38100" dist="38100" dir="2700000" algn="tl">
                    <a:srgbClr val="C0C0C0"/>
                  </a:outerShdw>
                </a:effectLst>
                <a:latin typeface="宋体" pitchFamily="2" charset="-122"/>
                <a:ea typeface="宋体" pitchFamily="2" charset="-122"/>
              </a:rPr>
              <a:t>假定</a:t>
            </a:r>
            <a:r>
              <a:rPr lang="zh-CN" altLang="en-US" sz="3000" b="1" dirty="0">
                <a:solidFill>
                  <a:srgbClr val="000000"/>
                </a:solidFill>
                <a:effectLst>
                  <a:outerShdw blurRad="38100" dist="38100" dir="2700000" algn="tl">
                    <a:srgbClr val="C0C0C0"/>
                  </a:outerShdw>
                </a:effectLst>
                <a:latin typeface="宋体" pitchFamily="2" charset="-122"/>
                <a:ea typeface="宋体" pitchFamily="2" charset="-122"/>
              </a:rPr>
              <a:t>中位数组的频数在该组内均匀分布</a:t>
            </a:r>
            <a:endParaRPr lang="zh-CN" altLang="en-US" sz="3000" b="1" dirty="0">
              <a:solidFill>
                <a:srgbClr val="000000"/>
              </a:solidFill>
              <a:latin typeface="宋体" pitchFamily="2" charset="-122"/>
              <a:ea typeface="宋体" pitchFamily="2" charset="-122"/>
            </a:endParaRPr>
          </a:p>
        </p:txBody>
      </p:sp>
      <p:graphicFrame>
        <p:nvGraphicFramePr>
          <p:cNvPr id="131082" name="Object 10"/>
          <p:cNvGraphicFramePr>
            <a:graphicFrameLocks noGrp="1" noChangeAspect="1"/>
          </p:cNvGraphicFramePr>
          <p:nvPr>
            <p:ph/>
            <p:extLst>
              <p:ext uri="{D42A27DB-BD31-4B8C-83A1-F6EECF244321}">
                <p14:modId xmlns:p14="http://schemas.microsoft.com/office/powerpoint/2010/main" val="2018404139"/>
              </p:ext>
            </p:extLst>
          </p:nvPr>
        </p:nvGraphicFramePr>
        <p:xfrm>
          <a:off x="2125837" y="3416627"/>
          <a:ext cx="6046613" cy="1560513"/>
        </p:xfrm>
        <a:graphic>
          <a:graphicData uri="http://schemas.openxmlformats.org/presentationml/2006/ole">
            <mc:AlternateContent xmlns:mc="http://schemas.openxmlformats.org/markup-compatibility/2006">
              <mc:Choice xmlns:v="urn:schemas-microsoft-com:vml" Requires="v">
                <p:oleObj spid="_x0000_s31925" name="Equation" r:id="rId3" imgW="1473120" imgH="431640" progId="Equation.DSMT4">
                  <p:embed/>
                </p:oleObj>
              </mc:Choice>
              <mc:Fallback>
                <p:oleObj name="Equation" r:id="rId3" imgW="1473120" imgH="43164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5837" y="3416627"/>
                        <a:ext cx="6046613" cy="1560513"/>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1" name="Rectangle 12"/>
          <p:cNvSpPr>
            <a:spLocks noGrp="1" noChangeArrowheads="1"/>
          </p:cNvSpPr>
          <p:nvPr>
            <p:ph type="title" idx="4294967295"/>
          </p:nvPr>
        </p:nvSpPr>
        <p:spPr>
          <a:xfrm>
            <a:off x="902853" y="313693"/>
            <a:ext cx="7772400" cy="990600"/>
          </a:xfrm>
        </p:spPr>
        <p:txBody>
          <a:bodyPr/>
          <a:lstStyle/>
          <a:p>
            <a:pPr algn="l" eaLnBrk="1" hangingPunct="1"/>
            <a:r>
              <a:rPr lang="zh-CN" altLang="en-US" dirty="0" smtClean="0">
                <a:solidFill>
                  <a:srgbClr val="1313FF"/>
                </a:solidFill>
              </a:rPr>
              <a:t>在组距数列中确定中位数</a:t>
            </a:r>
          </a:p>
        </p:txBody>
      </p:sp>
      <p:sp>
        <p:nvSpPr>
          <p:cNvPr id="8" name="TextBox 7"/>
          <p:cNvSpPr txBox="1"/>
          <p:nvPr/>
        </p:nvSpPr>
        <p:spPr>
          <a:xfrm>
            <a:off x="7803226" y="3801709"/>
            <a:ext cx="360040" cy="790347"/>
          </a:xfrm>
          <a:prstGeom prst="rect">
            <a:avLst/>
          </a:prstGeom>
          <a:solidFill>
            <a:schemeClr val="bg1"/>
          </a:solidFill>
        </p:spPr>
        <p:txBody>
          <a:bodyPr wrap="square" lIns="0" rIns="0" bIns="36000" rtlCol="0">
            <a:noAutofit/>
          </a:bodyPr>
          <a:lstStyle/>
          <a:p>
            <a:r>
              <a:rPr lang="en-US" altLang="zh-CN" sz="3600" b="1" i="1" dirty="0" smtClean="0">
                <a:solidFill>
                  <a:srgbClr val="00B050"/>
                </a:solidFill>
              </a:rPr>
              <a:t>d</a:t>
            </a:r>
            <a:endParaRPr lang="zh-CN" altLang="en-US" sz="3600" b="1" i="1" dirty="0">
              <a:solidFill>
                <a:srgbClr val="00B050"/>
              </a:solidFill>
            </a:endParaRPr>
          </a:p>
        </p:txBody>
      </p:sp>
      <p:sp>
        <p:nvSpPr>
          <p:cNvPr id="2" name="矩形 1"/>
          <p:cNvSpPr/>
          <p:nvPr/>
        </p:nvSpPr>
        <p:spPr>
          <a:xfrm>
            <a:off x="251520" y="3899635"/>
            <a:ext cx="2040943" cy="461665"/>
          </a:xfrm>
          <a:prstGeom prst="rect">
            <a:avLst/>
          </a:prstGeom>
        </p:spPr>
        <p:txBody>
          <a:bodyPr wrap="none">
            <a:spAutoFit/>
          </a:bodyPr>
          <a:lstStyle/>
          <a:p>
            <a:r>
              <a:rPr lang="zh-CN" altLang="en-US" b="1" dirty="0">
                <a:solidFill>
                  <a:srgbClr val="545472"/>
                </a:solidFill>
                <a:effectLst>
                  <a:outerShdw blurRad="38100" dist="38100" dir="2700000" algn="tl">
                    <a:srgbClr val="C0C0C0"/>
                  </a:outerShdw>
                </a:effectLst>
                <a:latin typeface="宋体" pitchFamily="2" charset="-122"/>
                <a:ea typeface="宋体" pitchFamily="2" charset="-122"/>
              </a:rPr>
              <a:t>（下限公式</a:t>
            </a:r>
            <a:r>
              <a:rPr lang="zh-CN" altLang="en-US" b="1" dirty="0" smtClean="0">
                <a:solidFill>
                  <a:srgbClr val="545472"/>
                </a:solidFill>
                <a:effectLst>
                  <a:outerShdw blurRad="38100" dist="38100" dir="2700000" algn="tl">
                    <a:srgbClr val="C0C0C0"/>
                  </a:outerShdw>
                </a:effectLst>
                <a:latin typeface="宋体" pitchFamily="2" charset="-122"/>
                <a:ea typeface="宋体" pitchFamily="2" charset="-122"/>
              </a:rPr>
              <a:t>）</a:t>
            </a:r>
            <a:endParaRPr lang="zh-CN" altLang="en-US" sz="2800" dirty="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5" name="Rectangle 3"/>
          <p:cNvSpPr>
            <a:spLocks noChangeArrowheads="1"/>
          </p:cNvSpPr>
          <p:nvPr/>
        </p:nvSpPr>
        <p:spPr bwMode="auto">
          <a:xfrm>
            <a:off x="395536" y="1052736"/>
            <a:ext cx="8748464" cy="4703763"/>
          </a:xfrm>
          <a:prstGeom prst="rect">
            <a:avLst/>
          </a:prstGeom>
          <a:noFill/>
          <a:ln w="9525">
            <a:noFill/>
            <a:miter lim="800000"/>
            <a:headEnd/>
            <a:tailEnd/>
          </a:ln>
        </p:spPr>
        <p:txBody>
          <a:bodyPr wrap="square">
            <a:spAutoFit/>
          </a:bodyPr>
          <a:lstStyle/>
          <a:p>
            <a:pPr algn="just">
              <a:lnSpc>
                <a:spcPct val="120000"/>
              </a:lnSpc>
              <a:tabLst>
                <a:tab pos="1028700" algn="l"/>
              </a:tabLst>
            </a:pPr>
            <a:r>
              <a:rPr lang="zh-CN" altLang="en-US" sz="3600" b="1" dirty="0">
                <a:ea typeface="宋体" pitchFamily="2" charset="-122"/>
              </a:rPr>
              <a:t>其中：</a:t>
            </a:r>
          </a:p>
          <a:p>
            <a:pPr indent="358775" algn="just">
              <a:lnSpc>
                <a:spcPct val="120000"/>
              </a:lnSpc>
              <a:tabLst>
                <a:tab pos="1028700" algn="l"/>
              </a:tabLst>
            </a:pPr>
            <a:r>
              <a:rPr lang="en-US" altLang="zh-CN" sz="3600" b="1" i="1" dirty="0" smtClean="0">
                <a:solidFill>
                  <a:srgbClr val="006600"/>
                </a:solidFill>
                <a:ea typeface="宋体" pitchFamily="2" charset="-122"/>
              </a:rPr>
              <a:t>L   </a:t>
            </a:r>
            <a:r>
              <a:rPr lang="zh-CN" altLang="en-US" sz="3600" b="1" dirty="0" smtClean="0">
                <a:ea typeface="宋体" pitchFamily="2" charset="-122"/>
              </a:rPr>
              <a:t>为</a:t>
            </a:r>
            <a:r>
              <a:rPr lang="zh-CN" altLang="en-US" sz="3600" b="1" dirty="0">
                <a:ea typeface="宋体" pitchFamily="2" charset="-122"/>
              </a:rPr>
              <a:t>中位数组的下限；</a:t>
            </a:r>
          </a:p>
          <a:p>
            <a:pPr indent="917575" algn="just" eaLnBrk="0" hangingPunct="0">
              <a:lnSpc>
                <a:spcPct val="120000"/>
              </a:lnSpc>
              <a:tabLst>
                <a:tab pos="1028700" algn="l"/>
              </a:tabLst>
            </a:pPr>
            <a:r>
              <a:rPr lang="zh-CN" altLang="en-US" sz="3600" b="1" dirty="0">
                <a:ea typeface="宋体" pitchFamily="2" charset="-122"/>
              </a:rPr>
              <a:t>为总次数；</a:t>
            </a:r>
          </a:p>
          <a:p>
            <a:pPr indent="917575" algn="just" eaLnBrk="0" hangingPunct="0">
              <a:lnSpc>
                <a:spcPct val="120000"/>
              </a:lnSpc>
              <a:tabLst>
                <a:tab pos="1028700" algn="l"/>
              </a:tabLst>
            </a:pPr>
            <a:r>
              <a:rPr lang="zh-CN" altLang="en-US" sz="3600" b="1" dirty="0">
                <a:ea typeface="宋体" pitchFamily="2" charset="-122"/>
              </a:rPr>
              <a:t>为中位数组前一组的向上累计次数；</a:t>
            </a:r>
          </a:p>
          <a:p>
            <a:pPr indent="917575" algn="just" eaLnBrk="0" hangingPunct="0">
              <a:lnSpc>
                <a:spcPct val="120000"/>
              </a:lnSpc>
              <a:tabLst>
                <a:tab pos="1028700" algn="l"/>
              </a:tabLst>
            </a:pPr>
            <a:r>
              <a:rPr lang="zh-CN" altLang="en-US" sz="3600" b="1" dirty="0">
                <a:ea typeface="宋体" pitchFamily="2" charset="-122"/>
              </a:rPr>
              <a:t>为中位数组的次数；</a:t>
            </a:r>
          </a:p>
          <a:p>
            <a:pPr indent="266700" algn="just" eaLnBrk="0" hangingPunct="0">
              <a:lnSpc>
                <a:spcPct val="120000"/>
              </a:lnSpc>
              <a:tabLst>
                <a:tab pos="1028700" algn="l"/>
              </a:tabLst>
            </a:pPr>
            <a:r>
              <a:rPr lang="en-US" altLang="zh-CN" sz="3600" b="1" i="1" dirty="0" smtClean="0">
                <a:solidFill>
                  <a:srgbClr val="006600"/>
                </a:solidFill>
                <a:ea typeface="宋体" pitchFamily="2" charset="-122"/>
              </a:rPr>
              <a:t> d   </a:t>
            </a:r>
            <a:r>
              <a:rPr lang="zh-CN" altLang="en-US" sz="3600" b="1" dirty="0" smtClean="0">
                <a:ea typeface="宋体" pitchFamily="2" charset="-122"/>
              </a:rPr>
              <a:t>为</a:t>
            </a:r>
            <a:r>
              <a:rPr lang="zh-CN" altLang="en-US" sz="3600" b="1" dirty="0">
                <a:ea typeface="宋体" pitchFamily="2" charset="-122"/>
              </a:rPr>
              <a:t>中位数组的组距。</a:t>
            </a:r>
          </a:p>
          <a:p>
            <a:pPr indent="917575" eaLnBrk="0" hangingPunct="0">
              <a:lnSpc>
                <a:spcPct val="120000"/>
              </a:lnSpc>
              <a:tabLst>
                <a:tab pos="1028700" algn="l"/>
              </a:tabLst>
            </a:pPr>
            <a:endParaRPr lang="en-US" altLang="zh-CN" sz="3600" b="1" dirty="0">
              <a:ea typeface="宋体" pitchFamily="2" charset="-122"/>
            </a:endParaRPr>
          </a:p>
        </p:txBody>
      </p:sp>
      <p:graphicFrame>
        <p:nvGraphicFramePr>
          <p:cNvPr id="32771" name="Object 5"/>
          <p:cNvGraphicFramePr>
            <a:graphicFrameLocks noChangeAspect="1"/>
          </p:cNvGraphicFramePr>
          <p:nvPr/>
        </p:nvGraphicFramePr>
        <p:xfrm>
          <a:off x="755576" y="2564904"/>
          <a:ext cx="444500" cy="393700"/>
        </p:xfrm>
        <a:graphic>
          <a:graphicData uri="http://schemas.openxmlformats.org/presentationml/2006/ole">
            <mc:AlternateContent xmlns:mc="http://schemas.openxmlformats.org/markup-compatibility/2006">
              <mc:Choice xmlns:v="urn:schemas-microsoft-com:vml" Requires="v">
                <p:oleObj spid="_x0000_s33305" name="Equation" r:id="rId3" imgW="444240" imgH="393480" progId="Equation.3">
                  <p:embed/>
                </p:oleObj>
              </mc:Choice>
              <mc:Fallback>
                <p:oleObj name="Equation" r:id="rId3" imgW="444240" imgH="3934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2564904"/>
                        <a:ext cx="4445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2" name="Object 6"/>
          <p:cNvGraphicFramePr>
            <a:graphicFrameLocks noChangeAspect="1"/>
          </p:cNvGraphicFramePr>
          <p:nvPr/>
        </p:nvGraphicFramePr>
        <p:xfrm>
          <a:off x="683568" y="3284984"/>
          <a:ext cx="627063" cy="431800"/>
        </p:xfrm>
        <a:graphic>
          <a:graphicData uri="http://schemas.openxmlformats.org/presentationml/2006/ole">
            <mc:AlternateContent xmlns:mc="http://schemas.openxmlformats.org/markup-compatibility/2006">
              <mc:Choice xmlns:v="urn:schemas-microsoft-com:vml" Requires="v">
                <p:oleObj spid="_x0000_s33306" name="Equation" r:id="rId5" imgW="622080" imgH="431640" progId="Equation.3">
                  <p:embed/>
                </p:oleObj>
              </mc:Choice>
              <mc:Fallback>
                <p:oleObj name="Equation" r:id="rId5" imgW="622080" imgH="4316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3284984"/>
                        <a:ext cx="62706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3" name="Object 7"/>
          <p:cNvGraphicFramePr>
            <a:graphicFrameLocks noChangeAspect="1"/>
          </p:cNvGraphicFramePr>
          <p:nvPr/>
        </p:nvGraphicFramePr>
        <p:xfrm>
          <a:off x="827584" y="3861048"/>
          <a:ext cx="423863" cy="431800"/>
        </p:xfrm>
        <a:graphic>
          <a:graphicData uri="http://schemas.openxmlformats.org/presentationml/2006/ole">
            <mc:AlternateContent xmlns:mc="http://schemas.openxmlformats.org/markup-compatibility/2006">
              <mc:Choice xmlns:v="urn:schemas-microsoft-com:vml" Requires="v">
                <p:oleObj spid="_x0000_s33307" name="Equation" r:id="rId7" imgW="419040" imgH="431640" progId="Equation.3">
                  <p:embed/>
                </p:oleObj>
              </mc:Choice>
              <mc:Fallback>
                <p:oleObj name="Equation" r:id="rId7" imgW="419040" imgH="43164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3861048"/>
                        <a:ext cx="42386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86</a:t>
            </a:fld>
            <a:endParaRPr lang="en-US" altLang="zh-CN" dirty="0"/>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箭头连接符 4"/>
          <p:cNvCxnSpPr/>
          <p:nvPr/>
        </p:nvCxnSpPr>
        <p:spPr bwMode="auto">
          <a:xfrm flipV="1">
            <a:off x="360040" y="2996952"/>
            <a:ext cx="8208912" cy="72008"/>
          </a:xfrm>
          <a:prstGeom prst="straightConnector1">
            <a:avLst/>
          </a:prstGeom>
          <a:solidFill>
            <a:schemeClr val="accent1"/>
          </a:solidFill>
          <a:ln w="38100" cap="flat" cmpd="sng" algn="ctr">
            <a:solidFill>
              <a:schemeClr val="tx1"/>
            </a:solidFill>
            <a:prstDash val="solid"/>
            <a:miter lim="800000"/>
            <a:headEnd type="none" w="med" len="med"/>
            <a:tailEnd type="arrow"/>
          </a:ln>
          <a:effectLst/>
        </p:spPr>
      </p:cxnSp>
      <p:sp>
        <p:nvSpPr>
          <p:cNvPr id="6" name="TextBox 5"/>
          <p:cNvSpPr txBox="1"/>
          <p:nvPr/>
        </p:nvSpPr>
        <p:spPr>
          <a:xfrm>
            <a:off x="216024" y="3068960"/>
            <a:ext cx="720080" cy="461665"/>
          </a:xfrm>
          <a:prstGeom prst="rect">
            <a:avLst/>
          </a:prstGeom>
          <a:noFill/>
        </p:spPr>
        <p:txBody>
          <a:bodyPr wrap="square" rtlCol="0">
            <a:spAutoFit/>
          </a:bodyPr>
          <a:lstStyle/>
          <a:p>
            <a:r>
              <a:rPr lang="en-US" altLang="zh-CN" i="1" dirty="0" err="1" smtClean="0"/>
              <a:t>X</a:t>
            </a:r>
            <a:r>
              <a:rPr lang="en-US" altLang="zh-CN" i="1" baseline="-25000" dirty="0" err="1" smtClean="0"/>
              <a:t>min</a:t>
            </a:r>
            <a:endParaRPr lang="zh-CN" altLang="en-US" i="1" baseline="-25000" dirty="0"/>
          </a:p>
        </p:txBody>
      </p:sp>
      <p:sp>
        <p:nvSpPr>
          <p:cNvPr id="7" name="TextBox 6"/>
          <p:cNvSpPr txBox="1"/>
          <p:nvPr/>
        </p:nvSpPr>
        <p:spPr>
          <a:xfrm>
            <a:off x="8172400" y="2996952"/>
            <a:ext cx="971600" cy="461665"/>
          </a:xfrm>
          <a:prstGeom prst="rect">
            <a:avLst/>
          </a:prstGeom>
          <a:noFill/>
        </p:spPr>
        <p:txBody>
          <a:bodyPr wrap="square" rtlCol="0">
            <a:spAutoFit/>
          </a:bodyPr>
          <a:lstStyle/>
          <a:p>
            <a:r>
              <a:rPr lang="en-US" altLang="zh-CN" i="1" dirty="0" err="1" smtClean="0"/>
              <a:t>X</a:t>
            </a:r>
            <a:r>
              <a:rPr lang="en-US" altLang="zh-CN" i="1" baseline="-25000" dirty="0" err="1" smtClean="0"/>
              <a:t>mam</a:t>
            </a:r>
            <a:endParaRPr lang="zh-CN" altLang="en-US" i="1" baseline="-25000" dirty="0"/>
          </a:p>
        </p:txBody>
      </p:sp>
      <p:grpSp>
        <p:nvGrpSpPr>
          <p:cNvPr id="42" name="组合 41"/>
          <p:cNvGrpSpPr/>
          <p:nvPr/>
        </p:nvGrpSpPr>
        <p:grpSpPr>
          <a:xfrm>
            <a:off x="5400600" y="2996952"/>
            <a:ext cx="720080" cy="609435"/>
            <a:chOff x="5364088" y="3023976"/>
            <a:chExt cx="720080" cy="609435"/>
          </a:xfrm>
        </p:grpSpPr>
        <p:sp>
          <p:nvSpPr>
            <p:cNvPr id="8" name="等腰三角形 7"/>
            <p:cNvSpPr/>
            <p:nvPr/>
          </p:nvSpPr>
          <p:spPr bwMode="auto">
            <a:xfrm>
              <a:off x="5508104" y="3023976"/>
              <a:ext cx="216024" cy="216024"/>
            </a:xfrm>
            <a:prstGeom prst="triangle">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smtClean="0">
                <a:ln>
                  <a:noFill/>
                </a:ln>
                <a:solidFill>
                  <a:srgbClr val="FF0000"/>
                </a:solidFill>
                <a:effectLst/>
                <a:latin typeface="Times New Roman" pitchFamily="18" charset="0"/>
                <a:ea typeface="华文隶书" pitchFamily="2" charset="-122"/>
              </a:endParaRPr>
            </a:p>
          </p:txBody>
        </p:sp>
        <p:sp>
          <p:nvSpPr>
            <p:cNvPr id="9" name="TextBox 8"/>
            <p:cNvSpPr txBox="1"/>
            <p:nvPr/>
          </p:nvSpPr>
          <p:spPr>
            <a:xfrm>
              <a:off x="5364088" y="3140968"/>
              <a:ext cx="720080" cy="492443"/>
            </a:xfrm>
            <a:prstGeom prst="rect">
              <a:avLst/>
            </a:prstGeom>
            <a:noFill/>
          </p:spPr>
          <p:txBody>
            <a:bodyPr wrap="square" rtlCol="0">
              <a:spAutoFit/>
            </a:bodyPr>
            <a:lstStyle/>
            <a:p>
              <a:r>
                <a:rPr lang="en-US" altLang="zh-CN" sz="2600" i="1" dirty="0" smtClean="0">
                  <a:solidFill>
                    <a:srgbClr val="FF0000"/>
                  </a:solidFill>
                </a:rPr>
                <a:t>M</a:t>
              </a:r>
              <a:r>
                <a:rPr lang="en-US" altLang="zh-CN" sz="2600" i="1" baseline="-25000" dirty="0" smtClean="0">
                  <a:solidFill>
                    <a:srgbClr val="FF0000"/>
                  </a:solidFill>
                </a:rPr>
                <a:t>e</a:t>
              </a:r>
              <a:endParaRPr lang="zh-CN" altLang="en-US" sz="2600" i="1" baseline="-25000" dirty="0">
                <a:solidFill>
                  <a:srgbClr val="FF0000"/>
                </a:solidFill>
              </a:endParaRPr>
            </a:p>
          </p:txBody>
        </p:sp>
      </p:grpSp>
      <p:cxnSp>
        <p:nvCxnSpPr>
          <p:cNvPr id="12" name="直接连接符 11"/>
          <p:cNvCxnSpPr/>
          <p:nvPr/>
        </p:nvCxnSpPr>
        <p:spPr bwMode="auto">
          <a:xfrm>
            <a:off x="8532440" y="2852936"/>
            <a:ext cx="0" cy="18000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cxnSp>
        <p:nvCxnSpPr>
          <p:cNvPr id="14" name="直接箭头连接符 13"/>
          <p:cNvCxnSpPr/>
          <p:nvPr/>
        </p:nvCxnSpPr>
        <p:spPr bwMode="auto">
          <a:xfrm>
            <a:off x="288032" y="1268760"/>
            <a:ext cx="5328592" cy="0"/>
          </a:xfrm>
          <a:prstGeom prst="straightConnector1">
            <a:avLst/>
          </a:prstGeom>
          <a:solidFill>
            <a:schemeClr val="accent1"/>
          </a:solidFill>
          <a:ln w="19050" cap="flat" cmpd="sng" algn="ctr">
            <a:solidFill>
              <a:srgbClr val="0070C0"/>
            </a:solidFill>
            <a:prstDash val="solid"/>
            <a:miter lim="800000"/>
            <a:headEnd type="none" w="med" len="med"/>
            <a:tailEnd type="arrow"/>
          </a:ln>
          <a:effectLst/>
        </p:spPr>
      </p:cxnSp>
      <p:cxnSp>
        <p:nvCxnSpPr>
          <p:cNvPr id="16" name="直接连接符 15"/>
          <p:cNvCxnSpPr/>
          <p:nvPr/>
        </p:nvCxnSpPr>
        <p:spPr bwMode="auto">
          <a:xfrm>
            <a:off x="5652512" y="1016952"/>
            <a:ext cx="18002" cy="1980000"/>
          </a:xfrm>
          <a:prstGeom prst="line">
            <a:avLst/>
          </a:prstGeom>
          <a:solidFill>
            <a:schemeClr val="accent1"/>
          </a:solidFill>
          <a:ln w="19050" cap="flat" cmpd="sng" algn="ctr">
            <a:solidFill>
              <a:schemeClr val="tx1"/>
            </a:solidFill>
            <a:prstDash val="solid"/>
            <a:miter lim="800000"/>
            <a:headEnd type="none" w="med" len="med"/>
            <a:tailEnd type="none" w="med" len="med"/>
          </a:ln>
          <a:effectLst/>
        </p:spPr>
      </p:cxnSp>
      <p:sp>
        <p:nvSpPr>
          <p:cNvPr id="17" name="TextBox 16"/>
          <p:cNvSpPr txBox="1"/>
          <p:nvPr/>
        </p:nvSpPr>
        <p:spPr>
          <a:xfrm>
            <a:off x="3168352" y="692696"/>
            <a:ext cx="1224136" cy="523220"/>
          </a:xfrm>
          <a:prstGeom prst="rect">
            <a:avLst/>
          </a:prstGeom>
          <a:noFill/>
        </p:spPr>
        <p:txBody>
          <a:bodyPr wrap="square" rtlCol="0">
            <a:spAutoFit/>
          </a:bodyPr>
          <a:lstStyle/>
          <a:p>
            <a:r>
              <a:rPr lang="el-GR" altLang="zh-CN" sz="2800" b="1" i="1" dirty="0" smtClean="0">
                <a:solidFill>
                  <a:srgbClr val="0070C0"/>
                </a:solidFill>
                <a:latin typeface="Times New Roman"/>
                <a:cs typeface="Times New Roman"/>
              </a:rPr>
              <a:t>Σ</a:t>
            </a:r>
            <a:r>
              <a:rPr lang="en-US" altLang="zh-CN" sz="2800" b="1" i="1" dirty="0" smtClean="0">
                <a:solidFill>
                  <a:srgbClr val="0070C0"/>
                </a:solidFill>
                <a:latin typeface="Times New Roman"/>
                <a:cs typeface="Times New Roman"/>
              </a:rPr>
              <a:t>f /2</a:t>
            </a:r>
            <a:endParaRPr lang="zh-CN" altLang="en-US" sz="2800" b="1" i="1" baseline="-25000" dirty="0">
              <a:solidFill>
                <a:srgbClr val="0070C0"/>
              </a:solidFill>
            </a:endParaRPr>
          </a:p>
        </p:txBody>
      </p:sp>
      <p:cxnSp>
        <p:nvCxnSpPr>
          <p:cNvPr id="21" name="直接连接符 20"/>
          <p:cNvCxnSpPr/>
          <p:nvPr/>
        </p:nvCxnSpPr>
        <p:spPr bwMode="auto">
          <a:xfrm>
            <a:off x="360040" y="2924944"/>
            <a:ext cx="0" cy="18000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grpSp>
        <p:nvGrpSpPr>
          <p:cNvPr id="43" name="组合 42"/>
          <p:cNvGrpSpPr/>
          <p:nvPr/>
        </p:nvGrpSpPr>
        <p:grpSpPr>
          <a:xfrm>
            <a:off x="3816424" y="2996952"/>
            <a:ext cx="306034" cy="720080"/>
            <a:chOff x="3788543" y="2996976"/>
            <a:chExt cx="293792" cy="742851"/>
          </a:xfrm>
        </p:grpSpPr>
        <p:cxnSp>
          <p:nvCxnSpPr>
            <p:cNvPr id="19" name="直接连接符 18"/>
            <p:cNvCxnSpPr/>
            <p:nvPr/>
          </p:nvCxnSpPr>
          <p:spPr bwMode="auto">
            <a:xfrm>
              <a:off x="3995936" y="2996976"/>
              <a:ext cx="0" cy="216000"/>
            </a:xfrm>
            <a:prstGeom prst="line">
              <a:avLst/>
            </a:prstGeom>
            <a:solidFill>
              <a:schemeClr val="accent1"/>
            </a:solidFill>
            <a:ln w="38100" cap="flat" cmpd="sng" algn="ctr">
              <a:solidFill>
                <a:srgbClr val="FF0000"/>
              </a:solidFill>
              <a:prstDash val="solid"/>
              <a:miter lim="800000"/>
              <a:headEnd type="none" w="med" len="med"/>
              <a:tailEnd type="none" w="med" len="med"/>
            </a:ln>
            <a:effectLst/>
          </p:spPr>
        </p:cxnSp>
        <p:sp>
          <p:nvSpPr>
            <p:cNvPr id="23" name="TextBox 22"/>
            <p:cNvSpPr txBox="1"/>
            <p:nvPr/>
          </p:nvSpPr>
          <p:spPr>
            <a:xfrm>
              <a:off x="3788543" y="3165066"/>
              <a:ext cx="293792" cy="574761"/>
            </a:xfrm>
            <a:prstGeom prst="rect">
              <a:avLst/>
            </a:prstGeom>
            <a:noFill/>
          </p:spPr>
          <p:txBody>
            <a:bodyPr wrap="square" rtlCol="0">
              <a:spAutoFit/>
            </a:bodyPr>
            <a:lstStyle/>
            <a:p>
              <a:r>
                <a:rPr lang="en-US" altLang="zh-CN" sz="2600" i="1" dirty="0" smtClean="0">
                  <a:solidFill>
                    <a:srgbClr val="C00000"/>
                  </a:solidFill>
                </a:rPr>
                <a:t>L</a:t>
              </a:r>
              <a:endParaRPr lang="zh-CN" altLang="en-US" sz="2600" i="1" dirty="0">
                <a:solidFill>
                  <a:srgbClr val="C00000"/>
                </a:solidFill>
              </a:endParaRPr>
            </a:p>
          </p:txBody>
        </p:sp>
      </p:grpSp>
      <p:grpSp>
        <p:nvGrpSpPr>
          <p:cNvPr id="44" name="组合 43"/>
          <p:cNvGrpSpPr/>
          <p:nvPr/>
        </p:nvGrpSpPr>
        <p:grpSpPr>
          <a:xfrm>
            <a:off x="6408712" y="2996950"/>
            <a:ext cx="504056" cy="644548"/>
            <a:chOff x="6402892" y="2996976"/>
            <a:chExt cx="432048" cy="634132"/>
          </a:xfrm>
        </p:grpSpPr>
        <p:cxnSp>
          <p:nvCxnSpPr>
            <p:cNvPr id="18" name="直接连接符 17"/>
            <p:cNvCxnSpPr/>
            <p:nvPr/>
          </p:nvCxnSpPr>
          <p:spPr bwMode="auto">
            <a:xfrm>
              <a:off x="6588224" y="2996976"/>
              <a:ext cx="0" cy="216000"/>
            </a:xfrm>
            <a:prstGeom prst="line">
              <a:avLst/>
            </a:prstGeom>
            <a:solidFill>
              <a:schemeClr val="accent1"/>
            </a:solidFill>
            <a:ln w="38100" cap="flat" cmpd="sng" algn="ctr">
              <a:solidFill>
                <a:srgbClr val="FF0000"/>
              </a:solidFill>
              <a:prstDash val="solid"/>
              <a:miter lim="800000"/>
              <a:headEnd type="none" w="med" len="med"/>
              <a:tailEnd type="none" w="med" len="med"/>
            </a:ln>
            <a:effectLst/>
          </p:spPr>
        </p:cxnSp>
        <p:sp>
          <p:nvSpPr>
            <p:cNvPr id="24" name="TextBox 23"/>
            <p:cNvSpPr txBox="1"/>
            <p:nvPr/>
          </p:nvSpPr>
          <p:spPr>
            <a:xfrm>
              <a:off x="6402892" y="3138665"/>
              <a:ext cx="432048" cy="492443"/>
            </a:xfrm>
            <a:prstGeom prst="rect">
              <a:avLst/>
            </a:prstGeom>
            <a:noFill/>
          </p:spPr>
          <p:txBody>
            <a:bodyPr wrap="square" rtlCol="0">
              <a:spAutoFit/>
            </a:bodyPr>
            <a:lstStyle/>
            <a:p>
              <a:r>
                <a:rPr lang="en-US" altLang="zh-CN" sz="2600" i="1" dirty="0" smtClean="0">
                  <a:solidFill>
                    <a:srgbClr val="C00000"/>
                  </a:solidFill>
                </a:rPr>
                <a:t>U</a:t>
              </a:r>
              <a:endParaRPr lang="zh-CN" altLang="en-US" sz="2600" i="1" dirty="0">
                <a:solidFill>
                  <a:srgbClr val="C00000"/>
                </a:solidFill>
              </a:endParaRPr>
            </a:p>
          </p:txBody>
        </p:sp>
      </p:grpSp>
      <p:grpSp>
        <p:nvGrpSpPr>
          <p:cNvPr id="46" name="组合 45"/>
          <p:cNvGrpSpPr/>
          <p:nvPr/>
        </p:nvGrpSpPr>
        <p:grpSpPr>
          <a:xfrm>
            <a:off x="288032" y="1556792"/>
            <a:ext cx="3708000" cy="576064"/>
            <a:chOff x="251520" y="1628800"/>
            <a:chExt cx="3708000" cy="576064"/>
          </a:xfrm>
        </p:grpSpPr>
        <p:cxnSp>
          <p:nvCxnSpPr>
            <p:cNvPr id="25" name="直接箭头连接符 24"/>
            <p:cNvCxnSpPr/>
            <p:nvPr/>
          </p:nvCxnSpPr>
          <p:spPr bwMode="auto">
            <a:xfrm>
              <a:off x="251520" y="2204864"/>
              <a:ext cx="3708000" cy="0"/>
            </a:xfrm>
            <a:prstGeom prst="straightConnector1">
              <a:avLst/>
            </a:prstGeom>
            <a:solidFill>
              <a:schemeClr val="accent1"/>
            </a:solidFill>
            <a:ln w="19050" cap="flat" cmpd="sng" algn="ctr">
              <a:solidFill>
                <a:srgbClr val="00B050"/>
              </a:solidFill>
              <a:prstDash val="solid"/>
              <a:miter lim="800000"/>
              <a:headEnd type="none" w="med" len="med"/>
              <a:tailEnd type="arrow"/>
            </a:ln>
            <a:effectLst/>
          </p:spPr>
        </p:cxnSp>
        <p:sp>
          <p:nvSpPr>
            <p:cNvPr id="30" name="TextBox 29"/>
            <p:cNvSpPr txBox="1"/>
            <p:nvPr/>
          </p:nvSpPr>
          <p:spPr>
            <a:xfrm>
              <a:off x="1907704" y="1628800"/>
              <a:ext cx="864096" cy="523220"/>
            </a:xfrm>
            <a:prstGeom prst="rect">
              <a:avLst/>
            </a:prstGeom>
            <a:noFill/>
          </p:spPr>
          <p:txBody>
            <a:bodyPr wrap="square" rtlCol="0">
              <a:spAutoFit/>
            </a:bodyPr>
            <a:lstStyle/>
            <a:p>
              <a:r>
                <a:rPr lang="en-US" altLang="zh-CN" sz="2800" b="1" i="1" dirty="0" smtClean="0">
                  <a:solidFill>
                    <a:srgbClr val="006600"/>
                  </a:solidFill>
                </a:rPr>
                <a:t>S</a:t>
              </a:r>
              <a:r>
                <a:rPr lang="en-US" altLang="zh-CN" sz="2800" b="1" i="1" baseline="-25000" dirty="0" smtClean="0">
                  <a:solidFill>
                    <a:srgbClr val="006600"/>
                  </a:solidFill>
                </a:rPr>
                <a:t>m-1</a:t>
              </a:r>
              <a:endParaRPr lang="zh-CN" altLang="en-US" sz="2800" b="1" i="1" baseline="-25000" dirty="0">
                <a:solidFill>
                  <a:srgbClr val="006600"/>
                </a:solidFill>
              </a:endParaRPr>
            </a:p>
          </p:txBody>
        </p:sp>
      </p:grpSp>
      <p:cxnSp>
        <p:nvCxnSpPr>
          <p:cNvPr id="32" name="直接连接符 31"/>
          <p:cNvCxnSpPr/>
          <p:nvPr/>
        </p:nvCxnSpPr>
        <p:spPr bwMode="auto">
          <a:xfrm>
            <a:off x="4067944" y="2492896"/>
            <a:ext cx="1620000" cy="0"/>
          </a:xfrm>
          <a:prstGeom prst="line">
            <a:avLst/>
          </a:prstGeom>
          <a:solidFill>
            <a:schemeClr val="accent1"/>
          </a:solidFill>
          <a:ln w="28575" cap="flat" cmpd="sng" algn="ctr">
            <a:solidFill>
              <a:srgbClr val="C00000"/>
            </a:solidFill>
            <a:prstDash val="solid"/>
            <a:miter lim="800000"/>
            <a:headEnd type="none" w="med" len="med"/>
            <a:tailEnd type="none" w="med" len="med"/>
          </a:ln>
          <a:effectLst/>
        </p:spPr>
      </p:cxnSp>
      <p:sp>
        <p:nvSpPr>
          <p:cNvPr id="33" name="TextBox 32"/>
          <p:cNvSpPr txBox="1"/>
          <p:nvPr/>
        </p:nvSpPr>
        <p:spPr>
          <a:xfrm>
            <a:off x="4139952" y="2001034"/>
            <a:ext cx="1512168" cy="707886"/>
          </a:xfrm>
          <a:prstGeom prst="rect">
            <a:avLst/>
          </a:prstGeom>
          <a:noFill/>
        </p:spPr>
        <p:txBody>
          <a:bodyPr wrap="square" rtlCol="0">
            <a:spAutoFit/>
          </a:bodyPr>
          <a:lstStyle/>
          <a:p>
            <a:r>
              <a:rPr lang="el-GR" altLang="zh-CN" b="1" i="1" dirty="0" smtClean="0">
                <a:solidFill>
                  <a:srgbClr val="C00000"/>
                </a:solidFill>
                <a:latin typeface="Times New Roman"/>
                <a:cs typeface="Times New Roman"/>
              </a:rPr>
              <a:t>Σ</a:t>
            </a:r>
            <a:r>
              <a:rPr lang="en-US" altLang="zh-CN" b="1" i="1" dirty="0" smtClean="0">
                <a:solidFill>
                  <a:srgbClr val="C00000"/>
                </a:solidFill>
                <a:latin typeface="Times New Roman"/>
                <a:cs typeface="Times New Roman"/>
              </a:rPr>
              <a:t>f /2- </a:t>
            </a:r>
            <a:r>
              <a:rPr lang="en-US" altLang="zh-CN" b="1" i="1" dirty="0" smtClean="0">
                <a:solidFill>
                  <a:srgbClr val="C00000"/>
                </a:solidFill>
              </a:rPr>
              <a:t>S</a:t>
            </a:r>
            <a:r>
              <a:rPr lang="en-US" altLang="zh-CN" b="1" i="1" baseline="-25000" dirty="0" smtClean="0">
                <a:solidFill>
                  <a:srgbClr val="C00000"/>
                </a:solidFill>
              </a:rPr>
              <a:t>m-1</a:t>
            </a:r>
            <a:endParaRPr lang="zh-CN" altLang="en-US" b="1" i="1" baseline="-25000" dirty="0" smtClean="0">
              <a:solidFill>
                <a:srgbClr val="C00000"/>
              </a:solidFill>
            </a:endParaRPr>
          </a:p>
          <a:p>
            <a:endParaRPr lang="zh-CN" altLang="en-US" b="1" i="1" baseline="-25000" dirty="0">
              <a:solidFill>
                <a:srgbClr val="C00000"/>
              </a:solidFill>
            </a:endParaRPr>
          </a:p>
        </p:txBody>
      </p:sp>
      <p:sp>
        <p:nvSpPr>
          <p:cNvPr id="34" name="Text Box 9"/>
          <p:cNvSpPr txBox="1">
            <a:spLocks noChangeArrowheads="1"/>
          </p:cNvSpPr>
          <p:nvPr/>
        </p:nvSpPr>
        <p:spPr bwMode="auto">
          <a:xfrm>
            <a:off x="323528" y="3789040"/>
            <a:ext cx="8352928" cy="954107"/>
          </a:xfrm>
          <a:prstGeom prst="rect">
            <a:avLst/>
          </a:prstGeom>
          <a:noFill/>
          <a:ln w="12700">
            <a:noFill/>
            <a:miter lim="800000"/>
            <a:headEnd/>
            <a:tailEnd/>
          </a:ln>
          <a:effectLst/>
        </p:spPr>
        <p:txBody>
          <a:bodyPr wrap="square">
            <a:spAutoFit/>
          </a:bodyPr>
          <a:lstStyle/>
          <a:p>
            <a:pPr marL="457200" indent="-457200" eaLnBrk="0" hangingPunct="0">
              <a:defRPr/>
            </a:pPr>
            <a:r>
              <a:rPr lang="zh-CN" altLang="en-US" sz="2800" b="1" dirty="0" smtClean="0">
                <a:solidFill>
                  <a:srgbClr val="F040F0"/>
                </a:solidFill>
                <a:effectLst>
                  <a:outerShdw blurRad="38100" dist="38100" dir="2700000" algn="tl">
                    <a:srgbClr val="C0C0C0"/>
                  </a:outerShdw>
                </a:effectLst>
                <a:latin typeface="宋体" pitchFamily="2" charset="-122"/>
                <a:ea typeface="宋体" pitchFamily="2" charset="-122"/>
              </a:rPr>
              <a:t>假定</a:t>
            </a:r>
            <a:r>
              <a:rPr lang="zh-CN" altLang="en-US" sz="2800" b="1" dirty="0">
                <a:solidFill>
                  <a:srgbClr val="000000"/>
                </a:solidFill>
                <a:effectLst>
                  <a:outerShdw blurRad="38100" dist="38100" dir="2700000" algn="tl">
                    <a:srgbClr val="C0C0C0"/>
                  </a:outerShdw>
                </a:effectLst>
                <a:latin typeface="宋体" pitchFamily="2" charset="-122"/>
                <a:ea typeface="宋体" pitchFamily="2" charset="-122"/>
              </a:rPr>
              <a:t>中位数组的</a:t>
            </a:r>
            <a:r>
              <a:rPr lang="zh-CN" altLang="en-US" sz="2800" b="1" dirty="0" smtClean="0">
                <a:solidFill>
                  <a:srgbClr val="000000"/>
                </a:solidFill>
                <a:effectLst>
                  <a:outerShdw blurRad="38100" dist="38100" dir="2700000" algn="tl">
                    <a:srgbClr val="C0C0C0"/>
                  </a:outerShdw>
                </a:effectLst>
                <a:latin typeface="宋体" pitchFamily="2" charset="-122"/>
                <a:ea typeface="宋体" pitchFamily="2" charset="-122"/>
              </a:rPr>
              <a:t>频数均匀分布，则</a:t>
            </a:r>
            <a:r>
              <a:rPr lang="zh-CN" altLang="en-US" sz="2800" b="1" dirty="0" smtClean="0">
                <a:solidFill>
                  <a:srgbClr val="7030A0"/>
                </a:solidFill>
                <a:effectLst>
                  <a:outerShdw blurRad="38100" dist="38100" dir="2700000" algn="tl">
                    <a:srgbClr val="C0C0C0"/>
                  </a:outerShdw>
                </a:effectLst>
                <a:latin typeface="宋体" pitchFamily="2" charset="-122"/>
                <a:ea typeface="宋体" pitchFamily="2" charset="-122"/>
              </a:rPr>
              <a:t>频数密度</a:t>
            </a:r>
            <a:r>
              <a:rPr lang="zh-CN" altLang="en-US" sz="2800" b="1" dirty="0" smtClean="0">
                <a:solidFill>
                  <a:srgbClr val="000000"/>
                </a:solidFill>
                <a:effectLst>
                  <a:outerShdw blurRad="38100" dist="38100" dir="2700000" algn="tl">
                    <a:srgbClr val="C0C0C0"/>
                  </a:outerShdw>
                </a:effectLst>
                <a:latin typeface="宋体" pitchFamily="2" charset="-122"/>
                <a:ea typeface="宋体" pitchFamily="2" charset="-122"/>
              </a:rPr>
              <a:t>一致：</a:t>
            </a:r>
            <a:endParaRPr lang="en-US" altLang="zh-CN" sz="2800" b="1" dirty="0" smtClean="0">
              <a:solidFill>
                <a:srgbClr val="000000"/>
              </a:solidFill>
              <a:effectLst>
                <a:outerShdw blurRad="38100" dist="38100" dir="2700000" algn="tl">
                  <a:srgbClr val="C0C0C0"/>
                </a:outerShdw>
              </a:effectLst>
              <a:latin typeface="宋体" pitchFamily="2" charset="-122"/>
              <a:ea typeface="宋体" pitchFamily="2" charset="-122"/>
            </a:endParaRPr>
          </a:p>
          <a:p>
            <a:pPr marL="457200" indent="-457200" eaLnBrk="0" hangingPunct="0">
              <a:defRPr/>
            </a:pPr>
            <a:endParaRPr lang="zh-CN" altLang="en-US" sz="2800" b="1" dirty="0">
              <a:solidFill>
                <a:srgbClr val="000000"/>
              </a:solidFill>
              <a:latin typeface="宋体" pitchFamily="2" charset="-122"/>
              <a:ea typeface="宋体" pitchFamily="2" charset="-122"/>
            </a:endParaRPr>
          </a:p>
        </p:txBody>
      </p:sp>
      <p:graphicFrame>
        <p:nvGraphicFramePr>
          <p:cNvPr id="35" name="对象 34"/>
          <p:cNvGraphicFramePr>
            <a:graphicFrameLocks noChangeAspect="1"/>
          </p:cNvGraphicFramePr>
          <p:nvPr/>
        </p:nvGraphicFramePr>
        <p:xfrm>
          <a:off x="2123728" y="4437112"/>
          <a:ext cx="3600400" cy="1102825"/>
        </p:xfrm>
        <a:graphic>
          <a:graphicData uri="http://schemas.openxmlformats.org/presentationml/2006/ole">
            <mc:AlternateContent xmlns:mc="http://schemas.openxmlformats.org/markup-compatibility/2006">
              <mc:Choice xmlns:v="urn:schemas-microsoft-com:vml" Requires="v">
                <p:oleObj spid="_x0000_s134324" name="公式" r:id="rId3" imgW="1409400" imgH="431640" progId="Equation.3">
                  <p:embed/>
                </p:oleObj>
              </mc:Choice>
              <mc:Fallback>
                <p:oleObj name="公式" r:id="rId3" imgW="1409400" imgH="43164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4437112"/>
                        <a:ext cx="3600400" cy="110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5" name="组合 44"/>
          <p:cNvGrpSpPr/>
          <p:nvPr/>
        </p:nvGrpSpPr>
        <p:grpSpPr>
          <a:xfrm>
            <a:off x="4032448" y="1340768"/>
            <a:ext cx="2592288" cy="1728032"/>
            <a:chOff x="3995936" y="1412776"/>
            <a:chExt cx="2592288" cy="1728032"/>
          </a:xfrm>
        </p:grpSpPr>
        <p:cxnSp>
          <p:nvCxnSpPr>
            <p:cNvPr id="36" name="直接连接符 35"/>
            <p:cNvCxnSpPr/>
            <p:nvPr/>
          </p:nvCxnSpPr>
          <p:spPr bwMode="auto">
            <a:xfrm>
              <a:off x="6588224" y="1664960"/>
              <a:ext cx="0" cy="1404000"/>
            </a:xfrm>
            <a:prstGeom prst="line">
              <a:avLst/>
            </a:prstGeom>
            <a:solidFill>
              <a:schemeClr val="accent1"/>
            </a:solidFill>
            <a:ln w="19050" cap="flat" cmpd="sng" algn="ctr">
              <a:solidFill>
                <a:schemeClr val="tx1"/>
              </a:solidFill>
              <a:prstDash val="solid"/>
              <a:miter lim="800000"/>
              <a:headEnd type="none" w="med" len="med"/>
              <a:tailEnd type="none" w="med" len="med"/>
            </a:ln>
            <a:effectLst/>
          </p:spPr>
        </p:cxnSp>
        <p:cxnSp>
          <p:nvCxnSpPr>
            <p:cNvPr id="28" name="直接连接符 27"/>
            <p:cNvCxnSpPr/>
            <p:nvPr/>
          </p:nvCxnSpPr>
          <p:spPr bwMode="auto">
            <a:xfrm>
              <a:off x="3995936" y="1700808"/>
              <a:ext cx="0" cy="1440000"/>
            </a:xfrm>
            <a:prstGeom prst="line">
              <a:avLst/>
            </a:prstGeom>
            <a:solidFill>
              <a:schemeClr val="accent1"/>
            </a:solidFill>
            <a:ln w="19050" cap="flat" cmpd="sng" algn="ctr">
              <a:solidFill>
                <a:schemeClr val="tx1"/>
              </a:solidFill>
              <a:prstDash val="solid"/>
              <a:miter lim="800000"/>
              <a:headEnd type="none" w="med" len="med"/>
              <a:tailEnd type="none" w="med" len="med"/>
            </a:ln>
            <a:effectLst/>
          </p:spPr>
        </p:cxnSp>
        <p:cxnSp>
          <p:nvCxnSpPr>
            <p:cNvPr id="38" name="直接连接符 37"/>
            <p:cNvCxnSpPr/>
            <p:nvPr/>
          </p:nvCxnSpPr>
          <p:spPr bwMode="auto">
            <a:xfrm>
              <a:off x="3995936" y="1916832"/>
              <a:ext cx="2592288" cy="0"/>
            </a:xfrm>
            <a:prstGeom prst="line">
              <a:avLst/>
            </a:prstGeom>
            <a:solidFill>
              <a:schemeClr val="accent1"/>
            </a:solidFill>
            <a:ln w="28575" cap="flat" cmpd="sng" algn="ctr">
              <a:solidFill>
                <a:schemeClr val="tx2"/>
              </a:solidFill>
              <a:prstDash val="solid"/>
              <a:miter lim="800000"/>
              <a:headEnd type="none" w="med" len="med"/>
              <a:tailEnd type="none" w="med" len="med"/>
            </a:ln>
            <a:effectLst/>
          </p:spPr>
        </p:cxnSp>
        <p:sp>
          <p:nvSpPr>
            <p:cNvPr id="39" name="TextBox 38"/>
            <p:cNvSpPr txBox="1"/>
            <p:nvPr/>
          </p:nvSpPr>
          <p:spPr>
            <a:xfrm>
              <a:off x="5004048" y="1412776"/>
              <a:ext cx="576064" cy="523220"/>
            </a:xfrm>
            <a:prstGeom prst="rect">
              <a:avLst/>
            </a:prstGeom>
            <a:noFill/>
          </p:spPr>
          <p:txBody>
            <a:bodyPr wrap="square" rtlCol="0">
              <a:spAutoFit/>
            </a:bodyPr>
            <a:lstStyle/>
            <a:p>
              <a:r>
                <a:rPr lang="en-US" altLang="zh-CN" sz="2800" b="1" i="1" dirty="0" smtClean="0">
                  <a:solidFill>
                    <a:srgbClr val="7030A0"/>
                  </a:solidFill>
                  <a:latin typeface="Times New Roman"/>
                  <a:cs typeface="Times New Roman"/>
                </a:rPr>
                <a:t>f</a:t>
              </a:r>
              <a:r>
                <a:rPr lang="en-US" altLang="zh-CN" sz="2800" b="1" i="1" baseline="-25000" dirty="0" smtClean="0">
                  <a:solidFill>
                    <a:srgbClr val="7030A0"/>
                  </a:solidFill>
                  <a:latin typeface="Times New Roman"/>
                  <a:cs typeface="Times New Roman"/>
                </a:rPr>
                <a:t>m</a:t>
              </a:r>
              <a:endParaRPr lang="zh-CN" altLang="en-US" sz="2800" b="1" i="1" baseline="-25000" dirty="0">
                <a:solidFill>
                  <a:srgbClr val="7030A0"/>
                </a:solidFill>
              </a:endParaRPr>
            </a:p>
          </p:txBody>
        </p:sp>
      </p:grpSp>
      <p:sp>
        <p:nvSpPr>
          <p:cNvPr id="40" name="Text Box 9"/>
          <p:cNvSpPr txBox="1">
            <a:spLocks noChangeArrowheads="1"/>
          </p:cNvSpPr>
          <p:nvPr/>
        </p:nvSpPr>
        <p:spPr bwMode="auto">
          <a:xfrm>
            <a:off x="179512" y="5805264"/>
            <a:ext cx="8352928" cy="1200329"/>
          </a:xfrm>
          <a:prstGeom prst="rect">
            <a:avLst/>
          </a:prstGeom>
          <a:noFill/>
          <a:ln w="12700">
            <a:noFill/>
            <a:miter lim="800000"/>
            <a:headEnd/>
            <a:tailEnd/>
          </a:ln>
          <a:effectLst/>
        </p:spPr>
        <p:txBody>
          <a:bodyPr wrap="square">
            <a:spAutoFit/>
          </a:bodyPr>
          <a:lstStyle/>
          <a:p>
            <a:pPr marL="457200" indent="-457200" eaLnBrk="0" hangingPunct="0">
              <a:defRPr/>
            </a:pPr>
            <a:r>
              <a:rPr lang="zh-CN" altLang="en-US" b="1" dirty="0" smtClean="0">
                <a:effectLst>
                  <a:outerShdw blurRad="38100" dist="38100" dir="2700000" algn="tl">
                    <a:srgbClr val="C0C0C0"/>
                  </a:outerShdw>
                </a:effectLst>
                <a:latin typeface="宋体" pitchFamily="2" charset="-122"/>
                <a:ea typeface="宋体" pitchFamily="2" charset="-122"/>
              </a:rPr>
              <a:t>整理得中位数的计算公式</a:t>
            </a:r>
            <a:r>
              <a:rPr lang="zh-CN" altLang="en-US" sz="2000" b="1" dirty="0" smtClean="0">
                <a:effectLst>
                  <a:outerShdw blurRad="38100" dist="38100" dir="2700000" algn="tl">
                    <a:srgbClr val="C0C0C0"/>
                  </a:outerShdw>
                </a:effectLst>
                <a:latin typeface="宋体" pitchFamily="2" charset="-122"/>
                <a:ea typeface="宋体" pitchFamily="2" charset="-122"/>
              </a:rPr>
              <a:t>（下限公式），</a:t>
            </a:r>
            <a:r>
              <a:rPr lang="zh-CN" altLang="en-US" b="1" dirty="0" smtClean="0">
                <a:solidFill>
                  <a:srgbClr val="1313FF"/>
                </a:solidFill>
                <a:effectLst>
                  <a:outerShdw blurRad="38100" dist="38100" dir="2700000" algn="tl">
                    <a:srgbClr val="C0C0C0"/>
                  </a:outerShdw>
                </a:effectLst>
                <a:latin typeface="宋体" pitchFamily="2" charset="-122"/>
                <a:ea typeface="宋体" pitchFamily="2" charset="-122"/>
              </a:rPr>
              <a:t>上限公式同理（略）</a:t>
            </a:r>
            <a:r>
              <a:rPr lang="zh-CN" altLang="en-US" sz="2000" b="1" dirty="0" smtClean="0">
                <a:effectLst>
                  <a:outerShdw blurRad="38100" dist="38100" dir="2700000" algn="tl">
                    <a:srgbClr val="C0C0C0"/>
                  </a:outerShdw>
                </a:effectLst>
                <a:latin typeface="宋体" pitchFamily="2" charset="-122"/>
                <a:ea typeface="宋体" pitchFamily="2" charset="-122"/>
              </a:rPr>
              <a:t>。</a:t>
            </a:r>
            <a:endParaRPr lang="en-US" altLang="zh-CN" b="1" dirty="0" smtClean="0">
              <a:effectLst>
                <a:outerShdw blurRad="38100" dist="38100" dir="2700000" algn="tl">
                  <a:srgbClr val="C0C0C0"/>
                </a:outerShdw>
              </a:effectLst>
              <a:latin typeface="宋体" pitchFamily="2" charset="-122"/>
              <a:ea typeface="宋体" pitchFamily="2" charset="-122"/>
            </a:endParaRPr>
          </a:p>
          <a:p>
            <a:pPr marL="457200" indent="-457200" eaLnBrk="0" hangingPunct="0">
              <a:defRPr/>
            </a:pPr>
            <a:endParaRPr lang="zh-CN" altLang="en-US" sz="2800" b="1" dirty="0">
              <a:solidFill>
                <a:srgbClr val="000000"/>
              </a:solidFill>
              <a:latin typeface="宋体" pitchFamily="2" charset="-122"/>
              <a:ea typeface="宋体" pitchFamily="2" charset="-122"/>
            </a:endParaRPr>
          </a:p>
        </p:txBody>
      </p:sp>
      <p:sp>
        <p:nvSpPr>
          <p:cNvPr id="41" name="标题 40"/>
          <p:cNvSpPr>
            <a:spLocks noGrp="1"/>
          </p:cNvSpPr>
          <p:nvPr>
            <p:ph type="title" idx="4294967295"/>
          </p:nvPr>
        </p:nvSpPr>
        <p:spPr>
          <a:xfrm>
            <a:off x="936888" y="299393"/>
            <a:ext cx="2437656" cy="536104"/>
          </a:xfrm>
        </p:spPr>
        <p:txBody>
          <a:bodyPr/>
          <a:lstStyle/>
          <a:p>
            <a:r>
              <a:rPr lang="zh-CN" altLang="en-US" sz="3200" b="0" dirty="0" smtClean="0">
                <a:solidFill>
                  <a:srgbClr val="1313FF"/>
                </a:solidFill>
              </a:rPr>
              <a:t>图示</a:t>
            </a:r>
            <a:r>
              <a:rPr lang="en-US" altLang="zh-CN" sz="3200" b="0" dirty="0" smtClean="0">
                <a:solidFill>
                  <a:srgbClr val="1313FF"/>
                </a:solidFill>
              </a:rPr>
              <a:t>——</a:t>
            </a:r>
            <a:r>
              <a:rPr lang="zh-CN" altLang="en-US" sz="3200" b="0" dirty="0" smtClean="0">
                <a:solidFill>
                  <a:srgbClr val="1313FF"/>
                </a:solidFill>
              </a:rPr>
              <a:t>证</a:t>
            </a:r>
            <a:endParaRPr lang="zh-CN" altLang="en-US" sz="3200" b="0" dirty="0">
              <a:solidFill>
                <a:srgbClr val="1313FF"/>
              </a:solidFill>
            </a:endParaRPr>
          </a:p>
        </p:txBody>
      </p:sp>
      <p:sp>
        <p:nvSpPr>
          <p:cNvPr id="48" name="TextBox 47"/>
          <p:cNvSpPr txBox="1"/>
          <p:nvPr/>
        </p:nvSpPr>
        <p:spPr>
          <a:xfrm>
            <a:off x="323528" y="908720"/>
            <a:ext cx="2160240" cy="461665"/>
          </a:xfrm>
          <a:prstGeom prst="rect">
            <a:avLst/>
          </a:prstGeom>
          <a:noFill/>
        </p:spPr>
        <p:txBody>
          <a:bodyPr wrap="square" rtlCol="0">
            <a:spAutoFit/>
          </a:bodyPr>
          <a:lstStyle/>
          <a:p>
            <a:r>
              <a:rPr lang="zh-CN" altLang="en-US" dirty="0" smtClean="0"/>
              <a:t>向上累计次数</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2000"/>
                                        <p:tgtEl>
                                          <p:spTgt spid="14"/>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500"/>
                                        <p:tgtEl>
                                          <p:spTgt spid="48"/>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wipe(up)">
                                      <p:cBhvr>
                                        <p:cTn id="24" dur="10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up)">
                                      <p:cBhvr>
                                        <p:cTn id="29" dur="500"/>
                                        <p:tgtEl>
                                          <p:spTgt spid="43"/>
                                        </p:tgtEl>
                                      </p:cBhvr>
                                    </p:animEffect>
                                  </p:childTnLst>
                                </p:cTn>
                              </p:par>
                            </p:childTnLst>
                          </p:cTn>
                        </p:par>
                        <p:par>
                          <p:cTn id="30" fill="hold">
                            <p:stCondLst>
                              <p:cond delay="500"/>
                            </p:stCondLst>
                            <p:childTnLst>
                              <p:par>
                                <p:cTn id="31" presetID="22" presetClass="entr" presetSubtype="1" fill="hold" nodeType="after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1000"/>
                                        <p:tgtEl>
                                          <p:spTgt spid="44"/>
                                        </p:tgtEl>
                                      </p:cBhvr>
                                    </p:animEffect>
                                  </p:childTnLst>
                                </p:cTn>
                              </p:par>
                            </p:childTnLst>
                          </p:cTn>
                        </p:par>
                        <p:par>
                          <p:cTn id="34" fill="hold">
                            <p:stCondLst>
                              <p:cond delay="1500"/>
                            </p:stCondLst>
                            <p:childTnLst>
                              <p:par>
                                <p:cTn id="35" presetID="22" presetClass="entr" presetSubtype="4"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down)">
                                      <p:cBhvr>
                                        <p:cTn id="37" dur="1000"/>
                                        <p:tgtEl>
                                          <p:spTgt spid="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left)">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2000"/>
                                        <p:tgtEl>
                                          <p:spTgt spid="32"/>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left)">
                                      <p:cBhvr>
                                        <p:cTn id="51" dur="20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left)">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left)">
                                      <p:cBhvr>
                                        <p:cTn id="61" dur="10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up)">
                                      <p:cBhvr>
                                        <p:cTn id="6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34" grpId="0"/>
      <p:bldP spid="40" grpId="0"/>
      <p:bldP spid="4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1274" name="Group 26"/>
          <p:cNvGraphicFramePr>
            <a:graphicFrameLocks noGrp="1"/>
          </p:cNvGraphicFramePr>
          <p:nvPr/>
        </p:nvGraphicFramePr>
        <p:xfrm>
          <a:off x="762000" y="1600200"/>
          <a:ext cx="3665538" cy="4116959"/>
        </p:xfrm>
        <a:graphic>
          <a:graphicData uri="http://schemas.openxmlformats.org/drawingml/2006/table">
            <a:tbl>
              <a:tblPr/>
              <a:tblGrid>
                <a:gridCol w="1722438">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tblGrid>
              <a:tr h="5445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按成绩分组（分）</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学生人数</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（人）</a:t>
                      </a:r>
                    </a:p>
                  </a:txBody>
                  <a:tcP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6857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以下</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r>
                        <a:rPr kumimoji="1" lang="en-US" altLang="zh-CN" sz="2800" b="1" i="0" u="none" strike="noStrike" cap="none" normalizeH="0" baseline="0" dirty="0" smtClean="0">
                          <a:ln>
                            <a:noFill/>
                          </a:ln>
                          <a:solidFill>
                            <a:srgbClr val="000000"/>
                          </a:solidFill>
                          <a:effectLst/>
                          <a:latin typeface="Times New Roman"/>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100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2</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15</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20</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15</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  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56</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1268" name="Object 20"/>
          <p:cNvGraphicFramePr>
            <a:graphicFrameLocks noChangeAspect="1"/>
          </p:cNvGraphicFramePr>
          <p:nvPr/>
        </p:nvGraphicFramePr>
        <p:xfrm>
          <a:off x="4643438" y="2276475"/>
          <a:ext cx="3671887" cy="1255713"/>
        </p:xfrm>
        <a:graphic>
          <a:graphicData uri="http://schemas.openxmlformats.org/presentationml/2006/ole">
            <mc:AlternateContent xmlns:mc="http://schemas.openxmlformats.org/markup-compatibility/2006">
              <mc:Choice xmlns:v="urn:schemas-microsoft-com:vml" Requires="v">
                <p:oleObj spid="_x0000_s34150" name="Equation" r:id="rId3" imgW="1473120" imgH="431640" progId="Equation.DSMT4">
                  <p:embed/>
                </p:oleObj>
              </mc:Choice>
              <mc:Fallback>
                <p:oleObj name="Equation" r:id="rId3" imgW="1473120" imgH="43164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2276475"/>
                        <a:ext cx="3671887" cy="1255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9" name="Rectangle 24"/>
          <p:cNvSpPr>
            <a:spLocks noGrp="1" noChangeArrowheads="1"/>
          </p:cNvSpPr>
          <p:nvPr>
            <p:ph type="title" idx="4294967295"/>
          </p:nvPr>
        </p:nvSpPr>
        <p:spPr/>
        <p:txBody>
          <a:bodyPr/>
          <a:lstStyle/>
          <a:p>
            <a:pPr eaLnBrk="1" hangingPunct="1"/>
            <a:r>
              <a:rPr lang="zh-CN" altLang="en-US" dirty="0" smtClean="0"/>
              <a:t>例</a:t>
            </a:r>
          </a:p>
        </p:txBody>
      </p:sp>
      <p:sp>
        <p:nvSpPr>
          <p:cNvPr id="33810" name="Rectangle 28"/>
          <p:cNvSpPr>
            <a:spLocks noChangeArrowheads="1"/>
          </p:cNvSpPr>
          <p:nvPr/>
        </p:nvSpPr>
        <p:spPr bwMode="auto">
          <a:xfrm>
            <a:off x="0" y="32480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3795" name="Object 27"/>
          <p:cNvGraphicFramePr>
            <a:graphicFrameLocks noChangeAspect="1"/>
          </p:cNvGraphicFramePr>
          <p:nvPr/>
        </p:nvGraphicFramePr>
        <p:xfrm>
          <a:off x="4067175" y="3716338"/>
          <a:ext cx="5076825" cy="1009650"/>
        </p:xfrm>
        <a:graphic>
          <a:graphicData uri="http://schemas.openxmlformats.org/presentationml/2006/ole">
            <mc:AlternateContent xmlns:mc="http://schemas.openxmlformats.org/markup-compatibility/2006">
              <mc:Choice xmlns:v="urn:schemas-microsoft-com:vml" Requires="v">
                <p:oleObj spid="_x0000_s34151" name="公式" r:id="rId5" imgW="1955800" imgH="393700" progId="Equation.3">
                  <p:embed/>
                </p:oleObj>
              </mc:Choice>
              <mc:Fallback>
                <p:oleObj name="公式" r:id="rId5" imgW="1955800" imgH="393700"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3716338"/>
                        <a:ext cx="5076825"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8100392" y="2492896"/>
            <a:ext cx="288032" cy="720080"/>
          </a:xfrm>
          <a:prstGeom prst="rect">
            <a:avLst/>
          </a:prstGeom>
          <a:solidFill>
            <a:schemeClr val="bg1"/>
          </a:solidFill>
        </p:spPr>
        <p:txBody>
          <a:bodyPr wrap="square" lIns="0" rIns="0" bIns="36000" rtlCol="0">
            <a:noAutofit/>
          </a:bodyPr>
          <a:lstStyle/>
          <a:p>
            <a:r>
              <a:rPr lang="en-US" altLang="zh-CN" sz="3600" b="1" i="1" dirty="0" smtClean="0">
                <a:solidFill>
                  <a:srgbClr val="00B050"/>
                </a:solidFill>
              </a:rPr>
              <a:t>d</a:t>
            </a:r>
            <a:endParaRPr lang="zh-CN" altLang="en-US" sz="3600" b="1" i="1" dirty="0">
              <a:solidFill>
                <a:srgbClr val="00B050"/>
              </a:solidFill>
            </a:endParaRPr>
          </a:p>
        </p:txBody>
      </p:sp>
      <p:sp>
        <p:nvSpPr>
          <p:cNvPr id="9" name="灯片编号占位符 8"/>
          <p:cNvSpPr>
            <a:spLocks noGrp="1"/>
          </p:cNvSpPr>
          <p:nvPr>
            <p:ph type="sldNum" sz="quarter" idx="12"/>
          </p:nvPr>
        </p:nvSpPr>
        <p:spPr/>
        <p:txBody>
          <a:bodyPr/>
          <a:lstStyle/>
          <a:p>
            <a:pPr>
              <a:defRPr/>
            </a:pPr>
            <a:fld id="{4D36EFB7-0D9F-4BC1-ADE9-F0E399591344}" type="slidenum">
              <a:rPr lang="en-US" altLang="zh-CN" smtClean="0"/>
              <a:pPr>
                <a:defRPr/>
              </a:pPr>
              <a:t>88</a:t>
            </a:fld>
            <a:endParaRPr lang="en-US" altLang="zh-CN" dirty="0"/>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p:nvPr>
        </p:nvSpPr>
        <p:spPr>
          <a:xfrm>
            <a:off x="611188" y="0"/>
            <a:ext cx="7772400" cy="990600"/>
          </a:xfrm>
        </p:spPr>
        <p:txBody>
          <a:bodyPr/>
          <a:lstStyle/>
          <a:p>
            <a:pPr eaLnBrk="1" hangingPunct="1"/>
            <a:r>
              <a:rPr lang="en-US" altLang="zh-CN" dirty="0" smtClean="0">
                <a:solidFill>
                  <a:srgbClr val="1313FF"/>
                </a:solidFill>
                <a:latin typeface="Times New Roman" pitchFamily="18" charset="0"/>
              </a:rPr>
              <a:t>3. </a:t>
            </a:r>
            <a:r>
              <a:rPr lang="zh-CN" altLang="en-US" dirty="0" smtClean="0">
                <a:solidFill>
                  <a:srgbClr val="1313FF"/>
                </a:solidFill>
                <a:latin typeface="Times New Roman" pitchFamily="18" charset="0"/>
              </a:rPr>
              <a:t>四分位数（</a:t>
            </a:r>
            <a:r>
              <a:rPr lang="en-US" altLang="zh-CN" dirty="0" smtClean="0"/>
              <a:t> </a:t>
            </a:r>
            <a:r>
              <a:rPr lang="en-US" altLang="zh-CN" b="0" dirty="0" smtClean="0"/>
              <a:t>Quartile </a:t>
            </a:r>
            <a:r>
              <a:rPr lang="zh-CN" altLang="en-US" dirty="0" smtClean="0">
                <a:solidFill>
                  <a:srgbClr val="1313FF"/>
                </a:solidFill>
                <a:latin typeface="Times New Roman" pitchFamily="18" charset="0"/>
              </a:rPr>
              <a:t>）</a:t>
            </a:r>
          </a:p>
        </p:txBody>
      </p:sp>
      <p:sp>
        <p:nvSpPr>
          <p:cNvPr id="124932" name="Rectangle 3"/>
          <p:cNvSpPr>
            <a:spLocks noGrp="1" noChangeArrowheads="1"/>
          </p:cNvSpPr>
          <p:nvPr>
            <p:ph type="body" idx="1"/>
          </p:nvPr>
        </p:nvSpPr>
        <p:spPr>
          <a:xfrm>
            <a:off x="611560" y="908720"/>
            <a:ext cx="7772400" cy="5184353"/>
          </a:xfrm>
        </p:spPr>
        <p:txBody>
          <a:bodyPr/>
          <a:lstStyle/>
          <a:p>
            <a:pPr algn="just" eaLnBrk="1" hangingPunct="1">
              <a:lnSpc>
                <a:spcPct val="125000"/>
              </a:lnSpc>
              <a:spcBef>
                <a:spcPct val="30000"/>
              </a:spcBef>
              <a:buFontTx/>
              <a:buNone/>
            </a:pPr>
            <a:r>
              <a:rPr lang="zh-CN" altLang="en-US" sz="2800" dirty="0" smtClean="0">
                <a:solidFill>
                  <a:srgbClr val="000000"/>
                </a:solidFill>
                <a:latin typeface="Times New Roman" pitchFamily="18" charset="0"/>
              </a:rPr>
              <a:t>与中位数类似的还有四分位数、十分位数和百分位数等，统称为</a:t>
            </a:r>
            <a:r>
              <a:rPr lang="zh-CN" altLang="en-US" sz="2800" dirty="0" smtClean="0">
                <a:solidFill>
                  <a:srgbClr val="1313FF"/>
                </a:solidFill>
                <a:latin typeface="Times New Roman" pitchFamily="18" charset="0"/>
              </a:rPr>
              <a:t>分位数</a:t>
            </a:r>
            <a:r>
              <a:rPr lang="zh-CN" altLang="en-US" sz="2800" dirty="0" smtClean="0">
                <a:solidFill>
                  <a:srgbClr val="000000"/>
                </a:solidFill>
                <a:latin typeface="Times New Roman" pitchFamily="18" charset="0"/>
              </a:rPr>
              <a:t>。</a:t>
            </a:r>
          </a:p>
          <a:p>
            <a:pPr lvl="1" algn="just" eaLnBrk="1" hangingPunct="1">
              <a:lnSpc>
                <a:spcPct val="125000"/>
              </a:lnSpc>
              <a:spcBef>
                <a:spcPct val="30000"/>
              </a:spcBef>
            </a:pPr>
            <a:r>
              <a:rPr lang="zh-CN" altLang="en-US" sz="2400" dirty="0" smtClean="0">
                <a:solidFill>
                  <a:srgbClr val="FF3300"/>
                </a:solidFill>
                <a:latin typeface="Times New Roman" pitchFamily="18" charset="0"/>
              </a:rPr>
              <a:t>四分位数</a:t>
            </a:r>
            <a:r>
              <a:rPr lang="zh-CN" altLang="en-US" sz="2400" dirty="0" smtClean="0">
                <a:latin typeface="Times New Roman" pitchFamily="18" charset="0"/>
              </a:rPr>
              <a:t>是将全部数据等分为</a:t>
            </a:r>
            <a:r>
              <a:rPr lang="en-US" altLang="zh-CN" sz="2400" dirty="0" smtClean="0"/>
              <a:t>4</a:t>
            </a:r>
            <a:r>
              <a:rPr lang="zh-CN" altLang="en-US" sz="2400" dirty="0" smtClean="0">
                <a:latin typeface="Times New Roman" pitchFamily="18" charset="0"/>
              </a:rPr>
              <a:t>部分的</a:t>
            </a:r>
            <a:r>
              <a:rPr lang="en-US" altLang="zh-CN" sz="2400" dirty="0" smtClean="0"/>
              <a:t>3</a:t>
            </a:r>
            <a:r>
              <a:rPr lang="zh-CN" altLang="en-US" sz="2400" dirty="0" smtClean="0">
                <a:latin typeface="Times New Roman" pitchFamily="18" charset="0"/>
              </a:rPr>
              <a:t>个点的变量值，其中每部分包括</a:t>
            </a:r>
            <a:r>
              <a:rPr lang="en-US" altLang="zh-CN" sz="2400" dirty="0" smtClean="0"/>
              <a:t>25%</a:t>
            </a:r>
            <a:r>
              <a:rPr lang="zh-CN" altLang="en-US" sz="2400" dirty="0" smtClean="0">
                <a:latin typeface="Times New Roman" pitchFamily="18" charset="0"/>
              </a:rPr>
              <a:t>的数据。</a:t>
            </a:r>
          </a:p>
          <a:p>
            <a:pPr lvl="1" algn="just" eaLnBrk="1" hangingPunct="1">
              <a:lnSpc>
                <a:spcPct val="125000"/>
              </a:lnSpc>
              <a:spcBef>
                <a:spcPct val="30000"/>
              </a:spcBef>
            </a:pPr>
            <a:r>
              <a:rPr lang="zh-CN" altLang="en-US" sz="2400" dirty="0" smtClean="0">
                <a:latin typeface="Times New Roman" pitchFamily="18" charset="0"/>
              </a:rPr>
              <a:t>第</a:t>
            </a:r>
            <a:r>
              <a:rPr lang="en-US" altLang="zh-CN" sz="2400" dirty="0" smtClean="0">
                <a:latin typeface="Times New Roman" pitchFamily="18" charset="0"/>
              </a:rPr>
              <a:t>2</a:t>
            </a:r>
            <a:r>
              <a:rPr lang="zh-CN" altLang="en-US" sz="2400" dirty="0" smtClean="0">
                <a:latin typeface="Times New Roman" pitchFamily="18" charset="0"/>
              </a:rPr>
              <a:t>个四分位数（</a:t>
            </a:r>
            <a:r>
              <a:rPr lang="en-US" altLang="zh-CN" sz="2400" i="1" dirty="0" smtClean="0">
                <a:latin typeface="+mn-ea"/>
              </a:rPr>
              <a:t>Q</a:t>
            </a:r>
            <a:r>
              <a:rPr lang="en-US" altLang="zh-CN" sz="2400" baseline="-25000" dirty="0" smtClean="0">
                <a:latin typeface="Times New Roman" pitchFamily="18" charset="0"/>
              </a:rPr>
              <a:t>2</a:t>
            </a:r>
            <a:r>
              <a:rPr lang="zh-CN" altLang="en-US" sz="2400" dirty="0" smtClean="0">
                <a:latin typeface="Times New Roman" pitchFamily="18" charset="0"/>
              </a:rPr>
              <a:t>）就是中位数，通常所说的四分位数是指处在</a:t>
            </a:r>
            <a:r>
              <a:rPr lang="en-US" altLang="zh-CN" sz="2400" dirty="0" smtClean="0"/>
              <a:t>25%</a:t>
            </a:r>
            <a:r>
              <a:rPr lang="zh-CN" altLang="en-US" sz="2400" dirty="0" smtClean="0">
                <a:latin typeface="Times New Roman" pitchFamily="18" charset="0"/>
              </a:rPr>
              <a:t>位置上的数值（第</a:t>
            </a:r>
            <a:r>
              <a:rPr lang="en-US" altLang="zh-CN" sz="2400" dirty="0" smtClean="0">
                <a:latin typeface="Times New Roman" pitchFamily="18" charset="0"/>
              </a:rPr>
              <a:t>1</a:t>
            </a:r>
            <a:r>
              <a:rPr lang="zh-CN" altLang="en-US" sz="2400" dirty="0" smtClean="0">
                <a:latin typeface="Times New Roman" pitchFamily="18" charset="0"/>
              </a:rPr>
              <a:t>四分位数</a:t>
            </a:r>
            <a:r>
              <a:rPr lang="en-US" altLang="zh-CN" sz="2400" i="1" dirty="0" smtClean="0">
                <a:latin typeface="+mn-ea"/>
              </a:rPr>
              <a:t>Q</a:t>
            </a:r>
            <a:r>
              <a:rPr lang="en-US" altLang="zh-CN" sz="2400" baseline="-25000" dirty="0" smtClean="0">
                <a:latin typeface="Times New Roman" pitchFamily="18" charset="0"/>
              </a:rPr>
              <a:t>1</a:t>
            </a:r>
            <a:r>
              <a:rPr lang="zh-CN" altLang="en-US" sz="2400" baseline="-25000" dirty="0" smtClean="0">
                <a:latin typeface="Times New Roman" pitchFamily="18" charset="0"/>
              </a:rPr>
              <a:t>，</a:t>
            </a:r>
            <a:r>
              <a:rPr lang="zh-CN" altLang="en-US" sz="2400" dirty="0" smtClean="0">
                <a:latin typeface="Times New Roman" pitchFamily="18" charset="0"/>
              </a:rPr>
              <a:t>下四分位数</a:t>
            </a:r>
            <a:r>
              <a:rPr lang="en-US" altLang="zh-CN" sz="2400" i="1" dirty="0" smtClean="0">
                <a:latin typeface="+mn-ea"/>
              </a:rPr>
              <a:t>Q</a:t>
            </a:r>
            <a:r>
              <a:rPr lang="en-US" altLang="zh-CN" sz="2400" i="1" baseline="-25000" dirty="0" smtClean="0">
                <a:latin typeface="Times New Roman" pitchFamily="18" charset="0"/>
              </a:rPr>
              <a:t>L</a:t>
            </a:r>
            <a:r>
              <a:rPr lang="zh-CN" altLang="en-US" sz="2400" dirty="0" smtClean="0"/>
              <a:t>）和处在</a:t>
            </a:r>
            <a:r>
              <a:rPr lang="en-US" altLang="zh-CN" sz="2400" dirty="0" smtClean="0"/>
              <a:t>75%</a:t>
            </a:r>
            <a:r>
              <a:rPr lang="zh-CN" altLang="en-US" sz="2400" dirty="0" smtClean="0"/>
              <a:t>位置上的数值（</a:t>
            </a:r>
            <a:r>
              <a:rPr lang="zh-CN" altLang="en-US" sz="2400" dirty="0" smtClean="0">
                <a:latin typeface="Times New Roman" pitchFamily="18" charset="0"/>
              </a:rPr>
              <a:t>第</a:t>
            </a:r>
            <a:r>
              <a:rPr lang="en-US" altLang="zh-CN" sz="2400" dirty="0" smtClean="0">
                <a:latin typeface="Times New Roman" pitchFamily="18" charset="0"/>
              </a:rPr>
              <a:t>1</a:t>
            </a:r>
            <a:r>
              <a:rPr lang="zh-CN" altLang="en-US" sz="2400" dirty="0" smtClean="0">
                <a:latin typeface="Times New Roman" pitchFamily="18" charset="0"/>
              </a:rPr>
              <a:t>四分位数</a:t>
            </a:r>
            <a:r>
              <a:rPr lang="en-US" altLang="zh-CN" sz="2400" i="1" dirty="0" smtClean="0">
                <a:latin typeface="+mn-ea"/>
              </a:rPr>
              <a:t>Q</a:t>
            </a:r>
            <a:r>
              <a:rPr lang="en-US" altLang="zh-CN" sz="2400" baseline="-25000" dirty="0" smtClean="0">
                <a:latin typeface="Times New Roman" pitchFamily="18" charset="0"/>
              </a:rPr>
              <a:t>3</a:t>
            </a:r>
            <a:r>
              <a:rPr lang="zh-CN" altLang="en-US" sz="2400" dirty="0" smtClean="0">
                <a:latin typeface="Times New Roman" pitchFamily="18" charset="0"/>
              </a:rPr>
              <a:t>，</a:t>
            </a:r>
            <a:r>
              <a:rPr lang="zh-CN" altLang="en-US" sz="2400" dirty="0" smtClean="0"/>
              <a:t>上四分位数</a:t>
            </a:r>
            <a:r>
              <a:rPr lang="en-US" altLang="zh-CN" sz="2400" i="1" dirty="0" smtClean="0">
                <a:latin typeface="+mn-ea"/>
              </a:rPr>
              <a:t>Q</a:t>
            </a:r>
            <a:r>
              <a:rPr lang="en-US" altLang="zh-CN" sz="2400" i="1" baseline="-25000" dirty="0" smtClean="0">
                <a:latin typeface="Times New Roman" pitchFamily="18" charset="0"/>
              </a:rPr>
              <a:t>U</a:t>
            </a:r>
            <a:r>
              <a:rPr lang="zh-CN" altLang="en-US" sz="2400" dirty="0" smtClean="0"/>
              <a:t>） </a:t>
            </a:r>
            <a:r>
              <a:rPr lang="zh-CN" altLang="en-US" sz="2400" dirty="0" smtClean="0">
                <a:latin typeface="Times New Roman" pitchFamily="18" charset="0"/>
              </a:rPr>
              <a:t>。</a:t>
            </a:r>
          </a:p>
          <a:p>
            <a:pPr lvl="1" algn="just" eaLnBrk="1" hangingPunct="1">
              <a:lnSpc>
                <a:spcPct val="125000"/>
              </a:lnSpc>
              <a:spcBef>
                <a:spcPct val="30000"/>
              </a:spcBef>
            </a:pPr>
            <a:endParaRPr lang="en-US" altLang="zh-CN" sz="1800" dirty="0" smtClean="0">
              <a:solidFill>
                <a:srgbClr val="993300"/>
              </a:solidFill>
            </a:endParaRPr>
          </a:p>
        </p:txBody>
      </p:sp>
      <p:sp>
        <p:nvSpPr>
          <p:cNvPr id="124933" name="Rectangle 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124934" name="Rectangle 7"/>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pSp>
        <p:nvGrpSpPr>
          <p:cNvPr id="15" name="Group 12"/>
          <p:cNvGrpSpPr>
            <a:grpSpLocks/>
          </p:cNvGrpSpPr>
          <p:nvPr/>
        </p:nvGrpSpPr>
        <p:grpSpPr bwMode="auto">
          <a:xfrm>
            <a:off x="1043038" y="5167461"/>
            <a:ext cx="7272335" cy="1203325"/>
            <a:chOff x="566" y="2840"/>
            <a:chExt cx="4581" cy="758"/>
          </a:xfrm>
        </p:grpSpPr>
        <p:sp>
          <p:nvSpPr>
            <p:cNvPr id="16" name="Rectangle 5"/>
            <p:cNvSpPr>
              <a:spLocks noChangeArrowheads="1"/>
            </p:cNvSpPr>
            <p:nvPr/>
          </p:nvSpPr>
          <p:spPr bwMode="auto">
            <a:xfrm>
              <a:off x="2471" y="3196"/>
              <a:ext cx="771" cy="402"/>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en-US" altLang="zh-CN" sz="3600" b="1" dirty="0">
                  <a:solidFill>
                    <a:srgbClr val="FF3300"/>
                  </a:solidFill>
                  <a:effectLst>
                    <a:outerShdw blurRad="38100" dist="38100" dir="2700000" algn="tl">
                      <a:srgbClr val="C0C0C0"/>
                    </a:outerShdw>
                  </a:effectLst>
                  <a:latin typeface="Arial" charset="0"/>
                  <a:ea typeface="宋体" pitchFamily="2" charset="-122"/>
                </a:rPr>
                <a:t>M</a:t>
              </a:r>
              <a:r>
                <a:rPr lang="en-US" altLang="zh-CN" sz="3600" b="1" baseline="-25000" dirty="0">
                  <a:solidFill>
                    <a:srgbClr val="FF3300"/>
                  </a:solidFill>
                  <a:effectLst>
                    <a:outerShdw blurRad="38100" dist="38100" dir="2700000" algn="tl">
                      <a:srgbClr val="C0C0C0"/>
                    </a:outerShdw>
                  </a:effectLst>
                  <a:latin typeface="Arial" charset="0"/>
                  <a:ea typeface="宋体" pitchFamily="2" charset="-122"/>
                </a:rPr>
                <a:t>e</a:t>
              </a:r>
            </a:p>
          </p:txBody>
        </p:sp>
        <p:grpSp>
          <p:nvGrpSpPr>
            <p:cNvPr id="17" name="Group 11"/>
            <p:cNvGrpSpPr>
              <a:grpSpLocks/>
            </p:cNvGrpSpPr>
            <p:nvPr/>
          </p:nvGrpSpPr>
          <p:grpSpPr bwMode="auto">
            <a:xfrm>
              <a:off x="748" y="2840"/>
              <a:ext cx="2948" cy="373"/>
              <a:chOff x="748" y="2840"/>
              <a:chExt cx="2948" cy="373"/>
            </a:xfrm>
          </p:grpSpPr>
          <p:sp>
            <p:nvSpPr>
              <p:cNvPr id="20" name="Text Box 7"/>
              <p:cNvSpPr txBox="1">
                <a:spLocks noChangeArrowheads="1"/>
              </p:cNvSpPr>
              <p:nvPr/>
            </p:nvSpPr>
            <p:spPr bwMode="auto">
              <a:xfrm>
                <a:off x="748" y="2840"/>
                <a:ext cx="1088" cy="373"/>
              </a:xfrm>
              <a:prstGeom prst="rect">
                <a:avLst/>
              </a:prstGeom>
              <a:solidFill>
                <a:srgbClr val="D89CBE"/>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dirty="0" smtClean="0">
                    <a:solidFill>
                      <a:srgbClr val="FFFF66"/>
                    </a:solidFill>
                    <a:effectLst>
                      <a:outerShdw blurRad="38100" dist="38100" dir="2700000" algn="tl">
                        <a:srgbClr val="000000"/>
                      </a:outerShdw>
                    </a:effectLst>
                    <a:latin typeface="Arial" charset="0"/>
                    <a:ea typeface="宋体" pitchFamily="2" charset="-122"/>
                  </a:rPr>
                  <a:t>25%</a:t>
                </a:r>
                <a:endParaRPr lang="en-US" altLang="zh-CN" sz="3200" b="1" dirty="0">
                  <a:solidFill>
                    <a:srgbClr val="FFFF66"/>
                  </a:solidFill>
                  <a:effectLst>
                    <a:outerShdw blurRad="38100" dist="38100" dir="2700000" algn="tl">
                      <a:srgbClr val="000000"/>
                    </a:outerShdw>
                  </a:effectLst>
                  <a:latin typeface="Arial" charset="0"/>
                  <a:ea typeface="宋体" pitchFamily="2" charset="-122"/>
                </a:endParaRPr>
              </a:p>
            </p:txBody>
          </p:sp>
          <p:sp>
            <p:nvSpPr>
              <p:cNvPr id="22" name="Text Box 7"/>
              <p:cNvSpPr txBox="1">
                <a:spLocks noChangeArrowheads="1"/>
              </p:cNvSpPr>
              <p:nvPr/>
            </p:nvSpPr>
            <p:spPr bwMode="auto">
              <a:xfrm>
                <a:off x="1836" y="2840"/>
                <a:ext cx="953" cy="373"/>
              </a:xfrm>
              <a:prstGeom prst="rect">
                <a:avLst/>
              </a:prstGeom>
              <a:solidFill>
                <a:srgbClr val="CE84AE"/>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dirty="0" smtClean="0">
                    <a:solidFill>
                      <a:srgbClr val="FFFF66"/>
                    </a:solidFill>
                    <a:effectLst>
                      <a:outerShdw blurRad="38100" dist="38100" dir="2700000" algn="tl">
                        <a:srgbClr val="000000"/>
                      </a:outerShdw>
                    </a:effectLst>
                    <a:latin typeface="Arial" charset="0"/>
                    <a:ea typeface="宋体" pitchFamily="2" charset="-122"/>
                  </a:rPr>
                  <a:t>25%</a:t>
                </a:r>
                <a:endParaRPr lang="en-US" altLang="zh-CN" sz="3200" b="1" dirty="0">
                  <a:solidFill>
                    <a:srgbClr val="FFFF66"/>
                  </a:solidFill>
                  <a:effectLst>
                    <a:outerShdw blurRad="38100" dist="38100" dir="2700000" algn="tl">
                      <a:srgbClr val="000000"/>
                    </a:outerShdw>
                  </a:effectLst>
                  <a:latin typeface="Arial" charset="0"/>
                  <a:ea typeface="宋体" pitchFamily="2" charset="-122"/>
                </a:endParaRPr>
              </a:p>
            </p:txBody>
          </p:sp>
          <p:sp>
            <p:nvSpPr>
              <p:cNvPr id="23" name="Text Box 7"/>
              <p:cNvSpPr txBox="1">
                <a:spLocks noChangeArrowheads="1"/>
              </p:cNvSpPr>
              <p:nvPr/>
            </p:nvSpPr>
            <p:spPr bwMode="auto">
              <a:xfrm>
                <a:off x="2789" y="2840"/>
                <a:ext cx="907" cy="373"/>
              </a:xfrm>
              <a:prstGeom prst="rect">
                <a:avLst/>
              </a:prstGeom>
              <a:solidFill>
                <a:srgbClr val="C56B9E"/>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dirty="0" smtClean="0">
                    <a:solidFill>
                      <a:srgbClr val="FFFF66"/>
                    </a:solidFill>
                    <a:effectLst>
                      <a:outerShdw blurRad="38100" dist="38100" dir="2700000" algn="tl">
                        <a:srgbClr val="000000"/>
                      </a:outerShdw>
                    </a:effectLst>
                    <a:latin typeface="Arial" charset="0"/>
                    <a:ea typeface="宋体" pitchFamily="2" charset="-122"/>
                  </a:rPr>
                  <a:t>25%</a:t>
                </a:r>
                <a:endParaRPr lang="en-US" altLang="zh-CN" sz="3200" b="1" dirty="0">
                  <a:solidFill>
                    <a:srgbClr val="FFFF66"/>
                  </a:solidFill>
                  <a:effectLst>
                    <a:outerShdw blurRad="38100" dist="38100" dir="2700000" algn="tl">
                      <a:srgbClr val="000000"/>
                    </a:outerShdw>
                  </a:effectLst>
                  <a:latin typeface="Arial" charset="0"/>
                  <a:ea typeface="宋体" pitchFamily="2" charset="-122"/>
                </a:endParaRPr>
              </a:p>
            </p:txBody>
          </p:sp>
        </p:grpSp>
        <p:sp>
          <p:nvSpPr>
            <p:cNvPr id="18" name="Text Box 9"/>
            <p:cNvSpPr txBox="1">
              <a:spLocks noChangeArrowheads="1"/>
            </p:cNvSpPr>
            <p:nvPr/>
          </p:nvSpPr>
          <p:spPr bwMode="auto">
            <a:xfrm>
              <a:off x="566" y="3196"/>
              <a:ext cx="635" cy="291"/>
            </a:xfrm>
            <a:prstGeom prst="rect">
              <a:avLst/>
            </a:prstGeom>
            <a:noFill/>
            <a:ln w="9525">
              <a:noFill/>
              <a:miter lim="800000"/>
              <a:headEnd/>
              <a:tailEnd/>
            </a:ln>
          </p:spPr>
          <p:txBody>
            <a:bodyPr wrap="square">
              <a:spAutoFit/>
            </a:bodyPr>
            <a:lstStyle/>
            <a:p>
              <a:pPr>
                <a:spcBef>
                  <a:spcPct val="50000"/>
                </a:spcBef>
              </a:pPr>
              <a:r>
                <a:rPr lang="en-US" altLang="zh-CN" b="1" i="1" dirty="0" err="1" smtClean="0">
                  <a:solidFill>
                    <a:srgbClr val="000000"/>
                  </a:solidFill>
                  <a:ea typeface="宋体" pitchFamily="2" charset="-122"/>
                </a:rPr>
                <a:t>X</a:t>
              </a:r>
              <a:r>
                <a:rPr lang="en-US" altLang="zh-CN" sz="3600" b="1" baseline="-25000" dirty="0" err="1" smtClean="0">
                  <a:solidFill>
                    <a:srgbClr val="000000"/>
                  </a:solidFill>
                  <a:ea typeface="宋体" pitchFamily="2" charset="-122"/>
                </a:rPr>
                <a:t>min</a:t>
              </a:r>
              <a:endParaRPr lang="en-US" altLang="zh-CN" sz="3600" b="1" baseline="-25000" dirty="0">
                <a:solidFill>
                  <a:srgbClr val="000000"/>
                </a:solidFill>
                <a:ea typeface="宋体" pitchFamily="2" charset="-122"/>
              </a:endParaRPr>
            </a:p>
          </p:txBody>
        </p:sp>
        <p:sp>
          <p:nvSpPr>
            <p:cNvPr id="19" name="Text Box 10"/>
            <p:cNvSpPr txBox="1">
              <a:spLocks noChangeArrowheads="1"/>
            </p:cNvSpPr>
            <p:nvPr/>
          </p:nvSpPr>
          <p:spPr bwMode="auto">
            <a:xfrm>
              <a:off x="4467" y="3223"/>
              <a:ext cx="680" cy="291"/>
            </a:xfrm>
            <a:prstGeom prst="rect">
              <a:avLst/>
            </a:prstGeom>
            <a:noFill/>
            <a:ln w="9525">
              <a:noFill/>
              <a:miter lim="800000"/>
              <a:headEnd/>
              <a:tailEnd/>
            </a:ln>
          </p:spPr>
          <p:txBody>
            <a:bodyPr wrap="square">
              <a:spAutoFit/>
            </a:bodyPr>
            <a:lstStyle/>
            <a:p>
              <a:pPr>
                <a:spcBef>
                  <a:spcPct val="50000"/>
                </a:spcBef>
              </a:pPr>
              <a:r>
                <a:rPr lang="en-US" altLang="zh-CN" b="1" i="1" dirty="0" err="1" smtClean="0">
                  <a:solidFill>
                    <a:srgbClr val="000000"/>
                  </a:solidFill>
                  <a:ea typeface="宋体" pitchFamily="2" charset="-122"/>
                </a:rPr>
                <a:t>X</a:t>
              </a:r>
              <a:r>
                <a:rPr lang="en-US" altLang="zh-CN" sz="3600" b="1" baseline="-25000" dirty="0" err="1" smtClean="0">
                  <a:solidFill>
                    <a:srgbClr val="000000"/>
                  </a:solidFill>
                  <a:ea typeface="宋体" pitchFamily="2" charset="-122"/>
                </a:rPr>
                <a:t>max</a:t>
              </a:r>
              <a:endParaRPr lang="en-US" altLang="zh-CN" sz="3600" b="1" baseline="-25000" dirty="0">
                <a:solidFill>
                  <a:srgbClr val="000000"/>
                </a:solidFill>
                <a:ea typeface="宋体" pitchFamily="2" charset="-122"/>
              </a:endParaRPr>
            </a:p>
          </p:txBody>
        </p:sp>
        <p:sp>
          <p:nvSpPr>
            <p:cNvPr id="24" name="Text Box 9"/>
            <p:cNvSpPr txBox="1">
              <a:spLocks noChangeArrowheads="1"/>
            </p:cNvSpPr>
            <p:nvPr/>
          </p:nvSpPr>
          <p:spPr bwMode="auto">
            <a:xfrm>
              <a:off x="1700" y="3158"/>
              <a:ext cx="454" cy="407"/>
            </a:xfrm>
            <a:prstGeom prst="rect">
              <a:avLst/>
            </a:prstGeom>
            <a:noFill/>
            <a:ln w="9525">
              <a:noFill/>
              <a:miter lim="800000"/>
              <a:headEnd/>
              <a:tailEnd/>
            </a:ln>
          </p:spPr>
          <p:txBody>
            <a:bodyPr wrap="square">
              <a:spAutoFit/>
            </a:bodyPr>
            <a:lstStyle/>
            <a:p>
              <a:pPr>
                <a:spcBef>
                  <a:spcPct val="50000"/>
                </a:spcBef>
              </a:pPr>
              <a:r>
                <a:rPr lang="en-US" altLang="zh-CN" sz="3600" b="1" i="1" dirty="0" smtClean="0">
                  <a:solidFill>
                    <a:srgbClr val="C00000"/>
                  </a:solidFill>
                  <a:latin typeface="+mn-ea"/>
                </a:rPr>
                <a:t>Q</a:t>
              </a:r>
              <a:r>
                <a:rPr lang="en-US" altLang="zh-CN" sz="3600" b="1" baseline="-25000" dirty="0" smtClean="0">
                  <a:solidFill>
                    <a:srgbClr val="C00000"/>
                  </a:solidFill>
                </a:rPr>
                <a:t>1</a:t>
              </a:r>
              <a:endParaRPr lang="en-US" altLang="zh-CN" sz="4800" b="1" baseline="-25000" dirty="0">
                <a:solidFill>
                  <a:srgbClr val="C00000"/>
                </a:solidFill>
                <a:ea typeface="宋体" pitchFamily="2" charset="-122"/>
              </a:endParaRPr>
            </a:p>
          </p:txBody>
        </p:sp>
        <p:sp>
          <p:nvSpPr>
            <p:cNvPr id="25" name="Text Box 9"/>
            <p:cNvSpPr txBox="1">
              <a:spLocks noChangeArrowheads="1"/>
            </p:cNvSpPr>
            <p:nvPr/>
          </p:nvSpPr>
          <p:spPr bwMode="auto">
            <a:xfrm>
              <a:off x="3515" y="3158"/>
              <a:ext cx="408" cy="407"/>
            </a:xfrm>
            <a:prstGeom prst="rect">
              <a:avLst/>
            </a:prstGeom>
            <a:noFill/>
            <a:ln w="9525">
              <a:noFill/>
              <a:miter lim="800000"/>
              <a:headEnd/>
              <a:tailEnd/>
            </a:ln>
          </p:spPr>
          <p:txBody>
            <a:bodyPr wrap="square">
              <a:spAutoFit/>
            </a:bodyPr>
            <a:lstStyle/>
            <a:p>
              <a:pPr>
                <a:spcBef>
                  <a:spcPct val="50000"/>
                </a:spcBef>
              </a:pPr>
              <a:r>
                <a:rPr lang="en-US" altLang="zh-CN" sz="3600" b="1" i="1" dirty="0" smtClean="0">
                  <a:solidFill>
                    <a:srgbClr val="C00000"/>
                  </a:solidFill>
                  <a:latin typeface="+mn-ea"/>
                </a:rPr>
                <a:t>Q</a:t>
              </a:r>
              <a:r>
                <a:rPr lang="en-US" altLang="zh-CN" sz="3600" b="1" baseline="-25000" dirty="0" smtClean="0">
                  <a:solidFill>
                    <a:srgbClr val="C00000"/>
                  </a:solidFill>
                </a:rPr>
                <a:t>3</a:t>
              </a:r>
              <a:endParaRPr lang="en-US" altLang="zh-CN" sz="4800" b="1" baseline="-25000" dirty="0">
                <a:solidFill>
                  <a:srgbClr val="C00000"/>
                </a:solidFill>
                <a:ea typeface="宋体" pitchFamily="2" charset="-122"/>
              </a:endParaRPr>
            </a:p>
          </p:txBody>
        </p:sp>
      </p:grpSp>
      <p:sp>
        <p:nvSpPr>
          <p:cNvPr id="26" name="Text Box 7"/>
          <p:cNvSpPr txBox="1">
            <a:spLocks noChangeArrowheads="1"/>
          </p:cNvSpPr>
          <p:nvPr/>
        </p:nvSpPr>
        <p:spPr bwMode="auto">
          <a:xfrm>
            <a:off x="6012410" y="5157192"/>
            <a:ext cx="1439910" cy="592138"/>
          </a:xfrm>
          <a:prstGeom prst="rect">
            <a:avLst/>
          </a:prstGeom>
          <a:solidFill>
            <a:srgbClr val="B74988"/>
          </a:solidFill>
          <a:ln w="12700">
            <a:solidFill>
              <a:srgbClr val="000000"/>
            </a:solidFill>
            <a:miter lim="800000"/>
            <a:headEnd/>
            <a:tailEnd/>
          </a:ln>
          <a:effectLst>
            <a:outerShdw dist="53882" dir="2700000" algn="ctr" rotWithShape="0">
              <a:schemeClr val="bg2"/>
            </a:outerShdw>
          </a:effectLst>
        </p:spPr>
        <p:txBody>
          <a:bodyPr wrap="square">
            <a:spAutoFit/>
          </a:bodyPr>
          <a:lstStyle/>
          <a:p>
            <a:pPr algn="ctr" eaLnBrk="0" hangingPunct="0">
              <a:spcBef>
                <a:spcPct val="50000"/>
              </a:spcBef>
              <a:defRPr/>
            </a:pPr>
            <a:r>
              <a:rPr lang="en-US" altLang="zh-CN" sz="3200" b="1" dirty="0" smtClean="0">
                <a:solidFill>
                  <a:srgbClr val="FFFF66"/>
                </a:solidFill>
                <a:effectLst>
                  <a:outerShdw blurRad="38100" dist="38100" dir="2700000" algn="tl">
                    <a:srgbClr val="000000"/>
                  </a:outerShdw>
                </a:effectLst>
                <a:latin typeface="Arial" charset="0"/>
                <a:ea typeface="宋体" pitchFamily="2" charset="-122"/>
              </a:rPr>
              <a:t>25%</a:t>
            </a:r>
            <a:endParaRPr lang="en-US" altLang="zh-CN" sz="3200" b="1" dirty="0">
              <a:solidFill>
                <a:srgbClr val="FFFF66"/>
              </a:solidFill>
              <a:effectLst>
                <a:outerShdw blurRad="38100" dist="38100" dir="2700000" algn="tl">
                  <a:srgbClr val="000000"/>
                </a:outerShdw>
              </a:effectLst>
              <a:latin typeface="Arial" charset="0"/>
              <a:ea typeface="宋体" pitchFamily="2" charset="-122"/>
            </a:endParaRPr>
          </a:p>
        </p:txBody>
      </p:sp>
      <p:sp>
        <p:nvSpPr>
          <p:cNvPr id="21" name="灯片编号占位符 20"/>
          <p:cNvSpPr>
            <a:spLocks noGrp="1"/>
          </p:cNvSpPr>
          <p:nvPr>
            <p:ph type="sldNum" sz="quarter" idx="12"/>
          </p:nvPr>
        </p:nvSpPr>
        <p:spPr/>
        <p:txBody>
          <a:bodyPr/>
          <a:lstStyle/>
          <a:p>
            <a:pPr>
              <a:defRPr/>
            </a:pPr>
            <a:fld id="{62FC49CA-8014-4DA2-ABEB-AF96863EC77D}" type="slidenum">
              <a:rPr lang="en-US" altLang="zh-CN" smtClean="0"/>
              <a:pPr>
                <a:defRPr/>
              </a:pPr>
              <a:t>89</a:t>
            </a:fld>
            <a:endParaRPr lang="en-US" altLang="zh-CN" dirty="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7" name="Rectangle 2"/>
          <p:cNvSpPr>
            <a:spLocks noGrp="1" noChangeArrowheads="1"/>
          </p:cNvSpPr>
          <p:nvPr>
            <p:ph type="title"/>
          </p:nvPr>
        </p:nvSpPr>
        <p:spPr>
          <a:xfrm>
            <a:off x="465337" y="-113452"/>
            <a:ext cx="7772400" cy="990600"/>
          </a:xfrm>
        </p:spPr>
        <p:txBody>
          <a:bodyPr/>
          <a:lstStyle/>
          <a:p>
            <a:pPr eaLnBrk="1" hangingPunct="1"/>
            <a:r>
              <a:rPr lang="en-US" altLang="zh-CN" sz="4000" b="0" dirty="0" smtClean="0"/>
              <a:t>【</a:t>
            </a:r>
            <a:r>
              <a:rPr lang="zh-CN" altLang="en-US" sz="4000" b="0" dirty="0" smtClean="0"/>
              <a:t>例</a:t>
            </a:r>
            <a:r>
              <a:rPr lang="en-US" altLang="zh-CN" sz="4000" b="0" dirty="0" smtClean="0"/>
              <a:t>】</a:t>
            </a:r>
          </a:p>
        </p:txBody>
      </p:sp>
      <p:sp>
        <p:nvSpPr>
          <p:cNvPr id="35848" name="Rectangle 3"/>
          <p:cNvSpPr>
            <a:spLocks noGrp="1" noChangeArrowheads="1"/>
          </p:cNvSpPr>
          <p:nvPr>
            <p:ph type="body" idx="1"/>
          </p:nvPr>
        </p:nvSpPr>
        <p:spPr>
          <a:xfrm>
            <a:off x="360015" y="924238"/>
            <a:ext cx="8135937" cy="1655763"/>
          </a:xfrm>
        </p:spPr>
        <p:txBody>
          <a:bodyPr/>
          <a:lstStyle/>
          <a:p>
            <a:pPr marL="0" indent="0" eaLnBrk="1" hangingPunct="1">
              <a:lnSpc>
                <a:spcPct val="90000"/>
              </a:lnSpc>
              <a:buNone/>
            </a:pPr>
            <a:r>
              <a:rPr lang="zh-CN" altLang="en-US" dirty="0" smtClean="0">
                <a:solidFill>
                  <a:schemeClr val="tx1"/>
                </a:solidFill>
              </a:rPr>
              <a:t>假设</a:t>
            </a:r>
            <a:r>
              <a:rPr lang="en-US" altLang="zh-CN" dirty="0" smtClean="0">
                <a:solidFill>
                  <a:schemeClr val="tx1"/>
                </a:solidFill>
              </a:rPr>
              <a:t>10</a:t>
            </a:r>
            <a:r>
              <a:rPr lang="zh-CN" altLang="en-US" dirty="0" smtClean="0">
                <a:solidFill>
                  <a:schemeClr val="tx1"/>
                </a:solidFill>
              </a:rPr>
              <a:t>名学生的成绩分别为：</a:t>
            </a:r>
          </a:p>
          <a:p>
            <a:pPr eaLnBrk="1" hangingPunct="1">
              <a:lnSpc>
                <a:spcPct val="90000"/>
              </a:lnSpc>
              <a:buFontTx/>
              <a:buNone/>
            </a:pPr>
            <a:r>
              <a:rPr lang="zh-CN" altLang="en-US" dirty="0" smtClean="0">
                <a:solidFill>
                  <a:schemeClr val="tx1"/>
                </a:solidFill>
                <a:latin typeface="Times New Roman" pitchFamily="18" charset="0"/>
              </a:rPr>
              <a:t>  </a:t>
            </a:r>
            <a:r>
              <a:rPr lang="en-US" altLang="zh-CN" dirty="0" smtClean="0">
                <a:solidFill>
                  <a:schemeClr val="tx1"/>
                </a:solidFill>
                <a:latin typeface="Times New Roman" pitchFamily="18" charset="0"/>
              </a:rPr>
              <a:t>50</a:t>
            </a:r>
            <a:r>
              <a:rPr lang="zh-CN" altLang="en-US" dirty="0" smtClean="0">
                <a:solidFill>
                  <a:schemeClr val="tx1"/>
                </a:solidFill>
                <a:latin typeface="Times New Roman" pitchFamily="18" charset="0"/>
              </a:rPr>
              <a:t>、</a:t>
            </a:r>
            <a:r>
              <a:rPr lang="en-US" altLang="zh-CN" dirty="0" smtClean="0">
                <a:solidFill>
                  <a:srgbClr val="7030A0"/>
                </a:solidFill>
                <a:latin typeface="Times New Roman" pitchFamily="18" charset="0"/>
              </a:rPr>
              <a:t>65</a:t>
            </a:r>
            <a:r>
              <a:rPr lang="zh-CN" altLang="en-US" dirty="0" smtClean="0">
                <a:solidFill>
                  <a:srgbClr val="7030A0"/>
                </a:solidFill>
                <a:latin typeface="Times New Roman" pitchFamily="18" charset="0"/>
              </a:rPr>
              <a:t>、</a:t>
            </a:r>
            <a:r>
              <a:rPr lang="en-US" altLang="zh-CN" dirty="0" smtClean="0">
                <a:solidFill>
                  <a:srgbClr val="7030A0"/>
                </a:solidFill>
                <a:latin typeface="Times New Roman" pitchFamily="18" charset="0"/>
              </a:rPr>
              <a:t>73</a:t>
            </a:r>
            <a:r>
              <a:rPr lang="zh-CN" altLang="en-US" dirty="0" smtClean="0">
                <a:solidFill>
                  <a:schemeClr val="tx1"/>
                </a:solidFill>
                <a:latin typeface="Times New Roman" pitchFamily="18" charset="0"/>
              </a:rPr>
              <a:t>、</a:t>
            </a:r>
            <a:r>
              <a:rPr lang="en-US" altLang="zh-CN" dirty="0" smtClean="0">
                <a:solidFill>
                  <a:schemeClr val="tx1"/>
                </a:solidFill>
                <a:latin typeface="Times New Roman" pitchFamily="18" charset="0"/>
              </a:rPr>
              <a:t>77</a:t>
            </a:r>
            <a:r>
              <a:rPr lang="zh-CN" altLang="en-US" dirty="0" smtClean="0">
                <a:solidFill>
                  <a:schemeClr val="tx1"/>
                </a:solidFill>
                <a:latin typeface="Times New Roman" pitchFamily="18" charset="0"/>
              </a:rPr>
              <a:t>、</a:t>
            </a:r>
            <a:r>
              <a:rPr lang="en-US" altLang="zh-CN" dirty="0" smtClean="0">
                <a:solidFill>
                  <a:schemeClr val="tx1"/>
                </a:solidFill>
                <a:latin typeface="Times New Roman" pitchFamily="18" charset="0"/>
              </a:rPr>
              <a:t>78</a:t>
            </a:r>
            <a:r>
              <a:rPr lang="zh-CN" altLang="en-US" dirty="0" smtClean="0">
                <a:solidFill>
                  <a:schemeClr val="tx1"/>
                </a:solidFill>
                <a:latin typeface="Times New Roman" pitchFamily="18" charset="0"/>
              </a:rPr>
              <a:t>、</a:t>
            </a:r>
            <a:r>
              <a:rPr lang="en-US" altLang="zh-CN" dirty="0" smtClean="0">
                <a:solidFill>
                  <a:schemeClr val="tx1"/>
                </a:solidFill>
                <a:latin typeface="Times New Roman" pitchFamily="18" charset="0"/>
              </a:rPr>
              <a:t>80</a:t>
            </a:r>
            <a:r>
              <a:rPr lang="zh-CN" altLang="en-US" dirty="0" smtClean="0">
                <a:solidFill>
                  <a:schemeClr val="tx1"/>
                </a:solidFill>
                <a:latin typeface="Times New Roman" pitchFamily="18" charset="0"/>
              </a:rPr>
              <a:t>、</a:t>
            </a:r>
            <a:r>
              <a:rPr lang="en-US" altLang="zh-CN" dirty="0" smtClean="0">
                <a:solidFill>
                  <a:schemeClr val="tx1"/>
                </a:solidFill>
                <a:latin typeface="Times New Roman" pitchFamily="18" charset="0"/>
              </a:rPr>
              <a:t>85</a:t>
            </a:r>
            <a:r>
              <a:rPr lang="zh-CN" altLang="en-US" dirty="0" smtClean="0">
                <a:solidFill>
                  <a:schemeClr val="tx1"/>
                </a:solidFill>
                <a:latin typeface="Times New Roman" pitchFamily="18" charset="0"/>
              </a:rPr>
              <a:t>、</a:t>
            </a:r>
            <a:r>
              <a:rPr lang="en-US" altLang="zh-CN" dirty="0" smtClean="0">
                <a:solidFill>
                  <a:srgbClr val="7030A0"/>
                </a:solidFill>
                <a:latin typeface="Times New Roman" pitchFamily="18" charset="0"/>
              </a:rPr>
              <a:t>85</a:t>
            </a:r>
            <a:r>
              <a:rPr lang="zh-CN" altLang="en-US" dirty="0" smtClean="0">
                <a:solidFill>
                  <a:srgbClr val="7030A0"/>
                </a:solidFill>
                <a:latin typeface="Times New Roman" pitchFamily="18" charset="0"/>
              </a:rPr>
              <a:t>、</a:t>
            </a:r>
            <a:r>
              <a:rPr lang="en-US" altLang="zh-CN" dirty="0" smtClean="0">
                <a:solidFill>
                  <a:srgbClr val="7030A0"/>
                </a:solidFill>
                <a:latin typeface="Times New Roman" pitchFamily="18" charset="0"/>
              </a:rPr>
              <a:t>88</a:t>
            </a:r>
            <a:r>
              <a:rPr lang="zh-CN" altLang="en-US" dirty="0" smtClean="0">
                <a:solidFill>
                  <a:schemeClr val="tx1"/>
                </a:solidFill>
                <a:latin typeface="Times New Roman" pitchFamily="18" charset="0"/>
              </a:rPr>
              <a:t>、</a:t>
            </a:r>
            <a:r>
              <a:rPr lang="en-US" altLang="zh-CN" dirty="0" smtClean="0">
                <a:solidFill>
                  <a:schemeClr val="tx1"/>
                </a:solidFill>
                <a:latin typeface="Times New Roman" pitchFamily="18" charset="0"/>
              </a:rPr>
              <a:t>92</a:t>
            </a:r>
            <a:endParaRPr lang="zh-CN" altLang="en-US" dirty="0" smtClean="0">
              <a:solidFill>
                <a:schemeClr val="tx1"/>
              </a:solidFill>
              <a:latin typeface="Times New Roman" pitchFamily="18" charset="0"/>
            </a:endParaRPr>
          </a:p>
          <a:p>
            <a:pPr marL="0" indent="0" eaLnBrk="1" hangingPunct="1">
              <a:lnSpc>
                <a:spcPct val="90000"/>
              </a:lnSpc>
              <a:buNone/>
            </a:pPr>
            <a:r>
              <a:rPr lang="zh-CN" altLang="en-US" dirty="0" smtClean="0">
                <a:solidFill>
                  <a:schemeClr val="tx1"/>
                </a:solidFill>
              </a:rPr>
              <a:t>试计算成绩的四分位数。</a:t>
            </a:r>
          </a:p>
        </p:txBody>
      </p:sp>
      <p:sp>
        <p:nvSpPr>
          <p:cNvPr id="35850" name="Rectangle 7"/>
          <p:cNvSpPr>
            <a:spLocks noChangeArrowheads="1"/>
          </p:cNvSpPr>
          <p:nvPr/>
        </p:nvSpPr>
        <p:spPr bwMode="auto">
          <a:xfrm>
            <a:off x="0" y="3248025"/>
            <a:ext cx="9144000" cy="0"/>
          </a:xfrm>
          <a:prstGeom prst="rect">
            <a:avLst/>
          </a:prstGeom>
          <a:noFill/>
          <a:ln w="9525">
            <a:noFill/>
            <a:miter lim="800000"/>
            <a:headEnd/>
            <a:tailEnd/>
          </a:ln>
        </p:spPr>
        <p:txBody>
          <a:bodyPr wrap="none" anchor="ctr">
            <a:spAutoFit/>
          </a:bodyPr>
          <a:lstStyle/>
          <a:p>
            <a:endParaRPr lang="zh-CN" altLang="en-US"/>
          </a:p>
        </p:txBody>
      </p:sp>
      <p:sp>
        <p:nvSpPr>
          <p:cNvPr id="35851" name="Rectangle 9"/>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90</a:t>
            </a:fld>
            <a:endParaRPr lang="en-US" altLang="zh-CN" dirty="0"/>
          </a:p>
        </p:txBody>
      </p:sp>
      <p:sp>
        <p:nvSpPr>
          <p:cNvPr id="4" name="文本框 3"/>
          <p:cNvSpPr txBox="1"/>
          <p:nvPr/>
        </p:nvSpPr>
        <p:spPr>
          <a:xfrm>
            <a:off x="447636" y="5818652"/>
            <a:ext cx="3937447" cy="830997"/>
          </a:xfrm>
          <a:prstGeom prst="rect">
            <a:avLst/>
          </a:prstGeom>
          <a:noFill/>
        </p:spPr>
        <p:txBody>
          <a:bodyPr wrap="square" rtlCol="0">
            <a:spAutoFit/>
          </a:bodyPr>
          <a:lstStyle/>
          <a:p>
            <a:r>
              <a:rPr lang="zh-CN" altLang="en-US" b="1" dirty="0" smtClean="0">
                <a:solidFill>
                  <a:srgbClr val="1313FF"/>
                </a:solidFill>
                <a:latin typeface="黑体" panose="02010609060101010101" pitchFamily="49" charset="-122"/>
                <a:ea typeface="黑体" panose="02010609060101010101" pitchFamily="49" charset="-122"/>
              </a:rPr>
              <a:t>问题</a:t>
            </a:r>
            <a:r>
              <a:rPr lang="en-US" altLang="zh-CN" dirty="0" smtClean="0">
                <a:solidFill>
                  <a:srgbClr val="0070C0"/>
                </a:solidFill>
              </a:rPr>
              <a:t>——</a:t>
            </a:r>
            <a:r>
              <a:rPr lang="zh-CN" altLang="en-US" dirty="0" smtClean="0">
                <a:solidFill>
                  <a:srgbClr val="0070C0"/>
                </a:solidFill>
              </a:rPr>
              <a:t>此例存在什么问题？</a:t>
            </a:r>
            <a:r>
              <a:rPr lang="zh-CN" altLang="en-US" dirty="0" smtClean="0">
                <a:solidFill>
                  <a:schemeClr val="accent5">
                    <a:lumMod val="50000"/>
                  </a:schemeClr>
                </a:solidFill>
              </a:rPr>
              <a:t>（见备注）</a:t>
            </a:r>
            <a:endParaRPr lang="zh-CN" altLang="en-US" dirty="0">
              <a:solidFill>
                <a:schemeClr val="accent5">
                  <a:lumMod val="50000"/>
                </a:schemeClr>
              </a:solidFill>
            </a:endParaRPr>
          </a:p>
        </p:txBody>
      </p:sp>
      <mc:AlternateContent xmlns:mc="http://schemas.openxmlformats.org/markup-compatibility/2006" xmlns:a14="http://schemas.microsoft.com/office/drawing/2010/main">
        <mc:Choice Requires="a14">
          <p:sp>
            <p:nvSpPr>
              <p:cNvPr id="6" name="文本框 5"/>
              <p:cNvSpPr txBox="1"/>
              <p:nvPr/>
            </p:nvSpPr>
            <p:spPr>
              <a:xfrm>
                <a:off x="614231" y="2820036"/>
                <a:ext cx="3957769" cy="609269"/>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𝑄</m:t>
                        </m:r>
                      </m:e>
                      <m:sub>
                        <m:r>
                          <a:rPr lang="en-US" altLang="zh-CN" sz="2800" b="0" i="1" smtClean="0">
                            <a:latin typeface="Cambria Math" panose="02040503050406030204" pitchFamily="18" charset="0"/>
                          </a:rPr>
                          <m:t>𝐿</m:t>
                        </m:r>
                      </m:sub>
                    </m:sSub>
                    <m:r>
                      <a:rPr lang="zh-CN" altLang="en-US" sz="2800" i="1">
                        <a:latin typeface="Cambria Math" panose="02040503050406030204" pitchFamily="18" charset="0"/>
                        <a:ea typeface="+mn-ea"/>
                      </a:rPr>
                      <m:t>的</m:t>
                    </m:r>
                  </m:oMath>
                </a14:m>
                <a:r>
                  <a:rPr lang="zh-CN" altLang="en-US" sz="2800" dirty="0" smtClean="0">
                    <a:latin typeface="+mn-ea"/>
                    <a:ea typeface="+mn-ea"/>
                  </a:rPr>
                  <a:t>位置</a:t>
                </a:r>
                <a:r>
                  <a:rPr lang="en-US" altLang="zh-CN" sz="2800" dirty="0" smtClean="0">
                    <a:latin typeface="+mn-ea"/>
                    <a:ea typeface="+mn-ea"/>
                  </a:rPr>
                  <a:t>=</a:t>
                </a:r>
                <a14:m>
                  <m:oMath xmlns:m="http://schemas.openxmlformats.org/officeDocument/2006/math">
                    <m:f>
                      <m:fPr>
                        <m:ctrlPr>
                          <a:rPr lang="en-US" altLang="zh-CN" sz="2800" i="1" smtClean="0">
                            <a:latin typeface="Cambria Math" panose="02040503050406030204" pitchFamily="18" charset="0"/>
                            <a:ea typeface="+mn-ea"/>
                          </a:rPr>
                        </m:ctrlPr>
                      </m:fPr>
                      <m:num>
                        <m:r>
                          <a:rPr lang="en-US" altLang="zh-CN" sz="2800" b="0" i="1" smtClean="0">
                            <a:latin typeface="Cambria Math" panose="02040503050406030204" pitchFamily="18" charset="0"/>
                            <a:ea typeface="+mn-ea"/>
                          </a:rPr>
                          <m:t>𝑛</m:t>
                        </m:r>
                        <m:r>
                          <a:rPr lang="en-US" altLang="zh-CN" sz="2800" b="0" i="1" smtClean="0">
                            <a:latin typeface="Cambria Math" panose="02040503050406030204" pitchFamily="18" charset="0"/>
                            <a:ea typeface="+mn-ea"/>
                          </a:rPr>
                          <m:t>+1</m:t>
                        </m:r>
                      </m:num>
                      <m:den>
                        <m:r>
                          <a:rPr lang="en-US" altLang="zh-CN" sz="2800" b="0" i="1" smtClean="0">
                            <a:latin typeface="Cambria Math" panose="02040503050406030204" pitchFamily="18" charset="0"/>
                            <a:ea typeface="+mn-ea"/>
                          </a:rPr>
                          <m:t>4</m:t>
                        </m:r>
                      </m:den>
                    </m:f>
                  </m:oMath>
                </a14:m>
                <a:r>
                  <a:rPr lang="en-US" altLang="zh-CN" sz="2800" dirty="0" smtClean="0">
                    <a:latin typeface="+mn-ea"/>
                    <a:ea typeface="+mn-ea"/>
                  </a:rPr>
                  <a:t>=</a:t>
                </a:r>
                <a14:m>
                  <m:oMath xmlns:m="http://schemas.openxmlformats.org/officeDocument/2006/math">
                    <m:f>
                      <m:fPr>
                        <m:ctrlPr>
                          <a:rPr lang="en-US" altLang="zh-CN" sz="2800" i="1" smtClean="0">
                            <a:latin typeface="Cambria Math" panose="02040503050406030204" pitchFamily="18" charset="0"/>
                            <a:ea typeface="+mn-ea"/>
                          </a:rPr>
                        </m:ctrlPr>
                      </m:fPr>
                      <m:num>
                        <m:r>
                          <a:rPr lang="en-US" altLang="zh-CN" sz="2800" b="0" i="1" smtClean="0">
                            <a:latin typeface="Cambria Math" panose="02040503050406030204" pitchFamily="18" charset="0"/>
                            <a:ea typeface="+mn-ea"/>
                          </a:rPr>
                          <m:t>10+1</m:t>
                        </m:r>
                      </m:num>
                      <m:den>
                        <m:r>
                          <a:rPr lang="en-US" altLang="zh-CN" sz="2800" b="0" i="1" smtClean="0">
                            <a:latin typeface="Cambria Math" panose="02040503050406030204" pitchFamily="18" charset="0"/>
                            <a:ea typeface="+mn-ea"/>
                          </a:rPr>
                          <m:t>4</m:t>
                        </m:r>
                      </m:den>
                    </m:f>
                  </m:oMath>
                </a14:m>
                <a:r>
                  <a:rPr lang="en-US" altLang="zh-CN" sz="2800" dirty="0" smtClean="0">
                    <a:latin typeface="+mn-ea"/>
                    <a:ea typeface="+mn-ea"/>
                  </a:rPr>
                  <a:t>=2.75</a:t>
                </a:r>
                <a:endParaRPr lang="zh-CN" altLang="en-US" sz="2800" dirty="0">
                  <a:latin typeface="+mn-ea"/>
                  <a:ea typeface="+mn-ea"/>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614231" y="2820036"/>
                <a:ext cx="3957769" cy="609269"/>
              </a:xfrm>
              <a:prstGeom prst="rect">
                <a:avLst/>
              </a:prstGeom>
              <a:blipFill>
                <a:blip r:embed="rId3"/>
                <a:stretch>
                  <a:fillRect t="-8000" r="-2619"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4860032" y="2855301"/>
                <a:ext cx="4010085" cy="538737"/>
              </a:xfrm>
              <a:prstGeom prst="rect">
                <a:avLst/>
              </a:prstGeom>
              <a:noFill/>
            </p:spPr>
            <p:txBody>
              <a:bodyPr wrap="squar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𝑄</m:t>
                        </m:r>
                      </m:e>
                      <m:sub>
                        <m:r>
                          <m:rPr>
                            <m:sty m:val="p"/>
                          </m:rPr>
                          <a:rPr lang="en-US" altLang="zh-CN" i="1">
                            <a:latin typeface="Cambria Math" panose="02040503050406030204" pitchFamily="18" charset="0"/>
                          </a:rPr>
                          <m:t>U</m:t>
                        </m:r>
                      </m:sub>
                    </m:sSub>
                    <m:r>
                      <a:rPr lang="zh-CN" altLang="en-US" i="1">
                        <a:latin typeface="Cambria Math" panose="02040503050406030204" pitchFamily="18" charset="0"/>
                        <a:ea typeface="+mn-ea"/>
                      </a:rPr>
                      <m:t>的</m:t>
                    </m:r>
                  </m:oMath>
                </a14:m>
                <a:r>
                  <a:rPr lang="zh-CN" altLang="en-US" dirty="0" smtClean="0">
                    <a:latin typeface="+mn-ea"/>
                    <a:ea typeface="+mn-ea"/>
                  </a:rPr>
                  <a:t>位置</a:t>
                </a:r>
                <a:r>
                  <a:rPr lang="en-US" altLang="zh-CN" dirty="0" smtClean="0">
                    <a:latin typeface="+mn-ea"/>
                    <a:ea typeface="+mn-ea"/>
                  </a:rPr>
                  <a:t>=</a:t>
                </a:r>
                <a14:m>
                  <m:oMath xmlns:m="http://schemas.openxmlformats.org/officeDocument/2006/math">
                    <m:f>
                      <m:fPr>
                        <m:ctrlPr>
                          <a:rPr lang="en-US" altLang="zh-CN" i="1" smtClean="0">
                            <a:latin typeface="Cambria Math" panose="02040503050406030204" pitchFamily="18" charset="0"/>
                            <a:ea typeface="+mn-ea"/>
                          </a:rPr>
                        </m:ctrlPr>
                      </m:fPr>
                      <m:num>
                        <m:r>
                          <a:rPr lang="en-US" altLang="zh-CN" b="0" i="1" smtClean="0">
                            <a:latin typeface="Cambria Math" panose="02040503050406030204" pitchFamily="18" charset="0"/>
                            <a:ea typeface="+mn-ea"/>
                          </a:rPr>
                          <m:t>3(</m:t>
                        </m:r>
                        <m:r>
                          <a:rPr lang="en-US" altLang="zh-CN" b="0" i="1" smtClean="0">
                            <a:latin typeface="Cambria Math" panose="02040503050406030204" pitchFamily="18" charset="0"/>
                            <a:ea typeface="+mn-ea"/>
                          </a:rPr>
                          <m:t>𝑛</m:t>
                        </m:r>
                        <m:r>
                          <a:rPr lang="en-US" altLang="zh-CN" b="0" i="1" smtClean="0">
                            <a:latin typeface="Cambria Math" panose="02040503050406030204" pitchFamily="18" charset="0"/>
                            <a:ea typeface="+mn-ea"/>
                          </a:rPr>
                          <m:t>+1)</m:t>
                        </m:r>
                      </m:num>
                      <m:den>
                        <m:r>
                          <a:rPr lang="en-US" altLang="zh-CN" b="0" i="1" smtClean="0">
                            <a:latin typeface="Cambria Math" panose="02040503050406030204" pitchFamily="18" charset="0"/>
                            <a:ea typeface="+mn-ea"/>
                          </a:rPr>
                          <m:t>4</m:t>
                        </m:r>
                      </m:den>
                    </m:f>
                  </m:oMath>
                </a14:m>
                <a:r>
                  <a:rPr lang="en-US" altLang="zh-CN" dirty="0" smtClean="0">
                    <a:latin typeface="+mn-ea"/>
                    <a:ea typeface="+mn-ea"/>
                  </a:rPr>
                  <a:t>=</a:t>
                </a:r>
                <a14:m>
                  <m:oMath xmlns:m="http://schemas.openxmlformats.org/officeDocument/2006/math">
                    <m:f>
                      <m:fPr>
                        <m:ctrlPr>
                          <a:rPr lang="en-US" altLang="zh-CN" i="1" smtClean="0">
                            <a:latin typeface="Cambria Math" panose="02040503050406030204" pitchFamily="18" charset="0"/>
                            <a:ea typeface="+mn-ea"/>
                          </a:rPr>
                        </m:ctrlPr>
                      </m:fPr>
                      <m:num>
                        <m:r>
                          <a:rPr lang="en-US" altLang="zh-CN" b="0" i="1" smtClean="0">
                            <a:latin typeface="Cambria Math" panose="02040503050406030204" pitchFamily="18" charset="0"/>
                            <a:ea typeface="+mn-ea"/>
                          </a:rPr>
                          <m:t>3(10+1)</m:t>
                        </m:r>
                      </m:num>
                      <m:den>
                        <m:r>
                          <a:rPr lang="en-US" altLang="zh-CN" b="0" i="1" smtClean="0">
                            <a:latin typeface="Cambria Math" panose="02040503050406030204" pitchFamily="18" charset="0"/>
                            <a:ea typeface="+mn-ea"/>
                          </a:rPr>
                          <m:t>4</m:t>
                        </m:r>
                      </m:den>
                    </m:f>
                  </m:oMath>
                </a14:m>
                <a:r>
                  <a:rPr lang="en-US" altLang="zh-CN" dirty="0" smtClean="0">
                    <a:latin typeface="+mn-ea"/>
                    <a:ea typeface="+mn-ea"/>
                  </a:rPr>
                  <a:t>=8.25</a:t>
                </a:r>
                <a:endParaRPr lang="zh-CN" altLang="en-US" dirty="0">
                  <a:latin typeface="+mn-ea"/>
                  <a:ea typeface="+mn-ea"/>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4860032" y="2855301"/>
                <a:ext cx="4010085" cy="538737"/>
              </a:xfrm>
              <a:prstGeom prst="rect">
                <a:avLst/>
              </a:prstGeom>
              <a:blipFill>
                <a:blip r:embed="rId4"/>
                <a:stretch>
                  <a:fillRect t="-5618" r="-3495" b="-134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1374666" y="3807620"/>
                <a:ext cx="6863071" cy="430887"/>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𝑄</m:t>
                        </m:r>
                      </m:e>
                      <m:sub>
                        <m:r>
                          <a:rPr lang="en-US" altLang="zh-CN" sz="2800" b="0" i="1" smtClean="0">
                            <a:solidFill>
                              <a:srgbClr val="000000"/>
                            </a:solidFill>
                            <a:latin typeface="Cambria Math" panose="02040503050406030204" pitchFamily="18" charset="0"/>
                          </a:rPr>
                          <m:t>𝐿</m:t>
                        </m:r>
                      </m:sub>
                    </m:sSub>
                  </m:oMath>
                </a14:m>
                <a:r>
                  <a:rPr lang="en-US" altLang="zh-CN" sz="2800" dirty="0" smtClean="0">
                    <a:solidFill>
                      <a:srgbClr val="000000"/>
                    </a:solidFill>
                    <a:latin typeface="+mn-ea"/>
                    <a:ea typeface="+mn-ea"/>
                  </a:rPr>
                  <a:t>=65+</a:t>
                </a:r>
                <a:r>
                  <a:rPr lang="zh-CN" altLang="en-US" sz="2800" dirty="0" smtClean="0">
                    <a:solidFill>
                      <a:srgbClr val="000000"/>
                    </a:solidFill>
                    <a:latin typeface="+mn-ea"/>
                    <a:ea typeface="+mn-ea"/>
                  </a:rPr>
                  <a:t>（</a:t>
                </a:r>
                <a:r>
                  <a:rPr lang="en-US" altLang="zh-CN" sz="2800" dirty="0" smtClean="0">
                    <a:solidFill>
                      <a:srgbClr val="000000"/>
                    </a:solidFill>
                    <a:latin typeface="+mn-ea"/>
                    <a:ea typeface="+mn-ea"/>
                  </a:rPr>
                  <a:t>73-65</a:t>
                </a:r>
                <a:r>
                  <a:rPr lang="zh-CN" altLang="en-US" sz="2800" dirty="0" smtClean="0">
                    <a:solidFill>
                      <a:srgbClr val="000000"/>
                    </a:solidFill>
                    <a:latin typeface="+mn-ea"/>
                    <a:ea typeface="+mn-ea"/>
                  </a:rPr>
                  <a:t>）</a:t>
                </a:r>
                <a:r>
                  <a:rPr lang="en-US" altLang="zh-CN" sz="2800" dirty="0" smtClean="0">
                    <a:solidFill>
                      <a:srgbClr val="000000"/>
                    </a:solidFill>
                    <a:latin typeface="+mn-ea"/>
                    <a:ea typeface="+mn-ea"/>
                  </a:rPr>
                  <a:t>×0.75=71</a:t>
                </a:r>
                <a:r>
                  <a:rPr lang="zh-CN" altLang="en-US" sz="2800" dirty="0" smtClean="0">
                    <a:solidFill>
                      <a:srgbClr val="000000"/>
                    </a:solidFill>
                    <a:latin typeface="+mn-ea"/>
                    <a:ea typeface="+mn-ea"/>
                  </a:rPr>
                  <a:t>（分）</a:t>
                </a:r>
                <a:endParaRPr lang="zh-CN" altLang="en-US" sz="2800" dirty="0">
                  <a:solidFill>
                    <a:srgbClr val="000000"/>
                  </a:solidFill>
                  <a:latin typeface="+mn-ea"/>
                  <a:ea typeface="+mn-ea"/>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1374666" y="3807620"/>
                <a:ext cx="6863071" cy="430887"/>
              </a:xfrm>
              <a:prstGeom prst="rect">
                <a:avLst/>
              </a:prstGeom>
              <a:blipFill>
                <a:blip r:embed="rId5"/>
                <a:stretch>
                  <a:fillRect t="-28571" b="-4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1374666" y="4824964"/>
                <a:ext cx="6863071" cy="430887"/>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𝑄</m:t>
                        </m:r>
                      </m:e>
                      <m:sub>
                        <m:r>
                          <a:rPr lang="en-US" altLang="zh-CN" sz="2800" b="0" i="1" smtClean="0">
                            <a:solidFill>
                              <a:srgbClr val="000000"/>
                            </a:solidFill>
                            <a:latin typeface="Cambria Math" panose="02040503050406030204" pitchFamily="18" charset="0"/>
                          </a:rPr>
                          <m:t>𝑈</m:t>
                        </m:r>
                      </m:sub>
                    </m:sSub>
                  </m:oMath>
                </a14:m>
                <a:r>
                  <a:rPr lang="en-US" altLang="zh-CN" sz="2800" dirty="0" smtClean="0">
                    <a:solidFill>
                      <a:srgbClr val="000000"/>
                    </a:solidFill>
                    <a:latin typeface="+mn-ea"/>
                    <a:ea typeface="+mn-ea"/>
                  </a:rPr>
                  <a:t>=85+</a:t>
                </a:r>
                <a:r>
                  <a:rPr lang="zh-CN" altLang="en-US" sz="2800" dirty="0" smtClean="0">
                    <a:solidFill>
                      <a:srgbClr val="000000"/>
                    </a:solidFill>
                    <a:latin typeface="+mn-ea"/>
                    <a:ea typeface="+mn-ea"/>
                  </a:rPr>
                  <a:t>（</a:t>
                </a:r>
                <a:r>
                  <a:rPr lang="en-US" altLang="zh-CN" sz="2800" dirty="0" smtClean="0">
                    <a:solidFill>
                      <a:srgbClr val="000000"/>
                    </a:solidFill>
                    <a:latin typeface="+mn-ea"/>
                    <a:ea typeface="+mn-ea"/>
                  </a:rPr>
                  <a:t>88-85</a:t>
                </a:r>
                <a:r>
                  <a:rPr lang="zh-CN" altLang="en-US" sz="2800" dirty="0" smtClean="0">
                    <a:solidFill>
                      <a:srgbClr val="000000"/>
                    </a:solidFill>
                    <a:latin typeface="+mn-ea"/>
                    <a:ea typeface="+mn-ea"/>
                  </a:rPr>
                  <a:t>）</a:t>
                </a:r>
                <a:r>
                  <a:rPr lang="en-US" altLang="zh-CN" sz="2800" dirty="0" smtClean="0">
                    <a:solidFill>
                      <a:srgbClr val="000000"/>
                    </a:solidFill>
                    <a:latin typeface="+mn-ea"/>
                    <a:ea typeface="+mn-ea"/>
                  </a:rPr>
                  <a:t>×0.25=85.75</a:t>
                </a:r>
                <a:r>
                  <a:rPr lang="zh-CN" altLang="en-US" sz="2800" dirty="0" smtClean="0">
                    <a:solidFill>
                      <a:srgbClr val="000000"/>
                    </a:solidFill>
                    <a:latin typeface="+mn-ea"/>
                    <a:ea typeface="+mn-ea"/>
                  </a:rPr>
                  <a:t>（分）</a:t>
                </a:r>
                <a:endParaRPr lang="zh-CN" altLang="en-US" sz="2800" dirty="0">
                  <a:solidFill>
                    <a:srgbClr val="000000"/>
                  </a:solidFill>
                  <a:latin typeface="+mn-ea"/>
                  <a:ea typeface="+mn-ea"/>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1374666" y="4824964"/>
                <a:ext cx="6863071" cy="430887"/>
              </a:xfrm>
              <a:prstGeom prst="rect">
                <a:avLst/>
              </a:prstGeom>
              <a:blipFill>
                <a:blip r:embed="rId6"/>
                <a:stretch>
                  <a:fillRect t="-28169" b="-46479"/>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2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2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 calcmode="lin" valueType="num">
                                      <p:cBhvr>
                                        <p:cTn id="19" dur="1000" fill="hold"/>
                                        <p:tgtEl>
                                          <p:spTgt spid="4"/>
                                        </p:tgtEl>
                                        <p:attrNameLst>
                                          <p:attrName>style.rotation</p:attrName>
                                        </p:attrNameLst>
                                      </p:cBhvr>
                                      <p:tavLst>
                                        <p:tav tm="0">
                                          <p:val>
                                            <p:fltVal val="90"/>
                                          </p:val>
                                        </p:tav>
                                        <p:tav tm="100000">
                                          <p:val>
                                            <p:fltVal val="0"/>
                                          </p:val>
                                        </p:tav>
                                      </p:tavLst>
                                    </p:anim>
                                    <p:animEffect transition="in" filter="fade">
                                      <p:cBhvr>
                                        <p:cTn id="2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18"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Grp="1" noChangeArrowheads="1"/>
          </p:cNvSpPr>
          <p:nvPr>
            <p:ph type="title"/>
          </p:nvPr>
        </p:nvSpPr>
        <p:spPr>
          <a:xfrm>
            <a:off x="928688" y="214313"/>
            <a:ext cx="7772400" cy="990600"/>
          </a:xfrm>
        </p:spPr>
        <p:txBody>
          <a:bodyPr/>
          <a:lstStyle/>
          <a:p>
            <a:pPr eaLnBrk="1" hangingPunct="1"/>
            <a:r>
              <a:rPr lang="en-US" altLang="zh-CN" dirty="0" smtClean="0">
                <a:solidFill>
                  <a:srgbClr val="1313FF"/>
                </a:solidFill>
                <a:latin typeface="Times New Roman" pitchFamily="18" charset="0"/>
              </a:rPr>
              <a:t>【</a:t>
            </a:r>
            <a:r>
              <a:rPr lang="zh-CN" altLang="zh-CN" dirty="0" smtClean="0">
                <a:solidFill>
                  <a:srgbClr val="1313FF"/>
                </a:solidFill>
                <a:latin typeface="Times New Roman" pitchFamily="18" charset="0"/>
              </a:rPr>
              <a:t>十分位数和百分位数</a:t>
            </a:r>
            <a:r>
              <a:rPr lang="en-US" altLang="zh-CN" dirty="0" smtClean="0">
                <a:solidFill>
                  <a:srgbClr val="1313FF"/>
                </a:solidFill>
                <a:latin typeface="Times New Roman" pitchFamily="18" charset="0"/>
              </a:rPr>
              <a:t>】</a:t>
            </a:r>
          </a:p>
        </p:txBody>
      </p:sp>
      <p:sp>
        <p:nvSpPr>
          <p:cNvPr id="125956" name="Rectangle 3"/>
          <p:cNvSpPr>
            <a:spLocks noGrp="1" noChangeArrowheads="1"/>
          </p:cNvSpPr>
          <p:nvPr>
            <p:ph type="body" idx="1"/>
          </p:nvPr>
        </p:nvSpPr>
        <p:spPr>
          <a:xfrm>
            <a:off x="395536" y="1292214"/>
            <a:ext cx="8242300" cy="4929209"/>
          </a:xfrm>
        </p:spPr>
        <p:txBody>
          <a:bodyPr/>
          <a:lstStyle/>
          <a:p>
            <a:pPr algn="just" eaLnBrk="1" hangingPunct="1">
              <a:lnSpc>
                <a:spcPct val="120000"/>
              </a:lnSpc>
              <a:spcBef>
                <a:spcPct val="30000"/>
              </a:spcBef>
              <a:buFontTx/>
              <a:buNone/>
            </a:pPr>
            <a:r>
              <a:rPr lang="zh-CN" altLang="en-US" dirty="0" smtClean="0">
                <a:solidFill>
                  <a:srgbClr val="FF3300"/>
                </a:solidFill>
                <a:latin typeface="Times New Roman" pitchFamily="18" charset="0"/>
              </a:rPr>
              <a:t>十分位数</a:t>
            </a:r>
            <a:r>
              <a:rPr lang="zh-CN" altLang="en-US" dirty="0" smtClean="0">
                <a:solidFill>
                  <a:srgbClr val="000000"/>
                </a:solidFill>
                <a:latin typeface="Times New Roman" pitchFamily="18" charset="0"/>
              </a:rPr>
              <a:t>是使用</a:t>
            </a:r>
            <a:r>
              <a:rPr lang="en-US" altLang="zh-CN" dirty="0" smtClean="0">
                <a:solidFill>
                  <a:srgbClr val="000000"/>
                </a:solidFill>
              </a:rPr>
              <a:t>9</a:t>
            </a:r>
            <a:r>
              <a:rPr lang="zh-CN" altLang="en-US" dirty="0" smtClean="0">
                <a:solidFill>
                  <a:srgbClr val="000000"/>
                </a:solidFill>
                <a:latin typeface="Times New Roman" pitchFamily="18" charset="0"/>
              </a:rPr>
              <a:t>个点将全部数据</a:t>
            </a:r>
            <a:r>
              <a:rPr lang="en-US" altLang="zh-CN" dirty="0" smtClean="0">
                <a:solidFill>
                  <a:srgbClr val="000000"/>
                </a:solidFill>
              </a:rPr>
              <a:t>10</a:t>
            </a:r>
            <a:r>
              <a:rPr lang="zh-CN" altLang="en-US" dirty="0" smtClean="0">
                <a:solidFill>
                  <a:srgbClr val="000000"/>
                </a:solidFill>
                <a:latin typeface="Times New Roman" pitchFamily="18" charset="0"/>
              </a:rPr>
              <a:t>等分后各分位点上的值。</a:t>
            </a:r>
          </a:p>
          <a:p>
            <a:pPr algn="just" eaLnBrk="1" hangingPunct="1">
              <a:lnSpc>
                <a:spcPct val="120000"/>
              </a:lnSpc>
              <a:spcBef>
                <a:spcPct val="30000"/>
              </a:spcBef>
              <a:buFontTx/>
              <a:buNone/>
            </a:pPr>
            <a:r>
              <a:rPr lang="zh-CN" altLang="en-US" dirty="0" smtClean="0">
                <a:solidFill>
                  <a:srgbClr val="FF3300"/>
                </a:solidFill>
                <a:latin typeface="Times New Roman" pitchFamily="18" charset="0"/>
              </a:rPr>
              <a:t>百分位数</a:t>
            </a:r>
            <a:r>
              <a:rPr lang="zh-CN" altLang="en-US" dirty="0" smtClean="0">
                <a:solidFill>
                  <a:srgbClr val="000000"/>
                </a:solidFill>
                <a:latin typeface="Times New Roman" pitchFamily="18" charset="0"/>
              </a:rPr>
              <a:t>是使用</a:t>
            </a:r>
            <a:r>
              <a:rPr lang="en-US" altLang="zh-CN" dirty="0" smtClean="0">
                <a:solidFill>
                  <a:srgbClr val="000000"/>
                </a:solidFill>
              </a:rPr>
              <a:t>99</a:t>
            </a:r>
            <a:r>
              <a:rPr lang="zh-CN" altLang="en-US" dirty="0" smtClean="0">
                <a:solidFill>
                  <a:srgbClr val="000000"/>
                </a:solidFill>
                <a:latin typeface="Times New Roman" pitchFamily="18" charset="0"/>
              </a:rPr>
              <a:t>个点将全部数据</a:t>
            </a:r>
            <a:r>
              <a:rPr lang="en-US" altLang="zh-CN" dirty="0" smtClean="0">
                <a:solidFill>
                  <a:srgbClr val="000000"/>
                </a:solidFill>
              </a:rPr>
              <a:t>100</a:t>
            </a:r>
            <a:r>
              <a:rPr lang="zh-CN" altLang="en-US" dirty="0" smtClean="0">
                <a:solidFill>
                  <a:srgbClr val="000000"/>
                </a:solidFill>
                <a:latin typeface="Times New Roman" pitchFamily="18" charset="0"/>
              </a:rPr>
              <a:t>等分后各分位点上的值。</a:t>
            </a:r>
          </a:p>
          <a:p>
            <a:pPr algn="just" eaLnBrk="1" hangingPunct="1">
              <a:lnSpc>
                <a:spcPct val="120000"/>
              </a:lnSpc>
              <a:spcBef>
                <a:spcPct val="30000"/>
              </a:spcBef>
            </a:pPr>
            <a:r>
              <a:rPr lang="zh-CN" altLang="en-US" dirty="0" smtClean="0">
                <a:solidFill>
                  <a:srgbClr val="993300"/>
                </a:solidFill>
                <a:latin typeface="Times New Roman" pitchFamily="18" charset="0"/>
              </a:rPr>
              <a:t>例如：收入按高低分为</a:t>
            </a:r>
            <a:r>
              <a:rPr lang="en-US" altLang="zh-CN" dirty="0" smtClean="0">
                <a:solidFill>
                  <a:srgbClr val="993300"/>
                </a:solidFill>
              </a:rPr>
              <a:t>7</a:t>
            </a:r>
            <a:r>
              <a:rPr lang="zh-CN" altLang="en-US" dirty="0" smtClean="0">
                <a:solidFill>
                  <a:srgbClr val="993300"/>
                </a:solidFill>
                <a:latin typeface="Times New Roman" pitchFamily="18" charset="0"/>
              </a:rPr>
              <a:t>组：</a:t>
            </a:r>
          </a:p>
          <a:p>
            <a:pPr lvl="1" algn="ctr" eaLnBrk="1" hangingPunct="1">
              <a:lnSpc>
                <a:spcPct val="120000"/>
              </a:lnSpc>
              <a:spcBef>
                <a:spcPct val="30000"/>
              </a:spcBef>
            </a:pPr>
            <a:r>
              <a:rPr lang="zh-CN" altLang="en-US" sz="2300" dirty="0" smtClean="0">
                <a:solidFill>
                  <a:srgbClr val="993300"/>
                </a:solidFill>
                <a:latin typeface="Times New Roman" pitchFamily="18" charset="0"/>
              </a:rPr>
              <a:t>最低</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较低</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中等偏下</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中等</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中等偏上</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较高</a:t>
            </a:r>
            <a:r>
              <a:rPr lang="en-US" altLang="zh-CN" sz="2300" dirty="0" smtClean="0">
                <a:solidFill>
                  <a:srgbClr val="993300"/>
                </a:solidFill>
                <a:latin typeface="Times New Roman" pitchFamily="18" charset="0"/>
              </a:rPr>
              <a:t>—</a:t>
            </a:r>
            <a:r>
              <a:rPr lang="zh-CN" altLang="en-US" sz="2300" dirty="0" smtClean="0">
                <a:solidFill>
                  <a:srgbClr val="993300"/>
                </a:solidFill>
                <a:latin typeface="Times New Roman" pitchFamily="18" charset="0"/>
              </a:rPr>
              <a:t>最高</a:t>
            </a:r>
            <a:endParaRPr lang="zh-CN" altLang="en-US" sz="2300" dirty="0" smtClean="0">
              <a:solidFill>
                <a:srgbClr val="993300"/>
              </a:solidFill>
            </a:endParaRPr>
          </a:p>
          <a:p>
            <a:pPr lvl="1" algn="ctr" eaLnBrk="1" hangingPunct="1">
              <a:lnSpc>
                <a:spcPct val="120000"/>
              </a:lnSpc>
              <a:spcBef>
                <a:spcPct val="30000"/>
              </a:spcBef>
              <a:buNone/>
            </a:pPr>
            <a:r>
              <a:rPr lang="en-US" altLang="zh-CN" sz="2000" dirty="0" smtClean="0">
                <a:solidFill>
                  <a:srgbClr val="993300"/>
                </a:solidFill>
              </a:rPr>
              <a:t>     10% </a:t>
            </a:r>
            <a:r>
              <a:rPr lang="en-US" altLang="zh-CN" sz="2000" dirty="0" smtClean="0">
                <a:solidFill>
                  <a:srgbClr val="993300"/>
                </a:solidFill>
                <a:latin typeface="Times New Roman" pitchFamily="18" charset="0"/>
              </a:rPr>
              <a:t>—</a:t>
            </a:r>
            <a:r>
              <a:rPr lang="en-US" altLang="zh-CN" sz="2000" dirty="0" smtClean="0">
                <a:solidFill>
                  <a:srgbClr val="993300"/>
                </a:solidFill>
              </a:rPr>
              <a:t>10% </a:t>
            </a:r>
            <a:r>
              <a:rPr lang="en-US" altLang="zh-CN" sz="2000" dirty="0" smtClean="0">
                <a:solidFill>
                  <a:srgbClr val="993300"/>
                </a:solidFill>
                <a:latin typeface="Times New Roman" pitchFamily="18" charset="0"/>
              </a:rPr>
              <a:t>—</a:t>
            </a:r>
            <a:r>
              <a:rPr lang="en-US" altLang="zh-CN" sz="2000" dirty="0" smtClean="0">
                <a:solidFill>
                  <a:srgbClr val="993300"/>
                </a:solidFill>
              </a:rPr>
              <a:t>20%</a:t>
            </a:r>
            <a:r>
              <a:rPr lang="en-US" altLang="zh-CN" sz="2000" dirty="0" smtClean="0">
                <a:solidFill>
                  <a:srgbClr val="993300"/>
                </a:solidFill>
                <a:latin typeface="Times New Roman" pitchFamily="18" charset="0"/>
              </a:rPr>
              <a:t>——</a:t>
            </a:r>
            <a:r>
              <a:rPr lang="en-US" altLang="zh-CN" sz="2000" dirty="0" smtClean="0">
                <a:solidFill>
                  <a:srgbClr val="993300"/>
                </a:solidFill>
              </a:rPr>
              <a:t>20%</a:t>
            </a:r>
            <a:r>
              <a:rPr lang="en-US" altLang="zh-CN" sz="2000" dirty="0" smtClean="0">
                <a:solidFill>
                  <a:srgbClr val="993300"/>
                </a:solidFill>
                <a:latin typeface="Times New Roman" pitchFamily="18" charset="0"/>
              </a:rPr>
              <a:t>——</a:t>
            </a:r>
            <a:r>
              <a:rPr lang="en-US" altLang="zh-CN" sz="2000" dirty="0" smtClean="0">
                <a:solidFill>
                  <a:srgbClr val="993300"/>
                </a:solidFill>
              </a:rPr>
              <a:t>20%</a:t>
            </a:r>
            <a:r>
              <a:rPr lang="en-US" altLang="zh-CN" sz="2000" dirty="0" smtClean="0">
                <a:solidFill>
                  <a:srgbClr val="993300"/>
                </a:solidFill>
                <a:latin typeface="Times New Roman" pitchFamily="18" charset="0"/>
              </a:rPr>
              <a:t>——</a:t>
            </a:r>
            <a:r>
              <a:rPr lang="en-US" altLang="zh-CN" sz="2000" dirty="0" smtClean="0">
                <a:solidFill>
                  <a:srgbClr val="993300"/>
                </a:solidFill>
              </a:rPr>
              <a:t>10%</a:t>
            </a:r>
            <a:r>
              <a:rPr lang="en-US" altLang="zh-CN" sz="2000" dirty="0" smtClean="0">
                <a:solidFill>
                  <a:srgbClr val="993300"/>
                </a:solidFill>
                <a:latin typeface="Times New Roman" pitchFamily="18" charset="0"/>
              </a:rPr>
              <a:t>—</a:t>
            </a:r>
            <a:r>
              <a:rPr lang="en-US" altLang="zh-CN" sz="2000" dirty="0" smtClean="0">
                <a:solidFill>
                  <a:srgbClr val="993300"/>
                </a:solidFill>
              </a:rPr>
              <a:t>10%</a:t>
            </a:r>
          </a:p>
          <a:p>
            <a:pPr lvl="1" eaLnBrk="1" hangingPunct="1">
              <a:lnSpc>
                <a:spcPct val="120000"/>
              </a:lnSpc>
              <a:spcBef>
                <a:spcPct val="30000"/>
              </a:spcBef>
              <a:buNone/>
            </a:pPr>
            <a:r>
              <a:rPr lang="zh-CN" altLang="en-US" sz="2000" b="0" dirty="0" smtClean="0">
                <a:solidFill>
                  <a:schemeClr val="tx1">
                    <a:lumMod val="50000"/>
                  </a:schemeClr>
                </a:solidFill>
              </a:rPr>
              <a:t>（其中</a:t>
            </a:r>
            <a:r>
              <a:rPr lang="en-US" altLang="zh-CN" sz="2000" b="0" dirty="0" smtClean="0">
                <a:solidFill>
                  <a:schemeClr val="tx1">
                    <a:lumMod val="50000"/>
                  </a:schemeClr>
                </a:solidFill>
              </a:rPr>
              <a:t>5%</a:t>
            </a:r>
            <a:r>
              <a:rPr lang="zh-CN" altLang="en-US" sz="2000" b="0" dirty="0" smtClean="0">
                <a:solidFill>
                  <a:schemeClr val="tx1">
                    <a:lumMod val="50000"/>
                  </a:schemeClr>
                </a:solidFill>
              </a:rPr>
              <a:t>困难</a:t>
            </a:r>
            <a:r>
              <a:rPr lang="zh-CN" altLang="en-US" sz="2000" b="0" dirty="0" smtClean="0">
                <a:solidFill>
                  <a:schemeClr val="tx1">
                    <a:lumMod val="50000"/>
                  </a:schemeClr>
                </a:solidFill>
              </a:rPr>
              <a:t>）</a:t>
            </a:r>
            <a:endParaRPr lang="en-US" altLang="zh-CN" sz="2000" b="0" dirty="0" smtClean="0">
              <a:solidFill>
                <a:schemeClr val="tx1">
                  <a:lumMod val="50000"/>
                </a:schemeClr>
              </a:solidFill>
            </a:endParaRP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91</a:t>
            </a:fld>
            <a:endParaRPr lang="en-US" altLang="zh-CN" dirty="0"/>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700070"/>
          </a:xfrm>
        </p:spPr>
        <p:txBody>
          <a:bodyPr/>
          <a:lstStyle/>
          <a:p>
            <a:r>
              <a:rPr lang="zh-CN" altLang="en-US" sz="3200" dirty="0" smtClean="0"/>
              <a:t>工资指导价的高位数、低位数</a:t>
            </a:r>
            <a:r>
              <a:rPr lang="en-US" altLang="zh-CN" sz="3200" dirty="0" smtClean="0"/>
              <a:t>?</a:t>
            </a:r>
            <a:endParaRPr lang="zh-CN" altLang="en-US" sz="3200" dirty="0"/>
          </a:p>
        </p:txBody>
      </p:sp>
      <p:sp>
        <p:nvSpPr>
          <p:cNvPr id="13" name="灯片编号占位符 12"/>
          <p:cNvSpPr>
            <a:spLocks noGrp="1"/>
          </p:cNvSpPr>
          <p:nvPr>
            <p:ph type="sldNum" sz="quarter" idx="12"/>
          </p:nvPr>
        </p:nvSpPr>
        <p:spPr/>
        <p:txBody>
          <a:bodyPr/>
          <a:lstStyle/>
          <a:p>
            <a:pPr>
              <a:defRPr/>
            </a:pPr>
            <a:fld id="{62FC49CA-8014-4DA2-ABEB-AF96863EC77D}" type="slidenum">
              <a:rPr lang="en-US" altLang="zh-CN" smtClean="0"/>
              <a:pPr>
                <a:defRPr/>
              </a:pPr>
              <a:t>92</a:t>
            </a:fld>
            <a:endParaRPr lang="en-US" altLang="zh-CN" dirty="0"/>
          </a:p>
        </p:txBody>
      </p:sp>
      <p:sp>
        <p:nvSpPr>
          <p:cNvPr id="3" name="内容占位符 2"/>
          <p:cNvSpPr>
            <a:spLocks noGrp="1"/>
          </p:cNvSpPr>
          <p:nvPr>
            <p:ph idx="1"/>
          </p:nvPr>
        </p:nvSpPr>
        <p:spPr>
          <a:xfrm>
            <a:off x="7288209" y="928670"/>
            <a:ext cx="1905000" cy="717515"/>
          </a:xfrm>
        </p:spPr>
        <p:txBody>
          <a:bodyPr/>
          <a:lstStyle/>
          <a:p>
            <a:pPr marL="0" indent="0">
              <a:buNone/>
            </a:pPr>
            <a:r>
              <a:rPr lang="en-US" altLang="zh-CN" sz="2000" b="0" dirty="0" smtClean="0">
                <a:solidFill>
                  <a:schemeClr val="tx1"/>
                </a:solidFill>
              </a:rPr>
              <a:t>——</a:t>
            </a:r>
            <a:r>
              <a:rPr lang="zh-CN" altLang="en-US" sz="2000" b="0" dirty="0" smtClean="0">
                <a:solidFill>
                  <a:schemeClr val="tx1"/>
                </a:solidFill>
              </a:rPr>
              <a:t>人力资源与社会保障</a:t>
            </a:r>
            <a:r>
              <a:rPr lang="zh-CN" altLang="en-US" sz="2000" b="0" dirty="0">
                <a:solidFill>
                  <a:schemeClr val="tx1"/>
                </a:solidFill>
              </a:rPr>
              <a:t>部</a:t>
            </a:r>
          </a:p>
        </p:txBody>
      </p:sp>
      <p:pic>
        <p:nvPicPr>
          <p:cNvPr id="4" name="图片 3"/>
          <p:cNvPicPr>
            <a:picLocks noChangeAspect="1"/>
          </p:cNvPicPr>
          <p:nvPr/>
        </p:nvPicPr>
        <p:blipFill>
          <a:blip r:embed="rId3"/>
          <a:stretch>
            <a:fillRect/>
          </a:stretch>
        </p:blipFill>
        <p:spPr>
          <a:xfrm>
            <a:off x="323528" y="928670"/>
            <a:ext cx="6990035" cy="5929330"/>
          </a:xfrm>
          <a:prstGeom prst="rect">
            <a:avLst/>
          </a:prstGeom>
        </p:spPr>
      </p:pic>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2"/>
          <p:cNvSpPr>
            <a:spLocks noChangeArrowheads="1"/>
          </p:cNvSpPr>
          <p:nvPr/>
        </p:nvSpPr>
        <p:spPr bwMode="auto">
          <a:xfrm>
            <a:off x="685800" y="2852738"/>
            <a:ext cx="7773988" cy="1358900"/>
          </a:xfrm>
          <a:prstGeom prst="rect">
            <a:avLst/>
          </a:prstGeom>
          <a:noFill/>
          <a:ln w="9525">
            <a:noFill/>
            <a:miter lim="800000"/>
            <a:headEnd/>
            <a:tailEnd/>
          </a:ln>
        </p:spPr>
        <p:txBody>
          <a:bodyPr>
            <a:spAutoFit/>
          </a:bodyPr>
          <a:lstStyle/>
          <a:p>
            <a:pPr>
              <a:lnSpc>
                <a:spcPct val="130000"/>
              </a:lnSpc>
              <a:spcBef>
                <a:spcPct val="20000"/>
              </a:spcBef>
            </a:pPr>
            <a:r>
              <a:rPr lang="en-US" altLang="zh-CN" sz="3200" b="1">
                <a:solidFill>
                  <a:schemeClr val="tx2"/>
                </a:solidFill>
                <a:ea typeface="宋体" pitchFamily="2" charset="-122"/>
              </a:rPr>
              <a:t>        </a:t>
            </a:r>
            <a:r>
              <a:rPr lang="zh-CN" altLang="en-US" sz="3200" b="1">
                <a:solidFill>
                  <a:schemeClr val="tx2"/>
                </a:solidFill>
                <a:ea typeface="宋体" pitchFamily="2" charset="-122"/>
              </a:rPr>
              <a:t>中位数、众数和平均数之间的数量关系取决于总体的次数分配状况。</a:t>
            </a:r>
          </a:p>
        </p:txBody>
      </p:sp>
      <p:sp>
        <p:nvSpPr>
          <p:cNvPr id="126980" name="Rectangle 3"/>
          <p:cNvSpPr>
            <a:spLocks noGrp="1" noChangeArrowheads="1"/>
          </p:cNvSpPr>
          <p:nvPr>
            <p:ph type="title" idx="4294967295"/>
          </p:nvPr>
        </p:nvSpPr>
        <p:spPr>
          <a:xfrm>
            <a:off x="684213" y="1125538"/>
            <a:ext cx="7772400" cy="990600"/>
          </a:xfrm>
        </p:spPr>
        <p:txBody>
          <a:bodyPr/>
          <a:lstStyle/>
          <a:p>
            <a:pPr eaLnBrk="1" hangingPunct="1"/>
            <a:r>
              <a:rPr lang="zh-CN" altLang="en-US" sz="4000" dirty="0" smtClean="0"/>
              <a:t>众数、中位数和均值的关系</a:t>
            </a:r>
            <a:endParaRPr lang="zh-CN" altLang="en-US" dirty="0" smtClean="0"/>
          </a:p>
        </p:txBody>
      </p:sp>
      <p:sp>
        <p:nvSpPr>
          <p:cNvPr id="5" name="灯片编号占位符 4"/>
          <p:cNvSpPr>
            <a:spLocks noGrp="1"/>
          </p:cNvSpPr>
          <p:nvPr>
            <p:ph type="sldNum" sz="quarter" idx="12"/>
          </p:nvPr>
        </p:nvSpPr>
        <p:spPr/>
        <p:txBody>
          <a:bodyPr/>
          <a:lstStyle/>
          <a:p>
            <a:pPr>
              <a:defRPr/>
            </a:pPr>
            <a:fld id="{4D36EFB7-0D9F-4BC1-ADE9-F0E399591344}" type="slidenum">
              <a:rPr lang="en-US" altLang="zh-CN" smtClean="0"/>
              <a:pPr>
                <a:defRPr/>
              </a:pPr>
              <a:t>93</a:t>
            </a:fld>
            <a:endParaRPr lang="en-US" altLang="zh-CN" dirty="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Object 2"/>
          <p:cNvGraphicFramePr>
            <a:graphicFrameLocks noGrp="1" noChangeAspect="1"/>
          </p:cNvGraphicFramePr>
          <p:nvPr>
            <p:ph sz="half" idx="1"/>
          </p:nvPr>
        </p:nvGraphicFramePr>
        <p:xfrm>
          <a:off x="3635375" y="3716338"/>
          <a:ext cx="1803400" cy="431800"/>
        </p:xfrm>
        <a:graphic>
          <a:graphicData uri="http://schemas.openxmlformats.org/presentationml/2006/ole">
            <mc:AlternateContent xmlns:mc="http://schemas.openxmlformats.org/markup-compatibility/2006">
              <mc:Choice xmlns:v="urn:schemas-microsoft-com:vml" Requires="v">
                <p:oleObj spid="_x0000_s37397" name="Equation" r:id="rId4" imgW="1803240" imgH="431640" progId="Equation.3">
                  <p:embed/>
                </p:oleObj>
              </mc:Choice>
              <mc:Fallback>
                <p:oleObj name="Equation" r:id="rId4" imgW="1803240" imgH="43164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3716338"/>
                        <a:ext cx="1803400" cy="431800"/>
                      </a:xfrm>
                      <a:prstGeom prst="rect">
                        <a:avLst/>
                      </a:prstGeom>
                      <a:solidFill>
                        <a:schemeClr val="accent1"/>
                      </a:solidFill>
                    </p:spPr>
                  </p:pic>
                </p:oleObj>
              </mc:Fallback>
            </mc:AlternateContent>
          </a:graphicData>
        </a:graphic>
      </p:graphicFrame>
      <p:graphicFrame>
        <p:nvGraphicFramePr>
          <p:cNvPr id="618499" name="Object 3"/>
          <p:cNvGraphicFramePr>
            <a:graphicFrameLocks noGrp="1" noChangeAspect="1"/>
          </p:cNvGraphicFramePr>
          <p:nvPr>
            <p:ph sz="quarter" idx="2"/>
          </p:nvPr>
        </p:nvGraphicFramePr>
        <p:xfrm>
          <a:off x="755650" y="5589588"/>
          <a:ext cx="1790700" cy="431800"/>
        </p:xfrm>
        <a:graphic>
          <a:graphicData uri="http://schemas.openxmlformats.org/presentationml/2006/ole">
            <mc:AlternateContent xmlns:mc="http://schemas.openxmlformats.org/markup-compatibility/2006">
              <mc:Choice xmlns:v="urn:schemas-microsoft-com:vml" Requires="v">
                <p:oleObj spid="_x0000_s37398" name="Equation" r:id="rId6" imgW="1790640" imgH="431640" progId="Equation.3">
                  <p:embed/>
                </p:oleObj>
              </mc:Choice>
              <mc:Fallback>
                <p:oleObj name="Equation" r:id="rId6" imgW="1790640" imgH="43164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5589588"/>
                        <a:ext cx="1790700" cy="431800"/>
                      </a:xfrm>
                      <a:prstGeom prst="rect">
                        <a:avLst/>
                      </a:prstGeom>
                      <a:solidFill>
                        <a:schemeClr val="accent1"/>
                      </a:solidFill>
                    </p:spPr>
                  </p:pic>
                </p:oleObj>
              </mc:Fallback>
            </mc:AlternateContent>
          </a:graphicData>
        </a:graphic>
      </p:graphicFrame>
      <p:sp>
        <p:nvSpPr>
          <p:cNvPr id="36870" name="Rectangle 4"/>
          <p:cNvSpPr>
            <a:spLocks noChangeArrowheads="1"/>
          </p:cNvSpPr>
          <p:nvPr/>
        </p:nvSpPr>
        <p:spPr bwMode="auto">
          <a:xfrm>
            <a:off x="4441825" y="5937250"/>
            <a:ext cx="184150" cy="92075"/>
          </a:xfrm>
          <a:prstGeom prst="rect">
            <a:avLst/>
          </a:prstGeom>
          <a:noFill/>
          <a:ln w="12700">
            <a:noFill/>
            <a:miter lim="800000"/>
            <a:headEnd/>
            <a:tailEnd/>
          </a:ln>
        </p:spPr>
        <p:txBody>
          <a:bodyPr wrap="none" anchor="ctr"/>
          <a:lstStyle/>
          <a:p>
            <a:endParaRPr lang="zh-CN" altLang="en-US"/>
          </a:p>
        </p:txBody>
      </p:sp>
      <p:sp>
        <p:nvSpPr>
          <p:cNvPr id="36871" name="Rectangle 5"/>
          <p:cNvSpPr>
            <a:spLocks noChangeArrowheads="1"/>
          </p:cNvSpPr>
          <p:nvPr/>
        </p:nvSpPr>
        <p:spPr bwMode="auto">
          <a:xfrm>
            <a:off x="7148513" y="5937250"/>
            <a:ext cx="184150" cy="92075"/>
          </a:xfrm>
          <a:prstGeom prst="rect">
            <a:avLst/>
          </a:prstGeom>
          <a:noFill/>
          <a:ln w="12700">
            <a:noFill/>
            <a:miter lim="800000"/>
            <a:headEnd/>
            <a:tailEnd/>
          </a:ln>
        </p:spPr>
        <p:txBody>
          <a:bodyPr wrap="none" anchor="ctr"/>
          <a:lstStyle/>
          <a:p>
            <a:endParaRPr lang="zh-CN" altLang="en-US"/>
          </a:p>
        </p:txBody>
      </p:sp>
      <p:sp>
        <p:nvSpPr>
          <p:cNvPr id="36872" name="Rectangle 6"/>
          <p:cNvSpPr>
            <a:spLocks noChangeArrowheads="1"/>
          </p:cNvSpPr>
          <p:nvPr/>
        </p:nvSpPr>
        <p:spPr bwMode="auto">
          <a:xfrm>
            <a:off x="1622425" y="5937250"/>
            <a:ext cx="184150" cy="92075"/>
          </a:xfrm>
          <a:prstGeom prst="rect">
            <a:avLst/>
          </a:prstGeom>
          <a:noFill/>
          <a:ln w="12700">
            <a:noFill/>
            <a:miter lim="800000"/>
            <a:headEnd/>
            <a:tailEnd/>
          </a:ln>
        </p:spPr>
        <p:txBody>
          <a:bodyPr wrap="none" anchor="ctr"/>
          <a:lstStyle/>
          <a:p>
            <a:endParaRPr lang="zh-CN" altLang="en-US"/>
          </a:p>
        </p:txBody>
      </p:sp>
      <p:graphicFrame>
        <p:nvGraphicFramePr>
          <p:cNvPr id="618503" name="Object 7"/>
          <p:cNvGraphicFramePr>
            <a:graphicFrameLocks noGrp="1" noChangeAspect="1"/>
          </p:cNvGraphicFramePr>
          <p:nvPr>
            <p:ph sz="quarter" idx="3"/>
          </p:nvPr>
        </p:nvGraphicFramePr>
        <p:xfrm>
          <a:off x="6611938" y="5521325"/>
          <a:ext cx="1889125" cy="557213"/>
        </p:xfrm>
        <a:graphic>
          <a:graphicData uri="http://schemas.openxmlformats.org/presentationml/2006/ole">
            <mc:AlternateContent xmlns:mc="http://schemas.openxmlformats.org/markup-compatibility/2006">
              <mc:Choice xmlns:v="urn:schemas-microsoft-com:vml" Requires="v">
                <p:oleObj spid="_x0000_s37399" name="公式" r:id="rId8" imgW="774360" imgH="228600" progId="Equation.3">
                  <p:embed/>
                </p:oleObj>
              </mc:Choice>
              <mc:Fallback>
                <p:oleObj name="公式" r:id="rId8" imgW="77436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11938" y="5521325"/>
                        <a:ext cx="1889125" cy="557213"/>
                      </a:xfrm>
                      <a:prstGeom prst="rect">
                        <a:avLst/>
                      </a:prstGeom>
                      <a:solidFill>
                        <a:schemeClr val="accent1"/>
                      </a:solidFill>
                    </p:spPr>
                  </p:pic>
                </p:oleObj>
              </mc:Fallback>
            </mc:AlternateContent>
          </a:graphicData>
        </a:graphic>
      </p:graphicFrame>
      <p:grpSp>
        <p:nvGrpSpPr>
          <p:cNvPr id="36873" name="Group 8"/>
          <p:cNvGrpSpPr>
            <a:grpSpLocks/>
          </p:cNvGrpSpPr>
          <p:nvPr/>
        </p:nvGrpSpPr>
        <p:grpSpPr bwMode="auto">
          <a:xfrm>
            <a:off x="2916238" y="857250"/>
            <a:ext cx="2938462" cy="2520950"/>
            <a:chOff x="1837" y="1085"/>
            <a:chExt cx="1851" cy="1588"/>
          </a:xfrm>
        </p:grpSpPr>
        <p:sp>
          <p:nvSpPr>
            <p:cNvPr id="618505" name="Rectangle 9"/>
            <p:cNvSpPr>
              <a:spLocks noChangeArrowheads="1"/>
            </p:cNvSpPr>
            <p:nvPr/>
          </p:nvSpPr>
          <p:spPr bwMode="auto">
            <a:xfrm>
              <a:off x="2787" y="1925"/>
              <a:ext cx="154" cy="22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sz="1800" b="1">
                  <a:solidFill>
                    <a:srgbClr val="FF0000"/>
                  </a:solidFill>
                  <a:effectLst>
                    <a:outerShdw blurRad="38100" dist="38100" dir="2700000" algn="tl">
                      <a:srgbClr val="C0C0C0"/>
                    </a:outerShdw>
                  </a:effectLst>
                  <a:latin typeface="Arial" charset="0"/>
                  <a:ea typeface="宋体" pitchFamily="2" charset="-122"/>
                </a:rPr>
                <a:t> </a:t>
              </a:r>
            </a:p>
          </p:txBody>
        </p:sp>
        <p:grpSp>
          <p:nvGrpSpPr>
            <p:cNvPr id="36909" name="Group 10"/>
            <p:cNvGrpSpPr>
              <a:grpSpLocks/>
            </p:cNvGrpSpPr>
            <p:nvPr/>
          </p:nvGrpSpPr>
          <p:grpSpPr bwMode="auto">
            <a:xfrm>
              <a:off x="1927" y="1434"/>
              <a:ext cx="1633" cy="906"/>
              <a:chOff x="1927" y="1434"/>
              <a:chExt cx="1392" cy="725"/>
            </a:xfrm>
          </p:grpSpPr>
          <p:sp>
            <p:nvSpPr>
              <p:cNvPr id="618507" name="Freeform 11"/>
              <p:cNvSpPr>
                <a:spLocks/>
              </p:cNvSpPr>
              <p:nvPr/>
            </p:nvSpPr>
            <p:spPr bwMode="auto">
              <a:xfrm>
                <a:off x="2647" y="1434"/>
                <a:ext cx="569" cy="680"/>
              </a:xfrm>
              <a:custGeom>
                <a:avLst/>
                <a:gdLst/>
                <a:ahLst/>
                <a:cxnLst>
                  <a:cxn ang="0">
                    <a:pos x="569" y="674"/>
                  </a:cxn>
                  <a:cxn ang="0">
                    <a:pos x="508" y="667"/>
                  </a:cxn>
                  <a:cxn ang="0">
                    <a:pos x="478" y="659"/>
                  </a:cxn>
                  <a:cxn ang="0">
                    <a:pos x="449" y="648"/>
                  </a:cxn>
                  <a:cxn ang="0">
                    <a:pos x="419" y="633"/>
                  </a:cxn>
                  <a:cxn ang="0">
                    <a:pos x="389" y="612"/>
                  </a:cxn>
                  <a:cxn ang="0">
                    <a:pos x="358" y="583"/>
                  </a:cxn>
                  <a:cxn ang="0">
                    <a:pos x="300" y="506"/>
                  </a:cxn>
                  <a:cxn ang="0">
                    <a:pos x="239" y="396"/>
                  </a:cxn>
                  <a:cxn ang="0">
                    <a:pos x="178" y="263"/>
                  </a:cxn>
                  <a:cxn ang="0">
                    <a:pos x="150" y="197"/>
                  </a:cxn>
                  <a:cxn ang="0">
                    <a:pos x="120" y="133"/>
                  </a:cxn>
                  <a:cxn ang="0">
                    <a:pos x="89" y="78"/>
                  </a:cxn>
                  <a:cxn ang="0">
                    <a:pos x="59" y="36"/>
                  </a:cxn>
                  <a:cxn ang="0">
                    <a:pos x="29" y="10"/>
                  </a:cxn>
                  <a:cxn ang="0">
                    <a:pos x="0" y="0"/>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08" name="Freeform 12"/>
              <p:cNvSpPr>
                <a:spLocks/>
              </p:cNvSpPr>
              <p:nvPr/>
            </p:nvSpPr>
            <p:spPr bwMode="auto">
              <a:xfrm>
                <a:off x="2071" y="1434"/>
                <a:ext cx="569" cy="680"/>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09" name="Line 13"/>
              <p:cNvSpPr>
                <a:spLocks noChangeShapeType="1"/>
              </p:cNvSpPr>
              <p:nvPr/>
            </p:nvSpPr>
            <p:spPr bwMode="auto">
              <a:xfrm>
                <a:off x="2653" y="1434"/>
                <a:ext cx="0" cy="725"/>
              </a:xfrm>
              <a:prstGeom prst="line">
                <a:avLst/>
              </a:prstGeom>
              <a:noFill/>
              <a:ln w="57150">
                <a:solidFill>
                  <a:srgbClr val="C56B9E"/>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10" name="Line 14"/>
              <p:cNvSpPr>
                <a:spLocks noChangeShapeType="1"/>
              </p:cNvSpPr>
              <p:nvPr/>
            </p:nvSpPr>
            <p:spPr bwMode="auto">
              <a:xfrm>
                <a:off x="1927" y="2159"/>
                <a:ext cx="1392" cy="0"/>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grpSp>
        <p:sp>
          <p:nvSpPr>
            <p:cNvPr id="618511" name="Rectangle 15"/>
            <p:cNvSpPr>
              <a:spLocks noChangeArrowheads="1"/>
            </p:cNvSpPr>
            <p:nvPr/>
          </p:nvSpPr>
          <p:spPr bwMode="auto">
            <a:xfrm>
              <a:off x="1837" y="2387"/>
              <a:ext cx="1851"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FF3300"/>
                  </a:solidFill>
                  <a:latin typeface="Arial" charset="0"/>
                  <a:ea typeface="宋体" pitchFamily="2" charset="-122"/>
                </a:rPr>
                <a:t>均值</a:t>
              </a:r>
              <a:r>
                <a:rPr lang="zh-CN" altLang="en-US" b="1">
                  <a:solidFill>
                    <a:srgbClr val="000000"/>
                  </a:solidFill>
                  <a:latin typeface="Arial" charset="0"/>
                  <a:ea typeface="宋体" pitchFamily="2" charset="-122"/>
                </a:rPr>
                <a:t>＝</a:t>
              </a:r>
              <a:r>
                <a:rPr lang="zh-CN" altLang="en-US" b="1">
                  <a:solidFill>
                    <a:srgbClr val="6565FF"/>
                  </a:solidFill>
                  <a:latin typeface="Arial" charset="0"/>
                  <a:ea typeface="宋体" pitchFamily="2" charset="-122"/>
                </a:rPr>
                <a:t>中位数</a:t>
              </a:r>
              <a:r>
                <a:rPr lang="zh-CN" altLang="en-US" b="1">
                  <a:solidFill>
                    <a:srgbClr val="000000"/>
                  </a:solidFill>
                  <a:latin typeface="Arial" charset="0"/>
                  <a:ea typeface="宋体" pitchFamily="2" charset="-122"/>
                </a:rPr>
                <a:t>＝</a:t>
              </a:r>
              <a:r>
                <a:rPr lang="zh-CN" altLang="en-US" b="1">
                  <a:solidFill>
                    <a:srgbClr val="F040F0"/>
                  </a:solidFill>
                  <a:latin typeface="Arial" charset="0"/>
                  <a:ea typeface="宋体" pitchFamily="2" charset="-122"/>
                </a:rPr>
                <a:t>众数</a:t>
              </a:r>
            </a:p>
          </p:txBody>
        </p:sp>
        <p:sp>
          <p:nvSpPr>
            <p:cNvPr id="618512" name="Rectangle 16"/>
            <p:cNvSpPr>
              <a:spLocks noChangeArrowheads="1"/>
            </p:cNvSpPr>
            <p:nvPr/>
          </p:nvSpPr>
          <p:spPr bwMode="auto">
            <a:xfrm>
              <a:off x="2070" y="1085"/>
              <a:ext cx="1407" cy="286"/>
            </a:xfrm>
            <a:prstGeom prst="rect">
              <a:avLst/>
            </a:prstGeom>
            <a:solidFill>
              <a:schemeClr val="accent1"/>
            </a:solidFill>
            <a:ln w="12700">
              <a:noFill/>
              <a:miter lim="800000"/>
              <a:headEnd/>
              <a:tailEnd/>
            </a:ln>
            <a:effectLst>
              <a:outerShdw dist="17961" dir="2700000" algn="ctr" rotWithShape="0">
                <a:schemeClr val="bg2"/>
              </a:outerShdw>
            </a:effectLst>
          </p:spPr>
          <p:txBody>
            <a:bodyPr lIns="90488" tIns="44450" rIns="90488" bIns="44450">
              <a:spAutoFit/>
            </a:bodyPr>
            <a:lstStyle/>
            <a:p>
              <a:pPr algn="ctr" eaLnBrk="0" hangingPunct="0">
                <a:defRPr/>
              </a:pPr>
              <a:r>
                <a:rPr lang="zh-CN" altLang="en-US" b="1" dirty="0">
                  <a:solidFill>
                    <a:srgbClr val="C56B9E"/>
                  </a:solidFill>
                  <a:latin typeface="Arial" charset="0"/>
                  <a:ea typeface="宋体" pitchFamily="2" charset="-122"/>
                </a:rPr>
                <a:t>对称钟型分布</a:t>
              </a:r>
            </a:p>
          </p:txBody>
        </p:sp>
      </p:grpSp>
      <p:grpSp>
        <p:nvGrpSpPr>
          <p:cNvPr id="4" name="Group 17"/>
          <p:cNvGrpSpPr>
            <a:grpSpLocks/>
          </p:cNvGrpSpPr>
          <p:nvPr/>
        </p:nvGrpSpPr>
        <p:grpSpPr bwMode="auto">
          <a:xfrm>
            <a:off x="285750" y="2598738"/>
            <a:ext cx="2452688" cy="2901950"/>
            <a:chOff x="157" y="1661"/>
            <a:chExt cx="1545" cy="1828"/>
          </a:xfrm>
        </p:grpSpPr>
        <p:sp>
          <p:nvSpPr>
            <p:cNvPr id="618514" name="Rectangle 18"/>
            <p:cNvSpPr>
              <a:spLocks noChangeArrowheads="1"/>
            </p:cNvSpPr>
            <p:nvPr/>
          </p:nvSpPr>
          <p:spPr bwMode="auto">
            <a:xfrm>
              <a:off x="431" y="1661"/>
              <a:ext cx="974" cy="289"/>
            </a:xfrm>
            <a:prstGeom prst="rect">
              <a:avLst/>
            </a:prstGeom>
            <a:solidFill>
              <a:schemeClr val="accent1"/>
            </a:solidFill>
            <a:ln w="12700">
              <a:noFill/>
              <a:miter lim="800000"/>
              <a:headEnd/>
              <a:tailEnd/>
            </a:ln>
            <a:effectLst>
              <a:outerShdw dist="17961" dir="2700000" algn="ctr" rotWithShape="0">
                <a:schemeClr val="bg2"/>
              </a:outerShdw>
            </a:effectLst>
          </p:spPr>
          <p:txBody>
            <a:bodyPr wrap="square" lIns="90488" tIns="44450" rIns="90488" bIns="44450">
              <a:spAutoFit/>
            </a:bodyPr>
            <a:lstStyle/>
            <a:p>
              <a:pPr eaLnBrk="0" hangingPunct="0">
                <a:defRPr/>
              </a:pPr>
              <a:r>
                <a:rPr lang="zh-CN" altLang="en-US" b="1" dirty="0">
                  <a:solidFill>
                    <a:srgbClr val="C56B9E"/>
                  </a:solidFill>
                  <a:latin typeface="Arial" charset="0"/>
                  <a:ea typeface="宋体" pitchFamily="2" charset="-122"/>
                </a:rPr>
                <a:t>左偏分布</a:t>
              </a:r>
            </a:p>
          </p:txBody>
        </p:sp>
        <p:sp>
          <p:nvSpPr>
            <p:cNvPr id="618515" name="Freeform 19"/>
            <p:cNvSpPr>
              <a:spLocks/>
            </p:cNvSpPr>
            <p:nvPr/>
          </p:nvSpPr>
          <p:spPr bwMode="auto">
            <a:xfrm>
              <a:off x="1085" y="2069"/>
              <a:ext cx="285" cy="627"/>
            </a:xfrm>
            <a:custGeom>
              <a:avLst/>
              <a:gdLst/>
              <a:ahLst/>
              <a:cxnLst>
                <a:cxn ang="0">
                  <a:pos x="284" y="674"/>
                </a:cxn>
                <a:cxn ang="0">
                  <a:pos x="254" y="667"/>
                </a:cxn>
                <a:cxn ang="0">
                  <a:pos x="239" y="659"/>
                </a:cxn>
                <a:cxn ang="0">
                  <a:pos x="225" y="648"/>
                </a:cxn>
                <a:cxn ang="0">
                  <a:pos x="210" y="633"/>
                </a:cxn>
                <a:cxn ang="0">
                  <a:pos x="195" y="612"/>
                </a:cxn>
                <a:cxn ang="0">
                  <a:pos x="180" y="583"/>
                </a:cxn>
                <a:cxn ang="0">
                  <a:pos x="150" y="506"/>
                </a:cxn>
                <a:cxn ang="0">
                  <a:pos x="119" y="396"/>
                </a:cxn>
                <a:cxn ang="0">
                  <a:pos x="91" y="263"/>
                </a:cxn>
                <a:cxn ang="0">
                  <a:pos x="76" y="197"/>
                </a:cxn>
                <a:cxn ang="0">
                  <a:pos x="61" y="133"/>
                </a:cxn>
                <a:cxn ang="0">
                  <a:pos x="45" y="78"/>
                </a:cxn>
                <a:cxn ang="0">
                  <a:pos x="30" y="36"/>
                </a:cxn>
                <a:cxn ang="0">
                  <a:pos x="15" y="10"/>
                </a:cxn>
                <a:cxn ang="0">
                  <a:pos x="0" y="0"/>
                </a:cxn>
              </a:cxnLst>
              <a:rect l="0" t="0" r="r" b="b"/>
              <a:pathLst>
                <a:path w="285" h="675">
                  <a:moveTo>
                    <a:pt x="284" y="674"/>
                  </a:moveTo>
                  <a:lnTo>
                    <a:pt x="254" y="667"/>
                  </a:lnTo>
                  <a:lnTo>
                    <a:pt x="239" y="659"/>
                  </a:lnTo>
                  <a:lnTo>
                    <a:pt x="225" y="648"/>
                  </a:lnTo>
                  <a:lnTo>
                    <a:pt x="210" y="633"/>
                  </a:lnTo>
                  <a:lnTo>
                    <a:pt x="195" y="612"/>
                  </a:lnTo>
                  <a:lnTo>
                    <a:pt x="180" y="583"/>
                  </a:lnTo>
                  <a:lnTo>
                    <a:pt x="150" y="506"/>
                  </a:lnTo>
                  <a:lnTo>
                    <a:pt x="119" y="396"/>
                  </a:lnTo>
                  <a:lnTo>
                    <a:pt x="91" y="263"/>
                  </a:lnTo>
                  <a:lnTo>
                    <a:pt x="76" y="197"/>
                  </a:lnTo>
                  <a:lnTo>
                    <a:pt x="61" y="133"/>
                  </a:lnTo>
                  <a:lnTo>
                    <a:pt x="45" y="78"/>
                  </a:lnTo>
                  <a:lnTo>
                    <a:pt x="30" y="36"/>
                  </a:lnTo>
                  <a:lnTo>
                    <a:pt x="15" y="10"/>
                  </a:lnTo>
                  <a:lnTo>
                    <a:pt x="0"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16" name="Freeform 20"/>
            <p:cNvSpPr>
              <a:spLocks/>
            </p:cNvSpPr>
            <p:nvPr/>
          </p:nvSpPr>
          <p:spPr bwMode="auto">
            <a:xfrm>
              <a:off x="271" y="2069"/>
              <a:ext cx="816" cy="627"/>
            </a:xfrm>
            <a:custGeom>
              <a:avLst/>
              <a:gdLst/>
              <a:ahLst/>
              <a:cxnLst>
                <a:cxn ang="0">
                  <a:pos x="0" y="674"/>
                </a:cxn>
                <a:cxn ang="0">
                  <a:pos x="90" y="667"/>
                </a:cxn>
                <a:cxn ang="0">
                  <a:pos x="134" y="659"/>
                </a:cxn>
                <a:cxn ang="0">
                  <a:pos x="179" y="648"/>
                </a:cxn>
                <a:cxn ang="0">
                  <a:pos x="225" y="633"/>
                </a:cxn>
                <a:cxn ang="0">
                  <a:pos x="269" y="612"/>
                </a:cxn>
                <a:cxn ang="0">
                  <a:pos x="314" y="583"/>
                </a:cxn>
                <a:cxn ang="0">
                  <a:pos x="403" y="506"/>
                </a:cxn>
                <a:cxn ang="0">
                  <a:pos x="494" y="396"/>
                </a:cxn>
                <a:cxn ang="0">
                  <a:pos x="583" y="263"/>
                </a:cxn>
                <a:cxn ang="0">
                  <a:pos x="628" y="197"/>
                </a:cxn>
                <a:cxn ang="0">
                  <a:pos x="674" y="133"/>
                </a:cxn>
                <a:cxn ang="0">
                  <a:pos x="717" y="78"/>
                </a:cxn>
                <a:cxn ang="0">
                  <a:pos x="763" y="36"/>
                </a:cxn>
                <a:cxn ang="0">
                  <a:pos x="808" y="10"/>
                </a:cxn>
                <a:cxn ang="0">
                  <a:pos x="852" y="0"/>
                </a:cxn>
              </a:cxnLst>
              <a:rect l="0" t="0" r="r" b="b"/>
              <a:pathLst>
                <a:path w="853" h="675">
                  <a:moveTo>
                    <a:pt x="0" y="674"/>
                  </a:moveTo>
                  <a:lnTo>
                    <a:pt x="90" y="667"/>
                  </a:lnTo>
                  <a:lnTo>
                    <a:pt x="134" y="659"/>
                  </a:lnTo>
                  <a:lnTo>
                    <a:pt x="179" y="648"/>
                  </a:lnTo>
                  <a:lnTo>
                    <a:pt x="225" y="633"/>
                  </a:lnTo>
                  <a:lnTo>
                    <a:pt x="269" y="612"/>
                  </a:lnTo>
                  <a:lnTo>
                    <a:pt x="314" y="583"/>
                  </a:lnTo>
                  <a:lnTo>
                    <a:pt x="403" y="506"/>
                  </a:lnTo>
                  <a:lnTo>
                    <a:pt x="494" y="396"/>
                  </a:lnTo>
                  <a:lnTo>
                    <a:pt x="583" y="263"/>
                  </a:lnTo>
                  <a:lnTo>
                    <a:pt x="628" y="197"/>
                  </a:lnTo>
                  <a:lnTo>
                    <a:pt x="674" y="133"/>
                  </a:lnTo>
                  <a:lnTo>
                    <a:pt x="717" y="78"/>
                  </a:lnTo>
                  <a:lnTo>
                    <a:pt x="763" y="36"/>
                  </a:lnTo>
                  <a:lnTo>
                    <a:pt x="808" y="10"/>
                  </a:lnTo>
                  <a:lnTo>
                    <a:pt x="852"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17" name="Rectangle 21"/>
            <p:cNvSpPr>
              <a:spLocks noChangeArrowheads="1"/>
            </p:cNvSpPr>
            <p:nvPr/>
          </p:nvSpPr>
          <p:spPr bwMode="auto">
            <a:xfrm>
              <a:off x="157" y="3022"/>
              <a:ext cx="500"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FF3300"/>
                  </a:solidFill>
                  <a:latin typeface="Arial" charset="0"/>
                  <a:ea typeface="宋体" pitchFamily="2" charset="-122"/>
                </a:rPr>
                <a:t>均值</a:t>
              </a:r>
            </a:p>
          </p:txBody>
        </p:sp>
        <p:sp>
          <p:nvSpPr>
            <p:cNvPr id="618518" name="Rectangle 22"/>
            <p:cNvSpPr>
              <a:spLocks noChangeArrowheads="1"/>
            </p:cNvSpPr>
            <p:nvPr/>
          </p:nvSpPr>
          <p:spPr bwMode="auto">
            <a:xfrm>
              <a:off x="557" y="1661"/>
              <a:ext cx="194" cy="22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sz="1800" b="1">
                  <a:solidFill>
                    <a:srgbClr val="00FF00"/>
                  </a:solidFill>
                  <a:effectLst>
                    <a:outerShdw blurRad="38100" dist="38100" dir="2700000" algn="tl">
                      <a:srgbClr val="C0C0C0"/>
                    </a:outerShdw>
                  </a:effectLst>
                  <a:latin typeface="Arial" charset="0"/>
                  <a:ea typeface="宋体" pitchFamily="2" charset="-122"/>
                </a:rPr>
                <a:t>  </a:t>
              </a:r>
            </a:p>
          </p:txBody>
        </p:sp>
        <p:sp>
          <p:nvSpPr>
            <p:cNvPr id="618519" name="Rectangle 23"/>
            <p:cNvSpPr>
              <a:spLocks noChangeArrowheads="1"/>
            </p:cNvSpPr>
            <p:nvPr/>
          </p:nvSpPr>
          <p:spPr bwMode="auto">
            <a:xfrm>
              <a:off x="1026" y="2505"/>
              <a:ext cx="194" cy="22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sz="1800" b="1">
                  <a:solidFill>
                    <a:srgbClr val="FF0000"/>
                  </a:solidFill>
                  <a:effectLst>
                    <a:outerShdw blurRad="38100" dist="38100" dir="2700000" algn="tl">
                      <a:srgbClr val="C0C0C0"/>
                    </a:outerShdw>
                  </a:effectLst>
                  <a:latin typeface="Arial" charset="0"/>
                  <a:ea typeface="宋体" pitchFamily="2" charset="-122"/>
                </a:rPr>
                <a:t>  </a:t>
              </a:r>
            </a:p>
          </p:txBody>
        </p:sp>
        <p:sp>
          <p:nvSpPr>
            <p:cNvPr id="618520" name="Rectangle 24"/>
            <p:cNvSpPr>
              <a:spLocks noChangeArrowheads="1"/>
            </p:cNvSpPr>
            <p:nvPr/>
          </p:nvSpPr>
          <p:spPr bwMode="auto">
            <a:xfrm>
              <a:off x="1202" y="3008"/>
              <a:ext cx="500"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F040F0"/>
                  </a:solidFill>
                  <a:latin typeface="Arial" charset="0"/>
                  <a:ea typeface="宋体" pitchFamily="2" charset="-122"/>
                </a:rPr>
                <a:t>众数</a:t>
              </a:r>
            </a:p>
          </p:txBody>
        </p:sp>
        <p:sp>
          <p:nvSpPr>
            <p:cNvPr id="618521" name="Rectangle 25"/>
            <p:cNvSpPr>
              <a:spLocks noChangeArrowheads="1"/>
            </p:cNvSpPr>
            <p:nvPr/>
          </p:nvSpPr>
          <p:spPr bwMode="auto">
            <a:xfrm>
              <a:off x="1482" y="2638"/>
              <a:ext cx="116" cy="58"/>
            </a:xfrm>
            <a:prstGeom prst="rect">
              <a:avLst/>
            </a:prstGeom>
            <a:noFill/>
            <a:ln w="12700">
              <a:no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18522" name="Line 26"/>
            <p:cNvSpPr>
              <a:spLocks noChangeShapeType="1"/>
            </p:cNvSpPr>
            <p:nvPr/>
          </p:nvSpPr>
          <p:spPr bwMode="auto">
            <a:xfrm>
              <a:off x="1085" y="2093"/>
              <a:ext cx="0" cy="672"/>
            </a:xfrm>
            <a:prstGeom prst="line">
              <a:avLst/>
            </a:prstGeom>
            <a:noFill/>
            <a:ln w="38100">
              <a:solidFill>
                <a:srgbClr val="F040F0"/>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23" name="Line 27"/>
            <p:cNvSpPr>
              <a:spLocks noChangeShapeType="1"/>
            </p:cNvSpPr>
            <p:nvPr/>
          </p:nvSpPr>
          <p:spPr bwMode="auto">
            <a:xfrm>
              <a:off x="893" y="2237"/>
              <a:ext cx="0" cy="528"/>
            </a:xfrm>
            <a:prstGeom prst="line">
              <a:avLst/>
            </a:prstGeom>
            <a:noFill/>
            <a:ln w="38100">
              <a:solidFill>
                <a:srgbClr val="6565FF"/>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24" name="Line 28"/>
            <p:cNvSpPr>
              <a:spLocks noChangeShapeType="1"/>
            </p:cNvSpPr>
            <p:nvPr/>
          </p:nvSpPr>
          <p:spPr bwMode="auto">
            <a:xfrm>
              <a:off x="749" y="2477"/>
              <a:ext cx="0" cy="268"/>
            </a:xfrm>
            <a:prstGeom prst="line">
              <a:avLst/>
            </a:prstGeom>
            <a:noFill/>
            <a:ln w="38100">
              <a:solidFill>
                <a:srgbClr val="FF3300"/>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25" name="Line 29"/>
            <p:cNvSpPr>
              <a:spLocks noChangeShapeType="1"/>
            </p:cNvSpPr>
            <p:nvPr/>
          </p:nvSpPr>
          <p:spPr bwMode="auto">
            <a:xfrm flipH="1" flipV="1">
              <a:off x="1110" y="2795"/>
              <a:ext cx="227" cy="272"/>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26" name="Line 30"/>
            <p:cNvSpPr>
              <a:spLocks noChangeShapeType="1"/>
            </p:cNvSpPr>
            <p:nvPr/>
          </p:nvSpPr>
          <p:spPr bwMode="auto">
            <a:xfrm flipV="1">
              <a:off x="476" y="2795"/>
              <a:ext cx="272" cy="273"/>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27" name="Line 31"/>
            <p:cNvSpPr>
              <a:spLocks noChangeShapeType="1"/>
            </p:cNvSpPr>
            <p:nvPr/>
          </p:nvSpPr>
          <p:spPr bwMode="auto">
            <a:xfrm>
              <a:off x="221" y="2765"/>
              <a:ext cx="1248" cy="0"/>
            </a:xfrm>
            <a:prstGeom prst="line">
              <a:avLst/>
            </a:prstGeom>
            <a:noFill/>
            <a:ln w="381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28" name="Rectangle 32"/>
            <p:cNvSpPr>
              <a:spLocks noChangeArrowheads="1"/>
            </p:cNvSpPr>
            <p:nvPr/>
          </p:nvSpPr>
          <p:spPr bwMode="auto">
            <a:xfrm>
              <a:off x="612" y="3203"/>
              <a:ext cx="693"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6565FF"/>
                  </a:solidFill>
                  <a:latin typeface="Arial" charset="0"/>
                  <a:ea typeface="宋体" pitchFamily="2" charset="-122"/>
                </a:rPr>
                <a:t>中位数</a:t>
              </a:r>
            </a:p>
          </p:txBody>
        </p:sp>
        <p:sp>
          <p:nvSpPr>
            <p:cNvPr id="618529" name="Line 33"/>
            <p:cNvSpPr>
              <a:spLocks noChangeShapeType="1"/>
            </p:cNvSpPr>
            <p:nvPr/>
          </p:nvSpPr>
          <p:spPr bwMode="auto">
            <a:xfrm flipH="1" flipV="1">
              <a:off x="883" y="2795"/>
              <a:ext cx="47" cy="408"/>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grpSp>
      <p:grpSp>
        <p:nvGrpSpPr>
          <p:cNvPr id="5" name="Group 34"/>
          <p:cNvGrpSpPr>
            <a:grpSpLocks/>
          </p:cNvGrpSpPr>
          <p:nvPr/>
        </p:nvGrpSpPr>
        <p:grpSpPr bwMode="auto">
          <a:xfrm>
            <a:off x="6343650" y="2600325"/>
            <a:ext cx="2586038" cy="2828925"/>
            <a:chOff x="3927" y="1480"/>
            <a:chExt cx="1629" cy="1782"/>
          </a:xfrm>
        </p:grpSpPr>
        <p:sp>
          <p:nvSpPr>
            <p:cNvPr id="618531" name="Freeform 35"/>
            <p:cNvSpPr>
              <a:spLocks/>
            </p:cNvSpPr>
            <p:nvPr/>
          </p:nvSpPr>
          <p:spPr bwMode="auto">
            <a:xfrm>
              <a:off x="4455" y="1920"/>
              <a:ext cx="853" cy="675"/>
            </a:xfrm>
            <a:custGeom>
              <a:avLst/>
              <a:gdLst/>
              <a:ahLst/>
              <a:cxnLst>
                <a:cxn ang="0">
                  <a:pos x="852" y="674"/>
                </a:cxn>
                <a:cxn ang="0">
                  <a:pos x="761" y="667"/>
                </a:cxn>
                <a:cxn ang="0">
                  <a:pos x="718" y="659"/>
                </a:cxn>
                <a:cxn ang="0">
                  <a:pos x="672" y="648"/>
                </a:cxn>
                <a:cxn ang="0">
                  <a:pos x="627" y="633"/>
                </a:cxn>
                <a:cxn ang="0">
                  <a:pos x="583" y="612"/>
                </a:cxn>
                <a:cxn ang="0">
                  <a:pos x="538" y="583"/>
                </a:cxn>
                <a:cxn ang="0">
                  <a:pos x="447" y="506"/>
                </a:cxn>
                <a:cxn ang="0">
                  <a:pos x="358" y="396"/>
                </a:cxn>
                <a:cxn ang="0">
                  <a:pos x="269" y="263"/>
                </a:cxn>
                <a:cxn ang="0">
                  <a:pos x="224" y="197"/>
                </a:cxn>
                <a:cxn ang="0">
                  <a:pos x="178" y="133"/>
                </a:cxn>
                <a:cxn ang="0">
                  <a:pos x="135" y="78"/>
                </a:cxn>
                <a:cxn ang="0">
                  <a:pos x="89" y="36"/>
                </a:cxn>
                <a:cxn ang="0">
                  <a:pos x="44" y="10"/>
                </a:cxn>
                <a:cxn ang="0">
                  <a:pos x="0" y="0"/>
                </a:cxn>
              </a:cxnLst>
              <a:rect l="0" t="0" r="r" b="b"/>
              <a:pathLst>
                <a:path w="853" h="675">
                  <a:moveTo>
                    <a:pt x="852" y="674"/>
                  </a:moveTo>
                  <a:lnTo>
                    <a:pt x="761" y="667"/>
                  </a:lnTo>
                  <a:lnTo>
                    <a:pt x="718" y="659"/>
                  </a:lnTo>
                  <a:lnTo>
                    <a:pt x="672" y="648"/>
                  </a:lnTo>
                  <a:lnTo>
                    <a:pt x="627" y="633"/>
                  </a:lnTo>
                  <a:lnTo>
                    <a:pt x="583" y="612"/>
                  </a:lnTo>
                  <a:lnTo>
                    <a:pt x="538" y="583"/>
                  </a:lnTo>
                  <a:lnTo>
                    <a:pt x="447" y="506"/>
                  </a:lnTo>
                  <a:lnTo>
                    <a:pt x="358" y="396"/>
                  </a:lnTo>
                  <a:lnTo>
                    <a:pt x="269" y="263"/>
                  </a:lnTo>
                  <a:lnTo>
                    <a:pt x="224" y="197"/>
                  </a:lnTo>
                  <a:lnTo>
                    <a:pt x="178" y="133"/>
                  </a:lnTo>
                  <a:lnTo>
                    <a:pt x="135" y="78"/>
                  </a:lnTo>
                  <a:lnTo>
                    <a:pt x="89" y="36"/>
                  </a:lnTo>
                  <a:lnTo>
                    <a:pt x="44" y="10"/>
                  </a:lnTo>
                  <a:lnTo>
                    <a:pt x="0"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32" name="Freeform 36"/>
            <p:cNvSpPr>
              <a:spLocks/>
            </p:cNvSpPr>
            <p:nvPr/>
          </p:nvSpPr>
          <p:spPr bwMode="auto">
            <a:xfrm>
              <a:off x="4167" y="1920"/>
              <a:ext cx="285" cy="675"/>
            </a:xfrm>
            <a:custGeom>
              <a:avLst/>
              <a:gdLst/>
              <a:ahLst/>
              <a:cxnLst>
                <a:cxn ang="0">
                  <a:pos x="0" y="674"/>
                </a:cxn>
                <a:cxn ang="0">
                  <a:pos x="28" y="667"/>
                </a:cxn>
                <a:cxn ang="0">
                  <a:pos x="43" y="659"/>
                </a:cxn>
                <a:cxn ang="0">
                  <a:pos x="59" y="648"/>
                </a:cxn>
                <a:cxn ang="0">
                  <a:pos x="74" y="633"/>
                </a:cxn>
                <a:cxn ang="0">
                  <a:pos x="89" y="612"/>
                </a:cxn>
                <a:cxn ang="0">
                  <a:pos x="104" y="583"/>
                </a:cxn>
                <a:cxn ang="0">
                  <a:pos x="134" y="506"/>
                </a:cxn>
                <a:cxn ang="0">
                  <a:pos x="165" y="396"/>
                </a:cxn>
                <a:cxn ang="0">
                  <a:pos x="193" y="263"/>
                </a:cxn>
                <a:cxn ang="0">
                  <a:pos x="208" y="197"/>
                </a:cxn>
                <a:cxn ang="0">
                  <a:pos x="223" y="133"/>
                </a:cxn>
                <a:cxn ang="0">
                  <a:pos x="239" y="78"/>
                </a:cxn>
                <a:cxn ang="0">
                  <a:pos x="254" y="36"/>
                </a:cxn>
                <a:cxn ang="0">
                  <a:pos x="269" y="10"/>
                </a:cxn>
                <a:cxn ang="0">
                  <a:pos x="284" y="0"/>
                </a:cxn>
              </a:cxnLst>
              <a:rect l="0" t="0" r="r" b="b"/>
              <a:pathLst>
                <a:path w="285" h="675">
                  <a:moveTo>
                    <a:pt x="0" y="674"/>
                  </a:moveTo>
                  <a:lnTo>
                    <a:pt x="28" y="667"/>
                  </a:lnTo>
                  <a:lnTo>
                    <a:pt x="43" y="659"/>
                  </a:lnTo>
                  <a:lnTo>
                    <a:pt x="59" y="648"/>
                  </a:lnTo>
                  <a:lnTo>
                    <a:pt x="74" y="633"/>
                  </a:lnTo>
                  <a:lnTo>
                    <a:pt x="89" y="612"/>
                  </a:lnTo>
                  <a:lnTo>
                    <a:pt x="104" y="583"/>
                  </a:lnTo>
                  <a:lnTo>
                    <a:pt x="134" y="506"/>
                  </a:lnTo>
                  <a:lnTo>
                    <a:pt x="165" y="396"/>
                  </a:lnTo>
                  <a:lnTo>
                    <a:pt x="193" y="263"/>
                  </a:lnTo>
                  <a:lnTo>
                    <a:pt x="208" y="197"/>
                  </a:lnTo>
                  <a:lnTo>
                    <a:pt x="223" y="133"/>
                  </a:lnTo>
                  <a:lnTo>
                    <a:pt x="239" y="78"/>
                  </a:lnTo>
                  <a:lnTo>
                    <a:pt x="254" y="36"/>
                  </a:lnTo>
                  <a:lnTo>
                    <a:pt x="269" y="10"/>
                  </a:lnTo>
                  <a:lnTo>
                    <a:pt x="284" y="0"/>
                  </a:lnTo>
                </a:path>
              </a:pathLst>
            </a:custGeom>
            <a:noFill/>
            <a:ln w="38100" cap="rnd" cmpd="sng">
              <a:solidFill>
                <a:srgbClr val="0000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618533" name="Rectangle 37"/>
            <p:cNvSpPr>
              <a:spLocks noChangeArrowheads="1"/>
            </p:cNvSpPr>
            <p:nvPr/>
          </p:nvSpPr>
          <p:spPr bwMode="auto">
            <a:xfrm>
              <a:off x="4289" y="2384"/>
              <a:ext cx="194" cy="22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sz="1800" b="1">
                  <a:solidFill>
                    <a:srgbClr val="FF00FF"/>
                  </a:solidFill>
                  <a:effectLst>
                    <a:outerShdw blurRad="38100" dist="38100" dir="2700000" algn="tl">
                      <a:srgbClr val="C0C0C0"/>
                    </a:outerShdw>
                  </a:effectLst>
                  <a:latin typeface="Arial" charset="0"/>
                  <a:ea typeface="宋体" pitchFamily="2" charset="-122"/>
                </a:rPr>
                <a:t>  </a:t>
              </a:r>
            </a:p>
          </p:txBody>
        </p:sp>
        <p:sp>
          <p:nvSpPr>
            <p:cNvPr id="618534" name="Rectangle 38"/>
            <p:cNvSpPr>
              <a:spLocks noChangeArrowheads="1"/>
            </p:cNvSpPr>
            <p:nvPr/>
          </p:nvSpPr>
          <p:spPr bwMode="auto">
            <a:xfrm>
              <a:off x="4861" y="2384"/>
              <a:ext cx="194" cy="22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sz="1800" b="1">
                  <a:solidFill>
                    <a:srgbClr val="FF0000"/>
                  </a:solidFill>
                  <a:effectLst>
                    <a:outerShdw blurRad="38100" dist="38100" dir="2700000" algn="tl">
                      <a:srgbClr val="C0C0C0"/>
                    </a:outerShdw>
                  </a:effectLst>
                  <a:latin typeface="Arial" charset="0"/>
                  <a:ea typeface="宋体" pitchFamily="2" charset="-122"/>
                </a:rPr>
                <a:t>  </a:t>
              </a:r>
            </a:p>
          </p:txBody>
        </p:sp>
        <p:sp>
          <p:nvSpPr>
            <p:cNvPr id="618535" name="Rectangle 39"/>
            <p:cNvSpPr>
              <a:spLocks noChangeArrowheads="1"/>
            </p:cNvSpPr>
            <p:nvPr/>
          </p:nvSpPr>
          <p:spPr bwMode="auto">
            <a:xfrm>
              <a:off x="5309" y="2517"/>
              <a:ext cx="116" cy="58"/>
            </a:xfrm>
            <a:prstGeom prst="rect">
              <a:avLst/>
            </a:prstGeom>
            <a:noFill/>
            <a:ln w="12700">
              <a:noFill/>
              <a:miter lim="800000"/>
              <a:headEnd/>
              <a:tailEnd/>
            </a:ln>
            <a:effectLst>
              <a:outerShdw dist="17961" dir="2700000" algn="ctr" rotWithShape="0">
                <a:schemeClr val="bg2"/>
              </a:outerShdw>
            </a:effectLst>
          </p:spPr>
          <p:txBody>
            <a:bodyPr wrap="none" anchor="ctr"/>
            <a:lstStyle/>
            <a:p>
              <a:pPr>
                <a:defRPr/>
              </a:pPr>
              <a:endParaRPr lang="zh-CN" altLang="en-US"/>
            </a:p>
          </p:txBody>
        </p:sp>
        <p:sp>
          <p:nvSpPr>
            <p:cNvPr id="618536" name="Line 40"/>
            <p:cNvSpPr>
              <a:spLocks noChangeShapeType="1"/>
            </p:cNvSpPr>
            <p:nvPr/>
          </p:nvSpPr>
          <p:spPr bwMode="auto">
            <a:xfrm>
              <a:off x="4455" y="1920"/>
              <a:ext cx="0" cy="720"/>
            </a:xfrm>
            <a:prstGeom prst="line">
              <a:avLst/>
            </a:prstGeom>
            <a:noFill/>
            <a:ln w="38100">
              <a:solidFill>
                <a:srgbClr val="F040F0"/>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37" name="Line 41"/>
            <p:cNvSpPr>
              <a:spLocks noChangeShapeType="1"/>
            </p:cNvSpPr>
            <p:nvPr/>
          </p:nvSpPr>
          <p:spPr bwMode="auto">
            <a:xfrm>
              <a:off x="4647" y="2069"/>
              <a:ext cx="0" cy="552"/>
            </a:xfrm>
            <a:prstGeom prst="line">
              <a:avLst/>
            </a:prstGeom>
            <a:noFill/>
            <a:ln w="38100">
              <a:solidFill>
                <a:srgbClr val="6565FF"/>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38" name="Line 42"/>
            <p:cNvSpPr>
              <a:spLocks noChangeShapeType="1"/>
            </p:cNvSpPr>
            <p:nvPr/>
          </p:nvSpPr>
          <p:spPr bwMode="auto">
            <a:xfrm>
              <a:off x="4839" y="2352"/>
              <a:ext cx="0" cy="288"/>
            </a:xfrm>
            <a:prstGeom prst="line">
              <a:avLst/>
            </a:prstGeom>
            <a:noFill/>
            <a:ln w="38100">
              <a:solidFill>
                <a:srgbClr val="FF3300"/>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618539" name="Line 43"/>
            <p:cNvSpPr>
              <a:spLocks noChangeShapeType="1"/>
            </p:cNvSpPr>
            <p:nvPr/>
          </p:nvSpPr>
          <p:spPr bwMode="auto">
            <a:xfrm>
              <a:off x="3927" y="2640"/>
              <a:ext cx="1584" cy="0"/>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40" name="Line 44"/>
            <p:cNvSpPr>
              <a:spLocks noChangeShapeType="1"/>
            </p:cNvSpPr>
            <p:nvPr/>
          </p:nvSpPr>
          <p:spPr bwMode="auto">
            <a:xfrm flipV="1">
              <a:off x="4194" y="2704"/>
              <a:ext cx="227" cy="182"/>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41" name="Line 45"/>
            <p:cNvSpPr>
              <a:spLocks noChangeShapeType="1"/>
            </p:cNvSpPr>
            <p:nvPr/>
          </p:nvSpPr>
          <p:spPr bwMode="auto">
            <a:xfrm flipH="1" flipV="1">
              <a:off x="4920" y="2704"/>
              <a:ext cx="184" cy="182"/>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42" name="Line 46"/>
            <p:cNvSpPr>
              <a:spLocks noChangeShapeType="1"/>
            </p:cNvSpPr>
            <p:nvPr/>
          </p:nvSpPr>
          <p:spPr bwMode="auto">
            <a:xfrm flipH="1" flipV="1">
              <a:off x="4648" y="2704"/>
              <a:ext cx="136" cy="318"/>
            </a:xfrm>
            <a:prstGeom prst="line">
              <a:avLst/>
            </a:prstGeom>
            <a:noFill/>
            <a:ln w="12700">
              <a:solidFill>
                <a:schemeClr val="tx1"/>
              </a:solidFill>
              <a:round/>
              <a:headEnd/>
              <a:tailEnd type="triangle" w="med" len="med"/>
            </a:ln>
            <a:effectLst>
              <a:outerShdw dist="17961" dir="2700000" algn="ctr" rotWithShape="0">
                <a:schemeClr val="bg2"/>
              </a:outerShdw>
            </a:effectLst>
          </p:spPr>
          <p:txBody>
            <a:bodyPr wrap="none" anchor="ctr"/>
            <a:lstStyle/>
            <a:p>
              <a:pPr>
                <a:defRPr/>
              </a:pPr>
              <a:endParaRPr lang="zh-CN" altLang="en-US"/>
            </a:p>
          </p:txBody>
        </p:sp>
        <p:sp>
          <p:nvSpPr>
            <p:cNvPr id="618543" name="Rectangle 47"/>
            <p:cNvSpPr>
              <a:spLocks noChangeArrowheads="1"/>
            </p:cNvSpPr>
            <p:nvPr/>
          </p:nvSpPr>
          <p:spPr bwMode="auto">
            <a:xfrm>
              <a:off x="5056" y="2795"/>
              <a:ext cx="500"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FF3300"/>
                  </a:solidFill>
                  <a:latin typeface="Arial" charset="0"/>
                  <a:ea typeface="宋体" pitchFamily="2" charset="-122"/>
                </a:rPr>
                <a:t>均值</a:t>
              </a:r>
            </a:p>
          </p:txBody>
        </p:sp>
        <p:sp>
          <p:nvSpPr>
            <p:cNvPr id="618544" name="Rectangle 48"/>
            <p:cNvSpPr>
              <a:spLocks noChangeArrowheads="1"/>
            </p:cNvSpPr>
            <p:nvPr/>
          </p:nvSpPr>
          <p:spPr bwMode="auto">
            <a:xfrm>
              <a:off x="3968" y="2840"/>
              <a:ext cx="500"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F040F0"/>
                  </a:solidFill>
                  <a:latin typeface="Arial" charset="0"/>
                  <a:ea typeface="宋体" pitchFamily="2" charset="-122"/>
                </a:rPr>
                <a:t>众数</a:t>
              </a:r>
            </a:p>
          </p:txBody>
        </p:sp>
        <p:sp>
          <p:nvSpPr>
            <p:cNvPr id="618545" name="Rectangle 49"/>
            <p:cNvSpPr>
              <a:spLocks noChangeArrowheads="1"/>
            </p:cNvSpPr>
            <p:nvPr/>
          </p:nvSpPr>
          <p:spPr bwMode="auto">
            <a:xfrm>
              <a:off x="4454" y="2976"/>
              <a:ext cx="693"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6565FF"/>
                  </a:solidFill>
                  <a:latin typeface="Arial" charset="0"/>
                  <a:ea typeface="宋体" pitchFamily="2" charset="-122"/>
                </a:rPr>
                <a:t>中位数</a:t>
              </a:r>
            </a:p>
          </p:txBody>
        </p:sp>
        <p:sp>
          <p:nvSpPr>
            <p:cNvPr id="618546" name="Rectangle 50"/>
            <p:cNvSpPr>
              <a:spLocks noChangeArrowheads="1"/>
            </p:cNvSpPr>
            <p:nvPr/>
          </p:nvSpPr>
          <p:spPr bwMode="auto">
            <a:xfrm>
              <a:off x="4285" y="1480"/>
              <a:ext cx="1021" cy="289"/>
            </a:xfrm>
            <a:prstGeom prst="rect">
              <a:avLst/>
            </a:prstGeom>
            <a:solidFill>
              <a:schemeClr val="accent1"/>
            </a:solidFill>
            <a:ln w="12700">
              <a:noFill/>
              <a:miter lim="800000"/>
              <a:headEnd/>
              <a:tailEnd/>
            </a:ln>
            <a:effectLst>
              <a:outerShdw dist="17961" dir="2700000" algn="ctr" rotWithShape="0">
                <a:schemeClr val="bg2"/>
              </a:outerShdw>
            </a:effectLst>
          </p:spPr>
          <p:txBody>
            <a:bodyPr wrap="square" lIns="90488" tIns="44450" rIns="90488" bIns="44450">
              <a:spAutoFit/>
            </a:bodyPr>
            <a:lstStyle/>
            <a:p>
              <a:pPr eaLnBrk="0" hangingPunct="0">
                <a:defRPr/>
              </a:pPr>
              <a:r>
                <a:rPr lang="zh-CN" altLang="en-US" b="1" dirty="0">
                  <a:solidFill>
                    <a:srgbClr val="C56B9E"/>
                  </a:solidFill>
                  <a:latin typeface="Arial" charset="0"/>
                  <a:ea typeface="宋体" pitchFamily="2" charset="-122"/>
                </a:rPr>
                <a:t>右偏分布</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3000"/>
                                        <p:tgtEl>
                                          <p:spTgt spid="4"/>
                                        </p:tgtEl>
                                      </p:cBhvr>
                                    </p:animEffect>
                                  </p:childTnLst>
                                </p:cTn>
                              </p:par>
                              <p:par>
                                <p:cTn id="8" presetID="2" presetClass="entr" presetSubtype="8" fill="hold" nodeType="withEffect">
                                  <p:stCondLst>
                                    <p:cond delay="0"/>
                                  </p:stCondLst>
                                  <p:childTnLst>
                                    <p:set>
                                      <p:cBhvr>
                                        <p:cTn id="9" dur="1" fill="hold">
                                          <p:stCondLst>
                                            <p:cond delay="0"/>
                                          </p:stCondLst>
                                        </p:cTn>
                                        <p:tgtEl>
                                          <p:spTgt spid="618499"/>
                                        </p:tgtEl>
                                        <p:attrNameLst>
                                          <p:attrName>style.visibility</p:attrName>
                                        </p:attrNameLst>
                                      </p:cBhvr>
                                      <p:to>
                                        <p:strVal val="visible"/>
                                      </p:to>
                                    </p:set>
                                    <p:anim calcmode="lin" valueType="num">
                                      <p:cBhvr additive="base">
                                        <p:cTn id="10" dur="2000" fill="hold"/>
                                        <p:tgtEl>
                                          <p:spTgt spid="618499"/>
                                        </p:tgtEl>
                                        <p:attrNameLst>
                                          <p:attrName>ppt_x</p:attrName>
                                        </p:attrNameLst>
                                      </p:cBhvr>
                                      <p:tavLst>
                                        <p:tav tm="0">
                                          <p:val>
                                            <p:strVal val="0-#ppt_w/2"/>
                                          </p:val>
                                        </p:tav>
                                        <p:tav tm="100000">
                                          <p:val>
                                            <p:strVal val="#ppt_x"/>
                                          </p:val>
                                        </p:tav>
                                      </p:tavLst>
                                    </p:anim>
                                    <p:anim calcmode="lin" valueType="num">
                                      <p:cBhvr additive="base">
                                        <p:cTn id="11" dur="2000" fill="hold"/>
                                        <p:tgtEl>
                                          <p:spTgt spid="618499"/>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3000"/>
                                        <p:tgtEl>
                                          <p:spTgt spid="5"/>
                                        </p:tgtEl>
                                      </p:cBhvr>
                                    </p:animEffect>
                                  </p:childTnLst>
                                </p:cTn>
                              </p:par>
                              <p:par>
                                <p:cTn id="17" presetID="2" presetClass="entr" presetSubtype="2" fill="hold" nodeType="withEffect">
                                  <p:stCondLst>
                                    <p:cond delay="0"/>
                                  </p:stCondLst>
                                  <p:childTnLst>
                                    <p:set>
                                      <p:cBhvr>
                                        <p:cTn id="18" dur="1" fill="hold">
                                          <p:stCondLst>
                                            <p:cond delay="0"/>
                                          </p:stCondLst>
                                        </p:cTn>
                                        <p:tgtEl>
                                          <p:spTgt spid="618503"/>
                                        </p:tgtEl>
                                        <p:attrNameLst>
                                          <p:attrName>style.visibility</p:attrName>
                                        </p:attrNameLst>
                                      </p:cBhvr>
                                      <p:to>
                                        <p:strVal val="visible"/>
                                      </p:to>
                                    </p:set>
                                    <p:anim calcmode="lin" valueType="num">
                                      <p:cBhvr additive="base">
                                        <p:cTn id="19" dur="2000" fill="hold"/>
                                        <p:tgtEl>
                                          <p:spTgt spid="618503"/>
                                        </p:tgtEl>
                                        <p:attrNameLst>
                                          <p:attrName>ppt_x</p:attrName>
                                        </p:attrNameLst>
                                      </p:cBhvr>
                                      <p:tavLst>
                                        <p:tav tm="0">
                                          <p:val>
                                            <p:strVal val="1+#ppt_w/2"/>
                                          </p:val>
                                        </p:tav>
                                        <p:tav tm="100000">
                                          <p:val>
                                            <p:strVal val="#ppt_x"/>
                                          </p:val>
                                        </p:tav>
                                      </p:tavLst>
                                    </p:anim>
                                    <p:anim calcmode="lin" valueType="num">
                                      <p:cBhvr additive="base">
                                        <p:cTn id="20" dur="2000" fill="hold"/>
                                        <p:tgtEl>
                                          <p:spTgt spid="618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ChangeArrowheads="1"/>
          </p:cNvSpPr>
          <p:nvPr/>
        </p:nvSpPr>
        <p:spPr bwMode="auto">
          <a:xfrm>
            <a:off x="827088" y="2133600"/>
            <a:ext cx="7391400" cy="2090738"/>
          </a:xfrm>
          <a:prstGeom prst="rect">
            <a:avLst/>
          </a:prstGeom>
          <a:noFill/>
          <a:ln w="9525">
            <a:noFill/>
            <a:miter lim="800000"/>
            <a:headEnd/>
            <a:tailEnd/>
          </a:ln>
        </p:spPr>
        <p:txBody>
          <a:bodyPr>
            <a:spAutoFit/>
          </a:bodyPr>
          <a:lstStyle/>
          <a:p>
            <a:pPr>
              <a:lnSpc>
                <a:spcPct val="130000"/>
              </a:lnSpc>
              <a:spcBef>
                <a:spcPct val="50000"/>
              </a:spcBef>
            </a:pPr>
            <a:r>
              <a:rPr lang="en-US" altLang="zh-CN" sz="3200" b="1">
                <a:solidFill>
                  <a:srgbClr val="008000"/>
                </a:solidFill>
                <a:ea typeface="宋体" pitchFamily="2" charset="-122"/>
              </a:rPr>
              <a:t>      </a:t>
            </a:r>
            <a:r>
              <a:rPr lang="zh-CN" altLang="en-US" sz="3200" b="1">
                <a:solidFill>
                  <a:schemeClr val="tx2"/>
                </a:solidFill>
                <a:ea typeface="宋体" pitchFamily="2" charset="-122"/>
              </a:rPr>
              <a:t>在偏斜适度（微偏）的情况下，不论左偏还是右偏，则有如下的</a:t>
            </a:r>
            <a:r>
              <a:rPr lang="zh-CN" altLang="en-US" sz="3200" b="1">
                <a:solidFill>
                  <a:srgbClr val="3333FF"/>
                </a:solidFill>
                <a:ea typeface="宋体" pitchFamily="2" charset="-122"/>
              </a:rPr>
              <a:t>经验公式</a:t>
            </a:r>
            <a:r>
              <a:rPr lang="zh-CN" altLang="en-US" sz="3200" b="1">
                <a:solidFill>
                  <a:schemeClr val="tx2"/>
                </a:solidFill>
                <a:ea typeface="宋体" pitchFamily="2" charset="-122"/>
              </a:rPr>
              <a:t>：                  </a:t>
            </a:r>
          </a:p>
          <a:p>
            <a:pPr eaLnBrk="0" hangingPunct="0">
              <a:spcBef>
                <a:spcPct val="50000"/>
              </a:spcBef>
            </a:pPr>
            <a:endParaRPr lang="en-US" altLang="zh-CN" sz="3200" b="1">
              <a:solidFill>
                <a:schemeClr val="tx2"/>
              </a:solidFill>
              <a:ea typeface="宋体" pitchFamily="2" charset="-122"/>
            </a:endParaRPr>
          </a:p>
        </p:txBody>
      </p:sp>
      <p:graphicFrame>
        <p:nvGraphicFramePr>
          <p:cNvPr id="37890" name="Object 3"/>
          <p:cNvGraphicFramePr>
            <a:graphicFrameLocks noChangeAspect="1"/>
          </p:cNvGraphicFramePr>
          <p:nvPr/>
        </p:nvGraphicFramePr>
        <p:xfrm>
          <a:off x="1979613" y="4076700"/>
          <a:ext cx="5602287" cy="1012825"/>
        </p:xfrm>
        <a:graphic>
          <a:graphicData uri="http://schemas.openxmlformats.org/presentationml/2006/ole">
            <mc:AlternateContent xmlns:mc="http://schemas.openxmlformats.org/markup-compatibility/2006">
              <mc:Choice xmlns:v="urn:schemas-microsoft-com:vml" Requires="v">
                <p:oleObj spid="_x0000_s38067" name="公式" r:id="rId3" imgW="1269720" imgH="228600" progId="Equation.3">
                  <p:embed/>
                </p:oleObj>
              </mc:Choice>
              <mc:Fallback>
                <p:oleObj name="公式" r:id="rId3" imgW="126972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4076700"/>
                        <a:ext cx="5602287" cy="101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3" name="Rectangle 4"/>
          <p:cNvSpPr>
            <a:spLocks noGrp="1" noChangeArrowheads="1"/>
          </p:cNvSpPr>
          <p:nvPr>
            <p:ph type="title" idx="4294967295"/>
          </p:nvPr>
        </p:nvSpPr>
        <p:spPr>
          <a:xfrm>
            <a:off x="539750" y="765175"/>
            <a:ext cx="7772400" cy="990600"/>
          </a:xfrm>
        </p:spPr>
        <p:txBody>
          <a:bodyPr/>
          <a:lstStyle/>
          <a:p>
            <a:pPr eaLnBrk="1" hangingPunct="1"/>
            <a:r>
              <a:rPr lang="en-US" altLang="zh-CN" dirty="0" smtClean="0"/>
              <a:t>【</a:t>
            </a:r>
            <a:r>
              <a:rPr lang="zh-CN" altLang="en-US" dirty="0" smtClean="0"/>
              <a:t>附</a:t>
            </a:r>
            <a:r>
              <a:rPr lang="en-US" altLang="zh-CN" dirty="0" smtClean="0"/>
              <a:t>】</a:t>
            </a:r>
            <a:r>
              <a:rPr lang="zh-CN" altLang="en-US" dirty="0" smtClean="0"/>
              <a:t>经验公式</a:t>
            </a:r>
          </a:p>
        </p:txBody>
      </p:sp>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95</a:t>
            </a:fld>
            <a:endParaRPr lang="en-US" altLang="zh-CN" dirty="0"/>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a:xfrm>
            <a:off x="609600" y="685800"/>
            <a:ext cx="7772400" cy="1363663"/>
          </a:xfrm>
        </p:spPr>
        <p:txBody>
          <a:bodyPr/>
          <a:lstStyle/>
          <a:p>
            <a:pPr eaLnBrk="1" hangingPunct="1"/>
            <a:r>
              <a:rPr lang="en-US" altLang="zh-CN" dirty="0" smtClean="0">
                <a:sym typeface="Symbol" pitchFamily="18" charset="2"/>
              </a:rPr>
              <a:t>3.2.3 </a:t>
            </a:r>
            <a:r>
              <a:rPr lang="zh-CN" altLang="en-US" sz="4000" dirty="0" smtClean="0">
                <a:solidFill>
                  <a:srgbClr val="1313FF"/>
                </a:solidFill>
                <a:sym typeface="Symbol" pitchFamily="18" charset="2"/>
              </a:rPr>
              <a:t>计算和应用平均指标</a:t>
            </a:r>
            <a:br>
              <a:rPr lang="zh-CN" altLang="en-US" sz="4000" dirty="0" smtClean="0">
                <a:solidFill>
                  <a:srgbClr val="1313FF"/>
                </a:solidFill>
                <a:sym typeface="Symbol" pitchFamily="18" charset="2"/>
              </a:rPr>
            </a:br>
            <a:r>
              <a:rPr lang="zh-CN" altLang="en-US" sz="4000" dirty="0" smtClean="0">
                <a:solidFill>
                  <a:srgbClr val="1313FF"/>
                </a:solidFill>
                <a:sym typeface="Symbol" pitchFamily="18" charset="2"/>
              </a:rPr>
              <a:t>应注意的问题</a:t>
            </a:r>
          </a:p>
        </p:txBody>
      </p:sp>
      <p:sp>
        <p:nvSpPr>
          <p:cNvPr id="128004" name="Rectangle 3"/>
          <p:cNvSpPr>
            <a:spLocks noGrp="1" noChangeArrowheads="1"/>
          </p:cNvSpPr>
          <p:nvPr>
            <p:ph type="body" idx="1"/>
          </p:nvPr>
        </p:nvSpPr>
        <p:spPr>
          <a:xfrm>
            <a:off x="684213" y="2205038"/>
            <a:ext cx="7772400" cy="4114800"/>
          </a:xfrm>
        </p:spPr>
        <p:txBody>
          <a:bodyPr/>
          <a:lstStyle/>
          <a:p>
            <a:pPr lvl="1" algn="just" eaLnBrk="1" hangingPunct="1">
              <a:lnSpc>
                <a:spcPct val="200000"/>
              </a:lnSpc>
            </a:pPr>
            <a:r>
              <a:rPr lang="zh-CN" altLang="en-US" sz="3200" b="0" smtClean="0"/>
              <a:t>同质性</a:t>
            </a:r>
            <a:r>
              <a:rPr lang="en-US" altLang="zh-CN" b="0" smtClean="0">
                <a:latin typeface="Times New Roman" pitchFamily="18" charset="0"/>
              </a:rPr>
              <a:t>——</a:t>
            </a:r>
            <a:r>
              <a:rPr lang="zh-CN" altLang="en-US" b="0" smtClean="0"/>
              <a:t>应用平均指标的基本原则</a:t>
            </a:r>
            <a:r>
              <a:rPr lang="zh-CN" altLang="en-US" smtClean="0"/>
              <a:t> </a:t>
            </a:r>
            <a:endParaRPr lang="zh-CN" altLang="en-US" sz="3200" b="0" smtClean="0"/>
          </a:p>
          <a:p>
            <a:pPr lvl="1" algn="just" eaLnBrk="1" hangingPunct="1">
              <a:lnSpc>
                <a:spcPct val="200000"/>
              </a:lnSpc>
            </a:pPr>
            <a:r>
              <a:rPr lang="zh-CN" altLang="en-US" sz="3200" b="0" smtClean="0"/>
              <a:t>与分组结合</a:t>
            </a:r>
          </a:p>
          <a:p>
            <a:pPr lvl="1" algn="just" eaLnBrk="1" hangingPunct="1">
              <a:lnSpc>
                <a:spcPct val="200000"/>
              </a:lnSpc>
            </a:pPr>
            <a:r>
              <a:rPr lang="zh-CN" altLang="en-US" sz="3200" b="0" smtClean="0"/>
              <a:t>与变异指标结合</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96</a:t>
            </a:fld>
            <a:endParaRPr lang="en-US" altLang="zh-CN" dirty="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2"/>
          <p:cNvSpPr>
            <a:spLocks noGrp="1" noChangeArrowheads="1"/>
          </p:cNvSpPr>
          <p:nvPr>
            <p:ph type="title"/>
          </p:nvPr>
        </p:nvSpPr>
        <p:spPr>
          <a:xfrm>
            <a:off x="838200" y="228600"/>
            <a:ext cx="6129338" cy="990600"/>
          </a:xfrm>
        </p:spPr>
        <p:txBody>
          <a:bodyPr/>
          <a:lstStyle/>
          <a:p>
            <a:pPr eaLnBrk="1" hangingPunct="1"/>
            <a:r>
              <a:rPr lang="zh-CN" altLang="en-US" dirty="0" smtClean="0"/>
              <a:t>一则笑话</a:t>
            </a:r>
          </a:p>
        </p:txBody>
      </p:sp>
      <p:sp>
        <p:nvSpPr>
          <p:cNvPr id="448515" name="Rectangle 3"/>
          <p:cNvSpPr>
            <a:spLocks noGrp="1" noChangeArrowheads="1"/>
          </p:cNvSpPr>
          <p:nvPr>
            <p:ph type="body" idx="1"/>
          </p:nvPr>
        </p:nvSpPr>
        <p:spPr>
          <a:xfrm>
            <a:off x="395536" y="1700808"/>
            <a:ext cx="8626475" cy="4826000"/>
          </a:xfrm>
        </p:spPr>
        <p:txBody>
          <a:bodyPr/>
          <a:lstStyle/>
          <a:p>
            <a:pPr eaLnBrk="1" hangingPunct="1">
              <a:lnSpc>
                <a:spcPct val="120000"/>
              </a:lnSpc>
            </a:pPr>
            <a:r>
              <a:rPr lang="zh-CN" altLang="en-US" dirty="0" smtClean="0">
                <a:solidFill>
                  <a:schemeClr val="tx1"/>
                </a:solidFill>
              </a:rPr>
              <a:t>如果你一只脚放在摄氏 </a:t>
            </a:r>
            <a:r>
              <a:rPr lang="en-US" altLang="zh-CN" dirty="0" smtClean="0">
                <a:solidFill>
                  <a:schemeClr val="tx1"/>
                </a:solidFill>
              </a:rPr>
              <a:t>1 </a:t>
            </a:r>
            <a:r>
              <a:rPr lang="zh-CN" altLang="en-US" dirty="0" smtClean="0">
                <a:solidFill>
                  <a:schemeClr val="tx1"/>
                </a:solidFill>
              </a:rPr>
              <a:t>度的水里，另一只脚放在摄氏 </a:t>
            </a:r>
            <a:r>
              <a:rPr lang="en-US" altLang="zh-CN" dirty="0" smtClean="0">
                <a:solidFill>
                  <a:schemeClr val="tx1"/>
                </a:solidFill>
              </a:rPr>
              <a:t>79 </a:t>
            </a:r>
            <a:r>
              <a:rPr lang="zh-CN" altLang="en-US" dirty="0" smtClean="0">
                <a:solidFill>
                  <a:schemeClr val="tx1"/>
                </a:solidFill>
              </a:rPr>
              <a:t>度的水里，平均水温 </a:t>
            </a:r>
            <a:r>
              <a:rPr lang="en-US" altLang="zh-CN" dirty="0" smtClean="0">
                <a:solidFill>
                  <a:schemeClr val="tx1"/>
                </a:solidFill>
              </a:rPr>
              <a:t>40 </a:t>
            </a:r>
            <a:r>
              <a:rPr lang="zh-CN" altLang="en-US" dirty="0" smtClean="0">
                <a:solidFill>
                  <a:schemeClr val="tx1"/>
                </a:solidFill>
              </a:rPr>
              <a:t>度，你一定感觉很舒服 ？</a:t>
            </a:r>
          </a:p>
          <a:p>
            <a:pPr eaLnBrk="1" hangingPunct="1">
              <a:lnSpc>
                <a:spcPct val="120000"/>
              </a:lnSpc>
            </a:pPr>
            <a:r>
              <a:rPr lang="zh-CN" altLang="en-US" dirty="0" smtClean="0">
                <a:solidFill>
                  <a:schemeClr val="tx1"/>
                </a:solidFill>
              </a:rPr>
              <a:t>显然，只了解变量的集中趋势是不够的！</a:t>
            </a:r>
          </a:p>
        </p:txBody>
      </p:sp>
      <p:pic>
        <p:nvPicPr>
          <p:cNvPr id="129029" name="Picture 4" descr="猴子"/>
          <p:cNvPicPr>
            <a:picLocks noChangeAspect="1" noChangeArrowheads="1"/>
          </p:cNvPicPr>
          <p:nvPr/>
        </p:nvPicPr>
        <p:blipFill>
          <a:blip r:embed="rId2" cstate="print"/>
          <a:srcRect/>
          <a:stretch>
            <a:fillRect/>
          </a:stretch>
        </p:blipFill>
        <p:spPr bwMode="auto">
          <a:xfrm>
            <a:off x="6516688" y="4833938"/>
            <a:ext cx="2627312" cy="1971675"/>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97</a:t>
            </a:fld>
            <a:endParaRPr lang="en-US" altLang="zh-CN"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448515">
                                            <p:txEl>
                                              <p:pRg st="1" end="1"/>
                                            </p:txEl>
                                          </p:spTgt>
                                        </p:tgtEl>
                                        <p:attrNameLst>
                                          <p:attrName>style.visibility</p:attrName>
                                        </p:attrNameLst>
                                      </p:cBhvr>
                                      <p:to>
                                        <p:strVal val="visible"/>
                                      </p:to>
                                    </p:set>
                                    <p:anim calcmode="discrete" valueType="clr">
                                      <p:cBhvr override="childStyle">
                                        <p:cTn id="7" dur="80"/>
                                        <p:tgtEl>
                                          <p:spTgt spid="4485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48515">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448515">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ChangeArrowheads="1"/>
          </p:cNvSpPr>
          <p:nvPr/>
        </p:nvSpPr>
        <p:spPr bwMode="auto">
          <a:xfrm>
            <a:off x="395288" y="1341438"/>
            <a:ext cx="8132762" cy="2913062"/>
          </a:xfrm>
          <a:prstGeom prst="rect">
            <a:avLst/>
          </a:prstGeom>
          <a:noFill/>
          <a:ln w="9525">
            <a:noFill/>
            <a:miter lim="800000"/>
            <a:headEnd/>
            <a:tailEnd/>
          </a:ln>
          <a:effectLst/>
        </p:spPr>
        <p:txBody>
          <a:bodyPr>
            <a:spAutoFit/>
          </a:bodyPr>
          <a:lstStyle/>
          <a:p>
            <a:pPr>
              <a:defRPr/>
            </a:pPr>
            <a:r>
              <a:rPr lang="zh-CN" altLang="en-US" sz="2800" b="1">
                <a:solidFill>
                  <a:srgbClr val="000000"/>
                </a:solidFill>
                <a:latin typeface="宋体" pitchFamily="2" charset="-122"/>
                <a:ea typeface="宋体" pitchFamily="2" charset="-122"/>
              </a:rPr>
              <a:t>下面是美国</a:t>
            </a:r>
            <a:r>
              <a:rPr lang="en-US" altLang="zh-CN" sz="2800" b="1">
                <a:solidFill>
                  <a:srgbClr val="000000"/>
                </a:solidFill>
                <a:latin typeface="宋体" pitchFamily="2" charset="-122"/>
                <a:ea typeface="宋体" pitchFamily="2" charset="-122"/>
              </a:rPr>
              <a:t>1950—1999</a:t>
            </a:r>
            <a:r>
              <a:rPr lang="zh-CN" altLang="en-US" sz="2800" b="1">
                <a:solidFill>
                  <a:srgbClr val="000000"/>
                </a:solidFill>
                <a:latin typeface="宋体" pitchFamily="2" charset="-122"/>
                <a:ea typeface="宋体" pitchFamily="2" charset="-122"/>
              </a:rPr>
              <a:t>年</a:t>
            </a:r>
            <a:r>
              <a:rPr lang="en-US" altLang="zh-CN" sz="2800" b="1">
                <a:solidFill>
                  <a:srgbClr val="000000"/>
                </a:solidFill>
                <a:latin typeface="宋体" pitchFamily="2" charset="-122"/>
                <a:ea typeface="宋体" pitchFamily="2" charset="-122"/>
              </a:rPr>
              <a:t>50</a:t>
            </a:r>
            <a:r>
              <a:rPr lang="zh-CN" altLang="en-US" sz="2800" b="1">
                <a:solidFill>
                  <a:srgbClr val="000000"/>
                </a:solidFill>
                <a:latin typeface="宋体" pitchFamily="2" charset="-122"/>
                <a:ea typeface="宋体" pitchFamily="2" charset="-122"/>
              </a:rPr>
              <a:t>年三种投资获利的数据</a:t>
            </a:r>
          </a:p>
          <a:p>
            <a:pPr lvl="1" algn="just">
              <a:lnSpc>
                <a:spcPct val="120000"/>
              </a:lnSpc>
              <a:spcBef>
                <a:spcPct val="20000"/>
              </a:spcBef>
              <a:buFontTx/>
              <a:buChar char="•"/>
              <a:defRPr/>
            </a:pP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投资          平均获利       </a:t>
            </a:r>
          </a:p>
          <a:p>
            <a:pPr lvl="1" algn="just">
              <a:lnSpc>
                <a:spcPct val="120000"/>
              </a:lnSpc>
              <a:spcBef>
                <a:spcPct val="20000"/>
              </a:spcBef>
              <a:buFontTx/>
              <a:buChar char="•"/>
              <a:defRPr/>
            </a:pP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短期国库券     </a:t>
            </a: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5.34</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a:p>
            <a:pPr lvl="1" algn="just">
              <a:lnSpc>
                <a:spcPct val="120000"/>
              </a:lnSpc>
              <a:spcBef>
                <a:spcPct val="20000"/>
              </a:spcBef>
              <a:buFontTx/>
              <a:buChar char="•"/>
              <a:defRPr/>
            </a:pP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长期国库券     </a:t>
            </a: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6.12</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a:p>
            <a:pPr lvl="1" algn="just">
              <a:lnSpc>
                <a:spcPct val="120000"/>
              </a:lnSpc>
              <a:spcBef>
                <a:spcPct val="20000"/>
              </a:spcBef>
              <a:buFontTx/>
              <a:buChar char="•"/>
              <a:defRPr/>
            </a:pP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股票          </a:t>
            </a: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14.62</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p:txBody>
      </p:sp>
      <p:sp>
        <p:nvSpPr>
          <p:cNvPr id="455683" name="Rectangle 3"/>
          <p:cNvSpPr>
            <a:spLocks noGrp="1" noChangeArrowheads="1"/>
          </p:cNvSpPr>
          <p:nvPr>
            <p:ph type="title" idx="4294967295"/>
          </p:nvPr>
        </p:nvSpPr>
        <p:spPr/>
        <p:txBody>
          <a:bodyPr/>
          <a:lstStyle/>
          <a:p>
            <a:pPr eaLnBrk="1" hangingPunct="1">
              <a:defRPr/>
            </a:pPr>
            <a:r>
              <a:rPr lang="zh-CN" altLang="en-US" dirty="0" smtClean="0">
                <a:solidFill>
                  <a:srgbClr val="1313FF"/>
                </a:solidFill>
                <a:effectLst>
                  <a:outerShdw blurRad="38100" dist="38100" dir="2700000" algn="tl">
                    <a:srgbClr val="C0C0C0"/>
                  </a:outerShdw>
                </a:effectLst>
              </a:rPr>
              <a:t>投资的统计思考</a:t>
            </a:r>
          </a:p>
        </p:txBody>
      </p:sp>
      <p:sp>
        <p:nvSpPr>
          <p:cNvPr id="455684" name="Rectangle 4"/>
          <p:cNvSpPr>
            <a:spLocks noChangeArrowheads="1"/>
          </p:cNvSpPr>
          <p:nvPr/>
        </p:nvSpPr>
        <p:spPr bwMode="auto">
          <a:xfrm>
            <a:off x="755650" y="4611688"/>
            <a:ext cx="7777163" cy="1554162"/>
          </a:xfrm>
          <a:prstGeom prst="rect">
            <a:avLst/>
          </a:prstGeom>
          <a:noFill/>
          <a:ln w="9525">
            <a:noFill/>
            <a:miter lim="800000"/>
            <a:headEnd/>
            <a:tailEnd/>
          </a:ln>
        </p:spPr>
        <p:txBody>
          <a:bodyPr>
            <a:spAutoFit/>
          </a:bodyPr>
          <a:lstStyle/>
          <a:p>
            <a:r>
              <a:rPr lang="zh-CN" altLang="en-US" sz="3200" b="1">
                <a:solidFill>
                  <a:srgbClr val="006600"/>
                </a:solidFill>
                <a:latin typeface="华文行楷" pitchFamily="2" charset="-122"/>
                <a:ea typeface="华文行楷" pitchFamily="2" charset="-122"/>
              </a:rPr>
              <a:t>投资的获利和风险常用平均数和标准差来描述。</a:t>
            </a:r>
          </a:p>
          <a:p>
            <a:r>
              <a:rPr lang="zh-CN" altLang="en-US" sz="3200" b="1">
                <a:solidFill>
                  <a:srgbClr val="006600"/>
                </a:solidFill>
                <a:latin typeface="华文行楷" pitchFamily="2" charset="-122"/>
                <a:ea typeface="华文行楷" pitchFamily="2" charset="-122"/>
              </a:rPr>
              <a:t>        一般而言，获利较高的风险也较大</a:t>
            </a:r>
            <a:r>
              <a:rPr lang="zh-CN" altLang="en-US" sz="3200" b="1">
                <a:solidFill>
                  <a:srgbClr val="006600"/>
                </a:solidFill>
                <a:latin typeface="宋体" pitchFamily="2" charset="-122"/>
                <a:ea typeface="宋体" pitchFamily="2" charset="-122"/>
              </a:rPr>
              <a:t>！</a:t>
            </a:r>
            <a:r>
              <a:rPr lang="zh-CN" altLang="en-US" sz="3200" b="1">
                <a:solidFill>
                  <a:srgbClr val="006600"/>
                </a:solidFill>
                <a:latin typeface="华文行楷" pitchFamily="2" charset="-122"/>
                <a:ea typeface="华文行楷" pitchFamily="2" charset="-122"/>
              </a:rPr>
              <a:t> </a:t>
            </a:r>
          </a:p>
        </p:txBody>
      </p:sp>
      <p:sp>
        <p:nvSpPr>
          <p:cNvPr id="455685" name="Rectangle 5"/>
          <p:cNvSpPr>
            <a:spLocks noChangeArrowheads="1"/>
          </p:cNvSpPr>
          <p:nvPr/>
        </p:nvSpPr>
        <p:spPr bwMode="auto">
          <a:xfrm>
            <a:off x="5651500" y="1844675"/>
            <a:ext cx="1944688" cy="2400300"/>
          </a:xfrm>
          <a:prstGeom prst="rect">
            <a:avLst/>
          </a:prstGeom>
          <a:noFill/>
          <a:ln w="9525">
            <a:noFill/>
            <a:miter lim="800000"/>
            <a:headEnd/>
            <a:tailEnd/>
          </a:ln>
          <a:effectLst/>
        </p:spPr>
        <p:txBody>
          <a:bodyPr>
            <a:spAutoFit/>
          </a:bodyPr>
          <a:lstStyle/>
          <a:p>
            <a:pPr algn="just">
              <a:lnSpc>
                <a:spcPct val="120000"/>
              </a:lnSpc>
              <a:spcBef>
                <a:spcPct val="20000"/>
              </a:spcBef>
              <a:defRPr/>
            </a:pP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标准差</a:t>
            </a:r>
          </a:p>
          <a:p>
            <a:pPr algn="just">
              <a:lnSpc>
                <a:spcPct val="120000"/>
              </a:lnSpc>
              <a:spcBef>
                <a:spcPct val="20000"/>
              </a:spcBef>
              <a:defRPr/>
            </a:pP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2.96</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a:p>
            <a:pPr algn="just">
              <a:lnSpc>
                <a:spcPct val="120000"/>
              </a:lnSpc>
              <a:spcBef>
                <a:spcPct val="20000"/>
              </a:spcBef>
              <a:defRPr/>
            </a:pP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10.73</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a:p>
            <a:pPr algn="just">
              <a:lnSpc>
                <a:spcPct val="120000"/>
              </a:lnSpc>
              <a:spcBef>
                <a:spcPct val="20000"/>
              </a:spcBef>
              <a:defRPr/>
            </a:pPr>
            <a:r>
              <a:rPr lang="en-US" altLang="zh-CN" sz="2800" b="1">
                <a:solidFill>
                  <a:srgbClr val="000000"/>
                </a:solidFill>
                <a:effectLst>
                  <a:outerShdw blurRad="38100" dist="38100" dir="2700000" algn="tl">
                    <a:srgbClr val="C0C0C0"/>
                  </a:outerShdw>
                </a:effectLst>
                <a:latin typeface="黑体" pitchFamily="2" charset="-122"/>
                <a:ea typeface="黑体" pitchFamily="2" charset="-122"/>
              </a:rPr>
              <a:t>16.32</a:t>
            </a:r>
            <a:r>
              <a:rPr lang="zh-CN" altLang="en-US" sz="2800" b="1">
                <a:solidFill>
                  <a:srgbClr val="000000"/>
                </a:solidFill>
                <a:effectLst>
                  <a:outerShdw blurRad="38100" dist="38100" dir="2700000" algn="tl">
                    <a:srgbClr val="C0C0C0"/>
                  </a:outerShdw>
                </a:effectLst>
                <a:latin typeface="黑体" pitchFamily="2" charset="-122"/>
                <a:ea typeface="黑体" pitchFamily="2" charset="-122"/>
              </a:rPr>
              <a:t>％</a:t>
            </a:r>
          </a:p>
        </p:txBody>
      </p:sp>
      <p:sp>
        <p:nvSpPr>
          <p:cNvPr id="7" name="灯片编号占位符 6"/>
          <p:cNvSpPr>
            <a:spLocks noGrp="1"/>
          </p:cNvSpPr>
          <p:nvPr>
            <p:ph type="sldNum" sz="quarter" idx="12"/>
          </p:nvPr>
        </p:nvSpPr>
        <p:spPr/>
        <p:txBody>
          <a:bodyPr/>
          <a:lstStyle/>
          <a:p>
            <a:pPr>
              <a:defRPr/>
            </a:pPr>
            <a:fld id="{4D36EFB7-0D9F-4BC1-ADE9-F0E399591344}" type="slidenum">
              <a:rPr lang="en-US" altLang="zh-CN" smtClean="0"/>
              <a:pPr>
                <a:defRPr/>
              </a:pPr>
              <a:t>98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55685"/>
                                        </p:tgtEl>
                                        <p:attrNameLst>
                                          <p:attrName>style.visibility</p:attrName>
                                        </p:attrNameLst>
                                      </p:cBhvr>
                                      <p:to>
                                        <p:strVal val="visible"/>
                                      </p:to>
                                    </p:set>
                                    <p:animEffect transition="in" filter="slide(fromLeft)">
                                      <p:cBhvr>
                                        <p:cTn id="7" dur="500"/>
                                        <p:tgtEl>
                                          <p:spTgt spid="455685"/>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455684"/>
                                        </p:tgtEl>
                                        <p:attrNameLst>
                                          <p:attrName>style.visibility</p:attrName>
                                        </p:attrNameLst>
                                      </p:cBhvr>
                                      <p:to>
                                        <p:strVal val="visible"/>
                                      </p:to>
                                    </p:set>
                                    <p:anim calcmode="discrete" valueType="clr">
                                      <p:cBhvr override="childStyle">
                                        <p:cTn id="12" dur="500"/>
                                        <p:tgtEl>
                                          <p:spTgt spid="455684"/>
                                        </p:tgtEl>
                                        <p:attrNameLst>
                                          <p:attrName>style.color</p:attrName>
                                        </p:attrNameLst>
                                      </p:cBhvr>
                                      <p:tavLst>
                                        <p:tav tm="0">
                                          <p:val>
                                            <p:clrVal>
                                              <a:schemeClr val="accent2"/>
                                            </p:clrVal>
                                          </p:val>
                                        </p:tav>
                                        <p:tav tm="50000">
                                          <p:val>
                                            <p:clrVal>
                                              <a:schemeClr val="hlink"/>
                                            </p:clrVal>
                                          </p:val>
                                        </p:tav>
                                      </p:tavLst>
                                    </p:anim>
                                    <p:anim calcmode="discrete" valueType="clr">
                                      <p:cBhvr>
                                        <p:cTn id="13" dur="500"/>
                                        <p:tgtEl>
                                          <p:spTgt spid="455684"/>
                                        </p:tgtEl>
                                        <p:attrNameLst>
                                          <p:attrName>fillcolor</p:attrName>
                                        </p:attrNameLst>
                                      </p:cBhvr>
                                      <p:tavLst>
                                        <p:tav tm="0">
                                          <p:val>
                                            <p:clrVal>
                                              <a:schemeClr val="accent2"/>
                                            </p:clrVal>
                                          </p:val>
                                        </p:tav>
                                        <p:tav tm="50000">
                                          <p:val>
                                            <p:clrVal>
                                              <a:schemeClr val="hlink"/>
                                            </p:clrVal>
                                          </p:val>
                                        </p:tav>
                                      </p:tavLst>
                                    </p:anim>
                                    <p:set>
                                      <p:cBhvr>
                                        <p:cTn id="14" dur="500"/>
                                        <p:tgtEl>
                                          <p:spTgt spid="45568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4" grpId="0"/>
      <p:bldP spid="45568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4"/>
          <p:cNvSpPr>
            <a:spLocks noGrp="1" noChangeArrowheads="1"/>
          </p:cNvSpPr>
          <p:nvPr>
            <p:ph type="title"/>
          </p:nvPr>
        </p:nvSpPr>
        <p:spPr>
          <a:xfrm>
            <a:off x="827088" y="333375"/>
            <a:ext cx="7772400" cy="990600"/>
          </a:xfrm>
        </p:spPr>
        <p:txBody>
          <a:bodyPr/>
          <a:lstStyle/>
          <a:p>
            <a:pPr eaLnBrk="1" hangingPunct="1"/>
            <a:r>
              <a:rPr lang="zh-CN" altLang="en-US" dirty="0" smtClean="0"/>
              <a:t>次数分布的两种主要特征</a:t>
            </a:r>
          </a:p>
        </p:txBody>
      </p:sp>
      <p:sp>
        <p:nvSpPr>
          <p:cNvPr id="131076" name="Text Box 13"/>
          <p:cNvSpPr txBox="1">
            <a:spLocks noChangeArrowheads="1"/>
          </p:cNvSpPr>
          <p:nvPr/>
        </p:nvSpPr>
        <p:spPr bwMode="auto">
          <a:xfrm>
            <a:off x="971550" y="1916113"/>
            <a:ext cx="2736850" cy="116046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00"/>
                </a:solidFill>
                <a:ea typeface="宋体" pitchFamily="2" charset="-122"/>
              </a:rPr>
              <a:t>集中趋势</a:t>
            </a:r>
          </a:p>
          <a:p>
            <a:pPr algn="ctr">
              <a:spcBef>
                <a:spcPct val="50000"/>
              </a:spcBef>
            </a:pPr>
            <a:r>
              <a:rPr lang="zh-CN" altLang="en-US" sz="2800" b="1">
                <a:solidFill>
                  <a:srgbClr val="000000"/>
                </a:solidFill>
                <a:ea typeface="宋体" pitchFamily="2" charset="-122"/>
              </a:rPr>
              <a:t>（分布中心）</a:t>
            </a:r>
          </a:p>
        </p:txBody>
      </p:sp>
      <p:sp>
        <p:nvSpPr>
          <p:cNvPr id="412687" name="Text Box 15"/>
          <p:cNvSpPr txBox="1">
            <a:spLocks noChangeArrowheads="1"/>
          </p:cNvSpPr>
          <p:nvPr/>
        </p:nvSpPr>
        <p:spPr bwMode="auto">
          <a:xfrm>
            <a:off x="755650" y="4149725"/>
            <a:ext cx="5616575" cy="1066800"/>
          </a:xfrm>
          <a:prstGeom prst="rect">
            <a:avLst/>
          </a:prstGeom>
          <a:noFill/>
          <a:ln w="9525">
            <a:noFill/>
            <a:miter lim="800000"/>
            <a:headEnd/>
            <a:tailEnd/>
          </a:ln>
        </p:spPr>
        <p:txBody>
          <a:bodyPr>
            <a:spAutoFit/>
          </a:bodyPr>
          <a:lstStyle/>
          <a:p>
            <a:pPr>
              <a:spcBef>
                <a:spcPct val="50000"/>
              </a:spcBef>
            </a:pPr>
            <a:r>
              <a:rPr lang="zh-CN" altLang="en-US" sz="2800" b="1">
                <a:solidFill>
                  <a:srgbClr val="1313FF"/>
                </a:solidFill>
                <a:ea typeface="宋体" pitchFamily="2" charset="-122"/>
              </a:rPr>
              <a:t>离中趋势（变异程度）</a:t>
            </a:r>
          </a:p>
          <a:p>
            <a:pPr>
              <a:spcBef>
                <a:spcPct val="50000"/>
              </a:spcBef>
            </a:pPr>
            <a:r>
              <a:rPr lang="en-US" altLang="zh-CN" b="1">
                <a:solidFill>
                  <a:schemeClr val="tx2"/>
                </a:solidFill>
              </a:rPr>
              <a:t>——</a:t>
            </a:r>
            <a:r>
              <a:rPr lang="zh-CN" altLang="en-US" b="1">
                <a:solidFill>
                  <a:schemeClr val="tx2"/>
                </a:solidFill>
              </a:rPr>
              <a:t>数据偏离其分布中心的程度</a:t>
            </a:r>
            <a:r>
              <a:rPr lang="zh-CN" altLang="en-US"/>
              <a:t> </a:t>
            </a:r>
          </a:p>
        </p:txBody>
      </p:sp>
      <p:grpSp>
        <p:nvGrpSpPr>
          <p:cNvPr id="2" name="Group 35"/>
          <p:cNvGrpSpPr>
            <a:grpSpLocks/>
          </p:cNvGrpSpPr>
          <p:nvPr/>
        </p:nvGrpSpPr>
        <p:grpSpPr bwMode="auto">
          <a:xfrm>
            <a:off x="4067175" y="4149725"/>
            <a:ext cx="4872038" cy="2089150"/>
            <a:chOff x="2307" y="2432"/>
            <a:chExt cx="3069" cy="1316"/>
          </a:xfrm>
        </p:grpSpPr>
        <p:sp>
          <p:nvSpPr>
            <p:cNvPr id="412689" name="Freeform 17"/>
            <p:cNvSpPr>
              <a:spLocks/>
            </p:cNvSpPr>
            <p:nvPr/>
          </p:nvSpPr>
          <p:spPr bwMode="auto">
            <a:xfrm>
              <a:off x="3606" y="2432"/>
              <a:ext cx="864" cy="983"/>
            </a:xfrm>
            <a:custGeom>
              <a:avLst/>
              <a:gdLst/>
              <a:ahLst/>
              <a:cxnLst>
                <a:cxn ang="0">
                  <a:pos x="862" y="573"/>
                </a:cxn>
                <a:cxn ang="0">
                  <a:pos x="770" y="566"/>
                </a:cxn>
                <a:cxn ang="0">
                  <a:pos x="726" y="560"/>
                </a:cxn>
                <a:cxn ang="0">
                  <a:pos x="680" y="551"/>
                </a:cxn>
                <a:cxn ang="0">
                  <a:pos x="634" y="537"/>
                </a:cxn>
                <a:cxn ang="0">
                  <a:pos x="590" y="520"/>
                </a:cxn>
                <a:cxn ang="0">
                  <a:pos x="544" y="495"/>
                </a:cxn>
                <a:cxn ang="0">
                  <a:pos x="452" y="428"/>
                </a:cxn>
                <a:cxn ang="0">
                  <a:pos x="362" y="334"/>
                </a:cxn>
                <a:cxn ang="0">
                  <a:pos x="272" y="224"/>
                </a:cxn>
                <a:cxn ang="0">
                  <a:pos x="226" y="166"/>
                </a:cxn>
                <a:cxn ang="0">
                  <a:pos x="180" y="113"/>
                </a:cxn>
                <a:cxn ang="0">
                  <a:pos x="136" y="67"/>
                </a:cxn>
                <a:cxn ang="0">
                  <a:pos x="90" y="31"/>
                </a:cxn>
                <a:cxn ang="0">
                  <a:pos x="44" y="8"/>
                </a:cxn>
                <a:cxn ang="0">
                  <a:pos x="0" y="0"/>
                </a:cxn>
              </a:cxnLst>
              <a:rect l="0" t="0" r="r" b="b"/>
              <a:pathLst>
                <a:path w="863" h="574">
                  <a:moveTo>
                    <a:pt x="862" y="573"/>
                  </a:moveTo>
                  <a:lnTo>
                    <a:pt x="770" y="566"/>
                  </a:lnTo>
                  <a:lnTo>
                    <a:pt x="726" y="560"/>
                  </a:lnTo>
                  <a:lnTo>
                    <a:pt x="680" y="551"/>
                  </a:lnTo>
                  <a:lnTo>
                    <a:pt x="634" y="537"/>
                  </a:lnTo>
                  <a:lnTo>
                    <a:pt x="590" y="520"/>
                  </a:lnTo>
                  <a:lnTo>
                    <a:pt x="544" y="495"/>
                  </a:lnTo>
                  <a:lnTo>
                    <a:pt x="452" y="428"/>
                  </a:lnTo>
                  <a:lnTo>
                    <a:pt x="362" y="334"/>
                  </a:lnTo>
                  <a:lnTo>
                    <a:pt x="272" y="224"/>
                  </a:lnTo>
                  <a:lnTo>
                    <a:pt x="226" y="166"/>
                  </a:lnTo>
                  <a:lnTo>
                    <a:pt x="180" y="113"/>
                  </a:lnTo>
                  <a:lnTo>
                    <a:pt x="136" y="67"/>
                  </a:lnTo>
                  <a:lnTo>
                    <a:pt x="90" y="31"/>
                  </a:lnTo>
                  <a:lnTo>
                    <a:pt x="44" y="8"/>
                  </a:lnTo>
                  <a:lnTo>
                    <a:pt x="0" y="0"/>
                  </a:lnTo>
                </a:path>
              </a:pathLst>
            </a:custGeom>
            <a:noFill/>
            <a:ln w="57150" cap="rnd" cmpd="sng">
              <a:solidFill>
                <a:srgbClr val="6565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90" name="Freeform 18"/>
            <p:cNvSpPr>
              <a:spLocks/>
            </p:cNvSpPr>
            <p:nvPr/>
          </p:nvSpPr>
          <p:spPr bwMode="auto">
            <a:xfrm>
              <a:off x="2744" y="2432"/>
              <a:ext cx="863" cy="982"/>
            </a:xfrm>
            <a:custGeom>
              <a:avLst/>
              <a:gdLst/>
              <a:ahLst/>
              <a:cxnLst>
                <a:cxn ang="0">
                  <a:pos x="0" y="573"/>
                </a:cxn>
                <a:cxn ang="0">
                  <a:pos x="90" y="566"/>
                </a:cxn>
                <a:cxn ang="0">
                  <a:pos x="136" y="560"/>
                </a:cxn>
                <a:cxn ang="0">
                  <a:pos x="180" y="551"/>
                </a:cxn>
                <a:cxn ang="0">
                  <a:pos x="226" y="537"/>
                </a:cxn>
                <a:cxn ang="0">
                  <a:pos x="272" y="520"/>
                </a:cxn>
                <a:cxn ang="0">
                  <a:pos x="316" y="495"/>
                </a:cxn>
                <a:cxn ang="0">
                  <a:pos x="408" y="428"/>
                </a:cxn>
                <a:cxn ang="0">
                  <a:pos x="498" y="334"/>
                </a:cxn>
                <a:cxn ang="0">
                  <a:pos x="590" y="224"/>
                </a:cxn>
                <a:cxn ang="0">
                  <a:pos x="634" y="166"/>
                </a:cxn>
                <a:cxn ang="0">
                  <a:pos x="680" y="113"/>
                </a:cxn>
                <a:cxn ang="0">
                  <a:pos x="726" y="67"/>
                </a:cxn>
                <a:cxn ang="0">
                  <a:pos x="770" y="31"/>
                </a:cxn>
                <a:cxn ang="0">
                  <a:pos x="816" y="8"/>
                </a:cxn>
                <a:cxn ang="0">
                  <a:pos x="862" y="0"/>
                </a:cxn>
              </a:cxnLst>
              <a:rect l="0" t="0" r="r" b="b"/>
              <a:pathLst>
                <a:path w="863" h="574">
                  <a:moveTo>
                    <a:pt x="0" y="573"/>
                  </a:moveTo>
                  <a:lnTo>
                    <a:pt x="90" y="566"/>
                  </a:lnTo>
                  <a:lnTo>
                    <a:pt x="136" y="560"/>
                  </a:lnTo>
                  <a:lnTo>
                    <a:pt x="180" y="551"/>
                  </a:lnTo>
                  <a:lnTo>
                    <a:pt x="226" y="537"/>
                  </a:lnTo>
                  <a:lnTo>
                    <a:pt x="272" y="520"/>
                  </a:lnTo>
                  <a:lnTo>
                    <a:pt x="316" y="495"/>
                  </a:lnTo>
                  <a:lnTo>
                    <a:pt x="408" y="428"/>
                  </a:lnTo>
                  <a:lnTo>
                    <a:pt x="498" y="334"/>
                  </a:lnTo>
                  <a:lnTo>
                    <a:pt x="590" y="224"/>
                  </a:lnTo>
                  <a:lnTo>
                    <a:pt x="634" y="166"/>
                  </a:lnTo>
                  <a:lnTo>
                    <a:pt x="680" y="113"/>
                  </a:lnTo>
                  <a:lnTo>
                    <a:pt x="726" y="67"/>
                  </a:lnTo>
                  <a:lnTo>
                    <a:pt x="770" y="31"/>
                  </a:lnTo>
                  <a:lnTo>
                    <a:pt x="816" y="8"/>
                  </a:lnTo>
                  <a:lnTo>
                    <a:pt x="862" y="0"/>
                  </a:lnTo>
                </a:path>
              </a:pathLst>
            </a:custGeom>
            <a:noFill/>
            <a:ln w="38100" cap="rnd" cmpd="sng">
              <a:solidFill>
                <a:srgbClr val="6565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91" name="Freeform 19"/>
            <p:cNvSpPr>
              <a:spLocks/>
            </p:cNvSpPr>
            <p:nvPr/>
          </p:nvSpPr>
          <p:spPr bwMode="auto">
            <a:xfrm>
              <a:off x="3605" y="2704"/>
              <a:ext cx="1089" cy="590"/>
            </a:xfrm>
            <a:custGeom>
              <a:avLst/>
              <a:gdLst/>
              <a:ahLst/>
              <a:cxnLst>
                <a:cxn ang="0">
                  <a:pos x="862" y="573"/>
                </a:cxn>
                <a:cxn ang="0">
                  <a:pos x="770" y="566"/>
                </a:cxn>
                <a:cxn ang="0">
                  <a:pos x="726" y="560"/>
                </a:cxn>
                <a:cxn ang="0">
                  <a:pos x="680" y="551"/>
                </a:cxn>
                <a:cxn ang="0">
                  <a:pos x="634" y="537"/>
                </a:cxn>
                <a:cxn ang="0">
                  <a:pos x="590" y="520"/>
                </a:cxn>
                <a:cxn ang="0">
                  <a:pos x="544" y="495"/>
                </a:cxn>
                <a:cxn ang="0">
                  <a:pos x="452" y="428"/>
                </a:cxn>
                <a:cxn ang="0">
                  <a:pos x="362" y="334"/>
                </a:cxn>
                <a:cxn ang="0">
                  <a:pos x="272" y="224"/>
                </a:cxn>
                <a:cxn ang="0">
                  <a:pos x="226" y="166"/>
                </a:cxn>
                <a:cxn ang="0">
                  <a:pos x="180" y="113"/>
                </a:cxn>
                <a:cxn ang="0">
                  <a:pos x="136" y="67"/>
                </a:cxn>
                <a:cxn ang="0">
                  <a:pos x="90" y="31"/>
                </a:cxn>
                <a:cxn ang="0">
                  <a:pos x="44" y="8"/>
                </a:cxn>
                <a:cxn ang="0">
                  <a:pos x="0" y="0"/>
                </a:cxn>
              </a:cxnLst>
              <a:rect l="0" t="0" r="r" b="b"/>
              <a:pathLst>
                <a:path w="863" h="574">
                  <a:moveTo>
                    <a:pt x="862" y="573"/>
                  </a:moveTo>
                  <a:lnTo>
                    <a:pt x="770" y="566"/>
                  </a:lnTo>
                  <a:lnTo>
                    <a:pt x="726" y="560"/>
                  </a:lnTo>
                  <a:lnTo>
                    <a:pt x="680" y="551"/>
                  </a:lnTo>
                  <a:lnTo>
                    <a:pt x="634" y="537"/>
                  </a:lnTo>
                  <a:lnTo>
                    <a:pt x="590" y="520"/>
                  </a:lnTo>
                  <a:lnTo>
                    <a:pt x="544" y="495"/>
                  </a:lnTo>
                  <a:lnTo>
                    <a:pt x="452" y="428"/>
                  </a:lnTo>
                  <a:lnTo>
                    <a:pt x="362" y="334"/>
                  </a:lnTo>
                  <a:lnTo>
                    <a:pt x="272" y="224"/>
                  </a:lnTo>
                  <a:lnTo>
                    <a:pt x="226" y="166"/>
                  </a:lnTo>
                  <a:lnTo>
                    <a:pt x="180" y="113"/>
                  </a:lnTo>
                  <a:lnTo>
                    <a:pt x="136" y="67"/>
                  </a:lnTo>
                  <a:lnTo>
                    <a:pt x="90" y="31"/>
                  </a:lnTo>
                  <a:lnTo>
                    <a:pt x="44" y="8"/>
                  </a:lnTo>
                  <a:lnTo>
                    <a:pt x="0" y="0"/>
                  </a:lnTo>
                </a:path>
              </a:pathLst>
            </a:custGeom>
            <a:noFill/>
            <a:ln w="57150" cap="rnd"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92" name="Freeform 20"/>
            <p:cNvSpPr>
              <a:spLocks/>
            </p:cNvSpPr>
            <p:nvPr/>
          </p:nvSpPr>
          <p:spPr bwMode="auto">
            <a:xfrm>
              <a:off x="2608" y="2704"/>
              <a:ext cx="998" cy="590"/>
            </a:xfrm>
            <a:custGeom>
              <a:avLst/>
              <a:gdLst/>
              <a:ahLst/>
              <a:cxnLst>
                <a:cxn ang="0">
                  <a:pos x="0" y="573"/>
                </a:cxn>
                <a:cxn ang="0">
                  <a:pos x="90" y="566"/>
                </a:cxn>
                <a:cxn ang="0">
                  <a:pos x="136" y="560"/>
                </a:cxn>
                <a:cxn ang="0">
                  <a:pos x="180" y="551"/>
                </a:cxn>
                <a:cxn ang="0">
                  <a:pos x="226" y="537"/>
                </a:cxn>
                <a:cxn ang="0">
                  <a:pos x="272" y="520"/>
                </a:cxn>
                <a:cxn ang="0">
                  <a:pos x="316" y="495"/>
                </a:cxn>
                <a:cxn ang="0">
                  <a:pos x="408" y="428"/>
                </a:cxn>
                <a:cxn ang="0">
                  <a:pos x="498" y="334"/>
                </a:cxn>
                <a:cxn ang="0">
                  <a:pos x="590" y="224"/>
                </a:cxn>
                <a:cxn ang="0">
                  <a:pos x="634" y="166"/>
                </a:cxn>
                <a:cxn ang="0">
                  <a:pos x="680" y="113"/>
                </a:cxn>
                <a:cxn ang="0">
                  <a:pos x="726" y="67"/>
                </a:cxn>
                <a:cxn ang="0">
                  <a:pos x="770" y="31"/>
                </a:cxn>
                <a:cxn ang="0">
                  <a:pos x="816" y="8"/>
                </a:cxn>
                <a:cxn ang="0">
                  <a:pos x="862" y="0"/>
                </a:cxn>
              </a:cxnLst>
              <a:rect l="0" t="0" r="r" b="b"/>
              <a:pathLst>
                <a:path w="863" h="574">
                  <a:moveTo>
                    <a:pt x="0" y="573"/>
                  </a:moveTo>
                  <a:lnTo>
                    <a:pt x="90" y="566"/>
                  </a:lnTo>
                  <a:lnTo>
                    <a:pt x="136" y="560"/>
                  </a:lnTo>
                  <a:lnTo>
                    <a:pt x="180" y="551"/>
                  </a:lnTo>
                  <a:lnTo>
                    <a:pt x="226" y="537"/>
                  </a:lnTo>
                  <a:lnTo>
                    <a:pt x="272" y="520"/>
                  </a:lnTo>
                  <a:lnTo>
                    <a:pt x="316" y="495"/>
                  </a:lnTo>
                  <a:lnTo>
                    <a:pt x="408" y="428"/>
                  </a:lnTo>
                  <a:lnTo>
                    <a:pt x="498" y="334"/>
                  </a:lnTo>
                  <a:lnTo>
                    <a:pt x="590" y="224"/>
                  </a:lnTo>
                  <a:lnTo>
                    <a:pt x="634" y="166"/>
                  </a:lnTo>
                  <a:lnTo>
                    <a:pt x="680" y="113"/>
                  </a:lnTo>
                  <a:lnTo>
                    <a:pt x="726" y="67"/>
                  </a:lnTo>
                  <a:lnTo>
                    <a:pt x="770" y="31"/>
                  </a:lnTo>
                  <a:lnTo>
                    <a:pt x="816" y="8"/>
                  </a:lnTo>
                  <a:lnTo>
                    <a:pt x="862" y="0"/>
                  </a:lnTo>
                </a:path>
              </a:pathLst>
            </a:custGeom>
            <a:noFill/>
            <a:ln w="38100" cap="rnd"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93" name="Line 21"/>
            <p:cNvSpPr>
              <a:spLocks noChangeShapeType="1"/>
            </p:cNvSpPr>
            <p:nvPr/>
          </p:nvSpPr>
          <p:spPr bwMode="auto">
            <a:xfrm>
              <a:off x="2307" y="3459"/>
              <a:ext cx="3069"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131098" name="AutoShape 24"/>
            <p:cNvSpPr>
              <a:spLocks noChangeArrowheads="1"/>
            </p:cNvSpPr>
            <p:nvPr/>
          </p:nvSpPr>
          <p:spPr bwMode="auto">
            <a:xfrm>
              <a:off x="3515" y="3566"/>
              <a:ext cx="181" cy="182"/>
            </a:xfrm>
            <a:prstGeom prst="triangle">
              <a:avLst>
                <a:gd name="adj" fmla="val 50000"/>
              </a:avLst>
            </a:prstGeom>
            <a:solidFill>
              <a:srgbClr val="FF3300"/>
            </a:solidFill>
            <a:ln w="9525">
              <a:solidFill>
                <a:schemeClr val="tx1"/>
              </a:solidFill>
              <a:miter lim="800000"/>
              <a:headEnd/>
              <a:tailEnd/>
            </a:ln>
          </p:spPr>
          <p:txBody>
            <a:bodyPr wrap="none" anchor="ctr"/>
            <a:lstStyle/>
            <a:p>
              <a:endParaRPr lang="zh-CN" altLang="en-US"/>
            </a:p>
          </p:txBody>
        </p:sp>
        <p:sp>
          <p:nvSpPr>
            <p:cNvPr id="131099" name="Line 25"/>
            <p:cNvSpPr>
              <a:spLocks noChangeShapeType="1"/>
            </p:cNvSpPr>
            <p:nvPr/>
          </p:nvSpPr>
          <p:spPr bwMode="auto">
            <a:xfrm>
              <a:off x="3606" y="2477"/>
              <a:ext cx="0" cy="998"/>
            </a:xfrm>
            <a:prstGeom prst="line">
              <a:avLst/>
            </a:prstGeom>
            <a:noFill/>
            <a:ln w="38100">
              <a:solidFill>
                <a:schemeClr val="tx1"/>
              </a:solidFill>
              <a:prstDash val="dash"/>
              <a:miter lim="800000"/>
              <a:headEnd/>
              <a:tailEnd/>
            </a:ln>
          </p:spPr>
          <p:txBody>
            <a:bodyPr wrap="none"/>
            <a:lstStyle/>
            <a:p>
              <a:endParaRPr lang="zh-CN" altLang="en-US"/>
            </a:p>
          </p:txBody>
        </p:sp>
        <p:sp>
          <p:nvSpPr>
            <p:cNvPr id="131100" name="Line 26"/>
            <p:cNvSpPr>
              <a:spLocks noChangeShapeType="1"/>
            </p:cNvSpPr>
            <p:nvPr/>
          </p:nvSpPr>
          <p:spPr bwMode="auto">
            <a:xfrm flipH="1">
              <a:off x="3243" y="3249"/>
              <a:ext cx="226"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31101" name="Line 27"/>
            <p:cNvSpPr>
              <a:spLocks noChangeShapeType="1"/>
            </p:cNvSpPr>
            <p:nvPr/>
          </p:nvSpPr>
          <p:spPr bwMode="auto">
            <a:xfrm>
              <a:off x="3697" y="3249"/>
              <a:ext cx="317" cy="0"/>
            </a:xfrm>
            <a:prstGeom prst="line">
              <a:avLst/>
            </a:prstGeom>
            <a:noFill/>
            <a:ln w="28575">
              <a:solidFill>
                <a:schemeClr val="tx1"/>
              </a:solidFill>
              <a:miter lim="800000"/>
              <a:headEnd/>
              <a:tailEnd type="triangle" w="med" len="med"/>
            </a:ln>
          </p:spPr>
          <p:txBody>
            <a:bodyPr wrap="none"/>
            <a:lstStyle/>
            <a:p>
              <a:endParaRPr lang="zh-CN" altLang="en-US"/>
            </a:p>
          </p:txBody>
        </p:sp>
      </p:grpSp>
      <p:grpSp>
        <p:nvGrpSpPr>
          <p:cNvPr id="131079" name="Group 34"/>
          <p:cNvGrpSpPr>
            <a:grpSpLocks/>
          </p:cNvGrpSpPr>
          <p:nvPr/>
        </p:nvGrpSpPr>
        <p:grpSpPr bwMode="auto">
          <a:xfrm>
            <a:off x="3348038" y="1773238"/>
            <a:ext cx="4872037" cy="1727200"/>
            <a:chOff x="1882" y="1162"/>
            <a:chExt cx="3069" cy="1088"/>
          </a:xfrm>
        </p:grpSpPr>
        <p:sp>
          <p:nvSpPr>
            <p:cNvPr id="412678" name="Freeform 6"/>
            <p:cNvSpPr>
              <a:spLocks/>
            </p:cNvSpPr>
            <p:nvPr/>
          </p:nvSpPr>
          <p:spPr bwMode="auto">
            <a:xfrm>
              <a:off x="3016" y="1162"/>
              <a:ext cx="863" cy="756"/>
            </a:xfrm>
            <a:custGeom>
              <a:avLst/>
              <a:gdLst/>
              <a:ahLst/>
              <a:cxnLst>
                <a:cxn ang="0">
                  <a:pos x="862" y="573"/>
                </a:cxn>
                <a:cxn ang="0">
                  <a:pos x="770" y="566"/>
                </a:cxn>
                <a:cxn ang="0">
                  <a:pos x="726" y="560"/>
                </a:cxn>
                <a:cxn ang="0">
                  <a:pos x="680" y="551"/>
                </a:cxn>
                <a:cxn ang="0">
                  <a:pos x="634" y="537"/>
                </a:cxn>
                <a:cxn ang="0">
                  <a:pos x="590" y="520"/>
                </a:cxn>
                <a:cxn ang="0">
                  <a:pos x="544" y="495"/>
                </a:cxn>
                <a:cxn ang="0">
                  <a:pos x="452" y="428"/>
                </a:cxn>
                <a:cxn ang="0">
                  <a:pos x="362" y="334"/>
                </a:cxn>
                <a:cxn ang="0">
                  <a:pos x="272" y="224"/>
                </a:cxn>
                <a:cxn ang="0">
                  <a:pos x="226" y="166"/>
                </a:cxn>
                <a:cxn ang="0">
                  <a:pos x="180" y="113"/>
                </a:cxn>
                <a:cxn ang="0">
                  <a:pos x="136" y="67"/>
                </a:cxn>
                <a:cxn ang="0">
                  <a:pos x="90" y="31"/>
                </a:cxn>
                <a:cxn ang="0">
                  <a:pos x="44" y="8"/>
                </a:cxn>
                <a:cxn ang="0">
                  <a:pos x="0" y="0"/>
                </a:cxn>
              </a:cxnLst>
              <a:rect l="0" t="0" r="r" b="b"/>
              <a:pathLst>
                <a:path w="863" h="574">
                  <a:moveTo>
                    <a:pt x="862" y="573"/>
                  </a:moveTo>
                  <a:lnTo>
                    <a:pt x="770" y="566"/>
                  </a:lnTo>
                  <a:lnTo>
                    <a:pt x="726" y="560"/>
                  </a:lnTo>
                  <a:lnTo>
                    <a:pt x="680" y="551"/>
                  </a:lnTo>
                  <a:lnTo>
                    <a:pt x="634" y="537"/>
                  </a:lnTo>
                  <a:lnTo>
                    <a:pt x="590" y="520"/>
                  </a:lnTo>
                  <a:lnTo>
                    <a:pt x="544" y="495"/>
                  </a:lnTo>
                  <a:lnTo>
                    <a:pt x="452" y="428"/>
                  </a:lnTo>
                  <a:lnTo>
                    <a:pt x="362" y="334"/>
                  </a:lnTo>
                  <a:lnTo>
                    <a:pt x="272" y="224"/>
                  </a:lnTo>
                  <a:lnTo>
                    <a:pt x="226" y="166"/>
                  </a:lnTo>
                  <a:lnTo>
                    <a:pt x="180" y="113"/>
                  </a:lnTo>
                  <a:lnTo>
                    <a:pt x="136" y="67"/>
                  </a:lnTo>
                  <a:lnTo>
                    <a:pt x="90" y="31"/>
                  </a:lnTo>
                  <a:lnTo>
                    <a:pt x="44" y="8"/>
                  </a:lnTo>
                  <a:lnTo>
                    <a:pt x="0" y="0"/>
                  </a:lnTo>
                </a:path>
              </a:pathLst>
            </a:custGeom>
            <a:noFill/>
            <a:ln w="57150" cap="rnd" cmpd="sng">
              <a:solidFill>
                <a:srgbClr val="6565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79" name="Freeform 7"/>
            <p:cNvSpPr>
              <a:spLocks/>
            </p:cNvSpPr>
            <p:nvPr/>
          </p:nvSpPr>
          <p:spPr bwMode="auto">
            <a:xfrm>
              <a:off x="2138" y="1162"/>
              <a:ext cx="878" cy="756"/>
            </a:xfrm>
            <a:custGeom>
              <a:avLst/>
              <a:gdLst/>
              <a:ahLst/>
              <a:cxnLst>
                <a:cxn ang="0">
                  <a:pos x="0" y="573"/>
                </a:cxn>
                <a:cxn ang="0">
                  <a:pos x="90" y="566"/>
                </a:cxn>
                <a:cxn ang="0">
                  <a:pos x="136" y="560"/>
                </a:cxn>
                <a:cxn ang="0">
                  <a:pos x="180" y="551"/>
                </a:cxn>
                <a:cxn ang="0">
                  <a:pos x="226" y="537"/>
                </a:cxn>
                <a:cxn ang="0">
                  <a:pos x="272" y="520"/>
                </a:cxn>
                <a:cxn ang="0">
                  <a:pos x="316" y="495"/>
                </a:cxn>
                <a:cxn ang="0">
                  <a:pos x="408" y="428"/>
                </a:cxn>
                <a:cxn ang="0">
                  <a:pos x="498" y="334"/>
                </a:cxn>
                <a:cxn ang="0">
                  <a:pos x="590" y="224"/>
                </a:cxn>
                <a:cxn ang="0">
                  <a:pos x="634" y="166"/>
                </a:cxn>
                <a:cxn ang="0">
                  <a:pos x="680" y="113"/>
                </a:cxn>
                <a:cxn ang="0">
                  <a:pos x="726" y="67"/>
                </a:cxn>
                <a:cxn ang="0">
                  <a:pos x="770" y="31"/>
                </a:cxn>
                <a:cxn ang="0">
                  <a:pos x="816" y="8"/>
                </a:cxn>
                <a:cxn ang="0">
                  <a:pos x="862" y="0"/>
                </a:cxn>
              </a:cxnLst>
              <a:rect l="0" t="0" r="r" b="b"/>
              <a:pathLst>
                <a:path w="863" h="574">
                  <a:moveTo>
                    <a:pt x="0" y="573"/>
                  </a:moveTo>
                  <a:lnTo>
                    <a:pt x="90" y="566"/>
                  </a:lnTo>
                  <a:lnTo>
                    <a:pt x="136" y="560"/>
                  </a:lnTo>
                  <a:lnTo>
                    <a:pt x="180" y="551"/>
                  </a:lnTo>
                  <a:lnTo>
                    <a:pt x="226" y="537"/>
                  </a:lnTo>
                  <a:lnTo>
                    <a:pt x="272" y="520"/>
                  </a:lnTo>
                  <a:lnTo>
                    <a:pt x="316" y="495"/>
                  </a:lnTo>
                  <a:lnTo>
                    <a:pt x="408" y="428"/>
                  </a:lnTo>
                  <a:lnTo>
                    <a:pt x="498" y="334"/>
                  </a:lnTo>
                  <a:lnTo>
                    <a:pt x="590" y="224"/>
                  </a:lnTo>
                  <a:lnTo>
                    <a:pt x="634" y="166"/>
                  </a:lnTo>
                  <a:lnTo>
                    <a:pt x="680" y="113"/>
                  </a:lnTo>
                  <a:lnTo>
                    <a:pt x="726" y="67"/>
                  </a:lnTo>
                  <a:lnTo>
                    <a:pt x="770" y="31"/>
                  </a:lnTo>
                  <a:lnTo>
                    <a:pt x="816" y="8"/>
                  </a:lnTo>
                  <a:lnTo>
                    <a:pt x="862" y="0"/>
                  </a:lnTo>
                </a:path>
              </a:pathLst>
            </a:custGeom>
            <a:noFill/>
            <a:ln w="38100" cap="rnd" cmpd="sng">
              <a:solidFill>
                <a:srgbClr val="6565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80" name="Freeform 8"/>
            <p:cNvSpPr>
              <a:spLocks/>
            </p:cNvSpPr>
            <p:nvPr/>
          </p:nvSpPr>
          <p:spPr bwMode="auto">
            <a:xfrm>
              <a:off x="4014" y="1162"/>
              <a:ext cx="771" cy="756"/>
            </a:xfrm>
            <a:custGeom>
              <a:avLst/>
              <a:gdLst/>
              <a:ahLst/>
              <a:cxnLst>
                <a:cxn ang="0">
                  <a:pos x="862" y="573"/>
                </a:cxn>
                <a:cxn ang="0">
                  <a:pos x="770" y="566"/>
                </a:cxn>
                <a:cxn ang="0">
                  <a:pos x="726" y="560"/>
                </a:cxn>
                <a:cxn ang="0">
                  <a:pos x="680" y="551"/>
                </a:cxn>
                <a:cxn ang="0">
                  <a:pos x="634" y="537"/>
                </a:cxn>
                <a:cxn ang="0">
                  <a:pos x="590" y="520"/>
                </a:cxn>
                <a:cxn ang="0">
                  <a:pos x="544" y="495"/>
                </a:cxn>
                <a:cxn ang="0">
                  <a:pos x="452" y="428"/>
                </a:cxn>
                <a:cxn ang="0">
                  <a:pos x="362" y="334"/>
                </a:cxn>
                <a:cxn ang="0">
                  <a:pos x="272" y="224"/>
                </a:cxn>
                <a:cxn ang="0">
                  <a:pos x="226" y="166"/>
                </a:cxn>
                <a:cxn ang="0">
                  <a:pos x="180" y="113"/>
                </a:cxn>
                <a:cxn ang="0">
                  <a:pos x="136" y="67"/>
                </a:cxn>
                <a:cxn ang="0">
                  <a:pos x="90" y="31"/>
                </a:cxn>
                <a:cxn ang="0">
                  <a:pos x="44" y="8"/>
                </a:cxn>
                <a:cxn ang="0">
                  <a:pos x="0" y="0"/>
                </a:cxn>
              </a:cxnLst>
              <a:rect l="0" t="0" r="r" b="b"/>
              <a:pathLst>
                <a:path w="863" h="574">
                  <a:moveTo>
                    <a:pt x="862" y="573"/>
                  </a:moveTo>
                  <a:lnTo>
                    <a:pt x="770" y="566"/>
                  </a:lnTo>
                  <a:lnTo>
                    <a:pt x="726" y="560"/>
                  </a:lnTo>
                  <a:lnTo>
                    <a:pt x="680" y="551"/>
                  </a:lnTo>
                  <a:lnTo>
                    <a:pt x="634" y="537"/>
                  </a:lnTo>
                  <a:lnTo>
                    <a:pt x="590" y="520"/>
                  </a:lnTo>
                  <a:lnTo>
                    <a:pt x="544" y="495"/>
                  </a:lnTo>
                  <a:lnTo>
                    <a:pt x="452" y="428"/>
                  </a:lnTo>
                  <a:lnTo>
                    <a:pt x="362" y="334"/>
                  </a:lnTo>
                  <a:lnTo>
                    <a:pt x="272" y="224"/>
                  </a:lnTo>
                  <a:lnTo>
                    <a:pt x="226" y="166"/>
                  </a:lnTo>
                  <a:lnTo>
                    <a:pt x="180" y="113"/>
                  </a:lnTo>
                  <a:lnTo>
                    <a:pt x="136" y="67"/>
                  </a:lnTo>
                  <a:lnTo>
                    <a:pt x="90" y="31"/>
                  </a:lnTo>
                  <a:lnTo>
                    <a:pt x="44" y="8"/>
                  </a:lnTo>
                  <a:lnTo>
                    <a:pt x="0" y="0"/>
                  </a:lnTo>
                </a:path>
              </a:pathLst>
            </a:custGeom>
            <a:noFill/>
            <a:ln w="57150" cap="rnd"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81" name="Freeform 9"/>
            <p:cNvSpPr>
              <a:spLocks/>
            </p:cNvSpPr>
            <p:nvPr/>
          </p:nvSpPr>
          <p:spPr bwMode="auto">
            <a:xfrm>
              <a:off x="3106" y="1162"/>
              <a:ext cx="908" cy="756"/>
            </a:xfrm>
            <a:custGeom>
              <a:avLst/>
              <a:gdLst/>
              <a:ahLst/>
              <a:cxnLst>
                <a:cxn ang="0">
                  <a:pos x="0" y="573"/>
                </a:cxn>
                <a:cxn ang="0">
                  <a:pos x="90" y="566"/>
                </a:cxn>
                <a:cxn ang="0">
                  <a:pos x="136" y="560"/>
                </a:cxn>
                <a:cxn ang="0">
                  <a:pos x="180" y="551"/>
                </a:cxn>
                <a:cxn ang="0">
                  <a:pos x="226" y="537"/>
                </a:cxn>
                <a:cxn ang="0">
                  <a:pos x="272" y="520"/>
                </a:cxn>
                <a:cxn ang="0">
                  <a:pos x="316" y="495"/>
                </a:cxn>
                <a:cxn ang="0">
                  <a:pos x="408" y="428"/>
                </a:cxn>
                <a:cxn ang="0">
                  <a:pos x="498" y="334"/>
                </a:cxn>
                <a:cxn ang="0">
                  <a:pos x="590" y="224"/>
                </a:cxn>
                <a:cxn ang="0">
                  <a:pos x="634" y="166"/>
                </a:cxn>
                <a:cxn ang="0">
                  <a:pos x="680" y="113"/>
                </a:cxn>
                <a:cxn ang="0">
                  <a:pos x="726" y="67"/>
                </a:cxn>
                <a:cxn ang="0">
                  <a:pos x="770" y="31"/>
                </a:cxn>
                <a:cxn ang="0">
                  <a:pos x="816" y="8"/>
                </a:cxn>
                <a:cxn ang="0">
                  <a:pos x="862" y="0"/>
                </a:cxn>
              </a:cxnLst>
              <a:rect l="0" t="0" r="r" b="b"/>
              <a:pathLst>
                <a:path w="863" h="574">
                  <a:moveTo>
                    <a:pt x="0" y="573"/>
                  </a:moveTo>
                  <a:lnTo>
                    <a:pt x="90" y="566"/>
                  </a:lnTo>
                  <a:lnTo>
                    <a:pt x="136" y="560"/>
                  </a:lnTo>
                  <a:lnTo>
                    <a:pt x="180" y="551"/>
                  </a:lnTo>
                  <a:lnTo>
                    <a:pt x="226" y="537"/>
                  </a:lnTo>
                  <a:lnTo>
                    <a:pt x="272" y="520"/>
                  </a:lnTo>
                  <a:lnTo>
                    <a:pt x="316" y="495"/>
                  </a:lnTo>
                  <a:lnTo>
                    <a:pt x="408" y="428"/>
                  </a:lnTo>
                  <a:lnTo>
                    <a:pt x="498" y="334"/>
                  </a:lnTo>
                  <a:lnTo>
                    <a:pt x="590" y="224"/>
                  </a:lnTo>
                  <a:lnTo>
                    <a:pt x="634" y="166"/>
                  </a:lnTo>
                  <a:lnTo>
                    <a:pt x="680" y="113"/>
                  </a:lnTo>
                  <a:lnTo>
                    <a:pt x="726" y="67"/>
                  </a:lnTo>
                  <a:lnTo>
                    <a:pt x="770" y="31"/>
                  </a:lnTo>
                  <a:lnTo>
                    <a:pt x="816" y="8"/>
                  </a:lnTo>
                  <a:lnTo>
                    <a:pt x="862" y="0"/>
                  </a:lnTo>
                </a:path>
              </a:pathLst>
            </a:custGeom>
            <a:noFill/>
            <a:ln w="38100" cap="rnd" cmpd="sng">
              <a:solidFill>
                <a:srgbClr val="0066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sp>
          <p:nvSpPr>
            <p:cNvPr id="412682" name="Line 10"/>
            <p:cNvSpPr>
              <a:spLocks noChangeShapeType="1"/>
            </p:cNvSpPr>
            <p:nvPr/>
          </p:nvSpPr>
          <p:spPr bwMode="auto">
            <a:xfrm>
              <a:off x="1882" y="1962"/>
              <a:ext cx="3069"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131085" name="AutoShape 11"/>
            <p:cNvSpPr>
              <a:spLocks noChangeArrowheads="1"/>
            </p:cNvSpPr>
            <p:nvPr/>
          </p:nvSpPr>
          <p:spPr bwMode="auto">
            <a:xfrm>
              <a:off x="2909" y="2069"/>
              <a:ext cx="181" cy="181"/>
            </a:xfrm>
            <a:prstGeom prst="triangle">
              <a:avLst>
                <a:gd name="adj" fmla="val 57458"/>
              </a:avLst>
            </a:prstGeom>
            <a:solidFill>
              <a:srgbClr val="FF3300"/>
            </a:solidFill>
            <a:ln w="9525">
              <a:solidFill>
                <a:schemeClr val="tx1"/>
              </a:solidFill>
              <a:miter lim="800000"/>
              <a:headEnd/>
              <a:tailEnd/>
            </a:ln>
          </p:spPr>
          <p:txBody>
            <a:bodyPr wrap="none" anchor="ctr"/>
            <a:lstStyle/>
            <a:p>
              <a:pPr algn="ctr"/>
              <a:endParaRPr lang="zh-CN" altLang="zh-CN">
                <a:solidFill>
                  <a:srgbClr val="F040F0"/>
                </a:solidFill>
                <a:ea typeface="宋体" pitchFamily="2" charset="-122"/>
              </a:endParaRPr>
            </a:p>
          </p:txBody>
        </p:sp>
        <p:sp>
          <p:nvSpPr>
            <p:cNvPr id="131086" name="AutoShape 12"/>
            <p:cNvSpPr>
              <a:spLocks noChangeArrowheads="1"/>
            </p:cNvSpPr>
            <p:nvPr/>
          </p:nvSpPr>
          <p:spPr bwMode="auto">
            <a:xfrm>
              <a:off x="3923" y="2024"/>
              <a:ext cx="181" cy="181"/>
            </a:xfrm>
            <a:prstGeom prst="triangle">
              <a:avLst>
                <a:gd name="adj" fmla="val 49722"/>
              </a:avLst>
            </a:prstGeom>
            <a:solidFill>
              <a:srgbClr val="F040F0"/>
            </a:solidFill>
            <a:ln w="9525">
              <a:solidFill>
                <a:schemeClr val="tx1"/>
              </a:solidFill>
              <a:miter lim="800000"/>
              <a:headEnd/>
              <a:tailEnd/>
            </a:ln>
          </p:spPr>
          <p:txBody>
            <a:bodyPr wrap="none" anchor="ctr"/>
            <a:lstStyle/>
            <a:p>
              <a:pPr algn="ctr"/>
              <a:endParaRPr lang="zh-CN" altLang="zh-CN">
                <a:solidFill>
                  <a:srgbClr val="F040F0"/>
                </a:solidFill>
                <a:ea typeface="宋体" pitchFamily="2" charset="-122"/>
              </a:endParaRPr>
            </a:p>
          </p:txBody>
        </p:sp>
        <p:sp>
          <p:nvSpPr>
            <p:cNvPr id="131087" name="Line 28"/>
            <p:cNvSpPr>
              <a:spLocks noChangeShapeType="1"/>
            </p:cNvSpPr>
            <p:nvPr/>
          </p:nvSpPr>
          <p:spPr bwMode="auto">
            <a:xfrm>
              <a:off x="3016" y="1162"/>
              <a:ext cx="0" cy="771"/>
            </a:xfrm>
            <a:prstGeom prst="line">
              <a:avLst/>
            </a:prstGeom>
            <a:noFill/>
            <a:ln w="38100">
              <a:solidFill>
                <a:schemeClr val="tx1"/>
              </a:solidFill>
              <a:prstDash val="dash"/>
              <a:miter lim="800000"/>
              <a:headEnd/>
              <a:tailEnd/>
            </a:ln>
          </p:spPr>
          <p:txBody>
            <a:bodyPr wrap="none"/>
            <a:lstStyle/>
            <a:p>
              <a:endParaRPr lang="zh-CN" altLang="en-US"/>
            </a:p>
          </p:txBody>
        </p:sp>
        <p:sp>
          <p:nvSpPr>
            <p:cNvPr id="131088" name="Line 29"/>
            <p:cNvSpPr>
              <a:spLocks noChangeShapeType="1"/>
            </p:cNvSpPr>
            <p:nvPr/>
          </p:nvSpPr>
          <p:spPr bwMode="auto">
            <a:xfrm>
              <a:off x="4014" y="1162"/>
              <a:ext cx="0" cy="817"/>
            </a:xfrm>
            <a:prstGeom prst="line">
              <a:avLst/>
            </a:prstGeom>
            <a:noFill/>
            <a:ln w="38100">
              <a:solidFill>
                <a:schemeClr val="tx1"/>
              </a:solidFill>
              <a:prstDash val="dash"/>
              <a:miter lim="800000"/>
              <a:headEnd/>
              <a:tailEnd/>
            </a:ln>
          </p:spPr>
          <p:txBody>
            <a:bodyPr wrap="none"/>
            <a:lstStyle/>
            <a:p>
              <a:endParaRPr lang="zh-CN" altLang="en-US"/>
            </a:p>
          </p:txBody>
        </p:sp>
        <p:sp>
          <p:nvSpPr>
            <p:cNvPr id="131089" name="Line 30"/>
            <p:cNvSpPr>
              <a:spLocks noChangeShapeType="1"/>
            </p:cNvSpPr>
            <p:nvPr/>
          </p:nvSpPr>
          <p:spPr bwMode="auto">
            <a:xfrm>
              <a:off x="2699" y="1706"/>
              <a:ext cx="226" cy="0"/>
            </a:xfrm>
            <a:prstGeom prst="line">
              <a:avLst/>
            </a:prstGeom>
            <a:noFill/>
            <a:ln w="9525">
              <a:solidFill>
                <a:schemeClr val="tx1"/>
              </a:solidFill>
              <a:miter lim="800000"/>
              <a:headEnd/>
              <a:tailEnd type="triangle" w="med" len="med"/>
            </a:ln>
          </p:spPr>
          <p:txBody>
            <a:bodyPr wrap="none"/>
            <a:lstStyle/>
            <a:p>
              <a:endParaRPr lang="zh-CN" altLang="en-US"/>
            </a:p>
          </p:txBody>
        </p:sp>
        <p:sp>
          <p:nvSpPr>
            <p:cNvPr id="131090" name="Line 31"/>
            <p:cNvSpPr>
              <a:spLocks noChangeShapeType="1"/>
            </p:cNvSpPr>
            <p:nvPr/>
          </p:nvSpPr>
          <p:spPr bwMode="auto">
            <a:xfrm flipH="1">
              <a:off x="3107" y="1706"/>
              <a:ext cx="227" cy="0"/>
            </a:xfrm>
            <a:prstGeom prst="line">
              <a:avLst/>
            </a:prstGeom>
            <a:noFill/>
            <a:ln w="9525">
              <a:solidFill>
                <a:schemeClr val="tx1"/>
              </a:solidFill>
              <a:miter lim="800000"/>
              <a:headEnd/>
              <a:tailEnd type="triangle" w="med" len="med"/>
            </a:ln>
          </p:spPr>
          <p:txBody>
            <a:bodyPr wrap="none"/>
            <a:lstStyle/>
            <a:p>
              <a:endParaRPr lang="zh-CN" altLang="en-US"/>
            </a:p>
          </p:txBody>
        </p:sp>
        <p:sp>
          <p:nvSpPr>
            <p:cNvPr id="131091" name="Line 32"/>
            <p:cNvSpPr>
              <a:spLocks noChangeShapeType="1"/>
            </p:cNvSpPr>
            <p:nvPr/>
          </p:nvSpPr>
          <p:spPr bwMode="auto">
            <a:xfrm>
              <a:off x="3696" y="1706"/>
              <a:ext cx="226" cy="0"/>
            </a:xfrm>
            <a:prstGeom prst="line">
              <a:avLst/>
            </a:prstGeom>
            <a:noFill/>
            <a:ln w="9525">
              <a:solidFill>
                <a:schemeClr val="tx1"/>
              </a:solidFill>
              <a:miter lim="800000"/>
              <a:headEnd/>
              <a:tailEnd type="triangle" w="med" len="med"/>
            </a:ln>
          </p:spPr>
          <p:txBody>
            <a:bodyPr wrap="none"/>
            <a:lstStyle/>
            <a:p>
              <a:endParaRPr lang="zh-CN" altLang="en-US"/>
            </a:p>
          </p:txBody>
        </p:sp>
        <p:sp>
          <p:nvSpPr>
            <p:cNvPr id="131092" name="Line 33"/>
            <p:cNvSpPr>
              <a:spLocks noChangeShapeType="1"/>
            </p:cNvSpPr>
            <p:nvPr/>
          </p:nvSpPr>
          <p:spPr bwMode="auto">
            <a:xfrm flipH="1">
              <a:off x="4105" y="1706"/>
              <a:ext cx="227" cy="0"/>
            </a:xfrm>
            <a:prstGeom prst="line">
              <a:avLst/>
            </a:prstGeom>
            <a:noFill/>
            <a:ln w="9525">
              <a:solidFill>
                <a:schemeClr val="tx1"/>
              </a:solidFill>
              <a:miter lim="800000"/>
              <a:headEnd/>
              <a:tailEnd type="triangle" w="med" len="med"/>
            </a:ln>
          </p:spPr>
          <p:txBody>
            <a:bodyPr wrap="none"/>
            <a:lstStyle/>
            <a:p>
              <a:endParaRPr lang="zh-CN" altLang="en-US"/>
            </a:p>
          </p:txBody>
        </p:sp>
      </p:grpSp>
      <p:sp>
        <p:nvSpPr>
          <p:cNvPr id="30" name="灯片编号占位符 29"/>
          <p:cNvSpPr>
            <a:spLocks noGrp="1"/>
          </p:cNvSpPr>
          <p:nvPr>
            <p:ph type="sldNum" sz="quarter" idx="12"/>
          </p:nvPr>
        </p:nvSpPr>
        <p:spPr/>
        <p:txBody>
          <a:bodyPr/>
          <a:lstStyle/>
          <a:p>
            <a:pPr>
              <a:defRPr/>
            </a:pPr>
            <a:fld id="{08F9F1FB-7F7C-4EF7-9164-470922186AD3}" type="slidenum">
              <a:rPr lang="en-US" altLang="zh-CN" smtClean="0"/>
              <a:pPr>
                <a:defRPr/>
              </a:pPr>
              <a:t>99</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412687"/>
                                        </p:tgtEl>
                                        <p:attrNameLst>
                                          <p:attrName>style.visibility</p:attrName>
                                        </p:attrNameLst>
                                      </p:cBhvr>
                                      <p:to>
                                        <p:strVal val="visible"/>
                                      </p:to>
                                    </p:set>
                                    <p:animEffect transition="in" filter="diamond(out)">
                                      <p:cBhvr>
                                        <p:cTn id="7" dur="3000"/>
                                        <p:tgtEl>
                                          <p:spTgt spid="412687"/>
                                        </p:tgtEl>
                                      </p:cBhvr>
                                    </p:animEffect>
                                  </p:childTnLst>
                                </p:cTn>
                              </p:par>
                            </p:childTnLst>
                          </p:cTn>
                        </p:par>
                        <p:par>
                          <p:cTn id="8" fill="hold">
                            <p:stCondLst>
                              <p:cond delay="3000"/>
                            </p:stCondLst>
                            <p:childTnLst>
                              <p:par>
                                <p:cTn id="9" presetID="2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edge">
                                      <p:cBhvr>
                                        <p:cTn id="11"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8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ctrTitle"/>
          </p:nvPr>
        </p:nvSpPr>
        <p:spPr>
          <a:xfrm>
            <a:off x="755576" y="1772816"/>
            <a:ext cx="7272808" cy="1871663"/>
          </a:xfrm>
        </p:spPr>
        <p:txBody>
          <a:bodyPr/>
          <a:lstStyle/>
          <a:p>
            <a:pPr eaLnBrk="1" hangingPunct="1"/>
            <a:r>
              <a:rPr lang="en-US" altLang="zh-CN" dirty="0" smtClean="0"/>
              <a:t>3.3 </a:t>
            </a:r>
            <a:r>
              <a:rPr lang="zh-CN" altLang="en-US" dirty="0" smtClean="0"/>
              <a:t>统计数据离中趋势的描述</a:t>
            </a:r>
            <a:r>
              <a:rPr lang="en-US" altLang="zh-CN" dirty="0" smtClean="0"/>
              <a:t>——</a:t>
            </a:r>
            <a:r>
              <a:rPr lang="zh-CN" altLang="en-US" dirty="0" smtClean="0"/>
              <a:t>变异</a:t>
            </a:r>
            <a:r>
              <a:rPr lang="zh-CN" altLang="en-US" dirty="0"/>
              <a:t>指标</a:t>
            </a:r>
            <a:br>
              <a:rPr lang="zh-CN" altLang="en-US" dirty="0"/>
            </a:br>
            <a:r>
              <a:rPr lang="zh-CN" altLang="en-US" dirty="0" smtClean="0"/>
              <a:t> </a:t>
            </a:r>
          </a:p>
        </p:txBody>
      </p:sp>
      <p:sp>
        <p:nvSpPr>
          <p:cNvPr id="132100" name="Rectangle 3"/>
          <p:cNvSpPr>
            <a:spLocks noChangeArrowheads="1"/>
          </p:cNvSpPr>
          <p:nvPr/>
        </p:nvSpPr>
        <p:spPr bwMode="auto">
          <a:xfrm>
            <a:off x="1619250" y="3140968"/>
            <a:ext cx="6121400" cy="3097907"/>
          </a:xfrm>
          <a:prstGeom prst="rect">
            <a:avLst/>
          </a:prstGeom>
          <a:noFill/>
          <a:ln w="9525">
            <a:noFill/>
            <a:miter lim="800000"/>
            <a:headEnd/>
            <a:tailEnd/>
          </a:ln>
        </p:spPr>
        <p:txBody>
          <a:bodyPr/>
          <a:lstStyle/>
          <a:p>
            <a:pPr marL="342900" indent="-342900" algn="just">
              <a:lnSpc>
                <a:spcPct val="110000"/>
              </a:lnSpc>
              <a:spcBef>
                <a:spcPct val="20000"/>
              </a:spcBef>
              <a:buSzPct val="90000"/>
            </a:pPr>
            <a:r>
              <a:rPr lang="en-US" altLang="zh-CN" sz="3200" b="1" dirty="0" smtClean="0">
                <a:solidFill>
                  <a:srgbClr val="3333FF"/>
                </a:solidFill>
                <a:latin typeface="Tahoma" pitchFamily="34" charset="0"/>
                <a:ea typeface="宋体" pitchFamily="2" charset="-122"/>
              </a:rPr>
              <a:t>3.3.1 </a:t>
            </a:r>
            <a:r>
              <a:rPr lang="zh-CN" altLang="en-US" sz="3200" b="1" dirty="0">
                <a:solidFill>
                  <a:srgbClr val="3333FF"/>
                </a:solidFill>
                <a:latin typeface="Tahoma" pitchFamily="34" charset="0"/>
                <a:ea typeface="宋体" pitchFamily="2" charset="-122"/>
              </a:rPr>
              <a:t>变异指标测定的必要性</a:t>
            </a:r>
          </a:p>
          <a:p>
            <a:pPr marL="342900" indent="-342900">
              <a:lnSpc>
                <a:spcPct val="110000"/>
              </a:lnSpc>
              <a:spcBef>
                <a:spcPct val="20000"/>
              </a:spcBef>
              <a:buSzPct val="90000"/>
            </a:pPr>
            <a:r>
              <a:rPr lang="en-US" altLang="zh-CN" sz="3200" b="1" dirty="0" smtClean="0">
                <a:solidFill>
                  <a:srgbClr val="1313FF"/>
                </a:solidFill>
                <a:latin typeface="Tahoma" pitchFamily="34" charset="0"/>
                <a:ea typeface="宋体" pitchFamily="2" charset="-122"/>
              </a:rPr>
              <a:t>3.3.2 </a:t>
            </a:r>
            <a:r>
              <a:rPr lang="zh-CN" altLang="en-US" sz="3200" b="1" dirty="0">
                <a:solidFill>
                  <a:srgbClr val="3333FF"/>
                </a:solidFill>
                <a:latin typeface="Tahoma" pitchFamily="34" charset="0"/>
                <a:ea typeface="宋体" pitchFamily="2" charset="-122"/>
              </a:rPr>
              <a:t>极差与四分位差 </a:t>
            </a:r>
            <a:endParaRPr lang="zh-CN" altLang="en-US" sz="3200" b="1" dirty="0">
              <a:solidFill>
                <a:srgbClr val="1313FF"/>
              </a:solidFill>
              <a:latin typeface="Tahoma" pitchFamily="34" charset="0"/>
              <a:ea typeface="宋体" pitchFamily="2" charset="-122"/>
            </a:endParaRPr>
          </a:p>
          <a:p>
            <a:pPr marL="342900" indent="-342900">
              <a:lnSpc>
                <a:spcPct val="110000"/>
              </a:lnSpc>
              <a:spcBef>
                <a:spcPct val="20000"/>
              </a:spcBef>
              <a:buSzPct val="90000"/>
            </a:pPr>
            <a:r>
              <a:rPr lang="en-US" altLang="zh-CN" sz="3200" b="1" dirty="0" smtClean="0">
                <a:solidFill>
                  <a:srgbClr val="1313FF"/>
                </a:solidFill>
                <a:latin typeface="Tahoma" pitchFamily="34" charset="0"/>
                <a:ea typeface="宋体" pitchFamily="2" charset="-122"/>
              </a:rPr>
              <a:t>3.3.3 </a:t>
            </a:r>
            <a:r>
              <a:rPr lang="zh-CN" altLang="en-US" sz="3200" b="1" dirty="0">
                <a:solidFill>
                  <a:srgbClr val="3333FF"/>
                </a:solidFill>
                <a:latin typeface="Tahoma" pitchFamily="34" charset="0"/>
                <a:ea typeface="宋体" pitchFamily="2" charset="-122"/>
              </a:rPr>
              <a:t>平均差</a:t>
            </a:r>
          </a:p>
          <a:p>
            <a:pPr marL="342900" indent="-342900">
              <a:lnSpc>
                <a:spcPct val="110000"/>
              </a:lnSpc>
              <a:spcBef>
                <a:spcPct val="20000"/>
              </a:spcBef>
              <a:buSzPct val="90000"/>
            </a:pPr>
            <a:r>
              <a:rPr lang="en-US" altLang="zh-CN" sz="3200" b="1" dirty="0" smtClean="0">
                <a:solidFill>
                  <a:srgbClr val="3333FF"/>
                </a:solidFill>
                <a:latin typeface="Tahoma" pitchFamily="34" charset="0"/>
                <a:ea typeface="宋体" pitchFamily="2" charset="-122"/>
              </a:rPr>
              <a:t>3.3.4 </a:t>
            </a:r>
            <a:r>
              <a:rPr lang="zh-CN" altLang="en-US" sz="3200" b="1" dirty="0">
                <a:solidFill>
                  <a:srgbClr val="3333FF"/>
                </a:solidFill>
                <a:latin typeface="Tahoma" pitchFamily="34" charset="0"/>
                <a:ea typeface="宋体" pitchFamily="2" charset="-122"/>
              </a:rPr>
              <a:t>标准差和方差</a:t>
            </a:r>
          </a:p>
          <a:p>
            <a:pPr marL="342900" indent="-342900">
              <a:lnSpc>
                <a:spcPct val="110000"/>
              </a:lnSpc>
              <a:spcBef>
                <a:spcPct val="20000"/>
              </a:spcBef>
              <a:buSzPct val="90000"/>
            </a:pPr>
            <a:r>
              <a:rPr lang="en-US" altLang="zh-CN" sz="3200" b="1" dirty="0" smtClean="0">
                <a:solidFill>
                  <a:srgbClr val="3333FF"/>
                </a:solidFill>
                <a:latin typeface="Tahoma" pitchFamily="34" charset="0"/>
                <a:ea typeface="宋体" pitchFamily="2" charset="-122"/>
              </a:rPr>
              <a:t>3.3.5 </a:t>
            </a:r>
            <a:r>
              <a:rPr lang="zh-CN" altLang="en-US" sz="3200" b="1" dirty="0">
                <a:solidFill>
                  <a:srgbClr val="3333FF"/>
                </a:solidFill>
                <a:latin typeface="Tahoma" pitchFamily="34" charset="0"/>
                <a:ea typeface="宋体" pitchFamily="2" charset="-122"/>
              </a:rPr>
              <a:t>离散系数与异众比率 </a:t>
            </a:r>
          </a:p>
        </p:txBody>
      </p:sp>
      <p:sp>
        <p:nvSpPr>
          <p:cNvPr id="5" name="灯片编号占位符 4"/>
          <p:cNvSpPr>
            <a:spLocks noGrp="1"/>
          </p:cNvSpPr>
          <p:nvPr>
            <p:ph type="sldNum" sz="quarter" idx="12"/>
          </p:nvPr>
        </p:nvSpPr>
        <p:spPr/>
        <p:txBody>
          <a:bodyPr/>
          <a:lstStyle/>
          <a:p>
            <a:pPr>
              <a:defRPr/>
            </a:pPr>
            <a:fld id="{115FE61E-FA6F-4312-971A-B6F10F3D3BF0}" type="slidenum">
              <a:rPr lang="en-US" altLang="zh-CN" smtClean="0"/>
              <a:pPr>
                <a:defRPr/>
              </a:pPr>
              <a:t>100</a:t>
            </a:fld>
            <a:endParaRPr lang="en-US" altLang="zh-CN"/>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2"/>
          <p:cNvSpPr>
            <a:spLocks noChangeArrowheads="1"/>
          </p:cNvSpPr>
          <p:nvPr/>
        </p:nvSpPr>
        <p:spPr bwMode="auto">
          <a:xfrm>
            <a:off x="755650" y="1557338"/>
            <a:ext cx="7791450" cy="4554537"/>
          </a:xfrm>
          <a:prstGeom prst="rect">
            <a:avLst/>
          </a:prstGeom>
          <a:noFill/>
          <a:ln w="9525">
            <a:noFill/>
            <a:miter lim="800000"/>
            <a:headEnd/>
            <a:tailEnd/>
          </a:ln>
        </p:spPr>
        <p:txBody>
          <a:bodyPr>
            <a:spAutoFit/>
          </a:bodyPr>
          <a:lstStyle/>
          <a:p>
            <a:pPr eaLnBrk="0" hangingPunct="0">
              <a:lnSpc>
                <a:spcPct val="110000"/>
              </a:lnSpc>
              <a:spcBef>
                <a:spcPct val="20000"/>
              </a:spcBef>
            </a:pPr>
            <a:r>
              <a:rPr lang="en-US" altLang="zh-CN" sz="3200">
                <a:solidFill>
                  <a:srgbClr val="006600"/>
                </a:solidFill>
                <a:ea typeface="宋体" pitchFamily="2" charset="-122"/>
              </a:rPr>
              <a:t>   </a:t>
            </a:r>
            <a:r>
              <a:rPr lang="zh-CN" altLang="en-US" sz="3600" b="1">
                <a:solidFill>
                  <a:srgbClr val="3333FF"/>
                </a:solidFill>
                <a:ea typeface="宋体" pitchFamily="2" charset="-122"/>
              </a:rPr>
              <a:t>变异指标</a:t>
            </a:r>
            <a:r>
              <a:rPr lang="en-US" altLang="zh-CN" sz="3600" b="1">
                <a:solidFill>
                  <a:srgbClr val="3333FF"/>
                </a:solidFill>
                <a:ea typeface="宋体" pitchFamily="2" charset="-122"/>
              </a:rPr>
              <a:t>——</a:t>
            </a:r>
            <a:r>
              <a:rPr lang="zh-CN" altLang="en-US" sz="3200" b="1">
                <a:solidFill>
                  <a:schemeClr val="tx2"/>
                </a:solidFill>
                <a:ea typeface="宋体" pitchFamily="2" charset="-122"/>
              </a:rPr>
              <a:t>反映统计数据差异程度的综合指标，又称标志变动度。</a:t>
            </a:r>
          </a:p>
          <a:p>
            <a:pPr lvl="1" eaLnBrk="0" hangingPunct="0">
              <a:lnSpc>
                <a:spcPct val="110000"/>
              </a:lnSpc>
              <a:spcBef>
                <a:spcPct val="20000"/>
              </a:spcBef>
              <a:buFontTx/>
              <a:buChar char="•"/>
            </a:pPr>
            <a:r>
              <a:rPr lang="zh-CN" altLang="en-US" sz="2800" b="1">
                <a:solidFill>
                  <a:srgbClr val="000000"/>
                </a:solidFill>
                <a:ea typeface="宋体" pitchFamily="2" charset="-122"/>
              </a:rPr>
              <a:t>测定数据差异程度（或离散程度、均衡性、稳定性）</a:t>
            </a:r>
          </a:p>
          <a:p>
            <a:pPr lvl="1" eaLnBrk="0" hangingPunct="0">
              <a:lnSpc>
                <a:spcPct val="110000"/>
              </a:lnSpc>
              <a:spcBef>
                <a:spcPct val="20000"/>
              </a:spcBef>
              <a:buFontTx/>
              <a:buChar char="•"/>
            </a:pPr>
            <a:r>
              <a:rPr lang="zh-CN" altLang="en-US" sz="2800" b="1">
                <a:solidFill>
                  <a:srgbClr val="000000"/>
                </a:solidFill>
                <a:ea typeface="宋体" pitchFamily="2" charset="-122"/>
              </a:rPr>
              <a:t>衡量集中趋势测度值（平均数）的代表性大小。</a:t>
            </a:r>
          </a:p>
          <a:p>
            <a:pPr lvl="2" eaLnBrk="0" hangingPunct="0">
              <a:lnSpc>
                <a:spcPct val="110000"/>
              </a:lnSpc>
              <a:spcBef>
                <a:spcPct val="20000"/>
              </a:spcBef>
              <a:buFontTx/>
              <a:buChar char="•"/>
            </a:pPr>
            <a:r>
              <a:rPr lang="zh-CN" altLang="en-US" sz="3600" b="1">
                <a:solidFill>
                  <a:schemeClr val="tx2"/>
                </a:solidFill>
                <a:ea typeface="宋体" pitchFamily="2" charset="-122"/>
              </a:rPr>
              <a:t> </a:t>
            </a:r>
            <a:r>
              <a:rPr lang="zh-CN" altLang="en-US" sz="2800" b="1">
                <a:solidFill>
                  <a:srgbClr val="006600"/>
                </a:solidFill>
                <a:ea typeface="宋体" pitchFamily="2" charset="-122"/>
              </a:rPr>
              <a:t>变异指标越大，平均数代表性越小；</a:t>
            </a:r>
            <a:endParaRPr lang="zh-CN" altLang="en-US" sz="2800" b="1">
              <a:solidFill>
                <a:srgbClr val="006600"/>
              </a:solidFill>
              <a:ea typeface="华文行楷" pitchFamily="2" charset="-122"/>
            </a:endParaRPr>
          </a:p>
          <a:p>
            <a:pPr lvl="2" eaLnBrk="0" hangingPunct="0">
              <a:lnSpc>
                <a:spcPct val="110000"/>
              </a:lnSpc>
              <a:spcBef>
                <a:spcPct val="20000"/>
              </a:spcBef>
              <a:buFontTx/>
              <a:buChar char="•"/>
            </a:pPr>
            <a:r>
              <a:rPr lang="zh-CN" altLang="en-US" sz="2800" b="1">
                <a:solidFill>
                  <a:srgbClr val="006600"/>
                </a:solidFill>
                <a:ea typeface="宋体" pitchFamily="2" charset="-122"/>
              </a:rPr>
              <a:t>  变异指标越小，平均数代表性越大。</a:t>
            </a:r>
          </a:p>
        </p:txBody>
      </p:sp>
      <p:sp>
        <p:nvSpPr>
          <p:cNvPr id="133124" name="Rectangle 3"/>
          <p:cNvSpPr>
            <a:spLocks noGrp="1" noChangeArrowheads="1"/>
          </p:cNvSpPr>
          <p:nvPr>
            <p:ph type="title" idx="4294967295"/>
          </p:nvPr>
        </p:nvSpPr>
        <p:spPr>
          <a:xfrm>
            <a:off x="827088" y="404813"/>
            <a:ext cx="7772400" cy="990600"/>
          </a:xfrm>
        </p:spPr>
        <p:txBody>
          <a:bodyPr/>
          <a:lstStyle/>
          <a:p>
            <a:pPr eaLnBrk="1" hangingPunct="1"/>
            <a:r>
              <a:rPr lang="en-US" altLang="zh-CN" sz="4000" dirty="0" smtClean="0">
                <a:solidFill>
                  <a:srgbClr val="1313FF"/>
                </a:solidFill>
              </a:rPr>
              <a:t>3.2.1 </a:t>
            </a:r>
            <a:r>
              <a:rPr lang="zh-CN" altLang="en-US" sz="4000" dirty="0" smtClean="0"/>
              <a:t>变异指标的概念和作用</a:t>
            </a:r>
          </a:p>
        </p:txBody>
      </p:sp>
      <p:sp>
        <p:nvSpPr>
          <p:cNvPr id="5" name="灯片编号占位符 4"/>
          <p:cNvSpPr>
            <a:spLocks noGrp="1"/>
          </p:cNvSpPr>
          <p:nvPr>
            <p:ph type="sldNum" sz="quarter" idx="12"/>
          </p:nvPr>
        </p:nvSpPr>
        <p:spPr/>
        <p:txBody>
          <a:bodyPr/>
          <a:lstStyle/>
          <a:p>
            <a:pPr>
              <a:defRPr/>
            </a:pPr>
            <a:fld id="{4D36EFB7-0D9F-4BC1-ADE9-F0E399591344}" type="slidenum">
              <a:rPr lang="en-US" altLang="zh-CN" smtClean="0"/>
              <a:pPr>
                <a:defRPr/>
              </a:pPr>
              <a:t>101</a:t>
            </a:fld>
            <a:endParaRPr lang="en-US" altLang="zh-CN" dirty="0"/>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2"/>
          <p:cNvSpPr>
            <a:spLocks noChangeArrowheads="1"/>
          </p:cNvSpPr>
          <p:nvPr/>
        </p:nvSpPr>
        <p:spPr bwMode="auto">
          <a:xfrm>
            <a:off x="468313" y="1412875"/>
            <a:ext cx="8458200" cy="3919538"/>
          </a:xfrm>
          <a:prstGeom prst="rect">
            <a:avLst/>
          </a:prstGeom>
          <a:noFill/>
          <a:ln w="9525">
            <a:noFill/>
            <a:miter lim="800000"/>
            <a:headEnd/>
            <a:tailEnd/>
          </a:ln>
        </p:spPr>
        <p:txBody>
          <a:bodyPr>
            <a:spAutoFit/>
          </a:bodyPr>
          <a:lstStyle/>
          <a:p>
            <a:pPr>
              <a:lnSpc>
                <a:spcPct val="120000"/>
              </a:lnSpc>
              <a:spcBef>
                <a:spcPct val="50000"/>
              </a:spcBef>
            </a:pPr>
            <a:r>
              <a:rPr lang="zh-CN" altLang="en-US" sz="2800" b="1">
                <a:solidFill>
                  <a:srgbClr val="000000"/>
                </a:solidFill>
                <a:ea typeface="宋体" pitchFamily="2" charset="-122"/>
              </a:rPr>
              <a:t>某车间有两个生产小组，某周</a:t>
            </a:r>
            <a:r>
              <a:rPr lang="en-US" altLang="zh-CN" sz="2800" b="1">
                <a:solidFill>
                  <a:srgbClr val="000000"/>
                </a:solidFill>
                <a:ea typeface="宋体" pitchFamily="2" charset="-122"/>
              </a:rPr>
              <a:t>5</a:t>
            </a:r>
            <a:r>
              <a:rPr lang="zh-CN" altLang="en-US" sz="2800" b="1">
                <a:solidFill>
                  <a:srgbClr val="000000"/>
                </a:solidFill>
                <a:ea typeface="宋体" pitchFamily="2" charset="-122"/>
              </a:rPr>
              <a:t>天的产量如下：</a:t>
            </a:r>
          </a:p>
          <a:p>
            <a:pPr eaLnBrk="0" hangingPunct="0">
              <a:lnSpc>
                <a:spcPct val="120000"/>
              </a:lnSpc>
              <a:spcBef>
                <a:spcPct val="50000"/>
              </a:spcBef>
            </a:pPr>
            <a:r>
              <a:rPr lang="zh-CN" altLang="en-US" sz="3200" b="1">
                <a:solidFill>
                  <a:srgbClr val="000000"/>
                </a:solidFill>
                <a:ea typeface="宋体" pitchFamily="2" charset="-122"/>
              </a:rPr>
              <a:t>         甲：</a:t>
            </a:r>
            <a:r>
              <a:rPr lang="en-US" altLang="zh-CN" sz="3200" b="1">
                <a:solidFill>
                  <a:srgbClr val="000000"/>
                </a:solidFill>
                <a:ea typeface="宋体" pitchFamily="2" charset="-122"/>
              </a:rPr>
              <a:t>171</a:t>
            </a:r>
            <a:r>
              <a:rPr lang="zh-CN" altLang="en-US" sz="3200" b="1">
                <a:solidFill>
                  <a:srgbClr val="000000"/>
                </a:solidFill>
                <a:ea typeface="宋体" pitchFamily="2" charset="-122"/>
              </a:rPr>
              <a:t>，</a:t>
            </a:r>
            <a:r>
              <a:rPr lang="en-US" altLang="zh-CN" sz="3200" b="1">
                <a:solidFill>
                  <a:srgbClr val="000000"/>
                </a:solidFill>
                <a:ea typeface="宋体" pitchFamily="2" charset="-122"/>
              </a:rPr>
              <a:t>172</a:t>
            </a:r>
            <a:r>
              <a:rPr lang="zh-CN" altLang="en-US" sz="3200" b="1">
                <a:solidFill>
                  <a:srgbClr val="000000"/>
                </a:solidFill>
                <a:ea typeface="宋体" pitchFamily="2" charset="-122"/>
              </a:rPr>
              <a:t>，</a:t>
            </a:r>
            <a:r>
              <a:rPr lang="en-US" altLang="zh-CN" sz="3200" b="1">
                <a:solidFill>
                  <a:srgbClr val="000000"/>
                </a:solidFill>
                <a:ea typeface="宋体" pitchFamily="2" charset="-122"/>
              </a:rPr>
              <a:t>172</a:t>
            </a:r>
            <a:r>
              <a:rPr lang="zh-CN" altLang="en-US" sz="3200" b="1">
                <a:solidFill>
                  <a:srgbClr val="000000"/>
                </a:solidFill>
                <a:ea typeface="宋体" pitchFamily="2" charset="-122"/>
              </a:rPr>
              <a:t>，</a:t>
            </a:r>
            <a:r>
              <a:rPr lang="en-US" altLang="zh-CN" sz="3200" b="1">
                <a:solidFill>
                  <a:srgbClr val="000000"/>
                </a:solidFill>
                <a:ea typeface="宋体" pitchFamily="2" charset="-122"/>
              </a:rPr>
              <a:t>172</a:t>
            </a:r>
            <a:r>
              <a:rPr lang="zh-CN" altLang="en-US" sz="3200" b="1">
                <a:solidFill>
                  <a:srgbClr val="000000"/>
                </a:solidFill>
                <a:ea typeface="宋体" pitchFamily="2" charset="-122"/>
              </a:rPr>
              <a:t>，</a:t>
            </a:r>
            <a:r>
              <a:rPr lang="en-US" altLang="zh-CN" sz="3200" b="1">
                <a:solidFill>
                  <a:srgbClr val="000000"/>
                </a:solidFill>
                <a:ea typeface="宋体" pitchFamily="2" charset="-122"/>
              </a:rPr>
              <a:t>173</a:t>
            </a:r>
            <a:r>
              <a:rPr lang="zh-CN" altLang="en-US" sz="3200" b="1">
                <a:solidFill>
                  <a:srgbClr val="000000"/>
                </a:solidFill>
                <a:ea typeface="宋体" pitchFamily="2" charset="-122"/>
              </a:rPr>
              <a:t>（件）</a:t>
            </a:r>
          </a:p>
          <a:p>
            <a:pPr eaLnBrk="0" hangingPunct="0">
              <a:lnSpc>
                <a:spcPct val="120000"/>
              </a:lnSpc>
              <a:spcBef>
                <a:spcPct val="50000"/>
              </a:spcBef>
            </a:pPr>
            <a:r>
              <a:rPr lang="zh-CN" altLang="en-US" sz="3200" b="1">
                <a:solidFill>
                  <a:srgbClr val="000000"/>
                </a:solidFill>
                <a:ea typeface="宋体" pitchFamily="2" charset="-122"/>
              </a:rPr>
              <a:t>         乙：</a:t>
            </a:r>
            <a:r>
              <a:rPr lang="en-US" altLang="zh-CN" sz="3200" b="1">
                <a:solidFill>
                  <a:srgbClr val="000000"/>
                </a:solidFill>
                <a:ea typeface="宋体" pitchFamily="2" charset="-122"/>
              </a:rPr>
              <a:t>220</a:t>
            </a:r>
            <a:r>
              <a:rPr lang="zh-CN" altLang="en-US" sz="3200" b="1">
                <a:solidFill>
                  <a:srgbClr val="000000"/>
                </a:solidFill>
                <a:ea typeface="宋体" pitchFamily="2" charset="-122"/>
              </a:rPr>
              <a:t>，</a:t>
            </a:r>
            <a:r>
              <a:rPr lang="en-US" altLang="zh-CN" sz="3200" b="1">
                <a:solidFill>
                  <a:srgbClr val="000000"/>
                </a:solidFill>
                <a:ea typeface="宋体" pitchFamily="2" charset="-122"/>
              </a:rPr>
              <a:t>190</a:t>
            </a:r>
            <a:r>
              <a:rPr lang="zh-CN" altLang="en-US" sz="3200" b="1">
                <a:solidFill>
                  <a:srgbClr val="000000"/>
                </a:solidFill>
                <a:ea typeface="宋体" pitchFamily="2" charset="-122"/>
              </a:rPr>
              <a:t>，</a:t>
            </a:r>
            <a:r>
              <a:rPr lang="en-US" altLang="zh-CN" sz="3200" b="1">
                <a:solidFill>
                  <a:srgbClr val="000000"/>
                </a:solidFill>
                <a:ea typeface="宋体" pitchFamily="2" charset="-122"/>
              </a:rPr>
              <a:t>170</a:t>
            </a:r>
            <a:r>
              <a:rPr lang="zh-CN" altLang="en-US" sz="3200" b="1">
                <a:solidFill>
                  <a:srgbClr val="000000"/>
                </a:solidFill>
                <a:ea typeface="宋体" pitchFamily="2" charset="-122"/>
              </a:rPr>
              <a:t>，</a:t>
            </a:r>
            <a:r>
              <a:rPr lang="en-US" altLang="zh-CN" sz="3200" b="1">
                <a:solidFill>
                  <a:srgbClr val="000000"/>
                </a:solidFill>
                <a:ea typeface="宋体" pitchFamily="2" charset="-122"/>
              </a:rPr>
              <a:t>150</a:t>
            </a:r>
            <a:r>
              <a:rPr lang="zh-CN" altLang="en-US" sz="3200" b="1">
                <a:solidFill>
                  <a:srgbClr val="000000"/>
                </a:solidFill>
                <a:ea typeface="宋体" pitchFamily="2" charset="-122"/>
              </a:rPr>
              <a:t>，</a:t>
            </a:r>
            <a:r>
              <a:rPr lang="en-US" altLang="zh-CN" sz="3200" b="1">
                <a:solidFill>
                  <a:srgbClr val="000000"/>
                </a:solidFill>
                <a:ea typeface="宋体" pitchFamily="2" charset="-122"/>
              </a:rPr>
              <a:t>130</a:t>
            </a:r>
            <a:r>
              <a:rPr lang="zh-CN" altLang="en-US" sz="3200" b="1">
                <a:solidFill>
                  <a:srgbClr val="000000"/>
                </a:solidFill>
                <a:ea typeface="宋体" pitchFamily="2" charset="-122"/>
              </a:rPr>
              <a:t>（件）</a:t>
            </a:r>
          </a:p>
          <a:p>
            <a:pPr eaLnBrk="0" hangingPunct="0">
              <a:lnSpc>
                <a:spcPct val="120000"/>
              </a:lnSpc>
              <a:spcBef>
                <a:spcPct val="50000"/>
              </a:spcBef>
              <a:buFontTx/>
              <a:buChar char="•"/>
            </a:pPr>
            <a:r>
              <a:rPr lang="zh-CN" altLang="en-US" sz="3200" b="1">
                <a:solidFill>
                  <a:srgbClr val="000000"/>
                </a:solidFill>
                <a:ea typeface="宋体" pitchFamily="2" charset="-122"/>
              </a:rPr>
              <a:t>  两组的平均日产量均为</a:t>
            </a:r>
            <a:r>
              <a:rPr lang="en-US" altLang="zh-CN" sz="3200" b="1">
                <a:solidFill>
                  <a:srgbClr val="000000"/>
                </a:solidFill>
                <a:ea typeface="宋体" pitchFamily="2" charset="-122"/>
              </a:rPr>
              <a:t>172</a:t>
            </a:r>
            <a:r>
              <a:rPr lang="zh-CN" altLang="en-US" sz="3200" b="1">
                <a:solidFill>
                  <a:srgbClr val="000000"/>
                </a:solidFill>
                <a:ea typeface="宋体" pitchFamily="2" charset="-122"/>
              </a:rPr>
              <a:t>件。</a:t>
            </a:r>
          </a:p>
          <a:p>
            <a:pPr eaLnBrk="0" hangingPunct="0">
              <a:lnSpc>
                <a:spcPct val="120000"/>
              </a:lnSpc>
              <a:spcBef>
                <a:spcPct val="50000"/>
              </a:spcBef>
              <a:buFontTx/>
              <a:buChar char="•"/>
            </a:pPr>
            <a:r>
              <a:rPr lang="zh-CN" altLang="en-US" sz="3200" b="1">
                <a:solidFill>
                  <a:srgbClr val="000000"/>
                </a:solidFill>
                <a:ea typeface="宋体" pitchFamily="2" charset="-122"/>
              </a:rPr>
              <a:t> 平均日产量</a:t>
            </a:r>
            <a:r>
              <a:rPr lang="en-US" altLang="zh-CN" sz="3200" b="1">
                <a:solidFill>
                  <a:srgbClr val="000000"/>
                </a:solidFill>
                <a:ea typeface="宋体" pitchFamily="2" charset="-122"/>
              </a:rPr>
              <a:t>172</a:t>
            </a:r>
            <a:r>
              <a:rPr lang="zh-CN" altLang="en-US" sz="3200" b="1">
                <a:solidFill>
                  <a:srgbClr val="000000"/>
                </a:solidFill>
                <a:ea typeface="宋体" pitchFamily="2" charset="-122"/>
              </a:rPr>
              <a:t>件的代表性甲组比乙组好。</a:t>
            </a:r>
          </a:p>
        </p:txBody>
      </p:sp>
      <p:sp>
        <p:nvSpPr>
          <p:cNvPr id="134148" name="Rectangle 3"/>
          <p:cNvSpPr>
            <a:spLocks noGrp="1" noChangeArrowheads="1"/>
          </p:cNvSpPr>
          <p:nvPr>
            <p:ph type="title" idx="4294967295"/>
          </p:nvPr>
        </p:nvSpPr>
        <p:spPr/>
        <p:txBody>
          <a:bodyPr/>
          <a:lstStyle/>
          <a:p>
            <a:pPr eaLnBrk="1" hangingPunct="1"/>
            <a:r>
              <a:rPr lang="en-US" altLang="zh-CN" dirty="0" smtClean="0">
                <a:solidFill>
                  <a:srgbClr val="1313FF"/>
                </a:solidFill>
              </a:rPr>
              <a:t>【</a:t>
            </a:r>
            <a:r>
              <a:rPr lang="zh-CN" altLang="en-US" dirty="0" smtClean="0">
                <a:solidFill>
                  <a:srgbClr val="1313FF"/>
                </a:solidFill>
              </a:rPr>
              <a:t>例</a:t>
            </a:r>
            <a:r>
              <a:rPr lang="en-US" altLang="zh-CN" dirty="0" smtClean="0">
                <a:solidFill>
                  <a:srgbClr val="1313FF"/>
                </a:solidFill>
              </a:rPr>
              <a:t>】</a:t>
            </a:r>
            <a:endParaRPr lang="en-US" altLang="zh-CN" dirty="0" smtClean="0"/>
          </a:p>
        </p:txBody>
      </p:sp>
      <p:sp>
        <p:nvSpPr>
          <p:cNvPr id="5" name="灯片编号占位符 4"/>
          <p:cNvSpPr>
            <a:spLocks noGrp="1"/>
          </p:cNvSpPr>
          <p:nvPr>
            <p:ph type="sldNum" sz="quarter" idx="12"/>
          </p:nvPr>
        </p:nvSpPr>
        <p:spPr/>
        <p:txBody>
          <a:bodyPr/>
          <a:lstStyle/>
          <a:p>
            <a:pPr>
              <a:defRPr/>
            </a:pPr>
            <a:fld id="{4D36EFB7-0D9F-4BC1-ADE9-F0E399591344}" type="slidenum">
              <a:rPr lang="en-US" altLang="zh-CN" smtClean="0"/>
              <a:pPr>
                <a:defRPr/>
              </a:pPr>
              <a:t>102</a:t>
            </a:fld>
            <a:endParaRPr lang="en-US" altLang="zh-CN" dirty="0"/>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2"/>
          <p:cNvSpPr>
            <a:spLocks noChangeArrowheads="1"/>
          </p:cNvSpPr>
          <p:nvPr/>
        </p:nvSpPr>
        <p:spPr bwMode="auto">
          <a:xfrm>
            <a:off x="0" y="1295400"/>
            <a:ext cx="9144000" cy="579438"/>
          </a:xfrm>
          <a:prstGeom prst="rect">
            <a:avLst/>
          </a:prstGeom>
          <a:noFill/>
          <a:ln w="9525">
            <a:noFill/>
            <a:miter lim="800000"/>
            <a:headEnd/>
            <a:tailEnd/>
          </a:ln>
        </p:spPr>
        <p:txBody>
          <a:bodyPr>
            <a:spAutoFit/>
          </a:bodyPr>
          <a:lstStyle/>
          <a:p>
            <a:pPr indent="228600" algn="just"/>
            <a:r>
              <a:rPr lang="en-US" altLang="zh-CN" sz="3200">
                <a:solidFill>
                  <a:srgbClr val="006600"/>
                </a:solidFill>
                <a:ea typeface="华文行楷" pitchFamily="2" charset="-122"/>
              </a:rPr>
              <a:t>      </a:t>
            </a:r>
            <a:endParaRPr lang="en-US" altLang="zh-CN" sz="3200">
              <a:solidFill>
                <a:srgbClr val="006600"/>
              </a:solidFill>
              <a:ea typeface="宋体" pitchFamily="2" charset="-122"/>
            </a:endParaRPr>
          </a:p>
        </p:txBody>
      </p:sp>
      <p:sp>
        <p:nvSpPr>
          <p:cNvPr id="135172" name="Rectangle 5"/>
          <p:cNvSpPr>
            <a:spLocks noChangeArrowheads="1"/>
          </p:cNvSpPr>
          <p:nvPr/>
        </p:nvSpPr>
        <p:spPr bwMode="auto">
          <a:xfrm>
            <a:off x="250825" y="1484313"/>
            <a:ext cx="8610600" cy="4187825"/>
          </a:xfrm>
          <a:prstGeom prst="rect">
            <a:avLst/>
          </a:prstGeom>
          <a:noFill/>
          <a:ln w="9525">
            <a:noFill/>
            <a:miter lim="800000"/>
            <a:headEnd/>
            <a:tailEnd/>
          </a:ln>
        </p:spPr>
        <p:txBody>
          <a:bodyPr>
            <a:spAutoFit/>
          </a:bodyPr>
          <a:lstStyle/>
          <a:p>
            <a:pPr indent="457200" algn="just">
              <a:lnSpc>
                <a:spcPct val="110000"/>
              </a:lnSpc>
              <a:spcBef>
                <a:spcPct val="20000"/>
              </a:spcBef>
            </a:pPr>
            <a:r>
              <a:rPr lang="en-US" altLang="zh-CN" sz="3600" b="1">
                <a:solidFill>
                  <a:srgbClr val="1313FF"/>
                </a:solidFill>
                <a:ea typeface="华文新魏" pitchFamily="2" charset="-122"/>
              </a:rPr>
              <a:t>1.</a:t>
            </a:r>
            <a:r>
              <a:rPr lang="en-US" altLang="zh-CN" sz="3600" b="1">
                <a:solidFill>
                  <a:srgbClr val="1313FF"/>
                </a:solidFill>
                <a:ea typeface="宋体" pitchFamily="2" charset="-122"/>
              </a:rPr>
              <a:t> </a:t>
            </a:r>
            <a:r>
              <a:rPr lang="zh-CN" altLang="en-US" sz="3600" b="1">
                <a:solidFill>
                  <a:srgbClr val="1313FF"/>
                </a:solidFill>
                <a:ea typeface="宋体" pitchFamily="2" charset="-122"/>
              </a:rPr>
              <a:t>极差</a:t>
            </a:r>
            <a:r>
              <a:rPr lang="en-US" altLang="zh-CN" sz="3600" b="1">
                <a:solidFill>
                  <a:srgbClr val="1313FF"/>
                </a:solidFill>
                <a:ea typeface="宋体" pitchFamily="2" charset="-122"/>
              </a:rPr>
              <a:t>(</a:t>
            </a:r>
            <a:r>
              <a:rPr lang="zh-CN" altLang="en-US" sz="3600" b="1">
                <a:solidFill>
                  <a:srgbClr val="1313FF"/>
                </a:solidFill>
                <a:ea typeface="宋体" pitchFamily="2" charset="-122"/>
              </a:rPr>
              <a:t>全距</a:t>
            </a:r>
            <a:r>
              <a:rPr lang="en-US" altLang="zh-CN" sz="3600" b="1">
                <a:solidFill>
                  <a:srgbClr val="1313FF"/>
                </a:solidFill>
                <a:ea typeface="宋体" pitchFamily="2" charset="-122"/>
              </a:rPr>
              <a:t>Range)</a:t>
            </a:r>
            <a:r>
              <a:rPr lang="zh-CN" altLang="en-US" sz="3600" b="1">
                <a:solidFill>
                  <a:srgbClr val="1313FF"/>
                </a:solidFill>
                <a:ea typeface="宋体" pitchFamily="2" charset="-122"/>
              </a:rPr>
              <a:t>：</a:t>
            </a:r>
          </a:p>
          <a:p>
            <a:pPr indent="457200" algn="just">
              <a:lnSpc>
                <a:spcPct val="110000"/>
              </a:lnSpc>
              <a:spcBef>
                <a:spcPct val="20000"/>
              </a:spcBef>
            </a:pPr>
            <a:r>
              <a:rPr lang="zh-CN" altLang="en-US" sz="3600">
                <a:solidFill>
                  <a:srgbClr val="006600"/>
                </a:solidFill>
                <a:ea typeface="宋体" pitchFamily="2" charset="-122"/>
              </a:rPr>
              <a:t>         </a:t>
            </a:r>
            <a:r>
              <a:rPr lang="en-US" altLang="zh-CN" sz="3600">
                <a:solidFill>
                  <a:srgbClr val="006600"/>
                </a:solidFill>
                <a:ea typeface="宋体" pitchFamily="2" charset="-122"/>
              </a:rPr>
              <a:t>R=</a:t>
            </a:r>
            <a:r>
              <a:rPr lang="zh-CN" altLang="en-US" sz="3600">
                <a:solidFill>
                  <a:srgbClr val="006600"/>
                </a:solidFill>
                <a:ea typeface="宋体" pitchFamily="2" charset="-122"/>
              </a:rPr>
              <a:t>最大值</a:t>
            </a:r>
            <a:r>
              <a:rPr lang="en-US" altLang="zh-CN" sz="3600">
                <a:solidFill>
                  <a:srgbClr val="006600"/>
                </a:solidFill>
                <a:ea typeface="宋体" pitchFamily="2" charset="-122"/>
              </a:rPr>
              <a:t>— </a:t>
            </a:r>
            <a:r>
              <a:rPr lang="zh-CN" altLang="en-US" sz="3600">
                <a:solidFill>
                  <a:srgbClr val="006600"/>
                </a:solidFill>
                <a:ea typeface="宋体" pitchFamily="2" charset="-122"/>
              </a:rPr>
              <a:t>最小值</a:t>
            </a:r>
            <a:r>
              <a:rPr lang="zh-CN" altLang="en-US" sz="3600">
                <a:ea typeface="宋体" pitchFamily="2" charset="-122"/>
              </a:rPr>
              <a:t> </a:t>
            </a:r>
          </a:p>
          <a:p>
            <a:pPr indent="457200" algn="just">
              <a:lnSpc>
                <a:spcPct val="110000"/>
              </a:lnSpc>
              <a:spcBef>
                <a:spcPct val="20000"/>
              </a:spcBef>
            </a:pPr>
            <a:r>
              <a:rPr lang="zh-CN" altLang="en-US" sz="3600">
                <a:ea typeface="宋体" pitchFamily="2" charset="-122"/>
              </a:rPr>
              <a:t>对组距数列</a:t>
            </a:r>
            <a:r>
              <a:rPr lang="en-US" altLang="zh-CN" sz="3600">
                <a:ea typeface="宋体" pitchFamily="2" charset="-122"/>
              </a:rPr>
              <a:t>:</a:t>
            </a:r>
          </a:p>
          <a:p>
            <a:pPr indent="457200" algn="just">
              <a:lnSpc>
                <a:spcPct val="110000"/>
              </a:lnSpc>
              <a:spcBef>
                <a:spcPct val="20000"/>
              </a:spcBef>
            </a:pPr>
            <a:r>
              <a:rPr lang="en-US" altLang="zh-CN" sz="3600">
                <a:ea typeface="宋体" pitchFamily="2" charset="-122"/>
              </a:rPr>
              <a:t>         </a:t>
            </a:r>
            <a:r>
              <a:rPr lang="en-US" altLang="zh-CN" sz="3600">
                <a:solidFill>
                  <a:srgbClr val="006600"/>
                </a:solidFill>
                <a:ea typeface="宋体" pitchFamily="2" charset="-122"/>
              </a:rPr>
              <a:t>R</a:t>
            </a:r>
            <a:r>
              <a:rPr lang="en-US" altLang="en-US" b="1"/>
              <a:t>≈</a:t>
            </a:r>
            <a:r>
              <a:rPr lang="zh-CN" altLang="en-US" sz="3600">
                <a:solidFill>
                  <a:srgbClr val="006600"/>
                </a:solidFill>
                <a:ea typeface="宋体" pitchFamily="2" charset="-122"/>
              </a:rPr>
              <a:t>最大组的上限</a:t>
            </a:r>
            <a:r>
              <a:rPr lang="en-US" altLang="zh-CN" sz="3600">
                <a:solidFill>
                  <a:srgbClr val="006600"/>
                </a:solidFill>
                <a:ea typeface="宋体" pitchFamily="2" charset="-122"/>
              </a:rPr>
              <a:t>— </a:t>
            </a:r>
            <a:r>
              <a:rPr lang="zh-CN" altLang="en-US" sz="3600">
                <a:solidFill>
                  <a:srgbClr val="006600"/>
                </a:solidFill>
                <a:ea typeface="宋体" pitchFamily="2" charset="-122"/>
              </a:rPr>
              <a:t>最小组的下限</a:t>
            </a:r>
          </a:p>
          <a:p>
            <a:pPr indent="457200" algn="just">
              <a:lnSpc>
                <a:spcPct val="110000"/>
              </a:lnSpc>
              <a:spcBef>
                <a:spcPct val="20000"/>
              </a:spcBef>
            </a:pPr>
            <a:endParaRPr lang="zh-CN" altLang="en-US" sz="3600">
              <a:ea typeface="宋体" pitchFamily="2" charset="-122"/>
            </a:endParaRPr>
          </a:p>
          <a:p>
            <a:pPr indent="457200" algn="just">
              <a:lnSpc>
                <a:spcPct val="110000"/>
              </a:lnSpc>
              <a:spcBef>
                <a:spcPct val="20000"/>
              </a:spcBef>
            </a:pPr>
            <a:endParaRPr lang="en-US" altLang="zh-CN" sz="3200" b="1">
              <a:solidFill>
                <a:schemeClr val="bg2"/>
              </a:solidFill>
              <a:ea typeface="宋体" pitchFamily="2" charset="-122"/>
            </a:endParaRPr>
          </a:p>
        </p:txBody>
      </p:sp>
      <p:sp>
        <p:nvSpPr>
          <p:cNvPr id="135173" name="Rectangle 12"/>
          <p:cNvSpPr>
            <a:spLocks noGrp="1" noChangeArrowheads="1"/>
          </p:cNvSpPr>
          <p:nvPr>
            <p:ph type="title"/>
          </p:nvPr>
        </p:nvSpPr>
        <p:spPr/>
        <p:txBody>
          <a:bodyPr/>
          <a:lstStyle/>
          <a:p>
            <a:pPr eaLnBrk="1" hangingPunct="1"/>
            <a:r>
              <a:rPr lang="en-US" altLang="zh-CN" dirty="0" smtClean="0">
                <a:solidFill>
                  <a:srgbClr val="1313FF"/>
                </a:solidFill>
              </a:rPr>
              <a:t>3.3.2  </a:t>
            </a:r>
            <a:r>
              <a:rPr lang="zh-CN" altLang="en-US" dirty="0" smtClean="0"/>
              <a:t>极差与四分位差</a:t>
            </a:r>
          </a:p>
        </p:txBody>
      </p:sp>
      <p:sp>
        <p:nvSpPr>
          <p:cNvPr id="140301" name="Rectangle 13"/>
          <p:cNvSpPr>
            <a:spLocks noChangeArrowheads="1"/>
          </p:cNvSpPr>
          <p:nvPr/>
        </p:nvSpPr>
        <p:spPr bwMode="auto">
          <a:xfrm>
            <a:off x="179512" y="4327489"/>
            <a:ext cx="8610600" cy="1963614"/>
          </a:xfrm>
          <a:prstGeom prst="rect">
            <a:avLst/>
          </a:prstGeom>
          <a:noFill/>
          <a:ln w="9525">
            <a:noFill/>
            <a:miter lim="800000"/>
            <a:headEnd/>
            <a:tailEnd/>
          </a:ln>
        </p:spPr>
        <p:txBody>
          <a:bodyPr>
            <a:spAutoFit/>
          </a:bodyPr>
          <a:lstStyle/>
          <a:p>
            <a:pPr indent="457200" algn="just">
              <a:spcBef>
                <a:spcPct val="10000"/>
              </a:spcBef>
            </a:pPr>
            <a:r>
              <a:rPr lang="zh-CN" altLang="en-US" sz="3200" b="1" dirty="0">
                <a:solidFill>
                  <a:srgbClr val="1313FF"/>
                </a:solidFill>
                <a:ea typeface="宋体" pitchFamily="2" charset="-122"/>
              </a:rPr>
              <a:t>极差的优点和局限性</a:t>
            </a:r>
          </a:p>
          <a:p>
            <a:pPr lvl="2" algn="just">
              <a:spcBef>
                <a:spcPct val="10000"/>
              </a:spcBef>
              <a:buFontTx/>
              <a:buChar char="•"/>
            </a:pPr>
            <a:r>
              <a:rPr lang="zh-CN" altLang="en-US" sz="2800" b="1" dirty="0">
                <a:latin typeface="+mn-ea"/>
                <a:ea typeface="+mn-ea"/>
              </a:rPr>
              <a:t>简单</a:t>
            </a:r>
            <a:r>
              <a:rPr lang="en-US" altLang="zh-CN" sz="2800" b="1" dirty="0">
                <a:latin typeface="+mn-ea"/>
                <a:ea typeface="+mn-ea"/>
              </a:rPr>
              <a:t>,</a:t>
            </a:r>
            <a:r>
              <a:rPr lang="zh-CN" altLang="en-US" sz="2800" b="1" dirty="0">
                <a:latin typeface="+mn-ea"/>
                <a:ea typeface="+mn-ea"/>
              </a:rPr>
              <a:t>明确</a:t>
            </a:r>
            <a:r>
              <a:rPr lang="en-US" altLang="zh-CN" sz="2800" b="1" dirty="0" smtClean="0">
                <a:latin typeface="+mn-ea"/>
                <a:ea typeface="+mn-ea"/>
              </a:rPr>
              <a:t>;</a:t>
            </a:r>
          </a:p>
          <a:p>
            <a:pPr lvl="2" algn="just">
              <a:spcBef>
                <a:spcPct val="10000"/>
              </a:spcBef>
              <a:buFontTx/>
              <a:buChar char="•"/>
            </a:pPr>
            <a:r>
              <a:rPr lang="zh-CN" altLang="en-US" sz="2800" b="1" dirty="0" smtClean="0">
                <a:solidFill>
                  <a:srgbClr val="000000"/>
                </a:solidFill>
                <a:latin typeface="+mn-ea"/>
                <a:ea typeface="+mn-ea"/>
              </a:rPr>
              <a:t>易</a:t>
            </a:r>
            <a:r>
              <a:rPr lang="zh-CN" altLang="en-US" sz="2800" b="1" dirty="0">
                <a:solidFill>
                  <a:srgbClr val="000000"/>
                </a:solidFill>
                <a:latin typeface="+mn-ea"/>
                <a:ea typeface="+mn-ea"/>
              </a:rPr>
              <a:t>受极端值</a:t>
            </a:r>
            <a:r>
              <a:rPr lang="zh-CN" altLang="en-US" sz="2800" b="1" dirty="0" smtClean="0">
                <a:solidFill>
                  <a:srgbClr val="000000"/>
                </a:solidFill>
                <a:latin typeface="+mn-ea"/>
                <a:ea typeface="+mn-ea"/>
              </a:rPr>
              <a:t>影响，不能</a:t>
            </a:r>
            <a:r>
              <a:rPr lang="zh-CN" altLang="en-US" sz="2800" b="1" dirty="0">
                <a:solidFill>
                  <a:srgbClr val="000000"/>
                </a:solidFill>
                <a:latin typeface="+mn-ea"/>
                <a:ea typeface="+mn-ea"/>
              </a:rPr>
              <a:t>反映中间变量值</a:t>
            </a:r>
            <a:r>
              <a:rPr lang="zh-CN" altLang="en-US" sz="2800" b="1" dirty="0" smtClean="0">
                <a:solidFill>
                  <a:srgbClr val="000000"/>
                </a:solidFill>
                <a:latin typeface="+mn-ea"/>
                <a:ea typeface="+mn-ea"/>
              </a:rPr>
              <a:t>的差异，不能充分反映数据</a:t>
            </a:r>
            <a:r>
              <a:rPr lang="zh-CN" altLang="en-US" sz="2800" b="1" dirty="0">
                <a:solidFill>
                  <a:srgbClr val="000000"/>
                </a:solidFill>
                <a:latin typeface="+mn-ea"/>
                <a:ea typeface="+mn-ea"/>
              </a:rPr>
              <a:t>的分布</a:t>
            </a: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103</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301"/>
                                        </p:tgtEl>
                                        <p:attrNameLst>
                                          <p:attrName>style.visibility</p:attrName>
                                        </p:attrNameLst>
                                      </p:cBhvr>
                                      <p:to>
                                        <p:strVal val="visible"/>
                                      </p:to>
                                    </p:set>
                                    <p:animEffect transition="in" filter="blinds(horizontal)">
                                      <p:cBhvr>
                                        <p:cTn id="7" dur="500"/>
                                        <p:tgtEl>
                                          <p:spTgt spid="140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01"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BC9F2E0-541E-C814-97D4-0EB6A62FF26F}"/>
              </a:ext>
            </a:extLst>
          </p:cNvPr>
          <p:cNvGrpSpPr>
            <a:grpSpLocks/>
          </p:cNvGrpSpPr>
          <p:nvPr/>
        </p:nvGrpSpPr>
        <p:grpSpPr bwMode="auto">
          <a:xfrm>
            <a:off x="1714500" y="1993727"/>
            <a:ext cx="3028950" cy="771525"/>
            <a:chOff x="1248" y="2400"/>
            <a:chExt cx="2952" cy="1152"/>
          </a:xfrm>
        </p:grpSpPr>
        <p:sp>
          <p:nvSpPr>
            <p:cNvPr id="98316" name="Line 3">
              <a:extLst>
                <a:ext uri="{FF2B5EF4-FFF2-40B4-BE49-F238E27FC236}">
                  <a16:creationId xmlns:a16="http://schemas.microsoft.com/office/drawing/2014/main" id="{406F3E10-4861-5AE6-D5F8-880445157934}"/>
                </a:ext>
              </a:extLst>
            </p:cNvPr>
            <p:cNvSpPr>
              <a:spLocks noChangeShapeType="1"/>
            </p:cNvSpPr>
            <p:nvPr/>
          </p:nvSpPr>
          <p:spPr bwMode="auto">
            <a:xfrm flipV="1">
              <a:off x="1248" y="3552"/>
              <a:ext cx="2952" cy="0"/>
            </a:xfrm>
            <a:prstGeom prst="line">
              <a:avLst/>
            </a:prstGeom>
            <a:noFill/>
            <a:ln w="57150">
              <a:solidFill>
                <a:schemeClr val="tx1"/>
              </a:solidFill>
              <a:round/>
              <a:headEnd/>
              <a:tailEnd type="triangle" w="med" len="me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sp>
          <p:nvSpPr>
            <p:cNvPr id="98317" name="Line 4">
              <a:extLst>
                <a:ext uri="{FF2B5EF4-FFF2-40B4-BE49-F238E27FC236}">
                  <a16:creationId xmlns:a16="http://schemas.microsoft.com/office/drawing/2014/main" id="{E8826C55-5C9A-4CB8-3619-3D299E42E76D}"/>
                </a:ext>
              </a:extLst>
            </p:cNvPr>
            <p:cNvSpPr>
              <a:spLocks noChangeShapeType="1"/>
            </p:cNvSpPr>
            <p:nvPr/>
          </p:nvSpPr>
          <p:spPr bwMode="auto">
            <a:xfrm>
              <a:off x="2640" y="2448"/>
              <a:ext cx="0" cy="1104"/>
            </a:xfrm>
            <a:prstGeom prst="line">
              <a:avLst/>
            </a:prstGeom>
            <a:noFill/>
            <a:ln w="38100">
              <a:solidFill>
                <a:schemeClr val="folHlink"/>
              </a:solidFill>
              <a:prstDash val="dash"/>
              <a:round/>
              <a:headEnd/>
              <a:tailE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sp>
          <p:nvSpPr>
            <p:cNvPr id="98318" name="Line 5">
              <a:extLst>
                <a:ext uri="{FF2B5EF4-FFF2-40B4-BE49-F238E27FC236}">
                  <a16:creationId xmlns:a16="http://schemas.microsoft.com/office/drawing/2014/main" id="{DA249A6C-091D-12EB-18D9-32C80465CBB9}"/>
                </a:ext>
              </a:extLst>
            </p:cNvPr>
            <p:cNvSpPr>
              <a:spLocks noChangeShapeType="1"/>
            </p:cNvSpPr>
            <p:nvPr/>
          </p:nvSpPr>
          <p:spPr bwMode="auto">
            <a:xfrm flipH="1" flipV="1">
              <a:off x="2016" y="3360"/>
              <a:ext cx="1247" cy="0"/>
            </a:xfrm>
            <a:prstGeom prst="line">
              <a:avLst/>
            </a:prstGeom>
            <a:noFill/>
            <a:ln w="19050">
              <a:solidFill>
                <a:schemeClr val="tx1"/>
              </a:solidFill>
              <a:round/>
              <a:headEnd type="arrow" w="med" len="med"/>
              <a:tailEnd type="arrow"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grpSp>
          <p:nvGrpSpPr>
            <p:cNvPr id="98319" name="Group 6">
              <a:extLst>
                <a:ext uri="{FF2B5EF4-FFF2-40B4-BE49-F238E27FC236}">
                  <a16:creationId xmlns:a16="http://schemas.microsoft.com/office/drawing/2014/main" id="{21E1A9B7-56A6-88D5-4A15-9BA783C3D331}"/>
                </a:ext>
              </a:extLst>
            </p:cNvPr>
            <p:cNvGrpSpPr>
              <a:grpSpLocks/>
            </p:cNvGrpSpPr>
            <p:nvPr/>
          </p:nvGrpSpPr>
          <p:grpSpPr bwMode="auto">
            <a:xfrm>
              <a:off x="1344" y="2400"/>
              <a:ext cx="2613" cy="1056"/>
              <a:chOff x="1152" y="2496"/>
              <a:chExt cx="2613" cy="1056"/>
            </a:xfrm>
          </p:grpSpPr>
          <p:sp>
            <p:nvSpPr>
              <p:cNvPr id="98320" name="Freeform 7">
                <a:extLst>
                  <a:ext uri="{FF2B5EF4-FFF2-40B4-BE49-F238E27FC236}">
                    <a16:creationId xmlns:a16="http://schemas.microsoft.com/office/drawing/2014/main" id="{2CE135CB-9BA3-442C-5C1D-B8128D70DB77}"/>
                  </a:ext>
                </a:extLst>
              </p:cNvPr>
              <p:cNvSpPr>
                <a:spLocks/>
              </p:cNvSpPr>
              <p:nvPr/>
            </p:nvSpPr>
            <p:spPr bwMode="auto">
              <a:xfrm>
                <a:off x="2448" y="2496"/>
                <a:ext cx="1317" cy="1038"/>
              </a:xfrm>
              <a:custGeom>
                <a:avLst/>
                <a:gdLst>
                  <a:gd name="T0" fmla="*/ 569 w 570"/>
                  <a:gd name="T1" fmla="*/ 674 h 675"/>
                  <a:gd name="T2" fmla="*/ 508 w 570"/>
                  <a:gd name="T3" fmla="*/ 667 h 675"/>
                  <a:gd name="T4" fmla="*/ 478 w 570"/>
                  <a:gd name="T5" fmla="*/ 659 h 675"/>
                  <a:gd name="T6" fmla="*/ 449 w 570"/>
                  <a:gd name="T7" fmla="*/ 648 h 675"/>
                  <a:gd name="T8" fmla="*/ 419 w 570"/>
                  <a:gd name="T9" fmla="*/ 633 h 675"/>
                  <a:gd name="T10" fmla="*/ 389 w 570"/>
                  <a:gd name="T11" fmla="*/ 612 h 675"/>
                  <a:gd name="T12" fmla="*/ 358 w 570"/>
                  <a:gd name="T13" fmla="*/ 583 h 675"/>
                  <a:gd name="T14" fmla="*/ 300 w 570"/>
                  <a:gd name="T15" fmla="*/ 506 h 675"/>
                  <a:gd name="T16" fmla="*/ 239 w 570"/>
                  <a:gd name="T17" fmla="*/ 396 h 675"/>
                  <a:gd name="T18" fmla="*/ 178 w 570"/>
                  <a:gd name="T19" fmla="*/ 263 h 675"/>
                  <a:gd name="T20" fmla="*/ 150 w 570"/>
                  <a:gd name="T21" fmla="*/ 197 h 675"/>
                  <a:gd name="T22" fmla="*/ 120 w 570"/>
                  <a:gd name="T23" fmla="*/ 133 h 675"/>
                  <a:gd name="T24" fmla="*/ 89 w 570"/>
                  <a:gd name="T25" fmla="*/ 78 h 675"/>
                  <a:gd name="T26" fmla="*/ 59 w 570"/>
                  <a:gd name="T27" fmla="*/ 36 h 675"/>
                  <a:gd name="T28" fmla="*/ 29 w 570"/>
                  <a:gd name="T29" fmla="*/ 10 h 675"/>
                  <a:gd name="T30" fmla="*/ 0 w 570"/>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57150" cap="rnd" cmpd="sng">
                <a:solidFill>
                  <a:schemeClr val="accent2"/>
                </a:solidFill>
                <a:prstDash val="solid"/>
                <a:round/>
                <a:headEnd type="none" w="med" len="med"/>
                <a:tailEnd type="none" w="med" len="med"/>
              </a:ln>
              <a:effectLst>
                <a:outerShdw dist="45791" dir="2021404"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98321" name="Freeform 8">
                <a:extLst>
                  <a:ext uri="{FF2B5EF4-FFF2-40B4-BE49-F238E27FC236}">
                    <a16:creationId xmlns:a16="http://schemas.microsoft.com/office/drawing/2014/main" id="{00067622-6C65-7EC3-FA33-0174A0A0690A}"/>
                  </a:ext>
                </a:extLst>
              </p:cNvPr>
              <p:cNvSpPr>
                <a:spLocks/>
              </p:cNvSpPr>
              <p:nvPr/>
            </p:nvSpPr>
            <p:spPr bwMode="auto">
              <a:xfrm>
                <a:off x="1152" y="2496"/>
                <a:ext cx="1294" cy="1056"/>
              </a:xfrm>
              <a:custGeom>
                <a:avLst/>
                <a:gdLst>
                  <a:gd name="T0" fmla="*/ 0 w 569"/>
                  <a:gd name="T1" fmla="*/ 674 h 675"/>
                  <a:gd name="T2" fmla="*/ 59 w 569"/>
                  <a:gd name="T3" fmla="*/ 667 h 675"/>
                  <a:gd name="T4" fmla="*/ 89 w 569"/>
                  <a:gd name="T5" fmla="*/ 659 h 675"/>
                  <a:gd name="T6" fmla="*/ 120 w 569"/>
                  <a:gd name="T7" fmla="*/ 648 h 675"/>
                  <a:gd name="T8" fmla="*/ 150 w 569"/>
                  <a:gd name="T9" fmla="*/ 633 h 675"/>
                  <a:gd name="T10" fmla="*/ 178 w 569"/>
                  <a:gd name="T11" fmla="*/ 612 h 675"/>
                  <a:gd name="T12" fmla="*/ 209 w 569"/>
                  <a:gd name="T13" fmla="*/ 583 h 675"/>
                  <a:gd name="T14" fmla="*/ 269 w 569"/>
                  <a:gd name="T15" fmla="*/ 506 h 675"/>
                  <a:gd name="T16" fmla="*/ 328 w 569"/>
                  <a:gd name="T17" fmla="*/ 396 h 675"/>
                  <a:gd name="T18" fmla="*/ 389 w 569"/>
                  <a:gd name="T19" fmla="*/ 263 h 675"/>
                  <a:gd name="T20" fmla="*/ 419 w 569"/>
                  <a:gd name="T21" fmla="*/ 197 h 675"/>
                  <a:gd name="T22" fmla="*/ 449 w 569"/>
                  <a:gd name="T23" fmla="*/ 133 h 675"/>
                  <a:gd name="T24" fmla="*/ 478 w 569"/>
                  <a:gd name="T25" fmla="*/ 78 h 675"/>
                  <a:gd name="T26" fmla="*/ 508 w 569"/>
                  <a:gd name="T27" fmla="*/ 36 h 675"/>
                  <a:gd name="T28" fmla="*/ 538 w 569"/>
                  <a:gd name="T29" fmla="*/ 10 h 675"/>
                  <a:gd name="T30" fmla="*/ 568 w 569"/>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57150" cap="rnd" cmpd="sng">
                <a:solidFill>
                  <a:schemeClr val="accent2"/>
                </a:solidFill>
                <a:prstDash val="solid"/>
                <a:round/>
                <a:headEnd type="none" w="med" len="med"/>
                <a:tailEnd type="none" w="med" len="med"/>
              </a:ln>
              <a:effectLst>
                <a:outerShdw dist="28398" dir="6993903"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sz="1800"/>
              </a:p>
            </p:txBody>
          </p:sp>
        </p:grpSp>
      </p:grpSp>
      <p:grpSp>
        <p:nvGrpSpPr>
          <p:cNvPr id="4" name="Group 9">
            <a:extLst>
              <a:ext uri="{FF2B5EF4-FFF2-40B4-BE49-F238E27FC236}">
                <a16:creationId xmlns:a16="http://schemas.microsoft.com/office/drawing/2014/main" id="{B3756EA7-2C48-B260-61E8-840C56F4DDB7}"/>
              </a:ext>
            </a:extLst>
          </p:cNvPr>
          <p:cNvGrpSpPr>
            <a:grpSpLocks/>
          </p:cNvGrpSpPr>
          <p:nvPr/>
        </p:nvGrpSpPr>
        <p:grpSpPr bwMode="auto">
          <a:xfrm>
            <a:off x="1628775" y="3558209"/>
            <a:ext cx="3200400" cy="2114550"/>
            <a:chOff x="1248" y="2400"/>
            <a:chExt cx="2952" cy="1152"/>
          </a:xfrm>
        </p:grpSpPr>
        <p:sp>
          <p:nvSpPr>
            <p:cNvPr id="98310" name="Line 10">
              <a:extLst>
                <a:ext uri="{FF2B5EF4-FFF2-40B4-BE49-F238E27FC236}">
                  <a16:creationId xmlns:a16="http://schemas.microsoft.com/office/drawing/2014/main" id="{C4FB1B56-853E-7B0B-F75D-29C0C37A40D9}"/>
                </a:ext>
              </a:extLst>
            </p:cNvPr>
            <p:cNvSpPr>
              <a:spLocks noChangeShapeType="1"/>
            </p:cNvSpPr>
            <p:nvPr/>
          </p:nvSpPr>
          <p:spPr bwMode="auto">
            <a:xfrm flipV="1">
              <a:off x="1248" y="3552"/>
              <a:ext cx="2952" cy="0"/>
            </a:xfrm>
            <a:prstGeom prst="line">
              <a:avLst/>
            </a:prstGeom>
            <a:noFill/>
            <a:ln w="57150">
              <a:solidFill>
                <a:schemeClr val="tx1"/>
              </a:solidFill>
              <a:round/>
              <a:headEnd/>
              <a:tailEnd type="triangle" w="med" len="me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sp>
          <p:nvSpPr>
            <p:cNvPr id="98311" name="Line 11">
              <a:extLst>
                <a:ext uri="{FF2B5EF4-FFF2-40B4-BE49-F238E27FC236}">
                  <a16:creationId xmlns:a16="http://schemas.microsoft.com/office/drawing/2014/main" id="{ABB469B8-CB98-54E9-F7D1-962696767A81}"/>
                </a:ext>
              </a:extLst>
            </p:cNvPr>
            <p:cNvSpPr>
              <a:spLocks noChangeShapeType="1"/>
            </p:cNvSpPr>
            <p:nvPr/>
          </p:nvSpPr>
          <p:spPr bwMode="auto">
            <a:xfrm>
              <a:off x="2641" y="2448"/>
              <a:ext cx="0" cy="1104"/>
            </a:xfrm>
            <a:prstGeom prst="line">
              <a:avLst/>
            </a:prstGeom>
            <a:noFill/>
            <a:ln w="38100">
              <a:solidFill>
                <a:schemeClr val="folHlink"/>
              </a:solidFill>
              <a:prstDash val="dash"/>
              <a:round/>
              <a:headEnd/>
              <a:tailE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sp>
          <p:nvSpPr>
            <p:cNvPr id="98312" name="Line 12">
              <a:extLst>
                <a:ext uri="{FF2B5EF4-FFF2-40B4-BE49-F238E27FC236}">
                  <a16:creationId xmlns:a16="http://schemas.microsoft.com/office/drawing/2014/main" id="{7B169A4A-E877-2C5B-0B6D-40CB6CD5D258}"/>
                </a:ext>
              </a:extLst>
            </p:cNvPr>
            <p:cNvSpPr>
              <a:spLocks noChangeShapeType="1"/>
            </p:cNvSpPr>
            <p:nvPr/>
          </p:nvSpPr>
          <p:spPr bwMode="auto">
            <a:xfrm flipH="1" flipV="1">
              <a:off x="2016" y="3360"/>
              <a:ext cx="1250" cy="0"/>
            </a:xfrm>
            <a:prstGeom prst="line">
              <a:avLst/>
            </a:prstGeom>
            <a:noFill/>
            <a:ln w="19050">
              <a:solidFill>
                <a:schemeClr val="tx1"/>
              </a:solidFill>
              <a:round/>
              <a:headEnd type="arrow" w="med" len="med"/>
              <a:tailEnd type="arrow"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800"/>
            </a:p>
          </p:txBody>
        </p:sp>
        <p:grpSp>
          <p:nvGrpSpPr>
            <p:cNvPr id="98313" name="Group 13">
              <a:extLst>
                <a:ext uri="{FF2B5EF4-FFF2-40B4-BE49-F238E27FC236}">
                  <a16:creationId xmlns:a16="http://schemas.microsoft.com/office/drawing/2014/main" id="{7A29E2B2-F4ED-0D75-FAAE-00CA0BF3E03C}"/>
                </a:ext>
              </a:extLst>
            </p:cNvPr>
            <p:cNvGrpSpPr>
              <a:grpSpLocks/>
            </p:cNvGrpSpPr>
            <p:nvPr/>
          </p:nvGrpSpPr>
          <p:grpSpPr bwMode="auto">
            <a:xfrm>
              <a:off x="1344" y="2400"/>
              <a:ext cx="2613" cy="1056"/>
              <a:chOff x="1152" y="2496"/>
              <a:chExt cx="2613" cy="1056"/>
            </a:xfrm>
          </p:grpSpPr>
          <p:sp>
            <p:nvSpPr>
              <p:cNvPr id="98314" name="Freeform 14">
                <a:extLst>
                  <a:ext uri="{FF2B5EF4-FFF2-40B4-BE49-F238E27FC236}">
                    <a16:creationId xmlns:a16="http://schemas.microsoft.com/office/drawing/2014/main" id="{FFD3D6A1-233F-098A-A518-99BC02DD525C}"/>
                  </a:ext>
                </a:extLst>
              </p:cNvPr>
              <p:cNvSpPr>
                <a:spLocks/>
              </p:cNvSpPr>
              <p:nvPr/>
            </p:nvSpPr>
            <p:spPr bwMode="auto">
              <a:xfrm>
                <a:off x="2447" y="2496"/>
                <a:ext cx="1318" cy="1038"/>
              </a:xfrm>
              <a:custGeom>
                <a:avLst/>
                <a:gdLst>
                  <a:gd name="T0" fmla="*/ 569 w 570"/>
                  <a:gd name="T1" fmla="*/ 674 h 675"/>
                  <a:gd name="T2" fmla="*/ 508 w 570"/>
                  <a:gd name="T3" fmla="*/ 667 h 675"/>
                  <a:gd name="T4" fmla="*/ 478 w 570"/>
                  <a:gd name="T5" fmla="*/ 659 h 675"/>
                  <a:gd name="T6" fmla="*/ 449 w 570"/>
                  <a:gd name="T7" fmla="*/ 648 h 675"/>
                  <a:gd name="T8" fmla="*/ 419 w 570"/>
                  <a:gd name="T9" fmla="*/ 633 h 675"/>
                  <a:gd name="T10" fmla="*/ 389 w 570"/>
                  <a:gd name="T11" fmla="*/ 612 h 675"/>
                  <a:gd name="T12" fmla="*/ 358 w 570"/>
                  <a:gd name="T13" fmla="*/ 583 h 675"/>
                  <a:gd name="T14" fmla="*/ 300 w 570"/>
                  <a:gd name="T15" fmla="*/ 506 h 675"/>
                  <a:gd name="T16" fmla="*/ 239 w 570"/>
                  <a:gd name="T17" fmla="*/ 396 h 675"/>
                  <a:gd name="T18" fmla="*/ 178 w 570"/>
                  <a:gd name="T19" fmla="*/ 263 h 675"/>
                  <a:gd name="T20" fmla="*/ 150 w 570"/>
                  <a:gd name="T21" fmla="*/ 197 h 675"/>
                  <a:gd name="T22" fmla="*/ 120 w 570"/>
                  <a:gd name="T23" fmla="*/ 133 h 675"/>
                  <a:gd name="T24" fmla="*/ 89 w 570"/>
                  <a:gd name="T25" fmla="*/ 78 h 675"/>
                  <a:gd name="T26" fmla="*/ 59 w 570"/>
                  <a:gd name="T27" fmla="*/ 36 h 675"/>
                  <a:gd name="T28" fmla="*/ 29 w 570"/>
                  <a:gd name="T29" fmla="*/ 10 h 675"/>
                  <a:gd name="T30" fmla="*/ 0 w 570"/>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57150" cap="rnd" cmpd="sng">
                <a:solidFill>
                  <a:schemeClr val="accent2"/>
                </a:solidFill>
                <a:prstDash val="solid"/>
                <a:round/>
                <a:headEnd type="none" w="med" len="med"/>
                <a:tailEnd type="none" w="med" len="med"/>
              </a:ln>
              <a:effectLst>
                <a:outerShdw dist="45791" dir="2021404"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98315" name="Freeform 15">
                <a:extLst>
                  <a:ext uri="{FF2B5EF4-FFF2-40B4-BE49-F238E27FC236}">
                    <a16:creationId xmlns:a16="http://schemas.microsoft.com/office/drawing/2014/main" id="{FD10C1D1-109D-579C-F26E-EA880F1C598E}"/>
                  </a:ext>
                </a:extLst>
              </p:cNvPr>
              <p:cNvSpPr>
                <a:spLocks/>
              </p:cNvSpPr>
              <p:nvPr/>
            </p:nvSpPr>
            <p:spPr bwMode="auto">
              <a:xfrm>
                <a:off x="1152" y="2496"/>
                <a:ext cx="1296" cy="1056"/>
              </a:xfrm>
              <a:custGeom>
                <a:avLst/>
                <a:gdLst>
                  <a:gd name="T0" fmla="*/ 0 w 569"/>
                  <a:gd name="T1" fmla="*/ 674 h 675"/>
                  <a:gd name="T2" fmla="*/ 59 w 569"/>
                  <a:gd name="T3" fmla="*/ 667 h 675"/>
                  <a:gd name="T4" fmla="*/ 89 w 569"/>
                  <a:gd name="T5" fmla="*/ 659 h 675"/>
                  <a:gd name="T6" fmla="*/ 120 w 569"/>
                  <a:gd name="T7" fmla="*/ 648 h 675"/>
                  <a:gd name="T8" fmla="*/ 150 w 569"/>
                  <a:gd name="T9" fmla="*/ 633 h 675"/>
                  <a:gd name="T10" fmla="*/ 178 w 569"/>
                  <a:gd name="T11" fmla="*/ 612 h 675"/>
                  <a:gd name="T12" fmla="*/ 209 w 569"/>
                  <a:gd name="T13" fmla="*/ 583 h 675"/>
                  <a:gd name="T14" fmla="*/ 269 w 569"/>
                  <a:gd name="T15" fmla="*/ 506 h 675"/>
                  <a:gd name="T16" fmla="*/ 328 w 569"/>
                  <a:gd name="T17" fmla="*/ 396 h 675"/>
                  <a:gd name="T18" fmla="*/ 389 w 569"/>
                  <a:gd name="T19" fmla="*/ 263 h 675"/>
                  <a:gd name="T20" fmla="*/ 419 w 569"/>
                  <a:gd name="T21" fmla="*/ 197 h 675"/>
                  <a:gd name="T22" fmla="*/ 449 w 569"/>
                  <a:gd name="T23" fmla="*/ 133 h 675"/>
                  <a:gd name="T24" fmla="*/ 478 w 569"/>
                  <a:gd name="T25" fmla="*/ 78 h 675"/>
                  <a:gd name="T26" fmla="*/ 508 w 569"/>
                  <a:gd name="T27" fmla="*/ 36 h 675"/>
                  <a:gd name="T28" fmla="*/ 538 w 569"/>
                  <a:gd name="T29" fmla="*/ 10 h 675"/>
                  <a:gd name="T30" fmla="*/ 568 w 569"/>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57150" cap="rnd" cmpd="sng">
                <a:solidFill>
                  <a:schemeClr val="accent2"/>
                </a:solidFill>
                <a:prstDash val="solid"/>
                <a:round/>
                <a:headEnd type="none" w="med" len="med"/>
                <a:tailEnd type="none" w="med" len="med"/>
              </a:ln>
              <a:effectLst>
                <a:outerShdw dist="28398" dir="6993903"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sz="1800"/>
              </a:p>
            </p:txBody>
          </p:sp>
        </p:grpSp>
      </p:grpSp>
      <p:sp>
        <p:nvSpPr>
          <p:cNvPr id="403472" name="Rectangle 16">
            <a:extLst>
              <a:ext uri="{FF2B5EF4-FFF2-40B4-BE49-F238E27FC236}">
                <a16:creationId xmlns:a16="http://schemas.microsoft.com/office/drawing/2014/main" id="{B3BA9648-6879-EA02-D9CA-A691A1C31F16}"/>
              </a:ext>
            </a:extLst>
          </p:cNvPr>
          <p:cNvSpPr>
            <a:spLocks noChangeArrowheads="1"/>
          </p:cNvSpPr>
          <p:nvPr/>
        </p:nvSpPr>
        <p:spPr bwMode="auto">
          <a:xfrm>
            <a:off x="827584" y="840975"/>
            <a:ext cx="6316153" cy="540725"/>
          </a:xfrm>
          <a:prstGeom prst="rect">
            <a:avLst/>
          </a:prstGeom>
          <a:noFill/>
          <a:ln w="9525">
            <a:noFill/>
            <a:miter lim="800000"/>
            <a:headEnd/>
            <a:tailEnd/>
          </a:ln>
          <a:effec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
                <a:srgbClr val="CCFF33"/>
              </a:buClr>
            </a:pPr>
            <a:r>
              <a:rPr lang="zh-CN" altLang="en-US" sz="2800" dirty="0" smtClean="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极差（全距）是</a:t>
            </a:r>
            <a:r>
              <a:rPr lang="zh-CN" altLang="en-US" sz="28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数据离势的不敏感量度</a:t>
            </a:r>
          </a:p>
        </p:txBody>
      </p:sp>
      <p:sp>
        <p:nvSpPr>
          <p:cNvPr id="403473" name="Rectangle 17">
            <a:extLst>
              <a:ext uri="{FF2B5EF4-FFF2-40B4-BE49-F238E27FC236}">
                <a16:creationId xmlns:a16="http://schemas.microsoft.com/office/drawing/2014/main" id="{8343A40D-DC96-18AE-1AC8-C21BD17C6B6A}"/>
              </a:ext>
            </a:extLst>
          </p:cNvPr>
          <p:cNvSpPr>
            <a:spLocks noChangeArrowheads="1"/>
          </p:cNvSpPr>
          <p:nvPr/>
        </p:nvSpPr>
        <p:spPr bwMode="auto">
          <a:xfrm>
            <a:off x="5518693" y="1414460"/>
            <a:ext cx="2675335" cy="4982518"/>
          </a:xfrm>
          <a:prstGeom prst="rect">
            <a:avLst/>
          </a:prstGeom>
          <a:noFill/>
          <a:ln w="9525">
            <a:noFill/>
            <a:miter lim="800000"/>
            <a:headEnd/>
            <a:tailEnd/>
          </a:ln>
          <a:effec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pPr>
            <a:r>
              <a:rPr lang="zh-CN" altLang="en-US" dirty="0" smtClean="0">
                <a:effectLst>
                  <a:outerShdw blurRad="38100" dist="38100" dir="2700000" algn="tl">
                    <a:srgbClr val="C0C0C0"/>
                  </a:outerShdw>
                </a:effectLst>
                <a:latin typeface="黑体" panose="02010609060101010101" pitchFamily="49" charset="-122"/>
                <a:ea typeface="黑体" panose="02010609060101010101" pitchFamily="49" charset="-122"/>
              </a:rPr>
              <a:t>全距</a:t>
            </a:r>
            <a:r>
              <a:rPr lang="zh-CN" altLang="en-US" dirty="0">
                <a:effectLst>
                  <a:outerShdw blurRad="38100" dist="38100" dir="2700000" algn="tl">
                    <a:srgbClr val="C0C0C0"/>
                  </a:outerShdw>
                </a:effectLst>
                <a:latin typeface="黑体" panose="02010609060101010101" pitchFamily="49" charset="-122"/>
                <a:ea typeface="黑体" panose="02010609060101010101" pitchFamily="49" charset="-122"/>
              </a:rPr>
              <a:t>信息含量</a:t>
            </a:r>
            <a:r>
              <a:rPr lang="zh-CN" altLang="en-US" dirty="0" smtClean="0">
                <a:effectLst>
                  <a:outerShdw blurRad="38100" dist="38100" dir="2700000" algn="tl">
                    <a:srgbClr val="C0C0C0"/>
                  </a:outerShdw>
                </a:effectLst>
                <a:latin typeface="黑体" panose="02010609060101010101" pitchFamily="49" charset="-122"/>
                <a:ea typeface="黑体" panose="02010609060101010101" pitchFamily="49" charset="-122"/>
              </a:rPr>
              <a:t>不大，</a:t>
            </a:r>
            <a:endParaRPr lang="zh-CN" altLang="en-US" dirty="0">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20000"/>
              </a:lnSpc>
              <a:spcBef>
                <a:spcPct val="20000"/>
              </a:spcBef>
            </a:pPr>
            <a:r>
              <a:rPr lang="zh-CN" altLang="en-US" dirty="0">
                <a:effectLst>
                  <a:outerShdw blurRad="38100" dist="38100" dir="2700000" algn="tl">
                    <a:srgbClr val="C0C0C0"/>
                  </a:outerShdw>
                </a:effectLst>
                <a:latin typeface="黑体" panose="02010609060101010101" pitchFamily="49" charset="-122"/>
                <a:ea typeface="黑体" panose="02010609060101010101" pitchFamily="49" charset="-122"/>
              </a:rPr>
              <a:t>全距只是量化了数据集中最大最小两个极端值之间距离，反映不出所有测量值对于中心的离散程度。但由于计算简便，常用来检查产品质量的稳定性和进行质量控制，如</a:t>
            </a:r>
            <a:r>
              <a:rPr lang="zh-CN" altLang="en-US" dirty="0">
                <a:solidFill>
                  <a:srgbClr val="7030A0"/>
                </a:solidFill>
                <a:effectLst>
                  <a:outerShdw blurRad="38100" dist="38100" dir="2700000" algn="tl">
                    <a:srgbClr val="C0C0C0"/>
                  </a:outerShdw>
                </a:effectLst>
                <a:latin typeface="黑体" panose="02010609060101010101" pitchFamily="49" charset="-122"/>
                <a:ea typeface="黑体" panose="02010609060101010101" pitchFamily="49" charset="-122"/>
              </a:rPr>
              <a:t>极差控制图</a:t>
            </a:r>
            <a:r>
              <a:rPr lang="zh-CN" altLang="en-US"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9756243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03472"/>
                                        </p:tgtEl>
                                        <p:attrNameLst>
                                          <p:attrName>style.visibility</p:attrName>
                                        </p:attrNameLst>
                                      </p:cBhvr>
                                      <p:to>
                                        <p:strVal val="visible"/>
                                      </p:to>
                                    </p:set>
                                    <p:anim calcmode="lin" valueType="num">
                                      <p:cBhvr additive="base">
                                        <p:cTn id="12" dur="500" fill="hold"/>
                                        <p:tgtEl>
                                          <p:spTgt spid="403472"/>
                                        </p:tgtEl>
                                        <p:attrNameLst>
                                          <p:attrName>ppt_x</p:attrName>
                                        </p:attrNameLst>
                                      </p:cBhvr>
                                      <p:tavLst>
                                        <p:tav tm="0">
                                          <p:val>
                                            <p:strVal val="#ppt_x"/>
                                          </p:val>
                                        </p:tav>
                                        <p:tav tm="100000">
                                          <p:val>
                                            <p:strVal val="#ppt_x"/>
                                          </p:val>
                                        </p:tav>
                                      </p:tavLst>
                                    </p:anim>
                                    <p:anim calcmode="lin" valueType="num">
                                      <p:cBhvr additive="base">
                                        <p:cTn id="13" dur="500" fill="hold"/>
                                        <p:tgtEl>
                                          <p:spTgt spid="40347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subTnLst>
                                    <p:audio>
                                      <p:cMediaNode>
                                        <p:cTn display="0" masterRel="sameClick">
                                          <p:stCondLst>
                                            <p:cond evt="begin" delay="0">
                                              <p:tn val="16"/>
                                            </p:cond>
                                          </p:stCondLst>
                                          <p:endCondLst>
                                            <p:cond evt="onStopAudio" delay="0">
                                              <p:tgtEl>
                                                <p:sldTgt/>
                                              </p:tgtEl>
                                            </p:cond>
                                          </p:endCondLst>
                                        </p:cTn>
                                        <p:tgtEl>
                                          <p:sndTgt r:embed="rId2" name="whoo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13" presetClass="entr" presetSubtype="16" fill="hold" nodeType="clickEffect">
                                  <p:stCondLst>
                                    <p:cond delay="0"/>
                                  </p:stCondLst>
                                  <p:childTnLst>
                                    <p:set>
                                      <p:cBhvr>
                                        <p:cTn id="22" dur="1" fill="hold">
                                          <p:stCondLst>
                                            <p:cond delay="0"/>
                                          </p:stCondLst>
                                        </p:cTn>
                                        <p:tgtEl>
                                          <p:spTgt spid="403473"/>
                                        </p:tgtEl>
                                        <p:attrNameLst>
                                          <p:attrName>style.visibility</p:attrName>
                                        </p:attrNameLst>
                                      </p:cBhvr>
                                      <p:to>
                                        <p:strVal val="visible"/>
                                      </p:to>
                                    </p:set>
                                    <p:animEffect transition="in" filter="plus(in)">
                                      <p:cBhvr>
                                        <p:cTn id="23" dur="2000"/>
                                        <p:tgtEl>
                                          <p:spTgt spid="403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72" grpId="0" autoUpdateAnimBg="0"/>
      <p:bldP spid="40347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3"/>
          <p:cNvSpPr>
            <a:spLocks noChangeArrowheads="1"/>
          </p:cNvSpPr>
          <p:nvPr/>
        </p:nvSpPr>
        <p:spPr bwMode="auto">
          <a:xfrm>
            <a:off x="250825" y="1484313"/>
            <a:ext cx="8610600" cy="1962150"/>
          </a:xfrm>
          <a:prstGeom prst="rect">
            <a:avLst/>
          </a:prstGeom>
          <a:noFill/>
          <a:ln w="9525">
            <a:noFill/>
            <a:miter lim="800000"/>
            <a:headEnd/>
            <a:tailEnd/>
          </a:ln>
        </p:spPr>
        <p:txBody>
          <a:bodyPr>
            <a:spAutoFit/>
          </a:bodyPr>
          <a:lstStyle/>
          <a:p>
            <a:pPr indent="457200" algn="just">
              <a:lnSpc>
                <a:spcPct val="105000"/>
              </a:lnSpc>
              <a:spcBef>
                <a:spcPct val="20000"/>
              </a:spcBef>
            </a:pPr>
            <a:r>
              <a:rPr lang="en-US" altLang="zh-CN" sz="3600" b="1">
                <a:solidFill>
                  <a:srgbClr val="1313FF"/>
                </a:solidFill>
                <a:ea typeface="宋体" pitchFamily="2" charset="-122"/>
              </a:rPr>
              <a:t>2.</a:t>
            </a:r>
            <a:r>
              <a:rPr lang="zh-CN" altLang="en-US" sz="3600" b="1">
                <a:solidFill>
                  <a:srgbClr val="1313FF"/>
                </a:solidFill>
                <a:ea typeface="宋体" pitchFamily="2" charset="-122"/>
              </a:rPr>
              <a:t>四分位差（</a:t>
            </a:r>
            <a:r>
              <a:rPr lang="en-US" altLang="en-US" sz="3600" b="1">
                <a:solidFill>
                  <a:srgbClr val="1313FF"/>
                </a:solidFill>
                <a:ea typeface="宋体" pitchFamily="2" charset="-122"/>
              </a:rPr>
              <a:t>也称为内距或四分间距</a:t>
            </a:r>
            <a:r>
              <a:rPr lang="zh-CN" altLang="en-US" sz="3600" b="1">
                <a:solidFill>
                  <a:srgbClr val="1313FF"/>
                </a:solidFill>
                <a:ea typeface="宋体" pitchFamily="2" charset="-122"/>
              </a:rPr>
              <a:t>）</a:t>
            </a:r>
          </a:p>
          <a:p>
            <a:pPr indent="457200" algn="just">
              <a:lnSpc>
                <a:spcPct val="105000"/>
              </a:lnSpc>
              <a:spcBef>
                <a:spcPct val="20000"/>
              </a:spcBef>
            </a:pPr>
            <a:r>
              <a:rPr lang="zh-CN" altLang="en-US" sz="3600">
                <a:solidFill>
                  <a:srgbClr val="006600"/>
                </a:solidFill>
                <a:ea typeface="宋体" pitchFamily="2" charset="-122"/>
              </a:rPr>
              <a:t>   </a:t>
            </a:r>
            <a:r>
              <a:rPr lang="en-US" altLang="zh-CN" sz="3600">
                <a:solidFill>
                  <a:srgbClr val="006600"/>
                </a:solidFill>
                <a:ea typeface="宋体" pitchFamily="2" charset="-122"/>
              </a:rPr>
              <a:t>—</a:t>
            </a:r>
            <a:r>
              <a:rPr lang="en-US" altLang="en-US" sz="2800">
                <a:solidFill>
                  <a:srgbClr val="000000"/>
                </a:solidFill>
                <a:ea typeface="宋体" pitchFamily="2" charset="-122"/>
              </a:rPr>
              <a:t>上四分位数与下四分位数之差</a:t>
            </a:r>
            <a:r>
              <a:rPr lang="en-US" altLang="en-US" sz="2800">
                <a:ea typeface="宋体" pitchFamily="2" charset="-122"/>
              </a:rPr>
              <a:t>，用</a:t>
            </a:r>
            <a:r>
              <a:rPr lang="zh-CN" altLang="en-US" sz="2800">
                <a:ea typeface="宋体" pitchFamily="2" charset="-122"/>
              </a:rPr>
              <a:t>      </a:t>
            </a:r>
            <a:r>
              <a:rPr lang="en-US" altLang="en-US" sz="2800">
                <a:ea typeface="宋体" pitchFamily="2" charset="-122"/>
              </a:rPr>
              <a:t> 表示:</a:t>
            </a:r>
            <a:endParaRPr lang="en-US" altLang="zh-CN" sz="2800">
              <a:ea typeface="宋体" pitchFamily="2" charset="-122"/>
            </a:endParaRPr>
          </a:p>
          <a:p>
            <a:pPr indent="457200" algn="just">
              <a:lnSpc>
                <a:spcPct val="105000"/>
              </a:lnSpc>
              <a:spcBef>
                <a:spcPct val="20000"/>
              </a:spcBef>
            </a:pPr>
            <a:endParaRPr lang="en-US" altLang="zh-CN" sz="3200" b="1">
              <a:solidFill>
                <a:schemeClr val="bg2"/>
              </a:solidFill>
              <a:ea typeface="宋体" pitchFamily="2" charset="-122"/>
            </a:endParaRPr>
          </a:p>
        </p:txBody>
      </p:sp>
      <p:sp>
        <p:nvSpPr>
          <p:cNvPr id="38918" name="Rectangle 4"/>
          <p:cNvSpPr>
            <a:spLocks noGrp="1" noChangeArrowheads="1"/>
          </p:cNvSpPr>
          <p:nvPr>
            <p:ph type="title"/>
          </p:nvPr>
        </p:nvSpPr>
        <p:spPr>
          <a:xfrm>
            <a:off x="684213" y="260350"/>
            <a:ext cx="8208962" cy="990600"/>
          </a:xfrm>
        </p:spPr>
        <p:txBody>
          <a:bodyPr/>
          <a:lstStyle/>
          <a:p>
            <a:pPr eaLnBrk="1" hangingPunct="1"/>
            <a:r>
              <a:rPr lang="en-US" altLang="zh-CN" dirty="0" smtClean="0">
                <a:solidFill>
                  <a:srgbClr val="1313FF"/>
                </a:solidFill>
              </a:rPr>
              <a:t>3.3.2  </a:t>
            </a:r>
            <a:r>
              <a:rPr lang="zh-CN" altLang="en-US" dirty="0" smtClean="0"/>
              <a:t>极差与四分位差（续）</a:t>
            </a:r>
          </a:p>
        </p:txBody>
      </p:sp>
      <p:sp>
        <p:nvSpPr>
          <p:cNvPr id="627717" name="Rectangle 5"/>
          <p:cNvSpPr>
            <a:spLocks noChangeArrowheads="1"/>
          </p:cNvSpPr>
          <p:nvPr/>
        </p:nvSpPr>
        <p:spPr bwMode="auto">
          <a:xfrm>
            <a:off x="755650" y="4031933"/>
            <a:ext cx="7632700" cy="1988237"/>
          </a:xfrm>
          <a:prstGeom prst="rect">
            <a:avLst/>
          </a:prstGeom>
          <a:noFill/>
          <a:ln w="9525">
            <a:noFill/>
            <a:miter lim="800000"/>
            <a:headEnd/>
            <a:tailEnd/>
          </a:ln>
        </p:spPr>
        <p:txBody>
          <a:bodyPr>
            <a:spAutoFit/>
          </a:bodyPr>
          <a:lstStyle/>
          <a:p>
            <a:pPr indent="457200">
              <a:spcBef>
                <a:spcPct val="20000"/>
              </a:spcBef>
              <a:buFontTx/>
              <a:buChar char="•"/>
            </a:pPr>
            <a:r>
              <a:rPr lang="zh-CN" altLang="en-US" sz="2800" b="1" dirty="0"/>
              <a:t>四分位差反映了中间</a:t>
            </a:r>
            <a:r>
              <a:rPr lang="en-US" altLang="zh-CN" sz="2800" b="1" dirty="0"/>
              <a:t>50%</a:t>
            </a:r>
            <a:r>
              <a:rPr lang="zh-CN" altLang="en-US" sz="2800" b="1" dirty="0"/>
              <a:t>数据的离散程度</a:t>
            </a:r>
          </a:p>
          <a:p>
            <a:pPr lvl="1">
              <a:spcBef>
                <a:spcPct val="20000"/>
              </a:spcBef>
              <a:buFontTx/>
              <a:buChar char="•"/>
            </a:pPr>
            <a:r>
              <a:rPr lang="zh-CN" altLang="en-US" sz="2800" b="1" dirty="0">
                <a:solidFill>
                  <a:srgbClr val="006600"/>
                </a:solidFill>
                <a:latin typeface="等线" panose="02010600030101010101" pitchFamily="2" charset="-122"/>
                <a:ea typeface="等线" panose="02010600030101010101" pitchFamily="2" charset="-122"/>
              </a:rPr>
              <a:t>其数值越小，说明中间数据越集中，一定程度上也说明了中位数对一组数据的代表程度。</a:t>
            </a:r>
          </a:p>
          <a:p>
            <a:pPr indent="457200">
              <a:spcBef>
                <a:spcPct val="20000"/>
              </a:spcBef>
              <a:buFontTx/>
              <a:buChar char="•"/>
            </a:pPr>
            <a:r>
              <a:rPr lang="zh-CN" altLang="en-US" sz="2800" b="1" dirty="0"/>
              <a:t>不受极值的影响</a:t>
            </a:r>
            <a:r>
              <a:rPr lang="zh-CN" altLang="en-US" sz="2800" b="1" dirty="0" smtClean="0"/>
              <a:t>。</a:t>
            </a:r>
            <a:endParaRPr lang="zh-CN" altLang="en-US" sz="2800" b="1" dirty="0"/>
          </a:p>
        </p:txBody>
      </p:sp>
      <p:sp>
        <p:nvSpPr>
          <p:cNvPr id="38920" name="Rectangle 7"/>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8914" name="Object 6"/>
          <p:cNvGraphicFramePr>
            <a:graphicFrameLocks noChangeAspect="1"/>
          </p:cNvGraphicFramePr>
          <p:nvPr/>
        </p:nvGraphicFramePr>
        <p:xfrm>
          <a:off x="7019925" y="2205038"/>
          <a:ext cx="504825" cy="504825"/>
        </p:xfrm>
        <a:graphic>
          <a:graphicData uri="http://schemas.openxmlformats.org/presentationml/2006/ole">
            <mc:AlternateContent xmlns:mc="http://schemas.openxmlformats.org/markup-compatibility/2006">
              <mc:Choice xmlns:v="urn:schemas-microsoft-com:vml" Requires="v">
                <p:oleObj spid="_x0000_s39270" name="Equation" r:id="rId4" imgW="215619" imgH="215619" progId="Equation.DSMT4">
                  <p:embed/>
                </p:oleObj>
              </mc:Choice>
              <mc:Fallback>
                <p:oleObj name="Equation" r:id="rId4" imgW="215619" imgH="21561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9925" y="2205038"/>
                        <a:ext cx="5048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8915" name="Object 8"/>
          <p:cNvGraphicFramePr>
            <a:graphicFrameLocks noChangeAspect="1"/>
          </p:cNvGraphicFramePr>
          <p:nvPr/>
        </p:nvGraphicFramePr>
        <p:xfrm>
          <a:off x="1835150" y="2817813"/>
          <a:ext cx="2665413" cy="695325"/>
        </p:xfrm>
        <a:graphic>
          <a:graphicData uri="http://schemas.openxmlformats.org/presentationml/2006/ole">
            <mc:AlternateContent xmlns:mc="http://schemas.openxmlformats.org/markup-compatibility/2006">
              <mc:Choice xmlns:v="urn:schemas-microsoft-com:vml" Requires="v">
                <p:oleObj spid="_x0000_s39271" name="Equation" r:id="rId6" imgW="876300" imgH="228600" progId="Equation.DSMT4">
                  <p:embed/>
                </p:oleObj>
              </mc:Choice>
              <mc:Fallback>
                <p:oleObj name="Equation" r:id="rId6" imgW="876300" imgH="228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150" y="2817813"/>
                        <a:ext cx="2665413"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2"/>
          </p:nvPr>
        </p:nvSpPr>
        <p:spPr/>
        <p:txBody>
          <a:bodyPr/>
          <a:lstStyle/>
          <a:p>
            <a:pPr>
              <a:defRPr/>
            </a:pPr>
            <a:fld id="{62FC49CA-8014-4DA2-ABEB-AF96863EC77D}" type="slidenum">
              <a:rPr lang="en-US" altLang="zh-CN" smtClean="0"/>
              <a:pPr>
                <a:defRPr/>
              </a:pPr>
              <a:t>105</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7717"/>
                                        </p:tgtEl>
                                        <p:attrNameLst>
                                          <p:attrName>style.visibility</p:attrName>
                                        </p:attrNameLst>
                                      </p:cBhvr>
                                      <p:to>
                                        <p:strVal val="visible"/>
                                      </p:to>
                                    </p:set>
                                    <p:animEffect transition="in" filter="wipe(left)">
                                      <p:cBhvr>
                                        <p:cTn id="7" dur="500"/>
                                        <p:tgtEl>
                                          <p:spTgt spid="627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ChangeArrowheads="1"/>
          </p:cNvSpPr>
          <p:nvPr/>
        </p:nvSpPr>
        <p:spPr bwMode="auto">
          <a:xfrm>
            <a:off x="0" y="1295400"/>
            <a:ext cx="9144000" cy="579438"/>
          </a:xfrm>
          <a:prstGeom prst="rect">
            <a:avLst/>
          </a:prstGeom>
          <a:noFill/>
          <a:ln w="9525">
            <a:noFill/>
            <a:miter lim="800000"/>
            <a:headEnd/>
            <a:tailEnd/>
          </a:ln>
        </p:spPr>
        <p:txBody>
          <a:bodyPr>
            <a:spAutoFit/>
          </a:bodyPr>
          <a:lstStyle/>
          <a:p>
            <a:pPr indent="228600" algn="just"/>
            <a:r>
              <a:rPr lang="en-US" altLang="zh-CN" sz="3200">
                <a:solidFill>
                  <a:srgbClr val="006600"/>
                </a:solidFill>
                <a:ea typeface="华文行楷" pitchFamily="2" charset="-122"/>
              </a:rPr>
              <a:t>      </a:t>
            </a:r>
            <a:endParaRPr lang="en-US" altLang="zh-CN" sz="3200">
              <a:solidFill>
                <a:srgbClr val="006600"/>
              </a:solidFill>
              <a:ea typeface="宋体" pitchFamily="2" charset="-122"/>
            </a:endParaRPr>
          </a:p>
        </p:txBody>
      </p:sp>
      <p:sp>
        <p:nvSpPr>
          <p:cNvPr id="427011" name="Rectangle 3"/>
          <p:cNvSpPr>
            <a:spLocks noChangeArrowheads="1"/>
          </p:cNvSpPr>
          <p:nvPr/>
        </p:nvSpPr>
        <p:spPr bwMode="auto">
          <a:xfrm>
            <a:off x="395536" y="1340768"/>
            <a:ext cx="8532812" cy="1116012"/>
          </a:xfrm>
          <a:prstGeom prst="rect">
            <a:avLst/>
          </a:prstGeom>
          <a:noFill/>
          <a:ln w="9525">
            <a:noFill/>
            <a:miter lim="800000"/>
            <a:headEnd/>
            <a:tailEnd/>
          </a:ln>
        </p:spPr>
        <p:txBody>
          <a:bodyPr>
            <a:spAutoFit/>
          </a:bodyPr>
          <a:lstStyle/>
          <a:p>
            <a:pPr indent="457200">
              <a:spcBef>
                <a:spcPct val="10000"/>
              </a:spcBef>
            </a:pPr>
            <a:r>
              <a:rPr lang="zh-CN" altLang="en-US" sz="3200" b="1" dirty="0">
                <a:solidFill>
                  <a:srgbClr val="1313FF"/>
                </a:solidFill>
                <a:ea typeface="宋体" pitchFamily="2" charset="-122"/>
              </a:rPr>
              <a:t>平均差</a:t>
            </a:r>
            <a:r>
              <a:rPr lang="zh-CN" altLang="en-US" sz="2800" b="1" dirty="0">
                <a:solidFill>
                  <a:srgbClr val="1313FF"/>
                </a:solidFill>
              </a:rPr>
              <a:t>（</a:t>
            </a:r>
            <a:r>
              <a:rPr lang="en-US" altLang="zh-CN" sz="2800" b="1" dirty="0">
                <a:solidFill>
                  <a:srgbClr val="1313FF"/>
                </a:solidFill>
              </a:rPr>
              <a:t>Average Deviation</a:t>
            </a:r>
            <a:r>
              <a:rPr lang="zh-CN" altLang="en-US" sz="2800" b="1" dirty="0">
                <a:solidFill>
                  <a:srgbClr val="1313FF"/>
                </a:solidFill>
              </a:rPr>
              <a:t>）</a:t>
            </a:r>
            <a:endParaRPr lang="zh-CN" altLang="en-US" sz="2800" b="1" dirty="0">
              <a:solidFill>
                <a:srgbClr val="1313FF"/>
              </a:solidFill>
              <a:ea typeface="宋体" pitchFamily="2" charset="-122"/>
            </a:endParaRPr>
          </a:p>
          <a:p>
            <a:pPr indent="457200">
              <a:spcBef>
                <a:spcPct val="10000"/>
              </a:spcBef>
            </a:pPr>
            <a:r>
              <a:rPr lang="en-US" altLang="zh-CN" sz="3200" b="1" dirty="0">
                <a:solidFill>
                  <a:srgbClr val="000000"/>
                </a:solidFill>
                <a:ea typeface="宋体" pitchFamily="2" charset="-122"/>
              </a:rPr>
              <a:t>——</a:t>
            </a:r>
            <a:r>
              <a:rPr lang="zh-CN" altLang="en-US" sz="3200" b="1" dirty="0">
                <a:solidFill>
                  <a:srgbClr val="000000"/>
                </a:solidFill>
                <a:ea typeface="宋体" pitchFamily="2" charset="-122"/>
              </a:rPr>
              <a:t>变量值与平均数的离差绝对值的平均数</a:t>
            </a:r>
          </a:p>
        </p:txBody>
      </p:sp>
      <p:graphicFrame>
        <p:nvGraphicFramePr>
          <p:cNvPr id="427012" name="Object 4"/>
          <p:cNvGraphicFramePr>
            <a:graphicFrameLocks noChangeAspect="1"/>
          </p:cNvGraphicFramePr>
          <p:nvPr/>
        </p:nvGraphicFramePr>
        <p:xfrm>
          <a:off x="611560" y="2636912"/>
          <a:ext cx="2755900" cy="1071562"/>
        </p:xfrm>
        <a:graphic>
          <a:graphicData uri="http://schemas.openxmlformats.org/presentationml/2006/ole">
            <mc:AlternateContent xmlns:mc="http://schemas.openxmlformats.org/markup-compatibility/2006">
              <mc:Choice xmlns:v="urn:schemas-microsoft-com:vml" Requires="v">
                <p:oleObj spid="_x0000_s201062" name="公式" r:id="rId3" imgW="901440" imgH="368280" progId="Equation.3">
                  <p:embed/>
                </p:oleObj>
              </mc:Choice>
              <mc:Fallback>
                <p:oleObj name="公式" r:id="rId3" imgW="901440" imgH="3682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2636912"/>
                        <a:ext cx="2755900" cy="1071562"/>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427013" name="Object 5"/>
          <p:cNvGraphicFramePr>
            <a:graphicFrameLocks noChangeAspect="1"/>
          </p:cNvGraphicFramePr>
          <p:nvPr/>
        </p:nvGraphicFramePr>
        <p:xfrm>
          <a:off x="4716016" y="2636912"/>
          <a:ext cx="3671887" cy="1143000"/>
        </p:xfrm>
        <a:graphic>
          <a:graphicData uri="http://schemas.openxmlformats.org/presentationml/2006/ole">
            <mc:AlternateContent xmlns:mc="http://schemas.openxmlformats.org/markup-compatibility/2006">
              <mc:Choice xmlns:v="urn:schemas-microsoft-com:vml" Requires="v">
                <p:oleObj spid="_x0000_s201063" name="Equation" r:id="rId5" imgW="1841400" imgH="761760" progId="Equation.DSMT4">
                  <p:embed/>
                </p:oleObj>
              </mc:Choice>
              <mc:Fallback>
                <p:oleObj name="Equation" r:id="rId5" imgW="1841400" imgH="76176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016" y="2636912"/>
                        <a:ext cx="3671887" cy="114300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39943" name="Rectangle 6"/>
          <p:cNvSpPr>
            <a:spLocks noGrp="1" noChangeArrowheads="1"/>
          </p:cNvSpPr>
          <p:nvPr>
            <p:ph type="title"/>
          </p:nvPr>
        </p:nvSpPr>
        <p:spPr>
          <a:xfrm>
            <a:off x="900113" y="333375"/>
            <a:ext cx="7772400" cy="990600"/>
          </a:xfrm>
        </p:spPr>
        <p:txBody>
          <a:bodyPr/>
          <a:lstStyle/>
          <a:p>
            <a:pPr eaLnBrk="1" hangingPunct="1"/>
            <a:r>
              <a:rPr lang="en-US" altLang="zh-CN" dirty="0" smtClean="0">
                <a:solidFill>
                  <a:srgbClr val="1313FF"/>
                </a:solidFill>
              </a:rPr>
              <a:t>3.3.3 </a:t>
            </a:r>
            <a:r>
              <a:rPr lang="zh-CN" altLang="en-US" dirty="0" smtClean="0">
                <a:solidFill>
                  <a:srgbClr val="1313FF"/>
                </a:solidFill>
              </a:rPr>
              <a:t>平均差</a:t>
            </a:r>
            <a:endParaRPr lang="zh-CN" altLang="en-US" dirty="0" smtClean="0">
              <a:solidFill>
                <a:srgbClr val="1313FF"/>
              </a:solidFill>
              <a:latin typeface="宋体" pitchFamily="2" charset="-122"/>
            </a:endParaRPr>
          </a:p>
        </p:txBody>
      </p:sp>
      <p:sp>
        <p:nvSpPr>
          <p:cNvPr id="427015" name="Rectangle 7"/>
          <p:cNvSpPr>
            <a:spLocks noChangeArrowheads="1"/>
          </p:cNvSpPr>
          <p:nvPr/>
        </p:nvSpPr>
        <p:spPr bwMode="auto">
          <a:xfrm>
            <a:off x="179512" y="4293096"/>
            <a:ext cx="8610600" cy="2185214"/>
          </a:xfrm>
          <a:prstGeom prst="rect">
            <a:avLst/>
          </a:prstGeom>
          <a:noFill/>
          <a:ln w="9525">
            <a:noFill/>
            <a:miter lim="800000"/>
            <a:headEnd/>
            <a:tailEnd/>
          </a:ln>
        </p:spPr>
        <p:txBody>
          <a:bodyPr>
            <a:spAutoFit/>
          </a:bodyPr>
          <a:lstStyle/>
          <a:p>
            <a:pPr indent="457200" algn="just">
              <a:lnSpc>
                <a:spcPct val="110000"/>
              </a:lnSpc>
              <a:spcBef>
                <a:spcPct val="15000"/>
              </a:spcBef>
            </a:pPr>
            <a:r>
              <a:rPr lang="zh-CN" altLang="en-US" sz="3200" b="1" dirty="0">
                <a:solidFill>
                  <a:srgbClr val="1313FF"/>
                </a:solidFill>
                <a:ea typeface="宋体" pitchFamily="2" charset="-122"/>
              </a:rPr>
              <a:t>平均差的优点和局限性</a:t>
            </a:r>
          </a:p>
          <a:p>
            <a:pPr lvl="2" algn="just">
              <a:lnSpc>
                <a:spcPct val="110000"/>
              </a:lnSpc>
              <a:spcBef>
                <a:spcPct val="15000"/>
              </a:spcBef>
              <a:buFontTx/>
              <a:buChar char="•"/>
            </a:pPr>
            <a:r>
              <a:rPr lang="zh-CN" altLang="en-US" sz="2800" b="1" dirty="0">
                <a:ea typeface="宋体" pitchFamily="2" charset="-122"/>
              </a:rPr>
              <a:t>能够充分反映变量值的离差大小</a:t>
            </a:r>
            <a:r>
              <a:rPr lang="en-US" altLang="zh-CN" sz="2800" b="1" dirty="0">
                <a:ea typeface="宋体" pitchFamily="2" charset="-122"/>
              </a:rPr>
              <a:t>;</a:t>
            </a:r>
            <a:r>
              <a:rPr lang="zh-CN" altLang="en-US" sz="2800" b="1" dirty="0">
                <a:ea typeface="宋体" pitchFamily="2" charset="-122"/>
              </a:rPr>
              <a:t>含义清晰</a:t>
            </a:r>
            <a:endParaRPr lang="en-US" altLang="zh-CN" sz="2800" b="1" dirty="0">
              <a:ea typeface="宋体" pitchFamily="2" charset="-122"/>
            </a:endParaRPr>
          </a:p>
          <a:p>
            <a:pPr lvl="2" algn="just">
              <a:lnSpc>
                <a:spcPct val="110000"/>
              </a:lnSpc>
              <a:spcBef>
                <a:spcPct val="15000"/>
              </a:spcBef>
              <a:buFontTx/>
              <a:buChar char="•"/>
            </a:pPr>
            <a:r>
              <a:rPr lang="zh-CN" altLang="en-US" sz="2800" b="1" dirty="0">
                <a:ea typeface="宋体" pitchFamily="2" charset="-122"/>
              </a:rPr>
              <a:t>取绝对值</a:t>
            </a:r>
            <a:r>
              <a:rPr lang="zh-CN" altLang="en-US" sz="2800" b="1" dirty="0" smtClean="0">
                <a:ea typeface="宋体" pitchFamily="2" charset="-122"/>
              </a:rPr>
              <a:t>计算，</a:t>
            </a:r>
            <a:r>
              <a:rPr lang="zh-CN" altLang="en-US" sz="2800" b="1" dirty="0">
                <a:ea typeface="宋体" pitchFamily="2" charset="-122"/>
              </a:rPr>
              <a:t>数学性质较差，</a:t>
            </a:r>
            <a:r>
              <a:rPr lang="zh-CN" altLang="zh-CN" sz="2800" b="1" dirty="0" smtClean="0">
                <a:solidFill>
                  <a:srgbClr val="000000"/>
                </a:solidFill>
                <a:latin typeface="等线" panose="02010600030101010101" pitchFamily="2" charset="-122"/>
                <a:ea typeface="等线" panose="02010600030101010101" pitchFamily="2" charset="-122"/>
              </a:rPr>
              <a:t>应用</a:t>
            </a:r>
            <a:r>
              <a:rPr lang="zh-CN" altLang="en-US" sz="2800" b="1" dirty="0" smtClean="0">
                <a:solidFill>
                  <a:srgbClr val="000000"/>
                </a:solidFill>
                <a:latin typeface="等线" panose="02010600030101010101" pitchFamily="2" charset="-122"/>
                <a:ea typeface="等线" panose="02010600030101010101" pitchFamily="2" charset="-122"/>
              </a:rPr>
              <a:t>有</a:t>
            </a:r>
            <a:r>
              <a:rPr lang="zh-CN" altLang="zh-CN" sz="2800" b="1" dirty="0" smtClean="0">
                <a:solidFill>
                  <a:srgbClr val="000000"/>
                </a:solidFill>
                <a:latin typeface="等线" panose="02010600030101010101" pitchFamily="2" charset="-122"/>
                <a:ea typeface="等线" panose="02010600030101010101" pitchFamily="2" charset="-122"/>
              </a:rPr>
              <a:t>一定局限</a:t>
            </a:r>
            <a:r>
              <a:rPr lang="zh-CN" altLang="en-US" sz="2800" b="1" dirty="0" smtClean="0">
                <a:solidFill>
                  <a:srgbClr val="000000"/>
                </a:solidFill>
                <a:latin typeface="等线" panose="02010600030101010101" pitchFamily="2" charset="-122"/>
                <a:ea typeface="等线" panose="02010600030101010101" pitchFamily="2" charset="-122"/>
              </a:rPr>
              <a:t>，</a:t>
            </a:r>
            <a:r>
              <a:rPr lang="zh-CN" altLang="zh-CN" sz="2800" b="1" dirty="0" smtClean="0">
                <a:solidFill>
                  <a:srgbClr val="000000"/>
                </a:solidFill>
                <a:latin typeface="等线" panose="02010600030101010101" pitchFamily="2" charset="-122"/>
                <a:ea typeface="等线" panose="02010600030101010101" pitchFamily="2" charset="-122"/>
              </a:rPr>
              <a:t>实践中</a:t>
            </a:r>
            <a:r>
              <a:rPr lang="zh-CN" altLang="en-US" sz="2800" b="1" dirty="0" smtClean="0">
                <a:solidFill>
                  <a:srgbClr val="000000"/>
                </a:solidFill>
                <a:latin typeface="等线" panose="02010600030101010101" pitchFamily="2" charset="-122"/>
                <a:ea typeface="等线" panose="02010600030101010101" pitchFamily="2" charset="-122"/>
              </a:rPr>
              <a:t>不及</a:t>
            </a:r>
            <a:r>
              <a:rPr lang="zh-CN" altLang="zh-CN" sz="2800" b="1" dirty="0" smtClean="0">
                <a:solidFill>
                  <a:srgbClr val="000000"/>
                </a:solidFill>
                <a:latin typeface="等线" panose="02010600030101010101" pitchFamily="2" charset="-122"/>
                <a:ea typeface="等线" panose="02010600030101010101" pitchFamily="2" charset="-122"/>
              </a:rPr>
              <a:t>用方差和标准差更</a:t>
            </a:r>
            <a:r>
              <a:rPr lang="zh-CN" altLang="en-US" sz="2800" b="1" dirty="0" smtClean="0">
                <a:solidFill>
                  <a:srgbClr val="000000"/>
                </a:solidFill>
                <a:latin typeface="等线" panose="02010600030101010101" pitchFamily="2" charset="-122"/>
                <a:ea typeface="等线" panose="02010600030101010101" pitchFamily="2" charset="-122"/>
              </a:rPr>
              <a:t>常用</a:t>
            </a:r>
            <a:r>
              <a:rPr lang="zh-CN" altLang="zh-CN" sz="2800" dirty="0" smtClean="0"/>
              <a:t>。</a:t>
            </a:r>
            <a:endParaRPr lang="zh-CN" altLang="en-US" sz="2800" b="1" dirty="0">
              <a:ea typeface="宋体" pitchFamily="2" charset="-122"/>
            </a:endParaRPr>
          </a:p>
        </p:txBody>
      </p:sp>
      <p:sp>
        <p:nvSpPr>
          <p:cNvPr id="10" name="TextBox 9"/>
          <p:cNvSpPr txBox="1"/>
          <p:nvPr/>
        </p:nvSpPr>
        <p:spPr>
          <a:xfrm>
            <a:off x="1619672" y="3861048"/>
            <a:ext cx="2016224" cy="461665"/>
          </a:xfrm>
          <a:prstGeom prst="rect">
            <a:avLst/>
          </a:prstGeom>
          <a:noFill/>
        </p:spPr>
        <p:txBody>
          <a:bodyPr wrap="square" rtlCol="0">
            <a:spAutoFit/>
          </a:bodyPr>
          <a:lstStyle/>
          <a:p>
            <a:r>
              <a:rPr lang="zh-CN" altLang="en-US" b="1" dirty="0" smtClean="0">
                <a:latin typeface="宋体" pitchFamily="2" charset="-122"/>
                <a:ea typeface="宋体" pitchFamily="2" charset="-122"/>
              </a:rPr>
              <a:t>（未分组时）</a:t>
            </a:r>
            <a:endParaRPr lang="zh-CN" altLang="en-US" b="1" dirty="0">
              <a:latin typeface="宋体" pitchFamily="2" charset="-122"/>
              <a:ea typeface="宋体" pitchFamily="2" charset="-122"/>
            </a:endParaRPr>
          </a:p>
        </p:txBody>
      </p:sp>
      <p:sp>
        <p:nvSpPr>
          <p:cNvPr id="11" name="TextBox 10"/>
          <p:cNvSpPr txBox="1"/>
          <p:nvPr/>
        </p:nvSpPr>
        <p:spPr>
          <a:xfrm>
            <a:off x="5652120" y="3861048"/>
            <a:ext cx="2016224" cy="461665"/>
          </a:xfrm>
          <a:prstGeom prst="rect">
            <a:avLst/>
          </a:prstGeom>
          <a:noFill/>
        </p:spPr>
        <p:txBody>
          <a:bodyPr wrap="square" rtlCol="0">
            <a:spAutoFit/>
          </a:bodyPr>
          <a:lstStyle/>
          <a:p>
            <a:r>
              <a:rPr lang="zh-CN" altLang="en-US" b="1" dirty="0" smtClean="0">
                <a:latin typeface="宋体" pitchFamily="2" charset="-122"/>
                <a:ea typeface="宋体" pitchFamily="2" charset="-122"/>
              </a:rPr>
              <a:t>（分组时）</a:t>
            </a:r>
            <a:endParaRPr lang="zh-CN" altLang="en-US" b="1" dirty="0">
              <a:latin typeface="宋体" pitchFamily="2" charset="-122"/>
              <a:ea typeface="宋体" pitchFamily="2" charset="-122"/>
            </a:endParaRPr>
          </a:p>
        </p:txBody>
      </p:sp>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106</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27011">
                                            <p:txEl>
                                              <p:pRg st="0" end="0"/>
                                            </p:txEl>
                                          </p:spTgt>
                                        </p:tgtEl>
                                        <p:attrNameLst>
                                          <p:attrName>style.visibility</p:attrName>
                                        </p:attrNameLst>
                                      </p:cBhvr>
                                      <p:to>
                                        <p:strVal val="visible"/>
                                      </p:to>
                                    </p:set>
                                    <p:animEffect transition="in" filter="blinds(horizontal)">
                                      <p:cBhvr>
                                        <p:cTn id="7" dur="500"/>
                                        <p:tgtEl>
                                          <p:spTgt spid="427011">
                                            <p:txEl>
                                              <p:pRg st="0" end="0"/>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27011">
                                            <p:txEl>
                                              <p:pRg st="1" end="1"/>
                                            </p:txEl>
                                          </p:spTgt>
                                        </p:tgtEl>
                                        <p:attrNameLst>
                                          <p:attrName>style.visibility</p:attrName>
                                        </p:attrNameLst>
                                      </p:cBhvr>
                                      <p:to>
                                        <p:strVal val="visible"/>
                                      </p:to>
                                    </p:set>
                                    <p:animEffect transition="in" filter="blinds(horizontal)">
                                      <p:cBhvr>
                                        <p:cTn id="11" dur="500"/>
                                        <p:tgtEl>
                                          <p:spTgt spid="42701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427012"/>
                                        </p:tgtEl>
                                        <p:attrNameLst>
                                          <p:attrName>style.visibility</p:attrName>
                                        </p:attrNameLst>
                                      </p:cBhvr>
                                      <p:to>
                                        <p:strVal val="visible"/>
                                      </p:to>
                                    </p:set>
                                    <p:anim calcmode="lin" valueType="num">
                                      <p:cBhvr>
                                        <p:cTn id="16" dur="500" fill="hold"/>
                                        <p:tgtEl>
                                          <p:spTgt spid="427012"/>
                                        </p:tgtEl>
                                        <p:attrNameLst>
                                          <p:attrName>ppt_x</p:attrName>
                                        </p:attrNameLst>
                                      </p:cBhvr>
                                      <p:tavLst>
                                        <p:tav tm="0">
                                          <p:val>
                                            <p:strVal val="#ppt_x-#ppt_w/2"/>
                                          </p:val>
                                        </p:tav>
                                        <p:tav tm="100000">
                                          <p:val>
                                            <p:strVal val="#ppt_x"/>
                                          </p:val>
                                        </p:tav>
                                      </p:tavLst>
                                    </p:anim>
                                    <p:anim calcmode="lin" valueType="num">
                                      <p:cBhvr>
                                        <p:cTn id="17" dur="500" fill="hold"/>
                                        <p:tgtEl>
                                          <p:spTgt spid="427012"/>
                                        </p:tgtEl>
                                        <p:attrNameLst>
                                          <p:attrName>ppt_y</p:attrName>
                                        </p:attrNameLst>
                                      </p:cBhvr>
                                      <p:tavLst>
                                        <p:tav tm="0">
                                          <p:val>
                                            <p:strVal val="#ppt_y"/>
                                          </p:val>
                                        </p:tav>
                                        <p:tav tm="100000">
                                          <p:val>
                                            <p:strVal val="#ppt_y"/>
                                          </p:val>
                                        </p:tav>
                                      </p:tavLst>
                                    </p:anim>
                                    <p:anim calcmode="lin" valueType="num">
                                      <p:cBhvr>
                                        <p:cTn id="18" dur="500" fill="hold"/>
                                        <p:tgtEl>
                                          <p:spTgt spid="427012"/>
                                        </p:tgtEl>
                                        <p:attrNameLst>
                                          <p:attrName>ppt_w</p:attrName>
                                        </p:attrNameLst>
                                      </p:cBhvr>
                                      <p:tavLst>
                                        <p:tav tm="0">
                                          <p:val>
                                            <p:fltVal val="0"/>
                                          </p:val>
                                        </p:tav>
                                        <p:tav tm="100000">
                                          <p:val>
                                            <p:strVal val="#ppt_w"/>
                                          </p:val>
                                        </p:tav>
                                      </p:tavLst>
                                    </p:anim>
                                    <p:anim calcmode="lin" valueType="num">
                                      <p:cBhvr>
                                        <p:cTn id="19" dur="500" fill="hold"/>
                                        <p:tgtEl>
                                          <p:spTgt spid="427012"/>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2" fill="hold" nodeType="clickEffect">
                                  <p:stCondLst>
                                    <p:cond delay="0"/>
                                  </p:stCondLst>
                                  <p:childTnLst>
                                    <p:set>
                                      <p:cBhvr>
                                        <p:cTn id="23" dur="1" fill="hold">
                                          <p:stCondLst>
                                            <p:cond delay="0"/>
                                          </p:stCondLst>
                                        </p:cTn>
                                        <p:tgtEl>
                                          <p:spTgt spid="427013"/>
                                        </p:tgtEl>
                                        <p:attrNameLst>
                                          <p:attrName>style.visibility</p:attrName>
                                        </p:attrNameLst>
                                      </p:cBhvr>
                                      <p:to>
                                        <p:strVal val="visible"/>
                                      </p:to>
                                    </p:set>
                                    <p:anim calcmode="lin" valueType="num">
                                      <p:cBhvr>
                                        <p:cTn id="24" dur="500" fill="hold"/>
                                        <p:tgtEl>
                                          <p:spTgt spid="427013"/>
                                        </p:tgtEl>
                                        <p:attrNameLst>
                                          <p:attrName>ppt_x</p:attrName>
                                        </p:attrNameLst>
                                      </p:cBhvr>
                                      <p:tavLst>
                                        <p:tav tm="0">
                                          <p:val>
                                            <p:strVal val="#ppt_x+#ppt_w/2"/>
                                          </p:val>
                                        </p:tav>
                                        <p:tav tm="100000">
                                          <p:val>
                                            <p:strVal val="#ppt_x"/>
                                          </p:val>
                                        </p:tav>
                                      </p:tavLst>
                                    </p:anim>
                                    <p:anim calcmode="lin" valueType="num">
                                      <p:cBhvr>
                                        <p:cTn id="25" dur="500" fill="hold"/>
                                        <p:tgtEl>
                                          <p:spTgt spid="427013"/>
                                        </p:tgtEl>
                                        <p:attrNameLst>
                                          <p:attrName>ppt_y</p:attrName>
                                        </p:attrNameLst>
                                      </p:cBhvr>
                                      <p:tavLst>
                                        <p:tav tm="0">
                                          <p:val>
                                            <p:strVal val="#ppt_y"/>
                                          </p:val>
                                        </p:tav>
                                        <p:tav tm="100000">
                                          <p:val>
                                            <p:strVal val="#ppt_y"/>
                                          </p:val>
                                        </p:tav>
                                      </p:tavLst>
                                    </p:anim>
                                    <p:anim calcmode="lin" valueType="num">
                                      <p:cBhvr>
                                        <p:cTn id="26" dur="500" fill="hold"/>
                                        <p:tgtEl>
                                          <p:spTgt spid="427013"/>
                                        </p:tgtEl>
                                        <p:attrNameLst>
                                          <p:attrName>ppt_w</p:attrName>
                                        </p:attrNameLst>
                                      </p:cBhvr>
                                      <p:tavLst>
                                        <p:tav tm="0">
                                          <p:val>
                                            <p:fltVal val="0"/>
                                          </p:val>
                                        </p:tav>
                                        <p:tav tm="100000">
                                          <p:val>
                                            <p:strVal val="#ppt_w"/>
                                          </p:val>
                                        </p:tav>
                                      </p:tavLst>
                                    </p:anim>
                                    <p:anim calcmode="lin" valueType="num">
                                      <p:cBhvr>
                                        <p:cTn id="27" dur="500" fill="hold"/>
                                        <p:tgtEl>
                                          <p:spTgt spid="427013"/>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7015"/>
                                        </p:tgtEl>
                                        <p:attrNameLst>
                                          <p:attrName>style.visibility</p:attrName>
                                        </p:attrNameLst>
                                      </p:cBhvr>
                                      <p:to>
                                        <p:strVal val="visible"/>
                                      </p:to>
                                    </p:set>
                                    <p:animEffect transition="in" filter="blinds(horizontal)">
                                      <p:cBhvr>
                                        <p:cTn id="32" dur="500"/>
                                        <p:tgtEl>
                                          <p:spTgt spid="427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P spid="42701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6" name="Rectangle 2"/>
          <p:cNvSpPr>
            <a:spLocks noGrp="1" noChangeArrowheads="1"/>
          </p:cNvSpPr>
          <p:nvPr>
            <p:ph type="title"/>
          </p:nvPr>
        </p:nvSpPr>
        <p:spPr>
          <a:xfrm>
            <a:off x="827088" y="0"/>
            <a:ext cx="7772400" cy="990600"/>
          </a:xfrm>
        </p:spPr>
        <p:txBody>
          <a:bodyPr/>
          <a:lstStyle/>
          <a:p>
            <a:pPr eaLnBrk="1" hangingPunct="1"/>
            <a:r>
              <a:rPr lang="zh-CN" altLang="en-US" dirty="0" smtClean="0"/>
              <a:t>例</a:t>
            </a:r>
          </a:p>
        </p:txBody>
      </p:sp>
      <p:sp>
        <p:nvSpPr>
          <p:cNvPr id="40967" name="Rectangle 3"/>
          <p:cNvSpPr>
            <a:spLocks noGrp="1" noChangeArrowheads="1"/>
          </p:cNvSpPr>
          <p:nvPr>
            <p:ph type="body" idx="1"/>
          </p:nvPr>
        </p:nvSpPr>
        <p:spPr>
          <a:xfrm>
            <a:off x="685800" y="5676900"/>
            <a:ext cx="7772400" cy="514350"/>
          </a:xfrm>
        </p:spPr>
        <p:txBody>
          <a:bodyPr/>
          <a:lstStyle/>
          <a:p>
            <a:pPr eaLnBrk="1" hangingPunct="1">
              <a:lnSpc>
                <a:spcPct val="90000"/>
              </a:lnSpc>
            </a:pPr>
            <a:r>
              <a:rPr lang="zh-CN" altLang="en-US" sz="2400" dirty="0" smtClean="0">
                <a:solidFill>
                  <a:schemeClr val="tx1"/>
                </a:solidFill>
              </a:rPr>
              <a:t>平均说来该班每个学生的成绩与平均成绩相差</a:t>
            </a:r>
            <a:r>
              <a:rPr lang="en-US" altLang="zh-CN" sz="2400" dirty="0" smtClean="0">
                <a:solidFill>
                  <a:schemeClr val="tx1"/>
                </a:solidFill>
              </a:rPr>
              <a:t>7.72</a:t>
            </a:r>
            <a:r>
              <a:rPr lang="zh-CN" altLang="en-US" sz="2400" dirty="0" smtClean="0">
                <a:solidFill>
                  <a:schemeClr val="tx1"/>
                </a:solidFill>
              </a:rPr>
              <a:t>分</a:t>
            </a:r>
            <a:endParaRPr lang="en-US" altLang="zh-CN" sz="2400" dirty="0" smtClean="0">
              <a:solidFill>
                <a:schemeClr val="tx1"/>
              </a:solidFill>
            </a:endParaRPr>
          </a:p>
        </p:txBody>
      </p:sp>
      <p:sp>
        <p:nvSpPr>
          <p:cNvPr id="40968" name="Rectangle 13"/>
          <p:cNvSpPr>
            <a:spLocks noChangeArrowheads="1"/>
          </p:cNvSpPr>
          <p:nvPr/>
        </p:nvSpPr>
        <p:spPr bwMode="auto">
          <a:xfrm>
            <a:off x="1270000" y="2620963"/>
            <a:ext cx="685800" cy="0"/>
          </a:xfrm>
          <a:prstGeom prst="rect">
            <a:avLst/>
          </a:prstGeom>
          <a:noFill/>
          <a:ln w="9525">
            <a:noFill/>
            <a:miter lim="800000"/>
            <a:headEnd/>
            <a:tailEnd/>
          </a:ln>
        </p:spPr>
        <p:txBody>
          <a:bodyPr wrap="none">
            <a:spAutoFit/>
          </a:bodyPr>
          <a:lstStyle/>
          <a:p>
            <a:endParaRPr lang="zh-CN" altLang="en-US"/>
          </a:p>
        </p:txBody>
      </p:sp>
      <p:sp>
        <p:nvSpPr>
          <p:cNvPr id="40969" name="Rectangle 15"/>
          <p:cNvSpPr>
            <a:spLocks noChangeArrowheads="1"/>
          </p:cNvSpPr>
          <p:nvPr/>
        </p:nvSpPr>
        <p:spPr bwMode="auto">
          <a:xfrm>
            <a:off x="2700338" y="2205038"/>
            <a:ext cx="800100" cy="0"/>
          </a:xfrm>
          <a:prstGeom prst="rect">
            <a:avLst/>
          </a:prstGeom>
          <a:noFill/>
          <a:ln w="9525">
            <a:noFill/>
            <a:miter lim="800000"/>
            <a:headEnd/>
            <a:tailEnd/>
          </a:ln>
        </p:spPr>
        <p:txBody>
          <a:bodyPr wrap="none">
            <a:spAutoFit/>
          </a:bodyPr>
          <a:lstStyle/>
          <a:p>
            <a:endParaRPr lang="zh-CN" altLang="en-US"/>
          </a:p>
        </p:txBody>
      </p:sp>
      <p:graphicFrame>
        <p:nvGraphicFramePr>
          <p:cNvPr id="628879" name="Group 143"/>
          <p:cNvGraphicFramePr>
            <a:graphicFrameLocks noGrp="1"/>
          </p:cNvGraphicFramePr>
          <p:nvPr/>
        </p:nvGraphicFramePr>
        <p:xfrm>
          <a:off x="971550" y="1052513"/>
          <a:ext cx="7056438" cy="3589338"/>
        </p:xfrm>
        <a:graphic>
          <a:graphicData uri="http://schemas.openxmlformats.org/drawingml/2006/table">
            <a:tbl>
              <a:tblPr/>
              <a:tblGrid>
                <a:gridCol w="1546225">
                  <a:extLst>
                    <a:ext uri="{9D8B030D-6E8A-4147-A177-3AD203B41FA5}">
                      <a16:colId xmlns:a16="http://schemas.microsoft.com/office/drawing/2014/main" val="20000"/>
                    </a:ext>
                  </a:extLst>
                </a:gridCol>
                <a:gridCol w="1189038">
                  <a:extLst>
                    <a:ext uri="{9D8B030D-6E8A-4147-A177-3AD203B41FA5}">
                      <a16:colId xmlns:a16="http://schemas.microsoft.com/office/drawing/2014/main" val="20001"/>
                    </a:ext>
                  </a:extLst>
                </a:gridCol>
                <a:gridCol w="1258887">
                  <a:extLst>
                    <a:ext uri="{9D8B030D-6E8A-4147-A177-3AD203B41FA5}">
                      <a16:colId xmlns:a16="http://schemas.microsoft.com/office/drawing/2014/main" val="20002"/>
                    </a:ext>
                  </a:extLst>
                </a:gridCol>
                <a:gridCol w="1477963">
                  <a:extLst>
                    <a:ext uri="{9D8B030D-6E8A-4147-A177-3AD203B41FA5}">
                      <a16:colId xmlns:a16="http://schemas.microsoft.com/office/drawing/2014/main" val="20003"/>
                    </a:ext>
                  </a:extLst>
                </a:gridCol>
                <a:gridCol w="1584325">
                  <a:extLst>
                    <a:ext uri="{9D8B030D-6E8A-4147-A177-3AD203B41FA5}">
                      <a16:colId xmlns:a16="http://schemas.microsoft.com/office/drawing/2014/main" val="20004"/>
                    </a:ext>
                  </a:extLst>
                </a:gridCol>
              </a:tblGrid>
              <a:tr h="1150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itchFamily="18" charset="0"/>
                          <a:ea typeface="宋体" pitchFamily="2" charset="-122"/>
                        </a:rPr>
                        <a:t>成绩（分）</a:t>
                      </a:r>
                    </a:p>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2400" b="1" i="1"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smtClean="0">
                          <a:ln>
                            <a:noFill/>
                          </a:ln>
                          <a:solidFill>
                            <a:srgbClr val="C56B9E"/>
                          </a:solidFill>
                          <a:effectLst/>
                          <a:latin typeface="Tahoma" pitchFamily="34" charset="0"/>
                          <a:ea typeface="宋体" pitchFamily="2" charset="-122"/>
                        </a:rPr>
                        <a:t>组中值</a:t>
                      </a:r>
                      <a:r>
                        <a:rPr kumimoji="1" lang="zh-CN" altLang="en-US" sz="2400" b="0" i="0" u="none" strike="noStrike" cap="none" normalizeH="0" baseline="0" smtClean="0">
                          <a:ln>
                            <a:noFill/>
                          </a:ln>
                          <a:solidFill>
                            <a:srgbClr val="C56B9E"/>
                          </a:solidFill>
                          <a:effectLst/>
                          <a:latin typeface="Tahoma" pitchFamily="34" charset="0"/>
                          <a:ea typeface="宋体" pitchFamily="2" charset="-122"/>
                        </a:rPr>
                        <a:t> </a:t>
                      </a:r>
                      <a:r>
                        <a:rPr kumimoji="1" lang="en-US" altLang="zh-CN" sz="2600" b="0" i="1" u="none" strike="noStrike" cap="none" normalizeH="0" baseline="0" smtClean="0">
                          <a:ln>
                            <a:noFill/>
                          </a:ln>
                          <a:solidFill>
                            <a:srgbClr val="C56B9E"/>
                          </a:solidFill>
                          <a:effectLst/>
                          <a:latin typeface="Times New Roman" pitchFamily="18" charset="0"/>
                          <a:ea typeface="宋体" pitchFamily="2" charset="-122"/>
                        </a:rPr>
                        <a:t>x</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smtClean="0">
                          <a:ln>
                            <a:noFill/>
                          </a:ln>
                          <a:solidFill>
                            <a:schemeClr val="tx1"/>
                          </a:solidFill>
                          <a:effectLst/>
                          <a:latin typeface="Tahoma" pitchFamily="34" charset="0"/>
                          <a:ea typeface="宋体" pitchFamily="2" charset="-122"/>
                        </a:rPr>
                        <a:t>学生人数  </a:t>
                      </a:r>
                      <a:r>
                        <a:rPr kumimoji="1" lang="en-US" altLang="zh-CN" sz="2400" b="1" i="1" u="none" strike="noStrike" cap="none" normalizeH="0" baseline="0" smtClean="0">
                          <a:ln>
                            <a:noFill/>
                          </a:ln>
                          <a:solidFill>
                            <a:schemeClr val="tx1"/>
                          </a:solidFill>
                          <a:effectLst/>
                          <a:latin typeface="Times New Roman" pitchFamily="18" charset="0"/>
                          <a:ea typeface="宋体" pitchFamily="2" charset="-122"/>
                        </a:rPr>
                        <a:t>f</a:t>
                      </a:r>
                      <a:endParaRPr kumimoji="1" lang="en-US" altLang="zh-CN" sz="24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smtClean="0">
                          <a:ln>
                            <a:noFill/>
                          </a:ln>
                          <a:solidFill>
                            <a:srgbClr val="C56B9E"/>
                          </a:solidFill>
                          <a:effectLst/>
                          <a:latin typeface="Tahoma" pitchFamily="34" charset="0"/>
                          <a:ea typeface="宋体" pitchFamily="2" charset="-122"/>
                        </a:rPr>
                        <a:t>离差绝对值</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smtClean="0">
                          <a:ln>
                            <a:noFill/>
                          </a:ln>
                          <a:solidFill>
                            <a:srgbClr val="C56B9E"/>
                          </a:solidFill>
                          <a:effectLst/>
                          <a:latin typeface="Tahoma" pitchFamily="34" charset="0"/>
                          <a:ea typeface="宋体" pitchFamily="2" charset="-122"/>
                        </a:rPr>
                        <a:t>离差绝对值之和</a:t>
                      </a: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85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60</a:t>
                      </a:r>
                      <a:r>
                        <a:rPr kumimoji="1" lang="zh-CN" altLang="en-US" sz="2400" b="1" i="0" u="none" strike="noStrike" cap="none" normalizeH="0" baseline="0" smtClean="0">
                          <a:ln>
                            <a:noFill/>
                          </a:ln>
                          <a:solidFill>
                            <a:schemeClr val="tx1"/>
                          </a:solidFill>
                          <a:effectLst/>
                          <a:latin typeface="Times New Roman" pitchFamily="18" charset="0"/>
                          <a:ea typeface="宋体" pitchFamily="2" charset="-122"/>
                        </a:rPr>
                        <a:t>以下</a:t>
                      </a: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60—70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70—80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80—90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90</a:t>
                      </a:r>
                      <a:r>
                        <a:rPr kumimoji="1" lang="zh-CN" altLang="en-US" sz="2400" b="1" i="0" u="none" strike="noStrike" cap="none" normalizeH="0" baseline="0" smtClean="0">
                          <a:ln>
                            <a:noFill/>
                          </a:ln>
                          <a:solidFill>
                            <a:schemeClr val="tx1"/>
                          </a:solidFill>
                          <a:effectLst/>
                          <a:latin typeface="Times New Roman" pitchFamily="18" charset="0"/>
                          <a:ea typeface="宋体" pitchFamily="2" charset="-122"/>
                        </a:rPr>
                        <a:t>－</a:t>
                      </a: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100 </a:t>
                      </a: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55</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65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75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85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95</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2</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20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20.71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10.71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0.71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9.29</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19.29</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41.42</a:t>
                      </a:r>
                    </a:p>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160.65</a:t>
                      </a:r>
                    </a:p>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13.49</a:t>
                      </a:r>
                    </a:p>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139.35</a:t>
                      </a:r>
                    </a:p>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77.16</a:t>
                      </a: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itchFamily="18" charset="0"/>
                          <a:ea typeface="宋体" pitchFamily="2" charset="-122"/>
                        </a:rPr>
                        <a:t>合计</a:t>
                      </a: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56</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rgbClr val="C56B9E"/>
                          </a:solidFill>
                          <a:effectLst/>
                          <a:latin typeface="Tahoma" pitchFamily="34" charset="0"/>
                          <a:ea typeface="宋体" pitchFamily="2" charset="-122"/>
                        </a:rPr>
                        <a:t>432.07 </a:t>
                      </a: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0962" name="Object 5"/>
          <p:cNvGraphicFramePr>
            <a:graphicFrameLocks noChangeAspect="1"/>
          </p:cNvGraphicFramePr>
          <p:nvPr>
            <p:extLst>
              <p:ext uri="{D42A27DB-BD31-4B8C-83A1-F6EECF244321}">
                <p14:modId xmlns:p14="http://schemas.microsoft.com/office/powerpoint/2010/main" val="3232006676"/>
              </p:ext>
            </p:extLst>
          </p:nvPr>
        </p:nvGraphicFramePr>
        <p:xfrm>
          <a:off x="5398339" y="1610519"/>
          <a:ext cx="792163" cy="520700"/>
        </p:xfrm>
        <a:graphic>
          <a:graphicData uri="http://schemas.openxmlformats.org/presentationml/2006/ole">
            <mc:AlternateContent xmlns:mc="http://schemas.openxmlformats.org/markup-compatibility/2006">
              <mc:Choice xmlns:v="urn:schemas-microsoft-com:vml" Requires="v">
                <p:oleObj spid="_x0000_s41496" name="Equation" r:id="rId3" imgW="393529" imgH="253890" progId="Equation.DSMT4">
                  <p:embed/>
                </p:oleObj>
              </mc:Choice>
              <mc:Fallback>
                <p:oleObj name="Equation" r:id="rId3" imgW="393529" imgH="25389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339" y="1610519"/>
                        <a:ext cx="792163"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3" name="Object 4"/>
          <p:cNvGraphicFramePr>
            <a:graphicFrameLocks noChangeAspect="1"/>
          </p:cNvGraphicFramePr>
          <p:nvPr/>
        </p:nvGraphicFramePr>
        <p:xfrm>
          <a:off x="7092950" y="1773238"/>
          <a:ext cx="863600" cy="452437"/>
        </p:xfrm>
        <a:graphic>
          <a:graphicData uri="http://schemas.openxmlformats.org/presentationml/2006/ole">
            <mc:AlternateContent xmlns:mc="http://schemas.openxmlformats.org/markup-compatibility/2006">
              <mc:Choice xmlns:v="urn:schemas-microsoft-com:vml" Requires="v">
                <p:oleObj spid="_x0000_s41497" name="Equation" r:id="rId5" imgW="494870" imgH="253780" progId="Equation.DSMT4">
                  <p:embed/>
                </p:oleObj>
              </mc:Choice>
              <mc:Fallback>
                <p:oleObj name="Equation" r:id="rId5" imgW="494870" imgH="25378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2950" y="1773238"/>
                        <a:ext cx="863600"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97" name="Rectangle 145"/>
          <p:cNvSpPr>
            <a:spLocks noChangeArrowheads="1"/>
          </p:cNvSpPr>
          <p:nvPr/>
        </p:nvSpPr>
        <p:spPr bwMode="auto">
          <a:xfrm>
            <a:off x="0" y="32099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64" name="Object 144"/>
          <p:cNvGraphicFramePr>
            <a:graphicFrameLocks noChangeAspect="1"/>
          </p:cNvGraphicFramePr>
          <p:nvPr>
            <p:extLst>
              <p:ext uri="{D42A27DB-BD31-4B8C-83A1-F6EECF244321}">
                <p14:modId xmlns:p14="http://schemas.microsoft.com/office/powerpoint/2010/main" val="1883864809"/>
              </p:ext>
            </p:extLst>
          </p:nvPr>
        </p:nvGraphicFramePr>
        <p:xfrm>
          <a:off x="2923493" y="4687887"/>
          <a:ext cx="4608513" cy="1035050"/>
        </p:xfrm>
        <a:graphic>
          <a:graphicData uri="http://schemas.openxmlformats.org/presentationml/2006/ole">
            <mc:AlternateContent xmlns:mc="http://schemas.openxmlformats.org/markup-compatibility/2006">
              <mc:Choice xmlns:v="urn:schemas-microsoft-com:vml" Requires="v">
                <p:oleObj spid="_x0000_s41498" name="公式" r:id="rId7" imgW="2387600" imgH="533400" progId="Equation.3">
                  <p:embed/>
                </p:oleObj>
              </mc:Choice>
              <mc:Fallback>
                <p:oleObj name="公式" r:id="rId7" imgW="2387600" imgH="533400" progId="Equation.3">
                  <p:embed/>
                  <p:pic>
                    <p:nvPicPr>
                      <p:cNvPr id="0" name="Object 1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3493" y="4687887"/>
                        <a:ext cx="4608513"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107</a:t>
            </a:fld>
            <a:endParaRPr lang="en-US" altLang="zh-CN" dirty="0"/>
          </a:p>
        </p:txBody>
      </p:sp>
      <p:sp>
        <p:nvSpPr>
          <p:cNvPr id="2" name="矩形 1"/>
          <p:cNvSpPr/>
          <p:nvPr/>
        </p:nvSpPr>
        <p:spPr>
          <a:xfrm>
            <a:off x="200094" y="4719562"/>
            <a:ext cx="2416046" cy="430824"/>
          </a:xfrm>
          <a:prstGeom prst="rect">
            <a:avLst/>
          </a:prstGeom>
        </p:spPr>
        <p:txBody>
          <a:bodyPr wrap="none">
            <a:spAutoFit/>
          </a:bodyPr>
          <a:lstStyle/>
          <a:p>
            <a:pPr eaLnBrk="1" hangingPunct="1">
              <a:lnSpc>
                <a:spcPct val="90000"/>
              </a:lnSpc>
            </a:pPr>
            <a:r>
              <a:rPr lang="en-US" altLang="zh-CN" dirty="0" smtClean="0"/>
              <a:t>【</a:t>
            </a:r>
            <a:r>
              <a:rPr lang="zh-CN" altLang="en-US" dirty="0" smtClean="0"/>
              <a:t>均值＝</a:t>
            </a:r>
            <a:r>
              <a:rPr lang="en-US" altLang="zh-CN" dirty="0" smtClean="0"/>
              <a:t>75.71】</a:t>
            </a:r>
            <a:endParaRPr lang="en-US" altLang="zh-CN" dirty="0"/>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0" name="Rectangle 2"/>
          <p:cNvSpPr>
            <a:spLocks noChangeArrowheads="1"/>
          </p:cNvSpPr>
          <p:nvPr/>
        </p:nvSpPr>
        <p:spPr bwMode="auto">
          <a:xfrm>
            <a:off x="304800" y="1484313"/>
            <a:ext cx="8839200" cy="3263900"/>
          </a:xfrm>
          <a:prstGeom prst="rect">
            <a:avLst/>
          </a:prstGeom>
          <a:noFill/>
          <a:ln w="9525">
            <a:noFill/>
            <a:miter lim="800000"/>
            <a:headEnd/>
            <a:tailEnd/>
          </a:ln>
        </p:spPr>
        <p:txBody>
          <a:bodyPr>
            <a:spAutoFit/>
          </a:bodyPr>
          <a:lstStyle/>
          <a:p>
            <a:pPr>
              <a:lnSpc>
                <a:spcPct val="110000"/>
              </a:lnSpc>
              <a:spcBef>
                <a:spcPct val="25000"/>
              </a:spcBef>
            </a:pPr>
            <a:r>
              <a:rPr lang="en-US" altLang="zh-CN" sz="3200" b="1" dirty="0">
                <a:ea typeface="宋体" pitchFamily="2" charset="-122"/>
              </a:rPr>
              <a:t>——</a:t>
            </a:r>
            <a:r>
              <a:rPr lang="zh-CN" altLang="en-US" sz="3200" b="1" dirty="0">
                <a:ea typeface="宋体" pitchFamily="2" charset="-122"/>
              </a:rPr>
              <a:t>测度标志变异最重要，最常用的指标。</a:t>
            </a:r>
          </a:p>
          <a:p>
            <a:pPr>
              <a:lnSpc>
                <a:spcPct val="110000"/>
              </a:lnSpc>
              <a:spcBef>
                <a:spcPct val="25000"/>
              </a:spcBef>
            </a:pPr>
            <a:r>
              <a:rPr lang="zh-CN" altLang="en-US" sz="3200" b="1" dirty="0">
                <a:solidFill>
                  <a:srgbClr val="1313FF"/>
                </a:solidFill>
                <a:ea typeface="宋体" pitchFamily="2" charset="-122"/>
              </a:rPr>
              <a:t> 方  差（</a:t>
            </a:r>
            <a:r>
              <a:rPr lang="en-US" altLang="zh-CN" sz="3200" b="1" dirty="0">
                <a:solidFill>
                  <a:srgbClr val="1313FF"/>
                </a:solidFill>
                <a:ea typeface="宋体" pitchFamily="2" charset="-122"/>
              </a:rPr>
              <a:t>Variance</a:t>
            </a:r>
            <a:r>
              <a:rPr lang="zh-CN" altLang="en-US" sz="3200" b="1" dirty="0">
                <a:solidFill>
                  <a:srgbClr val="1313FF"/>
                </a:solidFill>
                <a:ea typeface="宋体" pitchFamily="2" charset="-122"/>
              </a:rPr>
              <a:t>）</a:t>
            </a:r>
          </a:p>
          <a:p>
            <a:pPr lvl="1">
              <a:lnSpc>
                <a:spcPct val="110000"/>
              </a:lnSpc>
              <a:spcBef>
                <a:spcPct val="25000"/>
              </a:spcBef>
            </a:pPr>
            <a:r>
              <a:rPr lang="zh-CN" altLang="en-US" sz="3200" b="1" dirty="0">
                <a:ea typeface="宋体" pitchFamily="2" charset="-122"/>
              </a:rPr>
              <a:t>   </a:t>
            </a:r>
            <a:r>
              <a:rPr lang="en-US" altLang="zh-CN" sz="3200" b="1" dirty="0">
                <a:ea typeface="宋体" pitchFamily="2" charset="-122"/>
              </a:rPr>
              <a:t>——</a:t>
            </a:r>
            <a:r>
              <a:rPr lang="zh-CN" altLang="en-US" sz="3200" b="1" dirty="0">
                <a:ea typeface="宋体" pitchFamily="2" charset="-122"/>
              </a:rPr>
              <a:t>变量值与平均数的离差平方的平均数。</a:t>
            </a:r>
          </a:p>
          <a:p>
            <a:pPr>
              <a:lnSpc>
                <a:spcPct val="110000"/>
              </a:lnSpc>
              <a:spcBef>
                <a:spcPct val="25000"/>
              </a:spcBef>
            </a:pPr>
            <a:r>
              <a:rPr lang="zh-CN" altLang="en-US" sz="3200" b="1" dirty="0">
                <a:solidFill>
                  <a:srgbClr val="1313FF"/>
                </a:solidFill>
                <a:ea typeface="宋体" pitchFamily="2" charset="-122"/>
              </a:rPr>
              <a:t>标准差（</a:t>
            </a:r>
            <a:r>
              <a:rPr lang="en-US" altLang="zh-CN" sz="3200" b="1" dirty="0">
                <a:solidFill>
                  <a:srgbClr val="1313FF"/>
                </a:solidFill>
                <a:ea typeface="宋体" pitchFamily="2" charset="-122"/>
              </a:rPr>
              <a:t>Standard Deviation,</a:t>
            </a:r>
            <a:r>
              <a:rPr lang="zh-CN" altLang="en-US" b="1" dirty="0"/>
              <a:t>又称均方根差</a:t>
            </a:r>
            <a:r>
              <a:rPr lang="en-US" altLang="zh-CN" b="1" dirty="0" smtClean="0"/>
              <a:t>), </a:t>
            </a:r>
            <a:r>
              <a:rPr lang="el-GR" altLang="zh-CN" sz="3200" b="1" i="1" dirty="0" smtClean="0">
                <a:solidFill>
                  <a:srgbClr val="1313FF"/>
                </a:solidFill>
                <a:ea typeface="宋体" pitchFamily="2" charset="-122"/>
              </a:rPr>
              <a:t>σ</a:t>
            </a:r>
            <a:endParaRPr lang="en-US" altLang="zh-CN" dirty="0">
              <a:solidFill>
                <a:srgbClr val="1313FF"/>
              </a:solidFill>
            </a:endParaRPr>
          </a:p>
          <a:p>
            <a:pPr lvl="1">
              <a:lnSpc>
                <a:spcPct val="110000"/>
              </a:lnSpc>
              <a:spcBef>
                <a:spcPct val="25000"/>
              </a:spcBef>
            </a:pPr>
            <a:r>
              <a:rPr lang="zh-CN" altLang="en-US" sz="3200" b="1" dirty="0">
                <a:ea typeface="宋体" pitchFamily="2" charset="-122"/>
              </a:rPr>
              <a:t>＝方差的平方根。</a:t>
            </a:r>
            <a:endParaRPr lang="zh-CN" altLang="en-US" sz="3200" b="1" dirty="0">
              <a:solidFill>
                <a:srgbClr val="1313FF"/>
              </a:solidFill>
              <a:ea typeface="宋体" pitchFamily="2" charset="-122"/>
            </a:endParaRPr>
          </a:p>
        </p:txBody>
      </p:sp>
      <p:graphicFrame>
        <p:nvGraphicFramePr>
          <p:cNvPr id="161799" name="Object 7"/>
          <p:cNvGraphicFramePr>
            <a:graphicFrameLocks noChangeAspect="1"/>
          </p:cNvGraphicFramePr>
          <p:nvPr/>
        </p:nvGraphicFramePr>
        <p:xfrm>
          <a:off x="971600" y="4797152"/>
          <a:ext cx="2808287" cy="1133475"/>
        </p:xfrm>
        <a:graphic>
          <a:graphicData uri="http://schemas.openxmlformats.org/presentationml/2006/ole">
            <mc:AlternateContent xmlns:mc="http://schemas.openxmlformats.org/markup-compatibility/2006">
              <mc:Choice xmlns:v="urn:schemas-microsoft-com:vml" Requires="v">
                <p:oleObj spid="_x0000_s42520" name="公式" r:id="rId3" imgW="939600" imgH="380880" progId="Equation.3">
                  <p:embed/>
                </p:oleObj>
              </mc:Choice>
              <mc:Fallback>
                <p:oleObj name="公式" r:id="rId3" imgW="939600" imgH="3808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797152"/>
                        <a:ext cx="2808287" cy="113347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161800" name="Object 8"/>
          <p:cNvGraphicFramePr>
            <a:graphicFrameLocks noChangeAspect="1"/>
          </p:cNvGraphicFramePr>
          <p:nvPr/>
        </p:nvGraphicFramePr>
        <p:xfrm>
          <a:off x="4572000" y="4509120"/>
          <a:ext cx="3473450" cy="1266825"/>
        </p:xfrm>
        <a:graphic>
          <a:graphicData uri="http://schemas.openxmlformats.org/presentationml/2006/ole">
            <mc:AlternateContent xmlns:mc="http://schemas.openxmlformats.org/markup-compatibility/2006">
              <mc:Choice xmlns:v="urn:schemas-microsoft-com:vml" Requires="v">
                <p:oleObj spid="_x0000_s42521" name="Equation" r:id="rId5" imgW="1930320" imgH="799920" progId="Equation.DSMT4">
                  <p:embed/>
                </p:oleObj>
              </mc:Choice>
              <mc:Fallback>
                <p:oleObj name="Equation" r:id="rId5" imgW="1930320" imgH="79992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4509120"/>
                        <a:ext cx="3473450" cy="126682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41991" name="Rectangle 11"/>
          <p:cNvSpPr>
            <a:spLocks noGrp="1" noChangeArrowheads="1"/>
          </p:cNvSpPr>
          <p:nvPr>
            <p:ph type="title" idx="4294967295"/>
          </p:nvPr>
        </p:nvSpPr>
        <p:spPr>
          <a:xfrm>
            <a:off x="611188" y="404813"/>
            <a:ext cx="7772400" cy="990600"/>
          </a:xfrm>
        </p:spPr>
        <p:txBody>
          <a:bodyPr/>
          <a:lstStyle/>
          <a:p>
            <a:pPr eaLnBrk="1" hangingPunct="1"/>
            <a:r>
              <a:rPr lang="en-US" altLang="zh-CN" dirty="0" smtClean="0">
                <a:solidFill>
                  <a:srgbClr val="1313FF"/>
                </a:solidFill>
              </a:rPr>
              <a:t>3.3.4 </a:t>
            </a:r>
            <a:r>
              <a:rPr lang="zh-CN" altLang="en-US" dirty="0" smtClean="0">
                <a:solidFill>
                  <a:srgbClr val="1313FF"/>
                </a:solidFill>
              </a:rPr>
              <a:t>方差和标准差</a:t>
            </a:r>
          </a:p>
        </p:txBody>
      </p:sp>
      <p:sp>
        <p:nvSpPr>
          <p:cNvPr id="41992" name="Rectangle 1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1988" name="Object 12"/>
          <p:cNvGraphicFramePr>
            <a:graphicFrameLocks noChangeAspect="1"/>
          </p:cNvGraphicFramePr>
          <p:nvPr/>
        </p:nvGraphicFramePr>
        <p:xfrm>
          <a:off x="3924300" y="2133600"/>
          <a:ext cx="576263" cy="576263"/>
        </p:xfrm>
        <a:graphic>
          <a:graphicData uri="http://schemas.openxmlformats.org/presentationml/2006/ole">
            <mc:AlternateContent xmlns:mc="http://schemas.openxmlformats.org/markup-compatibility/2006">
              <mc:Choice xmlns:v="urn:schemas-microsoft-com:vml" Requires="v">
                <p:oleObj spid="_x0000_s42522" name="Equation" r:id="rId7" imgW="203024" imgH="203024" progId="Equation.DSMT4">
                  <p:embed/>
                </p:oleObj>
              </mc:Choice>
              <mc:Fallback>
                <p:oleObj name="Equation" r:id="rId7" imgW="203024" imgH="203024"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2133600"/>
                        <a:ext cx="576263"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1475656" y="5877272"/>
            <a:ext cx="2016224" cy="461665"/>
          </a:xfrm>
          <a:prstGeom prst="rect">
            <a:avLst/>
          </a:prstGeom>
          <a:noFill/>
        </p:spPr>
        <p:txBody>
          <a:bodyPr wrap="square" rtlCol="0">
            <a:spAutoFit/>
          </a:bodyPr>
          <a:lstStyle/>
          <a:p>
            <a:r>
              <a:rPr lang="zh-CN" altLang="en-US" b="1" dirty="0" smtClean="0">
                <a:latin typeface="宋体" pitchFamily="2" charset="-122"/>
                <a:ea typeface="宋体" pitchFamily="2" charset="-122"/>
              </a:rPr>
              <a:t>（未分组时）</a:t>
            </a:r>
            <a:endParaRPr lang="zh-CN" altLang="en-US" b="1" dirty="0">
              <a:latin typeface="宋体" pitchFamily="2" charset="-122"/>
              <a:ea typeface="宋体" pitchFamily="2" charset="-122"/>
            </a:endParaRPr>
          </a:p>
        </p:txBody>
      </p:sp>
      <p:sp>
        <p:nvSpPr>
          <p:cNvPr id="11" name="TextBox 10"/>
          <p:cNvSpPr txBox="1"/>
          <p:nvPr/>
        </p:nvSpPr>
        <p:spPr>
          <a:xfrm>
            <a:off x="5436096" y="5877272"/>
            <a:ext cx="2016224" cy="461665"/>
          </a:xfrm>
          <a:prstGeom prst="rect">
            <a:avLst/>
          </a:prstGeom>
          <a:noFill/>
        </p:spPr>
        <p:txBody>
          <a:bodyPr wrap="square" rtlCol="0">
            <a:spAutoFit/>
          </a:bodyPr>
          <a:lstStyle/>
          <a:p>
            <a:r>
              <a:rPr lang="zh-CN" altLang="en-US" b="1" dirty="0" smtClean="0">
                <a:latin typeface="宋体" pitchFamily="2" charset="-122"/>
                <a:ea typeface="宋体" pitchFamily="2" charset="-122"/>
              </a:rPr>
              <a:t>（分组时）</a:t>
            </a:r>
            <a:endParaRPr lang="zh-CN" altLang="en-US" b="1" dirty="0">
              <a:latin typeface="宋体" pitchFamily="2" charset="-122"/>
              <a:ea typeface="宋体" pitchFamily="2" charset="-122"/>
            </a:endParaRPr>
          </a:p>
        </p:txBody>
      </p:sp>
      <p:sp>
        <p:nvSpPr>
          <p:cNvPr id="12" name="灯片编号占位符 11"/>
          <p:cNvSpPr>
            <a:spLocks noGrp="1"/>
          </p:cNvSpPr>
          <p:nvPr>
            <p:ph type="sldNum" sz="quarter" idx="12"/>
          </p:nvPr>
        </p:nvSpPr>
        <p:spPr/>
        <p:txBody>
          <a:bodyPr/>
          <a:lstStyle/>
          <a:p>
            <a:pPr>
              <a:defRPr/>
            </a:pPr>
            <a:fld id="{4D36EFB7-0D9F-4BC1-ADE9-F0E399591344}" type="slidenum">
              <a:rPr lang="en-US" altLang="zh-CN" smtClean="0"/>
              <a:pPr>
                <a:defRPr/>
              </a:pPr>
              <a:t>108</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61799"/>
                                        </p:tgtEl>
                                        <p:attrNameLst>
                                          <p:attrName>style.visibility</p:attrName>
                                        </p:attrNameLst>
                                      </p:cBhvr>
                                      <p:to>
                                        <p:strVal val="visible"/>
                                      </p:to>
                                    </p:set>
                                    <p:anim calcmode="lin" valueType="num">
                                      <p:cBhvr>
                                        <p:cTn id="7" dur="500" fill="hold"/>
                                        <p:tgtEl>
                                          <p:spTgt spid="161799"/>
                                        </p:tgtEl>
                                        <p:attrNameLst>
                                          <p:attrName>ppt_x</p:attrName>
                                        </p:attrNameLst>
                                      </p:cBhvr>
                                      <p:tavLst>
                                        <p:tav tm="0">
                                          <p:val>
                                            <p:strVal val="#ppt_x-#ppt_w/2"/>
                                          </p:val>
                                        </p:tav>
                                        <p:tav tm="100000">
                                          <p:val>
                                            <p:strVal val="#ppt_x"/>
                                          </p:val>
                                        </p:tav>
                                      </p:tavLst>
                                    </p:anim>
                                    <p:anim calcmode="lin" valueType="num">
                                      <p:cBhvr>
                                        <p:cTn id="8" dur="500" fill="hold"/>
                                        <p:tgtEl>
                                          <p:spTgt spid="161799"/>
                                        </p:tgtEl>
                                        <p:attrNameLst>
                                          <p:attrName>ppt_y</p:attrName>
                                        </p:attrNameLst>
                                      </p:cBhvr>
                                      <p:tavLst>
                                        <p:tav tm="0">
                                          <p:val>
                                            <p:strVal val="#ppt_y"/>
                                          </p:val>
                                        </p:tav>
                                        <p:tav tm="100000">
                                          <p:val>
                                            <p:strVal val="#ppt_y"/>
                                          </p:val>
                                        </p:tav>
                                      </p:tavLst>
                                    </p:anim>
                                    <p:anim calcmode="lin" valueType="num">
                                      <p:cBhvr>
                                        <p:cTn id="9" dur="500" fill="hold"/>
                                        <p:tgtEl>
                                          <p:spTgt spid="161799"/>
                                        </p:tgtEl>
                                        <p:attrNameLst>
                                          <p:attrName>ppt_w</p:attrName>
                                        </p:attrNameLst>
                                      </p:cBhvr>
                                      <p:tavLst>
                                        <p:tav tm="0">
                                          <p:val>
                                            <p:fltVal val="0"/>
                                          </p:val>
                                        </p:tav>
                                        <p:tav tm="100000">
                                          <p:val>
                                            <p:strVal val="#ppt_w"/>
                                          </p:val>
                                        </p:tav>
                                      </p:tavLst>
                                    </p:anim>
                                    <p:anim calcmode="lin" valueType="num">
                                      <p:cBhvr>
                                        <p:cTn id="10" dur="500" fill="hold"/>
                                        <p:tgtEl>
                                          <p:spTgt spid="16179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161800"/>
                                        </p:tgtEl>
                                        <p:attrNameLst>
                                          <p:attrName>style.visibility</p:attrName>
                                        </p:attrNameLst>
                                      </p:cBhvr>
                                      <p:to>
                                        <p:strVal val="visible"/>
                                      </p:to>
                                    </p:set>
                                    <p:anim calcmode="lin" valueType="num">
                                      <p:cBhvr>
                                        <p:cTn id="15" dur="500" fill="hold"/>
                                        <p:tgtEl>
                                          <p:spTgt spid="161800"/>
                                        </p:tgtEl>
                                        <p:attrNameLst>
                                          <p:attrName>ppt_x</p:attrName>
                                        </p:attrNameLst>
                                      </p:cBhvr>
                                      <p:tavLst>
                                        <p:tav tm="0">
                                          <p:val>
                                            <p:strVal val="#ppt_x+#ppt_w/2"/>
                                          </p:val>
                                        </p:tav>
                                        <p:tav tm="100000">
                                          <p:val>
                                            <p:strVal val="#ppt_x"/>
                                          </p:val>
                                        </p:tav>
                                      </p:tavLst>
                                    </p:anim>
                                    <p:anim calcmode="lin" valueType="num">
                                      <p:cBhvr>
                                        <p:cTn id="16" dur="500" fill="hold"/>
                                        <p:tgtEl>
                                          <p:spTgt spid="161800"/>
                                        </p:tgtEl>
                                        <p:attrNameLst>
                                          <p:attrName>ppt_y</p:attrName>
                                        </p:attrNameLst>
                                      </p:cBhvr>
                                      <p:tavLst>
                                        <p:tav tm="0">
                                          <p:val>
                                            <p:strVal val="#ppt_y"/>
                                          </p:val>
                                        </p:tav>
                                        <p:tav tm="100000">
                                          <p:val>
                                            <p:strVal val="#ppt_y"/>
                                          </p:val>
                                        </p:tav>
                                      </p:tavLst>
                                    </p:anim>
                                    <p:anim calcmode="lin" valueType="num">
                                      <p:cBhvr>
                                        <p:cTn id="17" dur="500" fill="hold"/>
                                        <p:tgtEl>
                                          <p:spTgt spid="161800"/>
                                        </p:tgtEl>
                                        <p:attrNameLst>
                                          <p:attrName>ppt_w</p:attrName>
                                        </p:attrNameLst>
                                      </p:cBhvr>
                                      <p:tavLst>
                                        <p:tav tm="0">
                                          <p:val>
                                            <p:fltVal val="0"/>
                                          </p:val>
                                        </p:tav>
                                        <p:tav tm="100000">
                                          <p:val>
                                            <p:strVal val="#ppt_w"/>
                                          </p:val>
                                        </p:tav>
                                      </p:tavLst>
                                    </p:anim>
                                    <p:anim calcmode="lin" valueType="num">
                                      <p:cBhvr>
                                        <p:cTn id="18" dur="500" fill="hold"/>
                                        <p:tgtEl>
                                          <p:spTgt spid="16180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1317" name="Object 5"/>
          <p:cNvGraphicFramePr>
            <a:graphicFrameLocks noChangeAspect="1"/>
          </p:cNvGraphicFramePr>
          <p:nvPr/>
        </p:nvGraphicFramePr>
        <p:xfrm>
          <a:off x="4932363" y="765175"/>
          <a:ext cx="914400" cy="381000"/>
        </p:xfrm>
        <a:graphic>
          <a:graphicData uri="http://schemas.openxmlformats.org/presentationml/2006/ole">
            <mc:AlternateContent xmlns:mc="http://schemas.openxmlformats.org/markup-compatibility/2006">
              <mc:Choice xmlns:v="urn:schemas-microsoft-com:vml" Requires="v">
                <p:oleObj spid="_x0000_s43718" r:id="rId3" imgW="545626" imgH="203024" progId="Equation.3">
                  <p:embed/>
                </p:oleObj>
              </mc:Choice>
              <mc:Fallback>
                <p:oleObj r:id="rId3" imgW="545626" imgH="203024"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765175"/>
                        <a:ext cx="914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1318" name="Object 6"/>
          <p:cNvGraphicFramePr>
            <a:graphicFrameLocks noChangeAspect="1"/>
          </p:cNvGraphicFramePr>
          <p:nvPr/>
        </p:nvGraphicFramePr>
        <p:xfrm>
          <a:off x="6804025" y="692150"/>
          <a:ext cx="1219200" cy="457200"/>
        </p:xfrm>
        <a:graphic>
          <a:graphicData uri="http://schemas.openxmlformats.org/presentationml/2006/ole">
            <mc:AlternateContent xmlns:mc="http://schemas.openxmlformats.org/markup-compatibility/2006">
              <mc:Choice xmlns:v="urn:schemas-microsoft-com:vml" Requires="v">
                <p:oleObj spid="_x0000_s43719" r:id="rId5" imgW="977476" imgH="304668" progId="Equation.3">
                  <p:embed/>
                </p:oleObj>
              </mc:Choice>
              <mc:Fallback>
                <p:oleObj r:id="rId5" imgW="977476" imgH="304668"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692150"/>
                        <a:ext cx="1219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3015" name="Group 7"/>
          <p:cNvGrpSpPr>
            <a:grpSpLocks/>
          </p:cNvGrpSpPr>
          <p:nvPr/>
        </p:nvGrpSpPr>
        <p:grpSpPr bwMode="auto">
          <a:xfrm>
            <a:off x="468313" y="765175"/>
            <a:ext cx="7923212" cy="2736850"/>
            <a:chOff x="-3" y="-3"/>
            <a:chExt cx="4475" cy="3233"/>
          </a:xfrm>
        </p:grpSpPr>
        <p:grpSp>
          <p:nvGrpSpPr>
            <p:cNvPr id="43019" name="Group 8"/>
            <p:cNvGrpSpPr>
              <a:grpSpLocks/>
            </p:cNvGrpSpPr>
            <p:nvPr/>
          </p:nvGrpSpPr>
          <p:grpSpPr bwMode="auto">
            <a:xfrm>
              <a:off x="0" y="0"/>
              <a:ext cx="4469" cy="3227"/>
              <a:chOff x="0" y="0"/>
              <a:chExt cx="4469" cy="3227"/>
            </a:xfrm>
          </p:grpSpPr>
          <p:grpSp>
            <p:nvGrpSpPr>
              <p:cNvPr id="43021" name="Group 9"/>
              <p:cNvGrpSpPr>
                <a:grpSpLocks/>
              </p:cNvGrpSpPr>
              <p:nvPr/>
            </p:nvGrpSpPr>
            <p:grpSpPr bwMode="auto">
              <a:xfrm>
                <a:off x="0" y="0"/>
                <a:ext cx="1073" cy="461"/>
                <a:chOff x="0" y="0"/>
                <a:chExt cx="1073" cy="461"/>
              </a:xfrm>
            </p:grpSpPr>
            <p:sp>
              <p:nvSpPr>
                <p:cNvPr id="43103" name="Rectangle 10"/>
                <p:cNvSpPr>
                  <a:spLocks noChangeArrowheads="1"/>
                </p:cNvSpPr>
                <p:nvPr/>
              </p:nvSpPr>
              <p:spPr bwMode="auto">
                <a:xfrm>
                  <a:off x="43" y="0"/>
                  <a:ext cx="987" cy="461"/>
                </a:xfrm>
                <a:prstGeom prst="rect">
                  <a:avLst/>
                </a:prstGeom>
                <a:noFill/>
                <a:ln w="9525">
                  <a:noFill/>
                  <a:miter lim="800000"/>
                  <a:headEnd/>
                  <a:tailEnd/>
                </a:ln>
              </p:spPr>
              <p:txBody>
                <a:bodyPr/>
                <a:lstStyle/>
                <a:p>
                  <a:r>
                    <a:rPr lang="zh-CN" altLang="en-US" sz="2800">
                      <a:solidFill>
                        <a:srgbClr val="008000"/>
                      </a:solidFill>
                      <a:ea typeface="宋体" pitchFamily="2" charset="-122"/>
                    </a:rPr>
                    <a:t>成绩</a:t>
                  </a:r>
                  <a:r>
                    <a:rPr lang="zh-CN" altLang="en-US" sz="2000">
                      <a:solidFill>
                        <a:srgbClr val="008000"/>
                      </a:solidFill>
                      <a:ea typeface="宋体" pitchFamily="2" charset="-122"/>
                    </a:rPr>
                    <a:t>（分）</a:t>
                  </a:r>
                </a:p>
                <a:p>
                  <a:pPr algn="just" eaLnBrk="0" hangingPunct="0"/>
                  <a:endParaRPr lang="en-US" altLang="zh-CN" sz="2800">
                    <a:solidFill>
                      <a:srgbClr val="008000"/>
                    </a:solidFill>
                    <a:ea typeface="宋体" pitchFamily="2" charset="-122"/>
                  </a:endParaRPr>
                </a:p>
              </p:txBody>
            </p:sp>
            <p:sp>
              <p:nvSpPr>
                <p:cNvPr id="43104" name="Rectangle 11"/>
                <p:cNvSpPr>
                  <a:spLocks noChangeArrowheads="1"/>
                </p:cNvSpPr>
                <p:nvPr/>
              </p:nvSpPr>
              <p:spPr bwMode="auto">
                <a:xfrm>
                  <a:off x="0" y="0"/>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22" name="Group 12"/>
              <p:cNvGrpSpPr>
                <a:grpSpLocks/>
              </p:cNvGrpSpPr>
              <p:nvPr/>
            </p:nvGrpSpPr>
            <p:grpSpPr bwMode="auto">
              <a:xfrm>
                <a:off x="1073" y="0"/>
                <a:ext cx="1188" cy="461"/>
                <a:chOff x="1073" y="0"/>
                <a:chExt cx="1188" cy="461"/>
              </a:xfrm>
            </p:grpSpPr>
            <p:sp>
              <p:nvSpPr>
                <p:cNvPr id="43101" name="Rectangle 13"/>
                <p:cNvSpPr>
                  <a:spLocks noChangeArrowheads="1"/>
                </p:cNvSpPr>
                <p:nvPr/>
              </p:nvSpPr>
              <p:spPr bwMode="auto">
                <a:xfrm>
                  <a:off x="1116" y="0"/>
                  <a:ext cx="1102" cy="461"/>
                </a:xfrm>
                <a:prstGeom prst="rect">
                  <a:avLst/>
                </a:prstGeom>
                <a:noFill/>
                <a:ln w="9525">
                  <a:noFill/>
                  <a:miter lim="800000"/>
                  <a:headEnd/>
                  <a:tailEnd/>
                </a:ln>
              </p:spPr>
              <p:txBody>
                <a:bodyPr/>
                <a:lstStyle/>
                <a:p>
                  <a:pPr algn="just"/>
                  <a:r>
                    <a:rPr lang="zh-CN" altLang="en-US" sz="2800">
                      <a:solidFill>
                        <a:srgbClr val="008000"/>
                      </a:solidFill>
                      <a:ea typeface="宋体" pitchFamily="2" charset="-122"/>
                    </a:rPr>
                    <a:t>学生人数</a:t>
                  </a:r>
                </a:p>
                <a:p>
                  <a:pPr algn="just" eaLnBrk="0" hangingPunct="0"/>
                  <a:endParaRPr lang="en-US" altLang="zh-CN" sz="2800">
                    <a:solidFill>
                      <a:srgbClr val="008000"/>
                    </a:solidFill>
                    <a:ea typeface="宋体" pitchFamily="2" charset="-122"/>
                  </a:endParaRPr>
                </a:p>
              </p:txBody>
            </p:sp>
            <p:sp>
              <p:nvSpPr>
                <p:cNvPr id="43102" name="Rectangle 14"/>
                <p:cNvSpPr>
                  <a:spLocks noChangeArrowheads="1"/>
                </p:cNvSpPr>
                <p:nvPr/>
              </p:nvSpPr>
              <p:spPr bwMode="auto">
                <a:xfrm>
                  <a:off x="1073" y="0"/>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23" name="Group 15"/>
              <p:cNvGrpSpPr>
                <a:grpSpLocks/>
              </p:cNvGrpSpPr>
              <p:nvPr/>
            </p:nvGrpSpPr>
            <p:grpSpPr bwMode="auto">
              <a:xfrm>
                <a:off x="2261" y="0"/>
                <a:ext cx="1127" cy="461"/>
                <a:chOff x="2261" y="0"/>
                <a:chExt cx="1127" cy="461"/>
              </a:xfrm>
            </p:grpSpPr>
            <p:sp>
              <p:nvSpPr>
                <p:cNvPr id="43099" name="Rectangle 16"/>
                <p:cNvSpPr>
                  <a:spLocks noChangeArrowheads="1"/>
                </p:cNvSpPr>
                <p:nvPr/>
              </p:nvSpPr>
              <p:spPr bwMode="auto">
                <a:xfrm>
                  <a:off x="2304" y="0"/>
                  <a:ext cx="1041" cy="461"/>
                </a:xfrm>
                <a:prstGeom prst="rect">
                  <a:avLst/>
                </a:prstGeom>
                <a:noFill/>
                <a:ln w="9525">
                  <a:noFill/>
                  <a:miter lim="800000"/>
                  <a:headEnd/>
                  <a:tailEnd/>
                </a:ln>
              </p:spPr>
              <p:txBody>
                <a:bodyPr/>
                <a:lstStyle/>
                <a:p>
                  <a:pPr algn="just"/>
                  <a:endParaRPr lang="en-US" altLang="zh-CN" sz="2800">
                    <a:solidFill>
                      <a:srgbClr val="008000"/>
                    </a:solidFill>
                    <a:ea typeface="宋体" pitchFamily="2" charset="-122"/>
                  </a:endParaRPr>
                </a:p>
                <a:p>
                  <a:pPr algn="just" eaLnBrk="0" hangingPunct="0"/>
                  <a:endParaRPr lang="en-US" altLang="zh-CN" sz="2800">
                    <a:solidFill>
                      <a:srgbClr val="008000"/>
                    </a:solidFill>
                    <a:ea typeface="宋体" pitchFamily="2" charset="-122"/>
                  </a:endParaRPr>
                </a:p>
              </p:txBody>
            </p:sp>
            <p:sp>
              <p:nvSpPr>
                <p:cNvPr id="43100" name="Rectangle 17"/>
                <p:cNvSpPr>
                  <a:spLocks noChangeArrowheads="1"/>
                </p:cNvSpPr>
                <p:nvPr/>
              </p:nvSpPr>
              <p:spPr bwMode="auto">
                <a:xfrm>
                  <a:off x="2261" y="0"/>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24" name="Group 18"/>
              <p:cNvGrpSpPr>
                <a:grpSpLocks/>
              </p:cNvGrpSpPr>
              <p:nvPr/>
            </p:nvGrpSpPr>
            <p:grpSpPr bwMode="auto">
              <a:xfrm>
                <a:off x="3388" y="0"/>
                <a:ext cx="1081" cy="461"/>
                <a:chOff x="3388" y="0"/>
                <a:chExt cx="1081" cy="461"/>
              </a:xfrm>
            </p:grpSpPr>
            <p:sp>
              <p:nvSpPr>
                <p:cNvPr id="43097" name="Rectangle 19"/>
                <p:cNvSpPr>
                  <a:spLocks noChangeArrowheads="1" noTextEdit="1"/>
                </p:cNvSpPr>
                <p:nvPr/>
              </p:nvSpPr>
              <p:spPr bwMode="auto">
                <a:xfrm>
                  <a:off x="3431" y="0"/>
                  <a:ext cx="995" cy="461"/>
                </a:xfrm>
                <a:prstGeom prst="rect">
                  <a:avLst/>
                </a:prstGeom>
                <a:noFill/>
                <a:ln w="9525">
                  <a:noFill/>
                  <a:miter lim="800000"/>
                  <a:headEnd/>
                  <a:tailEnd/>
                </a:ln>
              </p:spPr>
              <p:txBody>
                <a:bodyPr>
                  <a:spAutoFit/>
                </a:bodyPr>
                <a:lstStyle/>
                <a:p>
                  <a:endParaRPr lang="zh-CN" altLang="en-US"/>
                </a:p>
              </p:txBody>
            </p:sp>
            <p:sp>
              <p:nvSpPr>
                <p:cNvPr id="43098" name="Rectangle 20"/>
                <p:cNvSpPr>
                  <a:spLocks noChangeArrowheads="1"/>
                </p:cNvSpPr>
                <p:nvPr/>
              </p:nvSpPr>
              <p:spPr bwMode="auto">
                <a:xfrm>
                  <a:off x="3388" y="0"/>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25" name="Group 21"/>
              <p:cNvGrpSpPr>
                <a:grpSpLocks/>
              </p:cNvGrpSpPr>
              <p:nvPr/>
            </p:nvGrpSpPr>
            <p:grpSpPr bwMode="auto">
              <a:xfrm>
                <a:off x="0" y="461"/>
                <a:ext cx="1073" cy="461"/>
                <a:chOff x="0" y="461"/>
                <a:chExt cx="1073" cy="461"/>
              </a:xfrm>
            </p:grpSpPr>
            <p:sp>
              <p:nvSpPr>
                <p:cNvPr id="43095" name="Rectangle 22"/>
                <p:cNvSpPr>
                  <a:spLocks noChangeArrowheads="1"/>
                </p:cNvSpPr>
                <p:nvPr/>
              </p:nvSpPr>
              <p:spPr bwMode="auto">
                <a:xfrm>
                  <a:off x="43" y="461"/>
                  <a:ext cx="987" cy="461"/>
                </a:xfrm>
                <a:prstGeom prst="rect">
                  <a:avLst/>
                </a:prstGeom>
                <a:noFill/>
                <a:ln w="9525">
                  <a:noFill/>
                  <a:miter lim="800000"/>
                  <a:headEnd/>
                  <a:tailEnd/>
                </a:ln>
              </p:spPr>
              <p:txBody>
                <a:bodyPr/>
                <a:lstStyle/>
                <a:p>
                  <a:pPr algn="just"/>
                  <a:r>
                    <a:rPr lang="en-US" altLang="zh-CN" sz="2800">
                      <a:solidFill>
                        <a:srgbClr val="008000"/>
                      </a:solidFill>
                      <a:ea typeface="宋体" pitchFamily="2" charset="-122"/>
                    </a:rPr>
                    <a:t>55</a:t>
                  </a:r>
                </a:p>
                <a:p>
                  <a:pPr algn="just" eaLnBrk="0" hangingPunct="0"/>
                  <a:endParaRPr lang="en-US" altLang="zh-CN" sz="2800">
                    <a:solidFill>
                      <a:srgbClr val="008000"/>
                    </a:solidFill>
                    <a:ea typeface="宋体" pitchFamily="2" charset="-122"/>
                  </a:endParaRPr>
                </a:p>
              </p:txBody>
            </p:sp>
            <p:sp>
              <p:nvSpPr>
                <p:cNvPr id="43096" name="Rectangle 23"/>
                <p:cNvSpPr>
                  <a:spLocks noChangeArrowheads="1"/>
                </p:cNvSpPr>
                <p:nvPr/>
              </p:nvSpPr>
              <p:spPr bwMode="auto">
                <a:xfrm>
                  <a:off x="0" y="461"/>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26" name="Group 24"/>
              <p:cNvGrpSpPr>
                <a:grpSpLocks/>
              </p:cNvGrpSpPr>
              <p:nvPr/>
            </p:nvGrpSpPr>
            <p:grpSpPr bwMode="auto">
              <a:xfrm>
                <a:off x="1073" y="461"/>
                <a:ext cx="1188" cy="461"/>
                <a:chOff x="1073" y="461"/>
                <a:chExt cx="1188" cy="461"/>
              </a:xfrm>
            </p:grpSpPr>
            <p:sp>
              <p:nvSpPr>
                <p:cNvPr id="43093" name="Rectangle 25"/>
                <p:cNvSpPr>
                  <a:spLocks noChangeArrowheads="1"/>
                </p:cNvSpPr>
                <p:nvPr/>
              </p:nvSpPr>
              <p:spPr bwMode="auto">
                <a:xfrm>
                  <a:off x="1116" y="461"/>
                  <a:ext cx="1102" cy="461"/>
                </a:xfrm>
                <a:prstGeom prst="rect">
                  <a:avLst/>
                </a:prstGeom>
                <a:noFill/>
                <a:ln w="9525">
                  <a:noFill/>
                  <a:miter lim="800000"/>
                  <a:headEnd/>
                  <a:tailEnd/>
                </a:ln>
              </p:spPr>
              <p:txBody>
                <a:bodyPr/>
                <a:lstStyle/>
                <a:p>
                  <a:pPr algn="just" eaLnBrk="0" hangingPunct="0"/>
                  <a:r>
                    <a:rPr lang="en-US" altLang="zh-CN" sz="2800" dirty="0" smtClean="0">
                      <a:solidFill>
                        <a:srgbClr val="008000"/>
                      </a:solidFill>
                      <a:ea typeface="宋体" pitchFamily="2" charset="-122"/>
                    </a:rPr>
                    <a:t>     2</a:t>
                  </a:r>
                  <a:endParaRPr lang="en-US" altLang="zh-CN" sz="2800" dirty="0">
                    <a:solidFill>
                      <a:srgbClr val="008000"/>
                    </a:solidFill>
                    <a:ea typeface="宋体" pitchFamily="2" charset="-122"/>
                  </a:endParaRPr>
                </a:p>
              </p:txBody>
            </p:sp>
            <p:sp>
              <p:nvSpPr>
                <p:cNvPr id="43094" name="Rectangle 26"/>
                <p:cNvSpPr>
                  <a:spLocks noChangeArrowheads="1"/>
                </p:cNvSpPr>
                <p:nvPr/>
              </p:nvSpPr>
              <p:spPr bwMode="auto">
                <a:xfrm>
                  <a:off x="1073" y="461"/>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27" name="Group 27"/>
              <p:cNvGrpSpPr>
                <a:grpSpLocks/>
              </p:cNvGrpSpPr>
              <p:nvPr/>
            </p:nvGrpSpPr>
            <p:grpSpPr bwMode="auto">
              <a:xfrm>
                <a:off x="2261" y="461"/>
                <a:ext cx="1127" cy="461"/>
                <a:chOff x="2261" y="461"/>
                <a:chExt cx="1127" cy="461"/>
              </a:xfrm>
            </p:grpSpPr>
            <p:sp>
              <p:nvSpPr>
                <p:cNvPr id="43091" name="Rectangle 28"/>
                <p:cNvSpPr>
                  <a:spLocks noChangeArrowheads="1"/>
                </p:cNvSpPr>
                <p:nvPr/>
              </p:nvSpPr>
              <p:spPr bwMode="auto">
                <a:xfrm>
                  <a:off x="2304" y="461"/>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-20.71</a:t>
                  </a:r>
                </a:p>
                <a:p>
                  <a:pPr algn="r" eaLnBrk="0" hangingPunct="0"/>
                  <a:endParaRPr lang="en-US" altLang="zh-CN" sz="2800">
                    <a:solidFill>
                      <a:srgbClr val="008000"/>
                    </a:solidFill>
                    <a:ea typeface="宋体" pitchFamily="2" charset="-122"/>
                  </a:endParaRPr>
                </a:p>
              </p:txBody>
            </p:sp>
            <p:sp>
              <p:nvSpPr>
                <p:cNvPr id="43092" name="Rectangle 29"/>
                <p:cNvSpPr>
                  <a:spLocks noChangeArrowheads="1"/>
                </p:cNvSpPr>
                <p:nvPr/>
              </p:nvSpPr>
              <p:spPr bwMode="auto">
                <a:xfrm>
                  <a:off x="2261" y="461"/>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28" name="Group 30"/>
              <p:cNvGrpSpPr>
                <a:grpSpLocks/>
              </p:cNvGrpSpPr>
              <p:nvPr/>
            </p:nvGrpSpPr>
            <p:grpSpPr bwMode="auto">
              <a:xfrm>
                <a:off x="3388" y="461"/>
                <a:ext cx="1081" cy="461"/>
                <a:chOff x="3388" y="461"/>
                <a:chExt cx="1081" cy="461"/>
              </a:xfrm>
            </p:grpSpPr>
            <p:sp>
              <p:nvSpPr>
                <p:cNvPr id="43089" name="Rectangle 31"/>
                <p:cNvSpPr>
                  <a:spLocks noChangeArrowheads="1"/>
                </p:cNvSpPr>
                <p:nvPr/>
              </p:nvSpPr>
              <p:spPr bwMode="auto">
                <a:xfrm>
                  <a:off x="3431" y="461"/>
                  <a:ext cx="995" cy="461"/>
                </a:xfrm>
                <a:prstGeom prst="rect">
                  <a:avLst/>
                </a:prstGeom>
                <a:noFill/>
                <a:ln w="9525">
                  <a:noFill/>
                  <a:miter lim="800000"/>
                  <a:headEnd/>
                  <a:tailEnd/>
                </a:ln>
              </p:spPr>
              <p:txBody>
                <a:bodyPr/>
                <a:lstStyle/>
                <a:p>
                  <a:pPr algn="r"/>
                  <a:r>
                    <a:rPr lang="en-US" altLang="zh-CN" sz="2800" dirty="0">
                      <a:solidFill>
                        <a:srgbClr val="008000"/>
                      </a:solidFill>
                      <a:ea typeface="宋体" pitchFamily="2" charset="-122"/>
                    </a:rPr>
                    <a:t>857.808</a:t>
                  </a:r>
                </a:p>
                <a:p>
                  <a:pPr algn="just" eaLnBrk="0" hangingPunct="0"/>
                  <a:endParaRPr lang="en-US" altLang="zh-CN" sz="2800" dirty="0">
                    <a:solidFill>
                      <a:srgbClr val="008000"/>
                    </a:solidFill>
                    <a:ea typeface="宋体" pitchFamily="2" charset="-122"/>
                  </a:endParaRPr>
                </a:p>
              </p:txBody>
            </p:sp>
            <p:sp>
              <p:nvSpPr>
                <p:cNvPr id="43090" name="Rectangle 32"/>
                <p:cNvSpPr>
                  <a:spLocks noChangeArrowheads="1"/>
                </p:cNvSpPr>
                <p:nvPr/>
              </p:nvSpPr>
              <p:spPr bwMode="auto">
                <a:xfrm>
                  <a:off x="3388" y="461"/>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29" name="Group 33"/>
              <p:cNvGrpSpPr>
                <a:grpSpLocks/>
              </p:cNvGrpSpPr>
              <p:nvPr/>
            </p:nvGrpSpPr>
            <p:grpSpPr bwMode="auto">
              <a:xfrm>
                <a:off x="0" y="922"/>
                <a:ext cx="1073" cy="461"/>
                <a:chOff x="0" y="922"/>
                <a:chExt cx="1073" cy="461"/>
              </a:xfrm>
            </p:grpSpPr>
            <p:sp>
              <p:nvSpPr>
                <p:cNvPr id="43087" name="Rectangle 34"/>
                <p:cNvSpPr>
                  <a:spLocks noChangeArrowheads="1"/>
                </p:cNvSpPr>
                <p:nvPr/>
              </p:nvSpPr>
              <p:spPr bwMode="auto">
                <a:xfrm>
                  <a:off x="43" y="922"/>
                  <a:ext cx="987" cy="461"/>
                </a:xfrm>
                <a:prstGeom prst="rect">
                  <a:avLst/>
                </a:prstGeom>
                <a:noFill/>
                <a:ln w="9525">
                  <a:noFill/>
                  <a:miter lim="800000"/>
                  <a:headEnd/>
                  <a:tailEnd/>
                </a:ln>
              </p:spPr>
              <p:txBody>
                <a:bodyPr/>
                <a:lstStyle/>
                <a:p>
                  <a:pPr algn="just"/>
                  <a:r>
                    <a:rPr lang="en-US" altLang="zh-CN" sz="2800">
                      <a:solidFill>
                        <a:srgbClr val="008000"/>
                      </a:solidFill>
                      <a:ea typeface="宋体" pitchFamily="2" charset="-122"/>
                    </a:rPr>
                    <a:t>65</a:t>
                  </a:r>
                </a:p>
                <a:p>
                  <a:pPr algn="just" eaLnBrk="0" hangingPunct="0"/>
                  <a:endParaRPr lang="en-US" altLang="zh-CN" sz="2800">
                    <a:solidFill>
                      <a:srgbClr val="008000"/>
                    </a:solidFill>
                    <a:ea typeface="宋体" pitchFamily="2" charset="-122"/>
                  </a:endParaRPr>
                </a:p>
              </p:txBody>
            </p:sp>
            <p:sp>
              <p:nvSpPr>
                <p:cNvPr id="43088" name="Rectangle 35"/>
                <p:cNvSpPr>
                  <a:spLocks noChangeArrowheads="1"/>
                </p:cNvSpPr>
                <p:nvPr/>
              </p:nvSpPr>
              <p:spPr bwMode="auto">
                <a:xfrm>
                  <a:off x="0" y="922"/>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30" name="Group 36"/>
              <p:cNvGrpSpPr>
                <a:grpSpLocks/>
              </p:cNvGrpSpPr>
              <p:nvPr/>
            </p:nvGrpSpPr>
            <p:grpSpPr bwMode="auto">
              <a:xfrm>
                <a:off x="1073" y="922"/>
                <a:ext cx="1188" cy="461"/>
                <a:chOff x="1073" y="922"/>
                <a:chExt cx="1188" cy="461"/>
              </a:xfrm>
            </p:grpSpPr>
            <p:sp>
              <p:nvSpPr>
                <p:cNvPr id="43085" name="Rectangle 37"/>
                <p:cNvSpPr>
                  <a:spLocks noChangeArrowheads="1"/>
                </p:cNvSpPr>
                <p:nvPr/>
              </p:nvSpPr>
              <p:spPr bwMode="auto">
                <a:xfrm>
                  <a:off x="1116" y="922"/>
                  <a:ext cx="1102" cy="461"/>
                </a:xfrm>
                <a:prstGeom prst="rect">
                  <a:avLst/>
                </a:prstGeom>
                <a:noFill/>
                <a:ln w="9525">
                  <a:noFill/>
                  <a:miter lim="800000"/>
                  <a:headEnd/>
                  <a:tailEnd/>
                </a:ln>
              </p:spPr>
              <p:txBody>
                <a:bodyPr/>
                <a:lstStyle/>
                <a:p>
                  <a:pPr algn="just"/>
                  <a:r>
                    <a:rPr lang="en-US" altLang="zh-CN" sz="2800" dirty="0" smtClean="0">
                      <a:solidFill>
                        <a:srgbClr val="008000"/>
                      </a:solidFill>
                      <a:ea typeface="宋体" pitchFamily="2" charset="-122"/>
                    </a:rPr>
                    <a:t>   15</a:t>
                  </a:r>
                  <a:endParaRPr lang="en-US" altLang="zh-CN" sz="2800" dirty="0">
                    <a:solidFill>
                      <a:srgbClr val="008000"/>
                    </a:solidFill>
                    <a:ea typeface="宋体" pitchFamily="2" charset="-122"/>
                  </a:endParaRPr>
                </a:p>
                <a:p>
                  <a:pPr algn="just" eaLnBrk="0" hangingPunct="0"/>
                  <a:endParaRPr lang="en-US" altLang="zh-CN" sz="2800" dirty="0">
                    <a:solidFill>
                      <a:srgbClr val="008000"/>
                    </a:solidFill>
                    <a:ea typeface="宋体" pitchFamily="2" charset="-122"/>
                  </a:endParaRPr>
                </a:p>
              </p:txBody>
            </p:sp>
            <p:sp>
              <p:nvSpPr>
                <p:cNvPr id="43086" name="Rectangle 38"/>
                <p:cNvSpPr>
                  <a:spLocks noChangeArrowheads="1"/>
                </p:cNvSpPr>
                <p:nvPr/>
              </p:nvSpPr>
              <p:spPr bwMode="auto">
                <a:xfrm>
                  <a:off x="1073" y="922"/>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31" name="Group 39"/>
              <p:cNvGrpSpPr>
                <a:grpSpLocks/>
              </p:cNvGrpSpPr>
              <p:nvPr/>
            </p:nvGrpSpPr>
            <p:grpSpPr bwMode="auto">
              <a:xfrm>
                <a:off x="2261" y="922"/>
                <a:ext cx="1127" cy="461"/>
                <a:chOff x="2261" y="922"/>
                <a:chExt cx="1127" cy="461"/>
              </a:xfrm>
            </p:grpSpPr>
            <p:sp>
              <p:nvSpPr>
                <p:cNvPr id="43083" name="Rectangle 40"/>
                <p:cNvSpPr>
                  <a:spLocks noChangeArrowheads="1"/>
                </p:cNvSpPr>
                <p:nvPr/>
              </p:nvSpPr>
              <p:spPr bwMode="auto">
                <a:xfrm>
                  <a:off x="2304" y="922"/>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-10.71</a:t>
                  </a:r>
                </a:p>
                <a:p>
                  <a:pPr algn="just" eaLnBrk="0" hangingPunct="0"/>
                  <a:endParaRPr lang="en-US" altLang="zh-CN" sz="2800">
                    <a:solidFill>
                      <a:srgbClr val="008000"/>
                    </a:solidFill>
                    <a:ea typeface="宋体" pitchFamily="2" charset="-122"/>
                  </a:endParaRPr>
                </a:p>
              </p:txBody>
            </p:sp>
            <p:sp>
              <p:nvSpPr>
                <p:cNvPr id="43084" name="Rectangle 41"/>
                <p:cNvSpPr>
                  <a:spLocks noChangeArrowheads="1"/>
                </p:cNvSpPr>
                <p:nvPr/>
              </p:nvSpPr>
              <p:spPr bwMode="auto">
                <a:xfrm>
                  <a:off x="2261" y="922"/>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32" name="Group 42"/>
              <p:cNvGrpSpPr>
                <a:grpSpLocks/>
              </p:cNvGrpSpPr>
              <p:nvPr/>
            </p:nvGrpSpPr>
            <p:grpSpPr bwMode="auto">
              <a:xfrm>
                <a:off x="3388" y="922"/>
                <a:ext cx="1081" cy="461"/>
                <a:chOff x="3388" y="922"/>
                <a:chExt cx="1081" cy="461"/>
              </a:xfrm>
            </p:grpSpPr>
            <p:sp>
              <p:nvSpPr>
                <p:cNvPr id="43081" name="Rectangle 43"/>
                <p:cNvSpPr>
                  <a:spLocks noChangeArrowheads="1"/>
                </p:cNvSpPr>
                <p:nvPr/>
              </p:nvSpPr>
              <p:spPr bwMode="auto">
                <a:xfrm>
                  <a:off x="3431" y="922"/>
                  <a:ext cx="995"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1720.562</a:t>
                  </a:r>
                </a:p>
                <a:p>
                  <a:pPr algn="just" eaLnBrk="0" hangingPunct="0"/>
                  <a:endParaRPr lang="en-US" altLang="zh-CN" sz="2800">
                    <a:solidFill>
                      <a:srgbClr val="008000"/>
                    </a:solidFill>
                    <a:ea typeface="宋体" pitchFamily="2" charset="-122"/>
                  </a:endParaRPr>
                </a:p>
              </p:txBody>
            </p:sp>
            <p:sp>
              <p:nvSpPr>
                <p:cNvPr id="43082" name="Rectangle 44"/>
                <p:cNvSpPr>
                  <a:spLocks noChangeArrowheads="1"/>
                </p:cNvSpPr>
                <p:nvPr/>
              </p:nvSpPr>
              <p:spPr bwMode="auto">
                <a:xfrm>
                  <a:off x="3388" y="922"/>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33" name="Group 45"/>
              <p:cNvGrpSpPr>
                <a:grpSpLocks/>
              </p:cNvGrpSpPr>
              <p:nvPr/>
            </p:nvGrpSpPr>
            <p:grpSpPr bwMode="auto">
              <a:xfrm>
                <a:off x="0" y="1383"/>
                <a:ext cx="1073" cy="461"/>
                <a:chOff x="0" y="1383"/>
                <a:chExt cx="1073" cy="461"/>
              </a:xfrm>
            </p:grpSpPr>
            <p:sp>
              <p:nvSpPr>
                <p:cNvPr id="43079" name="Rectangle 46"/>
                <p:cNvSpPr>
                  <a:spLocks noChangeArrowheads="1"/>
                </p:cNvSpPr>
                <p:nvPr/>
              </p:nvSpPr>
              <p:spPr bwMode="auto">
                <a:xfrm>
                  <a:off x="43" y="1383"/>
                  <a:ext cx="987" cy="461"/>
                </a:xfrm>
                <a:prstGeom prst="rect">
                  <a:avLst/>
                </a:prstGeom>
                <a:noFill/>
                <a:ln w="9525">
                  <a:noFill/>
                  <a:miter lim="800000"/>
                  <a:headEnd/>
                  <a:tailEnd/>
                </a:ln>
              </p:spPr>
              <p:txBody>
                <a:bodyPr/>
                <a:lstStyle/>
                <a:p>
                  <a:pPr algn="just"/>
                  <a:r>
                    <a:rPr lang="en-US" altLang="zh-CN" sz="2800">
                      <a:solidFill>
                        <a:srgbClr val="008000"/>
                      </a:solidFill>
                      <a:ea typeface="宋体" pitchFamily="2" charset="-122"/>
                    </a:rPr>
                    <a:t>75</a:t>
                  </a:r>
                </a:p>
                <a:p>
                  <a:pPr algn="just" eaLnBrk="0" hangingPunct="0"/>
                  <a:endParaRPr lang="en-US" altLang="zh-CN" sz="2800">
                    <a:solidFill>
                      <a:srgbClr val="008000"/>
                    </a:solidFill>
                    <a:ea typeface="宋体" pitchFamily="2" charset="-122"/>
                  </a:endParaRPr>
                </a:p>
              </p:txBody>
            </p:sp>
            <p:sp>
              <p:nvSpPr>
                <p:cNvPr id="43080" name="Rectangle 47"/>
                <p:cNvSpPr>
                  <a:spLocks noChangeArrowheads="1"/>
                </p:cNvSpPr>
                <p:nvPr/>
              </p:nvSpPr>
              <p:spPr bwMode="auto">
                <a:xfrm>
                  <a:off x="0" y="1383"/>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34" name="Group 48"/>
              <p:cNvGrpSpPr>
                <a:grpSpLocks/>
              </p:cNvGrpSpPr>
              <p:nvPr/>
            </p:nvGrpSpPr>
            <p:grpSpPr bwMode="auto">
              <a:xfrm>
                <a:off x="1073" y="1383"/>
                <a:ext cx="1188" cy="461"/>
                <a:chOff x="1073" y="1383"/>
                <a:chExt cx="1188" cy="461"/>
              </a:xfrm>
            </p:grpSpPr>
            <p:sp>
              <p:nvSpPr>
                <p:cNvPr id="43077" name="Rectangle 49"/>
                <p:cNvSpPr>
                  <a:spLocks noChangeArrowheads="1"/>
                </p:cNvSpPr>
                <p:nvPr/>
              </p:nvSpPr>
              <p:spPr bwMode="auto">
                <a:xfrm>
                  <a:off x="1116" y="1383"/>
                  <a:ext cx="1102" cy="461"/>
                </a:xfrm>
                <a:prstGeom prst="rect">
                  <a:avLst/>
                </a:prstGeom>
                <a:noFill/>
                <a:ln w="9525">
                  <a:noFill/>
                  <a:miter lim="800000"/>
                  <a:headEnd/>
                  <a:tailEnd/>
                </a:ln>
              </p:spPr>
              <p:txBody>
                <a:bodyPr/>
                <a:lstStyle/>
                <a:p>
                  <a:pPr algn="just"/>
                  <a:r>
                    <a:rPr lang="en-US" altLang="zh-CN" sz="2800" dirty="0" smtClean="0">
                      <a:solidFill>
                        <a:srgbClr val="008000"/>
                      </a:solidFill>
                      <a:ea typeface="宋体" pitchFamily="2" charset="-122"/>
                    </a:rPr>
                    <a:t>   20</a:t>
                  </a:r>
                  <a:endParaRPr lang="en-US" altLang="zh-CN" sz="2800" dirty="0">
                    <a:solidFill>
                      <a:srgbClr val="008000"/>
                    </a:solidFill>
                    <a:ea typeface="宋体" pitchFamily="2" charset="-122"/>
                  </a:endParaRPr>
                </a:p>
                <a:p>
                  <a:pPr algn="just" eaLnBrk="0" hangingPunct="0"/>
                  <a:endParaRPr lang="en-US" altLang="zh-CN" sz="2800" dirty="0">
                    <a:solidFill>
                      <a:srgbClr val="008000"/>
                    </a:solidFill>
                    <a:ea typeface="宋体" pitchFamily="2" charset="-122"/>
                  </a:endParaRPr>
                </a:p>
              </p:txBody>
            </p:sp>
            <p:sp>
              <p:nvSpPr>
                <p:cNvPr id="43078" name="Rectangle 50"/>
                <p:cNvSpPr>
                  <a:spLocks noChangeArrowheads="1"/>
                </p:cNvSpPr>
                <p:nvPr/>
              </p:nvSpPr>
              <p:spPr bwMode="auto">
                <a:xfrm>
                  <a:off x="1073" y="1383"/>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35" name="Group 51"/>
              <p:cNvGrpSpPr>
                <a:grpSpLocks/>
              </p:cNvGrpSpPr>
              <p:nvPr/>
            </p:nvGrpSpPr>
            <p:grpSpPr bwMode="auto">
              <a:xfrm>
                <a:off x="2261" y="1383"/>
                <a:ext cx="1127" cy="461"/>
                <a:chOff x="2261" y="1383"/>
                <a:chExt cx="1127" cy="461"/>
              </a:xfrm>
            </p:grpSpPr>
            <p:sp>
              <p:nvSpPr>
                <p:cNvPr id="43075" name="Rectangle 52"/>
                <p:cNvSpPr>
                  <a:spLocks noChangeArrowheads="1"/>
                </p:cNvSpPr>
                <p:nvPr/>
              </p:nvSpPr>
              <p:spPr bwMode="auto">
                <a:xfrm>
                  <a:off x="2304" y="1383"/>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-0.71</a:t>
                  </a:r>
                </a:p>
                <a:p>
                  <a:pPr algn="just" eaLnBrk="0" hangingPunct="0"/>
                  <a:endParaRPr lang="en-US" altLang="zh-CN" sz="2800">
                    <a:solidFill>
                      <a:srgbClr val="008000"/>
                    </a:solidFill>
                    <a:ea typeface="宋体" pitchFamily="2" charset="-122"/>
                  </a:endParaRPr>
                </a:p>
              </p:txBody>
            </p:sp>
            <p:sp>
              <p:nvSpPr>
                <p:cNvPr id="43076" name="Rectangle 53"/>
                <p:cNvSpPr>
                  <a:spLocks noChangeArrowheads="1"/>
                </p:cNvSpPr>
                <p:nvPr/>
              </p:nvSpPr>
              <p:spPr bwMode="auto">
                <a:xfrm>
                  <a:off x="2261" y="1383"/>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36" name="Group 54"/>
              <p:cNvGrpSpPr>
                <a:grpSpLocks/>
              </p:cNvGrpSpPr>
              <p:nvPr/>
            </p:nvGrpSpPr>
            <p:grpSpPr bwMode="auto">
              <a:xfrm>
                <a:off x="3388" y="1383"/>
                <a:ext cx="1081" cy="461"/>
                <a:chOff x="3388" y="1383"/>
                <a:chExt cx="1081" cy="461"/>
              </a:xfrm>
            </p:grpSpPr>
            <p:sp>
              <p:nvSpPr>
                <p:cNvPr id="43073" name="Rectangle 55"/>
                <p:cNvSpPr>
                  <a:spLocks noChangeArrowheads="1"/>
                </p:cNvSpPr>
                <p:nvPr/>
              </p:nvSpPr>
              <p:spPr bwMode="auto">
                <a:xfrm>
                  <a:off x="3431" y="1383"/>
                  <a:ext cx="995"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9.578</a:t>
                  </a:r>
                </a:p>
                <a:p>
                  <a:pPr algn="just" eaLnBrk="0" hangingPunct="0"/>
                  <a:endParaRPr lang="en-US" altLang="zh-CN" sz="2800">
                    <a:solidFill>
                      <a:srgbClr val="008000"/>
                    </a:solidFill>
                    <a:ea typeface="宋体" pitchFamily="2" charset="-122"/>
                  </a:endParaRPr>
                </a:p>
              </p:txBody>
            </p:sp>
            <p:sp>
              <p:nvSpPr>
                <p:cNvPr id="43074" name="Rectangle 56"/>
                <p:cNvSpPr>
                  <a:spLocks noChangeArrowheads="1"/>
                </p:cNvSpPr>
                <p:nvPr/>
              </p:nvSpPr>
              <p:spPr bwMode="auto">
                <a:xfrm>
                  <a:off x="3388" y="1383"/>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37" name="Group 57"/>
              <p:cNvGrpSpPr>
                <a:grpSpLocks/>
              </p:cNvGrpSpPr>
              <p:nvPr/>
            </p:nvGrpSpPr>
            <p:grpSpPr bwMode="auto">
              <a:xfrm>
                <a:off x="0" y="1844"/>
                <a:ext cx="1073" cy="461"/>
                <a:chOff x="0" y="1844"/>
                <a:chExt cx="1073" cy="461"/>
              </a:xfrm>
            </p:grpSpPr>
            <p:sp>
              <p:nvSpPr>
                <p:cNvPr id="43071" name="Rectangle 58"/>
                <p:cNvSpPr>
                  <a:spLocks noChangeArrowheads="1"/>
                </p:cNvSpPr>
                <p:nvPr/>
              </p:nvSpPr>
              <p:spPr bwMode="auto">
                <a:xfrm>
                  <a:off x="43" y="1844"/>
                  <a:ext cx="987" cy="461"/>
                </a:xfrm>
                <a:prstGeom prst="rect">
                  <a:avLst/>
                </a:prstGeom>
                <a:noFill/>
                <a:ln w="9525">
                  <a:noFill/>
                  <a:miter lim="800000"/>
                  <a:headEnd/>
                  <a:tailEnd/>
                </a:ln>
              </p:spPr>
              <p:txBody>
                <a:bodyPr/>
                <a:lstStyle/>
                <a:p>
                  <a:pPr algn="just"/>
                  <a:r>
                    <a:rPr lang="en-US" altLang="zh-CN" sz="2800">
                      <a:solidFill>
                        <a:srgbClr val="008000"/>
                      </a:solidFill>
                      <a:ea typeface="宋体" pitchFamily="2" charset="-122"/>
                    </a:rPr>
                    <a:t>85</a:t>
                  </a:r>
                </a:p>
                <a:p>
                  <a:pPr algn="just" eaLnBrk="0" hangingPunct="0"/>
                  <a:endParaRPr lang="en-US" altLang="zh-CN" sz="2800">
                    <a:solidFill>
                      <a:srgbClr val="008000"/>
                    </a:solidFill>
                    <a:ea typeface="宋体" pitchFamily="2" charset="-122"/>
                  </a:endParaRPr>
                </a:p>
              </p:txBody>
            </p:sp>
            <p:sp>
              <p:nvSpPr>
                <p:cNvPr id="43072" name="Rectangle 59"/>
                <p:cNvSpPr>
                  <a:spLocks noChangeArrowheads="1"/>
                </p:cNvSpPr>
                <p:nvPr/>
              </p:nvSpPr>
              <p:spPr bwMode="auto">
                <a:xfrm>
                  <a:off x="0" y="1844"/>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38" name="Group 60"/>
              <p:cNvGrpSpPr>
                <a:grpSpLocks/>
              </p:cNvGrpSpPr>
              <p:nvPr/>
            </p:nvGrpSpPr>
            <p:grpSpPr bwMode="auto">
              <a:xfrm>
                <a:off x="1073" y="1844"/>
                <a:ext cx="1188" cy="461"/>
                <a:chOff x="1073" y="1844"/>
                <a:chExt cx="1188" cy="461"/>
              </a:xfrm>
            </p:grpSpPr>
            <p:sp>
              <p:nvSpPr>
                <p:cNvPr id="43069" name="Rectangle 61"/>
                <p:cNvSpPr>
                  <a:spLocks noChangeArrowheads="1"/>
                </p:cNvSpPr>
                <p:nvPr/>
              </p:nvSpPr>
              <p:spPr bwMode="auto">
                <a:xfrm>
                  <a:off x="1116" y="1844"/>
                  <a:ext cx="1102" cy="461"/>
                </a:xfrm>
                <a:prstGeom prst="rect">
                  <a:avLst/>
                </a:prstGeom>
                <a:noFill/>
                <a:ln w="9525">
                  <a:noFill/>
                  <a:miter lim="800000"/>
                  <a:headEnd/>
                  <a:tailEnd/>
                </a:ln>
              </p:spPr>
              <p:txBody>
                <a:bodyPr/>
                <a:lstStyle/>
                <a:p>
                  <a:pPr algn="just"/>
                  <a:r>
                    <a:rPr lang="en-US" altLang="zh-CN" sz="2800" dirty="0" smtClean="0">
                      <a:solidFill>
                        <a:srgbClr val="008000"/>
                      </a:solidFill>
                      <a:ea typeface="宋体" pitchFamily="2" charset="-122"/>
                    </a:rPr>
                    <a:t>   15</a:t>
                  </a:r>
                  <a:endParaRPr lang="en-US" altLang="zh-CN" sz="2800" dirty="0">
                    <a:solidFill>
                      <a:srgbClr val="008000"/>
                    </a:solidFill>
                    <a:ea typeface="宋体" pitchFamily="2" charset="-122"/>
                  </a:endParaRPr>
                </a:p>
                <a:p>
                  <a:pPr algn="just" eaLnBrk="0" hangingPunct="0"/>
                  <a:endParaRPr lang="en-US" altLang="zh-CN" sz="2800" dirty="0">
                    <a:solidFill>
                      <a:srgbClr val="008000"/>
                    </a:solidFill>
                    <a:ea typeface="宋体" pitchFamily="2" charset="-122"/>
                  </a:endParaRPr>
                </a:p>
              </p:txBody>
            </p:sp>
            <p:sp>
              <p:nvSpPr>
                <p:cNvPr id="43070" name="Rectangle 62"/>
                <p:cNvSpPr>
                  <a:spLocks noChangeArrowheads="1"/>
                </p:cNvSpPr>
                <p:nvPr/>
              </p:nvSpPr>
              <p:spPr bwMode="auto">
                <a:xfrm>
                  <a:off x="1073" y="1844"/>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39" name="Group 63"/>
              <p:cNvGrpSpPr>
                <a:grpSpLocks/>
              </p:cNvGrpSpPr>
              <p:nvPr/>
            </p:nvGrpSpPr>
            <p:grpSpPr bwMode="auto">
              <a:xfrm>
                <a:off x="2261" y="1844"/>
                <a:ext cx="1127" cy="461"/>
                <a:chOff x="2261" y="1844"/>
                <a:chExt cx="1127" cy="461"/>
              </a:xfrm>
            </p:grpSpPr>
            <p:sp>
              <p:nvSpPr>
                <p:cNvPr id="43067" name="Rectangle 64"/>
                <p:cNvSpPr>
                  <a:spLocks noChangeArrowheads="1"/>
                </p:cNvSpPr>
                <p:nvPr/>
              </p:nvSpPr>
              <p:spPr bwMode="auto">
                <a:xfrm>
                  <a:off x="2304" y="1844"/>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9.29</a:t>
                  </a:r>
                </a:p>
                <a:p>
                  <a:pPr algn="r" eaLnBrk="0" hangingPunct="0"/>
                  <a:endParaRPr lang="en-US" altLang="zh-CN" sz="2800">
                    <a:solidFill>
                      <a:srgbClr val="008000"/>
                    </a:solidFill>
                    <a:ea typeface="宋体" pitchFamily="2" charset="-122"/>
                  </a:endParaRPr>
                </a:p>
              </p:txBody>
            </p:sp>
            <p:sp>
              <p:nvSpPr>
                <p:cNvPr id="43068" name="Rectangle 65"/>
                <p:cNvSpPr>
                  <a:spLocks noChangeArrowheads="1"/>
                </p:cNvSpPr>
                <p:nvPr/>
              </p:nvSpPr>
              <p:spPr bwMode="auto">
                <a:xfrm>
                  <a:off x="2261" y="1844"/>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40" name="Group 66"/>
              <p:cNvGrpSpPr>
                <a:grpSpLocks/>
              </p:cNvGrpSpPr>
              <p:nvPr/>
            </p:nvGrpSpPr>
            <p:grpSpPr bwMode="auto">
              <a:xfrm>
                <a:off x="3388" y="1844"/>
                <a:ext cx="1081" cy="461"/>
                <a:chOff x="3388" y="1844"/>
                <a:chExt cx="1081" cy="461"/>
              </a:xfrm>
            </p:grpSpPr>
            <p:sp>
              <p:nvSpPr>
                <p:cNvPr id="43065" name="Rectangle 67"/>
                <p:cNvSpPr>
                  <a:spLocks noChangeArrowheads="1"/>
                </p:cNvSpPr>
                <p:nvPr/>
              </p:nvSpPr>
              <p:spPr bwMode="auto">
                <a:xfrm>
                  <a:off x="3431" y="1844"/>
                  <a:ext cx="995"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1294.562</a:t>
                  </a:r>
                </a:p>
                <a:p>
                  <a:pPr algn="just" eaLnBrk="0" hangingPunct="0"/>
                  <a:endParaRPr lang="en-US" altLang="zh-CN" sz="2800">
                    <a:solidFill>
                      <a:srgbClr val="008000"/>
                    </a:solidFill>
                    <a:ea typeface="宋体" pitchFamily="2" charset="-122"/>
                  </a:endParaRPr>
                </a:p>
              </p:txBody>
            </p:sp>
            <p:sp>
              <p:nvSpPr>
                <p:cNvPr id="43066" name="Rectangle 68"/>
                <p:cNvSpPr>
                  <a:spLocks noChangeArrowheads="1"/>
                </p:cNvSpPr>
                <p:nvPr/>
              </p:nvSpPr>
              <p:spPr bwMode="auto">
                <a:xfrm>
                  <a:off x="3388" y="1844"/>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41" name="Group 69"/>
              <p:cNvGrpSpPr>
                <a:grpSpLocks/>
              </p:cNvGrpSpPr>
              <p:nvPr/>
            </p:nvGrpSpPr>
            <p:grpSpPr bwMode="auto">
              <a:xfrm>
                <a:off x="0" y="2305"/>
                <a:ext cx="1073" cy="461"/>
                <a:chOff x="0" y="2305"/>
                <a:chExt cx="1073" cy="461"/>
              </a:xfrm>
            </p:grpSpPr>
            <p:sp>
              <p:nvSpPr>
                <p:cNvPr id="43063" name="Rectangle 70"/>
                <p:cNvSpPr>
                  <a:spLocks noChangeArrowheads="1"/>
                </p:cNvSpPr>
                <p:nvPr/>
              </p:nvSpPr>
              <p:spPr bwMode="auto">
                <a:xfrm>
                  <a:off x="43" y="2305"/>
                  <a:ext cx="987" cy="461"/>
                </a:xfrm>
                <a:prstGeom prst="rect">
                  <a:avLst/>
                </a:prstGeom>
                <a:noFill/>
                <a:ln w="9525">
                  <a:noFill/>
                  <a:miter lim="800000"/>
                  <a:headEnd/>
                  <a:tailEnd/>
                </a:ln>
              </p:spPr>
              <p:txBody>
                <a:bodyPr/>
                <a:lstStyle/>
                <a:p>
                  <a:pPr algn="just"/>
                  <a:r>
                    <a:rPr lang="en-US" altLang="zh-CN" sz="2800">
                      <a:solidFill>
                        <a:srgbClr val="008000"/>
                      </a:solidFill>
                      <a:ea typeface="宋体" pitchFamily="2" charset="-122"/>
                    </a:rPr>
                    <a:t>95</a:t>
                  </a:r>
                </a:p>
                <a:p>
                  <a:pPr algn="just" eaLnBrk="0" hangingPunct="0"/>
                  <a:endParaRPr lang="en-US" altLang="zh-CN" sz="2800">
                    <a:solidFill>
                      <a:srgbClr val="008000"/>
                    </a:solidFill>
                    <a:ea typeface="宋体" pitchFamily="2" charset="-122"/>
                  </a:endParaRPr>
                </a:p>
              </p:txBody>
            </p:sp>
            <p:sp>
              <p:nvSpPr>
                <p:cNvPr id="43064" name="Rectangle 71"/>
                <p:cNvSpPr>
                  <a:spLocks noChangeArrowheads="1"/>
                </p:cNvSpPr>
                <p:nvPr/>
              </p:nvSpPr>
              <p:spPr bwMode="auto">
                <a:xfrm>
                  <a:off x="0" y="2305"/>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42" name="Group 72"/>
              <p:cNvGrpSpPr>
                <a:grpSpLocks/>
              </p:cNvGrpSpPr>
              <p:nvPr/>
            </p:nvGrpSpPr>
            <p:grpSpPr bwMode="auto">
              <a:xfrm>
                <a:off x="1073" y="2305"/>
                <a:ext cx="1188" cy="461"/>
                <a:chOff x="1073" y="2305"/>
                <a:chExt cx="1188" cy="461"/>
              </a:xfrm>
            </p:grpSpPr>
            <p:sp>
              <p:nvSpPr>
                <p:cNvPr id="43061" name="Rectangle 73"/>
                <p:cNvSpPr>
                  <a:spLocks noChangeArrowheads="1"/>
                </p:cNvSpPr>
                <p:nvPr/>
              </p:nvSpPr>
              <p:spPr bwMode="auto">
                <a:xfrm>
                  <a:off x="1116" y="2305"/>
                  <a:ext cx="1102" cy="461"/>
                </a:xfrm>
                <a:prstGeom prst="rect">
                  <a:avLst/>
                </a:prstGeom>
                <a:noFill/>
                <a:ln w="9525">
                  <a:noFill/>
                  <a:miter lim="800000"/>
                  <a:headEnd/>
                  <a:tailEnd/>
                </a:ln>
              </p:spPr>
              <p:txBody>
                <a:bodyPr/>
                <a:lstStyle/>
                <a:p>
                  <a:pPr algn="just"/>
                  <a:r>
                    <a:rPr lang="en-US" altLang="zh-CN" sz="2800" dirty="0" smtClean="0">
                      <a:solidFill>
                        <a:srgbClr val="008000"/>
                      </a:solidFill>
                      <a:ea typeface="宋体" pitchFamily="2" charset="-122"/>
                    </a:rPr>
                    <a:t>     4</a:t>
                  </a:r>
                  <a:endParaRPr lang="en-US" altLang="zh-CN" sz="2800" dirty="0">
                    <a:solidFill>
                      <a:srgbClr val="008000"/>
                    </a:solidFill>
                    <a:ea typeface="宋体" pitchFamily="2" charset="-122"/>
                  </a:endParaRPr>
                </a:p>
                <a:p>
                  <a:pPr algn="just" eaLnBrk="0" hangingPunct="0"/>
                  <a:endParaRPr lang="en-US" altLang="zh-CN" sz="2800" dirty="0">
                    <a:solidFill>
                      <a:srgbClr val="008000"/>
                    </a:solidFill>
                    <a:ea typeface="宋体" pitchFamily="2" charset="-122"/>
                  </a:endParaRPr>
                </a:p>
              </p:txBody>
            </p:sp>
            <p:sp>
              <p:nvSpPr>
                <p:cNvPr id="43062" name="Rectangle 74"/>
                <p:cNvSpPr>
                  <a:spLocks noChangeArrowheads="1"/>
                </p:cNvSpPr>
                <p:nvPr/>
              </p:nvSpPr>
              <p:spPr bwMode="auto">
                <a:xfrm>
                  <a:off x="1073" y="2305"/>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43" name="Group 75"/>
              <p:cNvGrpSpPr>
                <a:grpSpLocks/>
              </p:cNvGrpSpPr>
              <p:nvPr/>
            </p:nvGrpSpPr>
            <p:grpSpPr bwMode="auto">
              <a:xfrm>
                <a:off x="2261" y="2305"/>
                <a:ext cx="1127" cy="461"/>
                <a:chOff x="2261" y="2305"/>
                <a:chExt cx="1127" cy="461"/>
              </a:xfrm>
            </p:grpSpPr>
            <p:sp>
              <p:nvSpPr>
                <p:cNvPr id="43059" name="Rectangle 76"/>
                <p:cNvSpPr>
                  <a:spLocks noChangeArrowheads="1"/>
                </p:cNvSpPr>
                <p:nvPr/>
              </p:nvSpPr>
              <p:spPr bwMode="auto">
                <a:xfrm>
                  <a:off x="2304" y="2305"/>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19.29</a:t>
                  </a:r>
                </a:p>
                <a:p>
                  <a:pPr algn="just" eaLnBrk="0" hangingPunct="0"/>
                  <a:endParaRPr lang="en-US" altLang="zh-CN" sz="2800">
                    <a:solidFill>
                      <a:srgbClr val="008000"/>
                    </a:solidFill>
                    <a:ea typeface="宋体" pitchFamily="2" charset="-122"/>
                  </a:endParaRPr>
                </a:p>
              </p:txBody>
            </p:sp>
            <p:sp>
              <p:nvSpPr>
                <p:cNvPr id="43060" name="Rectangle 77"/>
                <p:cNvSpPr>
                  <a:spLocks noChangeArrowheads="1"/>
                </p:cNvSpPr>
                <p:nvPr/>
              </p:nvSpPr>
              <p:spPr bwMode="auto">
                <a:xfrm>
                  <a:off x="2261" y="2305"/>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44" name="Group 78"/>
              <p:cNvGrpSpPr>
                <a:grpSpLocks/>
              </p:cNvGrpSpPr>
              <p:nvPr/>
            </p:nvGrpSpPr>
            <p:grpSpPr bwMode="auto">
              <a:xfrm>
                <a:off x="3388" y="2305"/>
                <a:ext cx="1081" cy="461"/>
                <a:chOff x="3388" y="2305"/>
                <a:chExt cx="1081" cy="461"/>
              </a:xfrm>
            </p:grpSpPr>
            <p:sp>
              <p:nvSpPr>
                <p:cNvPr id="43057" name="Rectangle 79"/>
                <p:cNvSpPr>
                  <a:spLocks noChangeArrowheads="1"/>
                </p:cNvSpPr>
                <p:nvPr/>
              </p:nvSpPr>
              <p:spPr bwMode="auto">
                <a:xfrm>
                  <a:off x="3431" y="2305"/>
                  <a:ext cx="995" cy="461"/>
                </a:xfrm>
                <a:prstGeom prst="rect">
                  <a:avLst/>
                </a:prstGeom>
                <a:noFill/>
                <a:ln w="9525">
                  <a:noFill/>
                  <a:miter lim="800000"/>
                  <a:headEnd/>
                  <a:tailEnd/>
                </a:ln>
              </p:spPr>
              <p:txBody>
                <a:bodyPr/>
                <a:lstStyle/>
                <a:p>
                  <a:pPr algn="r"/>
                  <a:r>
                    <a:rPr lang="en-US" altLang="zh-CN" sz="2800">
                      <a:solidFill>
                        <a:srgbClr val="008000"/>
                      </a:solidFill>
                    </a:rPr>
                    <a:t>1488.416</a:t>
                  </a:r>
                  <a:endParaRPr lang="en-US" altLang="zh-CN" sz="2800">
                    <a:solidFill>
                      <a:srgbClr val="008000"/>
                    </a:solidFill>
                    <a:ea typeface="宋体" pitchFamily="2" charset="-122"/>
                  </a:endParaRPr>
                </a:p>
                <a:p>
                  <a:pPr algn="r" eaLnBrk="0" hangingPunct="0"/>
                  <a:r>
                    <a:rPr lang="en-US" altLang="zh-CN" sz="2800" b="1">
                      <a:solidFill>
                        <a:schemeClr val="tx2"/>
                      </a:solidFill>
                      <a:ea typeface="宋体" pitchFamily="2" charset="-122"/>
                    </a:rPr>
                    <a:t>5370.926</a:t>
                  </a:r>
                </a:p>
              </p:txBody>
            </p:sp>
            <p:sp>
              <p:nvSpPr>
                <p:cNvPr id="43058" name="Rectangle 80"/>
                <p:cNvSpPr>
                  <a:spLocks noChangeArrowheads="1"/>
                </p:cNvSpPr>
                <p:nvPr/>
              </p:nvSpPr>
              <p:spPr bwMode="auto">
                <a:xfrm>
                  <a:off x="3388" y="2305"/>
                  <a:ext cx="1081" cy="461"/>
                </a:xfrm>
                <a:prstGeom prst="rect">
                  <a:avLst/>
                </a:prstGeom>
                <a:noFill/>
                <a:ln w="7">
                  <a:solidFill>
                    <a:srgbClr val="A0A0A0"/>
                  </a:solidFill>
                  <a:miter lim="800000"/>
                  <a:headEnd/>
                  <a:tailEnd/>
                </a:ln>
              </p:spPr>
              <p:txBody>
                <a:bodyPr wrap="none"/>
                <a:lstStyle/>
                <a:p>
                  <a:endParaRPr lang="zh-CN" altLang="en-US"/>
                </a:p>
              </p:txBody>
            </p:sp>
          </p:grpSp>
          <p:grpSp>
            <p:nvGrpSpPr>
              <p:cNvPr id="43045" name="Group 81"/>
              <p:cNvGrpSpPr>
                <a:grpSpLocks/>
              </p:cNvGrpSpPr>
              <p:nvPr/>
            </p:nvGrpSpPr>
            <p:grpSpPr bwMode="auto">
              <a:xfrm>
                <a:off x="0" y="2766"/>
                <a:ext cx="1073" cy="461"/>
                <a:chOff x="0" y="2766"/>
                <a:chExt cx="1073" cy="461"/>
              </a:xfrm>
            </p:grpSpPr>
            <p:sp>
              <p:nvSpPr>
                <p:cNvPr id="43055" name="Rectangle 82"/>
                <p:cNvSpPr>
                  <a:spLocks noChangeArrowheads="1"/>
                </p:cNvSpPr>
                <p:nvPr/>
              </p:nvSpPr>
              <p:spPr bwMode="auto">
                <a:xfrm>
                  <a:off x="43" y="2766"/>
                  <a:ext cx="987" cy="461"/>
                </a:xfrm>
                <a:prstGeom prst="rect">
                  <a:avLst/>
                </a:prstGeom>
                <a:noFill/>
                <a:ln w="9525">
                  <a:noFill/>
                  <a:miter lim="800000"/>
                  <a:headEnd/>
                  <a:tailEnd/>
                </a:ln>
              </p:spPr>
              <p:txBody>
                <a:bodyPr/>
                <a:lstStyle/>
                <a:p>
                  <a:pPr algn="just"/>
                  <a:r>
                    <a:rPr lang="zh-CN" altLang="en-US" sz="2800">
                      <a:solidFill>
                        <a:srgbClr val="008000"/>
                      </a:solidFill>
                      <a:ea typeface="宋体" pitchFamily="2" charset="-122"/>
                    </a:rPr>
                    <a:t>合计</a:t>
                  </a:r>
                </a:p>
                <a:p>
                  <a:pPr algn="just" eaLnBrk="0" hangingPunct="0"/>
                  <a:endParaRPr lang="en-US" altLang="zh-CN" sz="2800">
                    <a:solidFill>
                      <a:srgbClr val="008000"/>
                    </a:solidFill>
                    <a:ea typeface="宋体" pitchFamily="2" charset="-122"/>
                  </a:endParaRPr>
                </a:p>
              </p:txBody>
            </p:sp>
            <p:sp>
              <p:nvSpPr>
                <p:cNvPr id="43056" name="Rectangle 83"/>
                <p:cNvSpPr>
                  <a:spLocks noChangeArrowheads="1"/>
                </p:cNvSpPr>
                <p:nvPr/>
              </p:nvSpPr>
              <p:spPr bwMode="auto">
                <a:xfrm>
                  <a:off x="0" y="2766"/>
                  <a:ext cx="1073" cy="461"/>
                </a:xfrm>
                <a:prstGeom prst="rect">
                  <a:avLst/>
                </a:prstGeom>
                <a:noFill/>
                <a:ln w="7">
                  <a:solidFill>
                    <a:srgbClr val="A0A0A0"/>
                  </a:solidFill>
                  <a:miter lim="800000"/>
                  <a:headEnd/>
                  <a:tailEnd/>
                </a:ln>
              </p:spPr>
              <p:txBody>
                <a:bodyPr wrap="none"/>
                <a:lstStyle/>
                <a:p>
                  <a:endParaRPr lang="zh-CN" altLang="en-US"/>
                </a:p>
              </p:txBody>
            </p:sp>
          </p:grpSp>
          <p:grpSp>
            <p:nvGrpSpPr>
              <p:cNvPr id="43046" name="Group 84"/>
              <p:cNvGrpSpPr>
                <a:grpSpLocks/>
              </p:cNvGrpSpPr>
              <p:nvPr/>
            </p:nvGrpSpPr>
            <p:grpSpPr bwMode="auto">
              <a:xfrm>
                <a:off x="1073" y="2766"/>
                <a:ext cx="1188" cy="461"/>
                <a:chOff x="1073" y="2766"/>
                <a:chExt cx="1188" cy="461"/>
              </a:xfrm>
            </p:grpSpPr>
            <p:sp>
              <p:nvSpPr>
                <p:cNvPr id="43053" name="Rectangle 85"/>
                <p:cNvSpPr>
                  <a:spLocks noChangeArrowheads="1"/>
                </p:cNvSpPr>
                <p:nvPr/>
              </p:nvSpPr>
              <p:spPr bwMode="auto">
                <a:xfrm>
                  <a:off x="1116" y="2766"/>
                  <a:ext cx="1102" cy="461"/>
                </a:xfrm>
                <a:prstGeom prst="rect">
                  <a:avLst/>
                </a:prstGeom>
                <a:noFill/>
                <a:ln w="9525">
                  <a:noFill/>
                  <a:miter lim="800000"/>
                  <a:headEnd/>
                  <a:tailEnd/>
                </a:ln>
              </p:spPr>
              <p:txBody>
                <a:bodyPr/>
                <a:lstStyle/>
                <a:p>
                  <a:pPr algn="just"/>
                  <a:r>
                    <a:rPr lang="en-US" altLang="zh-CN" sz="2800" dirty="0" smtClean="0">
                      <a:solidFill>
                        <a:srgbClr val="008000"/>
                      </a:solidFill>
                      <a:ea typeface="宋体" pitchFamily="2" charset="-122"/>
                    </a:rPr>
                    <a:t>   56</a:t>
                  </a:r>
                  <a:endParaRPr lang="en-US" altLang="zh-CN" sz="2800" dirty="0">
                    <a:solidFill>
                      <a:srgbClr val="008000"/>
                    </a:solidFill>
                    <a:ea typeface="宋体" pitchFamily="2" charset="-122"/>
                  </a:endParaRPr>
                </a:p>
                <a:p>
                  <a:pPr algn="just" eaLnBrk="0" hangingPunct="0"/>
                  <a:endParaRPr lang="en-US" altLang="zh-CN" sz="2800" dirty="0">
                    <a:solidFill>
                      <a:srgbClr val="008000"/>
                    </a:solidFill>
                    <a:ea typeface="宋体" pitchFamily="2" charset="-122"/>
                  </a:endParaRPr>
                </a:p>
              </p:txBody>
            </p:sp>
            <p:sp>
              <p:nvSpPr>
                <p:cNvPr id="43054" name="Rectangle 86"/>
                <p:cNvSpPr>
                  <a:spLocks noChangeArrowheads="1"/>
                </p:cNvSpPr>
                <p:nvPr/>
              </p:nvSpPr>
              <p:spPr bwMode="auto">
                <a:xfrm>
                  <a:off x="1073" y="2766"/>
                  <a:ext cx="1188" cy="461"/>
                </a:xfrm>
                <a:prstGeom prst="rect">
                  <a:avLst/>
                </a:prstGeom>
                <a:noFill/>
                <a:ln w="7">
                  <a:solidFill>
                    <a:srgbClr val="A0A0A0"/>
                  </a:solidFill>
                  <a:miter lim="800000"/>
                  <a:headEnd/>
                  <a:tailEnd/>
                </a:ln>
              </p:spPr>
              <p:txBody>
                <a:bodyPr wrap="none"/>
                <a:lstStyle/>
                <a:p>
                  <a:endParaRPr lang="zh-CN" altLang="en-US"/>
                </a:p>
              </p:txBody>
            </p:sp>
          </p:grpSp>
          <p:grpSp>
            <p:nvGrpSpPr>
              <p:cNvPr id="43047" name="Group 87"/>
              <p:cNvGrpSpPr>
                <a:grpSpLocks/>
              </p:cNvGrpSpPr>
              <p:nvPr/>
            </p:nvGrpSpPr>
            <p:grpSpPr bwMode="auto">
              <a:xfrm>
                <a:off x="2261" y="2766"/>
                <a:ext cx="1127" cy="461"/>
                <a:chOff x="2261" y="2766"/>
                <a:chExt cx="1127" cy="461"/>
              </a:xfrm>
            </p:grpSpPr>
            <p:sp>
              <p:nvSpPr>
                <p:cNvPr id="43051" name="Rectangle 88"/>
                <p:cNvSpPr>
                  <a:spLocks noChangeArrowheads="1"/>
                </p:cNvSpPr>
                <p:nvPr/>
              </p:nvSpPr>
              <p:spPr bwMode="auto">
                <a:xfrm>
                  <a:off x="2304" y="2766"/>
                  <a:ext cx="1041" cy="461"/>
                </a:xfrm>
                <a:prstGeom prst="rect">
                  <a:avLst/>
                </a:prstGeom>
                <a:noFill/>
                <a:ln w="9525">
                  <a:noFill/>
                  <a:miter lim="800000"/>
                  <a:headEnd/>
                  <a:tailEnd/>
                </a:ln>
              </p:spPr>
              <p:txBody>
                <a:bodyPr/>
                <a:lstStyle/>
                <a:p>
                  <a:pPr algn="r"/>
                  <a:r>
                    <a:rPr lang="en-US" altLang="zh-CN" sz="2800">
                      <a:solidFill>
                        <a:srgbClr val="008000"/>
                      </a:solidFill>
                      <a:ea typeface="宋体" pitchFamily="2" charset="-122"/>
                    </a:rPr>
                    <a:t>——</a:t>
                  </a:r>
                </a:p>
                <a:p>
                  <a:pPr algn="just" eaLnBrk="0" hangingPunct="0"/>
                  <a:endParaRPr lang="en-US" altLang="zh-CN" sz="2800">
                    <a:solidFill>
                      <a:srgbClr val="008000"/>
                    </a:solidFill>
                    <a:ea typeface="宋体" pitchFamily="2" charset="-122"/>
                  </a:endParaRPr>
                </a:p>
              </p:txBody>
            </p:sp>
            <p:sp>
              <p:nvSpPr>
                <p:cNvPr id="43052" name="Rectangle 89"/>
                <p:cNvSpPr>
                  <a:spLocks noChangeArrowheads="1"/>
                </p:cNvSpPr>
                <p:nvPr/>
              </p:nvSpPr>
              <p:spPr bwMode="auto">
                <a:xfrm>
                  <a:off x="2261" y="2766"/>
                  <a:ext cx="1127" cy="461"/>
                </a:xfrm>
                <a:prstGeom prst="rect">
                  <a:avLst/>
                </a:prstGeom>
                <a:noFill/>
                <a:ln w="7">
                  <a:solidFill>
                    <a:srgbClr val="A0A0A0"/>
                  </a:solidFill>
                  <a:miter lim="800000"/>
                  <a:headEnd/>
                  <a:tailEnd/>
                </a:ln>
              </p:spPr>
              <p:txBody>
                <a:bodyPr wrap="none"/>
                <a:lstStyle/>
                <a:p>
                  <a:endParaRPr lang="zh-CN" altLang="en-US"/>
                </a:p>
              </p:txBody>
            </p:sp>
          </p:grpSp>
          <p:grpSp>
            <p:nvGrpSpPr>
              <p:cNvPr id="43048" name="Group 90"/>
              <p:cNvGrpSpPr>
                <a:grpSpLocks/>
              </p:cNvGrpSpPr>
              <p:nvPr/>
            </p:nvGrpSpPr>
            <p:grpSpPr bwMode="auto">
              <a:xfrm>
                <a:off x="3388" y="2766"/>
                <a:ext cx="1081" cy="461"/>
                <a:chOff x="3388" y="2766"/>
                <a:chExt cx="1081" cy="461"/>
              </a:xfrm>
            </p:grpSpPr>
            <p:sp>
              <p:nvSpPr>
                <p:cNvPr id="43049" name="Rectangle 91"/>
                <p:cNvSpPr>
                  <a:spLocks noChangeArrowheads="1"/>
                </p:cNvSpPr>
                <p:nvPr/>
              </p:nvSpPr>
              <p:spPr bwMode="auto">
                <a:xfrm>
                  <a:off x="3431" y="2766"/>
                  <a:ext cx="995" cy="461"/>
                </a:xfrm>
                <a:prstGeom prst="rect">
                  <a:avLst/>
                </a:prstGeom>
                <a:noFill/>
                <a:ln w="9525">
                  <a:noFill/>
                  <a:miter lim="800000"/>
                  <a:headEnd/>
                  <a:tailEnd/>
                </a:ln>
              </p:spPr>
              <p:txBody>
                <a:bodyPr/>
                <a:lstStyle/>
                <a:p>
                  <a:pPr algn="just" eaLnBrk="0" hangingPunct="0"/>
                  <a:endParaRPr lang="zh-CN" altLang="zh-CN" sz="2800">
                    <a:solidFill>
                      <a:srgbClr val="008000"/>
                    </a:solidFill>
                    <a:ea typeface="宋体" pitchFamily="2" charset="-122"/>
                  </a:endParaRPr>
                </a:p>
              </p:txBody>
            </p:sp>
            <p:sp>
              <p:nvSpPr>
                <p:cNvPr id="43050" name="Rectangle 92"/>
                <p:cNvSpPr>
                  <a:spLocks noChangeArrowheads="1"/>
                </p:cNvSpPr>
                <p:nvPr/>
              </p:nvSpPr>
              <p:spPr bwMode="auto">
                <a:xfrm>
                  <a:off x="3388" y="2766"/>
                  <a:ext cx="1081" cy="461"/>
                </a:xfrm>
                <a:prstGeom prst="rect">
                  <a:avLst/>
                </a:prstGeom>
                <a:noFill/>
                <a:ln w="7">
                  <a:solidFill>
                    <a:srgbClr val="A0A0A0"/>
                  </a:solidFill>
                  <a:miter lim="800000"/>
                  <a:headEnd/>
                  <a:tailEnd/>
                </a:ln>
              </p:spPr>
              <p:txBody>
                <a:bodyPr wrap="none"/>
                <a:lstStyle/>
                <a:p>
                  <a:endParaRPr lang="zh-CN" altLang="en-US"/>
                </a:p>
              </p:txBody>
            </p:sp>
          </p:grpSp>
        </p:grpSp>
        <p:sp>
          <p:nvSpPr>
            <p:cNvPr id="43020" name="Rectangle 93"/>
            <p:cNvSpPr>
              <a:spLocks noChangeArrowheads="1"/>
            </p:cNvSpPr>
            <p:nvPr/>
          </p:nvSpPr>
          <p:spPr bwMode="auto">
            <a:xfrm>
              <a:off x="-3" y="-3"/>
              <a:ext cx="4475" cy="3233"/>
            </a:xfrm>
            <a:prstGeom prst="rect">
              <a:avLst/>
            </a:prstGeom>
            <a:noFill/>
            <a:ln w="11112">
              <a:solidFill>
                <a:srgbClr val="A0A0A0"/>
              </a:solidFill>
              <a:miter lim="800000"/>
              <a:headEnd/>
              <a:tailEnd/>
            </a:ln>
          </p:spPr>
          <p:txBody>
            <a:bodyPr wrap="none"/>
            <a:lstStyle/>
            <a:p>
              <a:endParaRPr lang="zh-CN" altLang="en-US"/>
            </a:p>
          </p:txBody>
        </p:sp>
      </p:grpSp>
      <p:sp>
        <p:nvSpPr>
          <p:cNvPr id="43016" name="Rectangle 95"/>
          <p:cNvSpPr>
            <a:spLocks noChangeArrowheads="1"/>
          </p:cNvSpPr>
          <p:nvPr/>
        </p:nvSpPr>
        <p:spPr bwMode="auto">
          <a:xfrm>
            <a:off x="468313" y="3573463"/>
            <a:ext cx="4176712" cy="519112"/>
          </a:xfrm>
          <a:prstGeom prst="rect">
            <a:avLst/>
          </a:prstGeom>
          <a:noFill/>
          <a:ln w="9525">
            <a:noFill/>
            <a:miter lim="800000"/>
            <a:headEnd/>
            <a:tailEnd/>
          </a:ln>
        </p:spPr>
        <p:txBody>
          <a:bodyPr>
            <a:spAutoFit/>
          </a:bodyPr>
          <a:lstStyle/>
          <a:p>
            <a:r>
              <a:rPr lang="zh-CN" altLang="en-US" sz="2800">
                <a:solidFill>
                  <a:srgbClr val="008000"/>
                </a:solidFill>
                <a:ea typeface="宋体" pitchFamily="2" charset="-122"/>
              </a:rPr>
              <a:t>平均成绩＝</a:t>
            </a:r>
            <a:r>
              <a:rPr lang="en-US" altLang="zh-CN" sz="2800">
                <a:solidFill>
                  <a:srgbClr val="008000"/>
                </a:solidFill>
                <a:ea typeface="宋体" pitchFamily="2" charset="-122"/>
              </a:rPr>
              <a:t>75.71</a:t>
            </a:r>
            <a:r>
              <a:rPr lang="zh-CN" altLang="en-US" sz="2800">
                <a:solidFill>
                  <a:srgbClr val="008000"/>
                </a:solidFill>
                <a:ea typeface="宋体" pitchFamily="2" charset="-122"/>
              </a:rPr>
              <a:t>（分）</a:t>
            </a:r>
          </a:p>
        </p:txBody>
      </p:sp>
      <p:sp>
        <p:nvSpPr>
          <p:cNvPr id="43017" name="Rectangle 100"/>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3012" name="Object 99"/>
          <p:cNvGraphicFramePr>
            <a:graphicFrameLocks noChangeAspect="1"/>
          </p:cNvGraphicFramePr>
          <p:nvPr/>
        </p:nvGraphicFramePr>
        <p:xfrm>
          <a:off x="684213" y="4149725"/>
          <a:ext cx="4824412" cy="1068388"/>
        </p:xfrm>
        <a:graphic>
          <a:graphicData uri="http://schemas.openxmlformats.org/presentationml/2006/ole">
            <mc:AlternateContent xmlns:mc="http://schemas.openxmlformats.org/markup-compatibility/2006">
              <mc:Choice xmlns:v="urn:schemas-microsoft-com:vml" Requires="v">
                <p:oleObj spid="_x0000_s43720" name="公式" r:id="rId7" imgW="2298700" imgH="457200" progId="Equation.3">
                  <p:embed/>
                </p:oleObj>
              </mc:Choice>
              <mc:Fallback>
                <p:oleObj name="公式" r:id="rId7" imgW="2298700" imgH="457200" progId="Equation.3">
                  <p:embed/>
                  <p:pic>
                    <p:nvPicPr>
                      <p:cNvPr id="0" name="Object 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4149725"/>
                        <a:ext cx="4824412" cy="1068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8" name="Rectangle 102"/>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3013" name="Object 101"/>
          <p:cNvGraphicFramePr>
            <a:graphicFrameLocks noChangeAspect="1"/>
          </p:cNvGraphicFramePr>
          <p:nvPr/>
        </p:nvGraphicFramePr>
        <p:xfrm>
          <a:off x="2916238" y="5157788"/>
          <a:ext cx="5903912" cy="1241425"/>
        </p:xfrm>
        <a:graphic>
          <a:graphicData uri="http://schemas.openxmlformats.org/presentationml/2006/ole">
            <mc:AlternateContent xmlns:mc="http://schemas.openxmlformats.org/markup-compatibility/2006">
              <mc:Choice xmlns:v="urn:schemas-microsoft-com:vml" Requires="v">
                <p:oleObj spid="_x0000_s43721" name="公式" r:id="rId9" imgW="2768600" imgH="533400" progId="Equation.3">
                  <p:embed/>
                </p:oleObj>
              </mc:Choice>
              <mc:Fallback>
                <p:oleObj name="公式" r:id="rId9" imgW="2768600" imgH="533400" progId="Equation.3">
                  <p:embed/>
                  <p:pic>
                    <p:nvPicPr>
                      <p:cNvPr id="0" name="Object 10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5157788"/>
                        <a:ext cx="5903912" cy="1241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 name="灯片编号占位符 96"/>
          <p:cNvSpPr>
            <a:spLocks noGrp="1"/>
          </p:cNvSpPr>
          <p:nvPr>
            <p:ph type="sldNum" sz="quarter" idx="12"/>
          </p:nvPr>
        </p:nvSpPr>
        <p:spPr/>
        <p:txBody>
          <a:bodyPr/>
          <a:lstStyle/>
          <a:p>
            <a:pPr>
              <a:defRPr/>
            </a:pPr>
            <a:fld id="{62FC49CA-8014-4DA2-ABEB-AF96863EC77D}" type="slidenum">
              <a:rPr lang="en-US" altLang="zh-CN" smtClean="0"/>
              <a:pPr>
                <a:defRPr/>
              </a:pPr>
              <a:t>109</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1317"/>
                                        </p:tgtEl>
                                        <p:attrNameLst>
                                          <p:attrName>style.visibility</p:attrName>
                                        </p:attrNameLst>
                                      </p:cBhvr>
                                      <p:to>
                                        <p:strVal val="visible"/>
                                      </p:to>
                                    </p:set>
                                    <p:anim calcmode="lin" valueType="num">
                                      <p:cBhvr additive="base">
                                        <p:cTn id="7" dur="500" fill="hold"/>
                                        <p:tgtEl>
                                          <p:spTgt spid="141317"/>
                                        </p:tgtEl>
                                        <p:attrNameLst>
                                          <p:attrName>ppt_x</p:attrName>
                                        </p:attrNameLst>
                                      </p:cBhvr>
                                      <p:tavLst>
                                        <p:tav tm="0">
                                          <p:val>
                                            <p:strVal val="0-#ppt_w/2"/>
                                          </p:val>
                                        </p:tav>
                                        <p:tav tm="100000">
                                          <p:val>
                                            <p:strVal val="#ppt_x"/>
                                          </p:val>
                                        </p:tav>
                                      </p:tavLst>
                                    </p:anim>
                                    <p:anim calcmode="lin" valueType="num">
                                      <p:cBhvr additive="base">
                                        <p:cTn id="8" dur="500" fill="hold"/>
                                        <p:tgtEl>
                                          <p:spTgt spid="1413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1318"/>
                                        </p:tgtEl>
                                        <p:attrNameLst>
                                          <p:attrName>style.visibility</p:attrName>
                                        </p:attrNameLst>
                                      </p:cBhvr>
                                      <p:to>
                                        <p:strVal val="visible"/>
                                      </p:to>
                                    </p:set>
                                    <p:anim calcmode="lin" valueType="num">
                                      <p:cBhvr additive="base">
                                        <p:cTn id="13" dur="500" fill="hold"/>
                                        <p:tgtEl>
                                          <p:spTgt spid="141318"/>
                                        </p:tgtEl>
                                        <p:attrNameLst>
                                          <p:attrName>ppt_x</p:attrName>
                                        </p:attrNameLst>
                                      </p:cBhvr>
                                      <p:tavLst>
                                        <p:tav tm="0">
                                          <p:val>
                                            <p:strVal val="0-#ppt_w/2"/>
                                          </p:val>
                                        </p:tav>
                                        <p:tav tm="100000">
                                          <p:val>
                                            <p:strVal val="#ppt_x"/>
                                          </p:val>
                                        </p:tav>
                                      </p:tavLst>
                                    </p:anim>
                                    <p:anim calcmode="lin" valueType="num">
                                      <p:cBhvr additive="base">
                                        <p:cTn id="14" dur="500" fill="hold"/>
                                        <p:tgtEl>
                                          <p:spTgt spid="1413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99592" y="1844824"/>
            <a:ext cx="6822504" cy="2400657"/>
          </a:xfrm>
          <a:prstGeom prst="rect">
            <a:avLst/>
          </a:prstGeom>
        </p:spPr>
        <p:txBody>
          <a:bodyPr wrap="square">
            <a:spAutoFit/>
          </a:bodyPr>
          <a:lstStyle/>
          <a:p>
            <a:pPr>
              <a:lnSpc>
                <a:spcPct val="150000"/>
              </a:lnSpc>
            </a:pPr>
            <a:r>
              <a:rPr lang="zh-CN" altLang="en-US" sz="3200" b="1" dirty="0" smtClean="0">
                <a:solidFill>
                  <a:srgbClr val="000000"/>
                </a:solidFill>
                <a:latin typeface="+mn-ea"/>
                <a:ea typeface="+mn-ea"/>
              </a:rPr>
              <a:t>（</a:t>
            </a:r>
            <a:r>
              <a:rPr lang="en-US" altLang="zh-CN" sz="3200" b="1" dirty="0" smtClean="0">
                <a:solidFill>
                  <a:srgbClr val="000000"/>
                </a:solidFill>
                <a:latin typeface="+mn-ea"/>
                <a:ea typeface="+mn-ea"/>
              </a:rPr>
              <a:t>1</a:t>
            </a:r>
            <a:r>
              <a:rPr lang="zh-CN" altLang="en-US" sz="3200" b="1" dirty="0" smtClean="0">
                <a:solidFill>
                  <a:srgbClr val="000000"/>
                </a:solidFill>
                <a:latin typeface="+mn-ea"/>
                <a:ea typeface="+mn-ea"/>
              </a:rPr>
              <a:t>）</a:t>
            </a:r>
            <a:r>
              <a:rPr lang="zh-CN" altLang="zh-CN" sz="3200" b="1" dirty="0" smtClean="0">
                <a:solidFill>
                  <a:srgbClr val="000000"/>
                </a:solidFill>
                <a:latin typeface="+mn-ea"/>
                <a:ea typeface="+mn-ea"/>
              </a:rPr>
              <a:t>若每一个变量值加上一个常数，方差和标准差不变。设</a:t>
            </a:r>
            <a:r>
              <a:rPr lang="en-US" altLang="zh-CN" sz="3200" b="1" i="1" dirty="0" smtClean="0">
                <a:solidFill>
                  <a:srgbClr val="000000"/>
                </a:solidFill>
                <a:latin typeface="+mn-ea"/>
                <a:ea typeface="+mn-ea"/>
                <a:cs typeface="Times New Roman" pitchFamily="18" charset="0"/>
              </a:rPr>
              <a:t>a</a:t>
            </a:r>
            <a:r>
              <a:rPr lang="zh-CN" altLang="zh-CN" sz="3200" b="1" dirty="0" smtClean="0">
                <a:solidFill>
                  <a:srgbClr val="000000"/>
                </a:solidFill>
                <a:latin typeface="+mn-ea"/>
                <a:ea typeface="+mn-ea"/>
              </a:rPr>
              <a:t>为任意常数，</a:t>
            </a:r>
            <a:r>
              <a:rPr lang="en-US" altLang="zh-CN" sz="3600" b="1" i="1" dirty="0" smtClean="0">
                <a:solidFill>
                  <a:srgbClr val="0070C0"/>
                </a:solidFill>
                <a:ea typeface="+mn-ea"/>
                <a:cs typeface="Times New Roman" pitchFamily="18" charset="0"/>
              </a:rPr>
              <a:t>y</a:t>
            </a:r>
            <a:r>
              <a:rPr lang="en-US" altLang="zh-CN" sz="3600" b="1" i="1" baseline="-25000" dirty="0" smtClean="0">
                <a:solidFill>
                  <a:srgbClr val="0070C0"/>
                </a:solidFill>
                <a:ea typeface="+mn-ea"/>
                <a:cs typeface="Times New Roman" pitchFamily="18" charset="0"/>
              </a:rPr>
              <a:t>i</a:t>
            </a:r>
            <a:r>
              <a:rPr lang="en-US" altLang="zh-CN" sz="3600" b="1" i="1" dirty="0" smtClean="0">
                <a:solidFill>
                  <a:srgbClr val="0070C0"/>
                </a:solidFill>
                <a:ea typeface="+mn-ea"/>
                <a:cs typeface="Times New Roman" pitchFamily="18" charset="0"/>
              </a:rPr>
              <a:t>=</a:t>
            </a:r>
            <a:r>
              <a:rPr lang="en-US" altLang="zh-CN" sz="3600" b="1" i="1" dirty="0" err="1" smtClean="0">
                <a:solidFill>
                  <a:srgbClr val="0070C0"/>
                </a:solidFill>
                <a:ea typeface="+mn-ea"/>
                <a:cs typeface="Times New Roman" pitchFamily="18" charset="0"/>
              </a:rPr>
              <a:t>x</a:t>
            </a:r>
            <a:r>
              <a:rPr lang="en-US" altLang="zh-CN" sz="3600" b="1" i="1" baseline="-25000" dirty="0" err="1" smtClean="0">
                <a:solidFill>
                  <a:srgbClr val="0070C0"/>
                </a:solidFill>
                <a:ea typeface="+mn-ea"/>
                <a:cs typeface="Times New Roman" pitchFamily="18" charset="0"/>
              </a:rPr>
              <a:t>i</a:t>
            </a:r>
            <a:r>
              <a:rPr lang="en-US" altLang="zh-CN" sz="3600" b="1" i="1" dirty="0" err="1" smtClean="0">
                <a:solidFill>
                  <a:srgbClr val="0070C0"/>
                </a:solidFill>
                <a:ea typeface="+mn-ea"/>
                <a:cs typeface="Times New Roman" pitchFamily="18" charset="0"/>
              </a:rPr>
              <a:t>+a</a:t>
            </a:r>
            <a:r>
              <a:rPr lang="zh-CN" altLang="zh-CN" sz="3200" b="1" dirty="0" smtClean="0">
                <a:solidFill>
                  <a:srgbClr val="0070C0"/>
                </a:solidFill>
                <a:latin typeface="+mn-ea"/>
                <a:ea typeface="+mn-ea"/>
              </a:rPr>
              <a:t>，</a:t>
            </a:r>
            <a:r>
              <a:rPr lang="zh-CN" altLang="en-US" sz="3200" dirty="0" smtClean="0">
                <a:solidFill>
                  <a:srgbClr val="000000"/>
                </a:solidFill>
                <a:latin typeface="+mn-ea"/>
                <a:ea typeface="+mn-ea"/>
              </a:rPr>
              <a:t>则有</a:t>
            </a:r>
            <a:endParaRPr lang="zh-CN" altLang="en-US" sz="3200" dirty="0">
              <a:solidFill>
                <a:srgbClr val="000000"/>
              </a:solidFill>
              <a:latin typeface="+mn-ea"/>
              <a:ea typeface="+mn-ea"/>
            </a:endParaRPr>
          </a:p>
        </p:txBody>
      </p:sp>
      <p:pic>
        <p:nvPicPr>
          <p:cNvPr id="4" name="Picture 5"/>
          <p:cNvPicPr>
            <a:picLocks noChangeAspect="1" noChangeArrowheads="1"/>
          </p:cNvPicPr>
          <p:nvPr/>
        </p:nvPicPr>
        <p:blipFill>
          <a:blip r:embed="rId2" cstate="print"/>
          <a:srcRect/>
          <a:stretch>
            <a:fillRect/>
          </a:stretch>
        </p:blipFill>
        <p:spPr bwMode="auto">
          <a:xfrm>
            <a:off x="1691680" y="4581128"/>
            <a:ext cx="6146865" cy="1252139"/>
          </a:xfrm>
          <a:prstGeom prst="rect">
            <a:avLst/>
          </a:prstGeom>
          <a:noFill/>
          <a:ln w="9525">
            <a:noFill/>
            <a:miter lim="800000"/>
            <a:headEnd/>
            <a:tailEnd/>
          </a:ln>
        </p:spPr>
      </p:pic>
      <p:sp>
        <p:nvSpPr>
          <p:cNvPr id="5" name="标题 4"/>
          <p:cNvSpPr>
            <a:spLocks noGrp="1"/>
          </p:cNvSpPr>
          <p:nvPr>
            <p:ph type="title" idx="4294967295"/>
          </p:nvPr>
        </p:nvSpPr>
        <p:spPr>
          <a:xfrm>
            <a:off x="755576" y="548680"/>
            <a:ext cx="7772400" cy="990600"/>
          </a:xfrm>
        </p:spPr>
        <p:txBody>
          <a:bodyPr/>
          <a:lstStyle/>
          <a:p>
            <a:r>
              <a:rPr kumimoji="1" lang="zh-CN" altLang="zh-CN" sz="4400" b="1" dirty="0" smtClean="0">
                <a:solidFill>
                  <a:srgbClr val="3333FF"/>
                </a:solidFill>
                <a:latin typeface="Tahoma"/>
                <a:ea typeface="宋体"/>
                <a:cs typeface="+mj-cs"/>
              </a:rPr>
              <a:t>方差和标准差的数学性质</a:t>
            </a:r>
            <a:endParaRPr lang="zh-CN" altLang="en-US" dirty="0"/>
          </a:p>
        </p:txBody>
      </p:sp>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110</a:t>
            </a:fld>
            <a:endParaRPr lang="en-US" altLang="zh-CN" dirty="0"/>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p:txBody>
          <a:bodyPr/>
          <a:lstStyle/>
          <a:p>
            <a:r>
              <a:rPr kumimoji="1" lang="zh-CN" altLang="zh-CN" sz="3600" b="1" dirty="0" smtClean="0">
                <a:solidFill>
                  <a:srgbClr val="3333FF"/>
                </a:solidFill>
                <a:latin typeface="Tahoma"/>
                <a:ea typeface="宋体"/>
                <a:cs typeface="+mj-cs"/>
              </a:rPr>
              <a:t>方差和标准差的数学性质</a:t>
            </a:r>
            <a:r>
              <a:rPr lang="zh-CN" altLang="en-US" sz="3600" dirty="0" smtClean="0"/>
              <a:t>（续）</a:t>
            </a:r>
            <a:endParaRPr lang="zh-CN" altLang="en-US" sz="3600" dirty="0"/>
          </a:p>
        </p:txBody>
      </p:sp>
      <p:sp>
        <p:nvSpPr>
          <p:cNvPr id="4" name="矩形 3"/>
          <p:cNvSpPr/>
          <p:nvPr/>
        </p:nvSpPr>
        <p:spPr>
          <a:xfrm>
            <a:off x="1043608" y="1484784"/>
            <a:ext cx="7344816" cy="2214837"/>
          </a:xfrm>
          <a:prstGeom prst="rect">
            <a:avLst/>
          </a:prstGeom>
        </p:spPr>
        <p:txBody>
          <a:bodyPr wrap="square">
            <a:spAutoFit/>
          </a:bodyPr>
          <a:lstStyle/>
          <a:p>
            <a:pPr>
              <a:lnSpc>
                <a:spcPct val="150000"/>
              </a:lnSpc>
            </a:pPr>
            <a:r>
              <a:rPr lang="zh-CN" altLang="en-US" sz="3200" b="1" dirty="0" smtClean="0">
                <a:solidFill>
                  <a:srgbClr val="000000"/>
                </a:solidFill>
                <a:latin typeface="+mn-ea"/>
                <a:ea typeface="+mn-ea"/>
              </a:rPr>
              <a:t>（</a:t>
            </a:r>
            <a:r>
              <a:rPr lang="en-US" altLang="zh-CN" sz="3200" b="1" dirty="0" smtClean="0">
                <a:solidFill>
                  <a:srgbClr val="000000"/>
                </a:solidFill>
                <a:latin typeface="+mn-ea"/>
                <a:ea typeface="+mn-ea"/>
              </a:rPr>
              <a:t>2</a:t>
            </a:r>
            <a:r>
              <a:rPr lang="zh-CN" altLang="en-US" sz="3200" b="1" dirty="0" smtClean="0">
                <a:solidFill>
                  <a:srgbClr val="000000"/>
                </a:solidFill>
                <a:latin typeface="+mn-ea"/>
                <a:ea typeface="+mn-ea"/>
              </a:rPr>
              <a:t>）若每一个变量值均扩大一个常数倍，方差和标准差也同比例变化</a:t>
            </a:r>
            <a:r>
              <a:rPr lang="zh-CN" altLang="zh-CN" sz="3200" b="1" dirty="0" smtClean="0">
                <a:solidFill>
                  <a:srgbClr val="000000"/>
                </a:solidFill>
                <a:latin typeface="+mn-ea"/>
                <a:ea typeface="+mn-ea"/>
              </a:rPr>
              <a:t>。设</a:t>
            </a:r>
            <a:r>
              <a:rPr lang="en-US" altLang="zh-CN" sz="3200" b="1" i="1" dirty="0" smtClean="0">
                <a:solidFill>
                  <a:srgbClr val="000000"/>
                </a:solidFill>
                <a:latin typeface="+mn-ea"/>
                <a:ea typeface="+mn-ea"/>
                <a:cs typeface="Times New Roman" pitchFamily="18" charset="0"/>
              </a:rPr>
              <a:t>a</a:t>
            </a:r>
            <a:r>
              <a:rPr lang="zh-CN" altLang="zh-CN" sz="3200" b="1" dirty="0" smtClean="0">
                <a:solidFill>
                  <a:srgbClr val="000000"/>
                </a:solidFill>
                <a:latin typeface="+mn-ea"/>
                <a:ea typeface="+mn-ea"/>
              </a:rPr>
              <a:t>为任意常数，</a:t>
            </a:r>
            <a:r>
              <a:rPr lang="en-US" altLang="zh-CN" sz="3200" b="1" i="1" dirty="0" smtClean="0">
                <a:solidFill>
                  <a:srgbClr val="000000"/>
                </a:solidFill>
                <a:ea typeface="+mn-ea"/>
                <a:cs typeface="Times New Roman" pitchFamily="18" charset="0"/>
              </a:rPr>
              <a:t>y</a:t>
            </a:r>
            <a:r>
              <a:rPr lang="en-US" altLang="zh-CN" sz="3200" b="1" i="1" baseline="-25000" dirty="0" smtClean="0">
                <a:solidFill>
                  <a:srgbClr val="000000"/>
                </a:solidFill>
                <a:ea typeface="+mn-ea"/>
                <a:cs typeface="Times New Roman" pitchFamily="18" charset="0"/>
              </a:rPr>
              <a:t>i</a:t>
            </a:r>
            <a:r>
              <a:rPr lang="en-US" altLang="zh-CN" sz="3200" b="1" i="1" dirty="0" smtClean="0">
                <a:solidFill>
                  <a:srgbClr val="000000"/>
                </a:solidFill>
                <a:ea typeface="+mn-ea"/>
                <a:cs typeface="Times New Roman" pitchFamily="18" charset="0"/>
              </a:rPr>
              <a:t>=</a:t>
            </a:r>
            <a:r>
              <a:rPr lang="en-US" altLang="zh-CN" sz="3200" b="1" i="1" dirty="0" err="1" smtClean="0">
                <a:solidFill>
                  <a:srgbClr val="000000"/>
                </a:solidFill>
                <a:ea typeface="+mn-ea"/>
                <a:cs typeface="Times New Roman" pitchFamily="18" charset="0"/>
              </a:rPr>
              <a:t>ax</a:t>
            </a:r>
            <a:r>
              <a:rPr lang="en-US" altLang="zh-CN" sz="3200" b="1" i="1" baseline="-25000" dirty="0" err="1" smtClean="0">
                <a:solidFill>
                  <a:srgbClr val="000000"/>
                </a:solidFill>
                <a:ea typeface="+mn-ea"/>
                <a:cs typeface="Times New Roman" pitchFamily="18" charset="0"/>
              </a:rPr>
              <a:t>i</a:t>
            </a:r>
            <a:r>
              <a:rPr lang="zh-CN" altLang="zh-CN" sz="3200" b="1" dirty="0" smtClean="0">
                <a:solidFill>
                  <a:srgbClr val="000000"/>
                </a:solidFill>
                <a:latin typeface="+mn-ea"/>
                <a:ea typeface="+mn-ea"/>
              </a:rPr>
              <a:t>，</a:t>
            </a:r>
            <a:r>
              <a:rPr lang="zh-CN" altLang="zh-CN" sz="3200" b="1" dirty="0" smtClean="0">
                <a:latin typeface="+mn-ea"/>
                <a:ea typeface="+mn-ea"/>
              </a:rPr>
              <a:t>则有</a:t>
            </a:r>
            <a:endParaRPr lang="en-US" altLang="zh-CN" sz="3200" b="1" dirty="0">
              <a:solidFill>
                <a:srgbClr val="000000"/>
              </a:solidFill>
              <a:latin typeface="+mn-ea"/>
              <a:ea typeface="+mn-ea"/>
            </a:endParaRPr>
          </a:p>
        </p:txBody>
      </p:sp>
      <p:pic>
        <p:nvPicPr>
          <p:cNvPr id="5" name="Picture 4"/>
          <p:cNvPicPr>
            <a:picLocks noChangeAspect="1" noChangeArrowheads="1"/>
          </p:cNvPicPr>
          <p:nvPr/>
        </p:nvPicPr>
        <p:blipFill>
          <a:blip r:embed="rId2" cstate="print"/>
          <a:srcRect/>
          <a:stretch>
            <a:fillRect/>
          </a:stretch>
        </p:blipFill>
        <p:spPr bwMode="auto">
          <a:xfrm>
            <a:off x="1403648" y="4293096"/>
            <a:ext cx="6116926" cy="927348"/>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pPr>
              <a:defRPr/>
            </a:pPr>
            <a:fld id="{4D36EFB7-0D9F-4BC1-ADE9-F0E399591344}" type="slidenum">
              <a:rPr lang="en-US" altLang="zh-CN" smtClean="0"/>
              <a:pPr>
                <a:defRPr/>
              </a:pPr>
              <a:t>111</a:t>
            </a:fld>
            <a:endParaRPr lang="en-US" altLang="zh-CN" dirty="0"/>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zh-CN" sz="4400" b="1" dirty="0" smtClean="0">
                <a:solidFill>
                  <a:srgbClr val="3333FF"/>
                </a:solidFill>
                <a:latin typeface="+mj-lt"/>
                <a:ea typeface="+mj-ea"/>
                <a:cs typeface="+mj-cs"/>
              </a:rPr>
              <a:t>方差的主要数学性质（续）</a:t>
            </a:r>
            <a:endParaRPr lang="zh-CN" altLang="en-US" dirty="0"/>
          </a:p>
        </p:txBody>
      </p:sp>
      <p:sp>
        <p:nvSpPr>
          <p:cNvPr id="5" name="Rectangle 3"/>
          <p:cNvSpPr>
            <a:spLocks noGrp="1" noChangeArrowheads="1"/>
          </p:cNvSpPr>
          <p:nvPr>
            <p:ph idx="1"/>
          </p:nvPr>
        </p:nvSpPr>
        <p:spPr>
          <a:xfrm>
            <a:off x="755576" y="1196752"/>
            <a:ext cx="7772400" cy="1296144"/>
          </a:xfrm>
        </p:spPr>
        <p:txBody>
          <a:bodyPr/>
          <a:lstStyle/>
          <a:p>
            <a:pPr eaLnBrk="1" hangingPunct="1">
              <a:spcBef>
                <a:spcPct val="40000"/>
              </a:spcBef>
              <a:buFontTx/>
              <a:buNone/>
            </a:pPr>
            <a:r>
              <a:rPr lang="en-US" altLang="zh-CN" dirty="0" smtClean="0">
                <a:solidFill>
                  <a:srgbClr val="000000"/>
                </a:solidFill>
              </a:rPr>
              <a:t>(3)</a:t>
            </a:r>
            <a:r>
              <a:rPr lang="zh-CN" altLang="en-US" dirty="0" smtClean="0">
                <a:solidFill>
                  <a:srgbClr val="000000"/>
                </a:solidFill>
              </a:rPr>
              <a:t>分组条件下，</a:t>
            </a:r>
          </a:p>
          <a:p>
            <a:pPr lvl="1" eaLnBrk="1" hangingPunct="1">
              <a:spcBef>
                <a:spcPct val="40000"/>
              </a:spcBef>
            </a:pPr>
            <a:r>
              <a:rPr lang="zh-CN" altLang="en-US" sz="3200" dirty="0" smtClean="0"/>
              <a:t>总方差</a:t>
            </a:r>
            <a:r>
              <a:rPr lang="en-US" altLang="zh-CN" sz="3200" dirty="0" smtClean="0"/>
              <a:t>=</a:t>
            </a:r>
            <a:r>
              <a:rPr lang="zh-CN" altLang="en-US" sz="3200" dirty="0" smtClean="0"/>
              <a:t>各组方差平均数</a:t>
            </a:r>
            <a:r>
              <a:rPr lang="en-US" altLang="zh-CN" sz="3200" dirty="0" smtClean="0"/>
              <a:t>+</a:t>
            </a:r>
            <a:r>
              <a:rPr lang="zh-CN" altLang="en-US" sz="3200" dirty="0" smtClean="0"/>
              <a:t>组间方差</a:t>
            </a:r>
          </a:p>
        </p:txBody>
      </p:sp>
      <p:graphicFrame>
        <p:nvGraphicFramePr>
          <p:cNvPr id="450565" name="Object 5"/>
          <p:cNvGraphicFramePr>
            <a:graphicFrameLocks noChangeAspect="1"/>
          </p:cNvGraphicFramePr>
          <p:nvPr/>
        </p:nvGraphicFramePr>
        <p:xfrm>
          <a:off x="1835150" y="2493640"/>
          <a:ext cx="3879850" cy="1295400"/>
        </p:xfrm>
        <a:graphic>
          <a:graphicData uri="http://schemas.openxmlformats.org/presentationml/2006/ole">
            <mc:AlternateContent xmlns:mc="http://schemas.openxmlformats.org/markup-compatibility/2006">
              <mc:Choice xmlns:v="urn:schemas-microsoft-com:vml" Requires="v">
                <p:oleObj spid="_x0000_s202261" name="公式" r:id="rId3" imgW="838080" imgH="253800" progId="Equation.3">
                  <p:embed/>
                </p:oleObj>
              </mc:Choice>
              <mc:Fallback>
                <p:oleObj name="公式" r:id="rId3" imgW="838080" imgH="253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493640"/>
                        <a:ext cx="3879850" cy="1295400"/>
                      </a:xfrm>
                      <a:prstGeom prst="rect">
                        <a:avLst/>
                      </a:prstGeom>
                      <a:noFill/>
                      <a:ln w="28575">
                        <a:solidFill>
                          <a:srgbClr val="1313FF"/>
                        </a:solidFill>
                        <a:miter lim="800000"/>
                        <a:headEnd/>
                        <a:tailEnd/>
                      </a:ln>
                      <a:extLst>
                        <a:ext uri="{909E8E84-426E-40DD-AFC4-6F175D3DCCD1}">
                          <a14:hiddenFill xmlns:a14="http://schemas.microsoft.com/office/drawing/2010/main">
                            <a:solidFill>
                              <a:srgbClr val="009900"/>
                            </a:solidFill>
                          </a14:hiddenFill>
                        </a:ext>
                      </a:extLst>
                    </p:spPr>
                  </p:pic>
                </p:oleObj>
              </mc:Fallback>
            </mc:AlternateContent>
          </a:graphicData>
        </a:graphic>
      </p:graphicFrame>
      <p:sp>
        <p:nvSpPr>
          <p:cNvPr id="7" name="Rectangle 10"/>
          <p:cNvSpPr>
            <a:spLocks noChangeArrowheads="1"/>
          </p:cNvSpPr>
          <p:nvPr/>
        </p:nvSpPr>
        <p:spPr bwMode="auto">
          <a:xfrm>
            <a:off x="683568" y="3861048"/>
            <a:ext cx="3889375" cy="504825"/>
          </a:xfrm>
          <a:prstGeom prst="rect">
            <a:avLst/>
          </a:prstGeom>
          <a:noFill/>
          <a:ln w="9525">
            <a:noFill/>
            <a:miter lim="800000"/>
            <a:headEnd/>
            <a:tailEnd/>
          </a:ln>
        </p:spPr>
        <p:txBody>
          <a:bodyPr/>
          <a:lstStyle/>
          <a:p>
            <a:pPr marL="742950" lvl="1" indent="-285750">
              <a:spcBef>
                <a:spcPct val="40000"/>
              </a:spcBef>
              <a:buSzPct val="80000"/>
              <a:buFontTx/>
              <a:buBlip>
                <a:blip r:embed="rId5"/>
              </a:buBlip>
            </a:pPr>
            <a:r>
              <a:rPr lang="zh-CN" altLang="en-US" sz="2600" b="1" dirty="0">
                <a:solidFill>
                  <a:schemeClr val="tx2"/>
                </a:solidFill>
                <a:latin typeface="Tahoma" pitchFamily="34" charset="0"/>
                <a:ea typeface="宋体" pitchFamily="2" charset="-122"/>
              </a:rPr>
              <a:t>各组方差平均数</a:t>
            </a:r>
          </a:p>
        </p:txBody>
      </p:sp>
      <p:graphicFrame>
        <p:nvGraphicFramePr>
          <p:cNvPr id="450567" name="Object 7"/>
          <p:cNvGraphicFramePr>
            <a:graphicFrameLocks noChangeAspect="1"/>
          </p:cNvGraphicFramePr>
          <p:nvPr/>
        </p:nvGraphicFramePr>
        <p:xfrm>
          <a:off x="1187450" y="4437063"/>
          <a:ext cx="2636838" cy="1660525"/>
        </p:xfrm>
        <a:graphic>
          <a:graphicData uri="http://schemas.openxmlformats.org/presentationml/2006/ole">
            <mc:AlternateContent xmlns:mc="http://schemas.openxmlformats.org/markup-compatibility/2006">
              <mc:Choice xmlns:v="urn:schemas-microsoft-com:vml" Requires="v">
                <p:oleObj spid="_x0000_s202262" name="Equation" r:id="rId6" imgW="748975" imgH="634725" progId="Equation.DSMT4">
                  <p:embed/>
                </p:oleObj>
              </mc:Choice>
              <mc:Fallback>
                <p:oleObj name="Equation" r:id="rId6" imgW="748975" imgH="634725"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4437063"/>
                        <a:ext cx="2636838" cy="166052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009900"/>
                            </a:solidFill>
                          </a14:hiddenFill>
                        </a:ext>
                      </a:extLst>
                    </p:spPr>
                  </p:pic>
                </p:oleObj>
              </mc:Fallback>
            </mc:AlternateContent>
          </a:graphicData>
        </a:graphic>
      </p:graphicFrame>
      <p:sp>
        <p:nvSpPr>
          <p:cNvPr id="9" name="Rectangle 9"/>
          <p:cNvSpPr>
            <a:spLocks noChangeArrowheads="1"/>
          </p:cNvSpPr>
          <p:nvPr/>
        </p:nvSpPr>
        <p:spPr bwMode="auto">
          <a:xfrm>
            <a:off x="5616575" y="3501008"/>
            <a:ext cx="3527425" cy="476250"/>
          </a:xfrm>
          <a:prstGeom prst="rect">
            <a:avLst/>
          </a:prstGeom>
          <a:noFill/>
          <a:ln w="9525">
            <a:noFill/>
            <a:miter lim="800000"/>
            <a:headEnd/>
            <a:tailEnd/>
          </a:ln>
        </p:spPr>
        <p:txBody>
          <a:bodyPr/>
          <a:lstStyle/>
          <a:p>
            <a:pPr marL="742950" lvl="1" indent="-285750">
              <a:spcBef>
                <a:spcPct val="40000"/>
              </a:spcBef>
              <a:buSzPct val="80000"/>
              <a:buFontTx/>
              <a:buBlip>
                <a:blip r:embed="rId5"/>
              </a:buBlip>
            </a:pPr>
            <a:r>
              <a:rPr lang="zh-CN" altLang="en-US" sz="2600" b="1" dirty="0">
                <a:solidFill>
                  <a:schemeClr val="tx2"/>
                </a:solidFill>
                <a:latin typeface="Tahoma" pitchFamily="34" charset="0"/>
                <a:ea typeface="宋体" pitchFamily="2" charset="-122"/>
              </a:rPr>
              <a:t>组间方差</a:t>
            </a:r>
          </a:p>
        </p:txBody>
      </p:sp>
      <p:graphicFrame>
        <p:nvGraphicFramePr>
          <p:cNvPr id="201732" name="Object 8"/>
          <p:cNvGraphicFramePr>
            <a:graphicFrameLocks noChangeAspect="1"/>
          </p:cNvGraphicFramePr>
          <p:nvPr/>
        </p:nvGraphicFramePr>
        <p:xfrm>
          <a:off x="5651500" y="4005263"/>
          <a:ext cx="3309938" cy="2286000"/>
        </p:xfrm>
        <a:graphic>
          <a:graphicData uri="http://schemas.openxmlformats.org/presentationml/2006/ole">
            <mc:AlternateContent xmlns:mc="http://schemas.openxmlformats.org/markup-compatibility/2006">
              <mc:Choice xmlns:v="urn:schemas-microsoft-com:vml" Requires="v">
                <p:oleObj spid="_x0000_s202263" name="公式" r:id="rId8" imgW="1218960" imgH="838080" progId="Equation.3">
                  <p:embed/>
                </p:oleObj>
              </mc:Choice>
              <mc:Fallback>
                <p:oleObj name="公式" r:id="rId8" imgW="1218960" imgH="83808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1500" y="4005263"/>
                        <a:ext cx="3309938" cy="2286000"/>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009900"/>
                            </a:solidFill>
                          </a14:hiddenFill>
                        </a:ext>
                      </a:extLst>
                    </p:spPr>
                  </p:pic>
                </p:oleObj>
              </mc:Fallback>
            </mc:AlternateContent>
          </a:graphicData>
        </a:graphic>
      </p:graphicFrame>
      <p:sp>
        <p:nvSpPr>
          <p:cNvPr id="10" name="灯片编号占位符 9"/>
          <p:cNvSpPr>
            <a:spLocks noGrp="1"/>
          </p:cNvSpPr>
          <p:nvPr>
            <p:ph type="sldNum" sz="quarter" idx="12"/>
          </p:nvPr>
        </p:nvSpPr>
        <p:spPr/>
        <p:txBody>
          <a:bodyPr/>
          <a:lstStyle/>
          <a:p>
            <a:pPr>
              <a:defRPr/>
            </a:pPr>
            <a:fld id="{62FC49CA-8014-4DA2-ABEB-AF96863EC77D}" type="slidenum">
              <a:rPr lang="en-US" altLang="zh-CN" smtClean="0"/>
              <a:pPr>
                <a:defRPr/>
              </a:pPr>
              <a:t>112</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50565"/>
                                        </p:tgtEl>
                                        <p:attrNameLst>
                                          <p:attrName>style.visibility</p:attrName>
                                        </p:attrNameLst>
                                      </p:cBhvr>
                                      <p:to>
                                        <p:strVal val="visible"/>
                                      </p:to>
                                    </p:set>
                                    <p:animEffect transition="in" filter="slide(fromLeft)">
                                      <p:cBhvr>
                                        <p:cTn id="7" dur="500"/>
                                        <p:tgtEl>
                                          <p:spTgt spid="450565"/>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770" decel="100000"/>
                                        <p:tgtEl>
                                          <p:spTgt spid="7"/>
                                        </p:tgtEl>
                                      </p:cBhvr>
                                    </p:animEffect>
                                    <p:animScale>
                                      <p:cBhvr>
                                        <p:cTn id="13" dur="770" decel="100000"/>
                                        <p:tgtEl>
                                          <p:spTgt spid="7"/>
                                        </p:tgtEl>
                                      </p:cBhvr>
                                      <p:from x="10000" y="10000"/>
                                      <p:to x="200000" y="450000"/>
                                    </p:animScale>
                                    <p:animScale>
                                      <p:cBhvr>
                                        <p:cTn id="14" dur="1230" accel="100000" fill="hold">
                                          <p:stCondLst>
                                            <p:cond delay="770"/>
                                          </p:stCondLst>
                                        </p:cTn>
                                        <p:tgtEl>
                                          <p:spTgt spid="7"/>
                                        </p:tgtEl>
                                      </p:cBhvr>
                                      <p:from x="200000" y="450000"/>
                                      <p:to x="100000" y="100000"/>
                                    </p:animScale>
                                    <p:set>
                                      <p:cBhvr>
                                        <p:cTn id="15" dur="770" fill="hold"/>
                                        <p:tgtEl>
                                          <p:spTgt spid="7"/>
                                        </p:tgtEl>
                                        <p:attrNameLst>
                                          <p:attrName>ppt_x</p:attrName>
                                        </p:attrNameLst>
                                      </p:cBhvr>
                                      <p:to>
                                        <p:strVal val="(0.5)"/>
                                      </p:to>
                                    </p:set>
                                    <p:anim from="(0.5)" to="(#ppt_x)" calcmode="lin" valueType="num">
                                      <p:cBhvr>
                                        <p:cTn id="16" dur="1230" accel="100000" fill="hold">
                                          <p:stCondLst>
                                            <p:cond delay="770"/>
                                          </p:stCondLst>
                                        </p:cTn>
                                        <p:tgtEl>
                                          <p:spTgt spid="7"/>
                                        </p:tgtEl>
                                        <p:attrNameLst>
                                          <p:attrName>ppt_x</p:attrName>
                                        </p:attrNameLst>
                                      </p:cBhvr>
                                    </p:anim>
                                    <p:set>
                                      <p:cBhvr>
                                        <p:cTn id="17" dur="770" fill="hold"/>
                                        <p:tgtEl>
                                          <p:spTgt spid="7"/>
                                        </p:tgtEl>
                                        <p:attrNameLst>
                                          <p:attrName>ppt_y</p:attrName>
                                        </p:attrNameLst>
                                      </p:cBhvr>
                                      <p:to>
                                        <p:strVal val="(#ppt_y+0.4)"/>
                                      </p:to>
                                    </p:set>
                                    <p:anim from="(#ppt_y+0.4)" to="(#ppt_y)" calcmode="lin" valueType="num">
                                      <p:cBhvr>
                                        <p:cTn id="18" dur="1230" accel="100000" fill="hold">
                                          <p:stCondLst>
                                            <p:cond delay="770"/>
                                          </p:stCondLst>
                                        </p:cTn>
                                        <p:tgtEl>
                                          <p:spTgt spid="7"/>
                                        </p:tgtEl>
                                        <p:attrNameLst>
                                          <p:attrName>ppt_y</p:attrName>
                                        </p:attrNameLst>
                                      </p:cBhvr>
                                    </p:anim>
                                  </p:childTnLst>
                                </p:cTn>
                              </p:par>
                            </p:childTnLst>
                          </p:cTn>
                        </p:par>
                        <p:par>
                          <p:cTn id="19" fill="hold">
                            <p:stCondLst>
                              <p:cond delay="2000"/>
                            </p:stCondLst>
                            <p:childTnLst>
                              <p:par>
                                <p:cTn id="20" presetID="12" presetClass="entr" presetSubtype="1" fill="hold" nodeType="afterEffect">
                                  <p:stCondLst>
                                    <p:cond delay="0"/>
                                  </p:stCondLst>
                                  <p:childTnLst>
                                    <p:set>
                                      <p:cBhvr>
                                        <p:cTn id="21" dur="1" fill="hold">
                                          <p:stCondLst>
                                            <p:cond delay="0"/>
                                          </p:stCondLst>
                                        </p:cTn>
                                        <p:tgtEl>
                                          <p:spTgt spid="450567"/>
                                        </p:tgtEl>
                                        <p:attrNameLst>
                                          <p:attrName>style.visibility</p:attrName>
                                        </p:attrNameLst>
                                      </p:cBhvr>
                                      <p:to>
                                        <p:strVal val="visible"/>
                                      </p:to>
                                    </p:set>
                                    <p:animEffect transition="in" filter="slide(fromTop)">
                                      <p:cBhvr>
                                        <p:cTn id="22" dur="500"/>
                                        <p:tgtEl>
                                          <p:spTgt spid="450567"/>
                                        </p:tgtEl>
                                      </p:cBhvr>
                                    </p:animEffect>
                                  </p:childTnLst>
                                </p:cTn>
                              </p:par>
                            </p:childTnLst>
                          </p:cTn>
                        </p:par>
                      </p:childTnLst>
                    </p:cTn>
                  </p:par>
                  <p:par>
                    <p:cTn id="23" fill="hold">
                      <p:stCondLst>
                        <p:cond delay="indefinite"/>
                      </p:stCondLst>
                      <p:childTnLst>
                        <p:par>
                          <p:cTn id="24" fill="hold">
                            <p:stCondLst>
                              <p:cond delay="0"/>
                            </p:stCondLst>
                            <p:childTnLst>
                              <p:par>
                                <p:cTn id="25" presetID="5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70" decel="100000"/>
                                        <p:tgtEl>
                                          <p:spTgt spid="9"/>
                                        </p:tgtEl>
                                      </p:cBhvr>
                                    </p:animEffect>
                                    <p:animScale>
                                      <p:cBhvr>
                                        <p:cTn id="28" dur="770" decel="100000"/>
                                        <p:tgtEl>
                                          <p:spTgt spid="9"/>
                                        </p:tgtEl>
                                      </p:cBhvr>
                                      <p:from x="10000" y="10000"/>
                                      <p:to x="200000" y="450000"/>
                                    </p:animScale>
                                    <p:animScale>
                                      <p:cBhvr>
                                        <p:cTn id="29" dur="1230" accel="100000" fill="hold">
                                          <p:stCondLst>
                                            <p:cond delay="770"/>
                                          </p:stCondLst>
                                        </p:cTn>
                                        <p:tgtEl>
                                          <p:spTgt spid="9"/>
                                        </p:tgtEl>
                                      </p:cBhvr>
                                      <p:from x="200000" y="450000"/>
                                      <p:to x="100000" y="100000"/>
                                    </p:animScale>
                                    <p:set>
                                      <p:cBhvr>
                                        <p:cTn id="30" dur="770" fill="hold"/>
                                        <p:tgtEl>
                                          <p:spTgt spid="9"/>
                                        </p:tgtEl>
                                        <p:attrNameLst>
                                          <p:attrName>ppt_x</p:attrName>
                                        </p:attrNameLst>
                                      </p:cBhvr>
                                      <p:to>
                                        <p:strVal val="(0.5)"/>
                                      </p:to>
                                    </p:set>
                                    <p:anim from="(0.5)" to="(#ppt_x)" calcmode="lin" valueType="num">
                                      <p:cBhvr>
                                        <p:cTn id="31" dur="1230" accel="100000" fill="hold">
                                          <p:stCondLst>
                                            <p:cond delay="770"/>
                                          </p:stCondLst>
                                        </p:cTn>
                                        <p:tgtEl>
                                          <p:spTgt spid="9"/>
                                        </p:tgtEl>
                                        <p:attrNameLst>
                                          <p:attrName>ppt_x</p:attrName>
                                        </p:attrNameLst>
                                      </p:cBhvr>
                                    </p:anim>
                                    <p:set>
                                      <p:cBhvr>
                                        <p:cTn id="32" dur="770" fill="hold"/>
                                        <p:tgtEl>
                                          <p:spTgt spid="9"/>
                                        </p:tgtEl>
                                        <p:attrNameLst>
                                          <p:attrName>ppt_y</p:attrName>
                                        </p:attrNameLst>
                                      </p:cBhvr>
                                      <p:to>
                                        <p:strVal val="(#ppt_y+0.4)"/>
                                      </p:to>
                                    </p:set>
                                    <p:anim from="(#ppt_y+0.4)" to="(#ppt_y)" calcmode="lin" valueType="num">
                                      <p:cBhvr>
                                        <p:cTn id="33" dur="1230" accel="100000" fill="hold">
                                          <p:stCondLst>
                                            <p:cond delay="770"/>
                                          </p:stCondLst>
                                        </p:cTn>
                                        <p:tgtEl>
                                          <p:spTgt spid="9"/>
                                        </p:tgtEl>
                                        <p:attrNameLst>
                                          <p:attrName>ppt_y</p:attrName>
                                        </p:attrNameLst>
                                      </p:cBhvr>
                                    </p:anim>
                                  </p:childTnLst>
                                </p:cTn>
                              </p:par>
                            </p:childTnLst>
                          </p:cTn>
                        </p:par>
                        <p:par>
                          <p:cTn id="34" fill="hold">
                            <p:stCondLst>
                              <p:cond delay="2000"/>
                            </p:stCondLst>
                            <p:childTnLst>
                              <p:par>
                                <p:cTn id="35" presetID="12" presetClass="entr" presetSubtype="1" fill="hold" nodeType="afterEffect">
                                  <p:stCondLst>
                                    <p:cond delay="0"/>
                                  </p:stCondLst>
                                  <p:childTnLst>
                                    <p:set>
                                      <p:cBhvr>
                                        <p:cTn id="36" dur="1" fill="hold">
                                          <p:stCondLst>
                                            <p:cond delay="0"/>
                                          </p:stCondLst>
                                        </p:cTn>
                                        <p:tgtEl>
                                          <p:spTgt spid="201732"/>
                                        </p:tgtEl>
                                        <p:attrNameLst>
                                          <p:attrName>style.visibility</p:attrName>
                                        </p:attrNameLst>
                                      </p:cBhvr>
                                      <p:to>
                                        <p:strVal val="visible"/>
                                      </p:to>
                                    </p:set>
                                    <p:animEffect transition="in" filter="slide(fromTop)">
                                      <p:cBhvr>
                                        <p:cTn id="37" dur="500"/>
                                        <p:tgtEl>
                                          <p:spTgt spid="201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2"/>
          <p:cNvSpPr>
            <a:spLocks noGrp="1" noChangeArrowheads="1"/>
          </p:cNvSpPr>
          <p:nvPr>
            <p:ph type="title"/>
          </p:nvPr>
        </p:nvSpPr>
        <p:spPr>
          <a:xfrm>
            <a:off x="755576" y="404664"/>
            <a:ext cx="7772400" cy="990600"/>
          </a:xfrm>
        </p:spPr>
        <p:txBody>
          <a:bodyPr/>
          <a:lstStyle/>
          <a:p>
            <a:pPr eaLnBrk="1" hangingPunct="1"/>
            <a:r>
              <a:rPr lang="en-US" altLang="zh-CN" dirty="0" smtClean="0"/>
              <a:t>3.3.5 </a:t>
            </a:r>
            <a:r>
              <a:rPr lang="zh-CN" altLang="en-US" dirty="0" smtClean="0"/>
              <a:t>离散系数</a:t>
            </a:r>
            <a:r>
              <a:rPr lang="zh-CN" altLang="en-US" dirty="0"/>
              <a:t>与</a:t>
            </a:r>
            <a:r>
              <a:rPr lang="zh-CN" altLang="en-US" dirty="0" smtClean="0"/>
              <a:t>异</a:t>
            </a:r>
            <a:r>
              <a:rPr lang="zh-CN" altLang="en-US" dirty="0"/>
              <a:t>众</a:t>
            </a:r>
            <a:r>
              <a:rPr lang="zh-CN" altLang="en-US" dirty="0" smtClean="0"/>
              <a:t>比率</a:t>
            </a:r>
          </a:p>
        </p:txBody>
      </p:sp>
      <p:sp>
        <p:nvSpPr>
          <p:cNvPr id="7" name="Rectangle 3"/>
          <p:cNvSpPr txBox="1">
            <a:spLocks noChangeArrowheads="1"/>
          </p:cNvSpPr>
          <p:nvPr/>
        </p:nvSpPr>
        <p:spPr bwMode="auto">
          <a:xfrm>
            <a:off x="5868839" y="4114497"/>
            <a:ext cx="3024336" cy="1224136"/>
          </a:xfrm>
          <a:prstGeom prst="rect">
            <a:avLst/>
          </a:prstGeom>
          <a:noFill/>
          <a:ln w="9525">
            <a:noFill/>
            <a:miter lim="800000"/>
            <a:headEnd/>
            <a:tailEnd/>
          </a:ln>
        </p:spPr>
        <p:txBody>
          <a:bodyPr/>
          <a:lstStyle/>
          <a:p>
            <a:pPr marL="342900" indent="-342900">
              <a:lnSpc>
                <a:spcPct val="130000"/>
              </a:lnSpc>
              <a:spcBef>
                <a:spcPct val="20000"/>
              </a:spcBef>
              <a:buSzPct val="90000"/>
              <a:buFont typeface="Wingdings" pitchFamily="2" charset="2"/>
              <a:buChar char="l"/>
              <a:defRPr/>
            </a:pPr>
            <a:r>
              <a:rPr lang="en-US" altLang="zh-CN" sz="3200" b="1" kern="0" dirty="0">
                <a:solidFill>
                  <a:srgbClr val="0070C0"/>
                </a:solidFill>
                <a:latin typeface="+mn-lt"/>
                <a:ea typeface="+mn-ea"/>
                <a:sym typeface="Symbol" pitchFamily="18" charset="2"/>
              </a:rPr>
              <a:t> </a:t>
            </a:r>
            <a:r>
              <a:rPr lang="zh-CN" altLang="en-US" sz="3200" b="1" kern="0" dirty="0">
                <a:solidFill>
                  <a:srgbClr val="0070C0"/>
                </a:solidFill>
                <a:latin typeface="+mn-lt"/>
                <a:ea typeface="+mn-ea"/>
              </a:rPr>
              <a:t>身高与体重，哪个差异大？</a:t>
            </a:r>
            <a:endParaRPr lang="en-US" altLang="zh-CN" sz="3200" b="1" kern="0" dirty="0">
              <a:solidFill>
                <a:srgbClr val="0070C0"/>
              </a:solidFill>
              <a:latin typeface="+mn-lt"/>
              <a:ea typeface="+mn-ea"/>
            </a:endParaRPr>
          </a:p>
        </p:txBody>
      </p:sp>
      <p:graphicFrame>
        <p:nvGraphicFramePr>
          <p:cNvPr id="6" name="Group 3"/>
          <p:cNvGraphicFramePr>
            <a:graphicFrameLocks noGrp="1"/>
          </p:cNvGraphicFramePr>
          <p:nvPr>
            <p:extLst>
              <p:ext uri="{D42A27DB-BD31-4B8C-83A1-F6EECF244321}">
                <p14:modId xmlns:p14="http://schemas.microsoft.com/office/powerpoint/2010/main" val="4045872681"/>
              </p:ext>
            </p:extLst>
          </p:nvPr>
        </p:nvGraphicFramePr>
        <p:xfrm>
          <a:off x="810711" y="3178752"/>
          <a:ext cx="4860031" cy="3095626"/>
        </p:xfrm>
        <a:graphic>
          <a:graphicData uri="http://schemas.openxmlformats.org/drawingml/2006/table">
            <a:tbl>
              <a:tblPr/>
              <a:tblGrid>
                <a:gridCol w="1381799">
                  <a:extLst>
                    <a:ext uri="{9D8B030D-6E8A-4147-A177-3AD203B41FA5}">
                      <a16:colId xmlns:a16="http://schemas.microsoft.com/office/drawing/2014/main" val="20000"/>
                    </a:ext>
                  </a:extLst>
                </a:gridCol>
                <a:gridCol w="2074584">
                  <a:extLst>
                    <a:ext uri="{9D8B030D-6E8A-4147-A177-3AD203B41FA5}">
                      <a16:colId xmlns:a16="http://schemas.microsoft.com/office/drawing/2014/main" val="20001"/>
                    </a:ext>
                  </a:extLst>
                </a:gridCol>
                <a:gridCol w="1403648">
                  <a:extLst>
                    <a:ext uri="{9D8B030D-6E8A-4147-A177-3AD203B41FA5}">
                      <a16:colId xmlns:a16="http://schemas.microsoft.com/office/drawing/2014/main" val="20002"/>
                    </a:ext>
                  </a:extLst>
                </a:gridCol>
              </a:tblGrid>
              <a:tr h="1027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dirty="0" smtClean="0">
                        <a:ln>
                          <a:noFill/>
                        </a:ln>
                        <a:solidFill>
                          <a:srgbClr val="FF3300"/>
                        </a:solidFill>
                        <a:effectLst/>
                        <a:latin typeface="Times New Roman" pitchFamily="18" charset="0"/>
                        <a:ea typeface="宋体"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000000"/>
                          </a:solidFill>
                          <a:effectLst/>
                          <a:latin typeface="Times New Roman" pitchFamily="18" charset="0"/>
                          <a:ea typeface="宋体" pitchFamily="2" charset="-122"/>
                        </a:rPr>
                        <a:t>算术平均数</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000000"/>
                          </a:solidFill>
                          <a:effectLst/>
                          <a:latin typeface="Times New Roman" pitchFamily="18" charset="0"/>
                          <a:ea typeface="宋体" pitchFamily="2" charset="-122"/>
                        </a:rPr>
                        <a:t>标准差</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035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rPr>
                        <a:t>身高</a:t>
                      </a:r>
                      <a:r>
                        <a:rPr kumimoji="1" lang="en-US" altLang="zh-CN" sz="2800" b="1" i="0" u="none" strike="noStrike" cap="none" normalizeH="0" baseline="0" dirty="0" smtClean="0">
                          <a:ln>
                            <a:noFill/>
                          </a:ln>
                          <a:solidFill>
                            <a:srgbClr val="C00000"/>
                          </a:solidFill>
                          <a:effectLst/>
                          <a:latin typeface="Times New Roman" pitchFamily="18" charset="0"/>
                          <a:ea typeface="宋体" pitchFamily="2" charset="-122"/>
                        </a:rPr>
                        <a:t>/cm</a:t>
                      </a:r>
                      <a:endPar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172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6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033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rPr>
                        <a:t>体重</a:t>
                      </a:r>
                      <a:r>
                        <a:rPr kumimoji="1" lang="en-US" altLang="zh-CN" sz="2800" b="1" i="0" u="none" strike="noStrike" cap="none" normalizeH="0" baseline="0" dirty="0" smtClean="0">
                          <a:ln>
                            <a:noFill/>
                          </a:ln>
                          <a:solidFill>
                            <a:srgbClr val="C00000"/>
                          </a:solidFill>
                          <a:effectLst/>
                          <a:latin typeface="Times New Roman" pitchFamily="18" charset="0"/>
                          <a:ea typeface="宋体" pitchFamily="2" charset="-122"/>
                        </a:rPr>
                        <a:t>/kg</a:t>
                      </a:r>
                      <a:endPar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60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4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113</a:t>
            </a:fld>
            <a:endParaRPr lang="en-US" altLang="zh-CN" dirty="0"/>
          </a:p>
        </p:txBody>
      </p:sp>
      <p:sp>
        <p:nvSpPr>
          <p:cNvPr id="2" name="矩形 1"/>
          <p:cNvSpPr/>
          <p:nvPr/>
        </p:nvSpPr>
        <p:spPr>
          <a:xfrm>
            <a:off x="788673" y="1861615"/>
            <a:ext cx="5967020" cy="646331"/>
          </a:xfrm>
          <a:prstGeom prst="rect">
            <a:avLst/>
          </a:prstGeom>
        </p:spPr>
        <p:txBody>
          <a:bodyPr wrap="square">
            <a:spAutoFit/>
          </a:bodyPr>
          <a:lstStyle/>
          <a:p>
            <a:r>
              <a:rPr lang="en-US" altLang="zh-CN" sz="3600" dirty="0" smtClean="0">
                <a:solidFill>
                  <a:srgbClr val="1313FF"/>
                </a:solidFill>
                <a:latin typeface="黑体" panose="02010609060101010101" pitchFamily="49" charset="-122"/>
                <a:ea typeface="黑体" panose="02010609060101010101" pitchFamily="49" charset="-122"/>
              </a:rPr>
              <a:t>1.</a:t>
            </a:r>
            <a:r>
              <a:rPr lang="zh-CN" altLang="en-US" sz="3600" dirty="0" smtClean="0">
                <a:solidFill>
                  <a:srgbClr val="1313FF"/>
                </a:solidFill>
                <a:latin typeface="黑体" panose="02010609060101010101" pitchFamily="49" charset="-122"/>
                <a:ea typeface="黑体" panose="02010609060101010101" pitchFamily="49" charset="-122"/>
              </a:rPr>
              <a:t>离散系数（也称变异系数）</a:t>
            </a:r>
            <a:endParaRPr lang="en-US" altLang="zh-CN" sz="3600" dirty="0" smtClean="0">
              <a:solidFill>
                <a:srgbClr val="1313FF"/>
              </a:solidFill>
              <a:latin typeface="黑体" panose="02010609060101010101" pitchFamily="49" charset="-122"/>
              <a:ea typeface="黑体" panose="02010609060101010101" pitchFamily="49" charset="-122"/>
            </a:endParaRPr>
          </a:p>
        </p:txBody>
      </p:sp>
      <p:sp>
        <p:nvSpPr>
          <p:cNvPr id="3" name="矩形 2"/>
          <p:cNvSpPr/>
          <p:nvPr/>
        </p:nvSpPr>
        <p:spPr>
          <a:xfrm>
            <a:off x="805081" y="2712401"/>
            <a:ext cx="1441420" cy="523220"/>
          </a:xfrm>
          <a:prstGeom prst="rect">
            <a:avLst/>
          </a:prstGeom>
        </p:spPr>
        <p:txBody>
          <a:bodyPr wrap="none">
            <a:spAutoFit/>
          </a:bodyPr>
          <a:lstStyle/>
          <a:p>
            <a:r>
              <a:rPr lang="zh-CN" altLang="en-US" sz="2800" dirty="0">
                <a:solidFill>
                  <a:srgbClr val="0070C0"/>
                </a:solidFill>
                <a:latin typeface="+mn-ea"/>
                <a:ea typeface="+mn-ea"/>
              </a:rPr>
              <a:t>（</a:t>
            </a:r>
            <a:r>
              <a:rPr lang="zh-CN" altLang="en-US" sz="2800" dirty="0" smtClean="0">
                <a:solidFill>
                  <a:srgbClr val="0070C0"/>
                </a:solidFill>
                <a:latin typeface="+mn-ea"/>
                <a:ea typeface="+mn-ea"/>
              </a:rPr>
              <a:t>例</a:t>
            </a:r>
            <a:r>
              <a:rPr lang="en-US" altLang="zh-CN" sz="2800" dirty="0" smtClean="0">
                <a:solidFill>
                  <a:srgbClr val="0070C0"/>
                </a:solidFill>
                <a:latin typeface="+mn-ea"/>
                <a:ea typeface="+mn-ea"/>
              </a:rPr>
              <a:t>1</a:t>
            </a:r>
            <a:r>
              <a:rPr lang="zh-CN" altLang="en-US" sz="2800" dirty="0" smtClean="0">
                <a:solidFill>
                  <a:srgbClr val="0070C0"/>
                </a:solidFill>
                <a:latin typeface="+mn-ea"/>
                <a:ea typeface="+mn-ea"/>
              </a:rPr>
              <a:t>）</a:t>
            </a:r>
            <a:endParaRPr lang="zh-CN" altLang="en-US" sz="2800" dirty="0">
              <a:solidFill>
                <a:srgbClr val="0070C0"/>
              </a:solidFill>
              <a:latin typeface="+mn-ea"/>
              <a:ea typeface="+mn-ea"/>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9" name="Rectangle 3"/>
          <p:cNvSpPr>
            <a:spLocks noGrp="1" noChangeArrowheads="1"/>
          </p:cNvSpPr>
          <p:nvPr>
            <p:ph type="body" idx="1"/>
          </p:nvPr>
        </p:nvSpPr>
        <p:spPr>
          <a:xfrm>
            <a:off x="428625" y="1571625"/>
            <a:ext cx="8351838" cy="4579938"/>
          </a:xfrm>
        </p:spPr>
        <p:txBody>
          <a:bodyPr/>
          <a:lstStyle/>
          <a:p>
            <a:pPr eaLnBrk="1" hangingPunct="1">
              <a:lnSpc>
                <a:spcPct val="130000"/>
              </a:lnSpc>
            </a:pPr>
            <a:r>
              <a:rPr lang="en-US" altLang="zh-CN" sz="2400" dirty="0" smtClean="0">
                <a:sym typeface="Symbol" pitchFamily="18" charset="2"/>
              </a:rPr>
              <a:t> </a:t>
            </a:r>
            <a:r>
              <a:rPr lang="zh-CN" altLang="en-US" sz="2800" dirty="0" smtClean="0">
                <a:solidFill>
                  <a:srgbClr val="006600"/>
                </a:solidFill>
                <a:sym typeface="Symbol" pitchFamily="18" charset="2"/>
              </a:rPr>
              <a:t>比较某地一群</a:t>
            </a:r>
            <a:r>
              <a:rPr lang="zh-CN" altLang="en-US" sz="2800" dirty="0" smtClean="0">
                <a:solidFill>
                  <a:srgbClr val="006600"/>
                </a:solidFill>
                <a:sym typeface="Symbol" pitchFamily="18" charset="2"/>
              </a:rPr>
              <a:t>父亲与新生儿的体重差异：</a:t>
            </a:r>
          </a:p>
          <a:p>
            <a:pPr lvl="1" eaLnBrk="1" hangingPunct="1">
              <a:lnSpc>
                <a:spcPct val="130000"/>
              </a:lnSpc>
            </a:pPr>
            <a:r>
              <a:rPr lang="zh-CN" altLang="en-US" sz="2400" dirty="0" smtClean="0">
                <a:sym typeface="Symbol" pitchFamily="18" charset="2"/>
              </a:rPr>
              <a:t>父亲们的</a:t>
            </a:r>
            <a:r>
              <a:rPr lang="zh-CN" altLang="en-US" dirty="0" smtClean="0">
                <a:sym typeface="Symbol" pitchFamily="18" charset="2"/>
              </a:rPr>
              <a:t>平均体重是</a:t>
            </a:r>
            <a:r>
              <a:rPr lang="en-US" altLang="zh-CN" dirty="0" smtClean="0">
                <a:sym typeface="Symbol" pitchFamily="18" charset="2"/>
              </a:rPr>
              <a:t>70kg</a:t>
            </a:r>
            <a:r>
              <a:rPr lang="zh-CN" altLang="en-US" dirty="0" smtClean="0">
                <a:sym typeface="Symbol" pitchFamily="18" charset="2"/>
              </a:rPr>
              <a:t>，标准差是</a:t>
            </a:r>
            <a:r>
              <a:rPr lang="en-US" altLang="zh-CN" dirty="0" smtClean="0">
                <a:sym typeface="Symbol" pitchFamily="18" charset="2"/>
              </a:rPr>
              <a:t>7kg</a:t>
            </a:r>
          </a:p>
          <a:p>
            <a:pPr lvl="1" eaLnBrk="1" hangingPunct="1">
              <a:lnSpc>
                <a:spcPct val="130000"/>
              </a:lnSpc>
            </a:pPr>
            <a:r>
              <a:rPr lang="zh-CN" altLang="en-US" sz="2400" dirty="0" smtClean="0">
                <a:sym typeface="Symbol" pitchFamily="18" charset="2"/>
              </a:rPr>
              <a:t>新生儿</a:t>
            </a:r>
            <a:r>
              <a:rPr lang="zh-CN" altLang="en-US" dirty="0" smtClean="0">
                <a:sym typeface="Symbol" pitchFamily="18" charset="2"/>
              </a:rPr>
              <a:t>的平均体重是</a:t>
            </a:r>
            <a:r>
              <a:rPr lang="en-US" altLang="zh-CN" dirty="0" smtClean="0">
                <a:sym typeface="Symbol" pitchFamily="18" charset="2"/>
              </a:rPr>
              <a:t>3.2kg</a:t>
            </a:r>
            <a:r>
              <a:rPr lang="zh-CN" altLang="en-US" dirty="0" smtClean="0">
                <a:sym typeface="Symbol" pitchFamily="18" charset="2"/>
              </a:rPr>
              <a:t>，标准差是</a:t>
            </a:r>
            <a:r>
              <a:rPr lang="en-US" altLang="zh-CN" dirty="0" smtClean="0">
                <a:sym typeface="Symbol" pitchFamily="18" charset="2"/>
              </a:rPr>
              <a:t>0.4kg</a:t>
            </a:r>
          </a:p>
          <a:p>
            <a:pPr eaLnBrk="1" hangingPunct="1">
              <a:lnSpc>
                <a:spcPct val="130000"/>
              </a:lnSpc>
            </a:pPr>
            <a:r>
              <a:rPr lang="zh-CN" altLang="en-US" sz="2800" dirty="0" smtClean="0">
                <a:solidFill>
                  <a:srgbClr val="006600"/>
                </a:solidFill>
                <a:sym typeface="Symbol" pitchFamily="18" charset="2"/>
              </a:rPr>
              <a:t>能否认为新生儿体重的差异小于父亲们的体重差异？</a:t>
            </a:r>
          </a:p>
          <a:p>
            <a:pPr eaLnBrk="1" hangingPunct="1">
              <a:lnSpc>
                <a:spcPct val="130000"/>
              </a:lnSpc>
            </a:pPr>
            <a:r>
              <a:rPr lang="zh-CN" altLang="en-US" sz="2800" dirty="0" smtClean="0">
                <a:solidFill>
                  <a:srgbClr val="006600"/>
                </a:solidFill>
                <a:sym typeface="Symbol" pitchFamily="18" charset="2"/>
              </a:rPr>
              <a:t> 为什么？</a:t>
            </a:r>
            <a:r>
              <a:rPr lang="zh-CN" altLang="en-US" dirty="0" smtClean="0">
                <a:sym typeface="Symbol" pitchFamily="18" charset="2"/>
              </a:rPr>
              <a:t> </a:t>
            </a:r>
            <a:endParaRPr lang="zh-CN" altLang="en-US" sz="2400" dirty="0" smtClean="0">
              <a:solidFill>
                <a:srgbClr val="A50021"/>
              </a:solidFill>
              <a:sym typeface="Symbol" pitchFamily="18" charset="2"/>
            </a:endParaRPr>
          </a:p>
          <a:p>
            <a:pPr eaLnBrk="1" hangingPunct="1">
              <a:buFontTx/>
              <a:buNone/>
            </a:pPr>
            <a:endParaRPr lang="en-US" altLang="zh-CN" sz="2400" dirty="0" smtClean="0"/>
          </a:p>
        </p:txBody>
      </p:sp>
      <p:sp>
        <p:nvSpPr>
          <p:cNvPr id="137220" name="标题 4"/>
          <p:cNvSpPr>
            <a:spLocks noGrp="1"/>
          </p:cNvSpPr>
          <p:nvPr>
            <p:ph type="title"/>
          </p:nvPr>
        </p:nvSpPr>
        <p:spPr>
          <a:xfrm>
            <a:off x="168275" y="332656"/>
            <a:ext cx="7772400" cy="990600"/>
          </a:xfrm>
        </p:spPr>
        <p:txBody>
          <a:bodyPr/>
          <a:lstStyle/>
          <a:p>
            <a:r>
              <a:rPr lang="zh-CN" altLang="en-US" sz="3600" dirty="0" smtClean="0">
                <a:solidFill>
                  <a:srgbClr val="0070C0"/>
                </a:solidFill>
              </a:rPr>
              <a:t>（例</a:t>
            </a:r>
            <a:r>
              <a:rPr lang="en-US" altLang="zh-CN" sz="3600" dirty="0" smtClean="0">
                <a:solidFill>
                  <a:srgbClr val="0070C0"/>
                </a:solidFill>
              </a:rPr>
              <a:t>2</a:t>
            </a:r>
            <a:r>
              <a:rPr lang="zh-CN" altLang="en-US" sz="3600" dirty="0" smtClean="0">
                <a:solidFill>
                  <a:srgbClr val="0070C0"/>
                </a:solidFill>
              </a:rPr>
              <a:t>）</a:t>
            </a: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114</a:t>
            </a:fld>
            <a:endParaRPr lang="en-US" altLang="zh-CN" dirty="0"/>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2"/>
          <p:cNvSpPr>
            <a:spLocks noChangeArrowheads="1"/>
          </p:cNvSpPr>
          <p:nvPr/>
        </p:nvSpPr>
        <p:spPr bwMode="auto">
          <a:xfrm>
            <a:off x="323528" y="764704"/>
            <a:ext cx="7777162" cy="5383012"/>
          </a:xfrm>
          <a:prstGeom prst="rect">
            <a:avLst/>
          </a:prstGeom>
          <a:noFill/>
          <a:ln w="9525">
            <a:noFill/>
            <a:miter lim="800000"/>
            <a:headEnd/>
            <a:tailEnd/>
          </a:ln>
        </p:spPr>
        <p:txBody>
          <a:bodyPr>
            <a:spAutoFit/>
          </a:bodyPr>
          <a:lstStyle/>
          <a:p>
            <a:pPr lvl="1">
              <a:lnSpc>
                <a:spcPct val="125000"/>
              </a:lnSpc>
              <a:spcBef>
                <a:spcPct val="10000"/>
              </a:spcBef>
            </a:pPr>
            <a:r>
              <a:rPr lang="zh-CN" altLang="en-US" sz="3200" b="1" dirty="0">
                <a:solidFill>
                  <a:srgbClr val="C00000"/>
                </a:solidFill>
                <a:ea typeface="宋体" pitchFamily="2" charset="-122"/>
              </a:rPr>
              <a:t>应用全距、平均差、方差和标准差时必须注意：</a:t>
            </a:r>
          </a:p>
          <a:p>
            <a:pPr lvl="1">
              <a:lnSpc>
                <a:spcPct val="125000"/>
              </a:lnSpc>
              <a:spcBef>
                <a:spcPct val="10000"/>
              </a:spcBef>
              <a:buFontTx/>
              <a:buChar char="•"/>
            </a:pPr>
            <a:r>
              <a:rPr lang="zh-CN" altLang="en-US" sz="2800" b="1" dirty="0">
                <a:solidFill>
                  <a:srgbClr val="000000"/>
                </a:solidFill>
                <a:ea typeface="宋体" pitchFamily="2" charset="-122"/>
              </a:rPr>
              <a:t>   </a:t>
            </a:r>
            <a:r>
              <a:rPr lang="zh-CN" altLang="en-US" sz="2800" b="1" dirty="0" smtClean="0">
                <a:solidFill>
                  <a:srgbClr val="000000"/>
                </a:solidFill>
                <a:ea typeface="宋体" pitchFamily="2" charset="-122"/>
              </a:rPr>
              <a:t>它们都是</a:t>
            </a:r>
            <a:r>
              <a:rPr lang="zh-CN" altLang="en-US" sz="2800" b="1" dirty="0">
                <a:solidFill>
                  <a:srgbClr val="000000"/>
                </a:solidFill>
                <a:ea typeface="宋体" pitchFamily="2" charset="-122"/>
              </a:rPr>
              <a:t>有计量单位的指标</a:t>
            </a:r>
            <a:r>
              <a:rPr lang="zh-CN" altLang="en-US" sz="2800" b="1" dirty="0" smtClean="0">
                <a:solidFill>
                  <a:srgbClr val="000000"/>
                </a:solidFill>
                <a:ea typeface="宋体" pitchFamily="2" charset="-122"/>
              </a:rPr>
              <a:t>；指标</a:t>
            </a:r>
            <a:r>
              <a:rPr lang="zh-CN" altLang="en-US" sz="2800" b="1" dirty="0">
                <a:solidFill>
                  <a:srgbClr val="000000"/>
                </a:solidFill>
                <a:ea typeface="宋体" pitchFamily="2" charset="-122"/>
              </a:rPr>
              <a:t>的</a:t>
            </a:r>
            <a:r>
              <a:rPr lang="zh-CN" altLang="en-US" sz="2800" b="1" dirty="0" smtClean="0">
                <a:solidFill>
                  <a:srgbClr val="000000"/>
                </a:solidFill>
                <a:ea typeface="宋体" pitchFamily="2" charset="-122"/>
              </a:rPr>
              <a:t>大小受变量</a:t>
            </a:r>
            <a:r>
              <a:rPr lang="zh-CN" altLang="en-US" sz="2800" b="1" dirty="0">
                <a:solidFill>
                  <a:srgbClr val="000000"/>
                </a:solidFill>
                <a:ea typeface="宋体" pitchFamily="2" charset="-122"/>
              </a:rPr>
              <a:t>值水平的高低。</a:t>
            </a:r>
          </a:p>
          <a:p>
            <a:pPr lvl="1">
              <a:lnSpc>
                <a:spcPct val="125000"/>
              </a:lnSpc>
              <a:spcBef>
                <a:spcPct val="10000"/>
              </a:spcBef>
              <a:buFontTx/>
              <a:buChar char="•"/>
            </a:pPr>
            <a:r>
              <a:rPr lang="zh-CN" altLang="en-US" sz="3200" b="1" dirty="0">
                <a:solidFill>
                  <a:srgbClr val="006600"/>
                </a:solidFill>
                <a:ea typeface="宋体" pitchFamily="2" charset="-122"/>
              </a:rPr>
              <a:t>  不能直接用于比较不同水平或不同量纲的数列之间的差异程度</a:t>
            </a:r>
          </a:p>
          <a:p>
            <a:pPr marL="354013" lvl="3">
              <a:lnSpc>
                <a:spcPct val="125000"/>
              </a:lnSpc>
              <a:spcBef>
                <a:spcPct val="10000"/>
              </a:spcBef>
            </a:pPr>
            <a:r>
              <a:rPr lang="zh-CN" altLang="en-US" sz="2800" b="1" dirty="0">
                <a:solidFill>
                  <a:srgbClr val="000000"/>
                </a:solidFill>
                <a:ea typeface="宋体" pitchFamily="2" charset="-122"/>
              </a:rPr>
              <a:t>此时，须计算</a:t>
            </a:r>
            <a:r>
              <a:rPr lang="zh-CN" altLang="en-US" sz="2800" b="1" dirty="0">
                <a:solidFill>
                  <a:srgbClr val="1313FF"/>
                </a:solidFill>
                <a:ea typeface="宋体" pitchFamily="2" charset="-122"/>
              </a:rPr>
              <a:t>离散</a:t>
            </a:r>
            <a:r>
              <a:rPr lang="zh-CN" altLang="en-US" sz="2800" b="1" dirty="0" smtClean="0">
                <a:solidFill>
                  <a:srgbClr val="1313FF"/>
                </a:solidFill>
                <a:ea typeface="宋体" pitchFamily="2" charset="-122"/>
              </a:rPr>
              <a:t>系数</a:t>
            </a:r>
            <a:r>
              <a:rPr lang="en-US" altLang="zh-CN" sz="2800" b="1" dirty="0" smtClean="0">
                <a:solidFill>
                  <a:srgbClr val="0070C0"/>
                </a:solidFill>
                <a:ea typeface="宋体" pitchFamily="2" charset="-122"/>
              </a:rPr>
              <a:t>——</a:t>
            </a:r>
            <a:r>
              <a:rPr lang="zh-CN" altLang="en-US" sz="2800" b="1" dirty="0" smtClean="0">
                <a:solidFill>
                  <a:srgbClr val="0070C0"/>
                </a:solidFill>
                <a:ea typeface="宋体" pitchFamily="2" charset="-122"/>
              </a:rPr>
              <a:t>标志</a:t>
            </a:r>
            <a:r>
              <a:rPr lang="zh-CN" altLang="en-US" sz="2800" b="1" dirty="0">
                <a:solidFill>
                  <a:srgbClr val="0070C0"/>
                </a:solidFill>
                <a:ea typeface="宋体" pitchFamily="2" charset="-122"/>
              </a:rPr>
              <a:t>变异指标</a:t>
            </a:r>
            <a:r>
              <a:rPr lang="zh-CN" altLang="en-US" sz="2800" b="1" dirty="0" smtClean="0">
                <a:solidFill>
                  <a:srgbClr val="0070C0"/>
                </a:solidFill>
                <a:ea typeface="宋体" pitchFamily="2" charset="-122"/>
              </a:rPr>
              <a:t>与其均值</a:t>
            </a:r>
            <a:r>
              <a:rPr lang="zh-CN" altLang="en-US" sz="2800" b="1" dirty="0">
                <a:solidFill>
                  <a:srgbClr val="0070C0"/>
                </a:solidFill>
                <a:ea typeface="宋体" pitchFamily="2" charset="-122"/>
              </a:rPr>
              <a:t>之</a:t>
            </a:r>
            <a:r>
              <a:rPr lang="zh-CN" altLang="en-US" sz="2800" b="1" dirty="0" smtClean="0">
                <a:solidFill>
                  <a:srgbClr val="0070C0"/>
                </a:solidFill>
                <a:ea typeface="宋体" pitchFamily="2" charset="-122"/>
              </a:rPr>
              <a:t>比</a:t>
            </a:r>
            <a:r>
              <a:rPr lang="zh-CN" altLang="en-US" sz="2800" b="1" dirty="0" smtClean="0">
                <a:solidFill>
                  <a:srgbClr val="000000"/>
                </a:solidFill>
                <a:ea typeface="宋体" pitchFamily="2" charset="-122"/>
              </a:rPr>
              <a:t>，消除</a:t>
            </a:r>
            <a:r>
              <a:rPr lang="zh-CN" altLang="en-US" sz="2800" b="1" dirty="0">
                <a:solidFill>
                  <a:srgbClr val="000000"/>
                </a:solidFill>
                <a:ea typeface="宋体" pitchFamily="2" charset="-122"/>
              </a:rPr>
              <a:t>了数据水平高低和计量单位的</a:t>
            </a:r>
            <a:r>
              <a:rPr lang="zh-CN" altLang="en-US" sz="2800" b="1" dirty="0" smtClean="0">
                <a:solidFill>
                  <a:srgbClr val="000000"/>
                </a:solidFill>
                <a:ea typeface="宋体" pitchFamily="2" charset="-122"/>
              </a:rPr>
              <a:t>影响，测度数据</a:t>
            </a:r>
            <a:r>
              <a:rPr lang="zh-CN" altLang="en-US" sz="2800" b="1" dirty="0">
                <a:solidFill>
                  <a:srgbClr val="000000"/>
                </a:solidFill>
                <a:ea typeface="宋体" pitchFamily="2" charset="-122"/>
              </a:rPr>
              <a:t>的相对离散</a:t>
            </a:r>
            <a:r>
              <a:rPr lang="zh-CN" altLang="en-US" sz="2800" b="1" dirty="0" smtClean="0">
                <a:solidFill>
                  <a:srgbClr val="000000"/>
                </a:solidFill>
                <a:ea typeface="宋体" pitchFamily="2" charset="-122"/>
              </a:rPr>
              <a:t>程度。</a:t>
            </a:r>
            <a:endParaRPr lang="zh-CN" altLang="en-US" sz="2800" b="1" dirty="0">
              <a:solidFill>
                <a:srgbClr val="000000"/>
              </a:solidFill>
              <a:ea typeface="宋体" pitchFamily="2" charset="-122"/>
            </a:endParaRPr>
          </a:p>
        </p:txBody>
      </p:sp>
      <p:sp>
        <p:nvSpPr>
          <p:cNvPr id="4" name="灯片编号占位符 3"/>
          <p:cNvSpPr>
            <a:spLocks noGrp="1"/>
          </p:cNvSpPr>
          <p:nvPr>
            <p:ph type="sldNum" sz="quarter" idx="12"/>
          </p:nvPr>
        </p:nvSpPr>
        <p:spPr/>
        <p:txBody>
          <a:bodyPr/>
          <a:lstStyle/>
          <a:p>
            <a:pPr>
              <a:defRPr/>
            </a:pPr>
            <a:fld id="{4D36EFB7-0D9F-4BC1-ADE9-F0E399591344}" type="slidenum">
              <a:rPr lang="en-US" altLang="zh-CN" smtClean="0"/>
              <a:pPr>
                <a:defRPr/>
              </a:pPr>
              <a:t>115</a:t>
            </a:fld>
            <a:endParaRPr lang="en-US" altLang="zh-CN" dirty="0"/>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2"/>
          <p:cNvGraphicFramePr>
            <a:graphicFrameLocks noChangeAspect="1"/>
          </p:cNvGraphicFramePr>
          <p:nvPr/>
        </p:nvGraphicFramePr>
        <p:xfrm>
          <a:off x="4788024" y="1484784"/>
          <a:ext cx="1418756" cy="971848"/>
        </p:xfrm>
        <a:graphic>
          <a:graphicData uri="http://schemas.openxmlformats.org/presentationml/2006/ole">
            <mc:AlternateContent xmlns:mc="http://schemas.openxmlformats.org/markup-compatibility/2006">
              <mc:Choice xmlns:v="urn:schemas-microsoft-com:vml" Requires="v">
                <p:oleObj spid="_x0000_s203288" name="公式" r:id="rId3" imgW="482400" imgH="393480" progId="Equation.3">
                  <p:embed/>
                </p:oleObj>
              </mc:Choice>
              <mc:Fallback>
                <p:oleObj name="公式" r:id="rId3" imgW="482400" imgH="393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1484784"/>
                        <a:ext cx="1418756" cy="9718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3" name="Rectangle 10"/>
          <p:cNvSpPr>
            <a:spLocks noGrp="1" noChangeArrowheads="1"/>
          </p:cNvSpPr>
          <p:nvPr>
            <p:ph type="title" idx="4294967295"/>
          </p:nvPr>
        </p:nvSpPr>
        <p:spPr>
          <a:xfrm>
            <a:off x="539750" y="549275"/>
            <a:ext cx="6980238" cy="990600"/>
          </a:xfrm>
        </p:spPr>
        <p:txBody>
          <a:bodyPr/>
          <a:lstStyle/>
          <a:p>
            <a:pPr algn="l" eaLnBrk="1" hangingPunct="1"/>
            <a:r>
              <a:rPr lang="zh-CN" altLang="en-US" dirty="0" smtClean="0"/>
              <a:t>离散系数</a:t>
            </a:r>
            <a:r>
              <a:rPr lang="zh-CN" altLang="en-US" dirty="0" smtClean="0">
                <a:solidFill>
                  <a:schemeClr val="tx1"/>
                </a:solidFill>
              </a:rPr>
              <a:t>包括：</a:t>
            </a:r>
          </a:p>
        </p:txBody>
      </p:sp>
      <p:sp>
        <p:nvSpPr>
          <p:cNvPr id="11" name="Rectangle 6"/>
          <p:cNvSpPr>
            <a:spLocks noChangeArrowheads="1"/>
          </p:cNvSpPr>
          <p:nvPr/>
        </p:nvSpPr>
        <p:spPr bwMode="auto">
          <a:xfrm>
            <a:off x="1259632" y="1772816"/>
            <a:ext cx="3887788" cy="523875"/>
          </a:xfrm>
          <a:prstGeom prst="rect">
            <a:avLst/>
          </a:prstGeom>
          <a:noFill/>
          <a:ln w="9525">
            <a:noFill/>
            <a:miter lim="800000"/>
            <a:headEnd/>
            <a:tailEnd/>
          </a:ln>
        </p:spPr>
        <p:txBody>
          <a:bodyPr wrap="square">
            <a:spAutoFit/>
          </a:bodyPr>
          <a:lstStyle/>
          <a:p>
            <a:r>
              <a:rPr lang="en-US" altLang="zh-CN" sz="2800" b="1" dirty="0">
                <a:solidFill>
                  <a:srgbClr val="006600"/>
                </a:solidFill>
                <a:ea typeface="宋体" pitchFamily="2" charset="-122"/>
              </a:rPr>
              <a:t> </a:t>
            </a:r>
            <a:r>
              <a:rPr lang="zh-CN" altLang="en-US" sz="2800" b="1" dirty="0" smtClean="0">
                <a:solidFill>
                  <a:srgbClr val="006600"/>
                </a:solidFill>
                <a:ea typeface="宋体" pitchFamily="2" charset="-122"/>
              </a:rPr>
              <a:t>全距（极差）系数</a:t>
            </a:r>
            <a:endParaRPr lang="zh-CN" altLang="en-US" sz="2800" b="1" dirty="0">
              <a:solidFill>
                <a:srgbClr val="006600"/>
              </a:solidFill>
              <a:ea typeface="宋体" pitchFamily="2" charset="-122"/>
            </a:endParaRPr>
          </a:p>
        </p:txBody>
      </p:sp>
      <p:sp>
        <p:nvSpPr>
          <p:cNvPr id="12" name="Rectangle 6"/>
          <p:cNvSpPr>
            <a:spLocks noChangeArrowheads="1"/>
          </p:cNvSpPr>
          <p:nvPr/>
        </p:nvSpPr>
        <p:spPr bwMode="auto">
          <a:xfrm>
            <a:off x="1331640" y="2708920"/>
            <a:ext cx="3048000" cy="523220"/>
          </a:xfrm>
          <a:prstGeom prst="rect">
            <a:avLst/>
          </a:prstGeom>
          <a:noFill/>
          <a:ln w="9525">
            <a:noFill/>
            <a:miter lim="800000"/>
            <a:headEnd/>
            <a:tailEnd/>
          </a:ln>
        </p:spPr>
        <p:txBody>
          <a:bodyPr>
            <a:spAutoFit/>
          </a:bodyPr>
          <a:lstStyle/>
          <a:p>
            <a:r>
              <a:rPr lang="en-US" altLang="zh-CN" sz="2800" b="1" dirty="0">
                <a:solidFill>
                  <a:srgbClr val="006600"/>
                </a:solidFill>
                <a:ea typeface="宋体" pitchFamily="2" charset="-122"/>
              </a:rPr>
              <a:t> </a:t>
            </a:r>
            <a:r>
              <a:rPr lang="zh-CN" altLang="en-US" sz="2800" b="1" dirty="0">
                <a:solidFill>
                  <a:srgbClr val="006600"/>
                </a:solidFill>
                <a:ea typeface="宋体" pitchFamily="2" charset="-122"/>
              </a:rPr>
              <a:t>平均差系数</a:t>
            </a:r>
          </a:p>
        </p:txBody>
      </p:sp>
      <p:graphicFrame>
        <p:nvGraphicFramePr>
          <p:cNvPr id="13" name="Object 2"/>
          <p:cNvGraphicFramePr>
            <a:graphicFrameLocks noChangeAspect="1"/>
          </p:cNvGraphicFramePr>
          <p:nvPr/>
        </p:nvGraphicFramePr>
        <p:xfrm>
          <a:off x="4139952" y="2636912"/>
          <a:ext cx="1939925" cy="973138"/>
        </p:xfrm>
        <a:graphic>
          <a:graphicData uri="http://schemas.openxmlformats.org/presentationml/2006/ole">
            <mc:AlternateContent xmlns:mc="http://schemas.openxmlformats.org/markup-compatibility/2006">
              <mc:Choice xmlns:v="urn:schemas-microsoft-com:vml" Requires="v">
                <p:oleObj spid="_x0000_s203289" name="公式" r:id="rId5" imgW="660240" imgH="393480" progId="Equation.3">
                  <p:embed/>
                </p:oleObj>
              </mc:Choice>
              <mc:Fallback>
                <p:oleObj name="公式" r:id="rId5" imgW="660240" imgH="393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952" y="2636912"/>
                        <a:ext cx="1939925" cy="97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6"/>
          <p:cNvSpPr>
            <a:spLocks noChangeArrowheads="1"/>
          </p:cNvSpPr>
          <p:nvPr/>
        </p:nvSpPr>
        <p:spPr bwMode="auto">
          <a:xfrm>
            <a:off x="1331640" y="3933056"/>
            <a:ext cx="3048000" cy="584775"/>
          </a:xfrm>
          <a:prstGeom prst="rect">
            <a:avLst/>
          </a:prstGeom>
          <a:noFill/>
          <a:ln w="9525">
            <a:noFill/>
            <a:miter lim="800000"/>
            <a:headEnd/>
            <a:tailEnd/>
          </a:ln>
        </p:spPr>
        <p:txBody>
          <a:bodyPr>
            <a:spAutoFit/>
          </a:bodyPr>
          <a:lstStyle/>
          <a:p>
            <a:r>
              <a:rPr lang="zh-CN" altLang="en-US" sz="3200" b="1" dirty="0" smtClean="0">
                <a:solidFill>
                  <a:srgbClr val="006600"/>
                </a:solidFill>
                <a:ea typeface="宋体" pitchFamily="2" charset="-122"/>
              </a:rPr>
              <a:t>标准差系数</a:t>
            </a:r>
            <a:endParaRPr lang="zh-CN" altLang="en-US" sz="3200" b="1" dirty="0">
              <a:solidFill>
                <a:srgbClr val="006600"/>
              </a:solidFill>
              <a:ea typeface="宋体" pitchFamily="2" charset="-122"/>
            </a:endParaRPr>
          </a:p>
        </p:txBody>
      </p:sp>
      <p:graphicFrame>
        <p:nvGraphicFramePr>
          <p:cNvPr id="15" name="Object 2"/>
          <p:cNvGraphicFramePr>
            <a:graphicFrameLocks noChangeAspect="1"/>
          </p:cNvGraphicFramePr>
          <p:nvPr/>
        </p:nvGraphicFramePr>
        <p:xfrm>
          <a:off x="4211960" y="3933056"/>
          <a:ext cx="1872208" cy="973138"/>
        </p:xfrm>
        <a:graphic>
          <a:graphicData uri="http://schemas.openxmlformats.org/presentationml/2006/ole">
            <mc:AlternateContent xmlns:mc="http://schemas.openxmlformats.org/markup-compatibility/2006">
              <mc:Choice xmlns:v="urn:schemas-microsoft-com:vml" Requires="v">
                <p:oleObj spid="_x0000_s203290" name="公式" r:id="rId7" imgW="482400" imgH="393480" progId="Equation.3">
                  <p:embed/>
                </p:oleObj>
              </mc:Choice>
              <mc:Fallback>
                <p:oleObj name="公式" r:id="rId7" imgW="482400" imgH="3934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960" y="3933056"/>
                        <a:ext cx="1872208" cy="97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6"/>
          <p:cNvSpPr>
            <a:spLocks noChangeArrowheads="1"/>
          </p:cNvSpPr>
          <p:nvPr/>
        </p:nvSpPr>
        <p:spPr bwMode="auto">
          <a:xfrm>
            <a:off x="861517" y="5409480"/>
            <a:ext cx="6336704" cy="584775"/>
          </a:xfrm>
          <a:prstGeom prst="rect">
            <a:avLst/>
          </a:prstGeom>
          <a:noFill/>
          <a:ln w="9525">
            <a:noFill/>
            <a:miter lim="800000"/>
            <a:headEnd/>
            <a:tailEnd/>
          </a:ln>
        </p:spPr>
        <p:txBody>
          <a:bodyPr wrap="square">
            <a:spAutoFit/>
          </a:bodyPr>
          <a:lstStyle/>
          <a:p>
            <a:r>
              <a:rPr lang="zh-CN" altLang="en-US" sz="3200" b="1" dirty="0" smtClean="0">
                <a:solidFill>
                  <a:srgbClr val="1313FF"/>
                </a:solidFill>
                <a:ea typeface="宋体" pitchFamily="2" charset="-122"/>
              </a:rPr>
              <a:t>最常用的变异系数是标准差系数。</a:t>
            </a:r>
            <a:endParaRPr lang="zh-CN" altLang="en-US" sz="3200" b="1" dirty="0">
              <a:solidFill>
                <a:srgbClr val="1313FF"/>
              </a:solidFill>
              <a:ea typeface="宋体" pitchFamily="2" charset="-122"/>
            </a:endParaRPr>
          </a:p>
        </p:txBody>
      </p:sp>
      <p:sp>
        <p:nvSpPr>
          <p:cNvPr id="17" name="灯片编号占位符 16"/>
          <p:cNvSpPr>
            <a:spLocks noGrp="1"/>
          </p:cNvSpPr>
          <p:nvPr>
            <p:ph type="sldNum" sz="quarter" idx="12"/>
          </p:nvPr>
        </p:nvSpPr>
        <p:spPr/>
        <p:txBody>
          <a:bodyPr/>
          <a:lstStyle/>
          <a:p>
            <a:pPr>
              <a:defRPr/>
            </a:pPr>
            <a:fld id="{4D36EFB7-0D9F-4BC1-ADE9-F0E399591344}" type="slidenum">
              <a:rPr lang="en-US" altLang="zh-CN" smtClean="0"/>
              <a:pPr>
                <a:defRPr/>
              </a:pPr>
              <a:t>116</a:t>
            </a:fld>
            <a:endParaRPr lang="en-US" altLang="zh-CN" dirty="0"/>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2"/>
          <p:cNvSpPr>
            <a:spLocks noGrp="1" noChangeArrowheads="1"/>
          </p:cNvSpPr>
          <p:nvPr>
            <p:ph type="title"/>
          </p:nvPr>
        </p:nvSpPr>
        <p:spPr/>
        <p:txBody>
          <a:bodyPr/>
          <a:lstStyle/>
          <a:p>
            <a:pPr eaLnBrk="1" hangingPunct="1"/>
            <a:r>
              <a:rPr lang="zh-CN" altLang="en-US" dirty="0" smtClean="0"/>
              <a:t>例</a:t>
            </a:r>
            <a:r>
              <a:rPr lang="en-US" altLang="zh-CN" dirty="0" smtClean="0"/>
              <a:t>1——</a:t>
            </a:r>
            <a:r>
              <a:rPr lang="zh-CN" altLang="en-US" dirty="0" smtClean="0"/>
              <a:t>解答</a:t>
            </a:r>
          </a:p>
        </p:txBody>
      </p:sp>
      <p:graphicFrame>
        <p:nvGraphicFramePr>
          <p:cNvPr id="472067" name="Group 3"/>
          <p:cNvGraphicFramePr>
            <a:graphicFrameLocks noGrp="1"/>
          </p:cNvGraphicFramePr>
          <p:nvPr/>
        </p:nvGraphicFramePr>
        <p:xfrm>
          <a:off x="611188" y="1700213"/>
          <a:ext cx="8064500" cy="3095626"/>
        </p:xfrm>
        <a:graphic>
          <a:graphicData uri="http://schemas.openxmlformats.org/drawingml/2006/table">
            <a:tbl>
              <a:tblPr/>
              <a:tblGrid>
                <a:gridCol w="1663700">
                  <a:extLst>
                    <a:ext uri="{9D8B030D-6E8A-4147-A177-3AD203B41FA5}">
                      <a16:colId xmlns:a16="http://schemas.microsoft.com/office/drawing/2014/main" val="20000"/>
                    </a:ext>
                  </a:extLst>
                </a:gridCol>
                <a:gridCol w="2195512">
                  <a:extLst>
                    <a:ext uri="{9D8B030D-6E8A-4147-A177-3AD203B41FA5}">
                      <a16:colId xmlns:a16="http://schemas.microsoft.com/office/drawing/2014/main" val="20001"/>
                    </a:ext>
                  </a:extLst>
                </a:gridCol>
                <a:gridCol w="1992313">
                  <a:extLst>
                    <a:ext uri="{9D8B030D-6E8A-4147-A177-3AD203B41FA5}">
                      <a16:colId xmlns:a16="http://schemas.microsoft.com/office/drawing/2014/main" val="20002"/>
                    </a:ext>
                  </a:extLst>
                </a:gridCol>
                <a:gridCol w="2212975">
                  <a:extLst>
                    <a:ext uri="{9D8B030D-6E8A-4147-A177-3AD203B41FA5}">
                      <a16:colId xmlns:a16="http://schemas.microsoft.com/office/drawing/2014/main" val="20003"/>
                    </a:ext>
                  </a:extLst>
                </a:gridCol>
              </a:tblGrid>
              <a:tr h="1027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FF3300"/>
                          </a:solidFill>
                          <a:effectLst/>
                          <a:latin typeface="Times New Roman" pitchFamily="18" charset="0"/>
                          <a:ea typeface="宋体" pitchFamily="2" charset="-122"/>
                        </a:rPr>
                        <a:t>指标</a:t>
                      </a: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smtClean="0">
                          <a:ln>
                            <a:noFill/>
                          </a:ln>
                          <a:solidFill>
                            <a:srgbClr val="FF3300"/>
                          </a:solidFill>
                          <a:effectLst/>
                          <a:latin typeface="Times New Roman" pitchFamily="18" charset="0"/>
                          <a:ea typeface="宋体" pitchFamily="2" charset="-122"/>
                        </a:rPr>
                        <a:t>算术平均数</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smtClean="0">
                          <a:ln>
                            <a:noFill/>
                          </a:ln>
                          <a:solidFill>
                            <a:srgbClr val="FF3300"/>
                          </a:solidFill>
                          <a:effectLst/>
                          <a:latin typeface="Times New Roman" pitchFamily="18" charset="0"/>
                          <a:ea typeface="宋体" pitchFamily="2" charset="-122"/>
                        </a:rPr>
                        <a:t>标准差</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smtClean="0">
                          <a:ln>
                            <a:noFill/>
                          </a:ln>
                          <a:solidFill>
                            <a:srgbClr val="FF3300"/>
                          </a:solidFill>
                          <a:effectLst/>
                          <a:latin typeface="Times New Roman" pitchFamily="18" charset="0"/>
                          <a:ea typeface="宋体" pitchFamily="2" charset="-122"/>
                        </a:rPr>
                        <a:t>标准差系数</a:t>
                      </a: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35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rPr>
                        <a:t>身高</a:t>
                      </a: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172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6</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rgbClr val="000000"/>
                          </a:solidFill>
                          <a:effectLst/>
                          <a:latin typeface="Times New Roman" pitchFamily="18" charset="0"/>
                          <a:ea typeface="宋体" pitchFamily="2" charset="-122"/>
                        </a:rPr>
                        <a:t>0.035</a:t>
                      </a: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3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1" i="0" u="none" strike="noStrike" cap="none" normalizeH="0" baseline="0" dirty="0" smtClean="0">
                          <a:ln>
                            <a:noFill/>
                          </a:ln>
                          <a:solidFill>
                            <a:srgbClr val="C00000"/>
                          </a:solidFill>
                          <a:effectLst/>
                          <a:latin typeface="Times New Roman" pitchFamily="18" charset="0"/>
                          <a:ea typeface="宋体" pitchFamily="2" charset="-122"/>
                        </a:rPr>
                        <a:t>体重</a:t>
                      </a: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60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dirty="0" smtClean="0">
                          <a:ln>
                            <a:noFill/>
                          </a:ln>
                          <a:solidFill>
                            <a:srgbClr val="000000"/>
                          </a:solidFill>
                          <a:effectLst/>
                          <a:latin typeface="Times New Roman" pitchFamily="18" charset="0"/>
                          <a:ea typeface="宋体" pitchFamily="2" charset="-122"/>
                        </a:rPr>
                        <a:t>0.067</a:t>
                      </a: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3"/>
          <p:cNvSpPr txBox="1">
            <a:spLocks noChangeArrowheads="1"/>
          </p:cNvSpPr>
          <p:nvPr/>
        </p:nvSpPr>
        <p:spPr bwMode="auto">
          <a:xfrm>
            <a:off x="971600" y="4941168"/>
            <a:ext cx="7388869" cy="1440160"/>
          </a:xfrm>
          <a:prstGeom prst="rect">
            <a:avLst/>
          </a:prstGeom>
          <a:noFill/>
          <a:ln w="9525">
            <a:noFill/>
            <a:miter lim="800000"/>
            <a:headEnd/>
            <a:tailEnd/>
          </a:ln>
        </p:spPr>
        <p:txBody>
          <a:bodyPr/>
          <a:lstStyle/>
          <a:p>
            <a:pPr marL="800100" lvl="1" indent="-342900">
              <a:lnSpc>
                <a:spcPct val="130000"/>
              </a:lnSpc>
              <a:spcBef>
                <a:spcPct val="20000"/>
              </a:spcBef>
              <a:buSzPct val="90000"/>
              <a:defRPr/>
            </a:pPr>
            <a:r>
              <a:rPr lang="zh-CN" altLang="en-US" sz="2800" b="1" kern="0" dirty="0">
                <a:solidFill>
                  <a:srgbClr val="0070C0"/>
                </a:solidFill>
                <a:latin typeface="+mn-lt"/>
                <a:ea typeface="+mn-ea"/>
              </a:rPr>
              <a:t>体重的</a:t>
            </a:r>
            <a:r>
              <a:rPr lang="zh-CN" altLang="en-US" sz="2800" b="1" kern="0" dirty="0" smtClean="0">
                <a:solidFill>
                  <a:srgbClr val="0070C0"/>
                </a:solidFill>
                <a:latin typeface="+mn-lt"/>
                <a:ea typeface="+mn-ea"/>
              </a:rPr>
              <a:t>差异程度较大。</a:t>
            </a:r>
            <a:endParaRPr lang="en-US" altLang="zh-CN" sz="2800" b="1" kern="0" dirty="0" smtClean="0">
              <a:solidFill>
                <a:srgbClr val="0070C0"/>
              </a:solidFill>
              <a:latin typeface="+mn-lt"/>
              <a:ea typeface="+mn-ea"/>
            </a:endParaRPr>
          </a:p>
          <a:p>
            <a:pPr marL="800100" lvl="1" indent="-342900">
              <a:lnSpc>
                <a:spcPct val="130000"/>
              </a:lnSpc>
              <a:spcBef>
                <a:spcPct val="20000"/>
              </a:spcBef>
              <a:buSzPct val="90000"/>
              <a:defRPr/>
            </a:pPr>
            <a:r>
              <a:rPr lang="zh-CN" altLang="en-US" sz="2800" b="1" kern="0" dirty="0" smtClean="0">
                <a:solidFill>
                  <a:srgbClr val="0070C0"/>
                </a:solidFill>
                <a:latin typeface="+mn-lt"/>
                <a:ea typeface="+mn-ea"/>
              </a:rPr>
              <a:t>平均身高的代表性好于平均体重。</a:t>
            </a:r>
            <a:endParaRPr lang="en-US" altLang="zh-CN" sz="2800" b="1" kern="0" dirty="0">
              <a:solidFill>
                <a:srgbClr val="0070C0"/>
              </a:solidFill>
              <a:latin typeface="+mn-lt"/>
              <a:ea typeface="+mn-ea"/>
            </a:endParaRP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117</a:t>
            </a:fld>
            <a:endParaRPr lang="en-US" altLang="zh-CN" dirty="0"/>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2057400" y="685800"/>
            <a:ext cx="3200400" cy="685800"/>
          </a:xfrm>
          <a:noFill/>
        </p:spPr>
        <p:txBody>
          <a:bodyPr lIns="90488" tIns="44450" rIns="90488" bIns="44450" anchor="ctr" anchorCtr="1"/>
          <a:lstStyle/>
          <a:p>
            <a:pPr eaLnBrk="1" hangingPunct="1"/>
            <a:r>
              <a:rPr lang="en-US" altLang="zh-CN" sz="4000" dirty="0" smtClean="0"/>
              <a:t>2. </a:t>
            </a:r>
            <a:r>
              <a:rPr lang="zh-CN" altLang="en-US" sz="4000" dirty="0" smtClean="0"/>
              <a:t>异众比率</a:t>
            </a:r>
            <a:endParaRPr lang="zh-CN" altLang="en-US" sz="3600" dirty="0" smtClean="0">
              <a:solidFill>
                <a:schemeClr val="hlink"/>
              </a:solidFill>
            </a:endParaRPr>
          </a:p>
        </p:txBody>
      </p:sp>
      <p:sp>
        <p:nvSpPr>
          <p:cNvPr id="51205" name="Rectangle 3"/>
          <p:cNvSpPr>
            <a:spLocks noGrp="1" noChangeArrowheads="1"/>
          </p:cNvSpPr>
          <p:nvPr>
            <p:ph type="body" idx="1"/>
          </p:nvPr>
        </p:nvSpPr>
        <p:spPr>
          <a:xfrm>
            <a:off x="762000" y="1524000"/>
            <a:ext cx="7621588" cy="2100263"/>
          </a:xfrm>
          <a:noFill/>
        </p:spPr>
        <p:txBody>
          <a:bodyPr lIns="90488" tIns="44450" rIns="90488" bIns="44450"/>
          <a:lstStyle/>
          <a:p>
            <a:pPr marL="609600" indent="-609600" eaLnBrk="1" hangingPunct="1">
              <a:buFontTx/>
              <a:buNone/>
            </a:pPr>
            <a:r>
              <a:rPr lang="en-US" altLang="zh-CN" dirty="0" smtClean="0">
                <a:solidFill>
                  <a:srgbClr val="000000"/>
                </a:solidFill>
              </a:rPr>
              <a:t>1.	</a:t>
            </a:r>
            <a:r>
              <a:rPr lang="zh-CN" altLang="en-US" dirty="0" smtClean="0">
                <a:solidFill>
                  <a:srgbClr val="000000"/>
                </a:solidFill>
              </a:rPr>
              <a:t>离散程度的测度值之一</a:t>
            </a:r>
          </a:p>
          <a:p>
            <a:pPr marL="609600" indent="-609600" eaLnBrk="1" hangingPunct="1">
              <a:spcBef>
                <a:spcPct val="33000"/>
              </a:spcBef>
              <a:buFont typeface="Monotype Sorts" pitchFamily="2" charset="2"/>
              <a:buAutoNum type="arabicPeriod" startAt="2"/>
            </a:pPr>
            <a:r>
              <a:rPr lang="zh-CN" altLang="en-US" dirty="0" smtClean="0">
                <a:solidFill>
                  <a:srgbClr val="000000"/>
                </a:solidFill>
              </a:rPr>
              <a:t>非众数组的频数占总频数的比重</a:t>
            </a:r>
          </a:p>
          <a:p>
            <a:pPr marL="609600" indent="-609600" eaLnBrk="1" hangingPunct="1">
              <a:spcBef>
                <a:spcPct val="33000"/>
              </a:spcBef>
              <a:buFont typeface="Monotype Sorts" pitchFamily="2" charset="2"/>
              <a:buAutoNum type="arabicPeriod" startAt="2"/>
            </a:pPr>
            <a:r>
              <a:rPr lang="zh-CN" altLang="en-US" dirty="0" smtClean="0">
                <a:solidFill>
                  <a:srgbClr val="000000"/>
                </a:solidFill>
              </a:rPr>
              <a:t>计算公式为：</a:t>
            </a:r>
          </a:p>
        </p:txBody>
      </p:sp>
      <p:sp>
        <p:nvSpPr>
          <p:cNvPr id="51206" name="Text Box 4"/>
          <p:cNvSpPr txBox="1">
            <a:spLocks noChangeArrowheads="1"/>
          </p:cNvSpPr>
          <p:nvPr/>
        </p:nvSpPr>
        <p:spPr bwMode="auto">
          <a:xfrm>
            <a:off x="2286000" y="3733800"/>
            <a:ext cx="1371600" cy="1006475"/>
          </a:xfrm>
          <a:prstGeom prst="rect">
            <a:avLst/>
          </a:prstGeom>
          <a:noFill/>
          <a:ln w="12700">
            <a:noFill/>
            <a:miter lim="800000"/>
            <a:headEnd/>
            <a:tailEnd/>
          </a:ln>
        </p:spPr>
        <p:txBody>
          <a:bodyPr>
            <a:spAutoFit/>
          </a:bodyPr>
          <a:lstStyle/>
          <a:p>
            <a:pPr eaLnBrk="0" hangingPunct="0">
              <a:spcBef>
                <a:spcPct val="50000"/>
              </a:spcBef>
            </a:pPr>
            <a:endParaRPr lang="zh-CN" altLang="zh-CN" sz="6000">
              <a:latin typeface="Arial" charset="0"/>
              <a:ea typeface="宋体" pitchFamily="2" charset="-122"/>
            </a:endParaRPr>
          </a:p>
        </p:txBody>
      </p:sp>
      <p:sp>
        <p:nvSpPr>
          <p:cNvPr id="51207" name="Text Box 5"/>
          <p:cNvSpPr txBox="1">
            <a:spLocks noChangeArrowheads="1"/>
          </p:cNvSpPr>
          <p:nvPr/>
        </p:nvSpPr>
        <p:spPr bwMode="auto">
          <a:xfrm>
            <a:off x="741218" y="5231507"/>
            <a:ext cx="7467600" cy="1077218"/>
          </a:xfrm>
          <a:prstGeom prst="rect">
            <a:avLst/>
          </a:prstGeom>
          <a:noFill/>
          <a:ln w="12700">
            <a:noFill/>
            <a:miter lim="800000"/>
            <a:headEnd/>
            <a:tailEnd/>
          </a:ln>
        </p:spPr>
        <p:txBody>
          <a:bodyPr wrap="square">
            <a:spAutoFit/>
          </a:bodyPr>
          <a:lstStyle/>
          <a:p>
            <a:pPr eaLnBrk="0" hangingPunct="0">
              <a:spcBef>
                <a:spcPct val="50000"/>
              </a:spcBef>
            </a:pPr>
            <a:r>
              <a:rPr lang="en-US" altLang="zh-CN" sz="3200" b="1" dirty="0">
                <a:solidFill>
                  <a:srgbClr val="000000"/>
                </a:solidFill>
                <a:latin typeface="Arial" charset="0"/>
                <a:ea typeface="宋体" pitchFamily="2" charset="-122"/>
              </a:rPr>
              <a:t> </a:t>
            </a:r>
            <a:r>
              <a:rPr lang="en-US" altLang="zh-CN" sz="3200" b="1" dirty="0">
                <a:solidFill>
                  <a:srgbClr val="000000"/>
                </a:solidFill>
                <a:ea typeface="宋体" pitchFamily="2" charset="-122"/>
              </a:rPr>
              <a:t>4.   </a:t>
            </a:r>
            <a:r>
              <a:rPr lang="zh-CN" altLang="en-US" sz="3200" b="1" dirty="0">
                <a:solidFill>
                  <a:srgbClr val="000000"/>
                </a:solidFill>
                <a:ea typeface="宋体" pitchFamily="2" charset="-122"/>
              </a:rPr>
              <a:t>用于衡量众数的代表</a:t>
            </a:r>
            <a:r>
              <a:rPr lang="zh-CN" altLang="en-US" sz="3200" b="1" dirty="0" smtClean="0">
                <a:solidFill>
                  <a:srgbClr val="000000"/>
                </a:solidFill>
                <a:ea typeface="宋体" pitchFamily="2" charset="-122"/>
              </a:rPr>
              <a:t>程度，主要适用于定类数据。</a:t>
            </a:r>
            <a:endParaRPr lang="zh-CN" altLang="en-US" sz="3200" b="1" dirty="0">
              <a:solidFill>
                <a:srgbClr val="000000"/>
              </a:solidFill>
              <a:ea typeface="宋体" pitchFamily="2" charset="-122"/>
            </a:endParaRPr>
          </a:p>
        </p:txBody>
      </p:sp>
      <p:graphicFrame>
        <p:nvGraphicFramePr>
          <p:cNvPr id="51202" name="Object 6">
            <a:hlinkClick r:id="" action="ppaction://ole?verb=0"/>
          </p:cNvPr>
          <p:cNvGraphicFramePr>
            <a:graphicFrameLocks/>
          </p:cNvGraphicFramePr>
          <p:nvPr>
            <p:extLst>
              <p:ext uri="{D42A27DB-BD31-4B8C-83A1-F6EECF244321}">
                <p14:modId xmlns:p14="http://schemas.microsoft.com/office/powerpoint/2010/main" val="1471074649"/>
              </p:ext>
            </p:extLst>
          </p:nvPr>
        </p:nvGraphicFramePr>
        <p:xfrm>
          <a:off x="1043608" y="3624263"/>
          <a:ext cx="6336704" cy="1347787"/>
        </p:xfrm>
        <a:graphic>
          <a:graphicData uri="http://schemas.openxmlformats.org/presentationml/2006/ole">
            <mc:AlternateContent xmlns:mc="http://schemas.openxmlformats.org/markup-compatibility/2006">
              <mc:Choice xmlns:v="urn:schemas-microsoft-com:vml" Requires="v">
                <p:oleObj spid="_x0000_s51381" name="Equation" r:id="rId4" imgW="2958840" imgH="495000" progId="Equation.3">
                  <p:embed/>
                </p:oleObj>
              </mc:Choice>
              <mc:Fallback>
                <p:oleObj name="Equation" r:id="rId4" imgW="2958840" imgH="49500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8" y="3624263"/>
                        <a:ext cx="6336704" cy="1347787"/>
                      </a:xfrm>
                      <a:prstGeom prst="rect">
                        <a:avLst/>
                      </a:prstGeom>
                      <a:noFill/>
                      <a:ln>
                        <a:noFill/>
                      </a:ln>
                      <a:effectLst>
                        <a:outerShdw dist="17961" dir="2700000" algn="ctr" rotWithShape="0">
                          <a:schemeClr val="bg2"/>
                        </a:outerShdw>
                      </a:effectLst>
                      <a:extLst/>
                    </p:spPr>
                  </p:pic>
                </p:oleObj>
              </mc:Fallback>
            </mc:AlternateContent>
          </a:graphicData>
        </a:graphic>
      </p:graphicFrame>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118</a:t>
            </a:fld>
            <a:endParaRPr lang="en-US" altLang="zh-CN" dirty="0"/>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832" name="Group 48"/>
          <p:cNvGraphicFramePr>
            <a:graphicFrameLocks noGrp="1"/>
          </p:cNvGraphicFramePr>
          <p:nvPr/>
        </p:nvGraphicFramePr>
        <p:xfrm>
          <a:off x="381000" y="1557338"/>
          <a:ext cx="4191000" cy="4448175"/>
        </p:xfrm>
        <a:graphic>
          <a:graphicData uri="http://schemas.openxmlformats.org/drawingml/2006/table">
            <a:tbl>
              <a:tblPr/>
              <a:tblGrid>
                <a:gridCol w="1598613">
                  <a:extLst>
                    <a:ext uri="{9D8B030D-6E8A-4147-A177-3AD203B41FA5}">
                      <a16:colId xmlns:a16="http://schemas.microsoft.com/office/drawing/2014/main" val="20000"/>
                    </a:ext>
                  </a:extLst>
                </a:gridCol>
                <a:gridCol w="1465262">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tblGrid>
              <a:tr h="555625">
                <a:tc gridSpan="3">
                  <a:txBody>
                    <a:bodyPr/>
                    <a:lstStyle/>
                    <a:p>
                      <a:pPr marL="0" marR="0" lvl="0" indent="0" algn="ctr" defTabSz="914400" rtl="0" eaLnBrk="1" fontAlgn="base" latinLnBrk="0" hangingPunct="1">
                        <a:lnSpc>
                          <a:spcPct val="100000"/>
                        </a:lnSpc>
                        <a:spcBef>
                          <a:spcPct val="50000"/>
                        </a:spcBef>
                        <a:spcAft>
                          <a:spcPct val="0"/>
                        </a:spcAft>
                        <a:buClrTx/>
                        <a:buSzPct val="90000"/>
                        <a:buFontTx/>
                        <a:buNone/>
                        <a:tabLst/>
                      </a:pPr>
                      <a:r>
                        <a:rPr kumimoji="1" lang="zh-CN" altLang="en-US" sz="2000" b="0" i="0" u="none" strike="noStrike" cap="none" normalizeH="0" baseline="0" smtClean="0">
                          <a:ln>
                            <a:noFill/>
                          </a:ln>
                          <a:solidFill>
                            <a:srgbClr val="000000"/>
                          </a:solidFill>
                          <a:effectLst/>
                          <a:latin typeface="Tahoma" pitchFamily="34" charset="0"/>
                          <a:ea typeface="宋体" pitchFamily="2" charset="-122"/>
                        </a:rPr>
                        <a:t>某专业学生选修二外的频数分布</a:t>
                      </a:r>
                      <a:r>
                        <a:rPr kumimoji="1" lang="zh-CN" altLang="en-US" sz="2000" b="0" i="0" u="none" strike="noStrike" cap="none" normalizeH="0" baseline="0" smtClean="0">
                          <a:ln>
                            <a:noFill/>
                          </a:ln>
                          <a:solidFill>
                            <a:schemeClr val="bg2"/>
                          </a:solidFill>
                          <a:effectLst/>
                          <a:latin typeface="Tahoma" pitchFamily="34" charset="0"/>
                          <a:ea typeface="宋体" pitchFamily="2" charset="-122"/>
                        </a:rPr>
                        <a:t> </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C56B9E"/>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000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F3300"/>
                          </a:solidFill>
                          <a:effectLst/>
                          <a:latin typeface="Tahoma" pitchFamily="34" charset="0"/>
                          <a:ea typeface="宋体" pitchFamily="2" charset="-122"/>
                        </a:rPr>
                        <a:t>语种</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F3300"/>
                          </a:solidFill>
                          <a:effectLst/>
                          <a:latin typeface="Tahoma" pitchFamily="34" charset="0"/>
                          <a:ea typeface="宋体" pitchFamily="2" charset="-122"/>
                        </a:rPr>
                        <a:t>人数</a:t>
                      </a:r>
                      <a:r>
                        <a:rPr kumimoji="1" lang="en-US" altLang="zh-CN" sz="2000" b="0" i="0" u="none" strike="noStrike" cap="none" normalizeH="0" baseline="0" smtClean="0">
                          <a:ln>
                            <a:noFill/>
                          </a:ln>
                          <a:solidFill>
                            <a:srgbClr val="FF3300"/>
                          </a:solidFill>
                          <a:effectLst/>
                          <a:latin typeface="Tahoma" pitchFamily="34" charset="0"/>
                          <a:ea typeface="宋体" pitchFamily="2" charset="-122"/>
                        </a:rPr>
                        <a:t>(</a:t>
                      </a:r>
                      <a:r>
                        <a:rPr kumimoji="1" lang="zh-CN" altLang="en-US" sz="2000" b="0" i="0" u="none" strike="noStrike" cap="none" normalizeH="0" baseline="0" smtClean="0">
                          <a:ln>
                            <a:noFill/>
                          </a:ln>
                          <a:solidFill>
                            <a:srgbClr val="FF3300"/>
                          </a:solidFill>
                          <a:effectLst/>
                          <a:latin typeface="Tahoma" pitchFamily="34" charset="0"/>
                          <a:ea typeface="宋体" pitchFamily="2" charset="-122"/>
                        </a:rPr>
                        <a:t>人</a:t>
                      </a:r>
                      <a:r>
                        <a:rPr kumimoji="1" lang="en-US" altLang="zh-CN" sz="2000" b="0" i="0" u="none" strike="noStrike" cap="none" normalizeH="0" baseline="0" smtClean="0">
                          <a:ln>
                            <a:noFill/>
                          </a:ln>
                          <a:solidFill>
                            <a:srgbClr val="FF3300"/>
                          </a:solidFill>
                          <a:effectLst/>
                          <a:latin typeface="Tahoma" pitchFamily="34" charset="0"/>
                          <a:ea typeface="宋体" pitchFamily="2" charset="-122"/>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F3300"/>
                          </a:solidFill>
                          <a:effectLst/>
                          <a:latin typeface="Tahoma" pitchFamily="34" charset="0"/>
                          <a:ea typeface="宋体" pitchFamily="2" charset="-122"/>
                        </a:rPr>
                        <a:t>频率</a:t>
                      </a:r>
                      <a:r>
                        <a:rPr kumimoji="1" lang="en-US" altLang="zh-CN" sz="2000" b="0" i="0" u="none" strike="noStrike" cap="none" normalizeH="0" baseline="0" smtClean="0">
                          <a:ln>
                            <a:noFill/>
                          </a:ln>
                          <a:solidFill>
                            <a:srgbClr val="FF3300"/>
                          </a:solidFill>
                          <a:effectLst/>
                          <a:latin typeface="Tahoma" pitchFamily="34" charset="0"/>
                          <a:ea typeface="宋体" pitchFamily="2" charset="-122"/>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extLst>
                  <a:ext uri="{0D108BD9-81ED-4DB2-BD59-A6C34878D82A}">
                    <a16:rowId xmlns:a16="http://schemas.microsoft.com/office/drawing/2014/main" val="10001"/>
                  </a:ext>
                </a:extLst>
              </a:tr>
              <a:tr h="28035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chemeClr val="bg2"/>
                          </a:solidFill>
                          <a:effectLst/>
                          <a:latin typeface="Tahoma" pitchFamily="34" charset="0"/>
                          <a:ea typeface="宋体" pitchFamily="2" charset="-122"/>
                        </a:rPr>
                        <a:t>  </a:t>
                      </a:r>
                      <a:r>
                        <a:rPr kumimoji="1" lang="zh-CN" altLang="en-US" sz="2000" b="0" i="0" u="none" strike="noStrike" cap="none" normalizeH="0" baseline="0" smtClean="0">
                          <a:ln>
                            <a:noFill/>
                          </a:ln>
                          <a:solidFill>
                            <a:srgbClr val="F040F0"/>
                          </a:solidFill>
                          <a:effectLst/>
                          <a:latin typeface="Tahoma" pitchFamily="34" charset="0"/>
                          <a:ea typeface="宋体" pitchFamily="2" charset="-122"/>
                        </a:rPr>
                        <a:t>德语</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040F0"/>
                          </a:solidFill>
                          <a:effectLst/>
                          <a:latin typeface="Tahoma" pitchFamily="34" charset="0"/>
                          <a:ea typeface="宋体" pitchFamily="2" charset="-122"/>
                        </a:rPr>
                        <a:t>  法语</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040F0"/>
                          </a:solidFill>
                          <a:effectLst/>
                          <a:latin typeface="Tahoma" pitchFamily="34" charset="0"/>
                          <a:ea typeface="宋体" pitchFamily="2" charset="-122"/>
                        </a:rPr>
                        <a:t>  西班牙语</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040F0"/>
                          </a:solidFill>
                          <a:effectLst/>
                          <a:latin typeface="Tahoma" pitchFamily="34" charset="0"/>
                          <a:ea typeface="宋体" pitchFamily="2" charset="-122"/>
                        </a:rPr>
                        <a:t>  日语</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040F0"/>
                          </a:solidFill>
                          <a:effectLst/>
                          <a:latin typeface="Tahoma" pitchFamily="34" charset="0"/>
                          <a:ea typeface="宋体" pitchFamily="2" charset="-122"/>
                        </a:rPr>
                        <a:t>  阿拉伯语</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040F0"/>
                          </a:solidFill>
                          <a:effectLst/>
                          <a:latin typeface="Tahoma" pitchFamily="34" charset="0"/>
                          <a:ea typeface="宋体" pitchFamily="2" charset="-122"/>
                        </a:rPr>
                        <a:t>  其他</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EC878"/>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52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94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14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28</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10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rPr>
                        <a:t> 2</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26</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47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  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14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  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000000"/>
                          </a:solidFill>
                          <a:effectLst/>
                          <a:latin typeface="Tahoma" pitchFamily="34" charset="0"/>
                          <a:ea typeface="宋体" pitchFamily="2" charset="-122"/>
                          <a:cs typeface="Times New Roman" pitchFamily="18" charset="0"/>
                        </a:rPr>
                        <a:t>  1</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extLst>
                  <a:ext uri="{0D108BD9-81ED-4DB2-BD59-A6C34878D82A}">
                    <a16:rowId xmlns:a16="http://schemas.microsoft.com/office/drawing/2014/main" val="10002"/>
                  </a:ext>
                </a:extLst>
              </a:tr>
              <a:tr h="4889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000" b="0" i="0" u="none" strike="noStrike" cap="none" normalizeH="0" baseline="0" smtClean="0">
                          <a:ln>
                            <a:noFill/>
                          </a:ln>
                          <a:solidFill>
                            <a:srgbClr val="FF3300"/>
                          </a:solidFill>
                          <a:effectLst/>
                          <a:latin typeface="Tahoma" pitchFamily="34" charset="0"/>
                          <a:ea typeface="宋体" pitchFamily="2" charset="-122"/>
                        </a:rPr>
                        <a:t>合计</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FF3300"/>
                          </a:solidFill>
                          <a:effectLst/>
                          <a:latin typeface="Tahoma" pitchFamily="34" charset="0"/>
                          <a:ea typeface="宋体" pitchFamily="2" charset="-122"/>
                        </a:rPr>
                        <a:t>200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000" b="0" i="0" u="none" strike="noStrike" cap="none" normalizeH="0" baseline="0" smtClean="0">
                          <a:ln>
                            <a:noFill/>
                          </a:ln>
                          <a:solidFill>
                            <a:srgbClr val="FF3300"/>
                          </a:solidFill>
                          <a:effectLst/>
                          <a:latin typeface="Tahoma" pitchFamily="34" charset="0"/>
                          <a:ea typeface="宋体" pitchFamily="2" charset="-122"/>
                          <a:cs typeface="Times New Roman" pitchFamily="18" charset="0"/>
                        </a:rPr>
                        <a:t>100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extLst>
                  <a:ext uri="{0D108BD9-81ED-4DB2-BD59-A6C34878D82A}">
                    <a16:rowId xmlns:a16="http://schemas.microsoft.com/office/drawing/2014/main" val="10003"/>
                  </a:ext>
                </a:extLst>
              </a:tr>
            </a:tbl>
          </a:graphicData>
        </a:graphic>
      </p:graphicFrame>
      <p:sp>
        <p:nvSpPr>
          <p:cNvPr id="246809" name="Text Box 25"/>
          <p:cNvSpPr txBox="1">
            <a:spLocks noChangeArrowheads="1"/>
          </p:cNvSpPr>
          <p:nvPr/>
        </p:nvSpPr>
        <p:spPr bwMode="auto">
          <a:xfrm>
            <a:off x="4787900" y="3500438"/>
            <a:ext cx="3962400" cy="2295525"/>
          </a:xfrm>
          <a:prstGeom prst="rect">
            <a:avLst/>
          </a:prstGeom>
          <a:noFill/>
          <a:ln w="12700">
            <a:solidFill>
              <a:schemeClr val="tx2"/>
            </a:solidFill>
            <a:miter lim="800000"/>
            <a:headEnd/>
            <a:tailEnd/>
          </a:ln>
        </p:spPr>
        <p:txBody>
          <a:bodyPr>
            <a:spAutoFit/>
          </a:bodyPr>
          <a:lstStyle/>
          <a:p>
            <a:pPr algn="just" eaLnBrk="0" hangingPunct="0">
              <a:spcBef>
                <a:spcPct val="50000"/>
              </a:spcBef>
            </a:pPr>
            <a:r>
              <a:rPr lang="en-US" altLang="zh-CN">
                <a:ea typeface="宋体" pitchFamily="2" charset="-122"/>
              </a:rPr>
              <a:t>    </a:t>
            </a:r>
            <a:r>
              <a:rPr lang="zh-CN" altLang="en-US">
                <a:ea typeface="宋体" pitchFamily="2" charset="-122"/>
              </a:rPr>
              <a:t>这说明在所调查的</a:t>
            </a:r>
            <a:r>
              <a:rPr lang="en-US" altLang="zh-CN">
                <a:ea typeface="宋体" pitchFamily="2" charset="-122"/>
              </a:rPr>
              <a:t>200</a:t>
            </a:r>
            <a:r>
              <a:rPr lang="zh-CN" altLang="en-US">
                <a:ea typeface="宋体" pitchFamily="2" charset="-122"/>
              </a:rPr>
              <a:t>人当中，选修法语的学生人数占</a:t>
            </a:r>
            <a:r>
              <a:rPr lang="en-US" altLang="zh-CN">
                <a:ea typeface="宋体" pitchFamily="2" charset="-122"/>
              </a:rPr>
              <a:t>47%</a:t>
            </a:r>
            <a:r>
              <a:rPr lang="zh-CN" altLang="en-US">
                <a:ea typeface="宋体" pitchFamily="2" charset="-122"/>
              </a:rPr>
              <a:t>，异众比率还是比较大。因此，用“法语”来代表学生选修二外的集中趋势，其代表性不是很高。</a:t>
            </a:r>
          </a:p>
        </p:txBody>
      </p:sp>
      <p:grpSp>
        <p:nvGrpSpPr>
          <p:cNvPr id="2" name="Group 49"/>
          <p:cNvGrpSpPr>
            <a:grpSpLocks/>
          </p:cNvGrpSpPr>
          <p:nvPr/>
        </p:nvGrpSpPr>
        <p:grpSpPr bwMode="auto">
          <a:xfrm>
            <a:off x="5076825" y="1412875"/>
            <a:ext cx="2808288" cy="1866900"/>
            <a:chOff x="3198" y="890"/>
            <a:chExt cx="1769" cy="1176"/>
          </a:xfrm>
        </p:grpSpPr>
        <p:grpSp>
          <p:nvGrpSpPr>
            <p:cNvPr id="140314" name="Group 27"/>
            <p:cNvGrpSpPr>
              <a:grpSpLocks/>
            </p:cNvGrpSpPr>
            <p:nvPr/>
          </p:nvGrpSpPr>
          <p:grpSpPr bwMode="auto">
            <a:xfrm>
              <a:off x="3198" y="890"/>
              <a:ext cx="1769" cy="532"/>
              <a:chOff x="3360" y="1488"/>
              <a:chExt cx="1269" cy="491"/>
            </a:xfrm>
          </p:grpSpPr>
          <p:sp>
            <p:nvSpPr>
              <p:cNvPr id="140316" name="Text Box 28"/>
              <p:cNvSpPr txBox="1">
                <a:spLocks noChangeArrowheads="1"/>
              </p:cNvSpPr>
              <p:nvPr/>
            </p:nvSpPr>
            <p:spPr bwMode="auto">
              <a:xfrm>
                <a:off x="3360" y="1584"/>
                <a:ext cx="549" cy="266"/>
              </a:xfrm>
              <a:prstGeom prst="rect">
                <a:avLst/>
              </a:prstGeom>
              <a:noFill/>
              <a:ln w="12700">
                <a:noFill/>
                <a:miter lim="800000"/>
                <a:headEnd/>
                <a:tailEnd/>
              </a:ln>
            </p:spPr>
            <p:txBody>
              <a:bodyPr>
                <a:spAutoFit/>
              </a:bodyPr>
              <a:lstStyle/>
              <a:p>
                <a:pPr eaLnBrk="0" hangingPunct="0">
                  <a:spcBef>
                    <a:spcPct val="50000"/>
                  </a:spcBef>
                </a:pPr>
                <a:r>
                  <a:rPr lang="en-US" altLang="zh-CN" b="1" baseline="30000">
                    <a:latin typeface="Arial" charset="0"/>
                    <a:ea typeface="宋体" pitchFamily="2" charset="-122"/>
                  </a:rPr>
                  <a:t> </a:t>
                </a:r>
                <a:r>
                  <a:rPr lang="en-US" altLang="zh-CN" b="1" i="1">
                    <a:ea typeface="宋体" pitchFamily="2" charset="-122"/>
                  </a:rPr>
                  <a:t>V</a:t>
                </a:r>
                <a:r>
                  <a:rPr lang="en-US" altLang="zh-CN" b="1" i="1" baseline="-25000">
                    <a:ea typeface="宋体" pitchFamily="2" charset="-122"/>
                  </a:rPr>
                  <a:t>r</a:t>
                </a:r>
                <a:r>
                  <a:rPr lang="zh-CN" altLang="en-US" b="1">
                    <a:ea typeface="宋体" pitchFamily="2" charset="-122"/>
                  </a:rPr>
                  <a:t>＝</a:t>
                </a:r>
                <a:endParaRPr lang="zh-CN" altLang="en-US" b="1" baseline="30000">
                  <a:latin typeface="Arial" charset="0"/>
                  <a:ea typeface="宋体" pitchFamily="2" charset="-122"/>
                </a:endParaRPr>
              </a:p>
            </p:txBody>
          </p:sp>
          <p:sp>
            <p:nvSpPr>
              <p:cNvPr id="140317" name="Line 29"/>
              <p:cNvSpPr>
                <a:spLocks noChangeShapeType="1"/>
              </p:cNvSpPr>
              <p:nvPr/>
            </p:nvSpPr>
            <p:spPr bwMode="auto">
              <a:xfrm>
                <a:off x="3782" y="1731"/>
                <a:ext cx="802" cy="0"/>
              </a:xfrm>
              <a:prstGeom prst="line">
                <a:avLst/>
              </a:prstGeom>
              <a:noFill/>
              <a:ln w="28575">
                <a:solidFill>
                  <a:schemeClr val="tx1"/>
                </a:solidFill>
                <a:round/>
                <a:headEnd/>
                <a:tailEnd/>
              </a:ln>
            </p:spPr>
            <p:txBody>
              <a:bodyPr/>
              <a:lstStyle/>
              <a:p>
                <a:endParaRPr lang="zh-CN" altLang="en-US"/>
              </a:p>
            </p:txBody>
          </p:sp>
          <p:sp>
            <p:nvSpPr>
              <p:cNvPr id="140318" name="Text Box 30"/>
              <p:cNvSpPr txBox="1">
                <a:spLocks noChangeArrowheads="1"/>
              </p:cNvSpPr>
              <p:nvPr/>
            </p:nvSpPr>
            <p:spPr bwMode="auto">
              <a:xfrm>
                <a:off x="3744" y="1488"/>
                <a:ext cx="885" cy="248"/>
              </a:xfrm>
              <a:prstGeom prst="rect">
                <a:avLst/>
              </a:prstGeom>
              <a:noFill/>
              <a:ln w="12700">
                <a:noFill/>
                <a:miter lim="800000"/>
                <a:headEnd/>
                <a:tailEnd/>
              </a:ln>
            </p:spPr>
            <p:txBody>
              <a:bodyPr>
                <a:spAutoFit/>
              </a:bodyPr>
              <a:lstStyle/>
              <a:p>
                <a:pPr eaLnBrk="0" hangingPunct="0">
                  <a:spcBef>
                    <a:spcPct val="50000"/>
                  </a:spcBef>
                </a:pPr>
                <a:r>
                  <a:rPr lang="en-US" altLang="zh-CN" sz="2200" b="1">
                    <a:latin typeface="Arial" charset="0"/>
                    <a:ea typeface="宋体" pitchFamily="2" charset="-122"/>
                  </a:rPr>
                  <a:t>200 </a:t>
                </a:r>
                <a:r>
                  <a:rPr lang="zh-CN" altLang="en-US" sz="2200" b="1">
                    <a:latin typeface="Arial" charset="0"/>
                    <a:ea typeface="宋体" pitchFamily="2" charset="-122"/>
                  </a:rPr>
                  <a:t>－</a:t>
                </a:r>
                <a:r>
                  <a:rPr lang="en-US" altLang="zh-CN" sz="2200" b="1">
                    <a:latin typeface="Arial" charset="0"/>
                    <a:ea typeface="宋体" pitchFamily="2" charset="-122"/>
                  </a:rPr>
                  <a:t>94</a:t>
                </a:r>
              </a:p>
            </p:txBody>
          </p:sp>
          <p:sp>
            <p:nvSpPr>
              <p:cNvPr id="140319" name="Text Box 31"/>
              <p:cNvSpPr txBox="1">
                <a:spLocks noChangeArrowheads="1"/>
              </p:cNvSpPr>
              <p:nvPr/>
            </p:nvSpPr>
            <p:spPr bwMode="auto">
              <a:xfrm>
                <a:off x="3952" y="1731"/>
                <a:ext cx="504" cy="248"/>
              </a:xfrm>
              <a:prstGeom prst="rect">
                <a:avLst/>
              </a:prstGeom>
              <a:noFill/>
              <a:ln w="12700">
                <a:noFill/>
                <a:miter lim="800000"/>
                <a:headEnd/>
                <a:tailEnd/>
              </a:ln>
            </p:spPr>
            <p:txBody>
              <a:bodyPr>
                <a:spAutoFit/>
              </a:bodyPr>
              <a:lstStyle/>
              <a:p>
                <a:pPr eaLnBrk="0" hangingPunct="0">
                  <a:spcBef>
                    <a:spcPct val="50000"/>
                  </a:spcBef>
                </a:pPr>
                <a:r>
                  <a:rPr lang="en-US" altLang="zh-CN" sz="2200" b="1">
                    <a:latin typeface="Arial" charset="0"/>
                    <a:ea typeface="宋体" pitchFamily="2" charset="-122"/>
                  </a:rPr>
                  <a:t>200</a:t>
                </a:r>
              </a:p>
            </p:txBody>
          </p:sp>
        </p:grpSp>
        <p:sp>
          <p:nvSpPr>
            <p:cNvPr id="140315" name="Text Box 37"/>
            <p:cNvSpPr txBox="1">
              <a:spLocks noChangeArrowheads="1"/>
            </p:cNvSpPr>
            <p:nvPr/>
          </p:nvSpPr>
          <p:spPr bwMode="auto">
            <a:xfrm>
              <a:off x="3470" y="1480"/>
              <a:ext cx="1356" cy="586"/>
            </a:xfrm>
            <a:prstGeom prst="rect">
              <a:avLst/>
            </a:prstGeom>
            <a:noFill/>
            <a:ln w="12700">
              <a:noFill/>
              <a:miter lim="800000"/>
              <a:headEnd/>
              <a:tailEnd/>
            </a:ln>
          </p:spPr>
          <p:txBody>
            <a:bodyPr>
              <a:spAutoFit/>
            </a:bodyPr>
            <a:lstStyle/>
            <a:p>
              <a:pPr eaLnBrk="0" hangingPunct="0">
                <a:spcBef>
                  <a:spcPct val="50000"/>
                </a:spcBef>
              </a:pPr>
              <a:r>
                <a:rPr lang="zh-CN" altLang="en-US" sz="2200" b="1">
                  <a:ea typeface="宋体" pitchFamily="2" charset="-122"/>
                </a:rPr>
                <a:t>＝</a:t>
              </a:r>
              <a:r>
                <a:rPr lang="en-US" altLang="zh-CN" sz="2200" b="1">
                  <a:ea typeface="宋体" pitchFamily="2" charset="-122"/>
                </a:rPr>
                <a:t>1</a:t>
              </a:r>
              <a:r>
                <a:rPr lang="zh-CN" altLang="en-US" sz="2200" b="1">
                  <a:ea typeface="宋体" pitchFamily="2" charset="-122"/>
                </a:rPr>
                <a:t>－</a:t>
              </a:r>
              <a:r>
                <a:rPr lang="en-US" altLang="zh-CN" sz="2200" b="1">
                  <a:ea typeface="宋体" pitchFamily="2" charset="-122"/>
                </a:rPr>
                <a:t>0.47</a:t>
              </a:r>
            </a:p>
            <a:p>
              <a:pPr eaLnBrk="0" hangingPunct="0">
                <a:spcBef>
                  <a:spcPct val="50000"/>
                </a:spcBef>
              </a:pPr>
              <a:r>
                <a:rPr lang="zh-CN" altLang="en-US" sz="2200" b="1">
                  <a:ea typeface="宋体" pitchFamily="2" charset="-122"/>
                </a:rPr>
                <a:t>＝</a:t>
              </a:r>
              <a:r>
                <a:rPr lang="en-US" altLang="zh-CN" sz="2200" b="1">
                  <a:ea typeface="宋体" pitchFamily="2" charset="-122"/>
                </a:rPr>
                <a:t>0.53 = 53%</a:t>
              </a:r>
              <a:r>
                <a:rPr lang="en-US" altLang="zh-CN" sz="2200" b="1" baseline="30000">
                  <a:latin typeface="Arial" charset="0"/>
                  <a:ea typeface="宋体" pitchFamily="2" charset="-122"/>
                </a:rPr>
                <a:t> </a:t>
              </a:r>
              <a:r>
                <a:rPr lang="en-US" altLang="zh-CN" sz="2200" b="1" i="1" baseline="-25000">
                  <a:ea typeface="宋体" pitchFamily="2" charset="-122"/>
                </a:rPr>
                <a:t> </a:t>
              </a:r>
            </a:p>
          </p:txBody>
        </p:sp>
      </p:grpSp>
      <p:sp>
        <p:nvSpPr>
          <p:cNvPr id="140313" name="Rectangle 41"/>
          <p:cNvSpPr>
            <a:spLocks noGrp="1" noChangeArrowheads="1"/>
          </p:cNvSpPr>
          <p:nvPr>
            <p:ph type="title"/>
          </p:nvPr>
        </p:nvSpPr>
        <p:spPr>
          <a:xfrm>
            <a:off x="468313" y="333375"/>
            <a:ext cx="5399087" cy="990600"/>
          </a:xfrm>
        </p:spPr>
        <p:txBody>
          <a:bodyPr/>
          <a:lstStyle/>
          <a:p>
            <a:pPr eaLnBrk="1" hangingPunct="1"/>
            <a:r>
              <a:rPr lang="zh-CN" altLang="en-US" dirty="0" smtClean="0"/>
              <a:t>例</a:t>
            </a:r>
          </a:p>
        </p:txBody>
      </p:sp>
      <p:sp>
        <p:nvSpPr>
          <p:cNvPr id="13" name="灯片编号占位符 12"/>
          <p:cNvSpPr>
            <a:spLocks noGrp="1"/>
          </p:cNvSpPr>
          <p:nvPr>
            <p:ph type="sldNum" sz="quarter" idx="12"/>
          </p:nvPr>
        </p:nvSpPr>
        <p:spPr/>
        <p:txBody>
          <a:bodyPr/>
          <a:lstStyle/>
          <a:p>
            <a:pPr>
              <a:defRPr/>
            </a:pPr>
            <a:fld id="{62FC49CA-8014-4DA2-ABEB-AF96863EC77D}" type="slidenum">
              <a:rPr lang="en-US" altLang="zh-CN" smtClean="0"/>
              <a:pPr>
                <a:defRPr/>
              </a:pPr>
              <a:t>119</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3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6809"/>
                                        </p:tgtEl>
                                        <p:attrNameLst>
                                          <p:attrName>style.visibility</p:attrName>
                                        </p:attrNameLst>
                                      </p:cBhvr>
                                      <p:to>
                                        <p:strVal val="visible"/>
                                      </p:to>
                                    </p:set>
                                    <p:animEffect transition="in" filter="wipe(up)">
                                      <p:cBhvr>
                                        <p:cTn id="12" dur="2000"/>
                                        <p:tgtEl>
                                          <p:spTgt spid="246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09"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2"/>
          <p:cNvSpPr>
            <a:spLocks noGrp="1" noChangeArrowheads="1"/>
          </p:cNvSpPr>
          <p:nvPr>
            <p:ph type="title"/>
          </p:nvPr>
        </p:nvSpPr>
        <p:spPr>
          <a:xfrm>
            <a:off x="1331640" y="1009651"/>
            <a:ext cx="6974160" cy="990600"/>
          </a:xfrm>
        </p:spPr>
        <p:txBody>
          <a:bodyPr/>
          <a:lstStyle/>
          <a:p>
            <a:pPr eaLnBrk="1" hangingPunct="1"/>
            <a:r>
              <a:rPr lang="en-US" altLang="zh-CN" dirty="0" smtClean="0"/>
              <a:t>3.4  </a:t>
            </a:r>
            <a:r>
              <a:rPr lang="zh-CN" altLang="en-US" dirty="0" smtClean="0"/>
              <a:t>数据分布形态的测定</a:t>
            </a:r>
            <a:r>
              <a:rPr lang="en-US" altLang="zh-CN" dirty="0" smtClean="0">
                <a:solidFill>
                  <a:srgbClr val="000000"/>
                </a:solidFill>
                <a:latin typeface="Tahoma" pitchFamily="34" charset="0"/>
                <a:ea typeface="宋体" pitchFamily="2" charset="-122"/>
              </a:rPr>
              <a:t>—</a:t>
            </a:r>
            <a:r>
              <a:rPr lang="zh-CN" altLang="zh-CN" dirty="0">
                <a:solidFill>
                  <a:srgbClr val="0070C0"/>
                </a:solidFill>
              </a:rPr>
              <a:t>偏度和峰度</a:t>
            </a:r>
            <a:endParaRPr lang="zh-CN" altLang="en-US" dirty="0" smtClean="0"/>
          </a:p>
        </p:txBody>
      </p:sp>
      <p:sp>
        <p:nvSpPr>
          <p:cNvPr id="141316" name="Rectangle 3"/>
          <p:cNvSpPr>
            <a:spLocks noGrp="1" noChangeArrowheads="1"/>
          </p:cNvSpPr>
          <p:nvPr>
            <p:ph type="body" idx="1"/>
          </p:nvPr>
        </p:nvSpPr>
        <p:spPr>
          <a:xfrm>
            <a:off x="971600" y="2348880"/>
            <a:ext cx="7772400" cy="3788296"/>
          </a:xfrm>
        </p:spPr>
        <p:txBody>
          <a:bodyPr/>
          <a:lstStyle/>
          <a:p>
            <a:pPr lvl="1" eaLnBrk="1" hangingPunct="1">
              <a:lnSpc>
                <a:spcPct val="120000"/>
              </a:lnSpc>
              <a:spcBef>
                <a:spcPct val="30000"/>
              </a:spcBef>
            </a:pPr>
            <a:r>
              <a:rPr lang="zh-CN" altLang="en-US" dirty="0"/>
              <a:t>偏</a:t>
            </a:r>
            <a:r>
              <a:rPr lang="zh-CN" altLang="en-US" dirty="0" smtClean="0"/>
              <a:t>态（</a:t>
            </a:r>
            <a:r>
              <a:rPr lang="zh-CN" altLang="zh-CN" dirty="0" smtClean="0">
                <a:solidFill>
                  <a:srgbClr val="0070C0"/>
                </a:solidFill>
              </a:rPr>
              <a:t>偏度</a:t>
            </a:r>
            <a:r>
              <a:rPr lang="en-US" altLang="zh-CN" i="1" dirty="0" smtClean="0">
                <a:solidFill>
                  <a:srgbClr val="0070C0"/>
                </a:solidFill>
              </a:rPr>
              <a:t>Skewness</a:t>
            </a:r>
            <a:r>
              <a:rPr lang="zh-CN" altLang="en-US" b="0" dirty="0" smtClean="0"/>
              <a:t> </a:t>
            </a:r>
            <a:r>
              <a:rPr lang="zh-CN" altLang="en-US" dirty="0" smtClean="0"/>
              <a:t>）是</a:t>
            </a:r>
            <a:r>
              <a:rPr lang="zh-CN" altLang="en-US" dirty="0"/>
              <a:t>指频数分布曲线的非对称的方向和程度，</a:t>
            </a:r>
          </a:p>
          <a:p>
            <a:pPr lvl="1" eaLnBrk="1" hangingPunct="1">
              <a:lnSpc>
                <a:spcPct val="120000"/>
              </a:lnSpc>
              <a:spcBef>
                <a:spcPct val="30000"/>
              </a:spcBef>
            </a:pPr>
            <a:r>
              <a:rPr lang="zh-CN" altLang="en-US" dirty="0"/>
              <a:t>峰</a:t>
            </a:r>
            <a:r>
              <a:rPr lang="zh-CN" altLang="en-US" dirty="0" smtClean="0"/>
              <a:t>态（</a:t>
            </a:r>
            <a:r>
              <a:rPr lang="zh-CN" altLang="zh-CN" dirty="0" smtClean="0">
                <a:solidFill>
                  <a:srgbClr val="0070C0"/>
                </a:solidFill>
              </a:rPr>
              <a:t>峰度</a:t>
            </a:r>
            <a:r>
              <a:rPr lang="en-US" altLang="zh-CN" i="1" dirty="0" smtClean="0">
                <a:solidFill>
                  <a:srgbClr val="0070C0"/>
                </a:solidFill>
              </a:rPr>
              <a:t>Kurtosis</a:t>
            </a:r>
            <a:r>
              <a:rPr lang="zh-CN" altLang="en-US" dirty="0" smtClean="0"/>
              <a:t>）是</a:t>
            </a:r>
            <a:r>
              <a:rPr lang="zh-CN" altLang="en-US" dirty="0"/>
              <a:t>指频数分布曲线的尖峭程度。</a:t>
            </a:r>
            <a:endParaRPr lang="en-US" altLang="zh-CN" dirty="0"/>
          </a:p>
          <a:p>
            <a:pPr marL="0" indent="0" eaLnBrk="1" hangingPunct="1">
              <a:lnSpc>
                <a:spcPct val="120000"/>
              </a:lnSpc>
              <a:spcBef>
                <a:spcPct val="30000"/>
              </a:spcBef>
              <a:buNone/>
            </a:pPr>
            <a:r>
              <a:rPr lang="zh-CN" altLang="en-US" dirty="0" smtClean="0">
                <a:solidFill>
                  <a:srgbClr val="000000"/>
                </a:solidFill>
              </a:rPr>
              <a:t>偏态和峰态主要用于判断总体的分布是否接近于正态分布。</a:t>
            </a:r>
            <a:endParaRPr lang="zh-CN" altLang="en-US" dirty="0" smtClean="0">
              <a:solidFill>
                <a:schemeClr val="tx1"/>
              </a:solidFill>
            </a:endParaRPr>
          </a:p>
        </p:txBody>
      </p:sp>
      <p:sp>
        <p:nvSpPr>
          <p:cNvPr id="5" name="灯片编号占位符 4"/>
          <p:cNvSpPr>
            <a:spLocks noGrp="1"/>
          </p:cNvSpPr>
          <p:nvPr>
            <p:ph type="sldNum" sz="quarter" idx="12"/>
          </p:nvPr>
        </p:nvSpPr>
        <p:spPr/>
        <p:txBody>
          <a:bodyPr/>
          <a:lstStyle/>
          <a:p>
            <a:pPr>
              <a:defRPr/>
            </a:pPr>
            <a:fld id="{62FC49CA-8014-4DA2-ABEB-AF96863EC77D}" type="slidenum">
              <a:rPr lang="en-US" altLang="zh-CN" smtClean="0"/>
              <a:pPr>
                <a:defRPr/>
              </a:pPr>
              <a:t>120</a:t>
            </a:fld>
            <a:endParaRPr lang="en-US" altLang="zh-CN" dirty="0"/>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sz="4400" b="1" dirty="0" smtClean="0">
                <a:solidFill>
                  <a:srgbClr val="3333FF"/>
                </a:solidFill>
                <a:latin typeface="+mj-lt"/>
                <a:ea typeface="+mj-ea"/>
                <a:cs typeface="+mj-cs"/>
              </a:rPr>
              <a:t>3.4.1 </a:t>
            </a:r>
            <a:r>
              <a:rPr kumimoji="1" lang="zh-CN" altLang="en-US" sz="4400" b="1" dirty="0" smtClean="0">
                <a:solidFill>
                  <a:srgbClr val="3333FF"/>
                </a:solidFill>
                <a:latin typeface="+mj-lt"/>
                <a:ea typeface="+mj-ea"/>
                <a:cs typeface="+mj-cs"/>
              </a:rPr>
              <a:t> </a:t>
            </a:r>
            <a:r>
              <a:rPr kumimoji="1" lang="zh-CN" altLang="zh-CN" sz="4400" b="1" dirty="0" smtClean="0">
                <a:solidFill>
                  <a:srgbClr val="3333FF"/>
                </a:solidFill>
                <a:latin typeface="+mj-lt"/>
                <a:ea typeface="+mj-ea"/>
                <a:cs typeface="+mj-cs"/>
              </a:rPr>
              <a:t>矩（动差 ）</a:t>
            </a:r>
            <a:endParaRPr lang="zh-CN" altLang="en-US" dirty="0"/>
          </a:p>
        </p:txBody>
      </p:sp>
      <p:sp>
        <p:nvSpPr>
          <p:cNvPr id="5" name="Rectangle 3"/>
          <p:cNvSpPr>
            <a:spLocks noGrp="1" noChangeArrowheads="1"/>
          </p:cNvSpPr>
          <p:nvPr>
            <p:ph idx="1"/>
          </p:nvPr>
        </p:nvSpPr>
        <p:spPr>
          <a:xfrm>
            <a:off x="539552" y="1196752"/>
            <a:ext cx="8064896" cy="2520280"/>
          </a:xfrm>
        </p:spPr>
        <p:txBody>
          <a:bodyPr/>
          <a:lstStyle/>
          <a:p>
            <a:pPr eaLnBrk="1" hangingPunct="1">
              <a:lnSpc>
                <a:spcPct val="130000"/>
              </a:lnSpc>
              <a:spcBef>
                <a:spcPts val="600"/>
              </a:spcBef>
            </a:pPr>
            <a:r>
              <a:rPr lang="zh-CN" altLang="en-US" sz="2800" dirty="0" smtClean="0">
                <a:solidFill>
                  <a:srgbClr val="FF3300"/>
                </a:solidFill>
              </a:rPr>
              <a:t>矩（动差 ）</a:t>
            </a:r>
            <a:r>
              <a:rPr lang="en-US" altLang="zh-CN" sz="2800" dirty="0" smtClean="0">
                <a:solidFill>
                  <a:schemeClr val="tx1"/>
                </a:solidFill>
                <a:latin typeface="Times New Roman" pitchFamily="18" charset="0"/>
              </a:rPr>
              <a:t>——</a:t>
            </a:r>
            <a:r>
              <a:rPr lang="en-US" altLang="zh-CN" sz="2800" dirty="0" smtClean="0">
                <a:solidFill>
                  <a:schemeClr val="tx1"/>
                </a:solidFill>
              </a:rPr>
              <a:t> </a:t>
            </a:r>
            <a:r>
              <a:rPr lang="zh-CN" altLang="en-US" sz="2800" dirty="0" smtClean="0">
                <a:solidFill>
                  <a:schemeClr val="tx1"/>
                </a:solidFill>
              </a:rPr>
              <a:t>一系列刻画数据分布特征的指标的统称。</a:t>
            </a:r>
          </a:p>
          <a:p>
            <a:pPr lvl="1" eaLnBrk="1" hangingPunct="1">
              <a:lnSpc>
                <a:spcPct val="130000"/>
              </a:lnSpc>
              <a:spcBef>
                <a:spcPts val="600"/>
              </a:spcBef>
            </a:pPr>
            <a:r>
              <a:rPr lang="zh-CN" altLang="en-US" dirty="0" smtClean="0"/>
              <a:t>变量值与数值 </a:t>
            </a:r>
            <a:r>
              <a:rPr lang="en-US" altLang="zh-CN" i="1" dirty="0" smtClean="0">
                <a:latin typeface="Times New Roman" pitchFamily="18" charset="0"/>
                <a:cs typeface="Times New Roman" pitchFamily="18" charset="0"/>
              </a:rPr>
              <a:t>a </a:t>
            </a:r>
            <a:r>
              <a:rPr lang="zh-CN" altLang="en-US" dirty="0" smtClean="0"/>
              <a:t>之离差的 </a:t>
            </a:r>
            <a:r>
              <a:rPr lang="en-US" altLang="zh-CN" i="1" dirty="0" smtClean="0"/>
              <a:t>K </a:t>
            </a:r>
            <a:r>
              <a:rPr lang="zh-CN" altLang="en-US" dirty="0" smtClean="0"/>
              <a:t>次方的平均数称为</a:t>
            </a:r>
            <a:r>
              <a:rPr lang="zh-CN" altLang="en-US" u="sng" dirty="0" smtClean="0">
                <a:solidFill>
                  <a:srgbClr val="C00000"/>
                </a:solidFill>
              </a:rPr>
              <a:t>变量 </a:t>
            </a:r>
            <a:r>
              <a:rPr lang="en-US" altLang="zh-CN" i="1" u="sng" dirty="0" smtClean="0">
                <a:solidFill>
                  <a:srgbClr val="C00000"/>
                </a:solidFill>
              </a:rPr>
              <a:t>x </a:t>
            </a:r>
            <a:r>
              <a:rPr lang="zh-CN" altLang="en-US" u="sng" dirty="0" smtClean="0">
                <a:solidFill>
                  <a:srgbClr val="C00000"/>
                </a:solidFill>
              </a:rPr>
              <a:t>关于 </a:t>
            </a:r>
            <a:r>
              <a:rPr lang="en-US" altLang="zh-CN" sz="3200" i="1" u="sng" dirty="0" smtClean="0">
                <a:solidFill>
                  <a:srgbClr val="C00000"/>
                </a:solidFill>
                <a:latin typeface="Times New Roman" pitchFamily="18" charset="0"/>
                <a:cs typeface="Times New Roman" pitchFamily="18" charset="0"/>
              </a:rPr>
              <a:t>a </a:t>
            </a:r>
            <a:r>
              <a:rPr lang="zh-CN" altLang="en-US" u="sng" dirty="0" smtClean="0">
                <a:solidFill>
                  <a:srgbClr val="C00000"/>
                </a:solidFill>
              </a:rPr>
              <a:t>的</a:t>
            </a:r>
            <a:r>
              <a:rPr lang="en-US" altLang="zh-CN" i="1" u="sng" dirty="0" smtClean="0">
                <a:solidFill>
                  <a:srgbClr val="FF3300"/>
                </a:solidFill>
              </a:rPr>
              <a:t>K </a:t>
            </a:r>
            <a:r>
              <a:rPr lang="zh-CN" altLang="en-US" u="sng" dirty="0" smtClean="0">
                <a:solidFill>
                  <a:srgbClr val="FF3300"/>
                </a:solidFill>
              </a:rPr>
              <a:t>阶矩</a:t>
            </a:r>
            <a:r>
              <a:rPr lang="zh-CN" altLang="en-US" dirty="0" smtClean="0"/>
              <a:t>，即： </a:t>
            </a:r>
          </a:p>
        </p:txBody>
      </p:sp>
      <p:graphicFrame>
        <p:nvGraphicFramePr>
          <p:cNvPr id="492549" name="Object 5"/>
          <p:cNvGraphicFramePr>
            <a:graphicFrameLocks noChangeAspect="1"/>
          </p:cNvGraphicFramePr>
          <p:nvPr/>
        </p:nvGraphicFramePr>
        <p:xfrm>
          <a:off x="5796136" y="3573016"/>
          <a:ext cx="2539799" cy="2340670"/>
        </p:xfrm>
        <a:graphic>
          <a:graphicData uri="http://schemas.openxmlformats.org/presentationml/2006/ole">
            <mc:AlternateContent xmlns:mc="http://schemas.openxmlformats.org/markup-compatibility/2006">
              <mc:Choice xmlns:v="urn:schemas-microsoft-com:vml" Requires="v">
                <p:oleObj spid="_x0000_s269493" name="公式" r:id="rId3" imgW="914400" imgH="838080" progId="Equation.3">
                  <p:embed/>
                </p:oleObj>
              </mc:Choice>
              <mc:Fallback>
                <p:oleObj name="公式" r:id="rId3" imgW="914400" imgH="838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3573016"/>
                        <a:ext cx="2539799" cy="2340670"/>
                      </a:xfrm>
                      <a:prstGeom prst="rect">
                        <a:avLst/>
                      </a:prstGeom>
                      <a:solidFill>
                        <a:srgbClr val="CCFFFF"/>
                      </a:solidFill>
                      <a:ln w="28575">
                        <a:solidFill>
                          <a:schemeClr val="folHlink"/>
                        </a:solidFill>
                        <a:miter lim="800000"/>
                        <a:headEnd/>
                        <a:tailEnd/>
                      </a:ln>
                    </p:spPr>
                  </p:pic>
                </p:oleObj>
              </mc:Fallback>
            </mc:AlternateContent>
          </a:graphicData>
        </a:graphic>
      </p:graphicFrame>
      <p:pic>
        <p:nvPicPr>
          <p:cNvPr id="279555" name="Picture 3"/>
          <p:cNvPicPr>
            <a:picLocks noChangeAspect="1" noChangeArrowheads="1"/>
          </p:cNvPicPr>
          <p:nvPr/>
        </p:nvPicPr>
        <p:blipFill>
          <a:blip r:embed="rId5" cstate="print"/>
          <a:srcRect/>
          <a:stretch>
            <a:fillRect/>
          </a:stretch>
        </p:blipFill>
        <p:spPr bwMode="auto">
          <a:xfrm>
            <a:off x="1115616" y="3717032"/>
            <a:ext cx="3274105" cy="2017762"/>
          </a:xfrm>
          <a:prstGeom prst="rect">
            <a:avLst/>
          </a:prstGeom>
          <a:noFill/>
          <a:ln w="9525">
            <a:noFill/>
            <a:miter lim="800000"/>
            <a:headEnd/>
            <a:tailEnd/>
          </a:ln>
        </p:spPr>
      </p:pic>
      <p:sp>
        <p:nvSpPr>
          <p:cNvPr id="8" name="TextBox 7"/>
          <p:cNvSpPr txBox="1"/>
          <p:nvPr/>
        </p:nvSpPr>
        <p:spPr>
          <a:xfrm>
            <a:off x="1259632" y="5877272"/>
            <a:ext cx="2592288" cy="461665"/>
          </a:xfrm>
          <a:prstGeom prst="rect">
            <a:avLst/>
          </a:prstGeom>
          <a:noFill/>
        </p:spPr>
        <p:txBody>
          <a:bodyPr wrap="square" rtlCol="0">
            <a:spAutoFit/>
          </a:bodyPr>
          <a:lstStyle/>
          <a:p>
            <a:r>
              <a:rPr lang="zh-CN" altLang="en-US" b="1" dirty="0" smtClean="0">
                <a:latin typeface="宋体" pitchFamily="2" charset="-122"/>
                <a:ea typeface="宋体" pitchFamily="2" charset="-122"/>
              </a:rPr>
              <a:t>（未分组时）</a:t>
            </a:r>
            <a:endParaRPr lang="zh-CN" altLang="en-US" b="1" dirty="0">
              <a:latin typeface="宋体" pitchFamily="2" charset="-122"/>
              <a:ea typeface="宋体" pitchFamily="2" charset="-122"/>
            </a:endParaRPr>
          </a:p>
        </p:txBody>
      </p:sp>
      <p:sp>
        <p:nvSpPr>
          <p:cNvPr id="9" name="TextBox 8"/>
          <p:cNvSpPr txBox="1"/>
          <p:nvPr/>
        </p:nvSpPr>
        <p:spPr>
          <a:xfrm>
            <a:off x="5868144" y="5949280"/>
            <a:ext cx="2592288" cy="461665"/>
          </a:xfrm>
          <a:prstGeom prst="rect">
            <a:avLst/>
          </a:prstGeom>
          <a:noFill/>
        </p:spPr>
        <p:txBody>
          <a:bodyPr wrap="square" rtlCol="0">
            <a:spAutoFit/>
          </a:bodyPr>
          <a:lstStyle/>
          <a:p>
            <a:r>
              <a:rPr lang="zh-CN" altLang="en-US" b="1" dirty="0" smtClean="0">
                <a:latin typeface="宋体" pitchFamily="2" charset="-122"/>
                <a:ea typeface="宋体" pitchFamily="2" charset="-122"/>
              </a:rPr>
              <a:t>（分组时）</a:t>
            </a:r>
            <a:endParaRPr lang="zh-CN" altLang="en-US" b="1" dirty="0">
              <a:latin typeface="宋体" pitchFamily="2" charset="-122"/>
              <a:ea typeface="宋体" pitchFamily="2" charset="-122"/>
            </a:endParaRPr>
          </a:p>
        </p:txBody>
      </p:sp>
      <p:sp>
        <p:nvSpPr>
          <p:cNvPr id="10" name="灯片编号占位符 9"/>
          <p:cNvSpPr>
            <a:spLocks noGrp="1"/>
          </p:cNvSpPr>
          <p:nvPr>
            <p:ph type="sldNum" sz="quarter" idx="12"/>
          </p:nvPr>
        </p:nvSpPr>
        <p:spPr/>
        <p:txBody>
          <a:bodyPr/>
          <a:lstStyle/>
          <a:p>
            <a:pPr>
              <a:defRPr/>
            </a:pPr>
            <a:fld id="{62FC49CA-8014-4DA2-ABEB-AF96863EC77D}" type="slidenum">
              <a:rPr lang="en-US" altLang="zh-CN" smtClean="0"/>
              <a:pPr>
                <a:defRPr/>
              </a:pPr>
              <a:t>121</a:t>
            </a:fld>
            <a:endParaRPr lang="en-US" altLang="zh-CN" dirty="0"/>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idx="1"/>
          </p:nvPr>
        </p:nvSpPr>
        <p:spPr bwMode="auto">
          <a:xfrm>
            <a:off x="539552" y="980728"/>
            <a:ext cx="7772400" cy="2265040"/>
          </a:xfrm>
          <a:prstGeom prst="rect">
            <a:avLst/>
          </a:prstGeom>
          <a:noFill/>
          <a:ln w="9525">
            <a:noFill/>
            <a:miter lim="800000"/>
            <a:headEnd/>
            <a:tailEnd/>
          </a:ln>
        </p:spPr>
        <p:txBody>
          <a:bodyPr/>
          <a:lstStyle/>
          <a:p>
            <a:pPr marL="342900" indent="-342900">
              <a:spcBef>
                <a:spcPct val="20000"/>
              </a:spcBef>
              <a:buSzPct val="90000"/>
              <a:buFontTx/>
              <a:buBlip>
                <a:blip r:embed="rId3"/>
              </a:buBlip>
            </a:pPr>
            <a:r>
              <a:rPr lang="en-US" altLang="zh-CN" sz="3200" b="1" i="1" dirty="0">
                <a:solidFill>
                  <a:srgbClr val="C00000"/>
                </a:solidFill>
                <a:latin typeface="Tahoma" pitchFamily="34" charset="0"/>
                <a:ea typeface="宋体" pitchFamily="2" charset="-122"/>
              </a:rPr>
              <a:t>K </a:t>
            </a:r>
            <a:r>
              <a:rPr lang="zh-CN" altLang="en-US" sz="3200" b="1" dirty="0">
                <a:solidFill>
                  <a:srgbClr val="C00000"/>
                </a:solidFill>
                <a:latin typeface="Tahoma" pitchFamily="34" charset="0"/>
                <a:ea typeface="宋体" pitchFamily="2" charset="-122"/>
              </a:rPr>
              <a:t>阶原点矩</a:t>
            </a:r>
            <a:r>
              <a:rPr lang="zh-CN" altLang="en-US" sz="2800" b="1" u="sng" dirty="0">
                <a:solidFill>
                  <a:srgbClr val="C00000"/>
                </a:solidFill>
                <a:latin typeface="Tahoma" pitchFamily="34" charset="0"/>
                <a:ea typeface="宋体" pitchFamily="2" charset="-122"/>
              </a:rPr>
              <a:t>（当</a:t>
            </a:r>
            <a:r>
              <a:rPr lang="en-US" altLang="zh-CN" sz="2800" b="1" i="1" u="sng" dirty="0">
                <a:solidFill>
                  <a:srgbClr val="C00000"/>
                </a:solidFill>
                <a:latin typeface="Tahoma" pitchFamily="34" charset="0"/>
                <a:ea typeface="宋体" pitchFamily="2" charset="-122"/>
              </a:rPr>
              <a:t>a</a:t>
            </a:r>
            <a:r>
              <a:rPr lang="en-US" altLang="zh-CN" sz="2800" b="1" u="sng" dirty="0">
                <a:solidFill>
                  <a:srgbClr val="C00000"/>
                </a:solidFill>
                <a:latin typeface="Tahoma" pitchFamily="34" charset="0"/>
                <a:ea typeface="宋体" pitchFamily="2" charset="-122"/>
              </a:rPr>
              <a:t> = 0 </a:t>
            </a:r>
            <a:r>
              <a:rPr lang="zh-CN" altLang="en-US" sz="2800" b="1" u="sng" dirty="0">
                <a:solidFill>
                  <a:srgbClr val="C00000"/>
                </a:solidFill>
                <a:latin typeface="Tahoma" pitchFamily="34" charset="0"/>
                <a:ea typeface="宋体" pitchFamily="2" charset="-122"/>
              </a:rPr>
              <a:t>时）</a:t>
            </a:r>
            <a:r>
              <a:rPr lang="zh-CN" altLang="en-US" sz="2800" b="1" dirty="0">
                <a:solidFill>
                  <a:srgbClr val="C56B9E"/>
                </a:solidFill>
                <a:latin typeface="Tahoma" pitchFamily="34" charset="0"/>
                <a:ea typeface="宋体" pitchFamily="2" charset="-122"/>
              </a:rPr>
              <a:t>是数据的</a:t>
            </a:r>
            <a:r>
              <a:rPr lang="en-US" altLang="zh-CN" sz="2800" b="1" i="1" dirty="0">
                <a:solidFill>
                  <a:srgbClr val="C56B9E"/>
                </a:solidFill>
                <a:latin typeface="Tahoma" pitchFamily="34" charset="0"/>
                <a:ea typeface="宋体" pitchFamily="2" charset="-122"/>
              </a:rPr>
              <a:t>K</a:t>
            </a:r>
            <a:r>
              <a:rPr lang="zh-CN" altLang="en-US" sz="2800" b="1" dirty="0">
                <a:solidFill>
                  <a:srgbClr val="C56B9E"/>
                </a:solidFill>
                <a:latin typeface="Tahoma" pitchFamily="34" charset="0"/>
                <a:ea typeface="宋体" pitchFamily="2" charset="-122"/>
              </a:rPr>
              <a:t>次方的平均数</a:t>
            </a:r>
            <a:r>
              <a:rPr lang="en-US" altLang="zh-CN" sz="2800" b="1" dirty="0">
                <a:solidFill>
                  <a:srgbClr val="C56B9E"/>
                </a:solidFill>
                <a:latin typeface="Tahoma" pitchFamily="34" charset="0"/>
                <a:ea typeface="宋体" pitchFamily="2" charset="-122"/>
              </a:rPr>
              <a:t>.</a:t>
            </a:r>
          </a:p>
          <a:p>
            <a:pPr marL="742950" lvl="1" indent="-285750">
              <a:spcBef>
                <a:spcPct val="20000"/>
              </a:spcBef>
              <a:buSzPct val="80000"/>
              <a:buFontTx/>
              <a:buBlip>
                <a:blip r:embed="rId4"/>
              </a:buBlip>
            </a:pPr>
            <a:r>
              <a:rPr lang="zh-CN" altLang="zh-CN" sz="2800" b="1" dirty="0">
                <a:solidFill>
                  <a:srgbClr val="000000"/>
                </a:solidFill>
                <a:latin typeface="Tahoma" pitchFamily="34" charset="0"/>
                <a:ea typeface="宋体" pitchFamily="2" charset="-122"/>
              </a:rPr>
              <a:t>一阶原点矩即算术平均数</a:t>
            </a:r>
            <a:r>
              <a:rPr lang="zh-CN" altLang="en-US" sz="2800" b="1" dirty="0">
                <a:solidFill>
                  <a:srgbClr val="000000"/>
                </a:solidFill>
                <a:latin typeface="Tahoma" pitchFamily="34" charset="0"/>
                <a:ea typeface="宋体" pitchFamily="2" charset="-122"/>
              </a:rPr>
              <a:t>；</a:t>
            </a:r>
          </a:p>
          <a:p>
            <a:pPr marL="742950" lvl="1" indent="-285750">
              <a:spcBef>
                <a:spcPct val="20000"/>
              </a:spcBef>
              <a:buSzPct val="80000"/>
              <a:buFontTx/>
              <a:buBlip>
                <a:blip r:embed="rId4"/>
              </a:buBlip>
            </a:pPr>
            <a:r>
              <a:rPr lang="zh-CN" altLang="zh-CN" sz="2800" b="1" dirty="0">
                <a:solidFill>
                  <a:srgbClr val="000000"/>
                </a:solidFill>
                <a:latin typeface="Tahoma" pitchFamily="34" charset="0"/>
                <a:ea typeface="宋体" pitchFamily="2" charset="-122"/>
              </a:rPr>
              <a:t>二阶原点矩即平方平均数。</a:t>
            </a:r>
            <a:r>
              <a:rPr lang="zh-CN" altLang="en-US" sz="2800" b="1" dirty="0">
                <a:solidFill>
                  <a:srgbClr val="000000"/>
                </a:solidFill>
                <a:latin typeface="Tahoma" pitchFamily="34" charset="0"/>
                <a:ea typeface="宋体" pitchFamily="2" charset="-122"/>
              </a:rPr>
              <a:t> </a:t>
            </a:r>
          </a:p>
        </p:txBody>
      </p:sp>
      <p:sp>
        <p:nvSpPr>
          <p:cNvPr id="6" name="Rectangle 6"/>
          <p:cNvSpPr>
            <a:spLocks noChangeArrowheads="1"/>
          </p:cNvSpPr>
          <p:nvPr/>
        </p:nvSpPr>
        <p:spPr bwMode="auto">
          <a:xfrm>
            <a:off x="539552" y="3429000"/>
            <a:ext cx="8064896" cy="2880320"/>
          </a:xfrm>
          <a:prstGeom prst="rect">
            <a:avLst/>
          </a:prstGeom>
          <a:noFill/>
          <a:ln w="9525">
            <a:noFill/>
            <a:miter lim="800000"/>
            <a:headEnd/>
            <a:tailEnd/>
          </a:ln>
        </p:spPr>
        <p:txBody>
          <a:bodyPr/>
          <a:lstStyle/>
          <a:p>
            <a:pPr marL="342900" indent="-342900">
              <a:lnSpc>
                <a:spcPct val="150000"/>
              </a:lnSpc>
              <a:spcBef>
                <a:spcPts val="0"/>
              </a:spcBef>
              <a:buSzPct val="90000"/>
              <a:buFontTx/>
              <a:buBlip>
                <a:blip r:embed="rId3"/>
              </a:buBlip>
            </a:pPr>
            <a:r>
              <a:rPr lang="en-US" altLang="zh-CN" sz="3200" b="1" i="1" dirty="0">
                <a:solidFill>
                  <a:srgbClr val="C00000"/>
                </a:solidFill>
                <a:latin typeface="Tahoma" pitchFamily="34" charset="0"/>
                <a:ea typeface="宋体" pitchFamily="2" charset="-122"/>
              </a:rPr>
              <a:t>K </a:t>
            </a:r>
            <a:r>
              <a:rPr lang="zh-CN" altLang="en-US" sz="3200" b="1" dirty="0">
                <a:solidFill>
                  <a:srgbClr val="C00000"/>
                </a:solidFill>
                <a:latin typeface="Tahoma" pitchFamily="34" charset="0"/>
                <a:ea typeface="宋体" pitchFamily="2" charset="-122"/>
              </a:rPr>
              <a:t>阶中心矩</a:t>
            </a:r>
            <a:r>
              <a:rPr lang="zh-CN" altLang="en-US" sz="2800" b="1" u="sng" dirty="0">
                <a:solidFill>
                  <a:srgbClr val="C00000"/>
                </a:solidFill>
                <a:latin typeface="Tahoma" pitchFamily="34" charset="0"/>
                <a:ea typeface="宋体" pitchFamily="2" charset="-122"/>
              </a:rPr>
              <a:t>（当</a:t>
            </a:r>
            <a:r>
              <a:rPr lang="en-US" altLang="zh-CN" sz="2800" b="1" i="1" u="sng" dirty="0">
                <a:solidFill>
                  <a:srgbClr val="C00000"/>
                </a:solidFill>
                <a:latin typeface="Tahoma" pitchFamily="34" charset="0"/>
                <a:ea typeface="宋体" pitchFamily="2" charset="-122"/>
              </a:rPr>
              <a:t>a</a:t>
            </a:r>
            <a:r>
              <a:rPr lang="en-US" altLang="zh-CN" sz="2800" b="1" u="sng" dirty="0">
                <a:solidFill>
                  <a:srgbClr val="C00000"/>
                </a:solidFill>
                <a:latin typeface="Tahoma" pitchFamily="34" charset="0"/>
                <a:ea typeface="宋体" pitchFamily="2" charset="-122"/>
              </a:rPr>
              <a:t> =</a:t>
            </a:r>
            <a:r>
              <a:rPr lang="zh-CN" altLang="en-US" sz="3200" b="1" u="sng" dirty="0">
                <a:solidFill>
                  <a:srgbClr val="C00000"/>
                </a:solidFill>
                <a:latin typeface="Tahoma" pitchFamily="34" charset="0"/>
                <a:ea typeface="宋体" pitchFamily="2" charset="-122"/>
              </a:rPr>
              <a:t>均值</a:t>
            </a:r>
            <a:r>
              <a:rPr lang="zh-CN" altLang="en-US" sz="2800" b="1" u="sng" dirty="0">
                <a:solidFill>
                  <a:srgbClr val="C00000"/>
                </a:solidFill>
                <a:latin typeface="Tahoma" pitchFamily="34" charset="0"/>
                <a:ea typeface="宋体" pitchFamily="2" charset="-122"/>
              </a:rPr>
              <a:t> 时）</a:t>
            </a:r>
            <a:r>
              <a:rPr lang="zh-CN" altLang="en-US" sz="2800" b="1" dirty="0">
                <a:solidFill>
                  <a:srgbClr val="C56B9E"/>
                </a:solidFill>
                <a:latin typeface="Tahoma" pitchFamily="34" charset="0"/>
                <a:ea typeface="宋体" pitchFamily="2" charset="-122"/>
              </a:rPr>
              <a:t>是</a:t>
            </a:r>
            <a:r>
              <a:rPr lang="zh-CN" altLang="en-US" sz="3200" b="1" dirty="0">
                <a:solidFill>
                  <a:srgbClr val="C56B9E"/>
                </a:solidFill>
                <a:latin typeface="Tahoma" pitchFamily="34" charset="0"/>
                <a:ea typeface="宋体" pitchFamily="2" charset="-122"/>
              </a:rPr>
              <a:t>以均值为中心计算的离差 </a:t>
            </a:r>
            <a:r>
              <a:rPr lang="en-US" altLang="zh-CN" sz="3200" b="1" i="1" dirty="0">
                <a:solidFill>
                  <a:srgbClr val="C56B9E"/>
                </a:solidFill>
                <a:latin typeface="Tahoma" pitchFamily="34" charset="0"/>
                <a:ea typeface="宋体" pitchFamily="2" charset="-122"/>
              </a:rPr>
              <a:t>K </a:t>
            </a:r>
            <a:r>
              <a:rPr lang="zh-CN" altLang="en-US" sz="3200" b="1" dirty="0">
                <a:solidFill>
                  <a:srgbClr val="C56B9E"/>
                </a:solidFill>
                <a:latin typeface="Tahoma" pitchFamily="34" charset="0"/>
                <a:ea typeface="宋体" pitchFamily="2" charset="-122"/>
              </a:rPr>
              <a:t>次方的平均数</a:t>
            </a:r>
            <a:endParaRPr lang="zh-CN" altLang="en-US" sz="3200" b="1" i="1" dirty="0">
              <a:solidFill>
                <a:srgbClr val="C56B9E"/>
              </a:solidFill>
              <a:latin typeface="Tahoma" pitchFamily="34" charset="0"/>
              <a:ea typeface="宋体" pitchFamily="2" charset="-122"/>
            </a:endParaRPr>
          </a:p>
          <a:p>
            <a:pPr marL="742950" lvl="1" indent="-285750">
              <a:lnSpc>
                <a:spcPct val="150000"/>
              </a:lnSpc>
              <a:spcBef>
                <a:spcPts val="0"/>
              </a:spcBef>
              <a:buSzPct val="80000"/>
              <a:buFontTx/>
              <a:buBlip>
                <a:blip r:embed="rId4"/>
              </a:buBlip>
            </a:pPr>
            <a:r>
              <a:rPr lang="en-US" altLang="zh-CN" b="1" i="1" dirty="0" smtClean="0">
                <a:solidFill>
                  <a:srgbClr val="000000"/>
                </a:solidFill>
                <a:latin typeface="Tahoma" pitchFamily="34" charset="0"/>
                <a:ea typeface="宋体" pitchFamily="2" charset="-122"/>
              </a:rPr>
              <a:t>k=1 </a:t>
            </a:r>
            <a:r>
              <a:rPr lang="zh-CN" altLang="en-US" b="1" dirty="0" smtClean="0">
                <a:solidFill>
                  <a:srgbClr val="000000"/>
                </a:solidFill>
                <a:latin typeface="Tahoma" pitchFamily="34" charset="0"/>
                <a:ea typeface="宋体" pitchFamily="2" charset="-122"/>
              </a:rPr>
              <a:t>时</a:t>
            </a:r>
            <a:r>
              <a:rPr lang="zh-CN" altLang="en-US" b="1" dirty="0">
                <a:solidFill>
                  <a:srgbClr val="000000"/>
                </a:solidFill>
                <a:latin typeface="Tahoma" pitchFamily="34" charset="0"/>
                <a:ea typeface="宋体" pitchFamily="2" charset="-122"/>
              </a:rPr>
              <a:t>，称为一阶中心矩，它恒等于</a:t>
            </a:r>
            <a:r>
              <a:rPr lang="en-US" altLang="zh-CN" b="1" dirty="0">
                <a:solidFill>
                  <a:srgbClr val="000000"/>
                </a:solidFill>
                <a:latin typeface="Tahoma" pitchFamily="34" charset="0"/>
                <a:ea typeface="宋体" pitchFamily="2" charset="-122"/>
              </a:rPr>
              <a:t>0</a:t>
            </a:r>
            <a:r>
              <a:rPr lang="zh-CN" altLang="en-US" b="1" dirty="0">
                <a:solidFill>
                  <a:srgbClr val="000000"/>
                </a:solidFill>
                <a:latin typeface="Tahoma" pitchFamily="34" charset="0"/>
                <a:ea typeface="宋体" pitchFamily="2" charset="-122"/>
              </a:rPr>
              <a:t>，即 </a:t>
            </a:r>
            <a:r>
              <a:rPr lang="en-US" altLang="zh-CN" b="1" i="1" dirty="0">
                <a:solidFill>
                  <a:srgbClr val="000000"/>
                </a:solidFill>
                <a:latin typeface="Tahoma" pitchFamily="34" charset="0"/>
                <a:ea typeface="宋体" pitchFamily="2" charset="-122"/>
              </a:rPr>
              <a:t>m</a:t>
            </a:r>
            <a:r>
              <a:rPr lang="en-US" altLang="zh-CN" b="1" i="1" baseline="-25000" dirty="0">
                <a:solidFill>
                  <a:srgbClr val="000000"/>
                </a:solidFill>
                <a:latin typeface="Tahoma" pitchFamily="34" charset="0"/>
                <a:ea typeface="宋体" pitchFamily="2" charset="-122"/>
              </a:rPr>
              <a:t>1</a:t>
            </a:r>
            <a:r>
              <a:rPr lang="en-US" altLang="zh-CN" b="1" i="1" dirty="0">
                <a:solidFill>
                  <a:srgbClr val="000000"/>
                </a:solidFill>
                <a:latin typeface="Tahoma" pitchFamily="34" charset="0"/>
                <a:ea typeface="宋体" pitchFamily="2" charset="-122"/>
              </a:rPr>
              <a:t>=0</a:t>
            </a:r>
            <a:r>
              <a:rPr lang="zh-CN" altLang="en-US" b="1" i="1" dirty="0">
                <a:solidFill>
                  <a:srgbClr val="000000"/>
                </a:solidFill>
                <a:latin typeface="Tahoma" pitchFamily="34" charset="0"/>
                <a:ea typeface="宋体" pitchFamily="2" charset="-122"/>
              </a:rPr>
              <a:t>；</a:t>
            </a:r>
          </a:p>
          <a:p>
            <a:pPr marL="742950" lvl="1" indent="-285750">
              <a:lnSpc>
                <a:spcPct val="150000"/>
              </a:lnSpc>
              <a:spcBef>
                <a:spcPts val="0"/>
              </a:spcBef>
              <a:buSzPct val="80000"/>
              <a:buFontTx/>
              <a:buBlip>
                <a:blip r:embed="rId4"/>
              </a:buBlip>
            </a:pPr>
            <a:r>
              <a:rPr lang="en-US" altLang="zh-CN" b="1" i="1" dirty="0" smtClean="0">
                <a:solidFill>
                  <a:srgbClr val="000000"/>
                </a:solidFill>
                <a:latin typeface="Tahoma" pitchFamily="34" charset="0"/>
                <a:ea typeface="宋体" pitchFamily="2" charset="-122"/>
              </a:rPr>
              <a:t>k=2 </a:t>
            </a:r>
            <a:r>
              <a:rPr lang="zh-CN" altLang="en-US" b="1" dirty="0" smtClean="0">
                <a:solidFill>
                  <a:srgbClr val="000000"/>
                </a:solidFill>
                <a:latin typeface="Tahoma" pitchFamily="34" charset="0"/>
                <a:ea typeface="宋体" pitchFamily="2" charset="-122"/>
              </a:rPr>
              <a:t>时</a:t>
            </a:r>
            <a:r>
              <a:rPr lang="zh-CN" altLang="en-US" b="1" dirty="0">
                <a:solidFill>
                  <a:srgbClr val="000000"/>
                </a:solidFill>
                <a:latin typeface="Tahoma" pitchFamily="34" charset="0"/>
                <a:ea typeface="宋体" pitchFamily="2" charset="-122"/>
              </a:rPr>
              <a:t>，称为二阶中心矩，也就是方差，即</a:t>
            </a:r>
            <a:r>
              <a:rPr lang="en-US" altLang="zh-CN" b="1" i="1" dirty="0">
                <a:solidFill>
                  <a:srgbClr val="000000"/>
                </a:solidFill>
                <a:latin typeface="Tahoma" pitchFamily="34" charset="0"/>
                <a:ea typeface="宋体" pitchFamily="2" charset="-122"/>
              </a:rPr>
              <a:t>m</a:t>
            </a:r>
            <a:r>
              <a:rPr lang="en-US" altLang="zh-CN" b="1" i="1" baseline="-25000" dirty="0">
                <a:solidFill>
                  <a:srgbClr val="000000"/>
                </a:solidFill>
                <a:latin typeface="Tahoma" pitchFamily="34" charset="0"/>
                <a:ea typeface="宋体" pitchFamily="2" charset="-122"/>
              </a:rPr>
              <a:t>2</a:t>
            </a:r>
            <a:r>
              <a:rPr lang="en-US" altLang="zh-CN" b="1" i="1" dirty="0">
                <a:solidFill>
                  <a:srgbClr val="000000"/>
                </a:solidFill>
                <a:latin typeface="Tahoma" pitchFamily="34" charset="0"/>
                <a:ea typeface="宋体" pitchFamily="2" charset="-122"/>
              </a:rPr>
              <a:t>=</a:t>
            </a:r>
            <a:r>
              <a:rPr lang="en-US" altLang="zh-CN" b="1" i="1" dirty="0">
                <a:solidFill>
                  <a:srgbClr val="000000"/>
                </a:solidFill>
                <a:ea typeface="宋体" pitchFamily="2" charset="-122"/>
                <a:cs typeface="Times New Roman" pitchFamily="18" charset="0"/>
              </a:rPr>
              <a:t>σ</a:t>
            </a:r>
            <a:r>
              <a:rPr lang="en-US" altLang="zh-CN" b="1" i="1" baseline="30000" dirty="0">
                <a:solidFill>
                  <a:srgbClr val="000000"/>
                </a:solidFill>
                <a:ea typeface="宋体" pitchFamily="2" charset="-122"/>
                <a:cs typeface="Times New Roman" pitchFamily="18" charset="0"/>
              </a:rPr>
              <a:t>2</a:t>
            </a:r>
            <a:r>
              <a:rPr lang="zh-CN" altLang="en-US" b="1" i="1" dirty="0">
                <a:solidFill>
                  <a:srgbClr val="000000"/>
                </a:solidFill>
                <a:latin typeface="Tahoma" pitchFamily="34" charset="0"/>
                <a:ea typeface="宋体" pitchFamily="2" charset="-122"/>
              </a:rPr>
              <a:t>。</a:t>
            </a:r>
            <a:r>
              <a:rPr lang="zh-CN" altLang="en-US" b="1" dirty="0">
                <a:solidFill>
                  <a:srgbClr val="000000"/>
                </a:solidFill>
                <a:latin typeface="Tahoma" pitchFamily="34" charset="0"/>
                <a:ea typeface="宋体" pitchFamily="2" charset="-122"/>
              </a:rPr>
              <a:t> </a:t>
            </a:r>
          </a:p>
        </p:txBody>
      </p:sp>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122</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2"/>
          <p:cNvSpPr>
            <a:spLocks noGrp="1" noChangeArrowheads="1"/>
          </p:cNvSpPr>
          <p:nvPr>
            <p:ph type="title"/>
          </p:nvPr>
        </p:nvSpPr>
        <p:spPr/>
        <p:txBody>
          <a:bodyPr/>
          <a:lstStyle/>
          <a:p>
            <a:pPr eaLnBrk="1" hangingPunct="1"/>
            <a:r>
              <a:rPr lang="en-US" altLang="zh-CN" dirty="0" smtClean="0"/>
              <a:t>3.4.2 </a:t>
            </a:r>
            <a:r>
              <a:rPr lang="zh-CN" altLang="en-US" dirty="0" smtClean="0"/>
              <a:t>偏态的测定</a:t>
            </a:r>
          </a:p>
        </p:txBody>
      </p:sp>
      <p:sp>
        <p:nvSpPr>
          <p:cNvPr id="142340" name="Rectangle 3"/>
          <p:cNvSpPr>
            <a:spLocks noGrp="1" noChangeArrowheads="1"/>
          </p:cNvSpPr>
          <p:nvPr>
            <p:ph type="body" idx="1"/>
          </p:nvPr>
        </p:nvSpPr>
        <p:spPr>
          <a:xfrm>
            <a:off x="762000" y="1628800"/>
            <a:ext cx="7772400" cy="2395538"/>
          </a:xfrm>
        </p:spPr>
        <p:txBody>
          <a:bodyPr/>
          <a:lstStyle/>
          <a:p>
            <a:pPr eaLnBrk="1" hangingPunct="1"/>
            <a:r>
              <a:rPr lang="zh-CN" altLang="en-US" dirty="0" smtClean="0">
                <a:solidFill>
                  <a:srgbClr val="FF3300"/>
                </a:solidFill>
              </a:rPr>
              <a:t>偏度</a:t>
            </a:r>
            <a:r>
              <a:rPr lang="en-US" altLang="zh-CN" dirty="0" smtClean="0">
                <a:latin typeface="Times New Roman" pitchFamily="18" charset="0"/>
              </a:rPr>
              <a:t>——</a:t>
            </a:r>
            <a:r>
              <a:rPr lang="zh-CN" altLang="en-US" dirty="0" smtClean="0"/>
              <a:t>指数据分布的不对称程度或偏斜程度。</a:t>
            </a:r>
          </a:p>
          <a:p>
            <a:pPr lvl="1" eaLnBrk="1" hangingPunct="1"/>
            <a:r>
              <a:rPr lang="zh-CN" altLang="en-US" dirty="0" smtClean="0">
                <a:latin typeface="楷体_GB2312" pitchFamily="49" charset="-122"/>
              </a:rPr>
              <a:t>以 </a:t>
            </a:r>
            <a:r>
              <a:rPr lang="zh-CN" altLang="en-US" u="sng" dirty="0" smtClean="0">
                <a:solidFill>
                  <a:schemeClr val="tx2"/>
                </a:solidFill>
                <a:latin typeface="楷体_GB2312" pitchFamily="49" charset="-122"/>
              </a:rPr>
              <a:t>对称分布</a:t>
            </a:r>
            <a:r>
              <a:rPr lang="zh-CN" altLang="en-US" u="sng" dirty="0" smtClean="0">
                <a:solidFill>
                  <a:schemeClr val="folHlink"/>
                </a:solidFill>
                <a:latin typeface="楷体_GB2312" pitchFamily="49" charset="-122"/>
              </a:rPr>
              <a:t> </a:t>
            </a:r>
            <a:r>
              <a:rPr lang="zh-CN" altLang="en-US" dirty="0" smtClean="0">
                <a:latin typeface="楷体_GB2312" pitchFamily="49" charset="-122"/>
              </a:rPr>
              <a:t>为标准来区分</a:t>
            </a:r>
            <a:endParaRPr lang="zh-CN" altLang="en-US" dirty="0" smtClean="0"/>
          </a:p>
          <a:p>
            <a:pPr lvl="1" eaLnBrk="1" hangingPunct="1"/>
            <a:r>
              <a:rPr lang="zh-CN" altLang="en-US" dirty="0" smtClean="0"/>
              <a:t>偏态分布又分左偏（负偏）和右偏（正偏）</a:t>
            </a:r>
            <a:r>
              <a:rPr lang="en-US" altLang="zh-CN" dirty="0" smtClean="0"/>
              <a:t>.</a:t>
            </a:r>
          </a:p>
        </p:txBody>
      </p:sp>
      <p:grpSp>
        <p:nvGrpSpPr>
          <p:cNvPr id="142341" name="Group 4"/>
          <p:cNvGrpSpPr>
            <a:grpSpLocks/>
          </p:cNvGrpSpPr>
          <p:nvPr/>
        </p:nvGrpSpPr>
        <p:grpSpPr bwMode="auto">
          <a:xfrm>
            <a:off x="501651" y="3999318"/>
            <a:ext cx="3778251" cy="2286000"/>
            <a:chOff x="113" y="2318"/>
            <a:chExt cx="2380" cy="1440"/>
          </a:xfrm>
        </p:grpSpPr>
        <p:grpSp>
          <p:nvGrpSpPr>
            <p:cNvPr id="142350" name="Group 5"/>
            <p:cNvGrpSpPr>
              <a:grpSpLocks/>
            </p:cNvGrpSpPr>
            <p:nvPr/>
          </p:nvGrpSpPr>
          <p:grpSpPr bwMode="auto">
            <a:xfrm>
              <a:off x="425" y="2330"/>
              <a:ext cx="1875" cy="815"/>
              <a:chOff x="847" y="2352"/>
              <a:chExt cx="1725" cy="575"/>
            </a:xfrm>
          </p:grpSpPr>
          <p:sp>
            <p:nvSpPr>
              <p:cNvPr id="142356" name="Freeform 7"/>
              <p:cNvSpPr>
                <a:spLocks/>
              </p:cNvSpPr>
              <p:nvPr/>
            </p:nvSpPr>
            <p:spPr bwMode="auto">
              <a:xfrm>
                <a:off x="847" y="2352"/>
                <a:ext cx="863" cy="575"/>
              </a:xfrm>
              <a:custGeom>
                <a:avLst/>
                <a:gdLst>
                  <a:gd name="T0" fmla="*/ 0 w 863"/>
                  <a:gd name="T1" fmla="*/ 574 h 575"/>
                  <a:gd name="T2" fmla="*/ 90 w 863"/>
                  <a:gd name="T3" fmla="*/ 566 h 575"/>
                  <a:gd name="T4" fmla="*/ 136 w 863"/>
                  <a:gd name="T5" fmla="*/ 561 h 575"/>
                  <a:gd name="T6" fmla="*/ 180 w 863"/>
                  <a:gd name="T7" fmla="*/ 551 h 575"/>
                  <a:gd name="T8" fmla="*/ 226 w 863"/>
                  <a:gd name="T9" fmla="*/ 538 h 575"/>
                  <a:gd name="T10" fmla="*/ 272 w 863"/>
                  <a:gd name="T11" fmla="*/ 520 h 575"/>
                  <a:gd name="T12" fmla="*/ 316 w 863"/>
                  <a:gd name="T13" fmla="*/ 496 h 575"/>
                  <a:gd name="T14" fmla="*/ 408 w 863"/>
                  <a:gd name="T15" fmla="*/ 429 h 575"/>
                  <a:gd name="T16" fmla="*/ 498 w 863"/>
                  <a:gd name="T17" fmla="*/ 335 h 575"/>
                  <a:gd name="T18" fmla="*/ 590 w 863"/>
                  <a:gd name="T19" fmla="*/ 224 h 575"/>
                  <a:gd name="T20" fmla="*/ 634 w 863"/>
                  <a:gd name="T21" fmla="*/ 167 h 575"/>
                  <a:gd name="T22" fmla="*/ 680 w 863"/>
                  <a:gd name="T23" fmla="*/ 113 h 575"/>
                  <a:gd name="T24" fmla="*/ 726 w 863"/>
                  <a:gd name="T25" fmla="*/ 67 h 575"/>
                  <a:gd name="T26" fmla="*/ 770 w 863"/>
                  <a:gd name="T27" fmla="*/ 31 h 575"/>
                  <a:gd name="T28" fmla="*/ 816 w 863"/>
                  <a:gd name="T29" fmla="*/ 8 h 575"/>
                  <a:gd name="T30" fmla="*/ 862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1"/>
                    </a:lnTo>
                    <a:lnTo>
                      <a:pt x="180" y="551"/>
                    </a:lnTo>
                    <a:lnTo>
                      <a:pt x="226" y="538"/>
                    </a:lnTo>
                    <a:lnTo>
                      <a:pt x="272" y="520"/>
                    </a:lnTo>
                    <a:lnTo>
                      <a:pt x="316" y="496"/>
                    </a:lnTo>
                    <a:lnTo>
                      <a:pt x="408" y="429"/>
                    </a:lnTo>
                    <a:lnTo>
                      <a:pt x="498" y="335"/>
                    </a:lnTo>
                    <a:lnTo>
                      <a:pt x="590" y="224"/>
                    </a:lnTo>
                    <a:lnTo>
                      <a:pt x="634" y="167"/>
                    </a:lnTo>
                    <a:lnTo>
                      <a:pt x="680" y="113"/>
                    </a:lnTo>
                    <a:lnTo>
                      <a:pt x="726" y="67"/>
                    </a:lnTo>
                    <a:lnTo>
                      <a:pt x="770" y="31"/>
                    </a:lnTo>
                    <a:lnTo>
                      <a:pt x="816" y="8"/>
                    </a:lnTo>
                    <a:lnTo>
                      <a:pt x="862" y="0"/>
                    </a:lnTo>
                  </a:path>
                </a:pathLst>
              </a:custGeom>
              <a:noFill/>
              <a:ln w="38100" cap="rnd">
                <a:solidFill>
                  <a:schemeClr val="tx2"/>
                </a:solidFill>
                <a:round/>
                <a:headEnd/>
                <a:tailEnd/>
              </a:ln>
            </p:spPr>
            <p:txBody>
              <a:bodyPr/>
              <a:lstStyle/>
              <a:p>
                <a:endParaRPr lang="zh-CN" altLang="en-US" b="1"/>
              </a:p>
            </p:txBody>
          </p:sp>
          <p:sp>
            <p:nvSpPr>
              <p:cNvPr id="142355" name="Freeform 6"/>
              <p:cNvSpPr>
                <a:spLocks/>
              </p:cNvSpPr>
              <p:nvPr/>
            </p:nvSpPr>
            <p:spPr bwMode="auto">
              <a:xfrm>
                <a:off x="1709" y="2352"/>
                <a:ext cx="863" cy="575"/>
              </a:xfrm>
              <a:custGeom>
                <a:avLst/>
                <a:gdLst>
                  <a:gd name="T0" fmla="*/ 862 w 863"/>
                  <a:gd name="T1" fmla="*/ 574 h 575"/>
                  <a:gd name="T2" fmla="*/ 770 w 863"/>
                  <a:gd name="T3" fmla="*/ 566 h 575"/>
                  <a:gd name="T4" fmla="*/ 726 w 863"/>
                  <a:gd name="T5" fmla="*/ 561 h 575"/>
                  <a:gd name="T6" fmla="*/ 680 w 863"/>
                  <a:gd name="T7" fmla="*/ 551 h 575"/>
                  <a:gd name="T8" fmla="*/ 634 w 863"/>
                  <a:gd name="T9" fmla="*/ 538 h 575"/>
                  <a:gd name="T10" fmla="*/ 590 w 863"/>
                  <a:gd name="T11" fmla="*/ 520 h 575"/>
                  <a:gd name="T12" fmla="*/ 544 w 863"/>
                  <a:gd name="T13" fmla="*/ 496 h 575"/>
                  <a:gd name="T14" fmla="*/ 452 w 863"/>
                  <a:gd name="T15" fmla="*/ 429 h 575"/>
                  <a:gd name="T16" fmla="*/ 362 w 863"/>
                  <a:gd name="T17" fmla="*/ 335 h 575"/>
                  <a:gd name="T18" fmla="*/ 272 w 863"/>
                  <a:gd name="T19" fmla="*/ 224 h 575"/>
                  <a:gd name="T20" fmla="*/ 226 w 863"/>
                  <a:gd name="T21" fmla="*/ 167 h 575"/>
                  <a:gd name="T22" fmla="*/ 180 w 863"/>
                  <a:gd name="T23" fmla="*/ 113 h 575"/>
                  <a:gd name="T24" fmla="*/ 136 w 863"/>
                  <a:gd name="T25" fmla="*/ 67 h 575"/>
                  <a:gd name="T26" fmla="*/ 90 w 863"/>
                  <a:gd name="T27" fmla="*/ 31 h 575"/>
                  <a:gd name="T28" fmla="*/ 44 w 863"/>
                  <a:gd name="T29" fmla="*/ 8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1"/>
                    </a:lnTo>
                    <a:lnTo>
                      <a:pt x="680" y="551"/>
                    </a:lnTo>
                    <a:lnTo>
                      <a:pt x="634" y="538"/>
                    </a:lnTo>
                    <a:lnTo>
                      <a:pt x="590" y="520"/>
                    </a:lnTo>
                    <a:lnTo>
                      <a:pt x="544" y="496"/>
                    </a:lnTo>
                    <a:lnTo>
                      <a:pt x="452" y="429"/>
                    </a:lnTo>
                    <a:lnTo>
                      <a:pt x="362" y="335"/>
                    </a:lnTo>
                    <a:lnTo>
                      <a:pt x="272" y="224"/>
                    </a:lnTo>
                    <a:lnTo>
                      <a:pt x="226" y="167"/>
                    </a:lnTo>
                    <a:lnTo>
                      <a:pt x="180" y="113"/>
                    </a:lnTo>
                    <a:lnTo>
                      <a:pt x="136" y="67"/>
                    </a:lnTo>
                    <a:lnTo>
                      <a:pt x="90" y="31"/>
                    </a:lnTo>
                    <a:lnTo>
                      <a:pt x="44" y="8"/>
                    </a:lnTo>
                    <a:lnTo>
                      <a:pt x="0" y="0"/>
                    </a:lnTo>
                  </a:path>
                </a:pathLst>
              </a:custGeom>
              <a:noFill/>
              <a:ln w="38100" cap="rnd">
                <a:solidFill>
                  <a:schemeClr val="tx2"/>
                </a:solidFill>
                <a:round/>
                <a:headEnd/>
                <a:tailEnd/>
              </a:ln>
            </p:spPr>
            <p:txBody>
              <a:bodyPr/>
              <a:lstStyle/>
              <a:p>
                <a:endParaRPr lang="zh-CN" altLang="en-US" b="1">
                  <a:solidFill>
                    <a:srgbClr val="C00000"/>
                  </a:solidFill>
                </a:endParaRPr>
              </a:p>
            </p:txBody>
          </p:sp>
        </p:grpSp>
        <p:sp>
          <p:nvSpPr>
            <p:cNvPr id="142351" name="Freeform 8"/>
            <p:cNvSpPr>
              <a:spLocks/>
            </p:cNvSpPr>
            <p:nvPr/>
          </p:nvSpPr>
          <p:spPr bwMode="auto">
            <a:xfrm>
              <a:off x="1407" y="2368"/>
              <a:ext cx="593" cy="815"/>
            </a:xfrm>
            <a:custGeom>
              <a:avLst/>
              <a:gdLst>
                <a:gd name="T0" fmla="*/ 139396 w 432"/>
                <a:gd name="T1" fmla="*/ 107577 h 575"/>
                <a:gd name="T2" fmla="*/ 124472 w 432"/>
                <a:gd name="T3" fmla="*/ 106002 h 575"/>
                <a:gd name="T4" fmla="*/ 116922 w 432"/>
                <a:gd name="T5" fmla="*/ 105015 h 575"/>
                <a:gd name="T6" fmla="*/ 109490 w 432"/>
                <a:gd name="T7" fmla="*/ 103163 h 575"/>
                <a:gd name="T8" fmla="*/ 102541 w 432"/>
                <a:gd name="T9" fmla="*/ 100691 h 575"/>
                <a:gd name="T10" fmla="*/ 95450 w 432"/>
                <a:gd name="T11" fmla="*/ 97366 h 575"/>
                <a:gd name="T12" fmla="*/ 87895 w 432"/>
                <a:gd name="T13" fmla="*/ 92818 h 575"/>
                <a:gd name="T14" fmla="*/ 72941 w 432"/>
                <a:gd name="T15" fmla="*/ 80353 h 575"/>
                <a:gd name="T16" fmla="*/ 58298 w 432"/>
                <a:gd name="T17" fmla="*/ 62720 h 575"/>
                <a:gd name="T18" fmla="*/ 43912 w 432"/>
                <a:gd name="T19" fmla="*/ 41792 h 575"/>
                <a:gd name="T20" fmla="*/ 36539 w 432"/>
                <a:gd name="T21" fmla="*/ 31309 h 575"/>
                <a:gd name="T22" fmla="*/ 28990 w 432"/>
                <a:gd name="T23" fmla="*/ 21149 h 575"/>
                <a:gd name="T24" fmla="*/ 21615 w 432"/>
                <a:gd name="T25" fmla="*/ 12564 h 575"/>
                <a:gd name="T26" fmla="*/ 14323 w 432"/>
                <a:gd name="T27" fmla="*/ 5808 h 575"/>
                <a:gd name="T28" fmla="*/ 7413 w 432"/>
                <a:gd name="T29" fmla="*/ 1549 h 575"/>
                <a:gd name="T30" fmla="*/ 0 w 432"/>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2"/>
                <a:gd name="T49" fmla="*/ 0 h 575"/>
                <a:gd name="T50" fmla="*/ 432 w 432"/>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2" h="575">
                  <a:moveTo>
                    <a:pt x="431" y="574"/>
                  </a:moveTo>
                  <a:lnTo>
                    <a:pt x="385" y="566"/>
                  </a:lnTo>
                  <a:lnTo>
                    <a:pt x="362" y="561"/>
                  </a:lnTo>
                  <a:lnTo>
                    <a:pt x="339" y="551"/>
                  </a:lnTo>
                  <a:lnTo>
                    <a:pt x="318" y="538"/>
                  </a:lnTo>
                  <a:lnTo>
                    <a:pt x="295" y="520"/>
                  </a:lnTo>
                  <a:lnTo>
                    <a:pt x="272" y="496"/>
                  </a:lnTo>
                  <a:lnTo>
                    <a:pt x="226" y="429"/>
                  </a:lnTo>
                  <a:lnTo>
                    <a:pt x="180" y="335"/>
                  </a:lnTo>
                  <a:lnTo>
                    <a:pt x="136" y="224"/>
                  </a:lnTo>
                  <a:lnTo>
                    <a:pt x="113" y="167"/>
                  </a:lnTo>
                  <a:lnTo>
                    <a:pt x="90" y="113"/>
                  </a:lnTo>
                  <a:lnTo>
                    <a:pt x="67" y="67"/>
                  </a:lnTo>
                  <a:lnTo>
                    <a:pt x="44" y="31"/>
                  </a:lnTo>
                  <a:lnTo>
                    <a:pt x="23" y="8"/>
                  </a:lnTo>
                  <a:lnTo>
                    <a:pt x="0" y="0"/>
                  </a:lnTo>
                </a:path>
              </a:pathLst>
            </a:custGeom>
            <a:noFill/>
            <a:ln w="57150" cap="rnd">
              <a:solidFill>
                <a:srgbClr val="1313FF"/>
              </a:solidFill>
              <a:round/>
              <a:headEnd/>
              <a:tailEnd/>
            </a:ln>
          </p:spPr>
          <p:txBody>
            <a:bodyPr/>
            <a:lstStyle/>
            <a:p>
              <a:endParaRPr lang="zh-CN" altLang="en-US"/>
            </a:p>
          </p:txBody>
        </p:sp>
        <p:sp>
          <p:nvSpPr>
            <p:cNvPr id="142352" name="Freeform 9"/>
            <p:cNvSpPr>
              <a:spLocks/>
            </p:cNvSpPr>
            <p:nvPr/>
          </p:nvSpPr>
          <p:spPr bwMode="auto">
            <a:xfrm rot="243448">
              <a:off x="180" y="2318"/>
              <a:ext cx="1180" cy="841"/>
            </a:xfrm>
            <a:custGeom>
              <a:avLst/>
              <a:gdLst>
                <a:gd name="T0" fmla="*/ 0 w 1294"/>
                <a:gd name="T1" fmla="*/ 1396698 h 575"/>
                <a:gd name="T2" fmla="*/ 93 w 1294"/>
                <a:gd name="T3" fmla="*/ 1377655 h 575"/>
                <a:gd name="T4" fmla="*/ 137 w 1294"/>
                <a:gd name="T5" fmla="*/ 1364980 h 575"/>
                <a:gd name="T6" fmla="*/ 185 w 1294"/>
                <a:gd name="T7" fmla="*/ 1342043 h 575"/>
                <a:gd name="T8" fmla="*/ 230 w 1294"/>
                <a:gd name="T9" fmla="*/ 1310191 h 575"/>
                <a:gd name="T10" fmla="*/ 278 w 1294"/>
                <a:gd name="T11" fmla="*/ 1267278 h 575"/>
                <a:gd name="T12" fmla="*/ 322 w 1294"/>
                <a:gd name="T13" fmla="*/ 1207172 h 575"/>
                <a:gd name="T14" fmla="*/ 417 w 1294"/>
                <a:gd name="T15" fmla="*/ 1044209 h 575"/>
                <a:gd name="T16" fmla="*/ 507 w 1294"/>
                <a:gd name="T17" fmla="*/ 815213 h 575"/>
                <a:gd name="T18" fmla="*/ 601 w 1294"/>
                <a:gd name="T19" fmla="*/ 545533 h 575"/>
                <a:gd name="T20" fmla="*/ 647 w 1294"/>
                <a:gd name="T21" fmla="*/ 406875 h 575"/>
                <a:gd name="T22" fmla="*/ 693 w 1294"/>
                <a:gd name="T23" fmla="*/ 275460 h 575"/>
                <a:gd name="T24" fmla="*/ 739 w 1294"/>
                <a:gd name="T25" fmla="*/ 163795 h 575"/>
                <a:gd name="T26" fmla="*/ 784 w 1294"/>
                <a:gd name="T27" fmla="*/ 74883 h 575"/>
                <a:gd name="T28" fmla="*/ 831 w 1294"/>
                <a:gd name="T29" fmla="*/ 18809 h 575"/>
                <a:gd name="T30" fmla="*/ 877 w 1294"/>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94"/>
                <a:gd name="T49" fmla="*/ 0 h 575"/>
                <a:gd name="T50" fmla="*/ 1294 w 1294"/>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94" h="575">
                  <a:moveTo>
                    <a:pt x="0" y="574"/>
                  </a:moveTo>
                  <a:lnTo>
                    <a:pt x="136" y="566"/>
                  </a:lnTo>
                  <a:lnTo>
                    <a:pt x="203" y="561"/>
                  </a:lnTo>
                  <a:lnTo>
                    <a:pt x="272" y="551"/>
                  </a:lnTo>
                  <a:lnTo>
                    <a:pt x="339" y="538"/>
                  </a:lnTo>
                  <a:lnTo>
                    <a:pt x="408" y="520"/>
                  </a:lnTo>
                  <a:lnTo>
                    <a:pt x="475" y="496"/>
                  </a:lnTo>
                  <a:lnTo>
                    <a:pt x="613" y="429"/>
                  </a:lnTo>
                  <a:lnTo>
                    <a:pt x="747" y="335"/>
                  </a:lnTo>
                  <a:lnTo>
                    <a:pt x="885" y="224"/>
                  </a:lnTo>
                  <a:lnTo>
                    <a:pt x="952" y="167"/>
                  </a:lnTo>
                  <a:lnTo>
                    <a:pt x="1021" y="113"/>
                  </a:lnTo>
                  <a:lnTo>
                    <a:pt x="1088" y="67"/>
                  </a:lnTo>
                  <a:lnTo>
                    <a:pt x="1157" y="31"/>
                  </a:lnTo>
                  <a:lnTo>
                    <a:pt x="1224" y="8"/>
                  </a:lnTo>
                  <a:lnTo>
                    <a:pt x="1293" y="0"/>
                  </a:lnTo>
                </a:path>
              </a:pathLst>
            </a:custGeom>
            <a:noFill/>
            <a:ln w="57150" cap="rnd">
              <a:solidFill>
                <a:srgbClr val="1313FF"/>
              </a:solidFill>
              <a:round/>
              <a:headEnd/>
              <a:tailEnd/>
            </a:ln>
          </p:spPr>
          <p:txBody>
            <a:bodyPr/>
            <a:lstStyle/>
            <a:p>
              <a:endParaRPr lang="zh-CN" altLang="en-US"/>
            </a:p>
          </p:txBody>
        </p:sp>
        <p:sp>
          <p:nvSpPr>
            <p:cNvPr id="493578" name="Line 10"/>
            <p:cNvSpPr>
              <a:spLocks noChangeShapeType="1"/>
            </p:cNvSpPr>
            <p:nvPr/>
          </p:nvSpPr>
          <p:spPr bwMode="auto">
            <a:xfrm>
              <a:off x="113" y="3194"/>
              <a:ext cx="2380"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493579" name="Rectangle 11"/>
            <p:cNvSpPr>
              <a:spLocks noChangeArrowheads="1"/>
            </p:cNvSpPr>
            <p:nvPr/>
          </p:nvSpPr>
          <p:spPr bwMode="auto">
            <a:xfrm>
              <a:off x="963" y="3242"/>
              <a:ext cx="912" cy="516"/>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zh-CN" altLang="en-US" b="1">
                  <a:solidFill>
                    <a:srgbClr val="1313FF"/>
                  </a:solidFill>
                  <a:effectLst>
                    <a:outerShdw blurRad="38100" dist="38100" dir="2700000" algn="tl">
                      <a:srgbClr val="C0C0C0"/>
                    </a:outerShdw>
                  </a:effectLst>
                  <a:latin typeface="Arial" charset="0"/>
                  <a:ea typeface="宋体" pitchFamily="2" charset="-122"/>
                </a:rPr>
                <a:t>左偏分布（负偏）</a:t>
              </a:r>
            </a:p>
          </p:txBody>
        </p:sp>
      </p:grpSp>
      <p:grpSp>
        <p:nvGrpSpPr>
          <p:cNvPr id="142342" name="Group 12"/>
          <p:cNvGrpSpPr>
            <a:grpSpLocks/>
          </p:cNvGrpSpPr>
          <p:nvPr/>
        </p:nvGrpSpPr>
        <p:grpSpPr bwMode="auto">
          <a:xfrm>
            <a:off x="4938711" y="3916922"/>
            <a:ext cx="3995736" cy="2338388"/>
            <a:chOff x="3351" y="2296"/>
            <a:chExt cx="2517" cy="1473"/>
          </a:xfrm>
        </p:grpSpPr>
        <p:grpSp>
          <p:nvGrpSpPr>
            <p:cNvPr id="142343" name="Group 13"/>
            <p:cNvGrpSpPr>
              <a:grpSpLocks/>
            </p:cNvGrpSpPr>
            <p:nvPr/>
          </p:nvGrpSpPr>
          <p:grpSpPr bwMode="auto">
            <a:xfrm>
              <a:off x="3425" y="2296"/>
              <a:ext cx="1918" cy="863"/>
              <a:chOff x="847" y="2352"/>
              <a:chExt cx="1725" cy="575"/>
            </a:xfrm>
          </p:grpSpPr>
          <p:sp>
            <p:nvSpPr>
              <p:cNvPr id="142348" name="Freeform 14"/>
              <p:cNvSpPr>
                <a:spLocks/>
              </p:cNvSpPr>
              <p:nvPr/>
            </p:nvSpPr>
            <p:spPr bwMode="auto">
              <a:xfrm>
                <a:off x="1709" y="2352"/>
                <a:ext cx="863" cy="575"/>
              </a:xfrm>
              <a:custGeom>
                <a:avLst/>
                <a:gdLst>
                  <a:gd name="T0" fmla="*/ 862 w 863"/>
                  <a:gd name="T1" fmla="*/ 574 h 575"/>
                  <a:gd name="T2" fmla="*/ 770 w 863"/>
                  <a:gd name="T3" fmla="*/ 566 h 575"/>
                  <a:gd name="T4" fmla="*/ 726 w 863"/>
                  <a:gd name="T5" fmla="*/ 561 h 575"/>
                  <a:gd name="T6" fmla="*/ 680 w 863"/>
                  <a:gd name="T7" fmla="*/ 551 h 575"/>
                  <a:gd name="T8" fmla="*/ 634 w 863"/>
                  <a:gd name="T9" fmla="*/ 538 h 575"/>
                  <a:gd name="T10" fmla="*/ 590 w 863"/>
                  <a:gd name="T11" fmla="*/ 520 h 575"/>
                  <a:gd name="T12" fmla="*/ 544 w 863"/>
                  <a:gd name="T13" fmla="*/ 496 h 575"/>
                  <a:gd name="T14" fmla="*/ 452 w 863"/>
                  <a:gd name="T15" fmla="*/ 429 h 575"/>
                  <a:gd name="T16" fmla="*/ 362 w 863"/>
                  <a:gd name="T17" fmla="*/ 335 h 575"/>
                  <a:gd name="T18" fmla="*/ 272 w 863"/>
                  <a:gd name="T19" fmla="*/ 224 h 575"/>
                  <a:gd name="T20" fmla="*/ 226 w 863"/>
                  <a:gd name="T21" fmla="*/ 167 h 575"/>
                  <a:gd name="T22" fmla="*/ 180 w 863"/>
                  <a:gd name="T23" fmla="*/ 113 h 575"/>
                  <a:gd name="T24" fmla="*/ 136 w 863"/>
                  <a:gd name="T25" fmla="*/ 67 h 575"/>
                  <a:gd name="T26" fmla="*/ 90 w 863"/>
                  <a:gd name="T27" fmla="*/ 31 h 575"/>
                  <a:gd name="T28" fmla="*/ 44 w 863"/>
                  <a:gd name="T29" fmla="*/ 8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1"/>
                    </a:lnTo>
                    <a:lnTo>
                      <a:pt x="680" y="551"/>
                    </a:lnTo>
                    <a:lnTo>
                      <a:pt x="634" y="538"/>
                    </a:lnTo>
                    <a:lnTo>
                      <a:pt x="590" y="520"/>
                    </a:lnTo>
                    <a:lnTo>
                      <a:pt x="544" y="496"/>
                    </a:lnTo>
                    <a:lnTo>
                      <a:pt x="452" y="429"/>
                    </a:lnTo>
                    <a:lnTo>
                      <a:pt x="362" y="335"/>
                    </a:lnTo>
                    <a:lnTo>
                      <a:pt x="272" y="224"/>
                    </a:lnTo>
                    <a:lnTo>
                      <a:pt x="226" y="167"/>
                    </a:lnTo>
                    <a:lnTo>
                      <a:pt x="180" y="113"/>
                    </a:lnTo>
                    <a:lnTo>
                      <a:pt x="136" y="67"/>
                    </a:lnTo>
                    <a:lnTo>
                      <a:pt x="90" y="31"/>
                    </a:lnTo>
                    <a:lnTo>
                      <a:pt x="44" y="8"/>
                    </a:lnTo>
                    <a:lnTo>
                      <a:pt x="0" y="0"/>
                    </a:lnTo>
                  </a:path>
                </a:pathLst>
              </a:custGeom>
              <a:noFill/>
              <a:ln w="38100" cap="rnd">
                <a:solidFill>
                  <a:schemeClr val="tx2"/>
                </a:solidFill>
                <a:round/>
                <a:headEnd/>
                <a:tailEnd/>
              </a:ln>
            </p:spPr>
            <p:txBody>
              <a:bodyPr/>
              <a:lstStyle/>
              <a:p>
                <a:endParaRPr lang="zh-CN" altLang="en-US"/>
              </a:p>
            </p:txBody>
          </p:sp>
          <p:sp>
            <p:nvSpPr>
              <p:cNvPr id="142349" name="Freeform 15"/>
              <p:cNvSpPr>
                <a:spLocks/>
              </p:cNvSpPr>
              <p:nvPr/>
            </p:nvSpPr>
            <p:spPr bwMode="auto">
              <a:xfrm>
                <a:off x="847" y="2352"/>
                <a:ext cx="863" cy="575"/>
              </a:xfrm>
              <a:custGeom>
                <a:avLst/>
                <a:gdLst>
                  <a:gd name="T0" fmla="*/ 0 w 863"/>
                  <a:gd name="T1" fmla="*/ 574 h 575"/>
                  <a:gd name="T2" fmla="*/ 90 w 863"/>
                  <a:gd name="T3" fmla="*/ 566 h 575"/>
                  <a:gd name="T4" fmla="*/ 136 w 863"/>
                  <a:gd name="T5" fmla="*/ 561 h 575"/>
                  <a:gd name="T6" fmla="*/ 180 w 863"/>
                  <a:gd name="T7" fmla="*/ 551 h 575"/>
                  <a:gd name="T8" fmla="*/ 226 w 863"/>
                  <a:gd name="T9" fmla="*/ 538 h 575"/>
                  <a:gd name="T10" fmla="*/ 272 w 863"/>
                  <a:gd name="T11" fmla="*/ 520 h 575"/>
                  <a:gd name="T12" fmla="*/ 316 w 863"/>
                  <a:gd name="T13" fmla="*/ 496 h 575"/>
                  <a:gd name="T14" fmla="*/ 408 w 863"/>
                  <a:gd name="T15" fmla="*/ 429 h 575"/>
                  <a:gd name="T16" fmla="*/ 498 w 863"/>
                  <a:gd name="T17" fmla="*/ 335 h 575"/>
                  <a:gd name="T18" fmla="*/ 590 w 863"/>
                  <a:gd name="T19" fmla="*/ 224 h 575"/>
                  <a:gd name="T20" fmla="*/ 634 w 863"/>
                  <a:gd name="T21" fmla="*/ 167 h 575"/>
                  <a:gd name="T22" fmla="*/ 680 w 863"/>
                  <a:gd name="T23" fmla="*/ 113 h 575"/>
                  <a:gd name="T24" fmla="*/ 726 w 863"/>
                  <a:gd name="T25" fmla="*/ 67 h 575"/>
                  <a:gd name="T26" fmla="*/ 770 w 863"/>
                  <a:gd name="T27" fmla="*/ 31 h 575"/>
                  <a:gd name="T28" fmla="*/ 816 w 863"/>
                  <a:gd name="T29" fmla="*/ 8 h 575"/>
                  <a:gd name="T30" fmla="*/ 862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1"/>
                    </a:lnTo>
                    <a:lnTo>
                      <a:pt x="180" y="551"/>
                    </a:lnTo>
                    <a:lnTo>
                      <a:pt x="226" y="538"/>
                    </a:lnTo>
                    <a:lnTo>
                      <a:pt x="272" y="520"/>
                    </a:lnTo>
                    <a:lnTo>
                      <a:pt x="316" y="496"/>
                    </a:lnTo>
                    <a:lnTo>
                      <a:pt x="408" y="429"/>
                    </a:lnTo>
                    <a:lnTo>
                      <a:pt x="498" y="335"/>
                    </a:lnTo>
                    <a:lnTo>
                      <a:pt x="590" y="224"/>
                    </a:lnTo>
                    <a:lnTo>
                      <a:pt x="634" y="167"/>
                    </a:lnTo>
                    <a:lnTo>
                      <a:pt x="680" y="113"/>
                    </a:lnTo>
                    <a:lnTo>
                      <a:pt x="726" y="67"/>
                    </a:lnTo>
                    <a:lnTo>
                      <a:pt x="770" y="31"/>
                    </a:lnTo>
                    <a:lnTo>
                      <a:pt x="816" y="8"/>
                    </a:lnTo>
                    <a:lnTo>
                      <a:pt x="862" y="0"/>
                    </a:lnTo>
                  </a:path>
                </a:pathLst>
              </a:custGeom>
              <a:noFill/>
              <a:ln w="38100" cap="rnd">
                <a:solidFill>
                  <a:schemeClr val="tx2"/>
                </a:solidFill>
                <a:round/>
                <a:headEnd/>
                <a:tailEnd/>
              </a:ln>
            </p:spPr>
            <p:txBody>
              <a:bodyPr/>
              <a:lstStyle/>
              <a:p>
                <a:endParaRPr lang="zh-CN" altLang="en-US"/>
              </a:p>
            </p:txBody>
          </p:sp>
        </p:grpSp>
        <p:sp>
          <p:nvSpPr>
            <p:cNvPr id="493584" name="Line 16"/>
            <p:cNvSpPr>
              <a:spLocks noChangeShapeType="1"/>
            </p:cNvSpPr>
            <p:nvPr/>
          </p:nvSpPr>
          <p:spPr bwMode="auto">
            <a:xfrm>
              <a:off x="3351" y="3205"/>
              <a:ext cx="2251"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493585" name="Rectangle 17"/>
            <p:cNvSpPr>
              <a:spLocks noChangeArrowheads="1"/>
            </p:cNvSpPr>
            <p:nvPr/>
          </p:nvSpPr>
          <p:spPr bwMode="auto">
            <a:xfrm>
              <a:off x="3912" y="3253"/>
              <a:ext cx="912" cy="516"/>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zh-CN" altLang="en-US" b="1">
                  <a:solidFill>
                    <a:srgbClr val="1313FF"/>
                  </a:solidFill>
                  <a:effectLst>
                    <a:outerShdw blurRad="38100" dist="38100" dir="2700000" algn="tl">
                      <a:srgbClr val="C0C0C0"/>
                    </a:outerShdw>
                  </a:effectLst>
                  <a:latin typeface="Arial" charset="0"/>
                  <a:ea typeface="宋体" pitchFamily="2" charset="-122"/>
                </a:rPr>
                <a:t>右偏分布（正偏）</a:t>
              </a:r>
            </a:p>
          </p:txBody>
        </p:sp>
        <p:sp>
          <p:nvSpPr>
            <p:cNvPr id="142346" name="Freeform 18"/>
            <p:cNvSpPr>
              <a:spLocks/>
            </p:cNvSpPr>
            <p:nvPr/>
          </p:nvSpPr>
          <p:spPr bwMode="auto">
            <a:xfrm>
              <a:off x="4321" y="2306"/>
              <a:ext cx="1547" cy="819"/>
            </a:xfrm>
            <a:custGeom>
              <a:avLst/>
              <a:gdLst>
                <a:gd name="T0" fmla="*/ 1550860 w 853"/>
                <a:gd name="T1" fmla="*/ 29802 h 675"/>
                <a:gd name="T2" fmla="*/ 1384717 w 853"/>
                <a:gd name="T3" fmla="*/ 29513 h 675"/>
                <a:gd name="T4" fmla="*/ 1306661 w 853"/>
                <a:gd name="T5" fmla="*/ 29146 h 675"/>
                <a:gd name="T6" fmla="*/ 1223033 w 853"/>
                <a:gd name="T7" fmla="*/ 28672 h 675"/>
                <a:gd name="T8" fmla="*/ 1141590 w 853"/>
                <a:gd name="T9" fmla="*/ 27988 h 675"/>
                <a:gd name="T10" fmla="*/ 1061840 w 853"/>
                <a:gd name="T11" fmla="*/ 27047 h 675"/>
                <a:gd name="T12" fmla="*/ 978786 w 853"/>
                <a:gd name="T13" fmla="*/ 25816 h 675"/>
                <a:gd name="T14" fmla="*/ 813754 w 853"/>
                <a:gd name="T15" fmla="*/ 22369 h 675"/>
                <a:gd name="T16" fmla="*/ 652126 w 853"/>
                <a:gd name="T17" fmla="*/ 17537 h 675"/>
                <a:gd name="T18" fmla="*/ 489616 w 853"/>
                <a:gd name="T19" fmla="*/ 11628 h 675"/>
                <a:gd name="T20" fmla="*/ 407763 w 853"/>
                <a:gd name="T21" fmla="*/ 8732 h 675"/>
                <a:gd name="T22" fmla="*/ 324565 w 853"/>
                <a:gd name="T23" fmla="*/ 5872 h 675"/>
                <a:gd name="T24" fmla="*/ 246134 w 853"/>
                <a:gd name="T25" fmla="*/ 3448 h 675"/>
                <a:gd name="T26" fmla="*/ 161836 w 853"/>
                <a:gd name="T27" fmla="*/ 1574 h 675"/>
                <a:gd name="T28" fmla="*/ 80319 w 853"/>
                <a:gd name="T29" fmla="*/ 445 h 675"/>
                <a:gd name="T30" fmla="*/ 0 w 853"/>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53"/>
                <a:gd name="T49" fmla="*/ 0 h 675"/>
                <a:gd name="T50" fmla="*/ 853 w 853"/>
                <a:gd name="T51" fmla="*/ 675 h 6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53" h="675">
                  <a:moveTo>
                    <a:pt x="852" y="674"/>
                  </a:moveTo>
                  <a:lnTo>
                    <a:pt x="761" y="667"/>
                  </a:lnTo>
                  <a:lnTo>
                    <a:pt x="718" y="659"/>
                  </a:lnTo>
                  <a:lnTo>
                    <a:pt x="672" y="648"/>
                  </a:lnTo>
                  <a:lnTo>
                    <a:pt x="627" y="633"/>
                  </a:lnTo>
                  <a:lnTo>
                    <a:pt x="583" y="612"/>
                  </a:lnTo>
                  <a:lnTo>
                    <a:pt x="538" y="583"/>
                  </a:lnTo>
                  <a:lnTo>
                    <a:pt x="447" y="506"/>
                  </a:lnTo>
                  <a:lnTo>
                    <a:pt x="358" y="396"/>
                  </a:lnTo>
                  <a:lnTo>
                    <a:pt x="269" y="263"/>
                  </a:lnTo>
                  <a:lnTo>
                    <a:pt x="224" y="197"/>
                  </a:lnTo>
                  <a:lnTo>
                    <a:pt x="178" y="133"/>
                  </a:lnTo>
                  <a:lnTo>
                    <a:pt x="135" y="78"/>
                  </a:lnTo>
                  <a:lnTo>
                    <a:pt x="89" y="36"/>
                  </a:lnTo>
                  <a:lnTo>
                    <a:pt x="44" y="10"/>
                  </a:lnTo>
                  <a:lnTo>
                    <a:pt x="0" y="0"/>
                  </a:lnTo>
                </a:path>
              </a:pathLst>
            </a:custGeom>
            <a:noFill/>
            <a:ln w="57150" cap="rnd">
              <a:solidFill>
                <a:srgbClr val="1313FF"/>
              </a:solidFill>
              <a:round/>
              <a:headEnd/>
              <a:tailEnd/>
            </a:ln>
          </p:spPr>
          <p:txBody>
            <a:bodyPr/>
            <a:lstStyle/>
            <a:p>
              <a:endParaRPr lang="zh-CN" altLang="en-US"/>
            </a:p>
          </p:txBody>
        </p:sp>
        <p:sp>
          <p:nvSpPr>
            <p:cNvPr id="142347" name="Freeform 19"/>
            <p:cNvSpPr>
              <a:spLocks/>
            </p:cNvSpPr>
            <p:nvPr/>
          </p:nvSpPr>
          <p:spPr bwMode="auto">
            <a:xfrm>
              <a:off x="3694" y="2312"/>
              <a:ext cx="639" cy="858"/>
            </a:xfrm>
            <a:custGeom>
              <a:avLst/>
              <a:gdLst>
                <a:gd name="T0" fmla="*/ 0 w 285"/>
                <a:gd name="T1" fmla="*/ 24614 h 675"/>
                <a:gd name="T2" fmla="*/ 12998564 w 285"/>
                <a:gd name="T3" fmla="*/ 24368 h 675"/>
                <a:gd name="T4" fmla="*/ 19987177 w 285"/>
                <a:gd name="T5" fmla="*/ 24089 h 675"/>
                <a:gd name="T6" fmla="*/ 27307614 w 285"/>
                <a:gd name="T7" fmla="*/ 23680 h 675"/>
                <a:gd name="T8" fmla="*/ 34279496 w 285"/>
                <a:gd name="T9" fmla="*/ 23122 h 675"/>
                <a:gd name="T10" fmla="*/ 41087730 w 285"/>
                <a:gd name="T11" fmla="*/ 22370 h 675"/>
                <a:gd name="T12" fmla="*/ 48059402 w 285"/>
                <a:gd name="T13" fmla="*/ 21311 h 675"/>
                <a:gd name="T14" fmla="*/ 62057680 w 285"/>
                <a:gd name="T15" fmla="*/ 18469 h 675"/>
                <a:gd name="T16" fmla="*/ 76354605 w 285"/>
                <a:gd name="T17" fmla="*/ 14453 h 675"/>
                <a:gd name="T18" fmla="*/ 89179733 w 285"/>
                <a:gd name="T19" fmla="*/ 9597 h 675"/>
                <a:gd name="T20" fmla="*/ 96096891 w 285"/>
                <a:gd name="T21" fmla="*/ 7189 h 675"/>
                <a:gd name="T22" fmla="*/ 103076198 w 285"/>
                <a:gd name="T23" fmla="*/ 4858 h 675"/>
                <a:gd name="T24" fmla="*/ 110448177 w 285"/>
                <a:gd name="T25" fmla="*/ 2842 h 675"/>
                <a:gd name="T26" fmla="*/ 117436875 w 285"/>
                <a:gd name="T27" fmla="*/ 1309 h 675"/>
                <a:gd name="T28" fmla="*/ 124413816 w 285"/>
                <a:gd name="T29" fmla="*/ 394 h 675"/>
                <a:gd name="T30" fmla="*/ 131393275 w 285"/>
                <a:gd name="T31" fmla="*/ 0 h 6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5"/>
                <a:gd name="T49" fmla="*/ 0 h 675"/>
                <a:gd name="T50" fmla="*/ 285 w 285"/>
                <a:gd name="T51" fmla="*/ 675 h 6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5" h="675">
                  <a:moveTo>
                    <a:pt x="0" y="674"/>
                  </a:moveTo>
                  <a:lnTo>
                    <a:pt x="28" y="667"/>
                  </a:lnTo>
                  <a:lnTo>
                    <a:pt x="43" y="659"/>
                  </a:lnTo>
                  <a:lnTo>
                    <a:pt x="59" y="648"/>
                  </a:lnTo>
                  <a:lnTo>
                    <a:pt x="74" y="633"/>
                  </a:lnTo>
                  <a:lnTo>
                    <a:pt x="89" y="612"/>
                  </a:lnTo>
                  <a:lnTo>
                    <a:pt x="104" y="583"/>
                  </a:lnTo>
                  <a:lnTo>
                    <a:pt x="134" y="506"/>
                  </a:lnTo>
                  <a:lnTo>
                    <a:pt x="165" y="396"/>
                  </a:lnTo>
                  <a:lnTo>
                    <a:pt x="193" y="263"/>
                  </a:lnTo>
                  <a:lnTo>
                    <a:pt x="208" y="197"/>
                  </a:lnTo>
                  <a:lnTo>
                    <a:pt x="223" y="133"/>
                  </a:lnTo>
                  <a:lnTo>
                    <a:pt x="239" y="78"/>
                  </a:lnTo>
                  <a:lnTo>
                    <a:pt x="254" y="36"/>
                  </a:lnTo>
                  <a:lnTo>
                    <a:pt x="269" y="10"/>
                  </a:lnTo>
                  <a:lnTo>
                    <a:pt x="284" y="0"/>
                  </a:lnTo>
                </a:path>
              </a:pathLst>
            </a:custGeom>
            <a:noFill/>
            <a:ln w="57150" cap="rnd">
              <a:solidFill>
                <a:srgbClr val="1313FF"/>
              </a:solidFill>
              <a:round/>
              <a:headEnd/>
              <a:tailEnd/>
            </a:ln>
          </p:spPr>
          <p:txBody>
            <a:bodyPr/>
            <a:lstStyle/>
            <a:p>
              <a:endParaRPr lang="zh-CN" altLang="en-US"/>
            </a:p>
          </p:txBody>
        </p:sp>
      </p:grpSp>
      <p:sp>
        <p:nvSpPr>
          <p:cNvPr id="21" name="灯片编号占位符 20"/>
          <p:cNvSpPr>
            <a:spLocks noGrp="1"/>
          </p:cNvSpPr>
          <p:nvPr>
            <p:ph type="sldNum" sz="quarter" idx="12"/>
          </p:nvPr>
        </p:nvSpPr>
        <p:spPr/>
        <p:txBody>
          <a:bodyPr/>
          <a:lstStyle/>
          <a:p>
            <a:pPr>
              <a:defRPr/>
            </a:pPr>
            <a:fld id="{62FC49CA-8014-4DA2-ABEB-AF96863EC77D}" type="slidenum">
              <a:rPr lang="en-US" altLang="zh-CN" smtClean="0"/>
              <a:pPr>
                <a:defRPr/>
              </a:pPr>
              <a:t>123</a:t>
            </a:fld>
            <a:endParaRPr lang="en-US" altLang="zh-CN" dirty="0"/>
          </a:p>
        </p:txBody>
      </p:sp>
    </p:spTree>
  </p:cSld>
  <p:clrMapOvr>
    <a:masterClrMapping/>
  </p:clrMapOvr>
  <p:transition advClick="0"/>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a:xfrm>
            <a:off x="827088" y="333375"/>
            <a:ext cx="7772400" cy="990600"/>
          </a:xfrm>
        </p:spPr>
        <p:txBody>
          <a:bodyPr/>
          <a:lstStyle/>
          <a:p>
            <a:pPr eaLnBrk="1" hangingPunct="1"/>
            <a:r>
              <a:rPr lang="zh-CN" altLang="en-US" dirty="0" smtClean="0"/>
              <a:t>偏度</a:t>
            </a:r>
            <a:r>
              <a:rPr lang="en-US" altLang="zh-CN" sz="4000" b="0" dirty="0" smtClean="0"/>
              <a:t>(</a:t>
            </a:r>
            <a:r>
              <a:rPr lang="zh-CN" altLang="en-US" sz="4000" b="0" dirty="0" smtClean="0"/>
              <a:t>偏度系数</a:t>
            </a:r>
            <a:r>
              <a:rPr lang="en-US" altLang="zh-CN" sz="4000" b="0" dirty="0" smtClean="0"/>
              <a:t>)</a:t>
            </a:r>
            <a:endParaRPr lang="zh-CN" altLang="en-US" sz="4000" b="0" dirty="0" smtClean="0"/>
          </a:p>
        </p:txBody>
      </p:sp>
      <p:sp>
        <p:nvSpPr>
          <p:cNvPr id="55301" name="Rectangle 3"/>
          <p:cNvSpPr>
            <a:spLocks noGrp="1" noChangeArrowheads="1"/>
          </p:cNvSpPr>
          <p:nvPr>
            <p:ph type="body" idx="1"/>
          </p:nvPr>
        </p:nvSpPr>
        <p:spPr>
          <a:xfrm>
            <a:off x="762000" y="1524000"/>
            <a:ext cx="7772400" cy="2528888"/>
          </a:xfrm>
        </p:spPr>
        <p:txBody>
          <a:bodyPr/>
          <a:lstStyle/>
          <a:p>
            <a:pPr marL="342900" lvl="1" indent="-342900" eaLnBrk="1" hangingPunct="1">
              <a:buSzPct val="90000"/>
              <a:buNone/>
            </a:pPr>
            <a:r>
              <a:rPr lang="zh-CN" altLang="en-US" dirty="0" smtClean="0">
                <a:solidFill>
                  <a:srgbClr val="0070C0"/>
                </a:solidFill>
              </a:rPr>
              <a:t>测定偏度最常用的方法</a:t>
            </a:r>
            <a:r>
              <a:rPr lang="en-US" altLang="zh-CN" dirty="0" smtClean="0">
                <a:solidFill>
                  <a:srgbClr val="0070C0"/>
                </a:solidFill>
              </a:rPr>
              <a:t>——</a:t>
            </a:r>
            <a:r>
              <a:rPr lang="zh-CN" altLang="en-US" dirty="0" smtClean="0">
                <a:solidFill>
                  <a:srgbClr val="0070C0"/>
                </a:solidFill>
              </a:rPr>
              <a:t>利用 </a:t>
            </a:r>
            <a:r>
              <a:rPr lang="en-US" altLang="zh-CN" dirty="0" smtClean="0">
                <a:solidFill>
                  <a:srgbClr val="0070C0"/>
                </a:solidFill>
              </a:rPr>
              <a:t>3 </a:t>
            </a:r>
            <a:r>
              <a:rPr lang="zh-CN" altLang="en-US" dirty="0" smtClean="0">
                <a:solidFill>
                  <a:srgbClr val="0070C0"/>
                </a:solidFill>
              </a:rPr>
              <a:t>阶中心矩</a:t>
            </a:r>
            <a:r>
              <a:rPr lang="en-US" altLang="zh-CN" dirty="0" smtClean="0">
                <a:solidFill>
                  <a:srgbClr val="0070C0"/>
                </a:solidFill>
                <a:latin typeface="Times New Roman" pitchFamily="18" charset="0"/>
              </a:rPr>
              <a:t>m</a:t>
            </a:r>
            <a:r>
              <a:rPr lang="en-US" altLang="zh-CN" baseline="-25000" dirty="0" smtClean="0">
                <a:solidFill>
                  <a:srgbClr val="0070C0"/>
                </a:solidFill>
                <a:latin typeface="Times New Roman" pitchFamily="18" charset="0"/>
              </a:rPr>
              <a:t>3</a:t>
            </a:r>
            <a:r>
              <a:rPr lang="zh-CN" altLang="en-US" dirty="0" smtClean="0">
                <a:solidFill>
                  <a:srgbClr val="0070C0"/>
                </a:solidFill>
              </a:rPr>
              <a:t>来计算偏度系数</a:t>
            </a:r>
          </a:p>
          <a:p>
            <a:pPr lvl="1" eaLnBrk="1" hangingPunct="1"/>
            <a:r>
              <a:rPr lang="zh-CN" altLang="en-US" dirty="0" smtClean="0"/>
              <a:t>原理：若分布不对称，则 </a:t>
            </a:r>
            <a:r>
              <a:rPr lang="en-US" altLang="zh-CN" dirty="0" smtClean="0"/>
              <a:t>3 </a:t>
            </a:r>
            <a:r>
              <a:rPr lang="zh-CN" altLang="en-US" dirty="0" smtClean="0"/>
              <a:t>阶中心矩不为</a:t>
            </a:r>
            <a:r>
              <a:rPr lang="en-US" altLang="zh-CN" dirty="0" smtClean="0"/>
              <a:t>0</a:t>
            </a:r>
            <a:r>
              <a:rPr lang="zh-CN" altLang="en-US" dirty="0" smtClean="0"/>
              <a:t>。不对此程度愈严重， </a:t>
            </a:r>
            <a:r>
              <a:rPr lang="en-US" altLang="zh-CN" dirty="0" smtClean="0"/>
              <a:t>3 </a:t>
            </a:r>
            <a:r>
              <a:rPr lang="zh-CN" altLang="en-US" dirty="0" smtClean="0"/>
              <a:t>阶中心矩的绝对值愈大。为消除量纲的影响，可除以</a:t>
            </a:r>
            <a:r>
              <a:rPr lang="en-US" altLang="zh-CN" i="1" dirty="0" smtClean="0"/>
              <a:t>σ</a:t>
            </a:r>
            <a:r>
              <a:rPr lang="en-US" altLang="zh-CN" baseline="30000" dirty="0" smtClean="0"/>
              <a:t>3</a:t>
            </a:r>
            <a:r>
              <a:rPr lang="zh-CN" altLang="en-US" dirty="0" smtClean="0"/>
              <a:t>。</a:t>
            </a:r>
          </a:p>
        </p:txBody>
      </p:sp>
      <p:sp>
        <p:nvSpPr>
          <p:cNvPr id="55302"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298" name="Object 5"/>
          <p:cNvGraphicFramePr>
            <a:graphicFrameLocks noChangeAspect="1"/>
          </p:cNvGraphicFramePr>
          <p:nvPr/>
        </p:nvGraphicFramePr>
        <p:xfrm>
          <a:off x="984250" y="4219575"/>
          <a:ext cx="2782888" cy="1527175"/>
        </p:xfrm>
        <a:graphic>
          <a:graphicData uri="http://schemas.openxmlformats.org/presentationml/2006/ole">
            <mc:AlternateContent xmlns:mc="http://schemas.openxmlformats.org/markup-compatibility/2006">
              <mc:Choice xmlns:v="urn:schemas-microsoft-com:vml" Requires="v">
                <p:oleObj spid="_x0000_s55475" name="公式" r:id="rId3" imgW="711000" imgH="393480" progId="Equation.3">
                  <p:embed/>
                </p:oleObj>
              </mc:Choice>
              <mc:Fallback>
                <p:oleObj name="公式" r:id="rId3" imgW="711000" imgH="3934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0" y="4219575"/>
                        <a:ext cx="2782888" cy="1527175"/>
                      </a:xfrm>
                      <a:prstGeom prst="rect">
                        <a:avLst/>
                      </a:prstGeom>
                      <a:solidFill>
                        <a:srgbClr val="CCFFFF"/>
                      </a:solidFill>
                      <a:ln w="38100">
                        <a:solidFill>
                          <a:schemeClr val="folHlink"/>
                        </a:solidFill>
                        <a:miter lim="800000"/>
                        <a:headEnd/>
                        <a:tailEnd/>
                      </a:ln>
                    </p:spPr>
                  </p:pic>
                </p:oleObj>
              </mc:Fallback>
            </mc:AlternateContent>
          </a:graphicData>
        </a:graphic>
      </p:graphicFrame>
      <p:grpSp>
        <p:nvGrpSpPr>
          <p:cNvPr id="2" name="Group 6"/>
          <p:cNvGrpSpPr>
            <a:grpSpLocks/>
          </p:cNvGrpSpPr>
          <p:nvPr/>
        </p:nvGrpSpPr>
        <p:grpSpPr bwMode="auto">
          <a:xfrm>
            <a:off x="4019550" y="4603750"/>
            <a:ext cx="4800600" cy="1920875"/>
            <a:chOff x="1248" y="2448"/>
            <a:chExt cx="3024" cy="1210"/>
          </a:xfrm>
        </p:grpSpPr>
        <p:sp>
          <p:nvSpPr>
            <p:cNvPr id="55304" name="Line 7"/>
            <p:cNvSpPr>
              <a:spLocks noChangeShapeType="1"/>
            </p:cNvSpPr>
            <p:nvPr/>
          </p:nvSpPr>
          <p:spPr bwMode="auto">
            <a:xfrm>
              <a:off x="1248" y="3216"/>
              <a:ext cx="2832" cy="0"/>
            </a:xfrm>
            <a:prstGeom prst="line">
              <a:avLst/>
            </a:prstGeom>
            <a:noFill/>
            <a:ln w="28575">
              <a:solidFill>
                <a:schemeClr val="tx1"/>
              </a:solidFill>
              <a:round/>
              <a:headEnd/>
              <a:tailEnd/>
            </a:ln>
          </p:spPr>
          <p:txBody>
            <a:bodyPr wrap="none"/>
            <a:lstStyle/>
            <a:p>
              <a:endParaRPr lang="zh-CN" altLang="en-US"/>
            </a:p>
          </p:txBody>
        </p:sp>
        <p:sp>
          <p:nvSpPr>
            <p:cNvPr id="55305" name="Line 8"/>
            <p:cNvSpPr>
              <a:spLocks noChangeShapeType="1"/>
            </p:cNvSpPr>
            <p:nvPr/>
          </p:nvSpPr>
          <p:spPr bwMode="auto">
            <a:xfrm>
              <a:off x="2688" y="3072"/>
              <a:ext cx="0" cy="192"/>
            </a:xfrm>
            <a:prstGeom prst="line">
              <a:avLst/>
            </a:prstGeom>
            <a:noFill/>
            <a:ln w="12700">
              <a:solidFill>
                <a:schemeClr val="tx1"/>
              </a:solidFill>
              <a:round/>
              <a:headEnd/>
              <a:tailEnd/>
            </a:ln>
          </p:spPr>
          <p:txBody>
            <a:bodyPr wrap="none"/>
            <a:lstStyle/>
            <a:p>
              <a:endParaRPr lang="zh-CN" altLang="en-US"/>
            </a:p>
          </p:txBody>
        </p:sp>
        <p:sp>
          <p:nvSpPr>
            <p:cNvPr id="55306" name="Text Box 9"/>
            <p:cNvSpPr txBox="1">
              <a:spLocks noChangeArrowheads="1"/>
            </p:cNvSpPr>
            <p:nvPr/>
          </p:nvSpPr>
          <p:spPr bwMode="auto">
            <a:xfrm>
              <a:off x="2448" y="3024"/>
              <a:ext cx="480" cy="634"/>
            </a:xfrm>
            <a:prstGeom prst="rect">
              <a:avLst/>
            </a:prstGeom>
            <a:noFill/>
            <a:ln w="12700">
              <a:noFill/>
              <a:miter lim="800000"/>
              <a:headEnd/>
              <a:tailEnd/>
            </a:ln>
          </p:spPr>
          <p:txBody>
            <a:bodyPr>
              <a:spAutoFit/>
            </a:bodyPr>
            <a:lstStyle/>
            <a:p>
              <a:pPr eaLnBrk="0" hangingPunct="0">
                <a:spcBef>
                  <a:spcPct val="50000"/>
                </a:spcBef>
              </a:pPr>
              <a:r>
                <a:rPr lang="en-US" altLang="zh-CN" sz="4000">
                  <a:latin typeface="Arial" charset="0"/>
                  <a:ea typeface="宋体" pitchFamily="2" charset="-122"/>
                </a:rPr>
                <a:t> 0      </a:t>
              </a:r>
              <a:r>
                <a:rPr lang="en-US" altLang="zh-CN" sz="6000">
                  <a:latin typeface="Arial" charset="0"/>
                  <a:ea typeface="宋体" pitchFamily="2" charset="-122"/>
                </a:rPr>
                <a:t>                 </a:t>
              </a:r>
            </a:p>
          </p:txBody>
        </p:sp>
        <p:sp>
          <p:nvSpPr>
            <p:cNvPr id="55307" name="Text Box 10"/>
            <p:cNvSpPr txBox="1">
              <a:spLocks noChangeArrowheads="1"/>
            </p:cNvSpPr>
            <p:nvPr/>
          </p:nvSpPr>
          <p:spPr bwMode="auto">
            <a:xfrm>
              <a:off x="1344" y="2448"/>
              <a:ext cx="2928" cy="731"/>
            </a:xfrm>
            <a:prstGeom prst="rect">
              <a:avLst/>
            </a:prstGeom>
            <a:noFill/>
            <a:ln w="12700">
              <a:noFill/>
              <a:miter lim="800000"/>
              <a:headEnd/>
              <a:tailEnd/>
            </a:ln>
          </p:spPr>
          <p:txBody>
            <a:bodyPr>
              <a:spAutoFit/>
            </a:bodyPr>
            <a:lstStyle/>
            <a:p>
              <a:pPr eaLnBrk="0" hangingPunct="0">
                <a:spcBef>
                  <a:spcPct val="50000"/>
                </a:spcBef>
              </a:pPr>
              <a:r>
                <a:rPr lang="en-US" altLang="zh-CN" sz="2800" b="1">
                  <a:latin typeface="Arial" charset="0"/>
                  <a:ea typeface="宋体" pitchFamily="2" charset="-122"/>
                </a:rPr>
                <a:t>              </a:t>
              </a:r>
              <a:r>
                <a:rPr lang="zh-CN" altLang="en-US" sz="2800" b="1">
                  <a:latin typeface="Arial" charset="0"/>
                  <a:ea typeface="宋体" pitchFamily="2" charset="-122"/>
                </a:rPr>
                <a:t>对称分布</a:t>
              </a:r>
            </a:p>
            <a:p>
              <a:pPr eaLnBrk="0" hangingPunct="0">
                <a:spcBef>
                  <a:spcPct val="50000"/>
                </a:spcBef>
              </a:pPr>
              <a:r>
                <a:rPr lang="zh-CN" altLang="en-US" sz="2800" b="1">
                  <a:solidFill>
                    <a:srgbClr val="FF00FF"/>
                  </a:solidFill>
                  <a:latin typeface="Arial" charset="0"/>
                  <a:ea typeface="宋体" pitchFamily="2" charset="-122"/>
                </a:rPr>
                <a:t> </a:t>
              </a:r>
              <a:r>
                <a:rPr lang="zh-CN" altLang="en-US" sz="2800" b="1">
                  <a:solidFill>
                    <a:schemeClr val="folHlink"/>
                  </a:solidFill>
                  <a:latin typeface="Arial" charset="0"/>
                  <a:ea typeface="宋体" pitchFamily="2" charset="-122"/>
                </a:rPr>
                <a:t>左偏分布         右偏分布</a:t>
              </a:r>
            </a:p>
          </p:txBody>
        </p:sp>
        <p:sp>
          <p:nvSpPr>
            <p:cNvPr id="55308" name="Line 11"/>
            <p:cNvSpPr>
              <a:spLocks noChangeShapeType="1"/>
            </p:cNvSpPr>
            <p:nvPr/>
          </p:nvSpPr>
          <p:spPr bwMode="auto">
            <a:xfrm>
              <a:off x="2688" y="2832"/>
              <a:ext cx="0" cy="384"/>
            </a:xfrm>
            <a:prstGeom prst="line">
              <a:avLst/>
            </a:prstGeom>
            <a:noFill/>
            <a:ln w="12700">
              <a:solidFill>
                <a:schemeClr val="tx1"/>
              </a:solidFill>
              <a:round/>
              <a:headEnd/>
              <a:tailEnd/>
            </a:ln>
          </p:spPr>
          <p:txBody>
            <a:bodyPr wrap="none"/>
            <a:lstStyle/>
            <a:p>
              <a:endParaRPr lang="zh-CN" altLang="en-US"/>
            </a:p>
          </p:txBody>
        </p:sp>
      </p:grpSp>
      <p:sp>
        <p:nvSpPr>
          <p:cNvPr id="13" name="灯片编号占位符 12"/>
          <p:cNvSpPr>
            <a:spLocks noGrp="1"/>
          </p:cNvSpPr>
          <p:nvPr>
            <p:ph type="sldNum" sz="quarter" idx="12"/>
          </p:nvPr>
        </p:nvSpPr>
        <p:spPr/>
        <p:txBody>
          <a:bodyPr/>
          <a:lstStyle/>
          <a:p>
            <a:pPr>
              <a:defRPr/>
            </a:pPr>
            <a:fld id="{62FC49CA-8014-4DA2-ABEB-AF96863EC77D}" type="slidenum">
              <a:rPr lang="en-US" altLang="zh-CN" smtClean="0"/>
              <a:pPr>
                <a:defRPr/>
              </a:pPr>
              <a:t>124</a:t>
            </a:fld>
            <a:endParaRPr lang="en-US" altLang="zh-CN"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strVal val="#ppt_w*0.70"/>
                                          </p:val>
                                        </p:tav>
                                        <p:tav tm="100000">
                                          <p:val>
                                            <p:strVal val="#ppt_w"/>
                                          </p:val>
                                        </p:tav>
                                      </p:tavLst>
                                    </p:anim>
                                    <p:anim calcmode="lin" valueType="num">
                                      <p:cBhvr>
                                        <p:cTn id="8" dur="2000" fill="hold"/>
                                        <p:tgtEl>
                                          <p:spTgt spid="2"/>
                                        </p:tgtEl>
                                        <p:attrNameLst>
                                          <p:attrName>ppt_h</p:attrName>
                                        </p:attrNameLst>
                                      </p:cBhvr>
                                      <p:tavLst>
                                        <p:tav tm="0">
                                          <p:val>
                                            <p:strVal val="#ppt_h"/>
                                          </p:val>
                                        </p:tav>
                                        <p:tav tm="100000">
                                          <p:val>
                                            <p:strVal val="#ppt_h"/>
                                          </p:val>
                                        </p:tav>
                                      </p:tavLst>
                                    </p:anim>
                                    <p:animEffect transition="in" filter="fade">
                                      <p:cBhvr>
                                        <p:cTn id="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2"/>
          <p:cNvSpPr>
            <a:spLocks noGrp="1" noChangeArrowheads="1"/>
          </p:cNvSpPr>
          <p:nvPr>
            <p:ph type="title"/>
          </p:nvPr>
        </p:nvSpPr>
        <p:spPr>
          <a:xfrm>
            <a:off x="827088" y="188913"/>
            <a:ext cx="7489328" cy="1143000"/>
          </a:xfrm>
          <a:noFill/>
        </p:spPr>
        <p:txBody>
          <a:bodyPr lIns="90488" tIns="44450" rIns="90488" bIns="44450" anchor="ctr" anchorCtr="1"/>
          <a:lstStyle/>
          <a:p>
            <a:pPr eaLnBrk="1" hangingPunct="1"/>
            <a:r>
              <a:rPr lang="en-US" altLang="zh-CN" dirty="0" smtClean="0"/>
              <a:t>【</a:t>
            </a:r>
            <a:r>
              <a:rPr lang="zh-CN" altLang="en-US" dirty="0" smtClean="0"/>
              <a:t>附</a:t>
            </a:r>
            <a:r>
              <a:rPr lang="en-US" altLang="zh-CN" dirty="0" smtClean="0"/>
              <a:t>】</a:t>
            </a:r>
            <a:r>
              <a:rPr lang="zh-CN" altLang="en-US" dirty="0" smtClean="0"/>
              <a:t>测度偏态的其他方法</a:t>
            </a:r>
            <a:endParaRPr lang="zh-CN" altLang="en-US" sz="4000" dirty="0" smtClean="0">
              <a:ea typeface="楷体_GB2312" pitchFamily="49" charset="-122"/>
            </a:endParaRPr>
          </a:p>
        </p:txBody>
      </p:sp>
      <p:graphicFrame>
        <p:nvGraphicFramePr>
          <p:cNvPr id="53250" name="Object 3"/>
          <p:cNvGraphicFramePr>
            <a:graphicFrameLocks noGrp="1" noChangeAspect="1"/>
          </p:cNvGraphicFramePr>
          <p:nvPr>
            <p:ph type="body" idx="1"/>
          </p:nvPr>
        </p:nvGraphicFramePr>
        <p:xfrm>
          <a:off x="3132138" y="2708275"/>
          <a:ext cx="2595562" cy="1374775"/>
        </p:xfrm>
        <a:graphic>
          <a:graphicData uri="http://schemas.openxmlformats.org/presentationml/2006/ole">
            <mc:AlternateContent xmlns:mc="http://schemas.openxmlformats.org/markup-compatibility/2006">
              <mc:Choice xmlns:v="urn:schemas-microsoft-com:vml" Requires="v">
                <p:oleObj spid="_x0000_s270692" name="Equation" r:id="rId3" imgW="888840" imgH="406080" progId="Equation.3">
                  <p:embed/>
                </p:oleObj>
              </mc:Choice>
              <mc:Fallback>
                <p:oleObj name="Equation" r:id="rId3" imgW="888840" imgH="4060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708275"/>
                        <a:ext cx="2595562" cy="1374775"/>
                      </a:xfrm>
                      <a:prstGeom prst="rect">
                        <a:avLst/>
                      </a:prstGeom>
                      <a:solidFill>
                        <a:srgbClr val="CCFFFF"/>
                      </a:solidFill>
                      <a:ln w="28575">
                        <a:solidFill>
                          <a:schemeClr val="folHlink"/>
                        </a:solidFill>
                        <a:miter lim="800000"/>
                        <a:headEnd/>
                        <a:tailEnd/>
                      </a:ln>
                    </p:spPr>
                  </p:pic>
                </p:oleObj>
              </mc:Fallback>
            </mc:AlternateContent>
          </a:graphicData>
        </a:graphic>
      </p:graphicFrame>
      <p:grpSp>
        <p:nvGrpSpPr>
          <p:cNvPr id="2" name="Group 4"/>
          <p:cNvGrpSpPr>
            <a:grpSpLocks/>
          </p:cNvGrpSpPr>
          <p:nvPr/>
        </p:nvGrpSpPr>
        <p:grpSpPr bwMode="auto">
          <a:xfrm>
            <a:off x="633413" y="4581525"/>
            <a:ext cx="7826375" cy="1500188"/>
            <a:chOff x="399" y="2886"/>
            <a:chExt cx="4930" cy="945"/>
          </a:xfrm>
        </p:grpSpPr>
        <p:sp>
          <p:nvSpPr>
            <p:cNvPr id="53257" name="Line 5"/>
            <p:cNvSpPr>
              <a:spLocks noChangeShapeType="1"/>
            </p:cNvSpPr>
            <p:nvPr/>
          </p:nvSpPr>
          <p:spPr bwMode="auto">
            <a:xfrm>
              <a:off x="943" y="3377"/>
              <a:ext cx="3408" cy="0"/>
            </a:xfrm>
            <a:prstGeom prst="line">
              <a:avLst/>
            </a:prstGeom>
            <a:noFill/>
            <a:ln w="38100">
              <a:solidFill>
                <a:schemeClr val="tx1"/>
              </a:solidFill>
              <a:round/>
              <a:headEnd/>
              <a:tailEnd/>
            </a:ln>
          </p:spPr>
          <p:txBody>
            <a:bodyPr wrap="none"/>
            <a:lstStyle/>
            <a:p>
              <a:endParaRPr lang="zh-CN" altLang="en-US"/>
            </a:p>
          </p:txBody>
        </p:sp>
        <p:sp>
          <p:nvSpPr>
            <p:cNvPr id="53258" name="Line 6"/>
            <p:cNvSpPr>
              <a:spLocks noChangeShapeType="1"/>
            </p:cNvSpPr>
            <p:nvPr/>
          </p:nvSpPr>
          <p:spPr bwMode="auto">
            <a:xfrm>
              <a:off x="1215" y="3222"/>
              <a:ext cx="0" cy="192"/>
            </a:xfrm>
            <a:prstGeom prst="line">
              <a:avLst/>
            </a:prstGeom>
            <a:noFill/>
            <a:ln w="38100">
              <a:solidFill>
                <a:schemeClr val="tx1"/>
              </a:solidFill>
              <a:round/>
              <a:headEnd/>
              <a:tailEnd/>
            </a:ln>
          </p:spPr>
          <p:txBody>
            <a:bodyPr wrap="none"/>
            <a:lstStyle/>
            <a:p>
              <a:endParaRPr lang="zh-CN" altLang="en-US"/>
            </a:p>
          </p:txBody>
        </p:sp>
        <p:sp>
          <p:nvSpPr>
            <p:cNvPr id="53259" name="Line 7"/>
            <p:cNvSpPr>
              <a:spLocks noChangeShapeType="1"/>
            </p:cNvSpPr>
            <p:nvPr/>
          </p:nvSpPr>
          <p:spPr bwMode="auto">
            <a:xfrm>
              <a:off x="2655" y="3222"/>
              <a:ext cx="0" cy="192"/>
            </a:xfrm>
            <a:prstGeom prst="line">
              <a:avLst/>
            </a:prstGeom>
            <a:noFill/>
            <a:ln w="12700">
              <a:solidFill>
                <a:schemeClr val="tx1"/>
              </a:solidFill>
              <a:round/>
              <a:headEnd/>
              <a:tailEnd/>
            </a:ln>
          </p:spPr>
          <p:txBody>
            <a:bodyPr wrap="none"/>
            <a:lstStyle/>
            <a:p>
              <a:endParaRPr lang="zh-CN" altLang="en-US"/>
            </a:p>
          </p:txBody>
        </p:sp>
        <p:sp>
          <p:nvSpPr>
            <p:cNvPr id="53260" name="Line 8"/>
            <p:cNvSpPr>
              <a:spLocks noChangeShapeType="1"/>
            </p:cNvSpPr>
            <p:nvPr/>
          </p:nvSpPr>
          <p:spPr bwMode="auto">
            <a:xfrm>
              <a:off x="4047" y="3222"/>
              <a:ext cx="0" cy="192"/>
            </a:xfrm>
            <a:prstGeom prst="line">
              <a:avLst/>
            </a:prstGeom>
            <a:noFill/>
            <a:ln w="38100">
              <a:solidFill>
                <a:schemeClr val="tx1"/>
              </a:solidFill>
              <a:round/>
              <a:headEnd/>
              <a:tailEnd/>
            </a:ln>
          </p:spPr>
          <p:txBody>
            <a:bodyPr wrap="none"/>
            <a:lstStyle/>
            <a:p>
              <a:endParaRPr lang="zh-CN" altLang="en-US"/>
            </a:p>
          </p:txBody>
        </p:sp>
        <p:sp>
          <p:nvSpPr>
            <p:cNvPr id="53261" name="Text Box 9"/>
            <p:cNvSpPr txBox="1">
              <a:spLocks noChangeArrowheads="1"/>
            </p:cNvSpPr>
            <p:nvPr/>
          </p:nvSpPr>
          <p:spPr bwMode="auto">
            <a:xfrm>
              <a:off x="964" y="3197"/>
              <a:ext cx="3744" cy="634"/>
            </a:xfrm>
            <a:prstGeom prst="rect">
              <a:avLst/>
            </a:prstGeom>
            <a:noFill/>
            <a:ln w="12700">
              <a:noFill/>
              <a:miter lim="800000"/>
              <a:headEnd/>
              <a:tailEnd/>
            </a:ln>
          </p:spPr>
          <p:txBody>
            <a:bodyPr>
              <a:spAutoFit/>
            </a:bodyPr>
            <a:lstStyle/>
            <a:p>
              <a:pPr eaLnBrk="0" hangingPunct="0">
                <a:spcBef>
                  <a:spcPct val="50000"/>
                </a:spcBef>
              </a:pPr>
              <a:r>
                <a:rPr lang="en-US" altLang="zh-CN" sz="4000">
                  <a:solidFill>
                    <a:srgbClr val="1313FF"/>
                  </a:solidFill>
                  <a:latin typeface="Arial" charset="0"/>
                  <a:ea typeface="宋体" pitchFamily="2" charset="-122"/>
                </a:rPr>
                <a:t>-3</a:t>
              </a:r>
              <a:r>
                <a:rPr lang="en-US" altLang="zh-CN" sz="4000">
                  <a:latin typeface="Arial" charset="0"/>
                  <a:ea typeface="宋体" pitchFamily="2" charset="-122"/>
                </a:rPr>
                <a:t>              0            </a:t>
              </a:r>
              <a:r>
                <a:rPr lang="en-US" altLang="zh-CN" sz="4000">
                  <a:solidFill>
                    <a:srgbClr val="1313FF"/>
                  </a:solidFill>
                  <a:latin typeface="Arial" charset="0"/>
                  <a:ea typeface="宋体" pitchFamily="2" charset="-122"/>
                </a:rPr>
                <a:t>+3</a:t>
              </a:r>
              <a:r>
                <a:rPr lang="en-US" altLang="zh-CN" sz="6000">
                  <a:latin typeface="Arial" charset="0"/>
                  <a:ea typeface="宋体" pitchFamily="2" charset="-122"/>
                </a:rPr>
                <a:t>                 </a:t>
              </a:r>
            </a:p>
          </p:txBody>
        </p:sp>
        <p:sp>
          <p:nvSpPr>
            <p:cNvPr id="53262" name="Text Box 10"/>
            <p:cNvSpPr txBox="1">
              <a:spLocks noChangeArrowheads="1"/>
            </p:cNvSpPr>
            <p:nvPr/>
          </p:nvSpPr>
          <p:spPr bwMode="auto">
            <a:xfrm>
              <a:off x="399" y="2886"/>
              <a:ext cx="4930" cy="327"/>
            </a:xfrm>
            <a:prstGeom prst="rect">
              <a:avLst/>
            </a:prstGeom>
            <a:noFill/>
            <a:ln w="12700">
              <a:noFill/>
              <a:miter lim="800000"/>
              <a:headEnd/>
              <a:tailEnd/>
            </a:ln>
          </p:spPr>
          <p:txBody>
            <a:bodyPr>
              <a:spAutoFit/>
            </a:bodyPr>
            <a:lstStyle/>
            <a:p>
              <a:pPr eaLnBrk="0" hangingPunct="0">
                <a:spcBef>
                  <a:spcPct val="50000"/>
                </a:spcBef>
              </a:pPr>
              <a:r>
                <a:rPr lang="en-US" altLang="zh-CN" sz="2800" b="1">
                  <a:solidFill>
                    <a:srgbClr val="FF00FF"/>
                  </a:solidFill>
                  <a:latin typeface="Arial" charset="0"/>
                  <a:ea typeface="宋体" pitchFamily="2" charset="-122"/>
                </a:rPr>
                <a:t>     </a:t>
              </a:r>
              <a:r>
                <a:rPr lang="zh-CN" altLang="en-US" sz="2800" b="1">
                  <a:solidFill>
                    <a:srgbClr val="1313FF"/>
                  </a:solidFill>
                  <a:latin typeface="Arial" charset="0"/>
                  <a:ea typeface="宋体" pitchFamily="2" charset="-122"/>
                </a:rPr>
                <a:t>极左偏态</a:t>
              </a:r>
              <a:r>
                <a:rPr lang="zh-CN" altLang="en-US" sz="2800" b="1">
                  <a:latin typeface="Arial" charset="0"/>
                  <a:ea typeface="宋体" pitchFamily="2" charset="-122"/>
                </a:rPr>
                <a:t>         对称分布         </a:t>
              </a:r>
              <a:r>
                <a:rPr lang="zh-CN" altLang="en-US" sz="2800" b="1">
                  <a:solidFill>
                    <a:srgbClr val="1313FF"/>
                  </a:solidFill>
                  <a:latin typeface="Arial" charset="0"/>
                  <a:ea typeface="宋体" pitchFamily="2" charset="-122"/>
                </a:rPr>
                <a:t>极右偏态</a:t>
              </a:r>
            </a:p>
          </p:txBody>
        </p:sp>
      </p:grpSp>
      <p:sp>
        <p:nvSpPr>
          <p:cNvPr id="53255" name="Text Box 11"/>
          <p:cNvSpPr txBox="1">
            <a:spLocks noChangeArrowheads="1"/>
          </p:cNvSpPr>
          <p:nvPr/>
        </p:nvSpPr>
        <p:spPr bwMode="auto">
          <a:xfrm>
            <a:off x="611188" y="3860800"/>
            <a:ext cx="2133600" cy="579438"/>
          </a:xfrm>
          <a:prstGeom prst="rect">
            <a:avLst/>
          </a:prstGeom>
          <a:noFill/>
          <a:ln w="12700">
            <a:noFill/>
            <a:miter lim="800000"/>
            <a:headEnd/>
            <a:tailEnd/>
          </a:ln>
        </p:spPr>
        <p:txBody>
          <a:bodyPr>
            <a:spAutoFit/>
          </a:bodyPr>
          <a:lstStyle/>
          <a:p>
            <a:pPr eaLnBrk="0" hangingPunct="0">
              <a:spcBef>
                <a:spcPct val="50000"/>
              </a:spcBef>
            </a:pPr>
            <a:r>
              <a:rPr lang="zh-CN" altLang="en-US" sz="3200" b="1">
                <a:solidFill>
                  <a:schemeClr val="tx2"/>
                </a:solidFill>
                <a:latin typeface="Arial" charset="0"/>
                <a:ea typeface="宋体" pitchFamily="2" charset="-122"/>
              </a:rPr>
              <a:t>一般有：</a:t>
            </a:r>
          </a:p>
        </p:txBody>
      </p:sp>
      <p:sp>
        <p:nvSpPr>
          <p:cNvPr id="494604" name="Rectangle 12"/>
          <p:cNvSpPr>
            <a:spLocks noChangeArrowheads="1"/>
          </p:cNvSpPr>
          <p:nvPr/>
        </p:nvSpPr>
        <p:spPr bwMode="auto">
          <a:xfrm>
            <a:off x="468313" y="1557338"/>
            <a:ext cx="8153400" cy="1066800"/>
          </a:xfrm>
          <a:prstGeom prst="rect">
            <a:avLst/>
          </a:prstGeom>
          <a:noFill/>
          <a:ln w="12700">
            <a:noFill/>
            <a:miter lim="800000"/>
            <a:headEnd/>
            <a:tailEnd/>
          </a:ln>
          <a:effectLst/>
        </p:spPr>
        <p:txBody>
          <a:bodyPr>
            <a:spAutoFit/>
          </a:bodyPr>
          <a:lstStyle/>
          <a:p>
            <a:pPr eaLnBrk="0" hangingPunct="0">
              <a:defRPr/>
            </a:pPr>
            <a:r>
              <a:rPr lang="en-US" altLang="zh-CN" sz="3200" b="1" dirty="0" smtClean="0">
                <a:solidFill>
                  <a:srgbClr val="000000"/>
                </a:solidFill>
                <a:effectLst>
                  <a:outerShdw blurRad="38100" dist="38100" dir="2700000" algn="tl">
                    <a:srgbClr val="C0C0C0"/>
                  </a:outerShdw>
                </a:effectLst>
                <a:latin typeface="Book Antiqua" pitchFamily="18" charset="0"/>
                <a:ea typeface="宋体" pitchFamily="2" charset="-122"/>
              </a:rPr>
              <a:t>1.</a:t>
            </a:r>
            <a:r>
              <a:rPr lang="zh-CN" altLang="en-US" sz="3200" b="1" dirty="0" smtClean="0">
                <a:solidFill>
                  <a:srgbClr val="000000"/>
                </a:solidFill>
                <a:effectLst>
                  <a:outerShdw blurRad="38100" dist="38100" dir="2700000" algn="tl">
                    <a:srgbClr val="C0C0C0"/>
                  </a:outerShdw>
                </a:effectLst>
                <a:latin typeface="Book Antiqua" pitchFamily="18" charset="0"/>
                <a:ea typeface="宋体" pitchFamily="2" charset="-122"/>
              </a:rPr>
              <a:t>由</a:t>
            </a:r>
            <a:r>
              <a:rPr lang="zh-CN" altLang="en-US" sz="3200" b="1" dirty="0">
                <a:solidFill>
                  <a:srgbClr val="000000"/>
                </a:solidFill>
                <a:effectLst>
                  <a:outerShdw blurRad="38100" dist="38100" dir="2700000" algn="tl">
                    <a:srgbClr val="C0C0C0"/>
                  </a:outerShdw>
                </a:effectLst>
                <a:latin typeface="Book Antiqua" pitchFamily="18" charset="0"/>
                <a:ea typeface="宋体" pitchFamily="2" charset="-122"/>
              </a:rPr>
              <a:t>均值与众数</a:t>
            </a:r>
            <a:r>
              <a:rPr lang="zh-CN" altLang="en-US" sz="3200" b="1" dirty="0">
                <a:solidFill>
                  <a:schemeClr val="tx2"/>
                </a:solidFill>
                <a:effectLst>
                  <a:outerShdw blurRad="38100" dist="38100" dir="2700000" algn="tl">
                    <a:srgbClr val="C0C0C0"/>
                  </a:outerShdw>
                </a:effectLst>
                <a:latin typeface="Book Antiqua" pitchFamily="18" charset="0"/>
                <a:ea typeface="宋体" pitchFamily="2" charset="-122"/>
              </a:rPr>
              <a:t>（中位数）</a:t>
            </a:r>
            <a:r>
              <a:rPr lang="zh-CN" altLang="en-US" sz="3200" b="1" dirty="0">
                <a:solidFill>
                  <a:srgbClr val="000000"/>
                </a:solidFill>
                <a:effectLst>
                  <a:outerShdw blurRad="38100" dist="38100" dir="2700000" algn="tl">
                    <a:srgbClr val="C0C0C0"/>
                  </a:outerShdw>
                </a:effectLst>
                <a:latin typeface="Book Antiqua" pitchFamily="18" charset="0"/>
                <a:ea typeface="宋体" pitchFamily="2" charset="-122"/>
              </a:rPr>
              <a:t>之间的关系求偏态系数：</a:t>
            </a:r>
          </a:p>
        </p:txBody>
      </p:sp>
      <p:graphicFrame>
        <p:nvGraphicFramePr>
          <p:cNvPr id="53251" name="Object 13"/>
          <p:cNvGraphicFramePr>
            <a:graphicFrameLocks noChangeAspect="1"/>
          </p:cNvGraphicFramePr>
          <p:nvPr/>
        </p:nvGraphicFramePr>
        <p:xfrm>
          <a:off x="5795963" y="2744788"/>
          <a:ext cx="2298700" cy="1331912"/>
        </p:xfrm>
        <a:graphic>
          <a:graphicData uri="http://schemas.openxmlformats.org/presentationml/2006/ole">
            <mc:AlternateContent xmlns:mc="http://schemas.openxmlformats.org/markup-compatibility/2006">
              <mc:Choice xmlns:v="urn:schemas-microsoft-com:vml" Requires="v">
                <p:oleObj spid="_x0000_s270693" name="公式" r:id="rId5" imgW="787320" imgH="393480" progId="Equation.3">
                  <p:embed/>
                </p:oleObj>
              </mc:Choice>
              <mc:Fallback>
                <p:oleObj name="公式" r:id="rId5" imgW="787320" imgH="39348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5963" y="2744788"/>
                        <a:ext cx="2298700" cy="1331912"/>
                      </a:xfrm>
                      <a:prstGeom prst="rect">
                        <a:avLst/>
                      </a:prstGeom>
                      <a:solidFill>
                        <a:schemeClr val="accent1"/>
                      </a:solidFill>
                      <a:ln w="28575">
                        <a:solidFill>
                          <a:schemeClr val="folHlink"/>
                        </a:solidFill>
                        <a:miter lim="800000"/>
                        <a:headEnd/>
                        <a:tailEnd/>
                      </a:ln>
                    </p:spPr>
                  </p:pic>
                </p:oleObj>
              </mc:Fallback>
            </mc:AlternateContent>
          </a:graphicData>
        </a:graphic>
      </p:graphicFrame>
      <p:sp>
        <p:nvSpPr>
          <p:cNvPr id="15" name="灯片编号占位符 14"/>
          <p:cNvSpPr>
            <a:spLocks noGrp="1"/>
          </p:cNvSpPr>
          <p:nvPr>
            <p:ph type="sldNum" sz="quarter" idx="12"/>
          </p:nvPr>
        </p:nvSpPr>
        <p:spPr/>
        <p:txBody>
          <a:bodyPr/>
          <a:lstStyle/>
          <a:p>
            <a:pPr>
              <a:defRPr/>
            </a:pPr>
            <a:fld id="{62FC49CA-8014-4DA2-ABEB-AF96863EC77D}" type="slidenum">
              <a:rPr lang="en-US" altLang="zh-CN" smtClean="0"/>
              <a:pPr>
                <a:defRPr/>
              </a:pPr>
              <a:t>125</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a:xfrm>
            <a:off x="467544" y="908720"/>
            <a:ext cx="8351838" cy="1143000"/>
          </a:xfrm>
          <a:noFill/>
        </p:spPr>
        <p:txBody>
          <a:bodyPr lIns="90488" tIns="44450" rIns="90488" bIns="44450" anchor="ctr" anchorCtr="1"/>
          <a:lstStyle/>
          <a:p>
            <a:pPr eaLnBrk="1" hangingPunct="1"/>
            <a:r>
              <a:rPr lang="en-US" altLang="zh-CN" sz="3600" dirty="0" smtClean="0">
                <a:latin typeface="宋体" pitchFamily="2" charset="-122"/>
              </a:rPr>
              <a:t>2.</a:t>
            </a:r>
            <a:r>
              <a:rPr lang="zh-CN" altLang="en-US" sz="3600" dirty="0" smtClean="0">
                <a:latin typeface="宋体" pitchFamily="2" charset="-122"/>
              </a:rPr>
              <a:t>由</a:t>
            </a:r>
            <a:r>
              <a:rPr lang="en-US" altLang="zh-CN" sz="3600" dirty="0" smtClean="0">
                <a:latin typeface="宋体" pitchFamily="2" charset="-122"/>
              </a:rPr>
              <a:t>3</a:t>
            </a:r>
            <a:r>
              <a:rPr lang="zh-CN" altLang="en-US" sz="3600" dirty="0" smtClean="0">
                <a:latin typeface="宋体" pitchFamily="2" charset="-122"/>
              </a:rPr>
              <a:t>个四分位数之间的关系求偏态系数</a:t>
            </a:r>
          </a:p>
        </p:txBody>
      </p:sp>
      <p:graphicFrame>
        <p:nvGraphicFramePr>
          <p:cNvPr id="54274" name="Object 3"/>
          <p:cNvGraphicFramePr>
            <a:graphicFrameLocks noGrp="1" noChangeAspect="1"/>
          </p:cNvGraphicFramePr>
          <p:nvPr>
            <p:ph type="body" idx="1"/>
          </p:nvPr>
        </p:nvGraphicFramePr>
        <p:xfrm>
          <a:off x="3059113" y="2276872"/>
          <a:ext cx="3508375" cy="1317625"/>
        </p:xfrm>
        <a:graphic>
          <a:graphicData uri="http://schemas.openxmlformats.org/presentationml/2006/ole">
            <mc:AlternateContent xmlns:mc="http://schemas.openxmlformats.org/markup-compatibility/2006">
              <mc:Choice xmlns:v="urn:schemas-microsoft-com:vml" Requires="v">
                <p:oleObj spid="_x0000_s271539" name="Equation" r:id="rId3" imgW="1231560" imgH="431640" progId="Equation.3">
                  <p:embed/>
                </p:oleObj>
              </mc:Choice>
              <mc:Fallback>
                <p:oleObj name="Equation" r:id="rId3" imgW="1231560" imgH="4316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276872"/>
                        <a:ext cx="3508375" cy="1317625"/>
                      </a:xfrm>
                      <a:prstGeom prst="rect">
                        <a:avLst/>
                      </a:prstGeom>
                      <a:solidFill>
                        <a:srgbClr val="CCFFFF"/>
                      </a:solidFill>
                      <a:ln w="28575">
                        <a:solidFill>
                          <a:schemeClr val="folHlink"/>
                        </a:solidFill>
                        <a:miter lim="800000"/>
                        <a:headEnd/>
                        <a:tailEnd/>
                      </a:ln>
                    </p:spPr>
                  </p:pic>
                </p:oleObj>
              </mc:Fallback>
            </mc:AlternateContent>
          </a:graphicData>
        </a:graphic>
      </p:graphicFrame>
      <p:sp>
        <p:nvSpPr>
          <p:cNvPr id="54277" name="Text Box 4"/>
          <p:cNvSpPr txBox="1">
            <a:spLocks noChangeArrowheads="1"/>
          </p:cNvSpPr>
          <p:nvPr/>
        </p:nvSpPr>
        <p:spPr bwMode="auto">
          <a:xfrm>
            <a:off x="1403350" y="3860800"/>
            <a:ext cx="4314825" cy="579438"/>
          </a:xfrm>
          <a:prstGeom prst="rect">
            <a:avLst/>
          </a:prstGeom>
          <a:noFill/>
          <a:ln w="12700">
            <a:noFill/>
            <a:miter lim="800000"/>
            <a:headEnd/>
            <a:tailEnd/>
          </a:ln>
        </p:spPr>
        <p:txBody>
          <a:bodyPr>
            <a:spAutoFit/>
          </a:bodyPr>
          <a:lstStyle/>
          <a:p>
            <a:pPr eaLnBrk="0" hangingPunct="0">
              <a:spcBef>
                <a:spcPct val="50000"/>
              </a:spcBef>
            </a:pPr>
            <a:r>
              <a:rPr lang="zh-CN" altLang="en-US" sz="3200" b="1">
                <a:solidFill>
                  <a:schemeClr val="tx2"/>
                </a:solidFill>
                <a:latin typeface="Arial" charset="0"/>
                <a:ea typeface="宋体" pitchFamily="2" charset="-122"/>
              </a:rPr>
              <a:t>值域：</a:t>
            </a:r>
            <a:r>
              <a:rPr lang="en-US" altLang="zh-CN" sz="3200" b="1">
                <a:solidFill>
                  <a:schemeClr val="tx2"/>
                </a:solidFill>
                <a:latin typeface="Arial" charset="0"/>
                <a:ea typeface="宋体" pitchFamily="2" charset="-122"/>
              </a:rPr>
              <a:t>-1</a:t>
            </a:r>
            <a:r>
              <a:rPr lang="en-US" altLang="zh-CN" sz="3200" b="1">
                <a:solidFill>
                  <a:schemeClr val="tx2"/>
                </a:solidFill>
                <a:latin typeface="Arial" charset="0"/>
                <a:ea typeface="宋体" pitchFamily="2" charset="-122"/>
                <a:sym typeface="Symbol" pitchFamily="18" charset="2"/>
              </a:rPr>
              <a:t> S</a:t>
            </a:r>
            <a:r>
              <a:rPr lang="en-US" altLang="zh-CN" sz="3200" b="1" baseline="-25000">
                <a:solidFill>
                  <a:schemeClr val="tx2"/>
                </a:solidFill>
                <a:latin typeface="Arial" charset="0"/>
                <a:ea typeface="宋体" pitchFamily="2" charset="-122"/>
                <a:sym typeface="Symbol" pitchFamily="18" charset="2"/>
              </a:rPr>
              <a:t>k</a:t>
            </a:r>
            <a:r>
              <a:rPr lang="en-US" altLang="zh-CN" sz="3200" b="1">
                <a:solidFill>
                  <a:schemeClr val="tx2"/>
                </a:solidFill>
                <a:latin typeface="Arial" charset="0"/>
                <a:ea typeface="宋体" pitchFamily="2" charset="-122"/>
                <a:sym typeface="Symbol" pitchFamily="18" charset="2"/>
              </a:rPr>
              <a:t>  1</a:t>
            </a:r>
          </a:p>
        </p:txBody>
      </p:sp>
      <p:grpSp>
        <p:nvGrpSpPr>
          <p:cNvPr id="2" name="Group 5"/>
          <p:cNvGrpSpPr>
            <a:grpSpLocks/>
          </p:cNvGrpSpPr>
          <p:nvPr/>
        </p:nvGrpSpPr>
        <p:grpSpPr bwMode="auto">
          <a:xfrm>
            <a:off x="971550" y="4797425"/>
            <a:ext cx="7750175" cy="1439863"/>
            <a:chOff x="612" y="3022"/>
            <a:chExt cx="4882" cy="907"/>
          </a:xfrm>
        </p:grpSpPr>
        <p:sp>
          <p:nvSpPr>
            <p:cNvPr id="54279" name="Text Box 6"/>
            <p:cNvSpPr txBox="1">
              <a:spLocks noChangeArrowheads="1"/>
            </p:cNvSpPr>
            <p:nvPr/>
          </p:nvSpPr>
          <p:spPr bwMode="auto">
            <a:xfrm>
              <a:off x="612" y="3022"/>
              <a:ext cx="4882" cy="327"/>
            </a:xfrm>
            <a:prstGeom prst="rect">
              <a:avLst/>
            </a:prstGeom>
            <a:noFill/>
            <a:ln w="12700">
              <a:noFill/>
              <a:miter lim="800000"/>
              <a:headEnd/>
              <a:tailEnd/>
            </a:ln>
          </p:spPr>
          <p:txBody>
            <a:bodyPr>
              <a:spAutoFit/>
            </a:bodyPr>
            <a:lstStyle/>
            <a:p>
              <a:pPr eaLnBrk="0" hangingPunct="0">
                <a:spcBef>
                  <a:spcPct val="50000"/>
                </a:spcBef>
              </a:pPr>
              <a:r>
                <a:rPr lang="en-US" altLang="zh-CN" sz="2800" b="1">
                  <a:solidFill>
                    <a:srgbClr val="1313FF"/>
                  </a:solidFill>
                  <a:latin typeface="Arial" charset="0"/>
                  <a:ea typeface="宋体" pitchFamily="2" charset="-122"/>
                </a:rPr>
                <a:t>     </a:t>
              </a:r>
              <a:r>
                <a:rPr lang="zh-CN" altLang="en-US" sz="2800" b="1">
                  <a:solidFill>
                    <a:srgbClr val="1313FF"/>
                  </a:solidFill>
                  <a:latin typeface="Arial" charset="0"/>
                  <a:ea typeface="宋体" pitchFamily="2" charset="-122"/>
                </a:rPr>
                <a:t>极左偏态</a:t>
              </a:r>
              <a:r>
                <a:rPr lang="zh-CN" altLang="en-US" sz="2800" b="1">
                  <a:latin typeface="Arial" charset="0"/>
                  <a:ea typeface="宋体" pitchFamily="2" charset="-122"/>
                </a:rPr>
                <a:t>         对称分布         </a:t>
              </a:r>
              <a:r>
                <a:rPr lang="zh-CN" altLang="en-US" sz="2800" b="1">
                  <a:solidFill>
                    <a:srgbClr val="1313FF"/>
                  </a:solidFill>
                  <a:latin typeface="Arial" charset="0"/>
                  <a:ea typeface="宋体" pitchFamily="2" charset="-122"/>
                </a:rPr>
                <a:t>极右偏态</a:t>
              </a:r>
            </a:p>
          </p:txBody>
        </p:sp>
        <p:sp>
          <p:nvSpPr>
            <p:cNvPr id="54280" name="Line 7"/>
            <p:cNvSpPr>
              <a:spLocks noChangeShapeType="1"/>
            </p:cNvSpPr>
            <p:nvPr/>
          </p:nvSpPr>
          <p:spPr bwMode="auto">
            <a:xfrm>
              <a:off x="1428" y="3454"/>
              <a:ext cx="2832" cy="0"/>
            </a:xfrm>
            <a:prstGeom prst="line">
              <a:avLst/>
            </a:prstGeom>
            <a:noFill/>
            <a:ln w="28575">
              <a:solidFill>
                <a:schemeClr val="tx1"/>
              </a:solidFill>
              <a:round/>
              <a:headEnd/>
              <a:tailEnd/>
            </a:ln>
          </p:spPr>
          <p:txBody>
            <a:bodyPr wrap="none"/>
            <a:lstStyle/>
            <a:p>
              <a:endParaRPr lang="zh-CN" altLang="en-US"/>
            </a:p>
          </p:txBody>
        </p:sp>
        <p:sp>
          <p:nvSpPr>
            <p:cNvPr id="54281" name="Line 8"/>
            <p:cNvSpPr>
              <a:spLocks noChangeShapeType="1"/>
            </p:cNvSpPr>
            <p:nvPr/>
          </p:nvSpPr>
          <p:spPr bwMode="auto">
            <a:xfrm>
              <a:off x="1428" y="3310"/>
              <a:ext cx="0" cy="192"/>
            </a:xfrm>
            <a:prstGeom prst="line">
              <a:avLst/>
            </a:prstGeom>
            <a:noFill/>
            <a:ln w="38100">
              <a:solidFill>
                <a:schemeClr val="tx1"/>
              </a:solidFill>
              <a:round/>
              <a:headEnd/>
              <a:tailEnd/>
            </a:ln>
          </p:spPr>
          <p:txBody>
            <a:bodyPr wrap="none"/>
            <a:lstStyle/>
            <a:p>
              <a:endParaRPr lang="zh-CN" altLang="en-US"/>
            </a:p>
          </p:txBody>
        </p:sp>
        <p:sp>
          <p:nvSpPr>
            <p:cNvPr id="54282" name="Line 9"/>
            <p:cNvSpPr>
              <a:spLocks noChangeShapeType="1"/>
            </p:cNvSpPr>
            <p:nvPr/>
          </p:nvSpPr>
          <p:spPr bwMode="auto">
            <a:xfrm>
              <a:off x="2868" y="3310"/>
              <a:ext cx="0" cy="192"/>
            </a:xfrm>
            <a:prstGeom prst="line">
              <a:avLst/>
            </a:prstGeom>
            <a:noFill/>
            <a:ln w="28575">
              <a:solidFill>
                <a:schemeClr val="tx1"/>
              </a:solidFill>
              <a:round/>
              <a:headEnd/>
              <a:tailEnd/>
            </a:ln>
          </p:spPr>
          <p:txBody>
            <a:bodyPr wrap="none"/>
            <a:lstStyle/>
            <a:p>
              <a:endParaRPr lang="zh-CN" altLang="en-US"/>
            </a:p>
          </p:txBody>
        </p:sp>
        <p:sp>
          <p:nvSpPr>
            <p:cNvPr id="54283" name="Line 10"/>
            <p:cNvSpPr>
              <a:spLocks noChangeShapeType="1"/>
            </p:cNvSpPr>
            <p:nvPr/>
          </p:nvSpPr>
          <p:spPr bwMode="auto">
            <a:xfrm>
              <a:off x="4260" y="3310"/>
              <a:ext cx="0" cy="192"/>
            </a:xfrm>
            <a:prstGeom prst="line">
              <a:avLst/>
            </a:prstGeom>
            <a:noFill/>
            <a:ln w="38100">
              <a:solidFill>
                <a:schemeClr val="tx1"/>
              </a:solidFill>
              <a:round/>
              <a:headEnd/>
              <a:tailEnd/>
            </a:ln>
          </p:spPr>
          <p:txBody>
            <a:bodyPr wrap="none"/>
            <a:lstStyle/>
            <a:p>
              <a:endParaRPr lang="zh-CN" altLang="en-US"/>
            </a:p>
          </p:txBody>
        </p:sp>
        <p:sp>
          <p:nvSpPr>
            <p:cNvPr id="54284" name="Text Box 11"/>
            <p:cNvSpPr txBox="1">
              <a:spLocks noChangeArrowheads="1"/>
            </p:cNvSpPr>
            <p:nvPr/>
          </p:nvSpPr>
          <p:spPr bwMode="auto">
            <a:xfrm>
              <a:off x="1177" y="3295"/>
              <a:ext cx="3744" cy="634"/>
            </a:xfrm>
            <a:prstGeom prst="rect">
              <a:avLst/>
            </a:prstGeom>
            <a:noFill/>
            <a:ln w="12700">
              <a:noFill/>
              <a:miter lim="800000"/>
              <a:headEnd/>
              <a:tailEnd/>
            </a:ln>
          </p:spPr>
          <p:txBody>
            <a:bodyPr>
              <a:spAutoFit/>
            </a:bodyPr>
            <a:lstStyle/>
            <a:p>
              <a:pPr eaLnBrk="0" hangingPunct="0">
                <a:spcBef>
                  <a:spcPct val="50000"/>
                </a:spcBef>
              </a:pPr>
              <a:r>
                <a:rPr lang="en-US" altLang="zh-CN" sz="4000">
                  <a:solidFill>
                    <a:srgbClr val="1313FF"/>
                  </a:solidFill>
                  <a:latin typeface="Arial" charset="0"/>
                  <a:ea typeface="宋体" pitchFamily="2" charset="-122"/>
                </a:rPr>
                <a:t>-1</a:t>
              </a:r>
              <a:r>
                <a:rPr lang="en-US" altLang="zh-CN" sz="4000">
                  <a:latin typeface="Arial" charset="0"/>
                  <a:ea typeface="宋体" pitchFamily="2" charset="-122"/>
                </a:rPr>
                <a:t>              0            </a:t>
              </a:r>
              <a:r>
                <a:rPr lang="en-US" altLang="zh-CN" sz="4000">
                  <a:solidFill>
                    <a:srgbClr val="1313FF"/>
                  </a:solidFill>
                  <a:latin typeface="Arial" charset="0"/>
                  <a:ea typeface="宋体" pitchFamily="2" charset="-122"/>
                </a:rPr>
                <a:t>+1</a:t>
              </a:r>
              <a:r>
                <a:rPr lang="en-US" altLang="zh-CN" sz="6000">
                  <a:latin typeface="Arial" charset="0"/>
                  <a:ea typeface="宋体" pitchFamily="2" charset="-122"/>
                </a:rPr>
                <a:t>                 </a:t>
              </a:r>
            </a:p>
          </p:txBody>
        </p:sp>
      </p:grpSp>
      <p:sp>
        <p:nvSpPr>
          <p:cNvPr id="13" name="灯片编号占位符 12"/>
          <p:cNvSpPr>
            <a:spLocks noGrp="1"/>
          </p:cNvSpPr>
          <p:nvPr>
            <p:ph type="sldNum" sz="quarter" idx="12"/>
          </p:nvPr>
        </p:nvSpPr>
        <p:spPr/>
        <p:txBody>
          <a:bodyPr/>
          <a:lstStyle/>
          <a:p>
            <a:pPr>
              <a:defRPr/>
            </a:pPr>
            <a:fld id="{62FC49CA-8014-4DA2-ABEB-AF96863EC77D}" type="slidenum">
              <a:rPr lang="en-US" altLang="zh-CN" smtClean="0"/>
              <a:pPr>
                <a:defRPr/>
              </a:pPr>
              <a:t>126</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p:txBody>
          <a:bodyPr/>
          <a:lstStyle/>
          <a:p>
            <a:pPr eaLnBrk="1" hangingPunct="1"/>
            <a:r>
              <a:rPr lang="en-US" altLang="zh-CN" dirty="0" smtClean="0"/>
              <a:t>3.4.3 </a:t>
            </a:r>
            <a:r>
              <a:rPr lang="zh-CN" altLang="en-US" dirty="0" smtClean="0"/>
              <a:t>峰态（</a:t>
            </a:r>
            <a:r>
              <a:rPr lang="en-US" altLang="zh-CN" i="1" dirty="0" smtClean="0"/>
              <a:t>Kurtosis</a:t>
            </a:r>
            <a:r>
              <a:rPr lang="zh-CN" altLang="en-US" dirty="0" smtClean="0"/>
              <a:t>）</a:t>
            </a:r>
          </a:p>
        </p:txBody>
      </p:sp>
      <p:sp>
        <p:nvSpPr>
          <p:cNvPr id="143364" name="Rectangle 3"/>
          <p:cNvSpPr>
            <a:spLocks noGrp="1" noChangeArrowheads="1"/>
          </p:cNvSpPr>
          <p:nvPr>
            <p:ph type="body" idx="1"/>
          </p:nvPr>
        </p:nvSpPr>
        <p:spPr>
          <a:xfrm>
            <a:off x="0" y="1339850"/>
            <a:ext cx="8626475" cy="2089150"/>
          </a:xfrm>
        </p:spPr>
        <p:txBody>
          <a:bodyPr/>
          <a:lstStyle/>
          <a:p>
            <a:pPr eaLnBrk="1" hangingPunct="1"/>
            <a:r>
              <a:rPr lang="zh-CN" altLang="en-US" smtClean="0">
                <a:solidFill>
                  <a:srgbClr val="FF3300"/>
                </a:solidFill>
              </a:rPr>
              <a:t>峰度</a:t>
            </a:r>
            <a:r>
              <a:rPr lang="en-US" altLang="zh-CN" smtClean="0">
                <a:solidFill>
                  <a:srgbClr val="7030A0"/>
                </a:solidFill>
                <a:latin typeface="Times New Roman" pitchFamily="18" charset="0"/>
              </a:rPr>
              <a:t>——</a:t>
            </a:r>
            <a:r>
              <a:rPr lang="zh-CN" altLang="en-US" smtClean="0">
                <a:solidFill>
                  <a:srgbClr val="7030A0"/>
                </a:solidFill>
              </a:rPr>
              <a:t>是指变量的集中程度和分布曲线的陡峭（或平坦）的程度。</a:t>
            </a:r>
          </a:p>
          <a:p>
            <a:pPr lvl="1" eaLnBrk="1" hangingPunct="1"/>
            <a:r>
              <a:rPr lang="zh-CN" altLang="en-US" smtClean="0"/>
              <a:t>对峰度的度量通常以</a:t>
            </a:r>
            <a:r>
              <a:rPr lang="zh-CN" altLang="en-US" u="sng" smtClean="0">
                <a:solidFill>
                  <a:schemeClr val="tx2"/>
                </a:solidFill>
              </a:rPr>
              <a:t>正态分布曲线</a:t>
            </a:r>
            <a:r>
              <a:rPr lang="zh-CN" altLang="en-US" smtClean="0"/>
              <a:t>为比较标准，分为正态峰度、尖顶峰度和平顶峰度</a:t>
            </a:r>
            <a:r>
              <a:rPr lang="en-US" altLang="zh-CN" smtClean="0"/>
              <a:t>.</a:t>
            </a:r>
          </a:p>
        </p:txBody>
      </p:sp>
      <p:grpSp>
        <p:nvGrpSpPr>
          <p:cNvPr id="2" name="Group 4"/>
          <p:cNvGrpSpPr>
            <a:grpSpLocks/>
          </p:cNvGrpSpPr>
          <p:nvPr/>
        </p:nvGrpSpPr>
        <p:grpSpPr bwMode="auto">
          <a:xfrm>
            <a:off x="4468813" y="4970463"/>
            <a:ext cx="3317875" cy="1673225"/>
            <a:chOff x="3334" y="1117"/>
            <a:chExt cx="2090" cy="1054"/>
          </a:xfrm>
        </p:grpSpPr>
        <p:sp>
          <p:nvSpPr>
            <p:cNvPr id="497669" name="Rectangle 5"/>
            <p:cNvSpPr>
              <a:spLocks noChangeArrowheads="1"/>
            </p:cNvSpPr>
            <p:nvPr/>
          </p:nvSpPr>
          <p:spPr bwMode="auto">
            <a:xfrm>
              <a:off x="3862" y="1885"/>
              <a:ext cx="1008" cy="286"/>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zh-CN" altLang="en-US" b="1">
                  <a:solidFill>
                    <a:srgbClr val="1313FF"/>
                  </a:solidFill>
                  <a:effectLst>
                    <a:outerShdw blurRad="38100" dist="38100" dir="2700000" algn="tl">
                      <a:srgbClr val="C0C0C0"/>
                    </a:outerShdw>
                  </a:effectLst>
                  <a:latin typeface="Arial" charset="0"/>
                  <a:ea typeface="宋体" pitchFamily="2" charset="-122"/>
                </a:rPr>
                <a:t>平顶分布</a:t>
              </a:r>
            </a:p>
          </p:txBody>
        </p:sp>
        <p:sp>
          <p:nvSpPr>
            <p:cNvPr id="497670" name="Line 6"/>
            <p:cNvSpPr>
              <a:spLocks noChangeShapeType="1"/>
            </p:cNvSpPr>
            <p:nvPr/>
          </p:nvSpPr>
          <p:spPr bwMode="auto">
            <a:xfrm flipV="1">
              <a:off x="3334" y="1837"/>
              <a:ext cx="2090" cy="7"/>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grpSp>
          <p:nvGrpSpPr>
            <p:cNvPr id="143378" name="Group 7"/>
            <p:cNvGrpSpPr>
              <a:grpSpLocks/>
            </p:cNvGrpSpPr>
            <p:nvPr/>
          </p:nvGrpSpPr>
          <p:grpSpPr bwMode="auto">
            <a:xfrm>
              <a:off x="3334" y="1252"/>
              <a:ext cx="1982" cy="457"/>
              <a:chOff x="2021" y="1605"/>
              <a:chExt cx="1725" cy="338"/>
            </a:xfrm>
          </p:grpSpPr>
          <p:sp>
            <p:nvSpPr>
              <p:cNvPr id="143382" name="Freeform 8"/>
              <p:cNvSpPr>
                <a:spLocks/>
              </p:cNvSpPr>
              <p:nvPr/>
            </p:nvSpPr>
            <p:spPr bwMode="auto">
              <a:xfrm>
                <a:off x="2880" y="1607"/>
                <a:ext cx="866" cy="336"/>
              </a:xfrm>
              <a:custGeom>
                <a:avLst/>
                <a:gdLst>
                  <a:gd name="T0" fmla="*/ 907 w 863"/>
                  <a:gd name="T1" fmla="*/ 1 h 575"/>
                  <a:gd name="T2" fmla="*/ 815 w 863"/>
                  <a:gd name="T3" fmla="*/ 1 h 575"/>
                  <a:gd name="T4" fmla="*/ 771 w 863"/>
                  <a:gd name="T5" fmla="*/ 1 h 575"/>
                  <a:gd name="T6" fmla="*/ 710 w 863"/>
                  <a:gd name="T7" fmla="*/ 1 h 575"/>
                  <a:gd name="T8" fmla="*/ 664 w 863"/>
                  <a:gd name="T9" fmla="*/ 1 h 575"/>
                  <a:gd name="T10" fmla="*/ 620 w 863"/>
                  <a:gd name="T11" fmla="*/ 1 h 575"/>
                  <a:gd name="T12" fmla="*/ 574 w 863"/>
                  <a:gd name="T13" fmla="*/ 1 h 575"/>
                  <a:gd name="T14" fmla="*/ 482 w 863"/>
                  <a:gd name="T15" fmla="*/ 1 h 575"/>
                  <a:gd name="T16" fmla="*/ 377 w 863"/>
                  <a:gd name="T17" fmla="*/ 1 h 575"/>
                  <a:gd name="T18" fmla="*/ 287 w 863"/>
                  <a:gd name="T19" fmla="*/ 1 h 575"/>
                  <a:gd name="T20" fmla="*/ 241 w 863"/>
                  <a:gd name="T21" fmla="*/ 1 h 575"/>
                  <a:gd name="T22" fmla="*/ 195 w 863"/>
                  <a:gd name="T23" fmla="*/ 1 h 575"/>
                  <a:gd name="T24" fmla="*/ 136 w 863"/>
                  <a:gd name="T25" fmla="*/ 1 h 575"/>
                  <a:gd name="T26" fmla="*/ 90 w 863"/>
                  <a:gd name="T27" fmla="*/ 1 h 575"/>
                  <a:gd name="T28" fmla="*/ 44 w 863"/>
                  <a:gd name="T29" fmla="*/ 1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1"/>
                    </a:lnTo>
                    <a:lnTo>
                      <a:pt x="680" y="551"/>
                    </a:lnTo>
                    <a:lnTo>
                      <a:pt x="634" y="538"/>
                    </a:lnTo>
                    <a:lnTo>
                      <a:pt x="590" y="520"/>
                    </a:lnTo>
                    <a:lnTo>
                      <a:pt x="544" y="496"/>
                    </a:lnTo>
                    <a:lnTo>
                      <a:pt x="452" y="429"/>
                    </a:lnTo>
                    <a:lnTo>
                      <a:pt x="362" y="335"/>
                    </a:lnTo>
                    <a:lnTo>
                      <a:pt x="272" y="224"/>
                    </a:lnTo>
                    <a:lnTo>
                      <a:pt x="226" y="167"/>
                    </a:lnTo>
                    <a:lnTo>
                      <a:pt x="180" y="113"/>
                    </a:lnTo>
                    <a:lnTo>
                      <a:pt x="136" y="67"/>
                    </a:lnTo>
                    <a:lnTo>
                      <a:pt x="90" y="31"/>
                    </a:lnTo>
                    <a:lnTo>
                      <a:pt x="44" y="8"/>
                    </a:lnTo>
                    <a:lnTo>
                      <a:pt x="0" y="0"/>
                    </a:lnTo>
                  </a:path>
                </a:pathLst>
              </a:custGeom>
              <a:noFill/>
              <a:ln w="50800" cap="rnd">
                <a:solidFill>
                  <a:srgbClr val="1313FF"/>
                </a:solidFill>
                <a:round/>
                <a:headEnd/>
                <a:tailEnd/>
              </a:ln>
            </p:spPr>
            <p:txBody>
              <a:bodyPr/>
              <a:lstStyle/>
              <a:p>
                <a:endParaRPr lang="zh-CN" altLang="en-US"/>
              </a:p>
            </p:txBody>
          </p:sp>
          <p:sp>
            <p:nvSpPr>
              <p:cNvPr id="143383" name="Freeform 9"/>
              <p:cNvSpPr>
                <a:spLocks/>
              </p:cNvSpPr>
              <p:nvPr/>
            </p:nvSpPr>
            <p:spPr bwMode="auto">
              <a:xfrm>
                <a:off x="2021" y="1605"/>
                <a:ext cx="859" cy="338"/>
              </a:xfrm>
              <a:custGeom>
                <a:avLst/>
                <a:gdLst>
                  <a:gd name="T0" fmla="*/ 0 w 863"/>
                  <a:gd name="T1" fmla="*/ 1 h 575"/>
                  <a:gd name="T2" fmla="*/ 90 w 863"/>
                  <a:gd name="T3" fmla="*/ 1 h 575"/>
                  <a:gd name="T4" fmla="*/ 121 w 863"/>
                  <a:gd name="T5" fmla="*/ 1 h 575"/>
                  <a:gd name="T6" fmla="*/ 165 w 863"/>
                  <a:gd name="T7" fmla="*/ 1 h 575"/>
                  <a:gd name="T8" fmla="*/ 211 w 863"/>
                  <a:gd name="T9" fmla="*/ 1 h 575"/>
                  <a:gd name="T10" fmla="*/ 257 w 863"/>
                  <a:gd name="T11" fmla="*/ 1 h 575"/>
                  <a:gd name="T12" fmla="*/ 301 w 863"/>
                  <a:gd name="T13" fmla="*/ 1 h 575"/>
                  <a:gd name="T14" fmla="*/ 378 w 863"/>
                  <a:gd name="T15" fmla="*/ 1 h 575"/>
                  <a:gd name="T16" fmla="*/ 468 w 863"/>
                  <a:gd name="T17" fmla="*/ 1 h 575"/>
                  <a:gd name="T18" fmla="*/ 545 w 863"/>
                  <a:gd name="T19" fmla="*/ 1 h 575"/>
                  <a:gd name="T20" fmla="*/ 589 w 863"/>
                  <a:gd name="T21" fmla="*/ 1 h 575"/>
                  <a:gd name="T22" fmla="*/ 635 w 863"/>
                  <a:gd name="T23" fmla="*/ 1 h 575"/>
                  <a:gd name="T24" fmla="*/ 681 w 863"/>
                  <a:gd name="T25" fmla="*/ 1 h 575"/>
                  <a:gd name="T26" fmla="*/ 721 w 863"/>
                  <a:gd name="T27" fmla="*/ 1 h 575"/>
                  <a:gd name="T28" fmla="*/ 756 w 863"/>
                  <a:gd name="T29" fmla="*/ 1 h 575"/>
                  <a:gd name="T30" fmla="*/ 802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1"/>
                    </a:lnTo>
                    <a:lnTo>
                      <a:pt x="180" y="551"/>
                    </a:lnTo>
                    <a:lnTo>
                      <a:pt x="226" y="538"/>
                    </a:lnTo>
                    <a:lnTo>
                      <a:pt x="272" y="520"/>
                    </a:lnTo>
                    <a:lnTo>
                      <a:pt x="316" y="496"/>
                    </a:lnTo>
                    <a:lnTo>
                      <a:pt x="408" y="429"/>
                    </a:lnTo>
                    <a:lnTo>
                      <a:pt x="498" y="335"/>
                    </a:lnTo>
                    <a:lnTo>
                      <a:pt x="590" y="224"/>
                    </a:lnTo>
                    <a:lnTo>
                      <a:pt x="634" y="167"/>
                    </a:lnTo>
                    <a:lnTo>
                      <a:pt x="680" y="113"/>
                    </a:lnTo>
                    <a:lnTo>
                      <a:pt x="726" y="67"/>
                    </a:lnTo>
                    <a:lnTo>
                      <a:pt x="770" y="31"/>
                    </a:lnTo>
                    <a:lnTo>
                      <a:pt x="816" y="8"/>
                    </a:lnTo>
                    <a:lnTo>
                      <a:pt x="862" y="0"/>
                    </a:lnTo>
                  </a:path>
                </a:pathLst>
              </a:custGeom>
              <a:noFill/>
              <a:ln w="50800" cap="rnd">
                <a:solidFill>
                  <a:srgbClr val="1313FF"/>
                </a:solidFill>
                <a:round/>
                <a:headEnd/>
                <a:tailEnd/>
              </a:ln>
            </p:spPr>
            <p:txBody>
              <a:bodyPr/>
              <a:lstStyle/>
              <a:p>
                <a:endParaRPr lang="zh-CN" altLang="en-US"/>
              </a:p>
            </p:txBody>
          </p:sp>
        </p:grpSp>
        <p:grpSp>
          <p:nvGrpSpPr>
            <p:cNvPr id="143379" name="Group 10"/>
            <p:cNvGrpSpPr>
              <a:grpSpLocks/>
            </p:cNvGrpSpPr>
            <p:nvPr/>
          </p:nvGrpSpPr>
          <p:grpSpPr bwMode="auto">
            <a:xfrm>
              <a:off x="3469" y="1117"/>
              <a:ext cx="1679" cy="649"/>
              <a:chOff x="2016" y="1319"/>
              <a:chExt cx="1730" cy="628"/>
            </a:xfrm>
          </p:grpSpPr>
          <p:sp>
            <p:nvSpPr>
              <p:cNvPr id="143380" name="Freeform 11"/>
              <p:cNvSpPr>
                <a:spLocks/>
              </p:cNvSpPr>
              <p:nvPr/>
            </p:nvSpPr>
            <p:spPr bwMode="auto">
              <a:xfrm>
                <a:off x="2928" y="1319"/>
                <a:ext cx="818" cy="628"/>
              </a:xfrm>
              <a:custGeom>
                <a:avLst/>
                <a:gdLst>
                  <a:gd name="T0" fmla="*/ 387 w 863"/>
                  <a:gd name="T1" fmla="*/ 2154 h 575"/>
                  <a:gd name="T2" fmla="*/ 345 w 863"/>
                  <a:gd name="T3" fmla="*/ 2123 h 575"/>
                  <a:gd name="T4" fmla="*/ 325 w 863"/>
                  <a:gd name="T5" fmla="*/ 2104 h 575"/>
                  <a:gd name="T6" fmla="*/ 303 w 863"/>
                  <a:gd name="T7" fmla="*/ 2067 h 575"/>
                  <a:gd name="T8" fmla="*/ 284 w 863"/>
                  <a:gd name="T9" fmla="*/ 2011 h 575"/>
                  <a:gd name="T10" fmla="*/ 264 w 863"/>
                  <a:gd name="T11" fmla="*/ 1950 h 575"/>
                  <a:gd name="T12" fmla="*/ 243 w 863"/>
                  <a:gd name="T13" fmla="*/ 1856 h 575"/>
                  <a:gd name="T14" fmla="*/ 203 w 863"/>
                  <a:gd name="T15" fmla="*/ 1603 h 575"/>
                  <a:gd name="T16" fmla="*/ 163 w 863"/>
                  <a:gd name="T17" fmla="*/ 1255 h 575"/>
                  <a:gd name="T18" fmla="*/ 122 w 863"/>
                  <a:gd name="T19" fmla="*/ 843 h 575"/>
                  <a:gd name="T20" fmla="*/ 100 w 863"/>
                  <a:gd name="T21" fmla="*/ 624 h 575"/>
                  <a:gd name="T22" fmla="*/ 81 w 863"/>
                  <a:gd name="T23" fmla="*/ 422 h 575"/>
                  <a:gd name="T24" fmla="*/ 61 w 863"/>
                  <a:gd name="T25" fmla="*/ 254 h 575"/>
                  <a:gd name="T26" fmla="*/ 41 w 863"/>
                  <a:gd name="T27" fmla="*/ 115 h 575"/>
                  <a:gd name="T28" fmla="*/ 21 w 863"/>
                  <a:gd name="T29" fmla="*/ 29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0"/>
                    </a:lnTo>
                    <a:lnTo>
                      <a:pt x="680" y="551"/>
                    </a:lnTo>
                    <a:lnTo>
                      <a:pt x="634" y="537"/>
                    </a:lnTo>
                    <a:lnTo>
                      <a:pt x="590" y="520"/>
                    </a:lnTo>
                    <a:lnTo>
                      <a:pt x="544" y="495"/>
                    </a:lnTo>
                    <a:lnTo>
                      <a:pt x="452" y="428"/>
                    </a:lnTo>
                    <a:lnTo>
                      <a:pt x="362" y="335"/>
                    </a:lnTo>
                    <a:lnTo>
                      <a:pt x="272" y="224"/>
                    </a:lnTo>
                    <a:lnTo>
                      <a:pt x="226" y="167"/>
                    </a:lnTo>
                    <a:lnTo>
                      <a:pt x="180" y="113"/>
                    </a:lnTo>
                    <a:lnTo>
                      <a:pt x="136" y="67"/>
                    </a:lnTo>
                    <a:lnTo>
                      <a:pt x="90" y="31"/>
                    </a:lnTo>
                    <a:lnTo>
                      <a:pt x="44" y="8"/>
                    </a:lnTo>
                    <a:lnTo>
                      <a:pt x="0" y="0"/>
                    </a:lnTo>
                  </a:path>
                </a:pathLst>
              </a:custGeom>
              <a:noFill/>
              <a:ln w="57150" cap="rnd">
                <a:solidFill>
                  <a:schemeClr val="tx2"/>
                </a:solidFill>
                <a:round/>
                <a:headEnd/>
                <a:tailEnd/>
              </a:ln>
            </p:spPr>
            <p:txBody>
              <a:bodyPr/>
              <a:lstStyle/>
              <a:p>
                <a:endParaRPr lang="zh-CN" altLang="en-US"/>
              </a:p>
            </p:txBody>
          </p:sp>
          <p:sp>
            <p:nvSpPr>
              <p:cNvPr id="143381" name="Freeform 12"/>
              <p:cNvSpPr>
                <a:spLocks/>
              </p:cNvSpPr>
              <p:nvPr/>
            </p:nvSpPr>
            <p:spPr bwMode="auto">
              <a:xfrm>
                <a:off x="2016" y="1319"/>
                <a:ext cx="907" cy="628"/>
              </a:xfrm>
              <a:custGeom>
                <a:avLst/>
                <a:gdLst>
                  <a:gd name="T0" fmla="*/ 0 w 863"/>
                  <a:gd name="T1" fmla="*/ 2154 h 575"/>
                  <a:gd name="T2" fmla="*/ 191 w 863"/>
                  <a:gd name="T3" fmla="*/ 2123 h 575"/>
                  <a:gd name="T4" fmla="*/ 286 w 863"/>
                  <a:gd name="T5" fmla="*/ 2104 h 575"/>
                  <a:gd name="T6" fmla="*/ 380 w 863"/>
                  <a:gd name="T7" fmla="*/ 2067 h 575"/>
                  <a:gd name="T8" fmla="*/ 477 w 863"/>
                  <a:gd name="T9" fmla="*/ 2011 h 575"/>
                  <a:gd name="T10" fmla="*/ 576 w 863"/>
                  <a:gd name="T11" fmla="*/ 1950 h 575"/>
                  <a:gd name="T12" fmla="*/ 668 w 863"/>
                  <a:gd name="T13" fmla="*/ 1856 h 575"/>
                  <a:gd name="T14" fmla="*/ 861 w 863"/>
                  <a:gd name="T15" fmla="*/ 1603 h 575"/>
                  <a:gd name="T16" fmla="*/ 1050 w 863"/>
                  <a:gd name="T17" fmla="*/ 1255 h 575"/>
                  <a:gd name="T18" fmla="*/ 1248 w 863"/>
                  <a:gd name="T19" fmla="*/ 843 h 575"/>
                  <a:gd name="T20" fmla="*/ 1338 w 863"/>
                  <a:gd name="T21" fmla="*/ 624 h 575"/>
                  <a:gd name="T22" fmla="*/ 1432 w 863"/>
                  <a:gd name="T23" fmla="*/ 422 h 575"/>
                  <a:gd name="T24" fmla="*/ 1530 w 863"/>
                  <a:gd name="T25" fmla="*/ 254 h 575"/>
                  <a:gd name="T26" fmla="*/ 1622 w 863"/>
                  <a:gd name="T27" fmla="*/ 115 h 575"/>
                  <a:gd name="T28" fmla="*/ 1720 w 863"/>
                  <a:gd name="T29" fmla="*/ 29 h 575"/>
                  <a:gd name="T30" fmla="*/ 1817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0"/>
                    </a:lnTo>
                    <a:lnTo>
                      <a:pt x="180" y="551"/>
                    </a:lnTo>
                    <a:lnTo>
                      <a:pt x="226" y="537"/>
                    </a:lnTo>
                    <a:lnTo>
                      <a:pt x="272" y="520"/>
                    </a:lnTo>
                    <a:lnTo>
                      <a:pt x="316" y="495"/>
                    </a:lnTo>
                    <a:lnTo>
                      <a:pt x="408" y="428"/>
                    </a:lnTo>
                    <a:lnTo>
                      <a:pt x="498" y="335"/>
                    </a:lnTo>
                    <a:lnTo>
                      <a:pt x="590" y="224"/>
                    </a:lnTo>
                    <a:lnTo>
                      <a:pt x="634" y="167"/>
                    </a:lnTo>
                    <a:lnTo>
                      <a:pt x="680" y="113"/>
                    </a:lnTo>
                    <a:lnTo>
                      <a:pt x="726" y="67"/>
                    </a:lnTo>
                    <a:lnTo>
                      <a:pt x="770" y="31"/>
                    </a:lnTo>
                    <a:lnTo>
                      <a:pt x="816" y="8"/>
                    </a:lnTo>
                    <a:lnTo>
                      <a:pt x="862" y="0"/>
                    </a:lnTo>
                  </a:path>
                </a:pathLst>
              </a:custGeom>
              <a:noFill/>
              <a:ln w="57150" cap="rnd">
                <a:solidFill>
                  <a:schemeClr val="tx2"/>
                </a:solidFill>
                <a:round/>
                <a:headEnd/>
                <a:tailEnd/>
              </a:ln>
            </p:spPr>
            <p:txBody>
              <a:bodyPr/>
              <a:lstStyle/>
              <a:p>
                <a:endParaRPr lang="zh-CN" altLang="en-US"/>
              </a:p>
            </p:txBody>
          </p:sp>
        </p:grpSp>
      </p:grpSp>
      <p:grpSp>
        <p:nvGrpSpPr>
          <p:cNvPr id="5" name="Group 13"/>
          <p:cNvGrpSpPr>
            <a:grpSpLocks/>
          </p:cNvGrpSpPr>
          <p:nvPr/>
        </p:nvGrpSpPr>
        <p:grpSpPr bwMode="auto">
          <a:xfrm>
            <a:off x="5826125" y="3046413"/>
            <a:ext cx="3317875" cy="1885950"/>
            <a:chOff x="2877" y="2982"/>
            <a:chExt cx="2090" cy="1188"/>
          </a:xfrm>
        </p:grpSpPr>
        <p:sp>
          <p:nvSpPr>
            <p:cNvPr id="497678" name="Rectangle 14"/>
            <p:cNvSpPr>
              <a:spLocks noChangeArrowheads="1"/>
            </p:cNvSpPr>
            <p:nvPr/>
          </p:nvSpPr>
          <p:spPr bwMode="auto">
            <a:xfrm>
              <a:off x="3379" y="3884"/>
              <a:ext cx="1152" cy="286"/>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lang="zh-CN" altLang="en-US" b="1">
                  <a:solidFill>
                    <a:srgbClr val="1313FF"/>
                  </a:solidFill>
                  <a:effectLst>
                    <a:outerShdw blurRad="38100" dist="38100" dir="2700000" algn="tl">
                      <a:srgbClr val="C0C0C0"/>
                    </a:outerShdw>
                  </a:effectLst>
                  <a:latin typeface="Arial" charset="0"/>
                  <a:ea typeface="宋体" pitchFamily="2" charset="-122"/>
                </a:rPr>
                <a:t>尖峰分布</a:t>
              </a:r>
            </a:p>
          </p:txBody>
        </p:sp>
        <p:grpSp>
          <p:nvGrpSpPr>
            <p:cNvPr id="143369" name="Group 15"/>
            <p:cNvGrpSpPr>
              <a:grpSpLocks/>
            </p:cNvGrpSpPr>
            <p:nvPr/>
          </p:nvGrpSpPr>
          <p:grpSpPr bwMode="auto">
            <a:xfrm>
              <a:off x="3107" y="2982"/>
              <a:ext cx="1594" cy="869"/>
              <a:chOff x="2064" y="2448"/>
              <a:chExt cx="1730" cy="1012"/>
            </a:xfrm>
          </p:grpSpPr>
          <p:sp>
            <p:nvSpPr>
              <p:cNvPr id="143374" name="Freeform 16"/>
              <p:cNvSpPr>
                <a:spLocks/>
              </p:cNvSpPr>
              <p:nvPr/>
            </p:nvSpPr>
            <p:spPr bwMode="auto">
              <a:xfrm>
                <a:off x="2928" y="2448"/>
                <a:ext cx="866" cy="1012"/>
              </a:xfrm>
              <a:custGeom>
                <a:avLst/>
                <a:gdLst>
                  <a:gd name="T0" fmla="*/ 907 w 863"/>
                  <a:gd name="T1" fmla="*/ 2764050 h 575"/>
                  <a:gd name="T2" fmla="*/ 815 w 863"/>
                  <a:gd name="T3" fmla="*/ 2725428 h 575"/>
                  <a:gd name="T4" fmla="*/ 771 w 863"/>
                  <a:gd name="T5" fmla="*/ 2697920 h 575"/>
                  <a:gd name="T6" fmla="*/ 710 w 863"/>
                  <a:gd name="T7" fmla="*/ 2653722 h 575"/>
                  <a:gd name="T8" fmla="*/ 664 w 863"/>
                  <a:gd name="T9" fmla="*/ 2586126 h 575"/>
                  <a:gd name="T10" fmla="*/ 620 w 863"/>
                  <a:gd name="T11" fmla="*/ 2503623 h 575"/>
                  <a:gd name="T12" fmla="*/ 574 w 863"/>
                  <a:gd name="T13" fmla="*/ 2383065 h 575"/>
                  <a:gd name="T14" fmla="*/ 482 w 863"/>
                  <a:gd name="T15" fmla="*/ 2059795 h 575"/>
                  <a:gd name="T16" fmla="*/ 377 w 863"/>
                  <a:gd name="T17" fmla="*/ 1614200 h 575"/>
                  <a:gd name="T18" fmla="*/ 287 w 863"/>
                  <a:gd name="T19" fmla="*/ 1077736 h 575"/>
                  <a:gd name="T20" fmla="*/ 241 w 863"/>
                  <a:gd name="T21" fmla="*/ 804214 h 575"/>
                  <a:gd name="T22" fmla="*/ 195 w 863"/>
                  <a:gd name="T23" fmla="*/ 544146 h 575"/>
                  <a:gd name="T24" fmla="*/ 136 w 863"/>
                  <a:gd name="T25" fmla="*/ 323076 h 575"/>
                  <a:gd name="T26" fmla="*/ 90 w 863"/>
                  <a:gd name="T27" fmla="*/ 151163 h 575"/>
                  <a:gd name="T28" fmla="*/ 44 w 863"/>
                  <a:gd name="T29" fmla="*/ 38757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0"/>
                    </a:lnTo>
                    <a:lnTo>
                      <a:pt x="680" y="551"/>
                    </a:lnTo>
                    <a:lnTo>
                      <a:pt x="634" y="537"/>
                    </a:lnTo>
                    <a:lnTo>
                      <a:pt x="590" y="520"/>
                    </a:lnTo>
                    <a:lnTo>
                      <a:pt x="544" y="495"/>
                    </a:lnTo>
                    <a:lnTo>
                      <a:pt x="452" y="428"/>
                    </a:lnTo>
                    <a:lnTo>
                      <a:pt x="362" y="335"/>
                    </a:lnTo>
                    <a:lnTo>
                      <a:pt x="272" y="224"/>
                    </a:lnTo>
                    <a:lnTo>
                      <a:pt x="226" y="167"/>
                    </a:lnTo>
                    <a:lnTo>
                      <a:pt x="180" y="113"/>
                    </a:lnTo>
                    <a:lnTo>
                      <a:pt x="136" y="67"/>
                    </a:lnTo>
                    <a:lnTo>
                      <a:pt x="90" y="31"/>
                    </a:lnTo>
                    <a:lnTo>
                      <a:pt x="44" y="8"/>
                    </a:lnTo>
                    <a:lnTo>
                      <a:pt x="0" y="0"/>
                    </a:lnTo>
                  </a:path>
                </a:pathLst>
              </a:custGeom>
              <a:noFill/>
              <a:ln w="50800" cap="rnd">
                <a:solidFill>
                  <a:srgbClr val="1313FF"/>
                </a:solidFill>
                <a:round/>
                <a:headEnd/>
                <a:tailEnd/>
              </a:ln>
            </p:spPr>
            <p:txBody>
              <a:bodyPr/>
              <a:lstStyle/>
              <a:p>
                <a:endParaRPr lang="zh-CN" altLang="en-US"/>
              </a:p>
            </p:txBody>
          </p:sp>
          <p:sp>
            <p:nvSpPr>
              <p:cNvPr id="143375" name="Freeform 17"/>
              <p:cNvSpPr>
                <a:spLocks/>
              </p:cNvSpPr>
              <p:nvPr/>
            </p:nvSpPr>
            <p:spPr bwMode="auto">
              <a:xfrm>
                <a:off x="2064" y="2448"/>
                <a:ext cx="864" cy="1012"/>
              </a:xfrm>
              <a:custGeom>
                <a:avLst/>
                <a:gdLst>
                  <a:gd name="T0" fmla="*/ 0 w 863"/>
                  <a:gd name="T1" fmla="*/ 2764050 h 575"/>
                  <a:gd name="T2" fmla="*/ 90 w 863"/>
                  <a:gd name="T3" fmla="*/ 2725428 h 575"/>
                  <a:gd name="T4" fmla="*/ 136 w 863"/>
                  <a:gd name="T5" fmla="*/ 2697920 h 575"/>
                  <a:gd name="T6" fmla="*/ 180 w 863"/>
                  <a:gd name="T7" fmla="*/ 2653722 h 575"/>
                  <a:gd name="T8" fmla="*/ 226 w 863"/>
                  <a:gd name="T9" fmla="*/ 2586126 h 575"/>
                  <a:gd name="T10" fmla="*/ 272 w 863"/>
                  <a:gd name="T11" fmla="*/ 2503623 h 575"/>
                  <a:gd name="T12" fmla="*/ 316 w 863"/>
                  <a:gd name="T13" fmla="*/ 2383065 h 575"/>
                  <a:gd name="T14" fmla="*/ 408 w 863"/>
                  <a:gd name="T15" fmla="*/ 2059795 h 575"/>
                  <a:gd name="T16" fmla="*/ 513 w 863"/>
                  <a:gd name="T17" fmla="*/ 1614200 h 575"/>
                  <a:gd name="T18" fmla="*/ 605 w 863"/>
                  <a:gd name="T19" fmla="*/ 1077736 h 575"/>
                  <a:gd name="T20" fmla="*/ 649 w 863"/>
                  <a:gd name="T21" fmla="*/ 804214 h 575"/>
                  <a:gd name="T22" fmla="*/ 695 w 863"/>
                  <a:gd name="T23" fmla="*/ 544146 h 575"/>
                  <a:gd name="T24" fmla="*/ 741 w 863"/>
                  <a:gd name="T25" fmla="*/ 323076 h 575"/>
                  <a:gd name="T26" fmla="*/ 785 w 863"/>
                  <a:gd name="T27" fmla="*/ 151163 h 575"/>
                  <a:gd name="T28" fmla="*/ 831 w 863"/>
                  <a:gd name="T29" fmla="*/ 38757 h 575"/>
                  <a:gd name="T30" fmla="*/ 877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0"/>
                    </a:lnTo>
                    <a:lnTo>
                      <a:pt x="180" y="551"/>
                    </a:lnTo>
                    <a:lnTo>
                      <a:pt x="226" y="537"/>
                    </a:lnTo>
                    <a:lnTo>
                      <a:pt x="272" y="520"/>
                    </a:lnTo>
                    <a:lnTo>
                      <a:pt x="316" y="495"/>
                    </a:lnTo>
                    <a:lnTo>
                      <a:pt x="408" y="428"/>
                    </a:lnTo>
                    <a:lnTo>
                      <a:pt x="498" y="335"/>
                    </a:lnTo>
                    <a:lnTo>
                      <a:pt x="590" y="224"/>
                    </a:lnTo>
                    <a:lnTo>
                      <a:pt x="634" y="167"/>
                    </a:lnTo>
                    <a:lnTo>
                      <a:pt x="680" y="113"/>
                    </a:lnTo>
                    <a:lnTo>
                      <a:pt x="726" y="67"/>
                    </a:lnTo>
                    <a:lnTo>
                      <a:pt x="770" y="31"/>
                    </a:lnTo>
                    <a:lnTo>
                      <a:pt x="816" y="8"/>
                    </a:lnTo>
                    <a:lnTo>
                      <a:pt x="862" y="0"/>
                    </a:lnTo>
                  </a:path>
                </a:pathLst>
              </a:custGeom>
              <a:noFill/>
              <a:ln w="50800" cap="rnd">
                <a:solidFill>
                  <a:srgbClr val="1313FF"/>
                </a:solidFill>
                <a:round/>
                <a:headEnd/>
                <a:tailEnd/>
              </a:ln>
            </p:spPr>
            <p:txBody>
              <a:bodyPr/>
              <a:lstStyle/>
              <a:p>
                <a:endParaRPr lang="zh-CN" altLang="en-US"/>
              </a:p>
            </p:txBody>
          </p:sp>
        </p:grpSp>
        <p:sp>
          <p:nvSpPr>
            <p:cNvPr id="497682" name="Line 18"/>
            <p:cNvSpPr>
              <a:spLocks noChangeShapeType="1"/>
            </p:cNvSpPr>
            <p:nvPr/>
          </p:nvSpPr>
          <p:spPr bwMode="auto">
            <a:xfrm flipV="1">
              <a:off x="2877" y="3878"/>
              <a:ext cx="2090" cy="5"/>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grpSp>
          <p:nvGrpSpPr>
            <p:cNvPr id="143371" name="Group 19"/>
            <p:cNvGrpSpPr>
              <a:grpSpLocks/>
            </p:cNvGrpSpPr>
            <p:nvPr/>
          </p:nvGrpSpPr>
          <p:grpSpPr bwMode="auto">
            <a:xfrm>
              <a:off x="2971" y="3216"/>
              <a:ext cx="1815" cy="578"/>
              <a:chOff x="2016" y="2832"/>
              <a:chExt cx="1778" cy="628"/>
            </a:xfrm>
          </p:grpSpPr>
          <p:sp>
            <p:nvSpPr>
              <p:cNvPr id="143372" name="Freeform 20"/>
              <p:cNvSpPr>
                <a:spLocks/>
              </p:cNvSpPr>
              <p:nvPr/>
            </p:nvSpPr>
            <p:spPr bwMode="auto">
              <a:xfrm>
                <a:off x="2928" y="2832"/>
                <a:ext cx="866" cy="628"/>
              </a:xfrm>
              <a:custGeom>
                <a:avLst/>
                <a:gdLst>
                  <a:gd name="T0" fmla="*/ 907 w 863"/>
                  <a:gd name="T1" fmla="*/ 2154 h 575"/>
                  <a:gd name="T2" fmla="*/ 815 w 863"/>
                  <a:gd name="T3" fmla="*/ 2123 h 575"/>
                  <a:gd name="T4" fmla="*/ 771 w 863"/>
                  <a:gd name="T5" fmla="*/ 2104 h 575"/>
                  <a:gd name="T6" fmla="*/ 710 w 863"/>
                  <a:gd name="T7" fmla="*/ 2067 h 575"/>
                  <a:gd name="T8" fmla="*/ 664 w 863"/>
                  <a:gd name="T9" fmla="*/ 2011 h 575"/>
                  <a:gd name="T10" fmla="*/ 620 w 863"/>
                  <a:gd name="T11" fmla="*/ 1950 h 575"/>
                  <a:gd name="T12" fmla="*/ 574 w 863"/>
                  <a:gd name="T13" fmla="*/ 1856 h 575"/>
                  <a:gd name="T14" fmla="*/ 482 w 863"/>
                  <a:gd name="T15" fmla="*/ 1603 h 575"/>
                  <a:gd name="T16" fmla="*/ 377 w 863"/>
                  <a:gd name="T17" fmla="*/ 1255 h 575"/>
                  <a:gd name="T18" fmla="*/ 287 w 863"/>
                  <a:gd name="T19" fmla="*/ 843 h 575"/>
                  <a:gd name="T20" fmla="*/ 241 w 863"/>
                  <a:gd name="T21" fmla="*/ 624 h 575"/>
                  <a:gd name="T22" fmla="*/ 195 w 863"/>
                  <a:gd name="T23" fmla="*/ 422 h 575"/>
                  <a:gd name="T24" fmla="*/ 136 w 863"/>
                  <a:gd name="T25" fmla="*/ 254 h 575"/>
                  <a:gd name="T26" fmla="*/ 90 w 863"/>
                  <a:gd name="T27" fmla="*/ 115 h 575"/>
                  <a:gd name="T28" fmla="*/ 44 w 863"/>
                  <a:gd name="T29" fmla="*/ 29 h 575"/>
                  <a:gd name="T30" fmla="*/ 0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862" y="574"/>
                    </a:moveTo>
                    <a:lnTo>
                      <a:pt x="770" y="566"/>
                    </a:lnTo>
                    <a:lnTo>
                      <a:pt x="726" y="560"/>
                    </a:lnTo>
                    <a:lnTo>
                      <a:pt x="680" y="551"/>
                    </a:lnTo>
                    <a:lnTo>
                      <a:pt x="634" y="537"/>
                    </a:lnTo>
                    <a:lnTo>
                      <a:pt x="590" y="520"/>
                    </a:lnTo>
                    <a:lnTo>
                      <a:pt x="544" y="495"/>
                    </a:lnTo>
                    <a:lnTo>
                      <a:pt x="452" y="428"/>
                    </a:lnTo>
                    <a:lnTo>
                      <a:pt x="362" y="335"/>
                    </a:lnTo>
                    <a:lnTo>
                      <a:pt x="272" y="224"/>
                    </a:lnTo>
                    <a:lnTo>
                      <a:pt x="226" y="167"/>
                    </a:lnTo>
                    <a:lnTo>
                      <a:pt x="180" y="113"/>
                    </a:lnTo>
                    <a:lnTo>
                      <a:pt x="136" y="67"/>
                    </a:lnTo>
                    <a:lnTo>
                      <a:pt x="90" y="31"/>
                    </a:lnTo>
                    <a:lnTo>
                      <a:pt x="44" y="8"/>
                    </a:lnTo>
                    <a:lnTo>
                      <a:pt x="0" y="0"/>
                    </a:lnTo>
                  </a:path>
                </a:pathLst>
              </a:custGeom>
              <a:noFill/>
              <a:ln w="57150" cap="rnd">
                <a:solidFill>
                  <a:schemeClr val="tx2"/>
                </a:solidFill>
                <a:round/>
                <a:headEnd/>
                <a:tailEnd/>
              </a:ln>
            </p:spPr>
            <p:txBody>
              <a:bodyPr/>
              <a:lstStyle/>
              <a:p>
                <a:endParaRPr lang="zh-CN" altLang="en-US"/>
              </a:p>
            </p:txBody>
          </p:sp>
          <p:sp>
            <p:nvSpPr>
              <p:cNvPr id="143373" name="Freeform 21"/>
              <p:cNvSpPr>
                <a:spLocks/>
              </p:cNvSpPr>
              <p:nvPr/>
            </p:nvSpPr>
            <p:spPr bwMode="auto">
              <a:xfrm>
                <a:off x="2016" y="2832"/>
                <a:ext cx="907" cy="628"/>
              </a:xfrm>
              <a:custGeom>
                <a:avLst/>
                <a:gdLst>
                  <a:gd name="T0" fmla="*/ 0 w 863"/>
                  <a:gd name="T1" fmla="*/ 2154 h 575"/>
                  <a:gd name="T2" fmla="*/ 191 w 863"/>
                  <a:gd name="T3" fmla="*/ 2123 h 575"/>
                  <a:gd name="T4" fmla="*/ 286 w 863"/>
                  <a:gd name="T5" fmla="*/ 2104 h 575"/>
                  <a:gd name="T6" fmla="*/ 380 w 863"/>
                  <a:gd name="T7" fmla="*/ 2067 h 575"/>
                  <a:gd name="T8" fmla="*/ 477 w 863"/>
                  <a:gd name="T9" fmla="*/ 2011 h 575"/>
                  <a:gd name="T10" fmla="*/ 576 w 863"/>
                  <a:gd name="T11" fmla="*/ 1950 h 575"/>
                  <a:gd name="T12" fmla="*/ 668 w 863"/>
                  <a:gd name="T13" fmla="*/ 1856 h 575"/>
                  <a:gd name="T14" fmla="*/ 861 w 863"/>
                  <a:gd name="T15" fmla="*/ 1603 h 575"/>
                  <a:gd name="T16" fmla="*/ 1050 w 863"/>
                  <a:gd name="T17" fmla="*/ 1255 h 575"/>
                  <a:gd name="T18" fmla="*/ 1248 w 863"/>
                  <a:gd name="T19" fmla="*/ 843 h 575"/>
                  <a:gd name="T20" fmla="*/ 1338 w 863"/>
                  <a:gd name="T21" fmla="*/ 624 h 575"/>
                  <a:gd name="T22" fmla="*/ 1432 w 863"/>
                  <a:gd name="T23" fmla="*/ 422 h 575"/>
                  <a:gd name="T24" fmla="*/ 1530 w 863"/>
                  <a:gd name="T25" fmla="*/ 254 h 575"/>
                  <a:gd name="T26" fmla="*/ 1622 w 863"/>
                  <a:gd name="T27" fmla="*/ 115 h 575"/>
                  <a:gd name="T28" fmla="*/ 1720 w 863"/>
                  <a:gd name="T29" fmla="*/ 29 h 575"/>
                  <a:gd name="T30" fmla="*/ 1817 w 863"/>
                  <a:gd name="T31" fmla="*/ 0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3"/>
                  <a:gd name="T49" fmla="*/ 0 h 575"/>
                  <a:gd name="T50" fmla="*/ 863 w 863"/>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3" h="575">
                    <a:moveTo>
                      <a:pt x="0" y="574"/>
                    </a:moveTo>
                    <a:lnTo>
                      <a:pt x="90" y="566"/>
                    </a:lnTo>
                    <a:lnTo>
                      <a:pt x="136" y="560"/>
                    </a:lnTo>
                    <a:lnTo>
                      <a:pt x="180" y="551"/>
                    </a:lnTo>
                    <a:lnTo>
                      <a:pt x="226" y="537"/>
                    </a:lnTo>
                    <a:lnTo>
                      <a:pt x="272" y="520"/>
                    </a:lnTo>
                    <a:lnTo>
                      <a:pt x="316" y="495"/>
                    </a:lnTo>
                    <a:lnTo>
                      <a:pt x="408" y="428"/>
                    </a:lnTo>
                    <a:lnTo>
                      <a:pt x="498" y="335"/>
                    </a:lnTo>
                    <a:lnTo>
                      <a:pt x="590" y="224"/>
                    </a:lnTo>
                    <a:lnTo>
                      <a:pt x="634" y="167"/>
                    </a:lnTo>
                    <a:lnTo>
                      <a:pt x="680" y="113"/>
                    </a:lnTo>
                    <a:lnTo>
                      <a:pt x="726" y="67"/>
                    </a:lnTo>
                    <a:lnTo>
                      <a:pt x="770" y="31"/>
                    </a:lnTo>
                    <a:lnTo>
                      <a:pt x="816" y="8"/>
                    </a:lnTo>
                    <a:lnTo>
                      <a:pt x="862" y="0"/>
                    </a:lnTo>
                  </a:path>
                </a:pathLst>
              </a:custGeom>
              <a:noFill/>
              <a:ln w="57150" cap="rnd">
                <a:solidFill>
                  <a:schemeClr val="tx2"/>
                </a:solidFill>
                <a:round/>
                <a:headEnd/>
                <a:tailEnd/>
              </a:ln>
            </p:spPr>
            <p:txBody>
              <a:bodyPr/>
              <a:lstStyle/>
              <a:p>
                <a:endParaRPr lang="zh-CN" altLang="en-US"/>
              </a:p>
            </p:txBody>
          </p:sp>
        </p:grpSp>
      </p:grpSp>
      <p:sp>
        <p:nvSpPr>
          <p:cNvPr id="497686" name="Rectangle 22"/>
          <p:cNvSpPr>
            <a:spLocks noChangeArrowheads="1"/>
          </p:cNvSpPr>
          <p:nvPr/>
        </p:nvSpPr>
        <p:spPr bwMode="auto">
          <a:xfrm>
            <a:off x="179388" y="3622675"/>
            <a:ext cx="5688012" cy="2592388"/>
          </a:xfrm>
          <a:prstGeom prst="rect">
            <a:avLst/>
          </a:prstGeom>
          <a:noFill/>
          <a:ln w="9525">
            <a:noFill/>
            <a:miter lim="800000"/>
            <a:headEnd/>
            <a:tailEnd/>
          </a:ln>
        </p:spPr>
        <p:txBody>
          <a:bodyPr/>
          <a:lstStyle/>
          <a:p>
            <a:pPr marL="1143000" lvl="2" indent="-228600">
              <a:lnSpc>
                <a:spcPct val="120000"/>
              </a:lnSpc>
              <a:spcBef>
                <a:spcPct val="30000"/>
              </a:spcBef>
              <a:buSzPct val="70000"/>
              <a:buFontTx/>
              <a:buBlip>
                <a:blip r:embed="rId2"/>
              </a:buBlip>
            </a:pPr>
            <a:r>
              <a:rPr lang="zh-CN" altLang="en-US" b="1">
                <a:solidFill>
                  <a:srgbClr val="1313FF"/>
                </a:solidFill>
                <a:latin typeface="Tahoma" pitchFamily="34" charset="0"/>
                <a:ea typeface="宋体" pitchFamily="2" charset="-122"/>
              </a:rPr>
              <a:t>尖顶峰度</a:t>
            </a:r>
            <a:r>
              <a:rPr lang="zh-CN" altLang="en-US" b="1">
                <a:solidFill>
                  <a:srgbClr val="000000"/>
                </a:solidFill>
                <a:latin typeface="Tahoma" pitchFamily="34" charset="0"/>
                <a:ea typeface="宋体" pitchFamily="2" charset="-122"/>
              </a:rPr>
              <a:t>的分布曲线比正态分布曲线更加尖峭、更高更窄；</a:t>
            </a:r>
          </a:p>
          <a:p>
            <a:pPr marL="1143000" lvl="2" indent="-228600">
              <a:lnSpc>
                <a:spcPct val="120000"/>
              </a:lnSpc>
              <a:spcBef>
                <a:spcPct val="30000"/>
              </a:spcBef>
              <a:buSzPct val="70000"/>
              <a:buFontTx/>
              <a:buBlip>
                <a:blip r:embed="rId2"/>
              </a:buBlip>
            </a:pPr>
            <a:r>
              <a:rPr lang="zh-CN" altLang="en-US" b="1">
                <a:solidFill>
                  <a:srgbClr val="1313FF"/>
                </a:solidFill>
                <a:latin typeface="Tahoma" pitchFamily="34" charset="0"/>
                <a:ea typeface="宋体" pitchFamily="2" charset="-122"/>
              </a:rPr>
              <a:t>平顶峰度</a:t>
            </a:r>
            <a:r>
              <a:rPr lang="zh-CN" altLang="en-US" b="1">
                <a:solidFill>
                  <a:srgbClr val="000000"/>
                </a:solidFill>
                <a:latin typeface="Tahoma" pitchFamily="34" charset="0"/>
                <a:ea typeface="宋体" pitchFamily="2" charset="-122"/>
              </a:rPr>
              <a:t>的分布曲线比正态分配曲线更为平缓、更低更扁平。</a:t>
            </a:r>
          </a:p>
        </p:txBody>
      </p:sp>
      <p:sp>
        <p:nvSpPr>
          <p:cNvPr id="24" name="灯片编号占位符 23"/>
          <p:cNvSpPr>
            <a:spLocks noGrp="1"/>
          </p:cNvSpPr>
          <p:nvPr>
            <p:ph type="sldNum" sz="quarter" idx="12"/>
          </p:nvPr>
        </p:nvSpPr>
        <p:spPr/>
        <p:txBody>
          <a:bodyPr/>
          <a:lstStyle/>
          <a:p>
            <a:pPr>
              <a:defRPr/>
            </a:pPr>
            <a:fld id="{62FC49CA-8014-4DA2-ABEB-AF96863EC77D}" type="slidenum">
              <a:rPr lang="en-US" altLang="zh-CN" smtClean="0"/>
              <a:pPr>
                <a:defRPr/>
              </a:pPr>
              <a:t>127</a:t>
            </a:fld>
            <a:endParaRPr lang="en-US" altLang="zh-CN"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7686">
                                            <p:txEl>
                                              <p:pRg st="0" end="0"/>
                                            </p:txEl>
                                          </p:spTgt>
                                        </p:tgtEl>
                                        <p:attrNameLst>
                                          <p:attrName>style.visibility</p:attrName>
                                        </p:attrNameLst>
                                      </p:cBhvr>
                                      <p:to>
                                        <p:strVal val="visible"/>
                                      </p:to>
                                    </p:set>
                                    <p:animEffect transition="in" filter="blinds(horizontal)">
                                      <p:cBhvr>
                                        <p:cTn id="7" dur="500"/>
                                        <p:tgtEl>
                                          <p:spTgt spid="497686">
                                            <p:txEl>
                                              <p:pRg st="0" end="0"/>
                                            </p:txEl>
                                          </p:spTgt>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97686">
                                            <p:txEl>
                                              <p:pRg st="1" end="1"/>
                                            </p:txEl>
                                          </p:spTgt>
                                        </p:tgtEl>
                                        <p:attrNameLst>
                                          <p:attrName>style.visibility</p:attrName>
                                        </p:attrNameLst>
                                      </p:cBhvr>
                                      <p:to>
                                        <p:strVal val="visible"/>
                                      </p:to>
                                    </p:set>
                                    <p:animEffect transition="in" filter="blinds(horizontal)">
                                      <p:cBhvr>
                                        <p:cTn id="16" dur="500"/>
                                        <p:tgtEl>
                                          <p:spTgt spid="497686">
                                            <p:txEl>
                                              <p:pRg st="1" end="1"/>
                                            </p:txEl>
                                          </p:spTgt>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1000" fill="hold"/>
                                        <p:tgtEl>
                                          <p:spTgt spid="2"/>
                                        </p:tgtEl>
                                        <p:attrNameLst>
                                          <p:attrName>ppt_x</p:attrName>
                                        </p:attrNameLst>
                                      </p:cBhvr>
                                      <p:tavLst>
                                        <p:tav tm="0">
                                          <p:val>
                                            <p:strVal val="0-#ppt_w/2"/>
                                          </p:val>
                                        </p:tav>
                                        <p:tav tm="100000">
                                          <p:val>
                                            <p:strVal val="#ppt_x"/>
                                          </p:val>
                                        </p:tav>
                                      </p:tavLst>
                                    </p:anim>
                                    <p:anim calcmode="lin" valueType="num">
                                      <p:cBhvr additive="base">
                                        <p:cTn id="21"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86" grpId="0" build="p" bldLvl="3"/>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a:xfrm>
            <a:off x="827088" y="0"/>
            <a:ext cx="7772400" cy="990600"/>
          </a:xfrm>
        </p:spPr>
        <p:txBody>
          <a:bodyPr/>
          <a:lstStyle/>
          <a:p>
            <a:pPr eaLnBrk="1" hangingPunct="1"/>
            <a:r>
              <a:rPr lang="zh-CN" altLang="en-US" smtClean="0"/>
              <a:t>峰度系数</a:t>
            </a:r>
          </a:p>
        </p:txBody>
      </p:sp>
      <p:sp>
        <p:nvSpPr>
          <p:cNvPr id="56325" name="Rectangle 3"/>
          <p:cNvSpPr>
            <a:spLocks noGrp="1" noChangeArrowheads="1"/>
          </p:cNvSpPr>
          <p:nvPr>
            <p:ph type="body" idx="1"/>
          </p:nvPr>
        </p:nvSpPr>
        <p:spPr>
          <a:xfrm>
            <a:off x="0" y="981075"/>
            <a:ext cx="8820150" cy="1873250"/>
          </a:xfrm>
        </p:spPr>
        <p:txBody>
          <a:bodyPr/>
          <a:lstStyle/>
          <a:p>
            <a:pPr eaLnBrk="1" hangingPunct="1"/>
            <a:r>
              <a:rPr lang="zh-CN" altLang="en-US" sz="2800" dirty="0" smtClean="0">
                <a:solidFill>
                  <a:srgbClr val="00B0F0"/>
                </a:solidFill>
              </a:rPr>
              <a:t>原理：</a:t>
            </a:r>
            <a:r>
              <a:rPr lang="zh-CN" altLang="en-US" sz="2800" dirty="0" smtClean="0">
                <a:solidFill>
                  <a:srgbClr val="000000"/>
                </a:solidFill>
              </a:rPr>
              <a:t>分布曲线的尖峭程度与偶数阶中心矩的数值大小有直接关系。以四阶中心矩</a:t>
            </a:r>
            <a:r>
              <a:rPr lang="en-US" altLang="zh-CN" sz="2800" i="1" dirty="0" smtClean="0">
                <a:solidFill>
                  <a:srgbClr val="0070C0"/>
                </a:solidFill>
                <a:latin typeface="Times New Roman" pitchFamily="18" charset="0"/>
              </a:rPr>
              <a:t>m</a:t>
            </a:r>
            <a:r>
              <a:rPr lang="en-US" altLang="zh-CN" sz="2800" baseline="-25000" dirty="0" smtClean="0">
                <a:solidFill>
                  <a:srgbClr val="0070C0"/>
                </a:solidFill>
              </a:rPr>
              <a:t>4</a:t>
            </a:r>
            <a:r>
              <a:rPr lang="zh-CN" altLang="en-US" sz="2800" dirty="0" smtClean="0">
                <a:solidFill>
                  <a:srgbClr val="000000"/>
                </a:solidFill>
              </a:rPr>
              <a:t>为基础，为了消除量纲的影响，再除以标准差的四次方</a:t>
            </a:r>
            <a:r>
              <a:rPr lang="en-US" altLang="zh-CN" sz="2800" i="1" dirty="0" smtClean="0">
                <a:solidFill>
                  <a:srgbClr val="000000"/>
                </a:solidFill>
                <a:latin typeface="Times New Roman" panose="02020603050405020304" pitchFamily="18" charset="0"/>
                <a:cs typeface="Times New Roman" panose="02020603050405020304" pitchFamily="18" charset="0"/>
              </a:rPr>
              <a:t>σ</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4</a:t>
            </a:r>
            <a:r>
              <a:rPr lang="zh-CN" altLang="en-US" sz="2800" dirty="0" smtClean="0">
                <a:solidFill>
                  <a:srgbClr val="000000"/>
                </a:solidFill>
              </a:rPr>
              <a:t>所得到的相对数即可衡量峰度。</a:t>
            </a:r>
          </a:p>
        </p:txBody>
      </p:sp>
      <p:graphicFrame>
        <p:nvGraphicFramePr>
          <p:cNvPr id="56322" name="Object 4"/>
          <p:cNvGraphicFramePr>
            <a:graphicFrameLocks noChangeAspect="1"/>
          </p:cNvGraphicFramePr>
          <p:nvPr>
            <p:extLst>
              <p:ext uri="{D42A27DB-BD31-4B8C-83A1-F6EECF244321}">
                <p14:modId xmlns:p14="http://schemas.microsoft.com/office/powerpoint/2010/main" val="4205971629"/>
              </p:ext>
            </p:extLst>
          </p:nvPr>
        </p:nvGraphicFramePr>
        <p:xfrm>
          <a:off x="5380038" y="2513013"/>
          <a:ext cx="3189287" cy="1528762"/>
        </p:xfrm>
        <a:graphic>
          <a:graphicData uri="http://schemas.openxmlformats.org/presentationml/2006/ole">
            <mc:AlternateContent xmlns:mc="http://schemas.openxmlformats.org/markup-compatibility/2006">
              <mc:Choice xmlns:v="urn:schemas-microsoft-com:vml" Requires="v">
                <p:oleObj spid="_x0000_s56500" name="公式" r:id="rId4" imgW="1066680" imgH="419040" progId="Equation.3">
                  <p:embed/>
                </p:oleObj>
              </mc:Choice>
              <mc:Fallback>
                <p:oleObj name="公式" r:id="rId4" imgW="1066680" imgH="419040" progId="Equation.3">
                  <p:embed/>
                  <p:pic>
                    <p:nvPicPr>
                      <p:cNvPr id="0" name="Object 4"/>
                      <p:cNvPicPr>
                        <a:picLocks noChangeAspect="1" noChangeArrowheads="1"/>
                      </p:cNvPicPr>
                      <p:nvPr/>
                    </p:nvPicPr>
                    <p:blipFill>
                      <a:blip r:embed="rId5"/>
                      <a:srcRect/>
                      <a:stretch>
                        <a:fillRect/>
                      </a:stretch>
                    </p:blipFill>
                    <p:spPr bwMode="auto">
                      <a:xfrm>
                        <a:off x="5380038" y="2513013"/>
                        <a:ext cx="3189287" cy="1528762"/>
                      </a:xfrm>
                      <a:prstGeom prst="rect">
                        <a:avLst/>
                      </a:prstGeom>
                      <a:solidFill>
                        <a:schemeClr val="accent1">
                          <a:lumMod val="20000"/>
                          <a:lumOff val="80000"/>
                        </a:schemeClr>
                      </a:solidFill>
                      <a:ln w="28575">
                        <a:solidFill>
                          <a:schemeClr val="accent5"/>
                        </a:solidFill>
                        <a:miter lim="800000"/>
                        <a:headEnd/>
                        <a:tailEnd/>
                      </a:ln>
                    </p:spPr>
                  </p:pic>
                </p:oleObj>
              </mc:Fallback>
            </mc:AlternateContent>
          </a:graphicData>
        </a:graphic>
      </p:graphicFrame>
      <p:sp>
        <p:nvSpPr>
          <p:cNvPr id="498693" name="Rectangle 5"/>
          <p:cNvSpPr>
            <a:spLocks noChangeArrowheads="1"/>
          </p:cNvSpPr>
          <p:nvPr/>
        </p:nvSpPr>
        <p:spPr bwMode="auto">
          <a:xfrm>
            <a:off x="250825" y="4149725"/>
            <a:ext cx="8626475" cy="2374900"/>
          </a:xfrm>
          <a:prstGeom prst="rect">
            <a:avLst/>
          </a:prstGeom>
          <a:noFill/>
          <a:ln w="9525">
            <a:noFill/>
            <a:miter lim="800000"/>
            <a:headEnd/>
            <a:tailEnd/>
          </a:ln>
        </p:spPr>
        <p:txBody>
          <a:bodyPr/>
          <a:lstStyle/>
          <a:p>
            <a:pPr marL="342900" indent="-342900">
              <a:spcBef>
                <a:spcPct val="20000"/>
              </a:spcBef>
              <a:buSzPct val="90000"/>
              <a:buFontTx/>
              <a:buBlip>
                <a:blip r:embed="rId6"/>
              </a:buBlip>
            </a:pPr>
            <a:r>
              <a:rPr lang="zh-CN" altLang="zh-CN" b="1" dirty="0">
                <a:solidFill>
                  <a:srgbClr val="000000"/>
                </a:solidFill>
                <a:latin typeface="Tahoma" pitchFamily="34" charset="0"/>
                <a:ea typeface="宋体" pitchFamily="2" charset="-122"/>
              </a:rPr>
              <a:t>当</a:t>
            </a:r>
            <a:r>
              <a:rPr lang="en-US" altLang="zh-CN" b="1" dirty="0" smtClean="0">
                <a:solidFill>
                  <a:srgbClr val="000000"/>
                </a:solidFill>
                <a:latin typeface="Tahoma" pitchFamily="34" charset="0"/>
                <a:ea typeface="宋体" pitchFamily="2" charset="-122"/>
              </a:rPr>
              <a:t>Kurt=0</a:t>
            </a:r>
            <a:r>
              <a:rPr lang="zh-CN" altLang="en-US" b="1" dirty="0">
                <a:solidFill>
                  <a:srgbClr val="000000"/>
                </a:solidFill>
                <a:latin typeface="Tahoma" pitchFamily="34" charset="0"/>
                <a:ea typeface="宋体" pitchFamily="2" charset="-122"/>
              </a:rPr>
              <a:t>时，分布曲线为正态曲线；</a:t>
            </a:r>
          </a:p>
          <a:p>
            <a:pPr marL="342900" indent="-342900">
              <a:spcBef>
                <a:spcPct val="20000"/>
              </a:spcBef>
              <a:buSzPct val="90000"/>
              <a:buFontTx/>
              <a:buBlip>
                <a:blip r:embed="rId6"/>
              </a:buBlip>
            </a:pPr>
            <a:r>
              <a:rPr lang="zh-CN" altLang="en-US" b="1" dirty="0">
                <a:solidFill>
                  <a:srgbClr val="000000"/>
                </a:solidFill>
                <a:latin typeface="Tahoma" pitchFamily="34" charset="0"/>
                <a:ea typeface="宋体" pitchFamily="2" charset="-122"/>
              </a:rPr>
              <a:t>当</a:t>
            </a:r>
            <a:r>
              <a:rPr lang="en-US" altLang="zh-CN" b="1" dirty="0">
                <a:solidFill>
                  <a:srgbClr val="000000"/>
                </a:solidFill>
                <a:latin typeface="Tahoma" pitchFamily="34" charset="0"/>
                <a:ea typeface="宋体" pitchFamily="2" charset="-122"/>
              </a:rPr>
              <a:t>Kurt</a:t>
            </a:r>
            <a:r>
              <a:rPr lang="zh-CN" altLang="en-US" b="1" dirty="0" smtClean="0">
                <a:solidFill>
                  <a:srgbClr val="000000"/>
                </a:solidFill>
                <a:latin typeface="Tahoma" pitchFamily="34" charset="0"/>
                <a:ea typeface="宋体" pitchFamily="2" charset="-122"/>
              </a:rPr>
              <a:t>＞</a:t>
            </a:r>
            <a:r>
              <a:rPr lang="en-US" altLang="zh-CN" b="1" dirty="0">
                <a:solidFill>
                  <a:srgbClr val="000000"/>
                </a:solidFill>
                <a:latin typeface="Tahoma" pitchFamily="34" charset="0"/>
                <a:ea typeface="宋体" pitchFamily="2" charset="-122"/>
              </a:rPr>
              <a:t>0</a:t>
            </a:r>
            <a:r>
              <a:rPr lang="zh-CN" altLang="en-US" b="1" dirty="0">
                <a:solidFill>
                  <a:srgbClr val="000000"/>
                </a:solidFill>
                <a:latin typeface="Tahoma" pitchFamily="34" charset="0"/>
                <a:ea typeface="宋体" pitchFamily="2" charset="-122"/>
              </a:rPr>
              <a:t>时，为尖顶曲线，表示数据比正态分布更集中在均值附近</a:t>
            </a:r>
            <a:r>
              <a:rPr lang="zh-CN" altLang="en-US" b="1" dirty="0" smtClean="0">
                <a:solidFill>
                  <a:srgbClr val="000000"/>
                </a:solidFill>
                <a:latin typeface="Tahoma" pitchFamily="34" charset="0"/>
                <a:ea typeface="宋体" pitchFamily="2" charset="-122"/>
              </a:rPr>
              <a:t>；数值</a:t>
            </a:r>
            <a:r>
              <a:rPr lang="zh-CN" altLang="en-US" b="1" dirty="0">
                <a:solidFill>
                  <a:srgbClr val="000000"/>
                </a:solidFill>
                <a:latin typeface="Tahoma" pitchFamily="34" charset="0"/>
                <a:ea typeface="宋体" pitchFamily="2" charset="-122"/>
              </a:rPr>
              <a:t>越大，则变量分布曲线之顶端越尖峭；</a:t>
            </a:r>
          </a:p>
          <a:p>
            <a:pPr marL="342900" indent="-342900">
              <a:spcBef>
                <a:spcPct val="20000"/>
              </a:spcBef>
              <a:buSzPct val="90000"/>
              <a:buFontTx/>
              <a:buBlip>
                <a:blip r:embed="rId6"/>
              </a:buBlip>
            </a:pPr>
            <a:r>
              <a:rPr lang="zh-CN" altLang="en-US" b="1" dirty="0">
                <a:solidFill>
                  <a:srgbClr val="000000"/>
                </a:solidFill>
                <a:latin typeface="Tahoma" pitchFamily="34" charset="0"/>
                <a:ea typeface="宋体" pitchFamily="2" charset="-122"/>
              </a:rPr>
              <a:t>当</a:t>
            </a:r>
            <a:r>
              <a:rPr lang="en-US" altLang="zh-CN" b="1" dirty="0">
                <a:solidFill>
                  <a:srgbClr val="000000"/>
                </a:solidFill>
                <a:latin typeface="Tahoma" pitchFamily="34" charset="0"/>
                <a:ea typeface="宋体" pitchFamily="2" charset="-122"/>
              </a:rPr>
              <a:t>Kurt</a:t>
            </a:r>
            <a:r>
              <a:rPr lang="zh-CN" altLang="en-US" b="1" dirty="0" smtClean="0">
                <a:solidFill>
                  <a:srgbClr val="000000"/>
                </a:solidFill>
                <a:latin typeface="Tahoma" pitchFamily="34" charset="0"/>
                <a:ea typeface="宋体" pitchFamily="2" charset="-122"/>
              </a:rPr>
              <a:t>＜</a:t>
            </a:r>
            <a:r>
              <a:rPr lang="en-US" altLang="zh-CN" b="1" dirty="0">
                <a:solidFill>
                  <a:srgbClr val="000000"/>
                </a:solidFill>
                <a:latin typeface="Tahoma" pitchFamily="34" charset="0"/>
                <a:ea typeface="宋体" pitchFamily="2" charset="-122"/>
              </a:rPr>
              <a:t>0</a:t>
            </a:r>
            <a:r>
              <a:rPr lang="zh-CN" altLang="en-US" b="1" dirty="0">
                <a:solidFill>
                  <a:srgbClr val="000000"/>
                </a:solidFill>
                <a:latin typeface="Tahoma" pitchFamily="34" charset="0"/>
                <a:ea typeface="宋体" pitchFamily="2" charset="-122"/>
              </a:rPr>
              <a:t>时，为平顶曲线，表示数据比正态分布更分散；</a:t>
            </a:r>
            <a:r>
              <a:rPr lang="en-US" altLang="zh-CN" b="1" dirty="0">
                <a:solidFill>
                  <a:srgbClr val="000000"/>
                </a:solidFill>
                <a:latin typeface="Tahoma" pitchFamily="34" charset="0"/>
                <a:ea typeface="宋体" pitchFamily="2" charset="-122"/>
              </a:rPr>
              <a:t>Kurt</a:t>
            </a:r>
            <a:r>
              <a:rPr lang="zh-CN" altLang="en-US" b="1" dirty="0" smtClean="0">
                <a:solidFill>
                  <a:srgbClr val="000000"/>
                </a:solidFill>
                <a:latin typeface="Tahoma" pitchFamily="34" charset="0"/>
                <a:ea typeface="宋体" pitchFamily="2" charset="-122"/>
              </a:rPr>
              <a:t>的</a:t>
            </a:r>
            <a:r>
              <a:rPr lang="zh-CN" altLang="en-US" b="1" dirty="0">
                <a:solidFill>
                  <a:srgbClr val="000000"/>
                </a:solidFill>
                <a:latin typeface="Tahoma" pitchFamily="34" charset="0"/>
                <a:ea typeface="宋体" pitchFamily="2" charset="-122"/>
              </a:rPr>
              <a:t>数值越小，则变量分布曲线之顶端越平坦。</a:t>
            </a:r>
          </a:p>
        </p:txBody>
      </p:sp>
      <p:sp>
        <p:nvSpPr>
          <p:cNvPr id="56327" name="Rectangle 6"/>
          <p:cNvSpPr>
            <a:spLocks noChangeArrowheads="1"/>
          </p:cNvSpPr>
          <p:nvPr/>
        </p:nvSpPr>
        <p:spPr bwMode="auto">
          <a:xfrm>
            <a:off x="0" y="2910586"/>
            <a:ext cx="5313363" cy="936625"/>
          </a:xfrm>
          <a:prstGeom prst="rect">
            <a:avLst/>
          </a:prstGeom>
          <a:noFill/>
          <a:ln w="9525">
            <a:noFill/>
            <a:miter lim="800000"/>
            <a:headEnd/>
            <a:tailEnd/>
          </a:ln>
        </p:spPr>
        <p:txBody>
          <a:bodyPr/>
          <a:lstStyle/>
          <a:p>
            <a:pPr marL="742950" lvl="1" indent="-285750">
              <a:spcBef>
                <a:spcPct val="20000"/>
              </a:spcBef>
              <a:buSzPct val="80000"/>
              <a:buFontTx/>
              <a:buBlip>
                <a:blip r:embed="rId7"/>
              </a:buBlip>
            </a:pPr>
            <a:r>
              <a:rPr lang="zh-CN" altLang="en-US" sz="2800" b="1" dirty="0">
                <a:solidFill>
                  <a:srgbClr val="000000"/>
                </a:solidFill>
                <a:latin typeface="Tahoma" pitchFamily="34" charset="0"/>
                <a:ea typeface="宋体" pitchFamily="2" charset="-122"/>
              </a:rPr>
              <a:t>对于正态分布曲线有：      </a:t>
            </a:r>
            <a:r>
              <a:rPr lang="en-US" altLang="zh-CN" sz="2800" b="1" i="1" dirty="0">
                <a:solidFill>
                  <a:srgbClr val="000000"/>
                </a:solidFill>
                <a:latin typeface="Tahoma" pitchFamily="34" charset="0"/>
                <a:ea typeface="宋体" pitchFamily="2" charset="-122"/>
              </a:rPr>
              <a:t>m</a:t>
            </a:r>
            <a:r>
              <a:rPr lang="en-US" altLang="zh-CN" sz="2800" b="1" baseline="-25000" dirty="0">
                <a:solidFill>
                  <a:srgbClr val="000000"/>
                </a:solidFill>
                <a:latin typeface="Tahoma" pitchFamily="34" charset="0"/>
                <a:ea typeface="宋体" pitchFamily="2" charset="-122"/>
              </a:rPr>
              <a:t>4 </a:t>
            </a:r>
            <a:r>
              <a:rPr lang="en-US" altLang="zh-CN" sz="2800" b="1" i="1" dirty="0">
                <a:solidFill>
                  <a:srgbClr val="000000"/>
                </a:solidFill>
                <a:latin typeface="Tahoma" pitchFamily="34" charset="0"/>
                <a:ea typeface="宋体" pitchFamily="2" charset="-122"/>
              </a:rPr>
              <a:t>/σ</a:t>
            </a:r>
            <a:r>
              <a:rPr lang="en-US" altLang="zh-CN" sz="2800" b="1" baseline="30000" dirty="0">
                <a:solidFill>
                  <a:srgbClr val="000000"/>
                </a:solidFill>
                <a:latin typeface="Tahoma" pitchFamily="34" charset="0"/>
                <a:ea typeface="宋体" pitchFamily="2" charset="-122"/>
              </a:rPr>
              <a:t>4</a:t>
            </a:r>
            <a:r>
              <a:rPr lang="en-US" altLang="zh-CN" sz="2800" b="1" dirty="0">
                <a:solidFill>
                  <a:srgbClr val="000000"/>
                </a:solidFill>
                <a:latin typeface="Tahoma" pitchFamily="34" charset="0"/>
                <a:ea typeface="宋体" pitchFamily="2" charset="-122"/>
              </a:rPr>
              <a:t>=3</a:t>
            </a:r>
            <a:r>
              <a:rPr lang="zh-CN" altLang="en-US" sz="2800" b="1" dirty="0">
                <a:solidFill>
                  <a:srgbClr val="000000"/>
                </a:solidFill>
                <a:latin typeface="Tahoma" pitchFamily="34" charset="0"/>
                <a:ea typeface="宋体" pitchFamily="2" charset="-122"/>
              </a:rPr>
              <a:t>，故峰度系数为：</a:t>
            </a:r>
          </a:p>
        </p:txBody>
      </p:sp>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128</a:t>
            </a:fld>
            <a:endParaRPr lang="en-US" altLang="zh-CN"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8693"/>
                                        </p:tgtEl>
                                        <p:attrNameLst>
                                          <p:attrName>style.visibility</p:attrName>
                                        </p:attrNameLst>
                                      </p:cBhvr>
                                      <p:to>
                                        <p:strVal val="visible"/>
                                      </p:to>
                                    </p:set>
                                    <p:animEffect transition="in" filter="blinds(horizontal)">
                                      <p:cBhvr>
                                        <p:cTn id="7" dur="500"/>
                                        <p:tgtEl>
                                          <p:spTgt spid="498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2"/>
          <p:cNvSpPr>
            <a:spLocks noGrp="1" noChangeArrowheads="1"/>
          </p:cNvSpPr>
          <p:nvPr>
            <p:ph type="title"/>
          </p:nvPr>
        </p:nvSpPr>
        <p:spPr>
          <a:xfrm>
            <a:off x="1042988" y="142875"/>
            <a:ext cx="7900987" cy="709613"/>
          </a:xfrm>
          <a:ln>
            <a:solidFill>
              <a:schemeClr val="bg2"/>
            </a:solidFill>
          </a:ln>
        </p:spPr>
        <p:txBody>
          <a:bodyPr/>
          <a:lstStyle/>
          <a:p>
            <a:pPr eaLnBrk="1" hangingPunct="1"/>
            <a:r>
              <a:rPr lang="en-US" altLang="zh-CN" smtClean="0"/>
              <a:t>【</a:t>
            </a:r>
            <a:r>
              <a:rPr lang="zh-CN" altLang="en-US" smtClean="0"/>
              <a:t>例</a:t>
            </a:r>
            <a:r>
              <a:rPr lang="en-US" altLang="zh-CN" smtClean="0"/>
              <a:t>】</a:t>
            </a:r>
            <a:r>
              <a:rPr lang="zh-CN" altLang="en-US" sz="3600" smtClean="0"/>
              <a:t>计算平均差和方差、标准差</a:t>
            </a:r>
          </a:p>
        </p:txBody>
      </p:sp>
      <p:graphicFrame>
        <p:nvGraphicFramePr>
          <p:cNvPr id="502879" name="Group 95"/>
          <p:cNvGraphicFramePr>
            <a:graphicFrameLocks noGrp="1"/>
          </p:cNvGraphicFramePr>
          <p:nvPr/>
        </p:nvGraphicFramePr>
        <p:xfrm>
          <a:off x="179388" y="908050"/>
          <a:ext cx="8713787" cy="3421680"/>
        </p:xfrm>
        <a:graphic>
          <a:graphicData uri="http://schemas.openxmlformats.org/drawingml/2006/table">
            <a:tbl>
              <a:tblPr/>
              <a:tblGrid>
                <a:gridCol w="1192212">
                  <a:extLst>
                    <a:ext uri="{9D8B030D-6E8A-4147-A177-3AD203B41FA5}">
                      <a16:colId xmlns:a16="http://schemas.microsoft.com/office/drawing/2014/main" val="20000"/>
                    </a:ext>
                  </a:extLst>
                </a:gridCol>
                <a:gridCol w="893763">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116013">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gridCol w="1392238">
                  <a:extLst>
                    <a:ext uri="{9D8B030D-6E8A-4147-A177-3AD203B41FA5}">
                      <a16:colId xmlns:a16="http://schemas.microsoft.com/office/drawing/2014/main" val="20005"/>
                    </a:ext>
                  </a:extLst>
                </a:gridCol>
                <a:gridCol w="1512887">
                  <a:extLst>
                    <a:ext uri="{9D8B030D-6E8A-4147-A177-3AD203B41FA5}">
                      <a16:colId xmlns:a16="http://schemas.microsoft.com/office/drawing/2014/main" val="20006"/>
                    </a:ext>
                  </a:extLst>
                </a:gridCol>
              </a:tblGrid>
              <a:tr h="5429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56B9E"/>
                          </a:solidFill>
                          <a:effectLst/>
                          <a:latin typeface="宋体" pitchFamily="2" charset="-122"/>
                          <a:ea typeface="宋体" pitchFamily="2" charset="-122"/>
                        </a:rPr>
                        <a:t>使用寿命（小时）</a:t>
                      </a:r>
                      <a:endParaRPr kumimoji="1" lang="zh-CN" altLang="en-US"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 </a:t>
                      </a:r>
                      <a:r>
                        <a:rPr kumimoji="1" lang="zh-CN" altLang="en-US" sz="1800" b="1" i="0" u="none" strike="noStrike" cap="none" normalizeH="0" baseline="0" smtClean="0">
                          <a:ln>
                            <a:noFill/>
                          </a:ln>
                          <a:solidFill>
                            <a:srgbClr val="C56B9E"/>
                          </a:solidFill>
                          <a:effectLst/>
                          <a:latin typeface="Times New Roman" pitchFamily="18" charset="0"/>
                          <a:ea typeface="宋体" pitchFamily="2" charset="-122"/>
                        </a:rPr>
                        <a:t>组中值 </a:t>
                      </a: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x</a:t>
                      </a: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a:t>
                      </a: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56B9E"/>
                          </a:solidFill>
                          <a:effectLst/>
                          <a:latin typeface="Times New Roman" pitchFamily="18" charset="0"/>
                          <a:ea typeface="宋体" pitchFamily="2" charset="-122"/>
                        </a:rPr>
                        <a:t>试验数量（只）</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f</a:t>
                      </a: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  </a:t>
                      </a:r>
                      <a:r>
                        <a:rPr kumimoji="1" lang="zh-CN" altLang="en-US" sz="1800" b="1" i="0" u="none" strike="noStrike" cap="none" normalizeH="0" baseline="0" smtClean="0">
                          <a:ln>
                            <a:noFill/>
                          </a:ln>
                          <a:solidFill>
                            <a:srgbClr val="C56B9E"/>
                          </a:solidFill>
                          <a:effectLst/>
                          <a:latin typeface="Times New Roman" pitchFamily="18" charset="0"/>
                          <a:ea typeface="宋体" pitchFamily="2" charset="-122"/>
                        </a:rPr>
                        <a:t>频率  （</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f</a:t>
                      </a: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/Σ</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f</a:t>
                      </a: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a:t>
                      </a: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x</a:t>
                      </a:r>
                      <a:r>
                        <a:rPr kumimoji="1" lang="zh-CN" altLang="en-US" sz="1800" b="1" i="1" u="none" strike="noStrike" cap="none" normalizeH="0" baseline="0" smtClean="0">
                          <a:ln>
                            <a:noFill/>
                          </a:ln>
                          <a:solidFill>
                            <a:srgbClr val="C56B9E"/>
                          </a:solidFill>
                          <a:effectLst/>
                          <a:latin typeface="Times New Roman" pitchFamily="18" charset="0"/>
                          <a:ea typeface="宋体" pitchFamily="2" charset="-122"/>
                        </a:rPr>
                        <a:t>－</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1542</a:t>
                      </a:r>
                      <a:r>
                        <a:rPr kumimoji="1" lang="en-US" altLang="zh-CN" sz="1800" b="1" i="0" u="none" strike="noStrike" cap="none" normalizeH="0" baseline="0" smtClean="0">
                          <a:ln>
                            <a:noFill/>
                          </a:ln>
                          <a:solidFill>
                            <a:srgbClr val="C56B9E"/>
                          </a:solidFill>
                          <a:effectLst/>
                          <a:latin typeface="Times New Roman" pitchFamily="18" charset="0"/>
                          <a:ea typeface="宋体" pitchFamily="2" charset="-122"/>
                        </a:rPr>
                        <a:t>)</a:t>
                      </a: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|x</a:t>
                      </a:r>
                      <a:r>
                        <a:rPr kumimoji="1" lang="zh-CN" altLang="en-US" sz="1800" b="1" i="1" u="none" strike="noStrike" cap="none" normalizeH="0" baseline="0" smtClean="0">
                          <a:ln>
                            <a:noFill/>
                          </a:ln>
                          <a:solidFill>
                            <a:srgbClr val="C56B9E"/>
                          </a:solidFill>
                          <a:effectLst/>
                          <a:latin typeface="Times New Roman" pitchFamily="18" charset="0"/>
                          <a:ea typeface="宋体" pitchFamily="2" charset="-122"/>
                        </a:rPr>
                        <a:t>－</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1542|f</a:t>
                      </a: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(X</a:t>
                      </a:r>
                      <a:r>
                        <a:rPr kumimoji="1" lang="zh-CN" altLang="en-US" sz="1800" b="1" i="1" u="none" strike="noStrike" cap="none" normalizeH="0" baseline="0" smtClean="0">
                          <a:ln>
                            <a:noFill/>
                          </a:ln>
                          <a:solidFill>
                            <a:srgbClr val="C56B9E"/>
                          </a:solidFill>
                          <a:effectLst/>
                          <a:latin typeface="Times New Roman" pitchFamily="18" charset="0"/>
                          <a:ea typeface="宋体" pitchFamily="2" charset="-122"/>
                        </a:rPr>
                        <a:t>－</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1542)</a:t>
                      </a:r>
                      <a:r>
                        <a:rPr kumimoji="1" lang="en-US" altLang="zh-CN" sz="1800" b="1" i="1" u="none" strike="noStrike" cap="none" normalizeH="0" baseline="30000" smtClean="0">
                          <a:ln>
                            <a:noFill/>
                          </a:ln>
                          <a:solidFill>
                            <a:srgbClr val="C56B9E"/>
                          </a:solidFill>
                          <a:effectLst/>
                          <a:latin typeface="Times New Roman" pitchFamily="18" charset="0"/>
                          <a:ea typeface="宋体" pitchFamily="2" charset="-122"/>
                        </a:rPr>
                        <a:t>2</a:t>
                      </a:r>
                      <a:r>
                        <a:rPr kumimoji="1" lang="en-US" altLang="zh-CN" sz="1800" b="1" i="1" u="none" strike="noStrike" cap="none" normalizeH="0" baseline="0" smtClean="0">
                          <a:ln>
                            <a:noFill/>
                          </a:ln>
                          <a:solidFill>
                            <a:srgbClr val="C56B9E"/>
                          </a:solidFill>
                          <a:effectLst/>
                          <a:latin typeface="Times New Roman" pitchFamily="18" charset="0"/>
                          <a:ea typeface="宋体" pitchFamily="2" charset="-122"/>
                        </a:rPr>
                        <a:t>*f</a:t>
                      </a:r>
                      <a:endParaRPr kumimoji="1" lang="en-US" altLang="zh-CN" sz="1800" b="1" i="0" u="none" strike="noStrike" cap="none" normalizeH="0" baseline="0" smtClean="0">
                        <a:ln>
                          <a:noFill/>
                        </a:ln>
                        <a:solidFill>
                          <a:srgbClr val="C56B9E"/>
                        </a:solidFill>
                        <a:effectLst/>
                        <a:latin typeface="Times New Roman" pitchFamily="18"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3159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1000</a:t>
                      </a:r>
                      <a:r>
                        <a:rPr kumimoji="1" lang="zh-CN" altLang="en-US" sz="1800" b="1" i="0" u="none" strike="noStrike" cap="none" normalizeH="0" baseline="0" smtClean="0">
                          <a:ln>
                            <a:noFill/>
                          </a:ln>
                          <a:solidFill>
                            <a:srgbClr val="C56B9E"/>
                          </a:solidFill>
                          <a:effectLst/>
                          <a:latin typeface="宋体" pitchFamily="2" charset="-122"/>
                          <a:ea typeface="宋体" pitchFamily="2" charset="-122"/>
                        </a:rPr>
                        <a:t>以下</a:t>
                      </a:r>
                      <a:endParaRPr kumimoji="1" lang="zh-CN" altLang="en-US"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900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0.020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-642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1284</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824328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1000-1200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1100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0.080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-442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3536</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1562912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1200-1400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1300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16</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0.160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-242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3872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937024</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1400-1600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1500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35</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0.350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-42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1470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61740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1600-1800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1700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23</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0.230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158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3634</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574172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1800-2000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1900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0.120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358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4296</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1537968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2000</a:t>
                      </a:r>
                      <a:r>
                        <a:rPr kumimoji="1" lang="zh-CN" altLang="en-US" sz="1800" b="1" i="0" u="none" strike="noStrike" cap="none" normalizeH="0" baseline="0" smtClean="0">
                          <a:ln>
                            <a:noFill/>
                          </a:ln>
                          <a:solidFill>
                            <a:srgbClr val="C56B9E"/>
                          </a:solidFill>
                          <a:effectLst/>
                          <a:latin typeface="宋体" pitchFamily="2" charset="-122"/>
                          <a:ea typeface="宋体" pitchFamily="2" charset="-122"/>
                        </a:rPr>
                        <a:t>以上</a:t>
                      </a:r>
                      <a:endParaRPr kumimoji="1" lang="zh-CN" altLang="en-US"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2100</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4</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0.040 </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558</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2232</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56B9E"/>
                          </a:solidFill>
                          <a:effectLst/>
                          <a:latin typeface="宋体" pitchFamily="2" charset="-122"/>
                          <a:ea typeface="宋体" pitchFamily="2" charset="-122"/>
                        </a:rPr>
                        <a:t>1245456</a:t>
                      </a:r>
                      <a:endParaRPr kumimoji="1" lang="en-US" altLang="zh-CN" sz="1800" b="1" i="0" u="none" strike="noStrike" cap="none" normalizeH="0" baseline="0" smtClean="0">
                        <a:ln>
                          <a:noFill/>
                        </a:ln>
                        <a:solidFill>
                          <a:srgbClr val="C56B9E"/>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341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rgbClr val="1313FF"/>
                          </a:solidFill>
                          <a:effectLst/>
                          <a:latin typeface="宋体" pitchFamily="2" charset="-122"/>
                          <a:ea typeface="宋体" pitchFamily="2" charset="-122"/>
                        </a:rPr>
                        <a:t>合计</a:t>
                      </a:r>
                      <a:endParaRPr kumimoji="1" lang="zh-CN" altLang="en-US"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Times New Roman"/>
                          <a:ea typeface="宋体" pitchFamily="2" charset="-122"/>
                        </a:rPr>
                        <a:t>——</a:t>
                      </a:r>
                      <a:endParaRPr kumimoji="1" lang="en-US" altLang="zh-CN"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宋体" pitchFamily="2" charset="-122"/>
                          <a:ea typeface="宋体" pitchFamily="2" charset="-122"/>
                        </a:rPr>
                        <a:t>100</a:t>
                      </a:r>
                      <a:endParaRPr kumimoji="1" lang="en-US" altLang="zh-CN"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宋体" pitchFamily="2" charset="-122"/>
                          <a:ea typeface="宋体" pitchFamily="2" charset="-122"/>
                        </a:rPr>
                        <a:t>1.000 </a:t>
                      </a:r>
                      <a:endParaRPr kumimoji="1" lang="en-US" altLang="zh-CN"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Times New Roman"/>
                          <a:ea typeface="宋体" pitchFamily="2" charset="-122"/>
                        </a:rPr>
                        <a:t>——</a:t>
                      </a:r>
                      <a:r>
                        <a:rPr kumimoji="1" lang="zh-CN" altLang="en-US" sz="2000" b="1" i="0" u="none" strike="noStrike" cap="none" normalizeH="0" baseline="0" smtClean="0">
                          <a:ln>
                            <a:noFill/>
                          </a:ln>
                          <a:solidFill>
                            <a:srgbClr val="1313FF"/>
                          </a:solidFill>
                          <a:effectLst/>
                          <a:latin typeface="宋体" pitchFamily="2" charset="-122"/>
                          <a:ea typeface="宋体" pitchFamily="2" charset="-122"/>
                        </a:rPr>
                        <a:t>　</a:t>
                      </a:r>
                      <a:endParaRPr kumimoji="1" lang="zh-CN" altLang="en-US"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宋体" pitchFamily="2" charset="-122"/>
                          <a:ea typeface="宋体" pitchFamily="2" charset="-122"/>
                        </a:rPr>
                        <a:t>20324</a:t>
                      </a:r>
                      <a:endParaRPr kumimoji="1" lang="en-US" altLang="zh-CN"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CC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1313FF"/>
                          </a:solidFill>
                          <a:effectLst/>
                          <a:latin typeface="宋体" pitchFamily="2" charset="-122"/>
                          <a:ea typeface="宋体" pitchFamily="2" charset="-122"/>
                        </a:rPr>
                        <a:t>6743600</a:t>
                      </a:r>
                      <a:endParaRPr kumimoji="1" lang="en-US" altLang="zh-CN" sz="2000" b="1" i="0" u="none" strike="noStrike" cap="none" normalizeH="0" baseline="0" smtClean="0">
                        <a:ln>
                          <a:noFill/>
                        </a:ln>
                        <a:solidFill>
                          <a:srgbClr val="1313FF"/>
                        </a:solidFill>
                        <a:effectLst/>
                        <a:latin typeface="Arial" charset="0"/>
                        <a:ea typeface="宋体" pitchFamily="2" charset="-122"/>
                      </a:endParaRPr>
                    </a:p>
                  </a:txBody>
                  <a:tcPr marL="18000" marR="18000" marT="36000" marB="3600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bl>
          </a:graphicData>
        </a:graphic>
      </p:graphicFrame>
      <p:sp>
        <p:nvSpPr>
          <p:cNvPr id="57434" name="Rectangle 88"/>
          <p:cNvSpPr>
            <a:spLocks noChangeArrowheads="1"/>
          </p:cNvSpPr>
          <p:nvPr/>
        </p:nvSpPr>
        <p:spPr bwMode="auto">
          <a:xfrm>
            <a:off x="0" y="31099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46" name="Object 89"/>
          <p:cNvGraphicFramePr>
            <a:graphicFrameLocks noChangeAspect="1"/>
          </p:cNvGraphicFramePr>
          <p:nvPr/>
        </p:nvGraphicFramePr>
        <p:xfrm>
          <a:off x="179388" y="4292600"/>
          <a:ext cx="3744912" cy="1223963"/>
        </p:xfrm>
        <a:graphic>
          <a:graphicData uri="http://schemas.openxmlformats.org/presentationml/2006/ole">
            <mc:AlternateContent xmlns:mc="http://schemas.openxmlformats.org/markup-compatibility/2006">
              <mc:Choice xmlns:v="urn:schemas-microsoft-com:vml" Requires="v">
                <p:oleObj spid="_x0000_s57877" name="公式" r:id="rId3" imgW="2019300" imgH="635000" progId="Equation.3">
                  <p:embed/>
                </p:oleObj>
              </mc:Choice>
              <mc:Fallback>
                <p:oleObj name="公式" r:id="rId3" imgW="2019300" imgH="635000" progId="Equation.3">
                  <p:embed/>
                  <p:pic>
                    <p:nvPicPr>
                      <p:cNvPr id="0" name="Object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292600"/>
                        <a:ext cx="3744912" cy="1223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35" name="Rectangle 90"/>
          <p:cNvSpPr>
            <a:spLocks noChangeArrowheads="1"/>
          </p:cNvSpPr>
          <p:nvPr/>
        </p:nvSpPr>
        <p:spPr bwMode="auto">
          <a:xfrm>
            <a:off x="0" y="31051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47" name="Object 91"/>
          <p:cNvGraphicFramePr>
            <a:graphicFrameLocks noChangeAspect="1"/>
          </p:cNvGraphicFramePr>
          <p:nvPr/>
        </p:nvGraphicFramePr>
        <p:xfrm>
          <a:off x="4932363" y="4365625"/>
          <a:ext cx="4032250" cy="1216025"/>
        </p:xfrm>
        <a:graphic>
          <a:graphicData uri="http://schemas.openxmlformats.org/presentationml/2006/ole">
            <mc:AlternateContent xmlns:mc="http://schemas.openxmlformats.org/markup-compatibility/2006">
              <mc:Choice xmlns:v="urn:schemas-microsoft-com:vml" Requires="v">
                <p:oleObj spid="_x0000_s57878" name="公式" r:id="rId5" imgW="2222500" imgH="647700" progId="Equation.3">
                  <p:embed/>
                </p:oleObj>
              </mc:Choice>
              <mc:Fallback>
                <p:oleObj name="公式" r:id="rId5" imgW="2222500" imgH="647700" progId="Equation.3">
                  <p:embed/>
                  <p:pic>
                    <p:nvPicPr>
                      <p:cNvPr id="0" name="Object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4365625"/>
                        <a:ext cx="4032250" cy="1216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36" name="Rectangle 92"/>
          <p:cNvSpPr>
            <a:spLocks noChangeArrowheads="1"/>
          </p:cNvSpPr>
          <p:nvPr/>
        </p:nvSpPr>
        <p:spPr bwMode="auto">
          <a:xfrm>
            <a:off x="0" y="30861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48" name="Object 93"/>
          <p:cNvGraphicFramePr>
            <a:graphicFrameLocks noChangeAspect="1"/>
          </p:cNvGraphicFramePr>
          <p:nvPr/>
        </p:nvGraphicFramePr>
        <p:xfrm>
          <a:off x="1547813" y="5518150"/>
          <a:ext cx="6624637" cy="1295400"/>
        </p:xfrm>
        <a:graphic>
          <a:graphicData uri="http://schemas.openxmlformats.org/presentationml/2006/ole">
            <mc:AlternateContent xmlns:mc="http://schemas.openxmlformats.org/markup-compatibility/2006">
              <mc:Choice xmlns:v="urn:schemas-microsoft-com:vml" Requires="v">
                <p:oleObj spid="_x0000_s57879" name="公式" r:id="rId7" imgW="3035300" imgH="685800" progId="Equation.3">
                  <p:embed/>
                </p:oleObj>
              </mc:Choice>
              <mc:Fallback>
                <p:oleObj name="公式" r:id="rId7" imgW="3035300" imgH="685800" progId="Equation.3">
                  <p:embed/>
                  <p:pic>
                    <p:nvPicPr>
                      <p:cNvPr id="0" name="Object 9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5518150"/>
                        <a:ext cx="6624637"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灯片编号占位符 10"/>
          <p:cNvSpPr>
            <a:spLocks noGrp="1"/>
          </p:cNvSpPr>
          <p:nvPr>
            <p:ph type="sldNum" sz="quarter" idx="12"/>
          </p:nvPr>
        </p:nvSpPr>
        <p:spPr/>
        <p:txBody>
          <a:bodyPr/>
          <a:lstStyle/>
          <a:p>
            <a:pPr>
              <a:defRPr/>
            </a:pPr>
            <a:fld id="{62FC49CA-8014-4DA2-ABEB-AF96863EC77D}" type="slidenum">
              <a:rPr lang="en-US" altLang="zh-CN" smtClean="0"/>
              <a:pPr>
                <a:defRPr/>
              </a:pPr>
              <a:t>129</a:t>
            </a:fld>
            <a:endParaRPr lang="en-US" altLang="zh-CN" dirty="0"/>
          </a:p>
        </p:txBody>
      </p:sp>
    </p:spTree>
  </p:cSld>
  <p:clrMapOvr>
    <a:masterClrMapping/>
  </p:clrMapOvr>
  <p:transition advClick="0"/>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Grp="1" noChangeArrowheads="1"/>
          </p:cNvSpPr>
          <p:nvPr>
            <p:ph type="title"/>
          </p:nvPr>
        </p:nvSpPr>
        <p:spPr/>
        <p:txBody>
          <a:bodyPr/>
          <a:lstStyle/>
          <a:p>
            <a:pPr eaLnBrk="1" hangingPunct="1"/>
            <a:r>
              <a:rPr lang="en-US" altLang="zh-CN" smtClean="0"/>
              <a:t>【</a:t>
            </a:r>
            <a:r>
              <a:rPr lang="zh-CN" altLang="en-US" smtClean="0"/>
              <a:t>例</a:t>
            </a:r>
            <a:r>
              <a:rPr lang="en-US" altLang="zh-CN" smtClean="0"/>
              <a:t>】</a:t>
            </a:r>
          </a:p>
        </p:txBody>
      </p:sp>
      <p:sp>
        <p:nvSpPr>
          <p:cNvPr id="58374" name="Rectangle 3"/>
          <p:cNvSpPr>
            <a:spLocks noGrp="1" noChangeArrowheads="1"/>
          </p:cNvSpPr>
          <p:nvPr>
            <p:ph type="body" idx="1"/>
          </p:nvPr>
        </p:nvSpPr>
        <p:spPr>
          <a:xfrm>
            <a:off x="395288" y="1125538"/>
            <a:ext cx="7772400" cy="4724400"/>
          </a:xfrm>
        </p:spPr>
        <p:txBody>
          <a:bodyPr/>
          <a:lstStyle/>
          <a:p>
            <a:pPr eaLnBrk="1" hangingPunct="1"/>
            <a:r>
              <a:rPr lang="zh-CN" altLang="en-US" dirty="0" smtClean="0">
                <a:solidFill>
                  <a:srgbClr val="000000"/>
                </a:solidFill>
              </a:rPr>
              <a:t>根据前例的数据，计算使用寿命分布的偏度系数和峰度系数。</a:t>
            </a:r>
          </a:p>
          <a:p>
            <a:pPr eaLnBrk="1" hangingPunct="1"/>
            <a:r>
              <a:rPr lang="zh-CN" altLang="en-US" dirty="0" smtClean="0">
                <a:solidFill>
                  <a:srgbClr val="000000"/>
                </a:solidFill>
              </a:rPr>
              <a:t>解：</a:t>
            </a:r>
          </a:p>
        </p:txBody>
      </p:sp>
      <p:sp>
        <p:nvSpPr>
          <p:cNvPr id="58375"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8370" name="Object 5"/>
          <p:cNvGraphicFramePr>
            <a:graphicFrameLocks noChangeAspect="1"/>
          </p:cNvGraphicFramePr>
          <p:nvPr>
            <p:extLst>
              <p:ext uri="{D42A27DB-BD31-4B8C-83A1-F6EECF244321}">
                <p14:modId xmlns:p14="http://schemas.microsoft.com/office/powerpoint/2010/main" val="2919463231"/>
              </p:ext>
            </p:extLst>
          </p:nvPr>
        </p:nvGraphicFramePr>
        <p:xfrm>
          <a:off x="539552" y="2636912"/>
          <a:ext cx="8424935" cy="962609"/>
        </p:xfrm>
        <a:graphic>
          <a:graphicData uri="http://schemas.openxmlformats.org/presentationml/2006/ole">
            <mc:AlternateContent xmlns:mc="http://schemas.openxmlformats.org/markup-compatibility/2006">
              <mc:Choice xmlns:v="urn:schemas-microsoft-com:vml" Requires="v">
                <p:oleObj spid="_x0000_s58726" name="公式" r:id="rId3" imgW="4063680" imgH="419040" progId="Equation.3">
                  <p:embed/>
                </p:oleObj>
              </mc:Choice>
              <mc:Fallback>
                <p:oleObj name="公式" r:id="rId3" imgW="4063680" imgH="419040" progId="Equation.3">
                  <p:embed/>
                  <p:pic>
                    <p:nvPicPr>
                      <p:cNvPr id="0" name="Object 5"/>
                      <p:cNvPicPr>
                        <a:picLocks noChangeAspect="1" noChangeArrowheads="1"/>
                      </p:cNvPicPr>
                      <p:nvPr/>
                    </p:nvPicPr>
                    <p:blipFill>
                      <a:blip r:embed="rId4"/>
                      <a:srcRect/>
                      <a:stretch>
                        <a:fillRect/>
                      </a:stretch>
                    </p:blipFill>
                    <p:spPr bwMode="auto">
                      <a:xfrm>
                        <a:off x="539552" y="2636912"/>
                        <a:ext cx="8424935" cy="962609"/>
                      </a:xfrm>
                      <a:prstGeom prst="rect">
                        <a:avLst/>
                      </a:prstGeom>
                      <a:noFill/>
                      <a:extLst/>
                    </p:spPr>
                  </p:pic>
                </p:oleObj>
              </mc:Fallback>
            </mc:AlternateContent>
          </a:graphicData>
        </a:graphic>
      </p:graphicFrame>
      <p:sp>
        <p:nvSpPr>
          <p:cNvPr id="58376" name="Rectangle 6"/>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8371" name="Object 7"/>
          <p:cNvGraphicFramePr>
            <a:graphicFrameLocks noChangeAspect="1"/>
          </p:cNvGraphicFramePr>
          <p:nvPr>
            <p:extLst>
              <p:ext uri="{D42A27DB-BD31-4B8C-83A1-F6EECF244321}">
                <p14:modId xmlns:p14="http://schemas.microsoft.com/office/powerpoint/2010/main" val="3291639706"/>
              </p:ext>
            </p:extLst>
          </p:nvPr>
        </p:nvGraphicFramePr>
        <p:xfrm>
          <a:off x="537072" y="3707957"/>
          <a:ext cx="7275288" cy="961626"/>
        </p:xfrm>
        <a:graphic>
          <a:graphicData uri="http://schemas.openxmlformats.org/presentationml/2006/ole">
            <mc:AlternateContent xmlns:mc="http://schemas.openxmlformats.org/markup-compatibility/2006">
              <mc:Choice xmlns:v="urn:schemas-microsoft-com:vml" Requires="v">
                <p:oleObj spid="_x0000_s58727" name="公式" r:id="rId5" imgW="3200400" imgH="419040" progId="Equation.3">
                  <p:embed/>
                </p:oleObj>
              </mc:Choice>
              <mc:Fallback>
                <p:oleObj name="公式" r:id="rId5" imgW="3200400" imgH="419040" progId="Equation.3">
                  <p:embed/>
                  <p:pic>
                    <p:nvPicPr>
                      <p:cNvPr id="0" name="Object 7"/>
                      <p:cNvPicPr>
                        <a:picLocks noChangeAspect="1" noChangeArrowheads="1"/>
                      </p:cNvPicPr>
                      <p:nvPr/>
                    </p:nvPicPr>
                    <p:blipFill>
                      <a:blip r:embed="rId6"/>
                      <a:srcRect/>
                      <a:stretch>
                        <a:fillRect/>
                      </a:stretch>
                    </p:blipFill>
                    <p:spPr bwMode="auto">
                      <a:xfrm>
                        <a:off x="537072" y="3707957"/>
                        <a:ext cx="7275288" cy="961626"/>
                      </a:xfrm>
                      <a:prstGeom prst="rect">
                        <a:avLst/>
                      </a:prstGeom>
                      <a:noFill/>
                      <a:extLst/>
                    </p:spPr>
                  </p:pic>
                </p:oleObj>
              </mc:Fallback>
            </mc:AlternateContent>
          </a:graphicData>
        </a:graphic>
      </p:graphicFrame>
      <p:sp>
        <p:nvSpPr>
          <p:cNvPr id="499720" name="Rectangle 8"/>
          <p:cNvSpPr>
            <a:spLocks noChangeArrowheads="1"/>
          </p:cNvSpPr>
          <p:nvPr/>
        </p:nvSpPr>
        <p:spPr bwMode="auto">
          <a:xfrm>
            <a:off x="250825" y="4797425"/>
            <a:ext cx="8626475" cy="1655763"/>
          </a:xfrm>
          <a:prstGeom prst="rect">
            <a:avLst/>
          </a:prstGeom>
          <a:noFill/>
          <a:ln w="9525">
            <a:noFill/>
            <a:miter lim="800000"/>
            <a:headEnd/>
            <a:tailEnd/>
          </a:ln>
        </p:spPr>
        <p:txBody>
          <a:bodyPr/>
          <a:lstStyle/>
          <a:p>
            <a:pPr marL="342900" indent="-342900">
              <a:spcBef>
                <a:spcPct val="20000"/>
              </a:spcBef>
              <a:buSzPct val="90000"/>
              <a:buFontTx/>
              <a:buBlip>
                <a:blip r:embed="rId7"/>
              </a:buBlip>
            </a:pPr>
            <a:r>
              <a:rPr lang="zh-CN" altLang="en-US" b="1" dirty="0">
                <a:solidFill>
                  <a:srgbClr val="0070C0"/>
                </a:solidFill>
                <a:latin typeface="Tahoma" pitchFamily="34" charset="0"/>
                <a:ea typeface="宋体" pitchFamily="2" charset="-122"/>
              </a:rPr>
              <a:t>计算结果表明，偏度系数几乎为</a:t>
            </a:r>
            <a:r>
              <a:rPr lang="en-US" altLang="zh-CN" b="1" dirty="0">
                <a:solidFill>
                  <a:srgbClr val="0070C0"/>
                </a:solidFill>
                <a:latin typeface="Tahoma" pitchFamily="34" charset="0"/>
                <a:ea typeface="宋体" pitchFamily="2" charset="-122"/>
              </a:rPr>
              <a:t>0</a:t>
            </a:r>
            <a:r>
              <a:rPr lang="zh-CN" altLang="en-US" b="1" dirty="0">
                <a:solidFill>
                  <a:srgbClr val="0070C0"/>
                </a:solidFill>
                <a:latin typeface="Tahoma" pitchFamily="34" charset="0"/>
                <a:ea typeface="宋体" pitchFamily="2" charset="-122"/>
              </a:rPr>
              <a:t>，峰度系数略小于</a:t>
            </a:r>
            <a:r>
              <a:rPr lang="en-US" altLang="zh-CN" b="1" dirty="0">
                <a:solidFill>
                  <a:srgbClr val="0070C0"/>
                </a:solidFill>
                <a:latin typeface="Tahoma" pitchFamily="34" charset="0"/>
                <a:ea typeface="宋体" pitchFamily="2" charset="-122"/>
              </a:rPr>
              <a:t>0</a:t>
            </a:r>
            <a:r>
              <a:rPr lang="zh-CN" altLang="en-US" b="1" dirty="0">
                <a:solidFill>
                  <a:srgbClr val="0070C0"/>
                </a:solidFill>
                <a:latin typeface="Tahoma" pitchFamily="34" charset="0"/>
                <a:ea typeface="宋体" pitchFamily="2" charset="-122"/>
              </a:rPr>
              <a:t>，说明该产品使用寿命的分布十分接近对称分布，分布曲线顶峰略比正态分布平坦一些。总的说来，该产品的使用寿命的分布非常接近正态分布。</a:t>
            </a:r>
          </a:p>
        </p:txBody>
      </p:sp>
      <p:sp>
        <p:nvSpPr>
          <p:cNvPr id="10" name="灯片编号占位符 9"/>
          <p:cNvSpPr>
            <a:spLocks noGrp="1"/>
          </p:cNvSpPr>
          <p:nvPr>
            <p:ph type="sldNum" sz="quarter" idx="12"/>
          </p:nvPr>
        </p:nvSpPr>
        <p:spPr/>
        <p:txBody>
          <a:bodyPr/>
          <a:lstStyle/>
          <a:p>
            <a:pPr>
              <a:defRPr/>
            </a:pPr>
            <a:fld id="{62FC49CA-8014-4DA2-ABEB-AF96863EC77D}" type="slidenum">
              <a:rPr lang="en-US" altLang="zh-CN" smtClean="0"/>
              <a:pPr>
                <a:defRPr/>
              </a:pPr>
              <a:t>130</a:t>
            </a:fld>
            <a:endParaRPr lang="en-US" altLang="zh-CN"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9720"/>
                                        </p:tgtEl>
                                        <p:attrNameLst>
                                          <p:attrName>style.visibility</p:attrName>
                                        </p:attrNameLst>
                                      </p:cBhvr>
                                      <p:to>
                                        <p:strVal val="visible"/>
                                      </p:to>
                                    </p:set>
                                    <p:animEffect transition="in" filter="wipe(up)">
                                      <p:cBhvr>
                                        <p:cTn id="7" dur="500"/>
                                        <p:tgtEl>
                                          <p:spTgt spid="49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0"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976834"/>
            <a:ext cx="7772400" cy="990600"/>
          </a:xfrm>
        </p:spPr>
        <p:txBody>
          <a:bodyPr/>
          <a:lstStyle/>
          <a:p>
            <a:pPr lvl="1"/>
            <a:r>
              <a:rPr lang="en-US" altLang="zh-CN" dirty="0" smtClean="0"/>
              <a:t>3.5   Z-</a:t>
            </a:r>
            <a:r>
              <a:rPr lang="zh-CN" altLang="en-US" dirty="0"/>
              <a:t>分数与相关定理</a:t>
            </a:r>
          </a:p>
        </p:txBody>
      </p:sp>
      <p:sp>
        <p:nvSpPr>
          <p:cNvPr id="3" name="内容占位符 2"/>
          <p:cNvSpPr>
            <a:spLocks noGrp="1"/>
          </p:cNvSpPr>
          <p:nvPr>
            <p:ph idx="1"/>
          </p:nvPr>
        </p:nvSpPr>
        <p:spPr>
          <a:xfrm>
            <a:off x="1547664" y="2492896"/>
            <a:ext cx="6986736" cy="3755504"/>
          </a:xfrm>
        </p:spPr>
        <p:txBody>
          <a:bodyPr/>
          <a:lstStyle/>
          <a:p>
            <a:pPr marL="0" lvl="1" indent="0">
              <a:lnSpc>
                <a:spcPct val="200000"/>
              </a:lnSpc>
              <a:buSzPct val="90000"/>
              <a:buNone/>
            </a:pPr>
            <a:r>
              <a:rPr lang="en-US" altLang="zh-CN" sz="3600" dirty="0" smtClean="0"/>
              <a:t>3.5.1  </a:t>
            </a:r>
            <a:r>
              <a:rPr lang="en-US" altLang="zh-CN" sz="3600" dirty="0" smtClean="0">
                <a:latin typeface="Tahoma" pitchFamily="34" charset="0"/>
                <a:ea typeface="宋体" pitchFamily="2" charset="-122"/>
              </a:rPr>
              <a:t>Z-</a:t>
            </a:r>
            <a:r>
              <a:rPr lang="zh-CN" altLang="en-US" sz="3600" dirty="0" smtClean="0">
                <a:latin typeface="Tahoma" pitchFamily="34" charset="0"/>
                <a:ea typeface="宋体" pitchFamily="2" charset="-122"/>
              </a:rPr>
              <a:t>分数</a:t>
            </a:r>
            <a:endParaRPr lang="en-US" altLang="zh-CN" sz="3600" dirty="0" smtClean="0">
              <a:latin typeface="Tahoma" pitchFamily="34" charset="0"/>
              <a:ea typeface="宋体" pitchFamily="2" charset="-122"/>
            </a:endParaRPr>
          </a:p>
          <a:p>
            <a:pPr marL="0" lvl="1" indent="0">
              <a:lnSpc>
                <a:spcPct val="200000"/>
              </a:lnSpc>
              <a:buSzPct val="90000"/>
              <a:buNone/>
            </a:pPr>
            <a:r>
              <a:rPr lang="en-US" altLang="zh-CN" sz="3600" dirty="0" smtClean="0"/>
              <a:t>3.5.2 </a:t>
            </a:r>
            <a:r>
              <a:rPr lang="zh-CN" altLang="en-US" sz="3600" dirty="0" smtClean="0"/>
              <a:t>切比雪夫</a:t>
            </a:r>
            <a:r>
              <a:rPr lang="zh-CN" altLang="en-US" sz="3600" dirty="0"/>
              <a:t>定理与经验法则</a:t>
            </a:r>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131</a:t>
            </a:fld>
            <a:endParaRPr lang="en-US" altLang="zh-CN" dirty="0"/>
          </a:p>
        </p:txBody>
      </p:sp>
    </p:spTree>
    <p:extLst>
      <p:ext uri="{BB962C8B-B14F-4D97-AF65-F5344CB8AC3E}">
        <p14:creationId xmlns:p14="http://schemas.microsoft.com/office/powerpoint/2010/main" val="1247320308"/>
      </p:ext>
    </p:extLst>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zh-CN" altLang="en-US" dirty="0" smtClean="0"/>
              <a:t>讨论与思考</a:t>
            </a:r>
          </a:p>
        </p:txBody>
      </p:sp>
      <p:sp>
        <p:nvSpPr>
          <p:cNvPr id="46085" name="Rectangle 3"/>
          <p:cNvSpPr>
            <a:spLocks noChangeArrowheads="1"/>
          </p:cNvSpPr>
          <p:nvPr/>
        </p:nvSpPr>
        <p:spPr bwMode="auto">
          <a:xfrm>
            <a:off x="0" y="3252788"/>
            <a:ext cx="9144000" cy="0"/>
          </a:xfrm>
          <a:prstGeom prst="rect">
            <a:avLst/>
          </a:prstGeom>
          <a:noFill/>
          <a:ln w="9525" algn="ctr">
            <a:noFill/>
            <a:miter lim="800000"/>
            <a:headEnd/>
            <a:tailEnd/>
          </a:ln>
        </p:spPr>
        <p:txBody>
          <a:bodyPr wrap="none" anchor="ctr">
            <a:spAutoFit/>
          </a:bodyPr>
          <a:lstStyle/>
          <a:p>
            <a:endParaRPr lang="zh-CN" altLang="en-US"/>
          </a:p>
        </p:txBody>
      </p:sp>
      <p:sp>
        <p:nvSpPr>
          <p:cNvPr id="46086" name="Rectangle 4"/>
          <p:cNvSpPr>
            <a:spLocks noChangeArrowheads="1"/>
          </p:cNvSpPr>
          <p:nvPr/>
        </p:nvSpPr>
        <p:spPr bwMode="auto">
          <a:xfrm>
            <a:off x="0" y="3252788"/>
            <a:ext cx="9144000" cy="0"/>
          </a:xfrm>
          <a:prstGeom prst="rect">
            <a:avLst/>
          </a:prstGeom>
          <a:noFill/>
          <a:ln w="9525" algn="ctr">
            <a:noFill/>
            <a:miter lim="800000"/>
            <a:headEnd/>
            <a:tailEnd/>
          </a:ln>
        </p:spPr>
        <p:txBody>
          <a:bodyPr wrap="none" anchor="ctr">
            <a:spAutoFit/>
          </a:bodyPr>
          <a:lstStyle/>
          <a:p>
            <a:endParaRPr lang="zh-CN" altLang="en-US"/>
          </a:p>
        </p:txBody>
      </p:sp>
      <p:sp>
        <p:nvSpPr>
          <p:cNvPr id="46087" name="Rectangle 5"/>
          <p:cNvSpPr>
            <a:spLocks noChangeArrowheads="1"/>
          </p:cNvSpPr>
          <p:nvPr/>
        </p:nvSpPr>
        <p:spPr bwMode="auto">
          <a:xfrm>
            <a:off x="468313" y="1844675"/>
            <a:ext cx="8424862" cy="4176713"/>
          </a:xfrm>
          <a:prstGeom prst="rect">
            <a:avLst/>
          </a:prstGeom>
          <a:noFill/>
          <a:ln w="9525">
            <a:noFill/>
            <a:miter lim="800000"/>
            <a:headEnd/>
            <a:tailEnd/>
          </a:ln>
        </p:spPr>
        <p:txBody>
          <a:bodyPr/>
          <a:lstStyle/>
          <a:p>
            <a:pPr marL="342900" indent="-342900">
              <a:lnSpc>
                <a:spcPct val="110000"/>
              </a:lnSpc>
              <a:spcBef>
                <a:spcPct val="25000"/>
              </a:spcBef>
              <a:buSzPct val="90000"/>
              <a:buFontTx/>
              <a:buBlip>
                <a:blip r:embed="rId4"/>
              </a:buBlip>
            </a:pPr>
            <a:r>
              <a:rPr lang="zh-CN" altLang="en-US" sz="3200" b="1" dirty="0">
                <a:solidFill>
                  <a:srgbClr val="000000"/>
                </a:solidFill>
                <a:latin typeface="Tahoma" pitchFamily="34" charset="0"/>
                <a:ea typeface="宋体" pitchFamily="2" charset="-122"/>
              </a:rPr>
              <a:t>假定某班学生先后两个两次进行了难度不同的综合考试，第一次考试成绩的均值和标准差分别为</a:t>
            </a:r>
            <a:r>
              <a:rPr lang="en-US" altLang="zh-CN" sz="3200" b="1" dirty="0">
                <a:solidFill>
                  <a:srgbClr val="000000"/>
                </a:solidFill>
                <a:latin typeface="Tahoma" pitchFamily="34" charset="0"/>
                <a:ea typeface="宋体" pitchFamily="2" charset="-122"/>
              </a:rPr>
              <a:t>80</a:t>
            </a:r>
            <a:r>
              <a:rPr lang="zh-CN" altLang="en-US" sz="3200" b="1" dirty="0">
                <a:solidFill>
                  <a:srgbClr val="000000"/>
                </a:solidFill>
                <a:latin typeface="Tahoma" pitchFamily="34" charset="0"/>
                <a:ea typeface="宋体" pitchFamily="2" charset="-122"/>
              </a:rPr>
              <a:t>分和</a:t>
            </a:r>
            <a:r>
              <a:rPr lang="en-US" altLang="zh-CN" sz="3200" b="1" dirty="0">
                <a:solidFill>
                  <a:srgbClr val="000000"/>
                </a:solidFill>
                <a:latin typeface="Tahoma" pitchFamily="34" charset="0"/>
                <a:ea typeface="宋体" pitchFamily="2" charset="-122"/>
              </a:rPr>
              <a:t>10</a:t>
            </a:r>
            <a:r>
              <a:rPr lang="zh-CN" altLang="en-US" sz="3200" b="1" dirty="0">
                <a:solidFill>
                  <a:srgbClr val="000000"/>
                </a:solidFill>
                <a:latin typeface="Tahoma" pitchFamily="34" charset="0"/>
                <a:ea typeface="宋体" pitchFamily="2" charset="-122"/>
              </a:rPr>
              <a:t>分，而第二次考试成绩的均值和标准差分别为</a:t>
            </a:r>
            <a:r>
              <a:rPr lang="en-US" altLang="zh-CN" sz="3200" b="1" dirty="0">
                <a:solidFill>
                  <a:srgbClr val="000000"/>
                </a:solidFill>
                <a:latin typeface="Tahoma" pitchFamily="34" charset="0"/>
                <a:ea typeface="宋体" pitchFamily="2" charset="-122"/>
              </a:rPr>
              <a:t>70</a:t>
            </a:r>
            <a:r>
              <a:rPr lang="zh-CN" altLang="en-US" sz="3200" b="1" dirty="0">
                <a:solidFill>
                  <a:srgbClr val="000000"/>
                </a:solidFill>
                <a:latin typeface="Tahoma" pitchFamily="34" charset="0"/>
                <a:ea typeface="宋体" pitchFamily="2" charset="-122"/>
              </a:rPr>
              <a:t>分和</a:t>
            </a:r>
            <a:r>
              <a:rPr lang="en-US" altLang="zh-CN" sz="3200" b="1" dirty="0">
                <a:solidFill>
                  <a:srgbClr val="000000"/>
                </a:solidFill>
                <a:latin typeface="Tahoma" pitchFamily="34" charset="0"/>
                <a:ea typeface="宋体" pitchFamily="2" charset="-122"/>
              </a:rPr>
              <a:t>7</a:t>
            </a:r>
            <a:r>
              <a:rPr lang="zh-CN" altLang="en-US" sz="3200" b="1" dirty="0">
                <a:solidFill>
                  <a:srgbClr val="000000"/>
                </a:solidFill>
                <a:latin typeface="Tahoma" pitchFamily="34" charset="0"/>
                <a:ea typeface="宋体" pitchFamily="2" charset="-122"/>
              </a:rPr>
              <a:t>分。</a:t>
            </a:r>
          </a:p>
          <a:p>
            <a:pPr marL="342900" indent="-342900">
              <a:lnSpc>
                <a:spcPct val="110000"/>
              </a:lnSpc>
              <a:spcBef>
                <a:spcPct val="25000"/>
              </a:spcBef>
              <a:buSzPct val="90000"/>
              <a:buFontTx/>
              <a:buBlip>
                <a:blip r:embed="rId4"/>
              </a:buBlip>
            </a:pPr>
            <a:r>
              <a:rPr lang="zh-CN" altLang="en-US" sz="3200" b="1" dirty="0">
                <a:solidFill>
                  <a:srgbClr val="000000"/>
                </a:solidFill>
                <a:latin typeface="Tahoma" pitchFamily="34" charset="0"/>
                <a:ea typeface="宋体" pitchFamily="2" charset="-122"/>
              </a:rPr>
              <a:t>张三第一、二次考试的成绩分别为</a:t>
            </a:r>
            <a:r>
              <a:rPr lang="en-US" altLang="zh-CN" sz="3200" b="1" dirty="0">
                <a:solidFill>
                  <a:srgbClr val="000000"/>
                </a:solidFill>
                <a:latin typeface="Tahoma" pitchFamily="34" charset="0"/>
                <a:ea typeface="宋体" pitchFamily="2" charset="-122"/>
              </a:rPr>
              <a:t>92</a:t>
            </a:r>
            <a:r>
              <a:rPr lang="zh-CN" altLang="en-US" sz="3200" b="1" dirty="0">
                <a:solidFill>
                  <a:srgbClr val="000000"/>
                </a:solidFill>
                <a:latin typeface="Tahoma" pitchFamily="34" charset="0"/>
                <a:ea typeface="宋体" pitchFamily="2" charset="-122"/>
              </a:rPr>
              <a:t>分和</a:t>
            </a:r>
            <a:r>
              <a:rPr lang="en-US" altLang="zh-CN" sz="3200" b="1" dirty="0">
                <a:solidFill>
                  <a:srgbClr val="000000"/>
                </a:solidFill>
                <a:latin typeface="Tahoma" pitchFamily="34" charset="0"/>
                <a:ea typeface="宋体" pitchFamily="2" charset="-122"/>
              </a:rPr>
              <a:t>80</a:t>
            </a:r>
            <a:r>
              <a:rPr lang="zh-CN" altLang="en-US" sz="3200" b="1" dirty="0">
                <a:solidFill>
                  <a:srgbClr val="000000"/>
                </a:solidFill>
                <a:latin typeface="Tahoma" pitchFamily="34" charset="0"/>
                <a:ea typeface="宋体" pitchFamily="2" charset="-122"/>
              </a:rPr>
              <a:t>分，</a:t>
            </a:r>
            <a:r>
              <a:rPr lang="zh-CN" altLang="en-US" sz="3200" b="1" dirty="0" smtClean="0">
                <a:solidFill>
                  <a:srgbClr val="000000"/>
                </a:solidFill>
                <a:latin typeface="Tahoma" pitchFamily="34" charset="0"/>
                <a:ea typeface="宋体" pitchFamily="2" charset="-122"/>
              </a:rPr>
              <a:t>那么在全班</a:t>
            </a:r>
            <a:r>
              <a:rPr lang="zh-CN" altLang="en-US" sz="3200" b="1" dirty="0">
                <a:solidFill>
                  <a:srgbClr val="000000"/>
                </a:solidFill>
                <a:latin typeface="Tahoma" pitchFamily="34" charset="0"/>
                <a:ea typeface="宋体" pitchFamily="2" charset="-122"/>
              </a:rPr>
              <a:t>相比较而言，他哪一次考试的成绩更好呢？为什么</a:t>
            </a:r>
            <a:r>
              <a:rPr lang="en-US" altLang="zh-CN" sz="3200" b="1" dirty="0">
                <a:solidFill>
                  <a:srgbClr val="000000"/>
                </a:solidFill>
                <a:latin typeface="Tahoma" pitchFamily="34" charset="0"/>
                <a:ea typeface="宋体" pitchFamily="2" charset="-122"/>
              </a:rPr>
              <a:t>?</a:t>
            </a:r>
          </a:p>
        </p:txBody>
      </p:sp>
      <p:graphicFrame>
        <p:nvGraphicFramePr>
          <p:cNvPr id="451590" name="Object 6"/>
          <p:cNvGraphicFramePr>
            <a:graphicFrameLocks noGrp="1" noChangeAspect="1"/>
          </p:cNvGraphicFramePr>
          <p:nvPr>
            <p:ph idx="1"/>
          </p:nvPr>
        </p:nvGraphicFramePr>
        <p:xfrm>
          <a:off x="7464425" y="0"/>
          <a:ext cx="1679575" cy="1679575"/>
        </p:xfrm>
        <a:graphic>
          <a:graphicData uri="http://schemas.openxmlformats.org/presentationml/2006/ole">
            <mc:AlternateContent xmlns:mc="http://schemas.openxmlformats.org/markup-compatibility/2006">
              <mc:Choice xmlns:v="urn:schemas-microsoft-com:vml" Requires="v">
                <p:oleObj spid="_x0000_s277613" name="Clip" r:id="rId5" imgW="2365200" imgH="2365200" progId="">
                  <p:embed/>
                </p:oleObj>
              </mc:Choice>
              <mc:Fallback>
                <p:oleObj name="Clip" r:id="rId5" imgW="2365200" imgH="2365200" progId="">
                  <p:embed/>
                  <p:pic>
                    <p:nvPicPr>
                      <p:cNvPr id="45159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425" y="0"/>
                        <a:ext cx="1679575" cy="167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51591" name="05 仲間たち.mp3">
            <a:hlinkClick r:id="" action="ppaction://media"/>
          </p:cNvPr>
          <p:cNvPicPr>
            <a:picLocks noRot="1" noChangeAspect="1" noChangeArrowheads="1"/>
          </p:cNvPicPr>
          <p:nvPr>
            <a:audioFile r:link="rId2"/>
          </p:nvPr>
        </p:nvPicPr>
        <p:blipFill>
          <a:blip r:embed="rId7" cstate="print"/>
          <a:srcRect/>
          <a:stretch>
            <a:fillRect/>
          </a:stretch>
        </p:blipFill>
        <p:spPr bwMode="auto">
          <a:xfrm>
            <a:off x="0" y="6237288"/>
            <a:ext cx="304800" cy="304800"/>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pPr>
              <a:defRPr/>
            </a:pPr>
            <a:fld id="{62FC49CA-8014-4DA2-ABEB-AF96863EC77D}" type="slidenum">
              <a:rPr lang="en-US" altLang="zh-CN" smtClean="0"/>
              <a:pPr>
                <a:defRPr/>
              </a:pPr>
              <a:t>132</a:t>
            </a:fld>
            <a:endParaRPr lang="en-US" altLang="zh-CN" dirty="0"/>
          </a:p>
        </p:txBody>
      </p:sp>
    </p:spTree>
    <p:extLst>
      <p:ext uri="{BB962C8B-B14F-4D97-AF65-F5344CB8AC3E}">
        <p14:creationId xmlns:p14="http://schemas.microsoft.com/office/powerpoint/2010/main" val="205159628"/>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51590"/>
                                        </p:tgtEl>
                                        <p:attrNameLst>
                                          <p:attrName>style.visibility</p:attrName>
                                        </p:attrNameLst>
                                      </p:cBhvr>
                                      <p:to>
                                        <p:strVal val="visible"/>
                                      </p:to>
                                    </p:set>
                                    <p:animEffect transition="in" filter="diamond(in)">
                                      <p:cBhvr>
                                        <p:cTn id="7" dur="2000"/>
                                        <p:tgtEl>
                                          <p:spTgt spid="451590"/>
                                        </p:tgtEl>
                                      </p:cBhvr>
                                    </p:animEffect>
                                  </p:childTnLst>
                                </p:cTn>
                              </p:par>
                              <p:par>
                                <p:cTn id="8" presetID="1" presetClass="mediacall" presetSubtype="0" fill="hold" nodeType="withEffect">
                                  <p:stCondLst>
                                    <p:cond delay="0"/>
                                  </p:stCondLst>
                                  <p:childTnLst>
                                    <p:cmd type="call" cmd="play">
                                      <p:cBhvr>
                                        <p:cTn id="9" dur="1" fill="hold"/>
                                        <p:tgtEl>
                                          <p:spTgt spid="45159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40000" numSld="113">
                <p:cTn id="10" repeatCount="indefinite" fill="hold" display="0">
                  <p:stCondLst>
                    <p:cond delay="indefinite"/>
                  </p:stCondLst>
                  <p:endCondLst>
                    <p:cond evt="onPrev" delay="0">
                      <p:tgtEl>
                        <p:sldTgt/>
                      </p:tgtEl>
                    </p:cond>
                    <p:cond evt="onStopAudio" delay="0">
                      <p:tgtEl>
                        <p:sldTgt/>
                      </p:tgtEl>
                    </p:cond>
                  </p:endCondLst>
                </p:cTn>
                <p:tgtEl>
                  <p:spTgt spid="451591"/>
                </p:tgtEl>
              </p:cMediaNode>
            </p:audio>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a:xfrm>
            <a:off x="187331" y="311984"/>
            <a:ext cx="7772400" cy="990600"/>
          </a:xfrm>
        </p:spPr>
        <p:txBody>
          <a:bodyPr/>
          <a:lstStyle/>
          <a:p>
            <a:pPr eaLnBrk="1" hangingPunct="1"/>
            <a:r>
              <a:rPr lang="en-US" altLang="zh-CN" dirty="0" smtClean="0"/>
              <a:t>3.5.1 Z-</a:t>
            </a:r>
            <a:r>
              <a:rPr lang="zh-CN" altLang="en-US" dirty="0" smtClean="0"/>
              <a:t>分数（</a:t>
            </a:r>
            <a:r>
              <a:rPr lang="en-US" altLang="zh-CN" i="1" dirty="0" smtClean="0"/>
              <a:t>Z-score</a:t>
            </a:r>
            <a:r>
              <a:rPr lang="zh-CN" altLang="en-US" dirty="0" smtClean="0"/>
              <a:t>）</a:t>
            </a:r>
          </a:p>
        </p:txBody>
      </p:sp>
      <p:sp>
        <p:nvSpPr>
          <p:cNvPr id="47109" name="Rectangle 3"/>
          <p:cNvSpPr>
            <a:spLocks noGrp="1" noChangeArrowheads="1"/>
          </p:cNvSpPr>
          <p:nvPr>
            <p:ph type="body" idx="1"/>
          </p:nvPr>
        </p:nvSpPr>
        <p:spPr>
          <a:xfrm>
            <a:off x="96837" y="1676200"/>
            <a:ext cx="8950325" cy="4752975"/>
          </a:xfrm>
        </p:spPr>
        <p:txBody>
          <a:bodyPr/>
          <a:lstStyle/>
          <a:p>
            <a:pPr eaLnBrk="1" hangingPunct="1">
              <a:lnSpc>
                <a:spcPct val="110000"/>
              </a:lnSpc>
              <a:spcBef>
                <a:spcPct val="40000"/>
              </a:spcBef>
            </a:pPr>
            <a:r>
              <a:rPr lang="en-US" altLang="zh-CN" dirty="0"/>
              <a:t>Z-</a:t>
            </a:r>
            <a:r>
              <a:rPr lang="zh-CN" altLang="en-US" dirty="0" smtClean="0"/>
              <a:t>分数</a:t>
            </a:r>
            <a:r>
              <a:rPr lang="zh-CN" altLang="en-US" dirty="0">
                <a:solidFill>
                  <a:srgbClr val="000000"/>
                </a:solidFill>
              </a:rPr>
              <a:t>也称为标准化</a:t>
            </a:r>
            <a:r>
              <a:rPr lang="zh-CN" altLang="en-US" dirty="0" smtClean="0">
                <a:solidFill>
                  <a:srgbClr val="000000"/>
                </a:solidFill>
              </a:rPr>
              <a:t>值或标准得分。</a:t>
            </a:r>
          </a:p>
          <a:p>
            <a:pPr eaLnBrk="1" hangingPunct="1">
              <a:lnSpc>
                <a:spcPct val="110000"/>
              </a:lnSpc>
              <a:spcBef>
                <a:spcPct val="40000"/>
              </a:spcBef>
            </a:pPr>
            <a:r>
              <a:rPr lang="zh-CN" altLang="en-US" dirty="0" smtClean="0">
                <a:solidFill>
                  <a:srgbClr val="000000"/>
                </a:solidFill>
              </a:rPr>
              <a:t>对于不同性质的变量值或来自不同均值和标准差的个体数据，往往不能直接对比。这就需要将它们转化为同一规格、尺度的数据（标准化</a:t>
            </a:r>
            <a:r>
              <a:rPr lang="zh-CN" altLang="en-US" dirty="0">
                <a:solidFill>
                  <a:srgbClr val="000000"/>
                </a:solidFill>
              </a:rPr>
              <a:t>值）后</a:t>
            </a:r>
            <a:r>
              <a:rPr lang="zh-CN" altLang="en-US" dirty="0" smtClean="0">
                <a:solidFill>
                  <a:srgbClr val="000000"/>
                </a:solidFill>
              </a:rPr>
              <a:t>再比较。</a:t>
            </a:r>
          </a:p>
          <a:p>
            <a:pPr eaLnBrk="1" hangingPunct="1">
              <a:lnSpc>
                <a:spcPct val="110000"/>
              </a:lnSpc>
              <a:spcBef>
                <a:spcPct val="40000"/>
              </a:spcBef>
            </a:pPr>
            <a:r>
              <a:rPr lang="zh-CN" altLang="en-US" dirty="0" smtClean="0">
                <a:solidFill>
                  <a:srgbClr val="000000"/>
                </a:solidFill>
              </a:rPr>
              <a:t>实际上是将不同均值和标准差的总体都转换为均值为</a:t>
            </a:r>
            <a:r>
              <a:rPr lang="en-US" altLang="zh-CN" dirty="0" smtClean="0">
                <a:solidFill>
                  <a:srgbClr val="000000"/>
                </a:solidFill>
              </a:rPr>
              <a:t>0</a:t>
            </a:r>
            <a:r>
              <a:rPr lang="zh-CN" altLang="en-US" dirty="0" smtClean="0">
                <a:solidFill>
                  <a:srgbClr val="000000"/>
                </a:solidFill>
              </a:rPr>
              <a:t>、标准差为</a:t>
            </a:r>
            <a:r>
              <a:rPr lang="en-US" altLang="zh-CN" dirty="0" smtClean="0">
                <a:solidFill>
                  <a:srgbClr val="000000"/>
                </a:solidFill>
              </a:rPr>
              <a:t>1</a:t>
            </a:r>
            <a:r>
              <a:rPr lang="zh-CN" altLang="en-US" dirty="0" smtClean="0">
                <a:solidFill>
                  <a:srgbClr val="000000"/>
                </a:solidFill>
              </a:rPr>
              <a:t>的总体，将各个体的数据转换为它在其总体中的相对位置。</a:t>
            </a:r>
          </a:p>
        </p:txBody>
      </p:sp>
      <p:sp>
        <p:nvSpPr>
          <p:cNvPr id="47110"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7106" name="Object 5"/>
          <p:cNvGraphicFramePr>
            <a:graphicFrameLocks noChangeAspect="1"/>
          </p:cNvGraphicFramePr>
          <p:nvPr>
            <p:extLst>
              <p:ext uri="{D42A27DB-BD31-4B8C-83A1-F6EECF244321}">
                <p14:modId xmlns:p14="http://schemas.microsoft.com/office/powerpoint/2010/main" val="1102284721"/>
              </p:ext>
            </p:extLst>
          </p:nvPr>
        </p:nvGraphicFramePr>
        <p:xfrm>
          <a:off x="6804025" y="1196752"/>
          <a:ext cx="2089150" cy="1283112"/>
        </p:xfrm>
        <a:graphic>
          <a:graphicData uri="http://schemas.openxmlformats.org/presentationml/2006/ole">
            <mc:AlternateContent xmlns:mc="http://schemas.openxmlformats.org/markup-compatibility/2006">
              <mc:Choice xmlns:v="urn:schemas-microsoft-com:vml" Requires="v">
                <p:oleObj spid="_x0000_s278637" name="公式" r:id="rId3" imgW="596641" imgH="355446" progId="Equation.3">
                  <p:embed/>
                </p:oleObj>
              </mc:Choice>
              <mc:Fallback>
                <p:oleObj name="公式" r:id="rId3" imgW="596641" imgH="355446" progId="Equation.3">
                  <p:embed/>
                  <p:pic>
                    <p:nvPicPr>
                      <p:cNvPr id="4710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1196752"/>
                        <a:ext cx="2089150" cy="1283112"/>
                      </a:xfrm>
                      <a:prstGeom prst="rect">
                        <a:avLst/>
                      </a:prstGeom>
                      <a:noFill/>
                      <a:ln w="28575">
                        <a:solidFill>
                          <a:srgbClr val="1313FF"/>
                        </a:solidFill>
                        <a:miter lim="800000"/>
                        <a:headEnd/>
                        <a:tailEnd/>
                      </a:ln>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62FC49CA-8014-4DA2-ABEB-AF96863EC77D}" type="slidenum">
              <a:rPr lang="en-US" altLang="zh-CN" smtClean="0"/>
              <a:pPr>
                <a:defRPr/>
              </a:pPr>
              <a:t>133</a:t>
            </a:fld>
            <a:endParaRPr lang="en-US" altLang="zh-CN" dirty="0"/>
          </a:p>
        </p:txBody>
      </p:sp>
    </p:spTree>
    <p:extLst>
      <p:ext uri="{BB962C8B-B14F-4D97-AF65-F5344CB8AC3E}">
        <p14:creationId xmlns:p14="http://schemas.microsoft.com/office/powerpoint/2010/main" val="668542869"/>
      </p:ext>
    </p:extLst>
  </p:cSld>
  <p:clrMapOvr>
    <a:masterClrMapping/>
  </p:clrMapOvr>
  <p:transition advClick="0"/>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ChangeArrowheads="1"/>
          </p:cNvSpPr>
          <p:nvPr>
            <p:ph type="title"/>
          </p:nvPr>
        </p:nvSpPr>
        <p:spPr/>
        <p:txBody>
          <a:bodyPr/>
          <a:lstStyle/>
          <a:p>
            <a:pPr eaLnBrk="1" hangingPunct="1"/>
            <a:r>
              <a:rPr lang="en-US" altLang="zh-CN" smtClean="0"/>
              <a:t>【</a:t>
            </a:r>
            <a:r>
              <a:rPr lang="zh-CN" altLang="en-US" smtClean="0"/>
              <a:t>例</a:t>
            </a:r>
            <a:r>
              <a:rPr lang="en-US" altLang="zh-CN" smtClean="0"/>
              <a:t>】</a:t>
            </a:r>
            <a:r>
              <a:rPr lang="zh-CN" altLang="en-US" smtClean="0"/>
              <a:t>解答</a:t>
            </a:r>
          </a:p>
        </p:txBody>
      </p:sp>
      <p:sp>
        <p:nvSpPr>
          <p:cNvPr id="453635" name="Rectangle 3"/>
          <p:cNvSpPr>
            <a:spLocks noGrp="1" noChangeArrowheads="1"/>
          </p:cNvSpPr>
          <p:nvPr>
            <p:ph type="body" idx="1"/>
          </p:nvPr>
        </p:nvSpPr>
        <p:spPr>
          <a:xfrm>
            <a:off x="0" y="1341438"/>
            <a:ext cx="8893175" cy="5516562"/>
          </a:xfrm>
        </p:spPr>
        <p:txBody>
          <a:bodyPr/>
          <a:lstStyle/>
          <a:p>
            <a:pPr eaLnBrk="1" hangingPunct="1">
              <a:lnSpc>
                <a:spcPct val="115000"/>
              </a:lnSpc>
              <a:spcBef>
                <a:spcPct val="30000"/>
              </a:spcBef>
            </a:pPr>
            <a:r>
              <a:rPr lang="zh-CN" altLang="en-US" smtClean="0"/>
              <a:t>解：由于两次考试成绩的均值和标准差不同，每个学生两次考试的成绩不宜直接比较。</a:t>
            </a:r>
          </a:p>
          <a:p>
            <a:pPr lvl="1" eaLnBrk="1" hangingPunct="1">
              <a:lnSpc>
                <a:spcPct val="115000"/>
              </a:lnSpc>
              <a:spcBef>
                <a:spcPct val="30000"/>
              </a:spcBef>
            </a:pPr>
            <a:r>
              <a:rPr lang="zh-CN" altLang="en-US" smtClean="0"/>
              <a:t>利用标准化值进行对比，表明第二次考试的成绩更好一些。 </a:t>
            </a:r>
          </a:p>
        </p:txBody>
      </p:sp>
      <p:sp>
        <p:nvSpPr>
          <p:cNvPr id="48135" name="Rectangle 4"/>
          <p:cNvSpPr>
            <a:spLocks noChangeArrowheads="1"/>
          </p:cNvSpPr>
          <p:nvPr/>
        </p:nvSpPr>
        <p:spPr bwMode="auto">
          <a:xfrm>
            <a:off x="0" y="32527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53637" name="Object 5"/>
          <p:cNvGraphicFramePr>
            <a:graphicFrameLocks noChangeAspect="1"/>
          </p:cNvGraphicFramePr>
          <p:nvPr/>
        </p:nvGraphicFramePr>
        <p:xfrm>
          <a:off x="1331913" y="4149725"/>
          <a:ext cx="2735262" cy="1079500"/>
        </p:xfrm>
        <a:graphic>
          <a:graphicData uri="http://schemas.openxmlformats.org/presentationml/2006/ole">
            <mc:AlternateContent xmlns:mc="http://schemas.openxmlformats.org/markup-compatibility/2006">
              <mc:Choice xmlns:v="urn:schemas-microsoft-com:vml" Requires="v">
                <p:oleObj spid="_x0000_s279768" name="公式" r:id="rId3" imgW="812447" imgH="355446" progId="Equation.3">
                  <p:embed/>
                </p:oleObj>
              </mc:Choice>
              <mc:Fallback>
                <p:oleObj name="公式" r:id="rId3" imgW="812447" imgH="355446" progId="Equation.3">
                  <p:embed/>
                  <p:pic>
                    <p:nvPicPr>
                      <p:cNvPr id="45363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149725"/>
                        <a:ext cx="2735262"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3638" name="Object 6"/>
          <p:cNvGraphicFramePr>
            <a:graphicFrameLocks noChangeAspect="1"/>
          </p:cNvGraphicFramePr>
          <p:nvPr/>
        </p:nvGraphicFramePr>
        <p:xfrm>
          <a:off x="5292725" y="4005263"/>
          <a:ext cx="2665413" cy="1162050"/>
        </p:xfrm>
        <a:graphic>
          <a:graphicData uri="http://schemas.openxmlformats.org/presentationml/2006/ole">
            <mc:AlternateContent xmlns:mc="http://schemas.openxmlformats.org/markup-compatibility/2006">
              <mc:Choice xmlns:v="urn:schemas-microsoft-com:vml" Requires="v">
                <p:oleObj spid="_x0000_s279769" name="公式" r:id="rId5" imgW="812447" imgH="355446" progId="Equation.3">
                  <p:embed/>
                </p:oleObj>
              </mc:Choice>
              <mc:Fallback>
                <p:oleObj name="公式" r:id="rId5" imgW="812447" imgH="355446" progId="Equation.3">
                  <p:embed/>
                  <p:pic>
                    <p:nvPicPr>
                      <p:cNvPr id="45363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4005263"/>
                        <a:ext cx="2665413" cy="116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2"/>
          </p:nvPr>
        </p:nvSpPr>
        <p:spPr/>
        <p:txBody>
          <a:bodyPr/>
          <a:lstStyle/>
          <a:p>
            <a:pPr>
              <a:defRPr/>
            </a:pPr>
            <a:fld id="{62FC49CA-8014-4DA2-ABEB-AF96863EC77D}" type="slidenum">
              <a:rPr lang="en-US" altLang="zh-CN" smtClean="0"/>
              <a:pPr>
                <a:defRPr/>
              </a:pPr>
              <a:t>134</a:t>
            </a:fld>
            <a:endParaRPr lang="en-US" altLang="zh-CN" dirty="0"/>
          </a:p>
        </p:txBody>
      </p:sp>
    </p:spTree>
    <p:extLst>
      <p:ext uri="{BB962C8B-B14F-4D97-AF65-F5344CB8AC3E}">
        <p14:creationId xmlns:p14="http://schemas.microsoft.com/office/powerpoint/2010/main" val="4161547483"/>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53635">
                                            <p:txEl>
                                              <p:pRg st="1" end="1"/>
                                            </p:txEl>
                                          </p:spTgt>
                                        </p:tgtEl>
                                        <p:attrNameLst>
                                          <p:attrName>style.visibility</p:attrName>
                                        </p:attrNameLst>
                                      </p:cBhvr>
                                      <p:to>
                                        <p:strVal val="visible"/>
                                      </p:to>
                                    </p:set>
                                    <p:animEffect transition="in" filter="blinds(horizontal)">
                                      <p:cBhvr>
                                        <p:cTn id="7" dur="500"/>
                                        <p:tgtEl>
                                          <p:spTgt spid="453635">
                                            <p:txEl>
                                              <p:pRg st="1" end="1"/>
                                            </p:txEl>
                                          </p:spTgt>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453637"/>
                                        </p:tgtEl>
                                        <p:attrNameLst>
                                          <p:attrName>style.visibility</p:attrName>
                                        </p:attrNameLst>
                                      </p:cBhvr>
                                      <p:to>
                                        <p:strVal val="visible"/>
                                      </p:to>
                                    </p:set>
                                    <p:animEffect transition="in" filter="slide(fromTop)">
                                      <p:cBhvr>
                                        <p:cTn id="11" dur="500"/>
                                        <p:tgtEl>
                                          <p:spTgt spid="453637"/>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453638"/>
                                        </p:tgtEl>
                                        <p:attrNameLst>
                                          <p:attrName>style.visibility</p:attrName>
                                        </p:attrNameLst>
                                      </p:cBhvr>
                                      <p:to>
                                        <p:strVal val="visible"/>
                                      </p:to>
                                    </p:set>
                                    <p:animEffect transition="in" filter="slide(fromTop)">
                                      <p:cBhvr>
                                        <p:cTn id="15" dur="500"/>
                                        <p:tgtEl>
                                          <p:spTgt spid="453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5"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B35F7-C588-D4F7-DECF-9FB72111E7ED}"/>
              </a:ext>
            </a:extLst>
          </p:cNvPr>
          <p:cNvSpPr>
            <a:spLocks noGrp="1"/>
          </p:cNvSpPr>
          <p:nvPr>
            <p:ph type="title"/>
          </p:nvPr>
        </p:nvSpPr>
        <p:spPr>
          <a:xfrm>
            <a:off x="251520" y="836712"/>
            <a:ext cx="8738235" cy="497087"/>
          </a:xfrm>
        </p:spPr>
        <p:txBody>
          <a:bodyPr/>
          <a:lstStyle/>
          <a:p>
            <a:r>
              <a:rPr kumimoji="1" lang="en-US" altLang="zh-CN" sz="4000" dirty="0"/>
              <a:t>3.5.2</a:t>
            </a:r>
            <a:r>
              <a:rPr kumimoji="1" lang="zh-CN" altLang="en-US" sz="4000" dirty="0"/>
              <a:t> 切比雪夫定理与经验法则</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CF96304-9243-50FC-492E-EAA301CAE583}"/>
                  </a:ext>
                </a:extLst>
              </p:cNvPr>
              <p:cNvSpPr>
                <a:spLocks noGrp="1"/>
              </p:cNvSpPr>
              <p:nvPr>
                <p:ph idx="1"/>
              </p:nvPr>
            </p:nvSpPr>
            <p:spPr>
              <a:xfrm>
                <a:off x="539552" y="1484784"/>
                <a:ext cx="8064896" cy="4536504"/>
              </a:xfrm>
            </p:spPr>
            <p:txBody>
              <a:bodyPr/>
              <a:lstStyle/>
              <a:p>
                <a:pPr marL="0" indent="0">
                  <a:lnSpc>
                    <a:spcPct val="120000"/>
                  </a:lnSpc>
                  <a:spcBef>
                    <a:spcPts val="1200"/>
                  </a:spcBef>
                  <a:buNone/>
                </a:pPr>
                <a:r>
                  <a:rPr kumimoji="1" lang="en-US" altLang="zh-CN" dirty="0" smtClean="0">
                    <a:solidFill>
                      <a:srgbClr val="1313FF"/>
                    </a:solidFill>
                  </a:rPr>
                  <a:t>1.</a:t>
                </a:r>
                <a:r>
                  <a:rPr kumimoji="1" lang="zh-CN" altLang="en-US" dirty="0">
                    <a:solidFill>
                      <a:srgbClr val="1313FF"/>
                    </a:solidFill>
                  </a:rPr>
                  <a:t>切比雪夫</a:t>
                </a:r>
                <a:r>
                  <a:rPr kumimoji="1" lang="zh-CN" altLang="en-US" dirty="0" smtClean="0">
                    <a:solidFill>
                      <a:srgbClr val="1313FF"/>
                    </a:solidFill>
                  </a:rPr>
                  <a:t>定理</a:t>
                </a:r>
                <a:r>
                  <a:rPr lang="zh-CN" altLang="en-US" sz="1800" kern="100" dirty="0" smtClean="0">
                    <a:solidFill>
                      <a:srgbClr val="1313FF"/>
                    </a:solidFill>
                    <a:latin typeface="Times New Roman" panose="02020603050405020304" pitchFamily="18" charset="0"/>
                    <a:ea typeface="宋体" panose="02010600030101010101" pitchFamily="2" charset="-122"/>
                  </a:rPr>
                  <a:t> </a:t>
                </a:r>
                <a:r>
                  <a:rPr lang="en-US" altLang="zh-CN" sz="2400" kern="100" dirty="0" smtClean="0">
                    <a:solidFill>
                      <a:srgbClr val="000000"/>
                    </a:solidFill>
                    <a:latin typeface="Times New Roman" panose="02020603050405020304" pitchFamily="18" charset="0"/>
                    <a:ea typeface="宋体" panose="02010600030101010101" pitchFamily="2" charset="-122"/>
                  </a:rPr>
                  <a:t>——</a:t>
                </a:r>
                <a:r>
                  <a:rPr lang="zh-CN" altLang="zh-CN" sz="2600" kern="100" dirty="0" smtClean="0">
                    <a:solidFill>
                      <a:srgbClr val="000000"/>
                    </a:solidFill>
                    <a:latin typeface="Times New Roman" panose="02020603050405020304" pitchFamily="18" charset="0"/>
                    <a:ea typeface="宋体" panose="02010600030101010101" pitchFamily="2" charset="-122"/>
                  </a:rPr>
                  <a:t>指</a:t>
                </a:r>
                <a:r>
                  <a:rPr lang="zh-CN" altLang="zh-CN" sz="2600" kern="100" dirty="0">
                    <a:solidFill>
                      <a:srgbClr val="000000"/>
                    </a:solidFill>
                    <a:latin typeface="Times New Roman" panose="02020603050405020304" pitchFamily="18" charset="0"/>
                    <a:ea typeface="宋体" panose="02010600030101010101" pitchFamily="2" charset="-122"/>
                  </a:rPr>
                  <a:t>在任意一个数据集中，位于其</a:t>
                </a:r>
                <a:r>
                  <a:rPr lang="zh-CN" altLang="zh-CN" sz="2600" kern="100" dirty="0" smtClean="0">
                    <a:solidFill>
                      <a:srgbClr val="000000"/>
                    </a:solidFill>
                    <a:latin typeface="Times New Roman" panose="02020603050405020304" pitchFamily="18" charset="0"/>
                    <a:ea typeface="宋体" panose="02010600030101010101" pitchFamily="2" charset="-122"/>
                  </a:rPr>
                  <a:t>平均数</a:t>
                </a:r>
                <a:r>
                  <a:rPr lang="zh-CN" altLang="en-US" sz="2600" kern="100" dirty="0" smtClean="0">
                    <a:solidFill>
                      <a:srgbClr val="000000"/>
                    </a:solidFill>
                    <a:latin typeface="Times New Roman" panose="02020603050405020304" pitchFamily="18" charset="0"/>
                    <a:ea typeface="宋体" panose="02010600030101010101" pitchFamily="2" charset="-122"/>
                  </a:rPr>
                  <a:t>左右</a:t>
                </a:r>
                <a:r>
                  <a:rPr lang="en-US" altLang="zh-CN" sz="2600" kern="100" dirty="0" smtClean="0">
                    <a:solidFill>
                      <a:srgbClr val="000000"/>
                    </a:solidFill>
                    <a:latin typeface="Times New Roman" panose="02020603050405020304" pitchFamily="18" charset="0"/>
                    <a:ea typeface="宋体" panose="02010600030101010101" pitchFamily="2" charset="-122"/>
                  </a:rPr>
                  <a:t>m</a:t>
                </a:r>
                <a:r>
                  <a:rPr lang="zh-CN" altLang="zh-CN" sz="2600" kern="100" dirty="0">
                    <a:solidFill>
                      <a:srgbClr val="000000"/>
                    </a:solidFill>
                    <a:latin typeface="Times New Roman" panose="02020603050405020304" pitchFamily="18" charset="0"/>
                    <a:ea typeface="宋体" panose="02010600030101010101" pitchFamily="2" charset="-122"/>
                  </a:rPr>
                  <a:t>倍标准差范围之内的数据项所占比例至少为（</a:t>
                </a:r>
                <a:r>
                  <a:rPr lang="en-US" altLang="zh-CN" sz="2600" kern="100" dirty="0">
                    <a:solidFill>
                      <a:srgbClr val="000000"/>
                    </a:solidFill>
                    <a:latin typeface="Times New Roman" panose="02020603050405020304" pitchFamily="18" charset="0"/>
                    <a:ea typeface="宋体" panose="02010600030101010101" pitchFamily="2" charset="-122"/>
                  </a:rPr>
                  <a:t>1</a:t>
                </a:r>
                <a:r>
                  <a:rPr lang="zh-CN" altLang="zh-CN" sz="2600" kern="100" dirty="0">
                    <a:solidFill>
                      <a:srgbClr val="000000"/>
                    </a:solidFill>
                    <a:latin typeface="Times New Roman" panose="02020603050405020304" pitchFamily="18" charset="0"/>
                    <a:ea typeface="宋体" panose="02010600030101010101" pitchFamily="2" charset="-122"/>
                  </a:rPr>
                  <a:t>－</a:t>
                </a:r>
                <a:r>
                  <a:rPr lang="en-US" altLang="zh-CN" sz="2600" kern="100" dirty="0">
                    <a:solidFill>
                      <a:srgbClr val="000000"/>
                    </a:solidFill>
                    <a:latin typeface="Times New Roman" panose="02020603050405020304" pitchFamily="18" charset="0"/>
                    <a:ea typeface="宋体" panose="02010600030101010101" pitchFamily="2" charset="-122"/>
                  </a:rPr>
                  <a:t>1/m</a:t>
                </a:r>
                <a:r>
                  <a:rPr lang="en-US" altLang="zh-CN" sz="2600" kern="100" baseline="30000" dirty="0">
                    <a:solidFill>
                      <a:srgbClr val="000000"/>
                    </a:solidFill>
                    <a:latin typeface="Times New Roman" panose="02020603050405020304" pitchFamily="18" charset="0"/>
                    <a:ea typeface="宋体" panose="02010600030101010101" pitchFamily="2" charset="-122"/>
                  </a:rPr>
                  <a:t>2</a:t>
                </a:r>
                <a:r>
                  <a:rPr lang="zh-CN" altLang="zh-CN" sz="2600" kern="100" dirty="0">
                    <a:solidFill>
                      <a:srgbClr val="000000"/>
                    </a:solidFill>
                    <a:latin typeface="Times New Roman" panose="02020603050405020304" pitchFamily="18" charset="0"/>
                    <a:ea typeface="宋体" panose="02010600030101010101" pitchFamily="2" charset="-122"/>
                  </a:rPr>
                  <a:t>），其中</a:t>
                </a:r>
                <a:r>
                  <a:rPr lang="en-US" altLang="zh-CN" sz="2600" kern="100" dirty="0">
                    <a:solidFill>
                      <a:srgbClr val="000000"/>
                    </a:solidFill>
                    <a:latin typeface="Times New Roman" panose="02020603050405020304" pitchFamily="18" charset="0"/>
                    <a:ea typeface="宋体" panose="02010600030101010101" pitchFamily="2" charset="-122"/>
                  </a:rPr>
                  <a:t>m</a:t>
                </a:r>
                <a:r>
                  <a:rPr lang="zh-CN" altLang="zh-CN" sz="2600" kern="100" dirty="0">
                    <a:solidFill>
                      <a:srgbClr val="000000"/>
                    </a:solidFill>
                    <a:latin typeface="Times New Roman" panose="02020603050405020304" pitchFamily="18" charset="0"/>
                    <a:ea typeface="宋体" panose="02010600030101010101" pitchFamily="2" charset="-122"/>
                  </a:rPr>
                  <a:t>是大于</a:t>
                </a:r>
                <a:r>
                  <a:rPr lang="en-US" altLang="zh-CN" sz="2600" kern="100" dirty="0">
                    <a:solidFill>
                      <a:srgbClr val="000000"/>
                    </a:solidFill>
                    <a:latin typeface="Times New Roman" panose="02020603050405020304" pitchFamily="18" charset="0"/>
                    <a:ea typeface="宋体" panose="02010600030101010101" pitchFamily="2" charset="-122"/>
                  </a:rPr>
                  <a:t>1</a:t>
                </a:r>
                <a:r>
                  <a:rPr lang="zh-CN" altLang="zh-CN" sz="2600" kern="100" dirty="0">
                    <a:solidFill>
                      <a:srgbClr val="000000"/>
                    </a:solidFill>
                    <a:latin typeface="Times New Roman" panose="02020603050405020304" pitchFamily="18" charset="0"/>
                    <a:ea typeface="宋体" panose="02010600030101010101" pitchFamily="2" charset="-122"/>
                  </a:rPr>
                  <a:t>的任意实数</a:t>
                </a:r>
                <a:r>
                  <a:rPr lang="zh-CN" altLang="zh-CN" sz="2400" kern="100" dirty="0" smtClean="0">
                    <a:solidFill>
                      <a:srgbClr val="000000"/>
                    </a:solidFill>
                    <a:latin typeface="Times New Roman" panose="02020603050405020304" pitchFamily="18" charset="0"/>
                    <a:ea typeface="宋体" panose="02010600030101010101" pitchFamily="2" charset="-122"/>
                  </a:rPr>
                  <a:t>。</a:t>
                </a:r>
                <a:endParaRPr lang="en-US" altLang="zh-CN" sz="2400" kern="100" dirty="0">
                  <a:solidFill>
                    <a:srgbClr val="000000"/>
                  </a:solidFill>
                  <a:latin typeface="Times New Roman" panose="02020603050405020304" pitchFamily="18" charset="0"/>
                  <a:ea typeface="宋体" panose="02010600030101010101" pitchFamily="2" charset="-122"/>
                </a:endParaRPr>
              </a:p>
              <a:p>
                <a:pPr indent="-160338">
                  <a:lnSpc>
                    <a:spcPct val="120000"/>
                  </a:lnSpc>
                  <a:spcBef>
                    <a:spcPts val="1200"/>
                  </a:spcBef>
                  <a:buFont typeface="Wingdings" panose="05000000000000000000" pitchFamily="2" charset="2"/>
                  <a:buChar char="Ø"/>
                </a:pPr>
                <a:r>
                  <a:rPr lang="zh-CN" altLang="zh-CN" sz="2400" kern="100" dirty="0">
                    <a:solidFill>
                      <a:srgbClr val="000000"/>
                    </a:solidFill>
                    <a:latin typeface="Times New Roman" panose="02020603050405020304" pitchFamily="18" charset="0"/>
                    <a:ea typeface="宋体" panose="02010600030101010101" pitchFamily="2" charset="-122"/>
                  </a:rPr>
                  <a:t>至少有</a:t>
                </a:r>
                <a:r>
                  <a:rPr lang="en-US" altLang="zh-CN" sz="2400" kern="100" dirty="0">
                    <a:solidFill>
                      <a:srgbClr val="000000"/>
                    </a:solidFill>
                    <a:latin typeface="Times New Roman" panose="02020603050405020304" pitchFamily="18" charset="0"/>
                    <a:ea typeface="宋体" panose="02010600030101010101" pitchFamily="2" charset="-122"/>
                  </a:rPr>
                  <a:t>3/4</a:t>
                </a:r>
                <a:r>
                  <a:rPr lang="zh-CN" altLang="zh-CN" sz="2400" kern="100" dirty="0">
                    <a:solidFill>
                      <a:srgbClr val="000000"/>
                    </a:solidFill>
                    <a:latin typeface="Times New Roman" panose="02020603050405020304" pitchFamily="18" charset="0"/>
                    <a:ea typeface="宋体" panose="02010600030101010101" pitchFamily="2" charset="-122"/>
                  </a:rPr>
                  <a:t>（或</a:t>
                </a:r>
                <a:r>
                  <a:rPr lang="en-US" altLang="zh-CN" sz="2400" kern="100" dirty="0">
                    <a:solidFill>
                      <a:srgbClr val="000000"/>
                    </a:solidFill>
                    <a:latin typeface="Times New Roman" panose="02020603050405020304" pitchFamily="18" charset="0"/>
                    <a:ea typeface="宋体" panose="02010600030101010101" pitchFamily="2" charset="-122"/>
                  </a:rPr>
                  <a:t>75%</a:t>
                </a:r>
                <a:r>
                  <a:rPr lang="zh-CN" altLang="zh-CN" sz="2400" kern="100" dirty="0">
                    <a:solidFill>
                      <a:srgbClr val="000000"/>
                    </a:solidFill>
                    <a:latin typeface="Times New Roman" panose="02020603050405020304" pitchFamily="18" charset="0"/>
                    <a:ea typeface="宋体" panose="02010600030101010101" pitchFamily="2" charset="-122"/>
                  </a:rPr>
                  <a:t>）的数据位</a:t>
                </a:r>
                <a:r>
                  <a:rPr lang="zh-CN" altLang="zh-CN" sz="2400" kern="100" dirty="0" smtClean="0">
                    <a:solidFill>
                      <a:srgbClr val="000000"/>
                    </a:solidFill>
                    <a:latin typeface="Times New Roman" panose="02020603050405020304" pitchFamily="18" charset="0"/>
                    <a:ea typeface="宋体" panose="02010600030101010101" pitchFamily="2" charset="-122"/>
                  </a:rPr>
                  <a:t>于</a:t>
                </a:r>
                <a:r>
                  <a:rPr lang="zh-CN" altLang="en-US" sz="2400" kern="100" dirty="0" smtClean="0">
                    <a:solidFill>
                      <a:srgbClr val="000000"/>
                    </a:solidFill>
                    <a:latin typeface="Times New Roman" panose="02020603050405020304" pitchFamily="18" charset="0"/>
                    <a:ea typeface="宋体" panose="02010600030101010101" pitchFamily="2" charset="-122"/>
                  </a:rPr>
                  <a:t>（</a:t>
                </a:r>
                <a14:m>
                  <m:oMath xmlns:m="http://schemas.openxmlformats.org/officeDocument/2006/math">
                    <m:acc>
                      <m:accPr>
                        <m:chr m:val="̅"/>
                        <m:ctrlPr>
                          <a:rPr lang="zh-CN" altLang="en-US" sz="2400" i="1" kern="100" smtClean="0">
                            <a:solidFill>
                              <a:srgbClr val="000000"/>
                            </a:solidFill>
                            <a:latin typeface="Cambria Math" panose="02040503050406030204" pitchFamily="18" charset="0"/>
                            <a:ea typeface="宋体" panose="02010600030101010101" pitchFamily="2" charset="-122"/>
                          </a:rPr>
                        </m:ctrlPr>
                      </m:accPr>
                      <m:e>
                        <m:r>
                          <a:rPr lang="en-US" altLang="zh-CN" sz="2400" b="1" i="1" kern="100" smtClean="0">
                            <a:solidFill>
                              <a:srgbClr val="000000"/>
                            </a:solidFill>
                            <a:latin typeface="Cambria Math" panose="02040503050406030204" pitchFamily="18" charset="0"/>
                            <a:ea typeface="宋体" panose="02010600030101010101" pitchFamily="2" charset="-122"/>
                          </a:rPr>
                          <m:t>𝒙</m:t>
                        </m:r>
                      </m:e>
                    </m:acc>
                    <m:r>
                      <a:rPr lang="en-US" altLang="zh-CN" sz="2400" i="1" kern="100" smtClean="0">
                        <a:solidFill>
                          <a:srgbClr val="000000"/>
                        </a:solidFill>
                        <a:latin typeface="Cambria Math" panose="02040503050406030204" pitchFamily="18" charset="0"/>
                        <a:ea typeface="Cambria Math" panose="02040503050406030204" pitchFamily="18" charset="0"/>
                      </a:rPr>
                      <m:t>±</m:t>
                    </m:r>
                    <m:r>
                      <a:rPr lang="en-US" altLang="zh-CN" sz="2400" b="1" i="1" kern="100" smtClean="0">
                        <a:solidFill>
                          <a:srgbClr val="000000"/>
                        </a:solidFill>
                        <a:latin typeface="Cambria Math" panose="02040503050406030204" pitchFamily="18" charset="0"/>
                        <a:ea typeface="Cambria Math" panose="02040503050406030204" pitchFamily="18" charset="0"/>
                      </a:rPr>
                      <m:t>𝟐</m:t>
                    </m:r>
                    <m:r>
                      <a:rPr lang="zh-CN" altLang="en-US" sz="2400" b="1" i="1" kern="100" smtClean="0">
                        <a:solidFill>
                          <a:srgbClr val="000000"/>
                        </a:solidFill>
                        <a:latin typeface="Cambria Math" panose="02040503050406030204" pitchFamily="18" charset="0"/>
                        <a:ea typeface="Cambria Math" panose="02040503050406030204" pitchFamily="18" charset="0"/>
                      </a:rPr>
                      <m:t>𝝈</m:t>
                    </m:r>
                  </m:oMath>
                </a14:m>
                <a:r>
                  <a:rPr lang="zh-CN" altLang="en-US" sz="2400" kern="100" dirty="0" smtClean="0">
                    <a:solidFill>
                      <a:srgbClr val="000000"/>
                    </a:solidFill>
                    <a:latin typeface="Times New Roman" panose="02020603050405020304" pitchFamily="18" charset="0"/>
                    <a:ea typeface="宋体" panose="02010600030101010101" pitchFamily="2" charset="-122"/>
                  </a:rPr>
                  <a:t>）</a:t>
                </a:r>
                <a:r>
                  <a:rPr lang="zh-CN" altLang="zh-CN" sz="2400" kern="100" dirty="0" smtClean="0">
                    <a:solidFill>
                      <a:srgbClr val="000000"/>
                    </a:solidFill>
                    <a:latin typeface="Times New Roman" panose="02020603050405020304" pitchFamily="18" charset="0"/>
                    <a:ea typeface="宋体" panose="02010600030101010101" pitchFamily="2" charset="-122"/>
                  </a:rPr>
                  <a:t>范围</a:t>
                </a:r>
                <a:r>
                  <a:rPr lang="zh-CN" altLang="zh-CN" sz="2400" kern="100" dirty="0">
                    <a:solidFill>
                      <a:srgbClr val="000000"/>
                    </a:solidFill>
                    <a:latin typeface="Times New Roman" panose="02020603050405020304" pitchFamily="18" charset="0"/>
                    <a:ea typeface="宋体" panose="02010600030101010101" pitchFamily="2" charset="-122"/>
                  </a:rPr>
                  <a:t>内；</a:t>
                </a:r>
                <a:endParaRPr lang="en-US" altLang="zh-CN" sz="2400" kern="100" dirty="0">
                  <a:solidFill>
                    <a:srgbClr val="000000"/>
                  </a:solidFill>
                  <a:latin typeface="Times New Roman" panose="02020603050405020304" pitchFamily="18" charset="0"/>
                  <a:ea typeface="宋体" panose="02010600030101010101" pitchFamily="2" charset="-122"/>
                </a:endParaRPr>
              </a:p>
              <a:p>
                <a:pPr indent="-160338">
                  <a:lnSpc>
                    <a:spcPct val="120000"/>
                  </a:lnSpc>
                  <a:spcBef>
                    <a:spcPts val="1200"/>
                  </a:spcBef>
                  <a:buFont typeface="Wingdings" panose="05000000000000000000" pitchFamily="2" charset="2"/>
                  <a:buChar char="Ø"/>
                </a:pPr>
                <a:r>
                  <a:rPr lang="zh-CN" altLang="zh-CN" sz="2400" kern="100" dirty="0">
                    <a:solidFill>
                      <a:srgbClr val="000000"/>
                    </a:solidFill>
                    <a:latin typeface="Times New Roman" panose="02020603050405020304" pitchFamily="18" charset="0"/>
                    <a:ea typeface="宋体" panose="02010600030101010101" pitchFamily="2" charset="-122"/>
                  </a:rPr>
                  <a:t>至少有</a:t>
                </a:r>
                <a:r>
                  <a:rPr lang="en-US" altLang="zh-CN" sz="2400" kern="100" dirty="0">
                    <a:solidFill>
                      <a:srgbClr val="000000"/>
                    </a:solidFill>
                    <a:latin typeface="Times New Roman" panose="02020603050405020304" pitchFamily="18" charset="0"/>
                    <a:ea typeface="宋体" panose="02010600030101010101" pitchFamily="2" charset="-122"/>
                  </a:rPr>
                  <a:t>8/9</a:t>
                </a:r>
                <a:r>
                  <a:rPr lang="zh-CN" altLang="zh-CN" sz="2400" kern="100" dirty="0">
                    <a:solidFill>
                      <a:srgbClr val="000000"/>
                    </a:solidFill>
                    <a:latin typeface="Times New Roman" panose="02020603050405020304" pitchFamily="18" charset="0"/>
                    <a:ea typeface="宋体" panose="02010600030101010101" pitchFamily="2" charset="-122"/>
                  </a:rPr>
                  <a:t>（或约</a:t>
                </a:r>
                <a:r>
                  <a:rPr lang="en-US" altLang="zh-CN" sz="2400" kern="100" dirty="0">
                    <a:solidFill>
                      <a:srgbClr val="000000"/>
                    </a:solidFill>
                    <a:latin typeface="Times New Roman" panose="02020603050405020304" pitchFamily="18" charset="0"/>
                    <a:ea typeface="宋体" panose="02010600030101010101" pitchFamily="2" charset="-122"/>
                  </a:rPr>
                  <a:t>89%</a:t>
                </a:r>
                <a:r>
                  <a:rPr lang="zh-CN" altLang="zh-CN" sz="2400" kern="100" dirty="0">
                    <a:solidFill>
                      <a:srgbClr val="000000"/>
                    </a:solidFill>
                    <a:latin typeface="Times New Roman" panose="02020603050405020304" pitchFamily="18" charset="0"/>
                    <a:ea typeface="宋体" panose="02010600030101010101" pitchFamily="2" charset="-122"/>
                  </a:rPr>
                  <a:t>）的数据位于</a:t>
                </a:r>
                <a:r>
                  <a:rPr lang="zh-CN" altLang="en-US" sz="2400" kern="100" dirty="0">
                    <a:solidFill>
                      <a:srgbClr val="000000"/>
                    </a:solidFill>
                    <a:latin typeface="Times New Roman" panose="02020603050405020304" pitchFamily="18" charset="0"/>
                    <a:ea typeface="宋体" panose="02010600030101010101" pitchFamily="2" charset="-122"/>
                  </a:rPr>
                  <a:t>（</a:t>
                </a:r>
                <a14:m>
                  <m:oMath xmlns:m="http://schemas.openxmlformats.org/officeDocument/2006/math">
                    <m:acc>
                      <m:accPr>
                        <m:chr m:val="̅"/>
                        <m:ctrlPr>
                          <a:rPr lang="zh-CN" altLang="en-US" sz="2400" i="1" kern="100">
                            <a:solidFill>
                              <a:srgbClr val="000000"/>
                            </a:solidFill>
                            <a:latin typeface="Cambria Math" panose="02040503050406030204" pitchFamily="18" charset="0"/>
                            <a:ea typeface="宋体" panose="02010600030101010101" pitchFamily="2" charset="-122"/>
                          </a:rPr>
                        </m:ctrlPr>
                      </m:accPr>
                      <m:e>
                        <m:r>
                          <a:rPr lang="en-US" altLang="zh-CN" sz="2400" i="1" kern="100">
                            <a:solidFill>
                              <a:srgbClr val="000000"/>
                            </a:solidFill>
                            <a:latin typeface="Cambria Math" panose="02040503050406030204" pitchFamily="18" charset="0"/>
                            <a:ea typeface="宋体" panose="02010600030101010101" pitchFamily="2" charset="-122"/>
                          </a:rPr>
                          <m:t>𝒙</m:t>
                        </m:r>
                      </m:e>
                    </m:acc>
                    <m:r>
                      <a:rPr lang="en-US" altLang="zh-CN" sz="2400" i="1" kern="100">
                        <a:solidFill>
                          <a:srgbClr val="000000"/>
                        </a:solidFill>
                        <a:latin typeface="Cambria Math" panose="02040503050406030204" pitchFamily="18" charset="0"/>
                        <a:ea typeface="Cambria Math" panose="02040503050406030204" pitchFamily="18" charset="0"/>
                      </a:rPr>
                      <m:t>±</m:t>
                    </m:r>
                    <m:r>
                      <a:rPr lang="en-US" altLang="zh-CN" sz="2400" b="1" i="1" kern="100" smtClean="0">
                        <a:solidFill>
                          <a:srgbClr val="000000"/>
                        </a:solidFill>
                        <a:latin typeface="Cambria Math" panose="02040503050406030204" pitchFamily="18" charset="0"/>
                        <a:ea typeface="Cambria Math" panose="02040503050406030204" pitchFamily="18" charset="0"/>
                      </a:rPr>
                      <m:t>𝟑</m:t>
                    </m:r>
                    <m:r>
                      <a:rPr lang="zh-CN" altLang="en-US" sz="2400" i="1" kern="100">
                        <a:solidFill>
                          <a:srgbClr val="000000"/>
                        </a:solidFill>
                        <a:latin typeface="Cambria Math" panose="02040503050406030204" pitchFamily="18" charset="0"/>
                        <a:ea typeface="Cambria Math" panose="02040503050406030204" pitchFamily="18" charset="0"/>
                      </a:rPr>
                      <m:t>𝝈</m:t>
                    </m:r>
                  </m:oMath>
                </a14:m>
                <a:r>
                  <a:rPr lang="zh-CN" altLang="en-US" sz="2400" kern="100" dirty="0" smtClean="0">
                    <a:solidFill>
                      <a:srgbClr val="000000"/>
                    </a:solidFill>
                    <a:latin typeface="Times New Roman" panose="02020603050405020304" pitchFamily="18" charset="0"/>
                    <a:ea typeface="宋体" panose="02010600030101010101" pitchFamily="2" charset="-122"/>
                  </a:rPr>
                  <a:t>）</a:t>
                </a:r>
                <a:r>
                  <a:rPr lang="zh-CN" altLang="zh-CN" sz="2400" kern="100" dirty="0" smtClean="0">
                    <a:solidFill>
                      <a:srgbClr val="000000"/>
                    </a:solidFill>
                    <a:latin typeface="Times New Roman" panose="02020603050405020304" pitchFamily="18" charset="0"/>
                    <a:ea typeface="宋体" panose="02010600030101010101" pitchFamily="2" charset="-122"/>
                  </a:rPr>
                  <a:t>范围</a:t>
                </a:r>
                <a:r>
                  <a:rPr lang="zh-CN" altLang="zh-CN" sz="2400" kern="100" dirty="0">
                    <a:solidFill>
                      <a:srgbClr val="000000"/>
                    </a:solidFill>
                    <a:latin typeface="Times New Roman" panose="02020603050405020304" pitchFamily="18" charset="0"/>
                    <a:ea typeface="宋体" panose="02010600030101010101" pitchFamily="2" charset="-122"/>
                  </a:rPr>
                  <a:t>内</a:t>
                </a:r>
                <a:r>
                  <a:rPr lang="zh-CN" altLang="zh-CN" sz="2400" kern="100" dirty="0" smtClean="0">
                    <a:solidFill>
                      <a:srgbClr val="000000"/>
                    </a:solidFill>
                    <a:latin typeface="Times New Roman" panose="02020603050405020304" pitchFamily="18" charset="0"/>
                    <a:ea typeface="宋体" panose="02010600030101010101" pitchFamily="2" charset="-122"/>
                  </a:rPr>
                  <a:t>；</a:t>
                </a:r>
                <a:endParaRPr lang="en-US" altLang="zh-CN" sz="2400" kern="100" dirty="0">
                  <a:solidFill>
                    <a:srgbClr val="000000"/>
                  </a:solidFill>
                  <a:latin typeface="Times New Roman" panose="02020603050405020304" pitchFamily="18" charset="0"/>
                  <a:ea typeface="宋体" panose="02010600030101010101" pitchFamily="2" charset="-122"/>
                </a:endParaRPr>
              </a:p>
              <a:p>
                <a:pPr indent="-160338">
                  <a:lnSpc>
                    <a:spcPct val="120000"/>
                  </a:lnSpc>
                  <a:spcBef>
                    <a:spcPts val="1200"/>
                  </a:spcBef>
                  <a:buFont typeface="Wingdings" panose="05000000000000000000" pitchFamily="2" charset="2"/>
                  <a:buChar char="Ø"/>
                </a:pPr>
                <a:r>
                  <a:rPr lang="zh-CN"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至少有</a:t>
                </a:r>
                <a:r>
                  <a:rPr lang="en-US" altLang="zh-CN" sz="2400" kern="100" dirty="0">
                    <a:solidFill>
                      <a:srgbClr val="000000"/>
                    </a:solidFill>
                    <a:latin typeface="Times New Roman" panose="02020603050405020304" pitchFamily="18" charset="0"/>
                    <a:ea typeface="宋体" panose="02010600030101010101" pitchFamily="2" charset="-122"/>
                  </a:rPr>
                  <a:t>15/16</a:t>
                </a:r>
                <a:r>
                  <a:rPr lang="zh-CN"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（或约</a:t>
                </a:r>
                <a:r>
                  <a:rPr lang="en-US" altLang="zh-CN" sz="2400" kern="100" dirty="0">
                    <a:solidFill>
                      <a:srgbClr val="000000"/>
                    </a:solidFill>
                    <a:latin typeface="Times New Roman" panose="02020603050405020304" pitchFamily="18" charset="0"/>
                    <a:ea typeface="宋体" panose="02010600030101010101" pitchFamily="2" charset="-122"/>
                  </a:rPr>
                  <a:t>94%)</a:t>
                </a:r>
                <a:r>
                  <a:rPr lang="zh-CN"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的数据位</a:t>
                </a:r>
                <a:r>
                  <a:rPr lang="zh-CN" altLang="zh-CN" sz="2400" kern="1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于</a:t>
                </a:r>
                <a:r>
                  <a:rPr lang="zh-CN" altLang="en-US" sz="2400" kern="100" dirty="0" smtClean="0">
                    <a:solidFill>
                      <a:srgbClr val="000000"/>
                    </a:solidFill>
                    <a:latin typeface="Times New Roman" panose="02020603050405020304" pitchFamily="18" charset="0"/>
                    <a:ea typeface="宋体" panose="02010600030101010101" pitchFamily="2" charset="-122"/>
                  </a:rPr>
                  <a:t>（</a:t>
                </a:r>
                <a14:m>
                  <m:oMath xmlns:m="http://schemas.openxmlformats.org/officeDocument/2006/math">
                    <m:acc>
                      <m:accPr>
                        <m:chr m:val="̅"/>
                        <m:ctrlPr>
                          <a:rPr lang="zh-CN" altLang="en-US" sz="2400" i="1" kern="100">
                            <a:solidFill>
                              <a:srgbClr val="000000"/>
                            </a:solidFill>
                            <a:latin typeface="Cambria Math" panose="02040503050406030204" pitchFamily="18" charset="0"/>
                            <a:ea typeface="宋体" panose="02010600030101010101" pitchFamily="2" charset="-122"/>
                          </a:rPr>
                        </m:ctrlPr>
                      </m:accPr>
                      <m:e>
                        <m:r>
                          <a:rPr lang="en-US" altLang="zh-CN" sz="2400" i="1" kern="100">
                            <a:solidFill>
                              <a:srgbClr val="000000"/>
                            </a:solidFill>
                            <a:latin typeface="Cambria Math" panose="02040503050406030204" pitchFamily="18" charset="0"/>
                            <a:ea typeface="宋体" panose="02010600030101010101" pitchFamily="2" charset="-122"/>
                          </a:rPr>
                          <m:t>𝒙</m:t>
                        </m:r>
                      </m:e>
                    </m:acc>
                    <m:r>
                      <a:rPr lang="en-US" altLang="zh-CN" sz="2400" i="1" kern="100">
                        <a:solidFill>
                          <a:srgbClr val="000000"/>
                        </a:solidFill>
                        <a:latin typeface="Cambria Math" panose="02040503050406030204" pitchFamily="18" charset="0"/>
                        <a:ea typeface="Cambria Math" panose="02040503050406030204" pitchFamily="18" charset="0"/>
                      </a:rPr>
                      <m:t>±</m:t>
                    </m:r>
                    <m:r>
                      <a:rPr lang="en-US" altLang="zh-CN" sz="2400" b="1" i="1" kern="100" smtClean="0">
                        <a:solidFill>
                          <a:srgbClr val="000000"/>
                        </a:solidFill>
                        <a:latin typeface="Cambria Math" panose="02040503050406030204" pitchFamily="18" charset="0"/>
                        <a:ea typeface="Cambria Math" panose="02040503050406030204" pitchFamily="18" charset="0"/>
                      </a:rPr>
                      <m:t>𝟒</m:t>
                    </m:r>
                    <m:r>
                      <a:rPr lang="zh-CN" altLang="en-US" sz="2400" i="1" kern="100">
                        <a:solidFill>
                          <a:srgbClr val="000000"/>
                        </a:solidFill>
                        <a:latin typeface="Cambria Math" panose="02040503050406030204" pitchFamily="18" charset="0"/>
                        <a:ea typeface="Cambria Math" panose="02040503050406030204" pitchFamily="18" charset="0"/>
                      </a:rPr>
                      <m:t>𝝈</m:t>
                    </m:r>
                  </m:oMath>
                </a14:m>
                <a:r>
                  <a:rPr lang="zh-CN" altLang="en-US" sz="2400" kern="100" dirty="0" smtClean="0">
                    <a:solidFill>
                      <a:srgbClr val="000000"/>
                    </a:solidFill>
                    <a:latin typeface="Times New Roman" panose="02020603050405020304" pitchFamily="18" charset="0"/>
                    <a:ea typeface="宋体" panose="02010600030101010101" pitchFamily="2" charset="-122"/>
                  </a:rPr>
                  <a:t>）</a:t>
                </a:r>
                <a:r>
                  <a:rPr lang="zh-CN" altLang="zh-CN" sz="2400" kern="1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范围</a:t>
                </a:r>
                <a:r>
                  <a:rPr lang="zh-CN" altLang="zh-CN" sz="2400" kern="100" dirty="0" smtClean="0">
                    <a:solidFill>
                      <a:srgbClr val="000000"/>
                    </a:solidFill>
                    <a:latin typeface="Times New Roman" panose="02020603050405020304" pitchFamily="18" charset="0"/>
                    <a:ea typeface="宋体" panose="02010600030101010101" pitchFamily="2" charset="-122"/>
                  </a:rPr>
                  <a:t>内</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smtClean="0">
                  <a:solidFill>
                    <a:srgbClr val="000000"/>
                  </a:solidFill>
                </a:endParaRPr>
              </a:p>
              <a:p>
                <a:pPr marL="0" indent="0">
                  <a:lnSpc>
                    <a:spcPct val="120000"/>
                  </a:lnSpc>
                  <a:spcBef>
                    <a:spcPts val="1200"/>
                  </a:spcBef>
                  <a:buNone/>
                </a:pPr>
                <a:r>
                  <a:rPr lang="zh-CN" altLang="en-US" sz="2400" dirty="0">
                    <a:solidFill>
                      <a:srgbClr val="0070C0"/>
                    </a:solidFill>
                  </a:rPr>
                  <a:t>切比雪夫</a:t>
                </a:r>
                <a:r>
                  <a:rPr lang="zh-CN" altLang="en-US" sz="2400" dirty="0" smtClean="0">
                    <a:solidFill>
                      <a:srgbClr val="0070C0"/>
                    </a:solidFill>
                  </a:rPr>
                  <a:t>定理的优点：适用于任何数据集，对数据分布形态无要求。</a:t>
                </a:r>
                <a:endParaRPr lang="en-US" altLang="zh-CN" sz="2400" dirty="0">
                  <a:solidFill>
                    <a:srgbClr val="0070C0"/>
                  </a:solidFill>
                </a:endParaRPr>
              </a:p>
              <a:p>
                <a:pPr>
                  <a:lnSpc>
                    <a:spcPct val="120000"/>
                  </a:lnSpc>
                  <a:spcBef>
                    <a:spcPts val="1200"/>
                  </a:spcBef>
                  <a:buFont typeface="Wingdings" panose="05000000000000000000" pitchFamily="2" charset="2"/>
                  <a:buChar char="Ø"/>
                </a:pPr>
                <a:endParaRPr lang="zh-CN" altLang="en-US" sz="2400" dirty="0">
                  <a:solidFill>
                    <a:srgbClr val="000000"/>
                  </a:solidFill>
                </a:endParaRPr>
              </a:p>
            </p:txBody>
          </p:sp>
        </mc:Choice>
        <mc:Fallback xmlns="">
          <p:sp>
            <p:nvSpPr>
              <p:cNvPr id="3" name="内容占位符 2">
                <a:extLst>
                  <a:ext uri="{FF2B5EF4-FFF2-40B4-BE49-F238E27FC236}">
                    <a16:creationId xmlns:a16="http://schemas.microsoft.com/office/drawing/2014/main" id="{BCF96304-9243-50FC-492E-EAA301CAE583}"/>
                  </a:ext>
                </a:extLst>
              </p:cNvPr>
              <p:cNvSpPr>
                <a:spLocks noGrp="1" noRot="1" noChangeAspect="1" noMove="1" noResize="1" noEditPoints="1" noAdjustHandles="1" noChangeArrowheads="1" noChangeShapeType="1" noTextEdit="1"/>
              </p:cNvSpPr>
              <p:nvPr>
                <p:ph idx="1"/>
              </p:nvPr>
            </p:nvSpPr>
            <p:spPr>
              <a:xfrm>
                <a:off x="539552" y="1484784"/>
                <a:ext cx="8064896" cy="4536504"/>
              </a:xfrm>
              <a:blipFill>
                <a:blip r:embed="rId2"/>
                <a:stretch>
                  <a:fillRect l="-1967" t="-1344" r="-8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5F650E26-8139-F1B8-7229-100E29DE7A67}"/>
              </a:ext>
            </a:extLst>
          </p:cNvPr>
          <p:cNvSpPr>
            <a:spLocks noGrp="1"/>
          </p:cNvSpPr>
          <p:nvPr>
            <p:ph type="sldNum" sz="quarter" idx="4294967295"/>
          </p:nvPr>
        </p:nvSpPr>
        <p:spPr/>
        <p:txBody>
          <a:bodyPr/>
          <a:lstStyle/>
          <a:p>
            <a:fld id="{4ABD14BD-504E-42EC-A2AB-5F7BAF221D6C}" type="slidenum">
              <a:rPr lang="zh-CN" altLang="en-US" smtClean="0"/>
              <a:pPr/>
              <a:t>135</a:t>
            </a:fld>
            <a:endParaRPr lang="zh-CN" altLang="en-US"/>
          </a:p>
        </p:txBody>
      </p:sp>
    </p:spTree>
    <p:extLst>
      <p:ext uri="{BB962C8B-B14F-4D97-AF65-F5344CB8AC3E}">
        <p14:creationId xmlns:p14="http://schemas.microsoft.com/office/powerpoint/2010/main" val="494041682"/>
      </p:ext>
    </p:extLst>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2" name="Rectangle 2"/>
          <p:cNvSpPr>
            <a:spLocks noGrp="1" noChangeArrowheads="1"/>
          </p:cNvSpPr>
          <p:nvPr>
            <p:ph type="title"/>
          </p:nvPr>
        </p:nvSpPr>
        <p:spPr>
          <a:xfrm>
            <a:off x="748322" y="681373"/>
            <a:ext cx="7772400" cy="990600"/>
          </a:xfrm>
        </p:spPr>
        <p:txBody>
          <a:bodyPr/>
          <a:lstStyle/>
          <a:p>
            <a:pPr eaLnBrk="1" hangingPunct="1"/>
            <a:r>
              <a:rPr lang="zh-CN" altLang="en-US" dirty="0" smtClean="0">
                <a:solidFill>
                  <a:srgbClr val="0070C0"/>
                </a:solidFill>
              </a:rPr>
              <a:t>正态分布</a:t>
            </a:r>
            <a:endParaRPr lang="zh-CN" altLang="en-US" dirty="0" smtClean="0">
              <a:latin typeface="Times New Roman" pitchFamily="18" charset="0"/>
            </a:endParaRPr>
          </a:p>
        </p:txBody>
      </p:sp>
      <p:sp>
        <p:nvSpPr>
          <p:cNvPr id="454659" name="Rectangle 3"/>
          <p:cNvSpPr>
            <a:spLocks noGrp="1" noChangeArrowheads="1"/>
          </p:cNvSpPr>
          <p:nvPr>
            <p:ph type="body" idx="1"/>
          </p:nvPr>
        </p:nvSpPr>
        <p:spPr>
          <a:xfrm>
            <a:off x="683568" y="2160325"/>
            <a:ext cx="6365106" cy="687861"/>
          </a:xfrm>
        </p:spPr>
        <p:txBody>
          <a:bodyPr/>
          <a:lstStyle/>
          <a:p>
            <a:pPr eaLnBrk="1" hangingPunct="1">
              <a:lnSpc>
                <a:spcPct val="90000"/>
              </a:lnSpc>
            </a:pPr>
            <a:endParaRPr lang="zh-CN" altLang="en-US" dirty="0" smtClean="0">
              <a:solidFill>
                <a:srgbClr val="0070C0"/>
              </a:solidFill>
            </a:endParaRPr>
          </a:p>
          <a:p>
            <a:pPr eaLnBrk="1" hangingPunct="1">
              <a:lnSpc>
                <a:spcPct val="90000"/>
              </a:lnSpc>
            </a:pPr>
            <a:endParaRPr lang="zh-CN" altLang="en-US" dirty="0" smtClean="0">
              <a:solidFill>
                <a:srgbClr val="0070C0"/>
              </a:solidFill>
            </a:endParaRPr>
          </a:p>
          <a:p>
            <a:pPr eaLnBrk="1" hangingPunct="1">
              <a:lnSpc>
                <a:spcPct val="90000"/>
              </a:lnSpc>
            </a:pPr>
            <a:endParaRPr lang="zh-CN" altLang="en-US" dirty="0" smtClean="0">
              <a:solidFill>
                <a:srgbClr val="0070C0"/>
              </a:solidFill>
            </a:endParaRPr>
          </a:p>
          <a:p>
            <a:pPr eaLnBrk="1" hangingPunct="1">
              <a:lnSpc>
                <a:spcPct val="90000"/>
              </a:lnSpc>
            </a:pPr>
            <a:endParaRPr lang="zh-CN" altLang="en-US" dirty="0" smtClean="0">
              <a:solidFill>
                <a:srgbClr val="0070C0"/>
              </a:solidFill>
            </a:endParaRPr>
          </a:p>
          <a:p>
            <a:pPr marL="457200" lvl="1" indent="0" eaLnBrk="1" hangingPunct="1">
              <a:lnSpc>
                <a:spcPct val="90000"/>
              </a:lnSpc>
              <a:buNone/>
            </a:pPr>
            <a:endParaRPr lang="zh-CN" altLang="en-US" dirty="0" smtClean="0">
              <a:solidFill>
                <a:srgbClr val="0070C0"/>
              </a:solidFill>
            </a:endParaRPr>
          </a:p>
        </p:txBody>
      </p:sp>
      <p:grpSp>
        <p:nvGrpSpPr>
          <p:cNvPr id="49164" name="Group 4"/>
          <p:cNvGrpSpPr>
            <a:grpSpLocks/>
          </p:cNvGrpSpPr>
          <p:nvPr/>
        </p:nvGrpSpPr>
        <p:grpSpPr bwMode="auto">
          <a:xfrm>
            <a:off x="1187624" y="2315480"/>
            <a:ext cx="7048500" cy="3240360"/>
            <a:chOff x="839" y="2069"/>
            <a:chExt cx="4440" cy="1406"/>
          </a:xfrm>
        </p:grpSpPr>
        <p:sp>
          <p:nvSpPr>
            <p:cNvPr id="49169" name="Text Box 5"/>
            <p:cNvSpPr txBox="1">
              <a:spLocks noChangeArrowheads="1"/>
            </p:cNvSpPr>
            <p:nvPr/>
          </p:nvSpPr>
          <p:spPr bwMode="auto">
            <a:xfrm>
              <a:off x="5131" y="3172"/>
              <a:ext cx="148" cy="298"/>
            </a:xfrm>
            <a:prstGeom prst="rect">
              <a:avLst/>
            </a:prstGeom>
            <a:noFill/>
            <a:ln w="9525" algn="ctr">
              <a:noFill/>
              <a:miter lim="800000"/>
              <a:headEnd/>
              <a:tailEnd/>
            </a:ln>
          </p:spPr>
          <p:txBody>
            <a:bodyPr lIns="0" tIns="0" rIns="0" bIns="0"/>
            <a:lstStyle/>
            <a:p>
              <a:pPr algn="ctr"/>
              <a:r>
                <a:rPr kumimoji="0" lang="en-US" altLang="zh-CN" sz="1800" b="1" i="1">
                  <a:ea typeface="宋体" pitchFamily="2" charset="-122"/>
                </a:rPr>
                <a:t>x</a:t>
              </a:r>
              <a:endParaRPr kumimoji="0" lang="en-US" altLang="zh-CN" sz="1800">
                <a:latin typeface="Tahoma" pitchFamily="34" charset="0"/>
                <a:ea typeface="宋体" pitchFamily="2" charset="-122"/>
              </a:endParaRPr>
            </a:p>
          </p:txBody>
        </p:sp>
        <p:grpSp>
          <p:nvGrpSpPr>
            <p:cNvPr id="49170" name="Group 6"/>
            <p:cNvGrpSpPr>
              <a:grpSpLocks/>
            </p:cNvGrpSpPr>
            <p:nvPr/>
          </p:nvGrpSpPr>
          <p:grpSpPr bwMode="auto">
            <a:xfrm>
              <a:off x="839" y="2069"/>
              <a:ext cx="4291" cy="1194"/>
              <a:chOff x="884" y="2341"/>
              <a:chExt cx="3080" cy="1137"/>
            </a:xfrm>
          </p:grpSpPr>
          <p:grpSp>
            <p:nvGrpSpPr>
              <p:cNvPr id="49172" name="Group 7"/>
              <p:cNvGrpSpPr>
                <a:grpSpLocks/>
              </p:cNvGrpSpPr>
              <p:nvPr/>
            </p:nvGrpSpPr>
            <p:grpSpPr bwMode="auto">
              <a:xfrm>
                <a:off x="1140" y="2341"/>
                <a:ext cx="2640" cy="985"/>
                <a:chOff x="3845" y="3036"/>
                <a:chExt cx="1407" cy="566"/>
              </a:xfrm>
            </p:grpSpPr>
            <p:sp>
              <p:nvSpPr>
                <p:cNvPr id="49186" name="Freeform 8"/>
                <p:cNvSpPr>
                  <a:spLocks/>
                </p:cNvSpPr>
                <p:nvPr/>
              </p:nvSpPr>
              <p:spPr bwMode="auto">
                <a:xfrm>
                  <a:off x="4548" y="3036"/>
                  <a:ext cx="704" cy="566"/>
                </a:xfrm>
                <a:custGeom>
                  <a:avLst/>
                  <a:gdLst>
                    <a:gd name="T0" fmla="*/ 703 w 704"/>
                    <a:gd name="T1" fmla="*/ 565 h 566"/>
                    <a:gd name="T2" fmla="*/ 629 w 704"/>
                    <a:gd name="T3" fmla="*/ 558 h 566"/>
                    <a:gd name="T4" fmla="*/ 592 w 704"/>
                    <a:gd name="T5" fmla="*/ 552 h 566"/>
                    <a:gd name="T6" fmla="*/ 555 w 704"/>
                    <a:gd name="T7" fmla="*/ 542 h 566"/>
                    <a:gd name="T8" fmla="*/ 518 w 704"/>
                    <a:gd name="T9" fmla="*/ 529 h 566"/>
                    <a:gd name="T10" fmla="*/ 481 w 704"/>
                    <a:gd name="T11" fmla="*/ 512 h 566"/>
                    <a:gd name="T12" fmla="*/ 444 w 704"/>
                    <a:gd name="T13" fmla="*/ 489 h 566"/>
                    <a:gd name="T14" fmla="*/ 370 w 704"/>
                    <a:gd name="T15" fmla="*/ 423 h 566"/>
                    <a:gd name="T16" fmla="*/ 296 w 704"/>
                    <a:gd name="T17" fmla="*/ 331 h 566"/>
                    <a:gd name="T18" fmla="*/ 222 w 704"/>
                    <a:gd name="T19" fmla="*/ 221 h 566"/>
                    <a:gd name="T20" fmla="*/ 186 w 704"/>
                    <a:gd name="T21" fmla="*/ 164 h 566"/>
                    <a:gd name="T22" fmla="*/ 148 w 704"/>
                    <a:gd name="T23" fmla="*/ 112 h 566"/>
                    <a:gd name="T24" fmla="*/ 112 w 704"/>
                    <a:gd name="T25" fmla="*/ 67 h 566"/>
                    <a:gd name="T26" fmla="*/ 74 w 704"/>
                    <a:gd name="T27" fmla="*/ 31 h 566"/>
                    <a:gd name="T28" fmla="*/ 37 w 704"/>
                    <a:gd name="T29" fmla="*/ 9 h 566"/>
                    <a:gd name="T30" fmla="*/ 0 w 704"/>
                    <a:gd name="T31" fmla="*/ 0 h 5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4"/>
                    <a:gd name="T49" fmla="*/ 0 h 566"/>
                    <a:gd name="T50" fmla="*/ 704 w 704"/>
                    <a:gd name="T51" fmla="*/ 566 h 5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4" h="566">
                      <a:moveTo>
                        <a:pt x="703" y="565"/>
                      </a:moveTo>
                      <a:lnTo>
                        <a:pt x="629" y="558"/>
                      </a:lnTo>
                      <a:lnTo>
                        <a:pt x="592" y="552"/>
                      </a:lnTo>
                      <a:lnTo>
                        <a:pt x="555" y="542"/>
                      </a:lnTo>
                      <a:lnTo>
                        <a:pt x="518" y="529"/>
                      </a:lnTo>
                      <a:lnTo>
                        <a:pt x="481" y="512"/>
                      </a:lnTo>
                      <a:lnTo>
                        <a:pt x="444" y="489"/>
                      </a:lnTo>
                      <a:lnTo>
                        <a:pt x="370" y="423"/>
                      </a:lnTo>
                      <a:lnTo>
                        <a:pt x="296" y="331"/>
                      </a:lnTo>
                      <a:lnTo>
                        <a:pt x="222" y="221"/>
                      </a:lnTo>
                      <a:lnTo>
                        <a:pt x="186" y="164"/>
                      </a:lnTo>
                      <a:lnTo>
                        <a:pt x="148" y="112"/>
                      </a:lnTo>
                      <a:lnTo>
                        <a:pt x="112" y="67"/>
                      </a:lnTo>
                      <a:lnTo>
                        <a:pt x="74" y="31"/>
                      </a:lnTo>
                      <a:lnTo>
                        <a:pt x="37" y="9"/>
                      </a:lnTo>
                      <a:lnTo>
                        <a:pt x="0" y="0"/>
                      </a:lnTo>
                    </a:path>
                  </a:pathLst>
                </a:custGeom>
                <a:noFill/>
                <a:ln w="38100" cap="rnd">
                  <a:solidFill>
                    <a:schemeClr val="folHlink"/>
                  </a:solidFill>
                  <a:round/>
                  <a:headEnd/>
                  <a:tailEnd/>
                </a:ln>
              </p:spPr>
              <p:txBody>
                <a:bodyPr/>
                <a:lstStyle/>
                <a:p>
                  <a:endParaRPr lang="zh-CN" altLang="en-US"/>
                </a:p>
              </p:txBody>
            </p:sp>
            <p:sp>
              <p:nvSpPr>
                <p:cNvPr id="49187" name="Freeform 9"/>
                <p:cNvSpPr>
                  <a:spLocks/>
                </p:cNvSpPr>
                <p:nvPr/>
              </p:nvSpPr>
              <p:spPr bwMode="auto">
                <a:xfrm>
                  <a:off x="3845" y="3036"/>
                  <a:ext cx="704" cy="566"/>
                </a:xfrm>
                <a:custGeom>
                  <a:avLst/>
                  <a:gdLst>
                    <a:gd name="T0" fmla="*/ 0 w 704"/>
                    <a:gd name="T1" fmla="*/ 565 h 566"/>
                    <a:gd name="T2" fmla="*/ 74 w 704"/>
                    <a:gd name="T3" fmla="*/ 558 h 566"/>
                    <a:gd name="T4" fmla="*/ 111 w 704"/>
                    <a:gd name="T5" fmla="*/ 552 h 566"/>
                    <a:gd name="T6" fmla="*/ 148 w 704"/>
                    <a:gd name="T7" fmla="*/ 542 h 566"/>
                    <a:gd name="T8" fmla="*/ 184 w 704"/>
                    <a:gd name="T9" fmla="*/ 529 h 566"/>
                    <a:gd name="T10" fmla="*/ 222 w 704"/>
                    <a:gd name="T11" fmla="*/ 512 h 566"/>
                    <a:gd name="T12" fmla="*/ 258 w 704"/>
                    <a:gd name="T13" fmla="*/ 489 h 566"/>
                    <a:gd name="T14" fmla="*/ 334 w 704"/>
                    <a:gd name="T15" fmla="*/ 423 h 566"/>
                    <a:gd name="T16" fmla="*/ 407 w 704"/>
                    <a:gd name="T17" fmla="*/ 331 h 566"/>
                    <a:gd name="T18" fmla="*/ 481 w 704"/>
                    <a:gd name="T19" fmla="*/ 221 h 566"/>
                    <a:gd name="T20" fmla="*/ 518 w 704"/>
                    <a:gd name="T21" fmla="*/ 164 h 566"/>
                    <a:gd name="T22" fmla="*/ 555 w 704"/>
                    <a:gd name="T23" fmla="*/ 112 h 566"/>
                    <a:gd name="T24" fmla="*/ 592 w 704"/>
                    <a:gd name="T25" fmla="*/ 67 h 566"/>
                    <a:gd name="T26" fmla="*/ 629 w 704"/>
                    <a:gd name="T27" fmla="*/ 31 h 566"/>
                    <a:gd name="T28" fmla="*/ 666 w 704"/>
                    <a:gd name="T29" fmla="*/ 9 h 566"/>
                    <a:gd name="T30" fmla="*/ 703 w 704"/>
                    <a:gd name="T31" fmla="*/ 0 h 5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4"/>
                    <a:gd name="T49" fmla="*/ 0 h 566"/>
                    <a:gd name="T50" fmla="*/ 704 w 704"/>
                    <a:gd name="T51" fmla="*/ 566 h 5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4" h="566">
                      <a:moveTo>
                        <a:pt x="0" y="565"/>
                      </a:moveTo>
                      <a:lnTo>
                        <a:pt x="74" y="558"/>
                      </a:lnTo>
                      <a:lnTo>
                        <a:pt x="111" y="552"/>
                      </a:lnTo>
                      <a:lnTo>
                        <a:pt x="148" y="542"/>
                      </a:lnTo>
                      <a:lnTo>
                        <a:pt x="184" y="529"/>
                      </a:lnTo>
                      <a:lnTo>
                        <a:pt x="222" y="512"/>
                      </a:lnTo>
                      <a:lnTo>
                        <a:pt x="258" y="489"/>
                      </a:lnTo>
                      <a:lnTo>
                        <a:pt x="334" y="423"/>
                      </a:lnTo>
                      <a:lnTo>
                        <a:pt x="407" y="331"/>
                      </a:lnTo>
                      <a:lnTo>
                        <a:pt x="481" y="221"/>
                      </a:lnTo>
                      <a:lnTo>
                        <a:pt x="518" y="164"/>
                      </a:lnTo>
                      <a:lnTo>
                        <a:pt x="555" y="112"/>
                      </a:lnTo>
                      <a:lnTo>
                        <a:pt x="592" y="67"/>
                      </a:lnTo>
                      <a:lnTo>
                        <a:pt x="629" y="31"/>
                      </a:lnTo>
                      <a:lnTo>
                        <a:pt x="666" y="9"/>
                      </a:lnTo>
                      <a:lnTo>
                        <a:pt x="703" y="0"/>
                      </a:lnTo>
                    </a:path>
                  </a:pathLst>
                </a:custGeom>
                <a:noFill/>
                <a:ln w="38100" cap="rnd">
                  <a:solidFill>
                    <a:schemeClr val="folHlink"/>
                  </a:solidFill>
                  <a:round/>
                  <a:headEnd/>
                  <a:tailEnd/>
                </a:ln>
              </p:spPr>
              <p:txBody>
                <a:bodyPr/>
                <a:lstStyle/>
                <a:p>
                  <a:endParaRPr lang="zh-CN" altLang="en-US"/>
                </a:p>
              </p:txBody>
            </p:sp>
          </p:grpSp>
          <p:sp>
            <p:nvSpPr>
              <p:cNvPr id="49173" name="Line 10"/>
              <p:cNvSpPr>
                <a:spLocks noChangeShapeType="1"/>
              </p:cNvSpPr>
              <p:nvPr/>
            </p:nvSpPr>
            <p:spPr bwMode="auto">
              <a:xfrm>
                <a:off x="884" y="3444"/>
                <a:ext cx="3080" cy="1"/>
              </a:xfrm>
              <a:prstGeom prst="line">
                <a:avLst/>
              </a:prstGeom>
              <a:noFill/>
              <a:ln w="28575">
                <a:solidFill>
                  <a:schemeClr val="tx1"/>
                </a:solidFill>
                <a:round/>
                <a:headEnd/>
                <a:tailEnd type="triangle" w="med" len="med"/>
              </a:ln>
            </p:spPr>
            <p:txBody>
              <a:bodyPr/>
              <a:lstStyle/>
              <a:p>
                <a:endParaRPr lang="zh-CN" altLang="en-US"/>
              </a:p>
            </p:txBody>
          </p:sp>
          <p:sp>
            <p:nvSpPr>
              <p:cNvPr id="49174" name="Line 11"/>
              <p:cNvSpPr>
                <a:spLocks noChangeShapeType="1"/>
              </p:cNvSpPr>
              <p:nvPr/>
            </p:nvSpPr>
            <p:spPr bwMode="auto">
              <a:xfrm flipH="1" flipV="1">
                <a:off x="1225" y="3336"/>
                <a:ext cx="2453" cy="2"/>
              </a:xfrm>
              <a:prstGeom prst="line">
                <a:avLst/>
              </a:prstGeom>
              <a:noFill/>
              <a:ln w="19050">
                <a:solidFill>
                  <a:srgbClr val="FF3300"/>
                </a:solidFill>
                <a:round/>
                <a:headEnd type="triangle" w="med" len="med"/>
                <a:tailEnd type="triangle" w="med" len="med"/>
              </a:ln>
            </p:spPr>
            <p:txBody>
              <a:bodyPr/>
              <a:lstStyle/>
              <a:p>
                <a:endParaRPr lang="zh-CN" altLang="en-US"/>
              </a:p>
            </p:txBody>
          </p:sp>
          <p:sp>
            <p:nvSpPr>
              <p:cNvPr id="49175" name="Line 12"/>
              <p:cNvSpPr>
                <a:spLocks noChangeShapeType="1"/>
              </p:cNvSpPr>
              <p:nvPr/>
            </p:nvSpPr>
            <p:spPr bwMode="auto">
              <a:xfrm flipH="1">
                <a:off x="2084" y="2754"/>
                <a:ext cx="717" cy="1"/>
              </a:xfrm>
              <a:prstGeom prst="line">
                <a:avLst/>
              </a:prstGeom>
              <a:noFill/>
              <a:ln w="6350">
                <a:solidFill>
                  <a:schemeClr val="tx1"/>
                </a:solidFill>
                <a:round/>
                <a:headEnd type="triangle" w="med" len="med"/>
                <a:tailEnd type="triangle" w="med" len="med"/>
              </a:ln>
            </p:spPr>
            <p:txBody>
              <a:bodyPr/>
              <a:lstStyle/>
              <a:p>
                <a:endParaRPr lang="zh-CN" altLang="en-US"/>
              </a:p>
            </p:txBody>
          </p:sp>
          <p:sp>
            <p:nvSpPr>
              <p:cNvPr id="49176" name="Line 13"/>
              <p:cNvSpPr>
                <a:spLocks noChangeShapeType="1"/>
              </p:cNvSpPr>
              <p:nvPr/>
            </p:nvSpPr>
            <p:spPr bwMode="auto">
              <a:xfrm flipH="1">
                <a:off x="2064" y="2640"/>
                <a:ext cx="21" cy="790"/>
              </a:xfrm>
              <a:prstGeom prst="line">
                <a:avLst/>
              </a:prstGeom>
              <a:noFill/>
              <a:ln w="28575" cap="rnd">
                <a:solidFill>
                  <a:schemeClr val="folHlink"/>
                </a:solidFill>
                <a:prstDash val="sysDot"/>
                <a:round/>
                <a:headEnd/>
                <a:tailEnd/>
              </a:ln>
            </p:spPr>
            <p:txBody>
              <a:bodyPr/>
              <a:lstStyle/>
              <a:p>
                <a:endParaRPr lang="zh-CN" altLang="en-US"/>
              </a:p>
            </p:txBody>
          </p:sp>
          <p:sp>
            <p:nvSpPr>
              <p:cNvPr id="49177" name="Line 14"/>
              <p:cNvSpPr>
                <a:spLocks noChangeShapeType="1"/>
              </p:cNvSpPr>
              <p:nvPr/>
            </p:nvSpPr>
            <p:spPr bwMode="auto">
              <a:xfrm flipH="1">
                <a:off x="2818" y="2640"/>
                <a:ext cx="1" cy="780"/>
              </a:xfrm>
              <a:prstGeom prst="line">
                <a:avLst/>
              </a:prstGeom>
              <a:noFill/>
              <a:ln w="28575" cap="rnd">
                <a:solidFill>
                  <a:schemeClr val="folHlink"/>
                </a:solidFill>
                <a:prstDash val="sysDot"/>
                <a:round/>
                <a:headEnd/>
                <a:tailEnd/>
              </a:ln>
            </p:spPr>
            <p:txBody>
              <a:bodyPr/>
              <a:lstStyle/>
              <a:p>
                <a:endParaRPr lang="zh-CN" altLang="en-US"/>
              </a:p>
            </p:txBody>
          </p:sp>
          <p:sp>
            <p:nvSpPr>
              <p:cNvPr id="49178" name="Line 15"/>
              <p:cNvSpPr>
                <a:spLocks noChangeShapeType="1"/>
              </p:cNvSpPr>
              <p:nvPr/>
            </p:nvSpPr>
            <p:spPr bwMode="auto">
              <a:xfrm flipH="1">
                <a:off x="3258" y="3138"/>
                <a:ext cx="1" cy="316"/>
              </a:xfrm>
              <a:prstGeom prst="line">
                <a:avLst/>
              </a:prstGeom>
              <a:noFill/>
              <a:ln w="28575" cap="rnd">
                <a:solidFill>
                  <a:srgbClr val="FF6699"/>
                </a:solidFill>
                <a:prstDash val="sysDot"/>
                <a:round/>
                <a:headEnd/>
                <a:tailEnd/>
              </a:ln>
            </p:spPr>
            <p:txBody>
              <a:bodyPr/>
              <a:lstStyle/>
              <a:p>
                <a:endParaRPr lang="zh-CN" altLang="en-US"/>
              </a:p>
            </p:txBody>
          </p:sp>
          <p:sp>
            <p:nvSpPr>
              <p:cNvPr id="49179" name="Line 16"/>
              <p:cNvSpPr>
                <a:spLocks noChangeShapeType="1"/>
              </p:cNvSpPr>
              <p:nvPr/>
            </p:nvSpPr>
            <p:spPr bwMode="auto">
              <a:xfrm flipH="1">
                <a:off x="3699" y="3336"/>
                <a:ext cx="1" cy="142"/>
              </a:xfrm>
              <a:prstGeom prst="line">
                <a:avLst/>
              </a:prstGeom>
              <a:noFill/>
              <a:ln w="38100">
                <a:solidFill>
                  <a:srgbClr val="FF3300"/>
                </a:solidFill>
                <a:round/>
                <a:headEnd/>
                <a:tailEnd/>
              </a:ln>
            </p:spPr>
            <p:txBody>
              <a:bodyPr/>
              <a:lstStyle/>
              <a:p>
                <a:endParaRPr lang="zh-CN" altLang="en-US"/>
              </a:p>
            </p:txBody>
          </p:sp>
          <p:sp>
            <p:nvSpPr>
              <p:cNvPr id="49180" name="Text Box 17"/>
              <p:cNvSpPr txBox="1">
                <a:spLocks noChangeArrowheads="1"/>
              </p:cNvSpPr>
              <p:nvPr/>
            </p:nvSpPr>
            <p:spPr bwMode="auto">
              <a:xfrm>
                <a:off x="2245" y="3203"/>
                <a:ext cx="510" cy="213"/>
              </a:xfrm>
              <a:prstGeom prst="rect">
                <a:avLst/>
              </a:prstGeom>
              <a:noFill/>
              <a:ln w="9525" algn="ctr">
                <a:noFill/>
                <a:miter lim="800000"/>
                <a:headEnd/>
                <a:tailEnd/>
              </a:ln>
            </p:spPr>
            <p:txBody>
              <a:bodyPr lIns="0" tIns="0" rIns="0" bIns="0"/>
              <a:lstStyle/>
              <a:p>
                <a:pPr algn="ctr"/>
                <a:r>
                  <a:rPr kumimoji="0" lang="en-US" altLang="zh-CN" b="1">
                    <a:solidFill>
                      <a:srgbClr val="FF3300"/>
                    </a:solidFill>
                    <a:ea typeface="宋体" pitchFamily="2" charset="-122"/>
                  </a:rPr>
                  <a:t>99.73%</a:t>
                </a:r>
                <a:endParaRPr kumimoji="0" lang="en-US" altLang="zh-CN" b="1">
                  <a:solidFill>
                    <a:srgbClr val="FF3300"/>
                  </a:solidFill>
                  <a:latin typeface="Tahoma" pitchFamily="34" charset="0"/>
                  <a:ea typeface="宋体" pitchFamily="2" charset="-122"/>
                </a:endParaRPr>
              </a:p>
            </p:txBody>
          </p:sp>
          <p:sp>
            <p:nvSpPr>
              <p:cNvPr id="49181" name="Text Box 18"/>
              <p:cNvSpPr txBox="1">
                <a:spLocks noChangeArrowheads="1"/>
              </p:cNvSpPr>
              <p:nvPr/>
            </p:nvSpPr>
            <p:spPr bwMode="auto">
              <a:xfrm>
                <a:off x="2336" y="2523"/>
                <a:ext cx="323" cy="200"/>
              </a:xfrm>
              <a:prstGeom prst="rect">
                <a:avLst/>
              </a:prstGeom>
              <a:noFill/>
              <a:ln w="9525" algn="ctr">
                <a:noFill/>
                <a:miter lim="800000"/>
                <a:headEnd/>
                <a:tailEnd/>
              </a:ln>
            </p:spPr>
            <p:txBody>
              <a:bodyPr wrap="none" lIns="0" tIns="0" rIns="0" bIns="0"/>
              <a:lstStyle/>
              <a:p>
                <a:pPr algn="ctr"/>
                <a:r>
                  <a:rPr kumimoji="0" lang="en-US" altLang="zh-CN" sz="2000" b="1">
                    <a:ea typeface="宋体" pitchFamily="2" charset="-122"/>
                  </a:rPr>
                  <a:t>68.27%</a:t>
                </a:r>
                <a:endParaRPr kumimoji="0" lang="en-US" altLang="zh-CN" sz="2000" b="1">
                  <a:latin typeface="Tahoma" pitchFamily="34" charset="0"/>
                  <a:ea typeface="宋体" pitchFamily="2" charset="-122"/>
                </a:endParaRPr>
              </a:p>
            </p:txBody>
          </p:sp>
          <p:sp>
            <p:nvSpPr>
              <p:cNvPr id="49182" name="Line 19"/>
              <p:cNvSpPr>
                <a:spLocks noChangeShapeType="1"/>
              </p:cNvSpPr>
              <p:nvPr/>
            </p:nvSpPr>
            <p:spPr bwMode="auto">
              <a:xfrm flipH="1">
                <a:off x="1645" y="3138"/>
                <a:ext cx="1599" cy="1"/>
              </a:xfrm>
              <a:prstGeom prst="line">
                <a:avLst/>
              </a:prstGeom>
              <a:noFill/>
              <a:ln w="9525">
                <a:solidFill>
                  <a:srgbClr val="FF6699"/>
                </a:solidFill>
                <a:round/>
                <a:headEnd type="triangle" w="med" len="med"/>
                <a:tailEnd type="triangle" w="med" len="med"/>
              </a:ln>
            </p:spPr>
            <p:txBody>
              <a:bodyPr/>
              <a:lstStyle/>
              <a:p>
                <a:endParaRPr lang="zh-CN" altLang="en-US"/>
              </a:p>
            </p:txBody>
          </p:sp>
          <p:sp>
            <p:nvSpPr>
              <p:cNvPr id="49183" name="Text Box 20"/>
              <p:cNvSpPr txBox="1">
                <a:spLocks noChangeArrowheads="1"/>
              </p:cNvSpPr>
              <p:nvPr/>
            </p:nvSpPr>
            <p:spPr bwMode="auto">
              <a:xfrm>
                <a:off x="2200" y="2976"/>
                <a:ext cx="544" cy="153"/>
              </a:xfrm>
              <a:prstGeom prst="rect">
                <a:avLst/>
              </a:prstGeom>
              <a:noFill/>
              <a:ln w="9525" algn="ctr">
                <a:noFill/>
                <a:miter lim="800000"/>
                <a:headEnd/>
                <a:tailEnd/>
              </a:ln>
            </p:spPr>
            <p:txBody>
              <a:bodyPr lIns="0" tIns="0" rIns="0" bIns="0">
                <a:spAutoFit/>
              </a:bodyPr>
              <a:lstStyle/>
              <a:p>
                <a:pPr algn="ctr"/>
                <a:r>
                  <a:rPr kumimoji="0" lang="en-US" altLang="zh-CN" sz="2000" b="1">
                    <a:solidFill>
                      <a:srgbClr val="C56B9E"/>
                    </a:solidFill>
                    <a:ea typeface="宋体" pitchFamily="2" charset="-122"/>
                  </a:rPr>
                  <a:t>95.45%</a:t>
                </a:r>
                <a:endParaRPr kumimoji="0" lang="en-US" altLang="zh-CN" sz="2000" b="1">
                  <a:solidFill>
                    <a:srgbClr val="C56B9E"/>
                  </a:solidFill>
                  <a:latin typeface="Tahoma" pitchFamily="34" charset="0"/>
                  <a:ea typeface="宋体" pitchFamily="2" charset="-122"/>
                </a:endParaRPr>
              </a:p>
            </p:txBody>
          </p:sp>
          <p:sp>
            <p:nvSpPr>
              <p:cNvPr id="49184" name="Line 21"/>
              <p:cNvSpPr>
                <a:spLocks noChangeShapeType="1"/>
              </p:cNvSpPr>
              <p:nvPr/>
            </p:nvSpPr>
            <p:spPr bwMode="auto">
              <a:xfrm flipH="1">
                <a:off x="1225" y="3336"/>
                <a:ext cx="1" cy="142"/>
              </a:xfrm>
              <a:prstGeom prst="line">
                <a:avLst/>
              </a:prstGeom>
              <a:noFill/>
              <a:ln w="38100">
                <a:solidFill>
                  <a:srgbClr val="FF3300"/>
                </a:solidFill>
                <a:round/>
                <a:headEnd/>
                <a:tailEnd/>
              </a:ln>
            </p:spPr>
            <p:txBody>
              <a:bodyPr/>
              <a:lstStyle/>
              <a:p>
                <a:endParaRPr lang="zh-CN" altLang="en-US"/>
              </a:p>
            </p:txBody>
          </p:sp>
          <p:sp>
            <p:nvSpPr>
              <p:cNvPr id="49185" name="Line 22"/>
              <p:cNvSpPr>
                <a:spLocks noChangeShapeType="1"/>
              </p:cNvSpPr>
              <p:nvPr/>
            </p:nvSpPr>
            <p:spPr bwMode="auto">
              <a:xfrm flipH="1">
                <a:off x="1652" y="3154"/>
                <a:ext cx="0" cy="315"/>
              </a:xfrm>
              <a:prstGeom prst="line">
                <a:avLst/>
              </a:prstGeom>
              <a:noFill/>
              <a:ln w="28575" cap="rnd">
                <a:solidFill>
                  <a:srgbClr val="FF6699"/>
                </a:solidFill>
                <a:prstDash val="sysDot"/>
                <a:round/>
                <a:headEnd/>
                <a:tailEnd/>
              </a:ln>
            </p:spPr>
            <p:txBody>
              <a:bodyPr/>
              <a:lstStyle/>
              <a:p>
                <a:endParaRPr lang="zh-CN" altLang="en-US"/>
              </a:p>
            </p:txBody>
          </p:sp>
        </p:grpSp>
        <p:graphicFrame>
          <p:nvGraphicFramePr>
            <p:cNvPr id="49154" name="Object 23"/>
            <p:cNvGraphicFramePr>
              <a:graphicFrameLocks noChangeAspect="1"/>
            </p:cNvGraphicFramePr>
            <p:nvPr>
              <p:extLst>
                <p:ext uri="{D42A27DB-BD31-4B8C-83A1-F6EECF244321}">
                  <p14:modId xmlns:p14="http://schemas.microsoft.com/office/powerpoint/2010/main" val="1826330384"/>
                </p:ext>
              </p:extLst>
            </p:nvPr>
          </p:nvGraphicFramePr>
          <p:xfrm>
            <a:off x="1771" y="3250"/>
            <a:ext cx="429" cy="215"/>
          </p:xfrm>
          <a:graphic>
            <a:graphicData uri="http://schemas.openxmlformats.org/presentationml/2006/ole">
              <mc:AlternateContent xmlns:mc="http://schemas.openxmlformats.org/markup-compatibility/2006">
                <mc:Choice xmlns:v="urn:schemas-microsoft-com:vml" Requires="v">
                  <p:oleObj spid="_x0000_s281334" name="公式" r:id="rId3" imgW="406048" imgH="164957" progId="Equation.3">
                    <p:embed/>
                  </p:oleObj>
                </mc:Choice>
                <mc:Fallback>
                  <p:oleObj name="公式" r:id="rId3" imgW="406048" imgH="164957" progId="Equation.3">
                    <p:embed/>
                    <p:pic>
                      <p:nvPicPr>
                        <p:cNvPr id="49154"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 y="3250"/>
                          <a:ext cx="429" cy="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5" name="Object 24"/>
            <p:cNvGraphicFramePr>
              <a:graphicFrameLocks noChangeAspect="1"/>
            </p:cNvGraphicFramePr>
            <p:nvPr>
              <p:extLst>
                <p:ext uri="{D42A27DB-BD31-4B8C-83A1-F6EECF244321}">
                  <p14:modId xmlns:p14="http://schemas.microsoft.com/office/powerpoint/2010/main" val="619566603"/>
                </p:ext>
              </p:extLst>
            </p:nvPr>
          </p:nvGraphicFramePr>
          <p:xfrm>
            <a:off x="1136" y="3250"/>
            <a:ext cx="429" cy="215"/>
          </p:xfrm>
          <a:graphic>
            <a:graphicData uri="http://schemas.openxmlformats.org/presentationml/2006/ole">
              <mc:AlternateContent xmlns:mc="http://schemas.openxmlformats.org/markup-compatibility/2006">
                <mc:Choice xmlns:v="urn:schemas-microsoft-com:vml" Requires="v">
                  <p:oleObj spid="_x0000_s281335" name="公式" r:id="rId5" imgW="406080" imgH="164880" progId="Equation.3">
                    <p:embed/>
                  </p:oleObj>
                </mc:Choice>
                <mc:Fallback>
                  <p:oleObj name="公式" r:id="rId5" imgW="406080" imgH="164880" progId="Equation.3">
                    <p:embed/>
                    <p:pic>
                      <p:nvPicPr>
                        <p:cNvPr id="49155"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6" y="3250"/>
                          <a:ext cx="429" cy="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25"/>
            <p:cNvGraphicFramePr>
              <a:graphicFrameLocks noChangeAspect="1"/>
            </p:cNvGraphicFramePr>
            <p:nvPr/>
          </p:nvGraphicFramePr>
          <p:xfrm>
            <a:off x="2341" y="3259"/>
            <a:ext cx="361" cy="198"/>
          </p:xfrm>
          <a:graphic>
            <a:graphicData uri="http://schemas.openxmlformats.org/presentationml/2006/ole">
              <mc:AlternateContent xmlns:mc="http://schemas.openxmlformats.org/markup-compatibility/2006">
                <mc:Choice xmlns:v="urn:schemas-microsoft-com:vml" Requires="v">
                  <p:oleObj spid="_x0000_s281336" name="公式" r:id="rId7" imgW="342720" imgH="152280" progId="Equation.3">
                    <p:embed/>
                  </p:oleObj>
                </mc:Choice>
                <mc:Fallback>
                  <p:oleObj name="公式" r:id="rId7" imgW="342720" imgH="152280" progId="Equation.3">
                    <p:embed/>
                    <p:pic>
                      <p:nvPicPr>
                        <p:cNvPr id="49156"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1" y="3259"/>
                          <a:ext cx="361"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7" name="Object 26"/>
            <p:cNvGraphicFramePr>
              <a:graphicFrameLocks noChangeAspect="1"/>
            </p:cNvGraphicFramePr>
            <p:nvPr>
              <p:extLst>
                <p:ext uri="{D42A27DB-BD31-4B8C-83A1-F6EECF244321}">
                  <p14:modId xmlns:p14="http://schemas.microsoft.com/office/powerpoint/2010/main" val="2442875450"/>
                </p:ext>
              </p:extLst>
            </p:nvPr>
          </p:nvGraphicFramePr>
          <p:xfrm>
            <a:off x="3381" y="3259"/>
            <a:ext cx="361" cy="198"/>
          </p:xfrm>
          <a:graphic>
            <a:graphicData uri="http://schemas.openxmlformats.org/presentationml/2006/ole">
              <mc:AlternateContent xmlns:mc="http://schemas.openxmlformats.org/markup-compatibility/2006">
                <mc:Choice xmlns:v="urn:schemas-microsoft-com:vml" Requires="v">
                  <p:oleObj spid="_x0000_s281337" name="公式" r:id="rId9" imgW="342720" imgH="152280" progId="Equation.3">
                    <p:embed/>
                  </p:oleObj>
                </mc:Choice>
                <mc:Fallback>
                  <p:oleObj name="公式" r:id="rId9" imgW="342720" imgH="152280" progId="Equation.3">
                    <p:embed/>
                    <p:pic>
                      <p:nvPicPr>
                        <p:cNvPr id="49157"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1" y="3259"/>
                          <a:ext cx="361"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8" name="Object 27"/>
            <p:cNvGraphicFramePr>
              <a:graphicFrameLocks noChangeAspect="1"/>
            </p:cNvGraphicFramePr>
            <p:nvPr>
              <p:extLst>
                <p:ext uri="{D42A27DB-BD31-4B8C-83A1-F6EECF244321}">
                  <p14:modId xmlns:p14="http://schemas.microsoft.com/office/powerpoint/2010/main" val="156888923"/>
                </p:ext>
              </p:extLst>
            </p:nvPr>
          </p:nvGraphicFramePr>
          <p:xfrm>
            <a:off x="3993" y="3250"/>
            <a:ext cx="429" cy="215"/>
          </p:xfrm>
          <a:graphic>
            <a:graphicData uri="http://schemas.openxmlformats.org/presentationml/2006/ole">
              <mc:AlternateContent xmlns:mc="http://schemas.openxmlformats.org/markup-compatibility/2006">
                <mc:Choice xmlns:v="urn:schemas-microsoft-com:vml" Requires="v">
                  <p:oleObj spid="_x0000_s281338" name="公式" r:id="rId11" imgW="406080" imgH="164880" progId="Equation.3">
                    <p:embed/>
                  </p:oleObj>
                </mc:Choice>
                <mc:Fallback>
                  <p:oleObj name="公式" r:id="rId11" imgW="406080" imgH="164880" progId="Equation.3">
                    <p:embed/>
                    <p:pic>
                      <p:nvPicPr>
                        <p:cNvPr id="49158"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3" y="3250"/>
                          <a:ext cx="429" cy="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9" name="Object 28"/>
            <p:cNvGraphicFramePr>
              <a:graphicFrameLocks noChangeAspect="1"/>
            </p:cNvGraphicFramePr>
            <p:nvPr>
              <p:extLst>
                <p:ext uri="{D42A27DB-BD31-4B8C-83A1-F6EECF244321}">
                  <p14:modId xmlns:p14="http://schemas.microsoft.com/office/powerpoint/2010/main" val="760264659"/>
                </p:ext>
              </p:extLst>
            </p:nvPr>
          </p:nvGraphicFramePr>
          <p:xfrm>
            <a:off x="4628" y="3250"/>
            <a:ext cx="429" cy="215"/>
          </p:xfrm>
          <a:graphic>
            <a:graphicData uri="http://schemas.openxmlformats.org/presentationml/2006/ole">
              <mc:AlternateContent xmlns:mc="http://schemas.openxmlformats.org/markup-compatibility/2006">
                <mc:Choice xmlns:v="urn:schemas-microsoft-com:vml" Requires="v">
                  <p:oleObj spid="_x0000_s281339" name="公式" r:id="rId13" imgW="406080" imgH="164880" progId="Equation.3">
                    <p:embed/>
                  </p:oleObj>
                </mc:Choice>
                <mc:Fallback>
                  <p:oleObj name="公式" r:id="rId13" imgW="406080" imgH="164880" progId="Equation.3">
                    <p:embed/>
                    <p:pic>
                      <p:nvPicPr>
                        <p:cNvPr id="49159"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28" y="3250"/>
                          <a:ext cx="429" cy="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60" name="Object 29"/>
            <p:cNvGraphicFramePr>
              <a:graphicFrameLocks noChangeAspect="1"/>
            </p:cNvGraphicFramePr>
            <p:nvPr>
              <p:extLst>
                <p:ext uri="{D42A27DB-BD31-4B8C-83A1-F6EECF244321}">
                  <p14:modId xmlns:p14="http://schemas.microsoft.com/office/powerpoint/2010/main" val="4184124083"/>
                </p:ext>
              </p:extLst>
            </p:nvPr>
          </p:nvGraphicFramePr>
          <p:xfrm>
            <a:off x="3016" y="3277"/>
            <a:ext cx="133" cy="198"/>
          </p:xfrm>
          <a:graphic>
            <a:graphicData uri="http://schemas.openxmlformats.org/presentationml/2006/ole">
              <mc:AlternateContent xmlns:mc="http://schemas.openxmlformats.org/markup-compatibility/2006">
                <mc:Choice xmlns:v="urn:schemas-microsoft-com:vml" Requires="v">
                  <p:oleObj spid="_x0000_s281340" name="公式" r:id="rId15" imgW="126720" imgH="152280" progId="Equation.3">
                    <p:embed/>
                  </p:oleObj>
                </mc:Choice>
                <mc:Fallback>
                  <p:oleObj name="公式" r:id="rId15" imgW="126720" imgH="152280" progId="Equation.3">
                    <p:embed/>
                    <p:pic>
                      <p:nvPicPr>
                        <p:cNvPr id="49160" name="Object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16" y="3277"/>
                          <a:ext cx="133"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71" name="Oval 30"/>
            <p:cNvSpPr>
              <a:spLocks noChangeArrowheads="1"/>
            </p:cNvSpPr>
            <p:nvPr/>
          </p:nvSpPr>
          <p:spPr bwMode="auto">
            <a:xfrm>
              <a:off x="3016" y="3203"/>
              <a:ext cx="91" cy="46"/>
            </a:xfrm>
            <a:prstGeom prst="ellipse">
              <a:avLst/>
            </a:prstGeom>
            <a:solidFill>
              <a:srgbClr val="FF3300"/>
            </a:solidFill>
            <a:ln w="9525" algn="ctr">
              <a:solidFill>
                <a:srgbClr val="FF00FF"/>
              </a:solidFill>
              <a:round/>
              <a:headEnd/>
              <a:tailEnd/>
            </a:ln>
          </p:spPr>
          <p:txBody>
            <a:bodyPr wrap="none" anchor="ctr"/>
            <a:lstStyle/>
            <a:p>
              <a:endParaRPr lang="zh-CN" altLang="en-US"/>
            </a:p>
          </p:txBody>
        </p:sp>
      </p:grpSp>
      <p:sp>
        <p:nvSpPr>
          <p:cNvPr id="37" name="灯片编号占位符 36"/>
          <p:cNvSpPr>
            <a:spLocks noGrp="1"/>
          </p:cNvSpPr>
          <p:nvPr>
            <p:ph type="sldNum" sz="quarter" idx="12"/>
          </p:nvPr>
        </p:nvSpPr>
        <p:spPr/>
        <p:txBody>
          <a:bodyPr/>
          <a:lstStyle/>
          <a:p>
            <a:pPr>
              <a:defRPr/>
            </a:pPr>
            <a:fld id="{62FC49CA-8014-4DA2-ABEB-AF96863EC77D}" type="slidenum">
              <a:rPr lang="en-US" altLang="zh-CN" smtClean="0"/>
              <a:pPr>
                <a:defRPr/>
              </a:pPr>
              <a:t>136</a:t>
            </a:fld>
            <a:endParaRPr lang="en-US" altLang="zh-CN" dirty="0"/>
          </a:p>
        </p:txBody>
      </p:sp>
    </p:spTree>
    <p:extLst>
      <p:ext uri="{BB962C8B-B14F-4D97-AF65-F5344CB8AC3E}">
        <p14:creationId xmlns:p14="http://schemas.microsoft.com/office/powerpoint/2010/main" val="4136095877"/>
      </p:ext>
    </p:extLst>
  </p:cSld>
  <p:clrMapOvr>
    <a:masterClrMapping/>
  </p:clrMapOvr>
  <p:transition advClick="0"/>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2" name="Rectangle 2"/>
          <p:cNvSpPr>
            <a:spLocks noGrp="1" noChangeArrowheads="1"/>
          </p:cNvSpPr>
          <p:nvPr>
            <p:ph type="title"/>
          </p:nvPr>
        </p:nvSpPr>
        <p:spPr>
          <a:xfrm>
            <a:off x="683568" y="764704"/>
            <a:ext cx="7772400" cy="1214524"/>
          </a:xfrm>
        </p:spPr>
        <p:txBody>
          <a:bodyPr/>
          <a:lstStyle/>
          <a:p>
            <a:pPr eaLnBrk="1" hangingPunct="1"/>
            <a:r>
              <a:rPr lang="zh-CN" altLang="en-US" sz="4000" dirty="0" smtClean="0"/>
              <a:t>钟形分布中的</a:t>
            </a:r>
            <a:r>
              <a:rPr lang="zh-CN" altLang="en-US" sz="4000" dirty="0" smtClean="0">
                <a:latin typeface="Times New Roman" pitchFamily="18" charset="0"/>
              </a:rPr>
              <a:t>经验法则</a:t>
            </a:r>
            <a:r>
              <a:rPr lang="zh-CN" altLang="zh-CN" sz="4000" kern="100" dirty="0">
                <a:solidFill>
                  <a:srgbClr val="00B0F0"/>
                </a:solidFill>
                <a:latin typeface="SimSun" panose="02010600030101010101" pitchFamily="2" charset="-122"/>
                <a:ea typeface="SimSun" panose="02010600030101010101" pitchFamily="2" charset="-122"/>
              </a:rPr>
              <a:t>（</a:t>
            </a:r>
            <a:r>
              <a:rPr lang="en-US" altLang="zh-CN" sz="4000" kern="100" dirty="0">
                <a:solidFill>
                  <a:srgbClr val="00B0F0"/>
                </a:solidFill>
                <a:latin typeface="SimSun" panose="02010600030101010101" pitchFamily="2" charset="-122"/>
                <a:ea typeface="SimSun" panose="02010600030101010101" pitchFamily="2" charset="-122"/>
              </a:rPr>
              <a:t>empirical rule</a:t>
            </a:r>
            <a:r>
              <a:rPr lang="zh-CN" altLang="zh-CN" sz="4000" kern="100" dirty="0" smtClean="0">
                <a:solidFill>
                  <a:srgbClr val="00B0F0"/>
                </a:solidFill>
                <a:latin typeface="SimSun" panose="02010600030101010101" pitchFamily="2" charset="-122"/>
                <a:ea typeface="SimSun" panose="02010600030101010101" pitchFamily="2" charset="-122"/>
              </a:rPr>
              <a:t>）</a:t>
            </a:r>
            <a:endParaRPr lang="zh-CN" altLang="en-US" sz="4000" dirty="0" smtClean="0">
              <a:solidFill>
                <a:srgbClr val="00B0F0"/>
              </a:solidFill>
              <a:latin typeface="Times New Roman" pitchFamily="18" charset="0"/>
            </a:endParaRPr>
          </a:p>
        </p:txBody>
      </p:sp>
      <mc:AlternateContent xmlns:mc="http://schemas.openxmlformats.org/markup-compatibility/2006" xmlns:a14="http://schemas.microsoft.com/office/drawing/2010/main">
        <mc:Choice Requires="a14">
          <p:sp>
            <p:nvSpPr>
              <p:cNvPr id="454659" name="Rectangle 3"/>
              <p:cNvSpPr>
                <a:spLocks noGrp="1" noChangeArrowheads="1"/>
              </p:cNvSpPr>
              <p:nvPr>
                <p:ph type="body" idx="1"/>
              </p:nvPr>
            </p:nvSpPr>
            <p:spPr>
              <a:xfrm>
                <a:off x="447378" y="2132856"/>
                <a:ext cx="8532812" cy="3888432"/>
              </a:xfrm>
            </p:spPr>
            <p:txBody>
              <a:bodyPr/>
              <a:lstStyle/>
              <a:p>
                <a:pPr marL="0" indent="0" eaLnBrk="1" hangingPunct="1">
                  <a:lnSpc>
                    <a:spcPct val="150000"/>
                  </a:lnSpc>
                  <a:spcBef>
                    <a:spcPts val="600"/>
                  </a:spcBef>
                  <a:buNone/>
                </a:pPr>
                <a:r>
                  <a:rPr lang="en-US" altLang="zh-CN" dirty="0" smtClean="0">
                    <a:solidFill>
                      <a:srgbClr val="0070C0"/>
                    </a:solidFill>
                    <a:latin typeface="Times New Roman" pitchFamily="18" charset="0"/>
                  </a:rPr>
                  <a:t>——</a:t>
                </a:r>
                <a:r>
                  <a:rPr lang="zh-CN" altLang="zh-CN" kern="100" dirty="0" smtClean="0">
                    <a:solidFill>
                      <a:srgbClr val="0070C0"/>
                    </a:solidFill>
                    <a:latin typeface="SimSun" panose="02010600030101010101" pitchFamily="2" charset="-122"/>
                    <a:ea typeface="SimSun" panose="02010600030101010101" pitchFamily="2" charset="-122"/>
                  </a:rPr>
                  <a:t>基于</a:t>
                </a:r>
                <a:r>
                  <a:rPr lang="zh-CN" altLang="zh-CN" kern="100" dirty="0">
                    <a:solidFill>
                      <a:srgbClr val="0070C0"/>
                    </a:solidFill>
                    <a:latin typeface="SimSun" panose="02010600030101010101" pitchFamily="2" charset="-122"/>
                    <a:ea typeface="SimSun" panose="02010600030101010101" pitchFamily="2" charset="-122"/>
                  </a:rPr>
                  <a:t>正态分布理论，来</a:t>
                </a:r>
                <a:r>
                  <a:rPr lang="zh-CN" altLang="zh-CN" kern="100" dirty="0" smtClean="0">
                    <a:solidFill>
                      <a:srgbClr val="0070C0"/>
                    </a:solidFill>
                    <a:latin typeface="SimSun" panose="02010600030101010101" pitchFamily="2" charset="-122"/>
                    <a:ea typeface="SimSun" panose="02010600030101010101" pitchFamily="2" charset="-122"/>
                  </a:rPr>
                  <a:t>确定</a:t>
                </a:r>
                <a:r>
                  <a:rPr lang="zh-CN" altLang="en-US" kern="100" dirty="0" smtClean="0">
                    <a:solidFill>
                      <a:srgbClr val="0070C0"/>
                    </a:solidFill>
                    <a:latin typeface="SimSun" panose="02010600030101010101" pitchFamily="2" charset="-122"/>
                    <a:ea typeface="SimSun" panose="02010600030101010101" pitchFamily="2" charset="-122"/>
                  </a:rPr>
                  <a:t>总体中分布在</a:t>
                </a:r>
                <a:r>
                  <a:rPr lang="zh-CN" altLang="zh-CN" kern="100" dirty="0" smtClean="0">
                    <a:solidFill>
                      <a:srgbClr val="0070C0"/>
                    </a:solidFill>
                    <a:latin typeface="SimSun" panose="02010600030101010101" pitchFamily="2" charset="-122"/>
                    <a:ea typeface="SimSun" panose="02010600030101010101" pitchFamily="2" charset="-122"/>
                  </a:rPr>
                  <a:t>平均数</a:t>
                </a:r>
                <a:r>
                  <a:rPr lang="zh-CN" altLang="en-US" kern="100" dirty="0" smtClean="0">
                    <a:solidFill>
                      <a:srgbClr val="0070C0"/>
                    </a:solidFill>
                    <a:latin typeface="SimSun" panose="02010600030101010101" pitchFamily="2" charset="-122"/>
                    <a:ea typeface="SimSun" panose="02010600030101010101" pitchFamily="2" charset="-122"/>
                  </a:rPr>
                  <a:t>左右一定范围内的</a:t>
                </a:r>
                <a:r>
                  <a:rPr lang="zh-CN" altLang="zh-CN" kern="100" dirty="0" smtClean="0">
                    <a:solidFill>
                      <a:srgbClr val="0070C0"/>
                    </a:solidFill>
                    <a:latin typeface="SimSun" panose="02010600030101010101" pitchFamily="2" charset="-122"/>
                    <a:ea typeface="SimSun" panose="02010600030101010101" pitchFamily="2" charset="-122"/>
                  </a:rPr>
                  <a:t>数据项</a:t>
                </a:r>
                <a:r>
                  <a:rPr lang="zh-CN" altLang="zh-CN" kern="100" dirty="0">
                    <a:solidFill>
                      <a:srgbClr val="0070C0"/>
                    </a:solidFill>
                    <a:latin typeface="SimSun" panose="02010600030101010101" pitchFamily="2" charset="-122"/>
                    <a:ea typeface="SimSun" panose="02010600030101010101" pitchFamily="2" charset="-122"/>
                  </a:rPr>
                  <a:t>所占的</a:t>
                </a:r>
                <a:r>
                  <a:rPr lang="zh-CN" altLang="zh-CN" kern="100" dirty="0" smtClean="0">
                    <a:solidFill>
                      <a:srgbClr val="0070C0"/>
                    </a:solidFill>
                    <a:latin typeface="SimSun" panose="02010600030101010101" pitchFamily="2" charset="-122"/>
                    <a:ea typeface="SimSun" panose="02010600030101010101" pitchFamily="2" charset="-122"/>
                  </a:rPr>
                  <a:t>比例</a:t>
                </a:r>
                <a:r>
                  <a:rPr lang="zh-CN" altLang="en-US" kern="100" dirty="0" smtClean="0">
                    <a:solidFill>
                      <a:srgbClr val="0070C0"/>
                    </a:solidFill>
                    <a:latin typeface="SimSun" panose="02010600030101010101" pitchFamily="2" charset="-122"/>
                    <a:ea typeface="SimSun" panose="02010600030101010101" pitchFamily="2" charset="-122"/>
                  </a:rPr>
                  <a:t>：</a:t>
                </a:r>
                <a:endParaRPr lang="en-US" altLang="zh-CN" kern="100" dirty="0" smtClean="0">
                  <a:solidFill>
                    <a:srgbClr val="0070C0"/>
                  </a:solidFill>
                  <a:latin typeface="SimSun" panose="02010600030101010101" pitchFamily="2" charset="-122"/>
                  <a:ea typeface="SimSun" panose="02010600030101010101" pitchFamily="2" charset="-122"/>
                </a:endParaRPr>
              </a:p>
              <a:p>
                <a:pPr marL="622300" indent="-160338">
                  <a:lnSpc>
                    <a:spcPct val="150000"/>
                  </a:lnSpc>
                  <a:spcBef>
                    <a:spcPts val="600"/>
                  </a:spcBef>
                  <a:buFont typeface="Wingdings" panose="05000000000000000000" pitchFamily="2" charset="2"/>
                  <a:buChar char="Ø"/>
                </a:pPr>
                <a:r>
                  <a:rPr lang="zh-CN" altLang="zh-CN" sz="3000" kern="100" dirty="0">
                    <a:solidFill>
                      <a:srgbClr val="000000"/>
                    </a:solidFill>
                    <a:latin typeface="Times New Roman" panose="02020603050405020304" pitchFamily="18" charset="0"/>
                    <a:ea typeface="宋体" panose="02010600030101010101" pitchFamily="2" charset="-122"/>
                  </a:rPr>
                  <a:t>大约有</a:t>
                </a:r>
                <a:r>
                  <a:rPr lang="en-US" altLang="zh-CN" sz="3000" kern="100" dirty="0">
                    <a:solidFill>
                      <a:srgbClr val="000000"/>
                    </a:solidFill>
                    <a:latin typeface="Times New Roman" panose="02020603050405020304" pitchFamily="18" charset="0"/>
                    <a:ea typeface="宋体" panose="02010600030101010101" pitchFamily="2" charset="-122"/>
                  </a:rPr>
                  <a:t>68%</a:t>
                </a:r>
                <a:r>
                  <a:rPr lang="zh-CN" altLang="zh-CN" sz="3000" kern="100" dirty="0">
                    <a:solidFill>
                      <a:srgbClr val="000000"/>
                    </a:solidFill>
                    <a:latin typeface="Times New Roman" panose="02020603050405020304" pitchFamily="18" charset="0"/>
                    <a:ea typeface="宋体" panose="02010600030101010101" pitchFamily="2" charset="-122"/>
                  </a:rPr>
                  <a:t>的</a:t>
                </a:r>
                <a:r>
                  <a:rPr lang="zh-CN" altLang="zh-CN" sz="3000" kern="100" dirty="0" smtClean="0">
                    <a:solidFill>
                      <a:srgbClr val="000000"/>
                    </a:solidFill>
                    <a:latin typeface="Times New Roman" panose="02020603050405020304" pitchFamily="18" charset="0"/>
                    <a:ea typeface="宋体" panose="02010600030101010101" pitchFamily="2" charset="-122"/>
                  </a:rPr>
                  <a:t>数据项</a:t>
                </a:r>
                <a:r>
                  <a:rPr lang="zh-CN" altLang="en-US" sz="3000" kern="100" dirty="0" smtClean="0">
                    <a:solidFill>
                      <a:srgbClr val="000000"/>
                    </a:solidFill>
                    <a:latin typeface="Times New Roman" panose="02020603050405020304" pitchFamily="18" charset="0"/>
                    <a:ea typeface="宋体" panose="02010600030101010101" pitchFamily="2" charset="-122"/>
                  </a:rPr>
                  <a:t>在（</a:t>
                </a:r>
                <a14:m>
                  <m:oMath xmlns:m="http://schemas.openxmlformats.org/officeDocument/2006/math">
                    <m:acc>
                      <m:accPr>
                        <m:chr m:val="̅"/>
                        <m:ctrlPr>
                          <a:rPr lang="zh-CN" altLang="en-US" sz="3000" i="1" kern="100">
                            <a:solidFill>
                              <a:srgbClr val="000000"/>
                            </a:solidFill>
                            <a:latin typeface="Cambria Math" panose="02040503050406030204" pitchFamily="18" charset="0"/>
                            <a:ea typeface="宋体" panose="02010600030101010101" pitchFamily="2" charset="-122"/>
                          </a:rPr>
                        </m:ctrlPr>
                      </m:accPr>
                      <m:e>
                        <m:r>
                          <a:rPr lang="en-US" altLang="zh-CN" sz="3000" i="1" kern="100">
                            <a:solidFill>
                              <a:srgbClr val="000000"/>
                            </a:solidFill>
                            <a:latin typeface="Cambria Math" panose="02040503050406030204" pitchFamily="18" charset="0"/>
                            <a:ea typeface="宋体" panose="02010600030101010101" pitchFamily="2" charset="-122"/>
                          </a:rPr>
                          <m:t>𝒙</m:t>
                        </m:r>
                      </m:e>
                    </m:acc>
                    <m:r>
                      <a:rPr lang="en-US" altLang="zh-CN" sz="3000" i="1" kern="100">
                        <a:solidFill>
                          <a:srgbClr val="000000"/>
                        </a:solidFill>
                        <a:latin typeface="Cambria Math" panose="02040503050406030204" pitchFamily="18" charset="0"/>
                        <a:ea typeface="Cambria Math" panose="02040503050406030204" pitchFamily="18" charset="0"/>
                      </a:rPr>
                      <m:t>±</m:t>
                    </m:r>
                    <m:r>
                      <a:rPr lang="en-US" altLang="zh-CN" sz="3000" b="1" i="1" kern="100" smtClean="0">
                        <a:solidFill>
                          <a:srgbClr val="000000"/>
                        </a:solidFill>
                        <a:latin typeface="Cambria Math" panose="02040503050406030204" pitchFamily="18" charset="0"/>
                        <a:ea typeface="Cambria Math" panose="02040503050406030204" pitchFamily="18" charset="0"/>
                      </a:rPr>
                      <m:t>𝟏</m:t>
                    </m:r>
                    <m:r>
                      <a:rPr lang="zh-CN" altLang="en-US" sz="3000" i="1" kern="100">
                        <a:solidFill>
                          <a:srgbClr val="000000"/>
                        </a:solidFill>
                        <a:latin typeface="Cambria Math" panose="02040503050406030204" pitchFamily="18" charset="0"/>
                        <a:ea typeface="Cambria Math" panose="02040503050406030204" pitchFamily="18" charset="0"/>
                      </a:rPr>
                      <m:t>𝝈</m:t>
                    </m:r>
                  </m:oMath>
                </a14:m>
                <a:r>
                  <a:rPr lang="zh-CN" altLang="en-US" sz="3000" kern="100" dirty="0">
                    <a:solidFill>
                      <a:srgbClr val="000000"/>
                    </a:solidFill>
                    <a:latin typeface="Times New Roman" panose="02020603050405020304" pitchFamily="18" charset="0"/>
                    <a:ea typeface="宋体" panose="02010600030101010101" pitchFamily="2" charset="-122"/>
                  </a:rPr>
                  <a:t>）</a:t>
                </a:r>
                <a:r>
                  <a:rPr lang="zh-CN" altLang="zh-CN" sz="3000" kern="100" dirty="0">
                    <a:solidFill>
                      <a:srgbClr val="000000"/>
                    </a:solidFill>
                    <a:latin typeface="Times New Roman" panose="02020603050405020304" pitchFamily="18" charset="0"/>
                    <a:ea typeface="宋体" panose="02010600030101010101" pitchFamily="2" charset="-122"/>
                  </a:rPr>
                  <a:t>范围内；</a:t>
                </a:r>
              </a:p>
              <a:p>
                <a:pPr marL="622300" lvl="2" indent="-160338">
                  <a:lnSpc>
                    <a:spcPct val="150000"/>
                  </a:lnSpc>
                  <a:spcBef>
                    <a:spcPts val="600"/>
                  </a:spcBef>
                  <a:buSzPct val="90000"/>
                  <a:buFont typeface="Wingdings" panose="05000000000000000000" pitchFamily="2" charset="2"/>
                  <a:buChar char="Ø"/>
                </a:pPr>
                <a:r>
                  <a:rPr lang="zh-CN" altLang="zh-CN" sz="3000" kern="100" dirty="0">
                    <a:solidFill>
                      <a:srgbClr val="000000"/>
                    </a:solidFill>
                    <a:latin typeface="Times New Roman" panose="02020603050405020304" pitchFamily="18" charset="0"/>
                    <a:ea typeface="宋体" panose="02010600030101010101" pitchFamily="2" charset="-122"/>
                    <a:cs typeface="+mn-cs"/>
                  </a:rPr>
                  <a:t>大约有</a:t>
                </a:r>
                <a:r>
                  <a:rPr lang="en-US" altLang="zh-CN" sz="3000" kern="100" dirty="0">
                    <a:solidFill>
                      <a:srgbClr val="000000"/>
                    </a:solidFill>
                    <a:latin typeface="Times New Roman" panose="02020603050405020304" pitchFamily="18" charset="0"/>
                    <a:ea typeface="宋体" panose="02010600030101010101" pitchFamily="2" charset="-122"/>
                    <a:cs typeface="+mn-cs"/>
                  </a:rPr>
                  <a:t>95%</a:t>
                </a:r>
                <a:r>
                  <a:rPr lang="zh-CN" altLang="zh-CN" sz="3000" kern="100" dirty="0">
                    <a:solidFill>
                      <a:srgbClr val="000000"/>
                    </a:solidFill>
                    <a:latin typeface="Times New Roman" panose="02020603050405020304" pitchFamily="18" charset="0"/>
                    <a:ea typeface="宋体" panose="02010600030101010101" pitchFamily="2" charset="-122"/>
                    <a:cs typeface="+mn-cs"/>
                  </a:rPr>
                  <a:t>的数据项</a:t>
                </a:r>
                <a:r>
                  <a:rPr lang="zh-CN" altLang="en-US" sz="3000" kern="100" dirty="0">
                    <a:solidFill>
                      <a:srgbClr val="000000"/>
                    </a:solidFill>
                    <a:latin typeface="Times New Roman" panose="02020603050405020304" pitchFamily="18" charset="0"/>
                    <a:ea typeface="宋体" panose="02010600030101010101" pitchFamily="2" charset="-122"/>
                  </a:rPr>
                  <a:t>在（</a:t>
                </a:r>
                <a14:m>
                  <m:oMath xmlns:m="http://schemas.openxmlformats.org/officeDocument/2006/math">
                    <m:acc>
                      <m:accPr>
                        <m:chr m:val="̅"/>
                        <m:ctrlPr>
                          <a:rPr lang="zh-CN" altLang="en-US" sz="3000" i="1" kern="100">
                            <a:solidFill>
                              <a:srgbClr val="000000"/>
                            </a:solidFill>
                            <a:latin typeface="Cambria Math" panose="02040503050406030204" pitchFamily="18" charset="0"/>
                            <a:ea typeface="宋体" panose="02010600030101010101" pitchFamily="2" charset="-122"/>
                          </a:rPr>
                        </m:ctrlPr>
                      </m:accPr>
                      <m:e>
                        <m:r>
                          <a:rPr lang="en-US" altLang="zh-CN" sz="3000" i="1" kern="100">
                            <a:solidFill>
                              <a:srgbClr val="000000"/>
                            </a:solidFill>
                            <a:latin typeface="Cambria Math" panose="02040503050406030204" pitchFamily="18" charset="0"/>
                            <a:ea typeface="宋体" panose="02010600030101010101" pitchFamily="2" charset="-122"/>
                          </a:rPr>
                          <m:t>𝒙</m:t>
                        </m:r>
                      </m:e>
                    </m:acc>
                    <m:r>
                      <a:rPr lang="en-US" altLang="zh-CN" sz="3000" i="1" kern="100">
                        <a:solidFill>
                          <a:srgbClr val="000000"/>
                        </a:solidFill>
                        <a:latin typeface="Cambria Math" panose="02040503050406030204" pitchFamily="18" charset="0"/>
                        <a:ea typeface="Cambria Math" panose="02040503050406030204" pitchFamily="18" charset="0"/>
                      </a:rPr>
                      <m:t>±</m:t>
                    </m:r>
                    <m:r>
                      <a:rPr lang="en-US" altLang="zh-CN" sz="3000" b="1" i="1" kern="100" smtClean="0">
                        <a:solidFill>
                          <a:srgbClr val="000000"/>
                        </a:solidFill>
                        <a:latin typeface="Cambria Math" panose="02040503050406030204" pitchFamily="18" charset="0"/>
                        <a:ea typeface="Cambria Math" panose="02040503050406030204" pitchFamily="18" charset="0"/>
                      </a:rPr>
                      <m:t>𝟐</m:t>
                    </m:r>
                    <m:r>
                      <a:rPr lang="zh-CN" altLang="en-US" sz="3000" i="1" kern="100">
                        <a:solidFill>
                          <a:srgbClr val="000000"/>
                        </a:solidFill>
                        <a:latin typeface="Cambria Math" panose="02040503050406030204" pitchFamily="18" charset="0"/>
                        <a:ea typeface="Cambria Math" panose="02040503050406030204" pitchFamily="18" charset="0"/>
                      </a:rPr>
                      <m:t>𝝈</m:t>
                    </m:r>
                  </m:oMath>
                </a14:m>
                <a:r>
                  <a:rPr lang="zh-CN" altLang="en-US" sz="3000" kern="100" dirty="0">
                    <a:solidFill>
                      <a:srgbClr val="000000"/>
                    </a:solidFill>
                    <a:latin typeface="Times New Roman" panose="02020603050405020304" pitchFamily="18" charset="0"/>
                    <a:ea typeface="宋体" panose="02010600030101010101" pitchFamily="2" charset="-122"/>
                  </a:rPr>
                  <a:t>）</a:t>
                </a:r>
                <a:r>
                  <a:rPr lang="zh-CN" altLang="zh-CN" sz="3000" kern="100" dirty="0">
                    <a:solidFill>
                      <a:srgbClr val="000000"/>
                    </a:solidFill>
                    <a:latin typeface="Times New Roman" panose="02020603050405020304" pitchFamily="18" charset="0"/>
                    <a:ea typeface="宋体" panose="02010600030101010101" pitchFamily="2" charset="-122"/>
                  </a:rPr>
                  <a:t>范围内</a:t>
                </a:r>
                <a:r>
                  <a:rPr lang="zh-CN" altLang="zh-CN" sz="3000" kern="100" dirty="0">
                    <a:solidFill>
                      <a:srgbClr val="000000"/>
                    </a:solidFill>
                    <a:latin typeface="Times New Roman" panose="02020603050405020304" pitchFamily="18" charset="0"/>
                    <a:ea typeface="宋体" panose="02010600030101010101" pitchFamily="2" charset="-122"/>
                    <a:cs typeface="+mn-cs"/>
                  </a:rPr>
                  <a:t>；</a:t>
                </a:r>
              </a:p>
              <a:p>
                <a:pPr marL="622300" lvl="2" indent="-160338">
                  <a:lnSpc>
                    <a:spcPct val="150000"/>
                  </a:lnSpc>
                  <a:spcBef>
                    <a:spcPts val="600"/>
                  </a:spcBef>
                  <a:buSzPct val="90000"/>
                  <a:buFont typeface="Wingdings" panose="05000000000000000000" pitchFamily="2" charset="2"/>
                  <a:buChar char="Ø"/>
                </a:pPr>
                <a:r>
                  <a:rPr lang="zh-CN" altLang="zh-CN" sz="3000" kern="100" dirty="0" smtClean="0">
                    <a:solidFill>
                      <a:srgbClr val="000000"/>
                    </a:solidFill>
                    <a:latin typeface="Times New Roman" panose="02020603050405020304" pitchFamily="18" charset="0"/>
                    <a:ea typeface="宋体" panose="02010600030101010101" pitchFamily="2" charset="-122"/>
                    <a:cs typeface="+mn-cs"/>
                  </a:rPr>
                  <a:t>大约有</a:t>
                </a:r>
                <a:r>
                  <a:rPr lang="en-US" altLang="zh-CN" sz="3000" kern="100" dirty="0" smtClean="0">
                    <a:solidFill>
                      <a:srgbClr val="000000"/>
                    </a:solidFill>
                    <a:latin typeface="Times New Roman" panose="02020603050405020304" pitchFamily="18" charset="0"/>
                    <a:ea typeface="宋体" panose="02010600030101010101" pitchFamily="2" charset="-122"/>
                    <a:cs typeface="+mn-cs"/>
                  </a:rPr>
                  <a:t>99.7</a:t>
                </a:r>
                <a:r>
                  <a:rPr lang="en-US" altLang="zh-CN" sz="3000" kern="100" dirty="0">
                    <a:solidFill>
                      <a:srgbClr val="000000"/>
                    </a:solidFill>
                    <a:latin typeface="Times New Roman" panose="02020603050405020304" pitchFamily="18" charset="0"/>
                    <a:ea typeface="宋体" panose="02010600030101010101" pitchFamily="2" charset="-122"/>
                    <a:cs typeface="+mn-cs"/>
                  </a:rPr>
                  <a:t>%</a:t>
                </a:r>
                <a:r>
                  <a:rPr lang="zh-CN" altLang="zh-CN" sz="3000" kern="100" dirty="0">
                    <a:solidFill>
                      <a:srgbClr val="000000"/>
                    </a:solidFill>
                    <a:latin typeface="Times New Roman" panose="02020603050405020304" pitchFamily="18" charset="0"/>
                    <a:ea typeface="宋体" panose="02010600030101010101" pitchFamily="2" charset="-122"/>
                    <a:cs typeface="+mn-cs"/>
                  </a:rPr>
                  <a:t>的数据项</a:t>
                </a:r>
                <a:r>
                  <a:rPr lang="zh-CN" altLang="en-US" sz="3000" kern="100" dirty="0">
                    <a:solidFill>
                      <a:srgbClr val="000000"/>
                    </a:solidFill>
                    <a:latin typeface="Times New Roman" panose="02020603050405020304" pitchFamily="18" charset="0"/>
                    <a:ea typeface="宋体" panose="02010600030101010101" pitchFamily="2" charset="-122"/>
                  </a:rPr>
                  <a:t>在（</a:t>
                </a:r>
                <a14:m>
                  <m:oMath xmlns:m="http://schemas.openxmlformats.org/officeDocument/2006/math">
                    <m:acc>
                      <m:accPr>
                        <m:chr m:val="̅"/>
                        <m:ctrlPr>
                          <a:rPr lang="zh-CN" altLang="en-US" sz="3000" i="1" kern="100">
                            <a:solidFill>
                              <a:srgbClr val="000000"/>
                            </a:solidFill>
                            <a:latin typeface="Cambria Math" panose="02040503050406030204" pitchFamily="18" charset="0"/>
                            <a:ea typeface="宋体" panose="02010600030101010101" pitchFamily="2" charset="-122"/>
                          </a:rPr>
                        </m:ctrlPr>
                      </m:accPr>
                      <m:e>
                        <m:r>
                          <a:rPr lang="en-US" altLang="zh-CN" sz="3000" i="1" kern="100">
                            <a:solidFill>
                              <a:srgbClr val="000000"/>
                            </a:solidFill>
                            <a:latin typeface="Cambria Math" panose="02040503050406030204" pitchFamily="18" charset="0"/>
                            <a:ea typeface="宋体" panose="02010600030101010101" pitchFamily="2" charset="-122"/>
                          </a:rPr>
                          <m:t>𝒙</m:t>
                        </m:r>
                      </m:e>
                    </m:acc>
                    <m:r>
                      <a:rPr lang="en-US" altLang="zh-CN" sz="3000" i="1" kern="100">
                        <a:solidFill>
                          <a:srgbClr val="000000"/>
                        </a:solidFill>
                        <a:latin typeface="Cambria Math" panose="02040503050406030204" pitchFamily="18" charset="0"/>
                        <a:ea typeface="Cambria Math" panose="02040503050406030204" pitchFamily="18" charset="0"/>
                      </a:rPr>
                      <m:t>±</m:t>
                    </m:r>
                    <m:r>
                      <a:rPr lang="en-US" altLang="zh-CN" sz="3000" b="1" i="1" kern="100" smtClean="0">
                        <a:solidFill>
                          <a:srgbClr val="000000"/>
                        </a:solidFill>
                        <a:latin typeface="Cambria Math" panose="02040503050406030204" pitchFamily="18" charset="0"/>
                        <a:ea typeface="Cambria Math" panose="02040503050406030204" pitchFamily="18" charset="0"/>
                      </a:rPr>
                      <m:t>𝟑</m:t>
                    </m:r>
                    <m:r>
                      <a:rPr lang="zh-CN" altLang="en-US" sz="3000" i="1" kern="100">
                        <a:solidFill>
                          <a:srgbClr val="000000"/>
                        </a:solidFill>
                        <a:latin typeface="Cambria Math" panose="02040503050406030204" pitchFamily="18" charset="0"/>
                        <a:ea typeface="Cambria Math" panose="02040503050406030204" pitchFamily="18" charset="0"/>
                      </a:rPr>
                      <m:t>𝝈</m:t>
                    </m:r>
                  </m:oMath>
                </a14:m>
                <a:r>
                  <a:rPr lang="zh-CN" altLang="en-US" sz="3000" kern="100" dirty="0">
                    <a:solidFill>
                      <a:srgbClr val="000000"/>
                    </a:solidFill>
                    <a:latin typeface="Times New Roman" panose="02020603050405020304" pitchFamily="18" charset="0"/>
                    <a:ea typeface="宋体" panose="02010600030101010101" pitchFamily="2" charset="-122"/>
                  </a:rPr>
                  <a:t>）</a:t>
                </a:r>
                <a:r>
                  <a:rPr lang="zh-CN" altLang="zh-CN" sz="3000" kern="100" dirty="0">
                    <a:solidFill>
                      <a:srgbClr val="000000"/>
                    </a:solidFill>
                    <a:latin typeface="Times New Roman" panose="02020603050405020304" pitchFamily="18" charset="0"/>
                    <a:ea typeface="宋体" panose="02010600030101010101" pitchFamily="2" charset="-122"/>
                  </a:rPr>
                  <a:t>范围内</a:t>
                </a:r>
                <a:r>
                  <a:rPr lang="zh-CN" altLang="zh-CN" sz="3000" kern="100" dirty="0" smtClean="0">
                    <a:solidFill>
                      <a:srgbClr val="000000"/>
                    </a:solidFill>
                    <a:latin typeface="Times New Roman" panose="02020603050405020304" pitchFamily="18" charset="0"/>
                    <a:ea typeface="宋体" panose="02010600030101010101" pitchFamily="2" charset="-122"/>
                    <a:cs typeface="+mn-cs"/>
                  </a:rPr>
                  <a:t>。</a:t>
                </a:r>
                <a:endParaRPr lang="zh-CN" altLang="en-US" sz="3000" dirty="0" smtClean="0"/>
              </a:p>
            </p:txBody>
          </p:sp>
        </mc:Choice>
        <mc:Fallback xmlns="">
          <p:sp>
            <p:nvSpPr>
              <p:cNvPr id="454659" name="Rectangle 3"/>
              <p:cNvSpPr>
                <a:spLocks noGrp="1" noRot="1" noChangeAspect="1" noMove="1" noResize="1" noEditPoints="1" noAdjustHandles="1" noChangeArrowheads="1" noChangeShapeType="1" noTextEdit="1"/>
              </p:cNvSpPr>
              <p:nvPr>
                <p:ph type="body" idx="1"/>
              </p:nvPr>
            </p:nvSpPr>
            <p:spPr>
              <a:xfrm>
                <a:off x="447378" y="2132856"/>
                <a:ext cx="8532812" cy="3888432"/>
              </a:xfrm>
              <a:blipFill>
                <a:blip r:embed="rId2"/>
                <a:stretch>
                  <a:fillRect l="-1786" r="-1143" b="-1567"/>
                </a:stretch>
              </a:blipFill>
            </p:spPr>
            <p:txBody>
              <a:bodyPr/>
              <a:lstStyle/>
              <a:p>
                <a:r>
                  <a:rPr lang="zh-CN" altLang="en-US">
                    <a:noFill/>
                  </a:rPr>
                  <a:t> </a:t>
                </a:r>
              </a:p>
            </p:txBody>
          </p:sp>
        </mc:Fallback>
      </mc:AlternateContent>
      <p:sp>
        <p:nvSpPr>
          <p:cNvPr id="37" name="灯片编号占位符 36"/>
          <p:cNvSpPr>
            <a:spLocks noGrp="1"/>
          </p:cNvSpPr>
          <p:nvPr>
            <p:ph type="sldNum" sz="quarter" idx="12"/>
          </p:nvPr>
        </p:nvSpPr>
        <p:spPr/>
        <p:txBody>
          <a:bodyPr/>
          <a:lstStyle/>
          <a:p>
            <a:pPr>
              <a:defRPr/>
            </a:pPr>
            <a:fld id="{62FC49CA-8014-4DA2-ABEB-AF96863EC77D}" type="slidenum">
              <a:rPr lang="en-US" altLang="zh-CN" smtClean="0"/>
              <a:pPr>
                <a:defRPr/>
              </a:pPr>
              <a:t>137</a:t>
            </a:fld>
            <a:endParaRPr lang="en-US" altLang="zh-CN" dirty="0"/>
          </a:p>
        </p:txBody>
      </p:sp>
    </p:spTree>
    <p:extLst>
      <p:ext uri="{BB962C8B-B14F-4D97-AF65-F5344CB8AC3E}">
        <p14:creationId xmlns:p14="http://schemas.microsoft.com/office/powerpoint/2010/main" val="4151958882"/>
      </p:ext>
    </p:extLst>
  </p:cSld>
  <p:clrMapOvr>
    <a:masterClrMapping/>
  </p:clrMapOvr>
  <p:transition advClick="0"/>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2" name="Rectangle 2"/>
          <p:cNvSpPr>
            <a:spLocks noGrp="1" noChangeArrowheads="1"/>
          </p:cNvSpPr>
          <p:nvPr>
            <p:ph type="title"/>
          </p:nvPr>
        </p:nvSpPr>
        <p:spPr>
          <a:xfrm>
            <a:off x="827584" y="319001"/>
            <a:ext cx="7772400" cy="1214524"/>
          </a:xfrm>
        </p:spPr>
        <p:txBody>
          <a:bodyPr/>
          <a:lstStyle/>
          <a:p>
            <a:pPr eaLnBrk="1" hangingPunct="1"/>
            <a:r>
              <a:rPr lang="zh-CN" altLang="en-US" sz="4000" dirty="0" smtClean="0"/>
              <a:t>钟形分布中的</a:t>
            </a:r>
            <a:r>
              <a:rPr lang="zh-CN" altLang="en-US" sz="4000" dirty="0" smtClean="0">
                <a:latin typeface="Times New Roman" pitchFamily="18" charset="0"/>
              </a:rPr>
              <a:t>经验法则</a:t>
            </a:r>
            <a:r>
              <a:rPr lang="zh-CN" altLang="zh-CN" sz="4000" kern="100" dirty="0" smtClean="0">
                <a:solidFill>
                  <a:srgbClr val="00B0F0"/>
                </a:solidFill>
                <a:latin typeface="SimSun" panose="02010600030101010101" pitchFamily="2" charset="-122"/>
                <a:ea typeface="SimSun" panose="02010600030101010101" pitchFamily="2" charset="-122"/>
              </a:rPr>
              <a:t>（</a:t>
            </a:r>
            <a:r>
              <a:rPr lang="zh-CN" altLang="en-US" sz="4000" kern="100" dirty="0" smtClean="0">
                <a:solidFill>
                  <a:srgbClr val="00B0F0"/>
                </a:solidFill>
                <a:latin typeface="SimSun" panose="02010600030101010101" pitchFamily="2" charset="-122"/>
                <a:ea typeface="SimSun" panose="02010600030101010101" pitchFamily="2" charset="-122"/>
              </a:rPr>
              <a:t>续</a:t>
            </a:r>
            <a:r>
              <a:rPr lang="zh-CN" altLang="zh-CN" sz="4000" kern="100" dirty="0" smtClean="0">
                <a:solidFill>
                  <a:srgbClr val="00B0F0"/>
                </a:solidFill>
                <a:latin typeface="SimSun" panose="02010600030101010101" pitchFamily="2" charset="-122"/>
                <a:ea typeface="SimSun" panose="02010600030101010101" pitchFamily="2" charset="-122"/>
              </a:rPr>
              <a:t>）</a:t>
            </a:r>
            <a:endParaRPr lang="zh-CN" altLang="en-US" sz="4000" dirty="0" smtClean="0">
              <a:solidFill>
                <a:srgbClr val="00B0F0"/>
              </a:solidFill>
              <a:latin typeface="Times New Roman" pitchFamily="18" charset="0"/>
            </a:endParaRPr>
          </a:p>
        </p:txBody>
      </p:sp>
      <p:sp>
        <p:nvSpPr>
          <p:cNvPr id="454659" name="Rectangle 3"/>
          <p:cNvSpPr>
            <a:spLocks noGrp="1" noChangeArrowheads="1"/>
          </p:cNvSpPr>
          <p:nvPr>
            <p:ph type="body" idx="1"/>
          </p:nvPr>
        </p:nvSpPr>
        <p:spPr>
          <a:xfrm>
            <a:off x="447378" y="1844824"/>
            <a:ext cx="8532812" cy="4176464"/>
          </a:xfrm>
        </p:spPr>
        <p:txBody>
          <a:bodyPr/>
          <a:lstStyle/>
          <a:p>
            <a:pPr eaLnBrk="1" hangingPunct="1">
              <a:lnSpc>
                <a:spcPct val="150000"/>
              </a:lnSpc>
              <a:spcBef>
                <a:spcPts val="600"/>
              </a:spcBef>
            </a:pPr>
            <a:r>
              <a:rPr lang="zh-CN" altLang="en-US" dirty="0" smtClean="0">
                <a:solidFill>
                  <a:srgbClr val="0070C0"/>
                </a:solidFill>
                <a:latin typeface="Times New Roman" pitchFamily="18" charset="0"/>
              </a:rPr>
              <a:t>经验法则也可以用于判断数据分布是否近似正态分布；</a:t>
            </a:r>
            <a:endParaRPr lang="zh-CN" altLang="en-US" dirty="0" smtClean="0">
              <a:solidFill>
                <a:srgbClr val="0070C0"/>
              </a:solidFill>
            </a:endParaRPr>
          </a:p>
          <a:p>
            <a:pPr eaLnBrk="1" hangingPunct="1">
              <a:lnSpc>
                <a:spcPct val="150000"/>
              </a:lnSpc>
              <a:spcBef>
                <a:spcPts val="600"/>
              </a:spcBef>
            </a:pPr>
            <a:r>
              <a:rPr lang="zh-CN" altLang="en-US" dirty="0">
                <a:solidFill>
                  <a:srgbClr val="0070C0"/>
                </a:solidFill>
                <a:latin typeface="Times New Roman" pitchFamily="18" charset="0"/>
              </a:rPr>
              <a:t>经验法则还可以</a:t>
            </a:r>
            <a:r>
              <a:rPr lang="zh-CN" altLang="en-US" dirty="0" smtClean="0">
                <a:solidFill>
                  <a:srgbClr val="0070C0"/>
                </a:solidFill>
                <a:latin typeface="Times New Roman" pitchFamily="18" charset="0"/>
              </a:rPr>
              <a:t>用于识别异常数据：</a:t>
            </a:r>
            <a:endParaRPr lang="zh-CN" altLang="en-US" sz="2800" dirty="0" smtClean="0">
              <a:solidFill>
                <a:srgbClr val="0070C0"/>
              </a:solidFill>
            </a:endParaRPr>
          </a:p>
          <a:p>
            <a:pPr lvl="1" eaLnBrk="1" hangingPunct="1">
              <a:lnSpc>
                <a:spcPct val="150000"/>
              </a:lnSpc>
              <a:spcBef>
                <a:spcPts val="600"/>
              </a:spcBef>
            </a:pPr>
            <a:r>
              <a:rPr lang="zh-CN" altLang="en-US" dirty="0" smtClean="0">
                <a:solidFill>
                  <a:schemeClr val="tx1"/>
                </a:solidFill>
              </a:rPr>
              <a:t>如通常将落在区间</a:t>
            </a:r>
            <a:r>
              <a:rPr lang="en-US" altLang="zh-CN" dirty="0" smtClean="0">
                <a:solidFill>
                  <a:schemeClr val="tx1"/>
                </a:solidFill>
              </a:rPr>
              <a:t>[ </a:t>
            </a:r>
            <a:r>
              <a:rPr lang="en-US" altLang="zh-CN" i="1" dirty="0" smtClean="0">
                <a:solidFill>
                  <a:schemeClr val="tx1"/>
                </a:solidFill>
                <a:latin typeface="Times New Roman" pitchFamily="18" charset="0"/>
                <a:cs typeface="Times New Roman" pitchFamily="18" charset="0"/>
              </a:rPr>
              <a:t>x</a:t>
            </a:r>
            <a:r>
              <a:rPr lang="en-US" altLang="zh-CN" dirty="0" smtClean="0">
                <a:solidFill>
                  <a:schemeClr val="tx1"/>
                </a:solidFill>
              </a:rPr>
              <a:t>-3</a:t>
            </a:r>
            <a:r>
              <a:rPr lang="en-US" altLang="zh-CN" i="1" dirty="0" smtClean="0">
                <a:solidFill>
                  <a:schemeClr val="tx1"/>
                </a:solidFill>
              </a:rPr>
              <a:t>σ</a:t>
            </a:r>
            <a:r>
              <a:rPr lang="zh-CN" altLang="en-US" dirty="0" smtClean="0">
                <a:solidFill>
                  <a:schemeClr val="tx1"/>
                </a:solidFill>
              </a:rPr>
              <a:t>，</a:t>
            </a:r>
            <a:r>
              <a:rPr lang="en-US" altLang="zh-CN" i="1" dirty="0" smtClean="0">
                <a:solidFill>
                  <a:schemeClr val="tx1"/>
                </a:solidFill>
                <a:latin typeface="Times New Roman" pitchFamily="18" charset="0"/>
                <a:cs typeface="Times New Roman" pitchFamily="18" charset="0"/>
              </a:rPr>
              <a:t>x</a:t>
            </a:r>
            <a:r>
              <a:rPr lang="en-US" altLang="zh-CN" dirty="0" smtClean="0">
                <a:solidFill>
                  <a:schemeClr val="tx1"/>
                </a:solidFill>
              </a:rPr>
              <a:t>+3</a:t>
            </a:r>
            <a:r>
              <a:rPr lang="en-US" altLang="zh-CN" i="1" dirty="0" smtClean="0">
                <a:solidFill>
                  <a:schemeClr val="tx1"/>
                </a:solidFill>
              </a:rPr>
              <a:t>σ </a:t>
            </a:r>
            <a:r>
              <a:rPr lang="en-US" altLang="zh-CN" dirty="0" smtClean="0">
                <a:solidFill>
                  <a:schemeClr val="tx1"/>
                </a:solidFill>
              </a:rPr>
              <a:t>]</a:t>
            </a:r>
            <a:r>
              <a:rPr lang="zh-CN" altLang="en-US" dirty="0" smtClean="0">
                <a:solidFill>
                  <a:schemeClr val="tx1"/>
                </a:solidFill>
              </a:rPr>
              <a:t>之外的数据称为异常数据（离群点）。</a:t>
            </a:r>
          </a:p>
        </p:txBody>
      </p:sp>
      <p:sp>
        <p:nvSpPr>
          <p:cNvPr id="37" name="灯片编号占位符 36"/>
          <p:cNvSpPr>
            <a:spLocks noGrp="1"/>
          </p:cNvSpPr>
          <p:nvPr>
            <p:ph type="sldNum" sz="quarter" idx="12"/>
          </p:nvPr>
        </p:nvSpPr>
        <p:spPr/>
        <p:txBody>
          <a:bodyPr/>
          <a:lstStyle/>
          <a:p>
            <a:pPr>
              <a:defRPr/>
            </a:pPr>
            <a:fld id="{62FC49CA-8014-4DA2-ABEB-AF96863EC77D}" type="slidenum">
              <a:rPr lang="en-US" altLang="zh-CN" smtClean="0"/>
              <a:pPr>
                <a:defRPr/>
              </a:pPr>
              <a:t>138</a:t>
            </a:fld>
            <a:endParaRPr lang="en-US" altLang="zh-CN" dirty="0"/>
          </a:p>
        </p:txBody>
      </p:sp>
    </p:spTree>
    <p:extLst>
      <p:ext uri="{BB962C8B-B14F-4D97-AF65-F5344CB8AC3E}">
        <p14:creationId xmlns:p14="http://schemas.microsoft.com/office/powerpoint/2010/main" val="2955162116"/>
      </p:ext>
    </p:extLst>
  </p:cSld>
  <p:clrMapOvr>
    <a:masterClrMapping/>
  </p:clrMapOvr>
  <p:transition advClick="0"/>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8160"/>
            <a:ext cx="7772400" cy="990600"/>
          </a:xfrm>
        </p:spPr>
        <p:txBody>
          <a:bodyPr/>
          <a:lstStyle/>
          <a:p>
            <a:r>
              <a:rPr lang="en-US" altLang="zh-CN" sz="4000" dirty="0" smtClean="0"/>
              <a:t>3.6  </a:t>
            </a:r>
            <a:r>
              <a:rPr lang="zh-CN" altLang="en-US" sz="4000" dirty="0" smtClean="0"/>
              <a:t>箱线图</a:t>
            </a:r>
            <a:r>
              <a:rPr lang="zh-CN" altLang="en-US" sz="4000" dirty="0">
                <a:solidFill>
                  <a:srgbClr val="1313FF"/>
                </a:solidFill>
                <a:latin typeface="宋体" pitchFamily="2" charset="-122"/>
                <a:ea typeface="宋体" pitchFamily="2" charset="-122"/>
              </a:rPr>
              <a:t>（</a:t>
            </a:r>
            <a:r>
              <a:rPr lang="en-US" altLang="zh-CN" sz="4000" dirty="0" smtClean="0">
                <a:solidFill>
                  <a:srgbClr val="1313FF"/>
                </a:solidFill>
                <a:latin typeface="宋体" pitchFamily="2" charset="-122"/>
                <a:ea typeface="宋体" pitchFamily="2" charset="-122"/>
              </a:rPr>
              <a:t>Boxplot</a:t>
            </a:r>
            <a:r>
              <a:rPr lang="zh-CN" altLang="en-US" sz="4000" dirty="0" smtClean="0">
                <a:solidFill>
                  <a:srgbClr val="1313FF"/>
                </a:solidFill>
                <a:latin typeface="宋体" pitchFamily="2" charset="-122"/>
                <a:ea typeface="宋体" pitchFamily="2" charset="-122"/>
              </a:rPr>
              <a:t>）</a:t>
            </a:r>
            <a:endParaRPr lang="zh-CN" altLang="en-US" sz="4000" dirty="0">
              <a:solidFill>
                <a:srgbClr val="1313FF"/>
              </a:solidFill>
            </a:endParaRPr>
          </a:p>
        </p:txBody>
      </p:sp>
      <p:sp>
        <p:nvSpPr>
          <p:cNvPr id="5" name="矩形 4"/>
          <p:cNvSpPr/>
          <p:nvPr/>
        </p:nvSpPr>
        <p:spPr>
          <a:xfrm>
            <a:off x="689720" y="1340768"/>
            <a:ext cx="7920880" cy="5053691"/>
          </a:xfrm>
          <a:prstGeom prst="rect">
            <a:avLst/>
          </a:prstGeom>
        </p:spPr>
        <p:txBody>
          <a:bodyPr wrap="square">
            <a:spAutoFit/>
          </a:bodyPr>
          <a:lstStyle/>
          <a:p>
            <a:pPr>
              <a:lnSpc>
                <a:spcPct val="120000"/>
              </a:lnSpc>
              <a:spcBef>
                <a:spcPts val="1200"/>
              </a:spcBef>
            </a:pPr>
            <a:r>
              <a:rPr lang="en-US" altLang="zh-CN" sz="2800" b="1" dirty="0" smtClean="0">
                <a:solidFill>
                  <a:srgbClr val="000000"/>
                </a:solidFill>
                <a:latin typeface="宋体" pitchFamily="2" charset="-122"/>
                <a:ea typeface="宋体" pitchFamily="2" charset="-122"/>
              </a:rPr>
              <a:t>    </a:t>
            </a:r>
            <a:r>
              <a:rPr lang="zh-CN" altLang="zh-CN" sz="2800" b="1" dirty="0" smtClean="0">
                <a:solidFill>
                  <a:srgbClr val="000000"/>
                </a:solidFill>
                <a:latin typeface="宋体" pitchFamily="2" charset="-122"/>
                <a:ea typeface="宋体" pitchFamily="2" charset="-122"/>
              </a:rPr>
              <a:t>一般说来，当数据分布接近于对称分布时，我们可以用平均数和标准差简要反映数据的特征。 但当数据分布呈明显偏态时，</a:t>
            </a:r>
            <a:r>
              <a:rPr lang="zh-CN" altLang="en-US" sz="2800" b="1" dirty="0" smtClean="0">
                <a:solidFill>
                  <a:srgbClr val="000000"/>
                </a:solidFill>
                <a:latin typeface="宋体" pitchFamily="2" charset="-122"/>
                <a:ea typeface="宋体" pitchFamily="2" charset="-122"/>
              </a:rPr>
              <a:t>可</a:t>
            </a:r>
            <a:r>
              <a:rPr lang="zh-CN" altLang="zh-CN" sz="2800" b="1" dirty="0">
                <a:solidFill>
                  <a:srgbClr val="000000"/>
                </a:solidFill>
                <a:latin typeface="宋体" pitchFamily="2" charset="-122"/>
                <a:ea typeface="宋体" pitchFamily="2" charset="-122"/>
              </a:rPr>
              <a:t>用</a:t>
            </a:r>
            <a:r>
              <a:rPr lang="zh-CN" altLang="zh-CN" sz="2800" b="1" dirty="0">
                <a:solidFill>
                  <a:srgbClr val="7030A0"/>
                </a:solidFill>
                <a:latin typeface="宋体" pitchFamily="2" charset="-122"/>
                <a:ea typeface="宋体" pitchFamily="2" charset="-122"/>
              </a:rPr>
              <a:t>最小值、下四分位数、中位数、上四分位数与最大</a:t>
            </a:r>
            <a:r>
              <a:rPr lang="zh-CN" altLang="zh-CN" sz="2800" b="1" dirty="0" smtClean="0">
                <a:solidFill>
                  <a:srgbClr val="7030A0"/>
                </a:solidFill>
                <a:latin typeface="宋体" pitchFamily="2" charset="-122"/>
                <a:ea typeface="宋体" pitchFamily="2" charset="-122"/>
              </a:rPr>
              <a:t>值</a:t>
            </a:r>
            <a:r>
              <a:rPr lang="en-US" altLang="zh-CN" sz="2800" b="1" dirty="0" smtClean="0">
                <a:solidFill>
                  <a:srgbClr val="000000"/>
                </a:solidFill>
                <a:latin typeface="宋体" pitchFamily="2" charset="-122"/>
                <a:ea typeface="宋体" pitchFamily="2" charset="-122"/>
              </a:rPr>
              <a:t>——</a:t>
            </a:r>
            <a:r>
              <a:rPr lang="zh-CN" altLang="zh-CN" sz="2800" b="1" dirty="0" smtClean="0">
                <a:solidFill>
                  <a:srgbClr val="C00000"/>
                </a:solidFill>
                <a:latin typeface="宋体" pitchFamily="2" charset="-122"/>
                <a:ea typeface="宋体" pitchFamily="2" charset="-122"/>
              </a:rPr>
              <a:t>“五数综合”</a:t>
            </a:r>
            <a:r>
              <a:rPr lang="zh-CN" altLang="zh-CN" sz="2800" b="1" dirty="0" smtClean="0">
                <a:solidFill>
                  <a:srgbClr val="000000"/>
                </a:solidFill>
                <a:latin typeface="宋体" pitchFamily="2" charset="-122"/>
                <a:ea typeface="宋体" pitchFamily="2" charset="-122"/>
              </a:rPr>
              <a:t>进行描述</a:t>
            </a:r>
            <a:r>
              <a:rPr lang="zh-CN" altLang="en-US" sz="2800" b="1" dirty="0" smtClean="0">
                <a:solidFill>
                  <a:srgbClr val="000000"/>
                </a:solidFill>
                <a:latin typeface="宋体" pitchFamily="2" charset="-122"/>
                <a:ea typeface="宋体" pitchFamily="2" charset="-122"/>
              </a:rPr>
              <a:t>。</a:t>
            </a:r>
            <a:endParaRPr lang="en-US" altLang="zh-CN" sz="2800" b="1" dirty="0" smtClean="0">
              <a:solidFill>
                <a:srgbClr val="000000"/>
              </a:solidFill>
              <a:latin typeface="宋体" pitchFamily="2" charset="-122"/>
              <a:ea typeface="宋体" pitchFamily="2" charset="-122"/>
            </a:endParaRPr>
          </a:p>
          <a:p>
            <a:pPr indent="533400">
              <a:lnSpc>
                <a:spcPct val="120000"/>
              </a:lnSpc>
              <a:spcBef>
                <a:spcPts val="1200"/>
              </a:spcBef>
            </a:pPr>
            <a:r>
              <a:rPr lang="zh-CN" altLang="en-US" sz="2800" b="1" dirty="0" smtClean="0">
                <a:solidFill>
                  <a:srgbClr val="000000"/>
                </a:solidFill>
                <a:latin typeface="宋体" pitchFamily="2" charset="-122"/>
                <a:ea typeface="宋体" pitchFamily="2" charset="-122"/>
              </a:rPr>
              <a:t>用</a:t>
            </a:r>
            <a:r>
              <a:rPr lang="zh-CN" altLang="en-US" sz="2800" b="1" dirty="0" smtClean="0">
                <a:solidFill>
                  <a:srgbClr val="C00000"/>
                </a:solidFill>
                <a:latin typeface="宋体" pitchFamily="2" charset="-122"/>
                <a:ea typeface="宋体" pitchFamily="2" charset="-122"/>
              </a:rPr>
              <a:t>箱线图</a:t>
            </a:r>
            <a:r>
              <a:rPr lang="zh-CN" altLang="en-US" sz="2800" b="1" dirty="0" smtClean="0">
                <a:solidFill>
                  <a:srgbClr val="000000"/>
                </a:solidFill>
                <a:latin typeface="宋体" pitchFamily="2" charset="-122"/>
                <a:ea typeface="宋体" pitchFamily="2" charset="-122"/>
              </a:rPr>
              <a:t>（也译为箱形图、盒式图、盒须图） 表示更直观，而且还能识别数据中的异常值。</a:t>
            </a:r>
            <a:endParaRPr lang="en-US" altLang="zh-CN" sz="2800" b="1" dirty="0" smtClean="0">
              <a:solidFill>
                <a:srgbClr val="000000"/>
              </a:solidFill>
              <a:latin typeface="宋体" pitchFamily="2" charset="-122"/>
              <a:ea typeface="宋体" pitchFamily="2" charset="-122"/>
            </a:endParaRPr>
          </a:p>
          <a:p>
            <a:pPr indent="533400">
              <a:lnSpc>
                <a:spcPct val="120000"/>
              </a:lnSpc>
              <a:spcBef>
                <a:spcPts val="1200"/>
              </a:spcBef>
            </a:pPr>
            <a:r>
              <a:rPr lang="zh-CN" altLang="zh-CN" sz="2800" b="1" dirty="0" smtClean="0">
                <a:solidFill>
                  <a:srgbClr val="002060"/>
                </a:solidFill>
                <a:latin typeface="+mn-ea"/>
                <a:ea typeface="+mn-ea"/>
              </a:rPr>
              <a:t>箱</a:t>
            </a:r>
            <a:r>
              <a:rPr lang="zh-CN" altLang="zh-CN" sz="2800" b="1" dirty="0">
                <a:solidFill>
                  <a:srgbClr val="002060"/>
                </a:solidFill>
                <a:latin typeface="+mn-ea"/>
                <a:ea typeface="+mn-ea"/>
              </a:rPr>
              <a:t>线图常用于质量管理、人事测评、探索性数据分析等统计分析中</a:t>
            </a:r>
            <a:r>
              <a:rPr lang="zh-CN" altLang="zh-CN" sz="2800" b="1" dirty="0" smtClean="0">
                <a:solidFill>
                  <a:srgbClr val="002060"/>
                </a:solidFill>
                <a:latin typeface="+mn-ea"/>
                <a:ea typeface="+mn-ea"/>
              </a:rPr>
              <a:t>。</a:t>
            </a:r>
            <a:r>
              <a:rPr lang="en-US" altLang="zh-CN" sz="2800" b="1" dirty="0" smtClean="0">
                <a:solidFill>
                  <a:srgbClr val="002060"/>
                </a:solidFill>
                <a:latin typeface="+mn-ea"/>
                <a:ea typeface="+mn-ea"/>
              </a:rPr>
              <a:t>   </a:t>
            </a:r>
            <a:endParaRPr lang="zh-CN" altLang="en-US" sz="3200" b="1" dirty="0">
              <a:solidFill>
                <a:srgbClr val="002060"/>
              </a:solidFill>
              <a:latin typeface="+mn-ea"/>
              <a:ea typeface="+mn-ea"/>
            </a:endParaRPr>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0442" y="0"/>
            <a:ext cx="7772400" cy="990600"/>
          </a:xfrm>
        </p:spPr>
        <p:txBody>
          <a:bodyPr/>
          <a:lstStyle/>
          <a:p>
            <a:r>
              <a:rPr lang="zh-CN" altLang="zh-CN" kern="100" dirty="0">
                <a:latin typeface="Times New Roman" panose="02020603050405020304" pitchFamily="18" charset="0"/>
                <a:ea typeface="宋体" panose="02010600030101010101" pitchFamily="2" charset="-122"/>
              </a:rPr>
              <a:t>绘制箱线图的</a:t>
            </a:r>
            <a:r>
              <a:rPr lang="zh-CN" altLang="zh-CN" kern="100" dirty="0" smtClean="0">
                <a:latin typeface="Times New Roman" panose="02020603050405020304" pitchFamily="18" charset="0"/>
                <a:ea typeface="宋体" panose="02010600030101010101" pitchFamily="2" charset="-122"/>
              </a:rPr>
              <a:t>步骤</a:t>
            </a:r>
            <a:endParaRPr lang="zh-CN" altLang="en-US" dirty="0"/>
          </a:p>
        </p:txBody>
      </p:sp>
      <p:sp>
        <p:nvSpPr>
          <p:cNvPr id="3" name="内容占位符 2"/>
          <p:cNvSpPr>
            <a:spLocks noGrp="1"/>
          </p:cNvSpPr>
          <p:nvPr>
            <p:ph idx="1"/>
          </p:nvPr>
        </p:nvSpPr>
        <p:spPr>
          <a:xfrm>
            <a:off x="191922" y="1027935"/>
            <a:ext cx="8412526" cy="5497409"/>
          </a:xfrm>
        </p:spPr>
        <p:txBody>
          <a:bodyPr/>
          <a:lstStyle/>
          <a:p>
            <a:pPr marL="85725" indent="0" algn="just">
              <a:lnSpc>
                <a:spcPct val="110000"/>
              </a:lnSpc>
              <a:spcBef>
                <a:spcPts val="600"/>
              </a:spcBef>
              <a:spcAft>
                <a:spcPts val="0"/>
              </a:spcAft>
              <a:buNone/>
            </a:pPr>
            <a:r>
              <a:rPr lang="zh-CN" altLang="zh-CN" sz="2400" kern="100" dirty="0" smtClean="0">
                <a:solidFill>
                  <a:srgbClr val="000000"/>
                </a:solidFill>
                <a:latin typeface="Times New Roman" panose="02020603050405020304" pitchFamily="18" charset="0"/>
                <a:ea typeface="宋体" panose="02010600030101010101" pitchFamily="2" charset="-122"/>
              </a:rPr>
              <a:t>（</a:t>
            </a:r>
            <a:r>
              <a:rPr lang="en-US" altLang="zh-CN" sz="2400" kern="100" dirty="0">
                <a:solidFill>
                  <a:srgbClr val="000000"/>
                </a:solidFill>
                <a:latin typeface="Times New Roman" panose="02020603050405020304" pitchFamily="18" charset="0"/>
                <a:ea typeface="宋体" panose="02010600030101010101" pitchFamily="2" charset="-122"/>
              </a:rPr>
              <a:t>1</a:t>
            </a:r>
            <a:r>
              <a:rPr lang="zh-CN" altLang="zh-CN" sz="2400" kern="100" dirty="0">
                <a:solidFill>
                  <a:srgbClr val="000000"/>
                </a:solidFill>
                <a:latin typeface="Times New Roman" panose="02020603050405020304" pitchFamily="18" charset="0"/>
                <a:ea typeface="宋体" panose="02010600030101010101" pitchFamily="2" charset="-122"/>
              </a:rPr>
              <a:t>）</a:t>
            </a:r>
            <a:r>
              <a:rPr lang="zh-CN" altLang="zh-CN" sz="2100" kern="100" dirty="0" smtClean="0">
                <a:solidFill>
                  <a:srgbClr val="000000"/>
                </a:solidFill>
                <a:latin typeface="Times New Roman" panose="02020603050405020304" pitchFamily="18" charset="0"/>
                <a:ea typeface="宋体" panose="02010600030101010101" pitchFamily="2" charset="-122"/>
              </a:rPr>
              <a:t>计算</a:t>
            </a:r>
            <a:r>
              <a:rPr lang="zh-CN" altLang="en-US" sz="2100" kern="100" dirty="0" smtClean="0">
                <a:solidFill>
                  <a:srgbClr val="000000"/>
                </a:solidFill>
                <a:latin typeface="Times New Roman" panose="02020603050405020304" pitchFamily="18" charset="0"/>
                <a:ea typeface="宋体" panose="02010600030101010101" pitchFamily="2" charset="-122"/>
              </a:rPr>
              <a:t>出</a:t>
            </a:r>
            <a:r>
              <a:rPr lang="zh-CN" altLang="en-US" sz="2100" b="0" dirty="0" smtClean="0">
                <a:solidFill>
                  <a:srgbClr val="000000"/>
                </a:solidFill>
              </a:rPr>
              <a:t>数据</a:t>
            </a:r>
            <a:r>
              <a:rPr lang="zh-CN" altLang="en-US" sz="2100" b="0" dirty="0">
                <a:solidFill>
                  <a:srgbClr val="000000"/>
                </a:solidFill>
              </a:rPr>
              <a:t>的五个</a:t>
            </a:r>
            <a:r>
              <a:rPr lang="zh-CN" altLang="en-US" sz="2100" b="0" dirty="0" smtClean="0">
                <a:solidFill>
                  <a:srgbClr val="000000"/>
                </a:solidFill>
              </a:rPr>
              <a:t>特征值：最小值，</a:t>
            </a:r>
            <a:r>
              <a:rPr lang="zh-CN" altLang="zh-CN" sz="2100" i="1" kern="100" dirty="0" smtClean="0">
                <a:solidFill>
                  <a:srgbClr val="000000"/>
                </a:solidFill>
                <a:latin typeface="Times New Roman" panose="02020603050405020304" pitchFamily="18" charset="0"/>
                <a:ea typeface="宋体" panose="02010600030101010101" pitchFamily="2" charset="-122"/>
              </a:rPr>
              <a:t>Ｑ</a:t>
            </a:r>
            <a:r>
              <a:rPr lang="en-US" altLang="zh-CN" sz="2100" kern="100" baseline="-25000" dirty="0">
                <a:solidFill>
                  <a:srgbClr val="000000"/>
                </a:solidFill>
                <a:latin typeface="Times New Roman" panose="02020603050405020304" pitchFamily="18" charset="0"/>
                <a:ea typeface="宋体" panose="02010600030101010101" pitchFamily="2" charset="-122"/>
              </a:rPr>
              <a:t>1</a:t>
            </a:r>
            <a:r>
              <a:rPr lang="zh-CN" altLang="zh-CN" sz="2100" kern="100" dirty="0" smtClean="0">
                <a:solidFill>
                  <a:srgbClr val="000000"/>
                </a:solidFill>
                <a:latin typeface="Times New Roman" panose="02020603050405020304" pitchFamily="18" charset="0"/>
                <a:ea typeface="宋体" panose="02010600030101010101" pitchFamily="2" charset="-122"/>
              </a:rPr>
              <a:t>，</a:t>
            </a:r>
            <a:r>
              <a:rPr lang="en-US" altLang="zh-CN" sz="2100" i="1" kern="100" dirty="0" smtClean="0">
                <a:solidFill>
                  <a:srgbClr val="000000"/>
                </a:solidFill>
                <a:latin typeface="Times New Roman" panose="02020603050405020304" pitchFamily="18" charset="0"/>
                <a:ea typeface="宋体" panose="02010600030101010101" pitchFamily="2" charset="-122"/>
              </a:rPr>
              <a:t>Me</a:t>
            </a:r>
            <a:r>
              <a:rPr lang="zh-CN" altLang="zh-CN" sz="2100" kern="100" dirty="0" smtClean="0">
                <a:solidFill>
                  <a:srgbClr val="000000"/>
                </a:solidFill>
                <a:latin typeface="Times New Roman" panose="02020603050405020304" pitchFamily="18" charset="0"/>
                <a:ea typeface="宋体" panose="02010600030101010101" pitchFamily="2" charset="-122"/>
              </a:rPr>
              <a:t>，</a:t>
            </a:r>
            <a:r>
              <a:rPr lang="zh-CN" altLang="zh-CN" sz="2100" i="1" kern="100" dirty="0" smtClean="0">
                <a:solidFill>
                  <a:srgbClr val="000000"/>
                </a:solidFill>
                <a:latin typeface="Times New Roman" panose="02020603050405020304" pitchFamily="18" charset="0"/>
                <a:ea typeface="宋体" panose="02010600030101010101" pitchFamily="2" charset="-122"/>
              </a:rPr>
              <a:t>Ｑ</a:t>
            </a:r>
            <a:r>
              <a:rPr lang="en-US" altLang="zh-CN" sz="2100" kern="100" baseline="-25000" dirty="0" smtClean="0">
                <a:solidFill>
                  <a:srgbClr val="000000"/>
                </a:solidFill>
                <a:latin typeface="Times New Roman" panose="02020603050405020304" pitchFamily="18" charset="0"/>
                <a:ea typeface="宋体" panose="02010600030101010101" pitchFamily="2" charset="-122"/>
              </a:rPr>
              <a:t>3</a:t>
            </a:r>
            <a:r>
              <a:rPr lang="zh-CN" altLang="en-US" sz="2100" kern="100" baseline="-25000" dirty="0" smtClean="0">
                <a:solidFill>
                  <a:srgbClr val="000000"/>
                </a:solidFill>
                <a:latin typeface="Times New Roman" panose="02020603050405020304" pitchFamily="18" charset="0"/>
                <a:ea typeface="宋体" panose="02010600030101010101" pitchFamily="2" charset="-122"/>
              </a:rPr>
              <a:t>，</a:t>
            </a:r>
            <a:r>
              <a:rPr lang="zh-CN" altLang="en-US" sz="2100" b="0" dirty="0">
                <a:solidFill>
                  <a:srgbClr val="000000"/>
                </a:solidFill>
              </a:rPr>
              <a:t>最大值</a:t>
            </a:r>
            <a:r>
              <a:rPr lang="zh-CN" altLang="zh-CN" sz="2100" kern="100" dirty="0" smtClean="0">
                <a:solidFill>
                  <a:srgbClr val="000000"/>
                </a:solidFill>
                <a:latin typeface="Times New Roman" panose="02020603050405020304" pitchFamily="18" charset="0"/>
                <a:ea typeface="宋体" panose="02010600030101010101" pitchFamily="2" charset="-122"/>
              </a:rPr>
              <a:t>；</a:t>
            </a:r>
            <a:endParaRPr lang="en-US" altLang="zh-CN" sz="2100" kern="100" dirty="0" smtClean="0">
              <a:solidFill>
                <a:srgbClr val="000000"/>
              </a:solidFill>
              <a:latin typeface="Times New Roman" panose="02020603050405020304" pitchFamily="18" charset="0"/>
              <a:ea typeface="宋体" panose="02010600030101010101" pitchFamily="2" charset="-122"/>
            </a:endParaRPr>
          </a:p>
          <a:p>
            <a:pPr marL="450850" indent="-368300" algn="just">
              <a:lnSpc>
                <a:spcPct val="110000"/>
              </a:lnSpc>
              <a:spcBef>
                <a:spcPts val="600"/>
              </a:spcBef>
              <a:spcAft>
                <a:spcPts val="0"/>
              </a:spcAft>
              <a:buNone/>
            </a:pPr>
            <a:r>
              <a:rPr lang="zh-CN" altLang="zh-CN" sz="2400" kern="100" dirty="0" smtClean="0">
                <a:solidFill>
                  <a:srgbClr val="000000"/>
                </a:solidFill>
                <a:latin typeface="Times New Roman" panose="02020603050405020304" pitchFamily="18" charset="0"/>
                <a:ea typeface="宋体" panose="02010600030101010101" pitchFamily="2" charset="-122"/>
              </a:rPr>
              <a:t>（</a:t>
            </a:r>
            <a:r>
              <a:rPr lang="en-US" altLang="zh-CN" sz="2400" kern="100" dirty="0">
                <a:solidFill>
                  <a:srgbClr val="000000"/>
                </a:solidFill>
                <a:latin typeface="Times New Roman" panose="02020603050405020304" pitchFamily="18" charset="0"/>
                <a:ea typeface="宋体" panose="02010600030101010101" pitchFamily="2" charset="-122"/>
              </a:rPr>
              <a:t>2</a:t>
            </a:r>
            <a:r>
              <a:rPr lang="zh-CN" altLang="zh-CN" sz="2400" kern="100" dirty="0" smtClean="0">
                <a:solidFill>
                  <a:srgbClr val="000000"/>
                </a:solidFill>
                <a:latin typeface="Times New Roman" panose="02020603050405020304" pitchFamily="18" charset="0"/>
                <a:ea typeface="宋体" panose="02010600030101010101" pitchFamily="2" charset="-122"/>
              </a:rPr>
              <a:t>）以</a:t>
            </a:r>
            <a:r>
              <a:rPr lang="zh-CN" altLang="zh-CN" sz="2400" i="1" kern="100" dirty="0">
                <a:solidFill>
                  <a:srgbClr val="000000"/>
                </a:solidFill>
                <a:latin typeface="Times New Roman" panose="02020603050405020304" pitchFamily="18" charset="0"/>
                <a:ea typeface="宋体" panose="02010600030101010101" pitchFamily="2" charset="-122"/>
              </a:rPr>
              <a:t>Ｑ</a:t>
            </a:r>
            <a:r>
              <a:rPr lang="en-US" altLang="zh-CN" sz="2400" kern="100" baseline="-25000" dirty="0">
                <a:solidFill>
                  <a:srgbClr val="000000"/>
                </a:solidFill>
                <a:latin typeface="Times New Roman" panose="02020603050405020304" pitchFamily="18" charset="0"/>
                <a:ea typeface="宋体" panose="02010600030101010101" pitchFamily="2" charset="-122"/>
              </a:rPr>
              <a:t>1</a:t>
            </a:r>
            <a:r>
              <a:rPr lang="zh-CN" altLang="zh-CN" sz="2400" kern="100" dirty="0">
                <a:solidFill>
                  <a:srgbClr val="000000"/>
                </a:solidFill>
                <a:latin typeface="Times New Roman" panose="02020603050405020304" pitchFamily="18" charset="0"/>
                <a:ea typeface="宋体" panose="02010600030101010101" pitchFamily="2" charset="-122"/>
              </a:rPr>
              <a:t>为底、</a:t>
            </a:r>
            <a:r>
              <a:rPr lang="zh-CN" altLang="zh-CN" sz="2400" i="1" kern="100" dirty="0">
                <a:solidFill>
                  <a:srgbClr val="000000"/>
                </a:solidFill>
                <a:latin typeface="Times New Roman" panose="02020603050405020304" pitchFamily="18" charset="0"/>
                <a:ea typeface="宋体" panose="02010600030101010101" pitchFamily="2" charset="-122"/>
              </a:rPr>
              <a:t>Ｑ</a:t>
            </a:r>
            <a:r>
              <a:rPr lang="en-US" altLang="zh-CN" sz="2400" kern="100" baseline="-25000" dirty="0">
                <a:solidFill>
                  <a:srgbClr val="000000"/>
                </a:solidFill>
                <a:latin typeface="Times New Roman" panose="02020603050405020304" pitchFamily="18" charset="0"/>
                <a:ea typeface="宋体" panose="02010600030101010101" pitchFamily="2" charset="-122"/>
              </a:rPr>
              <a:t>3</a:t>
            </a:r>
            <a:r>
              <a:rPr lang="zh-CN" altLang="zh-CN" sz="2400" kern="100" dirty="0">
                <a:solidFill>
                  <a:srgbClr val="000000"/>
                </a:solidFill>
                <a:latin typeface="Times New Roman" panose="02020603050405020304" pitchFamily="18" charset="0"/>
                <a:ea typeface="宋体" panose="02010600030101010101" pitchFamily="2" charset="-122"/>
              </a:rPr>
              <a:t>为顶绘制一个矩形</a:t>
            </a:r>
            <a:r>
              <a:rPr lang="zh-CN" altLang="zh-CN" sz="2400" kern="100" dirty="0" smtClean="0">
                <a:solidFill>
                  <a:srgbClr val="000000"/>
                </a:solidFill>
                <a:latin typeface="Times New Roman" panose="02020603050405020304" pitchFamily="18" charset="0"/>
                <a:ea typeface="宋体" panose="02010600030101010101" pitchFamily="2" charset="-122"/>
              </a:rPr>
              <a:t>箱体；在箱体</a:t>
            </a:r>
            <a:r>
              <a:rPr lang="zh-CN" altLang="zh-CN" sz="2400" kern="100" dirty="0">
                <a:solidFill>
                  <a:srgbClr val="000000"/>
                </a:solidFill>
                <a:latin typeface="Times New Roman" panose="02020603050405020304" pitchFamily="18" charset="0"/>
                <a:ea typeface="宋体" panose="02010600030101010101" pitchFamily="2" charset="-122"/>
              </a:rPr>
              <a:t>内用一条线代表</a:t>
            </a:r>
            <a:r>
              <a:rPr lang="en-US" altLang="zh-CN" sz="2400" i="1" kern="100" dirty="0" smtClean="0">
                <a:solidFill>
                  <a:srgbClr val="000000"/>
                </a:solidFill>
                <a:latin typeface="Times New Roman" panose="02020603050405020304" pitchFamily="18" charset="0"/>
                <a:ea typeface="宋体" panose="02010600030101010101" pitchFamily="2" charset="-122"/>
              </a:rPr>
              <a:t>Me</a:t>
            </a:r>
            <a:r>
              <a:rPr lang="zh-CN" altLang="zh-CN" sz="2400" b="0" kern="100" dirty="0" smtClean="0">
                <a:solidFill>
                  <a:schemeClr val="tx1"/>
                </a:solidFill>
                <a:latin typeface="隶书" panose="02010509060101010101" pitchFamily="49" charset="-122"/>
                <a:ea typeface="隶书" panose="02010509060101010101" pitchFamily="49" charset="-122"/>
              </a:rPr>
              <a:t>（</a:t>
            </a:r>
            <a:r>
              <a:rPr lang="zh-CN" altLang="zh-CN" sz="2400" b="0" kern="100" dirty="0">
                <a:solidFill>
                  <a:schemeClr val="tx1"/>
                </a:solidFill>
                <a:latin typeface="隶书" panose="02010509060101010101" pitchFamily="49" charset="-122"/>
                <a:ea typeface="隶书" panose="02010509060101010101" pitchFamily="49" charset="-122"/>
              </a:rPr>
              <a:t>也可横</a:t>
            </a:r>
            <a:r>
              <a:rPr lang="zh-CN" altLang="en-US" sz="2400" b="0" kern="100" dirty="0">
                <a:solidFill>
                  <a:schemeClr val="tx1"/>
                </a:solidFill>
                <a:latin typeface="隶书" panose="02010509060101010101" pitchFamily="49" charset="-122"/>
                <a:ea typeface="隶书" panose="02010509060101010101" pitchFamily="49" charset="-122"/>
              </a:rPr>
              <a:t>向</a:t>
            </a:r>
            <a:r>
              <a:rPr lang="zh-CN" altLang="zh-CN" sz="2400" b="0" kern="100" dirty="0">
                <a:solidFill>
                  <a:schemeClr val="tx1"/>
                </a:solidFill>
                <a:latin typeface="隶书" panose="02010509060101010101" pitchFamily="49" charset="-122"/>
                <a:ea typeface="隶书" panose="02010509060101010101" pitchFamily="49" charset="-122"/>
              </a:rPr>
              <a:t>绘制</a:t>
            </a:r>
            <a:r>
              <a:rPr lang="zh-CN" altLang="en-US" sz="2400" b="0" kern="100" dirty="0">
                <a:solidFill>
                  <a:schemeClr val="tx1"/>
                </a:solidFill>
                <a:latin typeface="隶书" panose="02010509060101010101" pitchFamily="49" charset="-122"/>
                <a:ea typeface="隶书" panose="02010509060101010101" pitchFamily="49" charset="-122"/>
              </a:rPr>
              <a:t>，此略</a:t>
            </a:r>
            <a:r>
              <a:rPr lang="zh-CN" altLang="zh-CN" sz="2400" b="0" kern="100" dirty="0" smtClean="0">
                <a:solidFill>
                  <a:schemeClr val="tx1"/>
                </a:solidFill>
                <a:latin typeface="隶书" panose="02010509060101010101" pitchFamily="49" charset="-122"/>
                <a:ea typeface="隶书" panose="02010509060101010101" pitchFamily="49" charset="-122"/>
              </a:rPr>
              <a:t>）</a:t>
            </a:r>
            <a:r>
              <a:rPr lang="zh-CN" altLang="zh-CN" sz="2400" kern="100" dirty="0">
                <a:solidFill>
                  <a:srgbClr val="000000"/>
                </a:solidFill>
                <a:latin typeface="Times New Roman" panose="02020603050405020304" pitchFamily="18" charset="0"/>
                <a:ea typeface="宋体" panose="02010600030101010101" pitchFamily="2" charset="-122"/>
              </a:rPr>
              <a:t>；</a:t>
            </a:r>
            <a:endParaRPr lang="en-US" altLang="zh-CN" sz="2400" kern="100" dirty="0" smtClean="0">
              <a:solidFill>
                <a:srgbClr val="000000"/>
              </a:solidFill>
              <a:latin typeface="Times New Roman" panose="02020603050405020304" pitchFamily="18" charset="0"/>
              <a:ea typeface="宋体" panose="02010600030101010101" pitchFamily="2" charset="-122"/>
            </a:endParaRPr>
          </a:p>
          <a:p>
            <a:pPr marL="85725" indent="0" algn="just">
              <a:lnSpc>
                <a:spcPct val="110000"/>
              </a:lnSpc>
              <a:spcBef>
                <a:spcPts val="600"/>
              </a:spcBef>
              <a:spcAft>
                <a:spcPts val="0"/>
              </a:spcAft>
              <a:buNone/>
            </a:pPr>
            <a:r>
              <a:rPr lang="zh-CN" altLang="zh-CN" sz="2400" kern="100" dirty="0">
                <a:solidFill>
                  <a:srgbClr val="000000"/>
                </a:solidFill>
                <a:latin typeface="Times New Roman" panose="02020603050405020304" pitchFamily="18" charset="0"/>
                <a:ea typeface="宋体" panose="02010600030101010101" pitchFamily="2" charset="-122"/>
              </a:rPr>
              <a:t>（</a:t>
            </a:r>
            <a:r>
              <a:rPr lang="en-US" altLang="zh-CN" sz="2400" kern="100" dirty="0">
                <a:solidFill>
                  <a:srgbClr val="000000"/>
                </a:solidFill>
                <a:latin typeface="Times New Roman" panose="02020603050405020304" pitchFamily="18" charset="0"/>
                <a:ea typeface="宋体" panose="02010600030101010101" pitchFamily="2" charset="-122"/>
              </a:rPr>
              <a:t>3</a:t>
            </a:r>
            <a:r>
              <a:rPr lang="zh-CN" altLang="zh-CN" sz="2400" kern="100" dirty="0" smtClean="0">
                <a:solidFill>
                  <a:srgbClr val="000000"/>
                </a:solidFill>
                <a:latin typeface="Times New Roman" panose="02020603050405020304" pitchFamily="18" charset="0"/>
                <a:ea typeface="宋体" panose="02010600030101010101" pitchFamily="2" charset="-122"/>
              </a:rPr>
              <a:t>）</a:t>
            </a:r>
            <a:r>
              <a:rPr lang="zh-CN" altLang="zh-CN" sz="2400" kern="100" dirty="0" smtClean="0">
                <a:solidFill>
                  <a:srgbClr val="000000"/>
                </a:solidFill>
                <a:latin typeface="Times New Roman" panose="02020603050405020304" pitchFamily="18" charset="0"/>
                <a:ea typeface="宋体" panose="02010600030101010101" pitchFamily="2" charset="-122"/>
              </a:rPr>
              <a:t>箱体上</a:t>
            </a:r>
            <a:r>
              <a:rPr lang="zh-CN" altLang="en-US" sz="2400" kern="100" dirty="0" smtClean="0">
                <a:solidFill>
                  <a:srgbClr val="000000"/>
                </a:solidFill>
                <a:latin typeface="Times New Roman" panose="02020603050405020304" pitchFamily="18" charset="0"/>
                <a:ea typeface="宋体" panose="02010600030101010101" pitchFamily="2" charset="-122"/>
              </a:rPr>
              <a:t>、下的</a:t>
            </a:r>
            <a:r>
              <a:rPr lang="zh-CN" altLang="en-US" sz="2400" kern="100" dirty="0" smtClean="0">
                <a:solidFill>
                  <a:srgbClr val="000000"/>
                </a:solidFill>
                <a:latin typeface="Times New Roman" panose="02020603050405020304" pitchFamily="18" charset="0"/>
                <a:ea typeface="宋体" panose="02010600030101010101" pitchFamily="2" charset="-122"/>
              </a:rPr>
              <a:t>两条竖线分别称为“上须”、“下须”。其</a:t>
            </a:r>
            <a:r>
              <a:rPr lang="zh-CN" altLang="zh-CN" sz="2400" kern="100" dirty="0" smtClean="0">
                <a:solidFill>
                  <a:srgbClr val="000000"/>
                </a:solidFill>
                <a:latin typeface="Times New Roman" panose="02020603050405020304" pitchFamily="18" charset="0"/>
                <a:ea typeface="宋体" panose="02010600030101010101" pitchFamily="2" charset="-122"/>
              </a:rPr>
              <a:t>上</a:t>
            </a:r>
            <a:r>
              <a:rPr lang="zh-CN" altLang="en-US" sz="2400" kern="100" dirty="0">
                <a:solidFill>
                  <a:srgbClr val="000000"/>
                </a:solidFill>
                <a:latin typeface="Times New Roman" panose="02020603050405020304" pitchFamily="18" charset="0"/>
                <a:ea typeface="宋体" panose="02010600030101010101" pitchFamily="2" charset="-122"/>
              </a:rPr>
              <a:t>、</a:t>
            </a:r>
            <a:r>
              <a:rPr lang="zh-CN" altLang="en-US" sz="2400" kern="100" dirty="0" smtClean="0">
                <a:solidFill>
                  <a:srgbClr val="000000"/>
                </a:solidFill>
                <a:latin typeface="Times New Roman" panose="02020603050405020304" pitchFamily="18" charset="0"/>
                <a:ea typeface="宋体" panose="02010600030101010101" pitchFamily="2" charset="-122"/>
              </a:rPr>
              <a:t>下端的横线就是上</a:t>
            </a:r>
            <a:r>
              <a:rPr lang="zh-CN" altLang="en-US" sz="2400" kern="100" dirty="0">
                <a:solidFill>
                  <a:srgbClr val="000000"/>
                </a:solidFill>
                <a:latin typeface="Times New Roman" panose="02020603050405020304" pitchFamily="18" charset="0"/>
                <a:ea typeface="宋体" panose="02010600030101010101" pitchFamily="2" charset="-122"/>
              </a:rPr>
              <a:t>、下</a:t>
            </a:r>
            <a:r>
              <a:rPr lang="zh-CN" altLang="en-US" sz="2400" kern="100" dirty="0" smtClean="0">
                <a:solidFill>
                  <a:srgbClr val="000000"/>
                </a:solidFill>
                <a:latin typeface="Times New Roman" panose="02020603050405020304" pitchFamily="18" charset="0"/>
                <a:ea typeface="宋体" panose="02010600030101010101" pitchFamily="2" charset="-122"/>
              </a:rPr>
              <a:t>边缘（上</a:t>
            </a:r>
            <a:r>
              <a:rPr lang="zh-CN" altLang="en-US" sz="2400" kern="100" dirty="0">
                <a:solidFill>
                  <a:srgbClr val="000000"/>
                </a:solidFill>
                <a:latin typeface="Times New Roman" panose="02020603050405020304" pitchFamily="18" charset="0"/>
                <a:ea typeface="宋体" panose="02010600030101010101" pitchFamily="2" charset="-122"/>
              </a:rPr>
              <a:t>界</a:t>
            </a:r>
            <a:r>
              <a:rPr lang="zh-CN" altLang="en-US" sz="2400" kern="100" dirty="0" smtClean="0">
                <a:solidFill>
                  <a:srgbClr val="000000"/>
                </a:solidFill>
                <a:latin typeface="Times New Roman" panose="02020603050405020304" pitchFamily="18" charset="0"/>
                <a:ea typeface="宋体" panose="02010600030101010101" pitchFamily="2" charset="-122"/>
              </a:rPr>
              <a:t>、下界）。</a:t>
            </a:r>
            <a:endParaRPr lang="en-US" altLang="zh-CN" sz="2400" kern="100" dirty="0" smtClean="0">
              <a:solidFill>
                <a:srgbClr val="000000"/>
              </a:solidFill>
              <a:latin typeface="Times New Roman" panose="02020603050405020304" pitchFamily="18" charset="0"/>
              <a:ea typeface="宋体" panose="02010600030101010101" pitchFamily="2" charset="-122"/>
            </a:endParaRPr>
          </a:p>
          <a:p>
            <a:pPr marL="485775" lvl="1" indent="0" algn="just">
              <a:lnSpc>
                <a:spcPct val="110000"/>
              </a:lnSpc>
              <a:spcBef>
                <a:spcPts val="600"/>
              </a:spcBef>
              <a:spcAft>
                <a:spcPts val="0"/>
              </a:spcAft>
              <a:buNone/>
            </a:pPr>
            <a:r>
              <a:rPr lang="zh-CN" altLang="en-US" sz="2000" kern="100" dirty="0" smtClean="0">
                <a:solidFill>
                  <a:srgbClr val="000000"/>
                </a:solidFill>
                <a:latin typeface="Times New Roman" panose="02020603050405020304" pitchFamily="18" charset="0"/>
                <a:ea typeface="宋体" panose="02010600030101010101" pitchFamily="2" charset="-122"/>
              </a:rPr>
              <a:t>   上须、下须的长度不大于</a:t>
            </a:r>
            <a:r>
              <a:rPr lang="zh-CN" altLang="zh-CN" sz="2000" kern="100" dirty="0" smtClean="0">
                <a:solidFill>
                  <a:srgbClr val="000000"/>
                </a:solidFill>
                <a:latin typeface="Times New Roman" panose="02020603050405020304" pitchFamily="18" charset="0"/>
                <a:ea typeface="宋体" panose="02010600030101010101" pitchFamily="2" charset="-122"/>
              </a:rPr>
              <a:t>箱体长度</a:t>
            </a:r>
            <a:r>
              <a:rPr lang="zh-CN" altLang="en-US" sz="1800" kern="100" dirty="0" smtClean="0">
                <a:solidFill>
                  <a:schemeClr val="tx1"/>
                </a:solidFill>
                <a:latin typeface="Times New Roman" panose="02020603050405020304" pitchFamily="18" charset="0"/>
                <a:ea typeface="宋体" panose="02010600030101010101" pitchFamily="2" charset="-122"/>
              </a:rPr>
              <a:t>（</a:t>
            </a:r>
            <a:r>
              <a:rPr lang="zh-CN" altLang="zh-CN" sz="1800" kern="100" dirty="0" smtClean="0">
                <a:solidFill>
                  <a:schemeClr val="tx1"/>
                </a:solidFill>
                <a:latin typeface="Times New Roman" panose="02020603050405020304" pitchFamily="18" charset="0"/>
                <a:ea typeface="宋体" panose="02010600030101010101" pitchFamily="2" charset="-122"/>
              </a:rPr>
              <a:t>四分位差</a:t>
            </a:r>
            <a:r>
              <a:rPr lang="en-US" altLang="zh-CN" sz="1800" kern="100" dirty="0" smtClean="0">
                <a:solidFill>
                  <a:schemeClr val="tx1"/>
                </a:solidFill>
                <a:latin typeface="Times New Roman" panose="02020603050405020304" pitchFamily="18" charset="0"/>
                <a:ea typeface="宋体" panose="02010600030101010101" pitchFamily="2" charset="-122"/>
              </a:rPr>
              <a:t>Q</a:t>
            </a:r>
            <a:r>
              <a:rPr lang="en-US" altLang="zh-CN" sz="1800" kern="100" baseline="-25000" dirty="0" smtClean="0">
                <a:solidFill>
                  <a:schemeClr val="tx1"/>
                </a:solidFill>
                <a:latin typeface="Times New Roman" panose="02020603050405020304" pitchFamily="18" charset="0"/>
                <a:ea typeface="宋体" panose="02010600030101010101" pitchFamily="2" charset="-122"/>
              </a:rPr>
              <a:t>D</a:t>
            </a:r>
            <a:r>
              <a:rPr lang="zh-CN" altLang="en-US" sz="1800" kern="100" dirty="0" smtClean="0">
                <a:solidFill>
                  <a:schemeClr val="tx1"/>
                </a:solidFill>
                <a:latin typeface="Times New Roman" panose="02020603050405020304" pitchFamily="18" charset="0"/>
                <a:ea typeface="宋体" panose="02010600030101010101" pitchFamily="2" charset="-122"/>
              </a:rPr>
              <a:t>）</a:t>
            </a:r>
            <a:r>
              <a:rPr lang="zh-CN" altLang="en-US" sz="2000" kern="100" dirty="0" smtClean="0">
                <a:solidFill>
                  <a:srgbClr val="000000"/>
                </a:solidFill>
                <a:latin typeface="Times New Roman" panose="02020603050405020304" pitchFamily="18" charset="0"/>
                <a:ea typeface="宋体" panose="02010600030101010101" pitchFamily="2" charset="-122"/>
              </a:rPr>
              <a:t>的</a:t>
            </a:r>
            <a:r>
              <a:rPr lang="en-US" altLang="zh-CN" sz="2000" kern="100" dirty="0" smtClean="0">
                <a:solidFill>
                  <a:srgbClr val="000000"/>
                </a:solidFill>
                <a:latin typeface="Times New Roman" panose="02020603050405020304" pitchFamily="18" charset="0"/>
                <a:ea typeface="宋体" panose="02010600030101010101" pitchFamily="2" charset="-122"/>
              </a:rPr>
              <a:t>1.5</a:t>
            </a:r>
            <a:r>
              <a:rPr lang="zh-CN" altLang="zh-CN" sz="2000" kern="100" dirty="0" smtClean="0">
                <a:solidFill>
                  <a:srgbClr val="000000"/>
                </a:solidFill>
                <a:latin typeface="Times New Roman" panose="02020603050405020304" pitchFamily="18" charset="0"/>
                <a:ea typeface="宋体" panose="02010600030101010101" pitchFamily="2" charset="-122"/>
              </a:rPr>
              <a:t>倍</a:t>
            </a:r>
            <a:r>
              <a:rPr lang="zh-CN" altLang="en-US" sz="2000" kern="100" dirty="0" smtClean="0">
                <a:solidFill>
                  <a:srgbClr val="000000"/>
                </a:solidFill>
                <a:latin typeface="Times New Roman" panose="02020603050405020304" pitchFamily="18" charset="0"/>
                <a:ea typeface="宋体" panose="02010600030101010101" pitchFamily="2" charset="-122"/>
              </a:rPr>
              <a:t>，即：</a:t>
            </a:r>
            <a:endParaRPr lang="en-US" altLang="zh-CN" sz="2000" kern="100" dirty="0" smtClean="0">
              <a:solidFill>
                <a:srgbClr val="000000"/>
              </a:solidFill>
              <a:latin typeface="Times New Roman" panose="02020603050405020304" pitchFamily="18" charset="0"/>
              <a:ea typeface="宋体" panose="02010600030101010101" pitchFamily="2" charset="-122"/>
            </a:endParaRPr>
          </a:p>
          <a:p>
            <a:pPr marL="828675" lvl="1" indent="-200025" algn="just">
              <a:lnSpc>
                <a:spcPct val="110000"/>
              </a:lnSpc>
              <a:spcBef>
                <a:spcPts val="600"/>
              </a:spcBef>
              <a:spcAft>
                <a:spcPts val="0"/>
              </a:spcAft>
              <a:buClr>
                <a:srgbClr val="00B050"/>
              </a:buClr>
              <a:buSzPct val="70000"/>
              <a:buFont typeface="Wingdings" panose="05000000000000000000" pitchFamily="2" charset="2"/>
              <a:buChar char="l"/>
            </a:pPr>
            <a:r>
              <a:rPr lang="zh-CN" altLang="en-US" sz="2400" kern="100" dirty="0" smtClean="0">
                <a:solidFill>
                  <a:srgbClr val="00B050"/>
                </a:solidFill>
                <a:latin typeface="Times New Roman" panose="02020603050405020304" pitchFamily="18" charset="0"/>
                <a:ea typeface="宋体" panose="02010600030101010101" pitchFamily="2" charset="-122"/>
              </a:rPr>
              <a:t>若 </a:t>
            </a:r>
            <a:r>
              <a:rPr lang="zh-CN" altLang="zh-CN" sz="2400" kern="100" dirty="0" smtClean="0">
                <a:solidFill>
                  <a:srgbClr val="00B050"/>
                </a:solidFill>
                <a:latin typeface="Times New Roman" panose="02020603050405020304" pitchFamily="18" charset="0"/>
                <a:ea typeface="宋体" panose="02010600030101010101" pitchFamily="2" charset="-122"/>
              </a:rPr>
              <a:t>最大值</a:t>
            </a:r>
            <a:r>
              <a:rPr lang="en-US" altLang="zh-CN" sz="2400" kern="100" dirty="0" smtClean="0">
                <a:solidFill>
                  <a:srgbClr val="00B050"/>
                </a:solidFill>
                <a:latin typeface="Arial Black" panose="020B0A04020102020204" pitchFamily="34" charset="0"/>
                <a:ea typeface="宋体" panose="02010600030101010101" pitchFamily="2" charset="-122"/>
              </a:rPr>
              <a:t>-</a:t>
            </a:r>
            <a:r>
              <a:rPr lang="en-US" altLang="zh-CN" sz="2400" kern="100" dirty="0">
                <a:solidFill>
                  <a:srgbClr val="00B050"/>
                </a:solidFill>
                <a:latin typeface="Times New Roman" panose="02020603050405020304" pitchFamily="18" charset="0"/>
                <a:ea typeface="宋体" panose="02010600030101010101" pitchFamily="2" charset="-122"/>
              </a:rPr>
              <a:t>Q</a:t>
            </a:r>
            <a:r>
              <a:rPr lang="en-US" altLang="zh-CN" sz="2400" kern="100" baseline="-25000" dirty="0">
                <a:solidFill>
                  <a:srgbClr val="00B050"/>
                </a:solidFill>
                <a:latin typeface="Times New Roman" panose="02020603050405020304" pitchFamily="18" charset="0"/>
                <a:ea typeface="宋体" panose="02010600030101010101" pitchFamily="2" charset="-122"/>
              </a:rPr>
              <a:t>3</a:t>
            </a:r>
            <a:r>
              <a:rPr lang="zh-CN" altLang="en-US" sz="2400" kern="100" dirty="0" smtClean="0">
                <a:solidFill>
                  <a:srgbClr val="00B050"/>
                </a:solidFill>
                <a:latin typeface="等线" panose="02010600030101010101" pitchFamily="2" charset="-122"/>
                <a:ea typeface="等线" panose="02010600030101010101" pitchFamily="2" charset="-122"/>
              </a:rPr>
              <a:t>≤</a:t>
            </a:r>
            <a:r>
              <a:rPr lang="en-US" altLang="zh-CN" sz="2400" kern="100" dirty="0" smtClean="0">
                <a:solidFill>
                  <a:srgbClr val="00B050"/>
                </a:solidFill>
                <a:latin typeface="Times New Roman" panose="02020603050405020304" pitchFamily="18" charset="0"/>
                <a:ea typeface="宋体" panose="02010600030101010101" pitchFamily="2" charset="-122"/>
              </a:rPr>
              <a:t>1.5Q</a:t>
            </a:r>
            <a:r>
              <a:rPr lang="en-US" altLang="zh-CN" sz="2400" kern="100" baseline="-25000" dirty="0" smtClean="0">
                <a:solidFill>
                  <a:srgbClr val="00B050"/>
                </a:solidFill>
                <a:latin typeface="Times New Roman" panose="02020603050405020304" pitchFamily="18" charset="0"/>
                <a:ea typeface="宋体" panose="02010600030101010101" pitchFamily="2" charset="-122"/>
              </a:rPr>
              <a:t>D</a:t>
            </a:r>
            <a:r>
              <a:rPr lang="zh-CN" altLang="en-US" sz="2400" kern="100" dirty="0" smtClean="0">
                <a:solidFill>
                  <a:srgbClr val="00B050"/>
                </a:solidFill>
                <a:latin typeface="Times New Roman" panose="02020603050405020304" pitchFamily="18" charset="0"/>
                <a:ea typeface="宋体" panose="02010600030101010101" pitchFamily="2" charset="-122"/>
              </a:rPr>
              <a:t>，上边缘</a:t>
            </a:r>
            <a:r>
              <a:rPr lang="en-US" altLang="zh-CN" sz="2400" kern="100" dirty="0" smtClean="0">
                <a:solidFill>
                  <a:srgbClr val="00B050"/>
                </a:solidFill>
                <a:latin typeface="Times New Roman" panose="02020603050405020304" pitchFamily="18" charset="0"/>
                <a:ea typeface="宋体" panose="02010600030101010101" pitchFamily="2" charset="-122"/>
              </a:rPr>
              <a:t>=</a:t>
            </a:r>
            <a:r>
              <a:rPr lang="zh-CN" altLang="zh-CN" sz="2400" kern="100" dirty="0" smtClean="0">
                <a:solidFill>
                  <a:srgbClr val="00B050"/>
                </a:solidFill>
                <a:latin typeface="Times New Roman" panose="02020603050405020304" pitchFamily="18" charset="0"/>
                <a:ea typeface="宋体" panose="02010600030101010101" pitchFamily="2" charset="-122"/>
              </a:rPr>
              <a:t>最大值</a:t>
            </a:r>
            <a:r>
              <a:rPr lang="zh-CN" altLang="en-US" sz="2400" kern="100" dirty="0" smtClean="0">
                <a:solidFill>
                  <a:srgbClr val="00B050"/>
                </a:solidFill>
                <a:latin typeface="Times New Roman" panose="02020603050405020304" pitchFamily="18" charset="0"/>
                <a:ea typeface="宋体" panose="02010600030101010101" pitchFamily="2" charset="-122"/>
              </a:rPr>
              <a:t>；</a:t>
            </a:r>
            <a:endParaRPr lang="en-US" altLang="zh-CN" sz="2400" kern="100" dirty="0" smtClean="0">
              <a:solidFill>
                <a:srgbClr val="00B050"/>
              </a:solidFill>
              <a:latin typeface="Times New Roman" panose="02020603050405020304" pitchFamily="18" charset="0"/>
              <a:ea typeface="宋体" panose="02010600030101010101" pitchFamily="2" charset="-122"/>
            </a:endParaRPr>
          </a:p>
          <a:p>
            <a:pPr marL="828675" lvl="1" indent="-200025" algn="just">
              <a:lnSpc>
                <a:spcPct val="110000"/>
              </a:lnSpc>
              <a:spcBef>
                <a:spcPts val="600"/>
              </a:spcBef>
              <a:spcAft>
                <a:spcPts val="0"/>
              </a:spcAft>
              <a:buClr>
                <a:srgbClr val="00B050"/>
              </a:buClr>
              <a:buSzPct val="70000"/>
              <a:buFont typeface="Wingdings" panose="05000000000000000000" pitchFamily="2" charset="2"/>
              <a:buChar char="l"/>
            </a:pPr>
            <a:r>
              <a:rPr lang="zh-CN" altLang="en-US" sz="2400" kern="100" dirty="0" smtClean="0">
                <a:solidFill>
                  <a:srgbClr val="00B050"/>
                </a:solidFill>
                <a:latin typeface="Times New Roman" panose="02020603050405020304" pitchFamily="18" charset="0"/>
                <a:ea typeface="宋体" panose="02010600030101010101" pitchFamily="2" charset="-122"/>
              </a:rPr>
              <a:t>若 </a:t>
            </a:r>
            <a:r>
              <a:rPr lang="zh-CN" altLang="zh-CN" sz="2400" kern="100" dirty="0" smtClean="0">
                <a:solidFill>
                  <a:srgbClr val="00B050"/>
                </a:solidFill>
                <a:latin typeface="Times New Roman" panose="02020603050405020304" pitchFamily="18" charset="0"/>
                <a:ea typeface="宋体" panose="02010600030101010101" pitchFamily="2" charset="-122"/>
              </a:rPr>
              <a:t>最大值</a:t>
            </a:r>
            <a:r>
              <a:rPr lang="en-US" altLang="zh-CN" sz="2400" kern="100" dirty="0">
                <a:solidFill>
                  <a:srgbClr val="00B050"/>
                </a:solidFill>
                <a:latin typeface="Arial Black" panose="020B0A04020102020204" pitchFamily="34" charset="0"/>
                <a:ea typeface="宋体" panose="02010600030101010101" pitchFamily="2" charset="-122"/>
              </a:rPr>
              <a:t>-</a:t>
            </a:r>
            <a:r>
              <a:rPr lang="en-US" altLang="zh-CN" sz="2400" kern="100" dirty="0">
                <a:solidFill>
                  <a:srgbClr val="00B050"/>
                </a:solidFill>
                <a:latin typeface="Times New Roman" panose="02020603050405020304" pitchFamily="18" charset="0"/>
                <a:ea typeface="宋体" panose="02010600030101010101" pitchFamily="2" charset="-122"/>
              </a:rPr>
              <a:t>Q</a:t>
            </a:r>
            <a:r>
              <a:rPr lang="en-US" altLang="zh-CN" sz="2400" kern="100" baseline="-25000" dirty="0">
                <a:solidFill>
                  <a:srgbClr val="00B050"/>
                </a:solidFill>
                <a:latin typeface="Times New Roman" panose="02020603050405020304" pitchFamily="18" charset="0"/>
                <a:ea typeface="宋体" panose="02010600030101010101" pitchFamily="2" charset="-122"/>
              </a:rPr>
              <a:t>3</a:t>
            </a:r>
            <a:r>
              <a:rPr lang="en-US" altLang="zh-CN" sz="2400" kern="100" dirty="0" smtClean="0">
                <a:solidFill>
                  <a:srgbClr val="00B050"/>
                </a:solidFill>
                <a:latin typeface="Times New Roman" panose="02020603050405020304" pitchFamily="18" charset="0"/>
                <a:ea typeface="宋体" panose="02010600030101010101" pitchFamily="2" charset="-122"/>
              </a:rPr>
              <a:t>&gt;1.5Q</a:t>
            </a:r>
            <a:r>
              <a:rPr lang="en-US" altLang="zh-CN" sz="2400" kern="100" baseline="-25000" dirty="0" smtClean="0">
                <a:solidFill>
                  <a:srgbClr val="00B050"/>
                </a:solidFill>
                <a:latin typeface="Times New Roman" panose="02020603050405020304" pitchFamily="18" charset="0"/>
                <a:ea typeface="宋体" panose="02010600030101010101" pitchFamily="2" charset="-122"/>
              </a:rPr>
              <a:t>D</a:t>
            </a:r>
            <a:r>
              <a:rPr lang="zh-CN" altLang="en-US" sz="2400" kern="100" dirty="0">
                <a:solidFill>
                  <a:srgbClr val="00B050"/>
                </a:solidFill>
                <a:latin typeface="Times New Roman" panose="02020603050405020304" pitchFamily="18" charset="0"/>
                <a:ea typeface="宋体" panose="02010600030101010101" pitchFamily="2" charset="-122"/>
              </a:rPr>
              <a:t>，上边缘</a:t>
            </a:r>
            <a:r>
              <a:rPr lang="en-US" altLang="zh-CN" sz="2400" kern="100" dirty="0" smtClean="0">
                <a:solidFill>
                  <a:srgbClr val="00B050"/>
                </a:solidFill>
                <a:latin typeface="Times New Roman" panose="02020603050405020304" pitchFamily="18" charset="0"/>
                <a:ea typeface="宋体" panose="02010600030101010101" pitchFamily="2" charset="-122"/>
              </a:rPr>
              <a:t>=</a:t>
            </a:r>
            <a:r>
              <a:rPr lang="en-US" altLang="zh-CN" sz="2400" kern="100" dirty="0">
                <a:solidFill>
                  <a:srgbClr val="00B050"/>
                </a:solidFill>
                <a:latin typeface="Times New Roman" panose="02020603050405020304" pitchFamily="18" charset="0"/>
                <a:ea typeface="宋体" panose="02010600030101010101" pitchFamily="2" charset="-122"/>
              </a:rPr>
              <a:t> </a:t>
            </a:r>
            <a:r>
              <a:rPr lang="en-US" altLang="zh-CN" sz="2400" kern="100" dirty="0" smtClean="0">
                <a:solidFill>
                  <a:srgbClr val="00B050"/>
                </a:solidFill>
                <a:latin typeface="Times New Roman" panose="02020603050405020304" pitchFamily="18" charset="0"/>
                <a:ea typeface="宋体" panose="02010600030101010101" pitchFamily="2" charset="-122"/>
              </a:rPr>
              <a:t>Q</a:t>
            </a:r>
            <a:r>
              <a:rPr lang="en-US" altLang="zh-CN" sz="2400" kern="100" baseline="-25000" dirty="0" smtClean="0">
                <a:solidFill>
                  <a:srgbClr val="00B050"/>
                </a:solidFill>
                <a:latin typeface="Times New Roman" panose="02020603050405020304" pitchFamily="18" charset="0"/>
                <a:ea typeface="宋体" panose="02010600030101010101" pitchFamily="2" charset="-122"/>
              </a:rPr>
              <a:t>3</a:t>
            </a:r>
            <a:r>
              <a:rPr lang="en-US" altLang="zh-CN" sz="2400" kern="100" dirty="0" smtClean="0">
                <a:solidFill>
                  <a:srgbClr val="00B050"/>
                </a:solidFill>
                <a:latin typeface="Times New Roman" panose="02020603050405020304" pitchFamily="18" charset="0"/>
                <a:ea typeface="宋体" panose="02010600030101010101" pitchFamily="2" charset="-122"/>
              </a:rPr>
              <a:t>+1.5Q</a:t>
            </a:r>
            <a:r>
              <a:rPr lang="en-US" altLang="zh-CN" sz="2400" kern="100" baseline="-25000" dirty="0" smtClean="0">
                <a:solidFill>
                  <a:srgbClr val="00B050"/>
                </a:solidFill>
                <a:latin typeface="Times New Roman" panose="02020603050405020304" pitchFamily="18" charset="0"/>
                <a:ea typeface="宋体" panose="02010600030101010101" pitchFamily="2" charset="-122"/>
              </a:rPr>
              <a:t>D</a:t>
            </a:r>
            <a:endParaRPr lang="en-US" altLang="zh-CN" sz="2400" kern="100" dirty="0" smtClean="0">
              <a:solidFill>
                <a:srgbClr val="00B050"/>
              </a:solidFill>
              <a:latin typeface="Times New Roman" panose="02020603050405020304" pitchFamily="18" charset="0"/>
              <a:ea typeface="宋体" panose="02010600030101010101" pitchFamily="2" charset="-122"/>
            </a:endParaRPr>
          </a:p>
          <a:p>
            <a:pPr marL="485775" lvl="1" indent="0" algn="just">
              <a:lnSpc>
                <a:spcPct val="110000"/>
              </a:lnSpc>
              <a:spcBef>
                <a:spcPts val="600"/>
              </a:spcBef>
              <a:spcAft>
                <a:spcPts val="0"/>
              </a:spcAft>
              <a:buNone/>
            </a:pPr>
            <a:r>
              <a:rPr lang="zh-CN" altLang="en-US" sz="2000" kern="100" dirty="0" smtClean="0">
                <a:latin typeface="Times New Roman" panose="02020603050405020304" pitchFamily="18" charset="0"/>
                <a:ea typeface="宋体" panose="02010600030101010101" pitchFamily="2" charset="-122"/>
              </a:rPr>
              <a:t>同理，</a:t>
            </a:r>
            <a:r>
              <a:rPr lang="zh-CN" altLang="en-US" sz="2000" kern="100" dirty="0">
                <a:solidFill>
                  <a:srgbClr val="002060"/>
                </a:solidFill>
                <a:latin typeface="Times New Roman" panose="02020603050405020304" pitchFamily="18" charset="0"/>
                <a:ea typeface="宋体" panose="02010600030101010101" pitchFamily="2" charset="-122"/>
              </a:rPr>
              <a:t>若 </a:t>
            </a:r>
            <a:r>
              <a:rPr lang="zh-CN" altLang="zh-CN" sz="2000" kern="100" dirty="0" smtClean="0">
                <a:solidFill>
                  <a:srgbClr val="002060"/>
                </a:solidFill>
                <a:latin typeface="Times New Roman" panose="02020603050405020304" pitchFamily="18" charset="0"/>
                <a:ea typeface="宋体" panose="02010600030101010101" pitchFamily="2" charset="-122"/>
              </a:rPr>
              <a:t>最</a:t>
            </a:r>
            <a:r>
              <a:rPr lang="zh-CN" altLang="en-US" sz="2000" kern="100" dirty="0" smtClean="0">
                <a:solidFill>
                  <a:srgbClr val="002060"/>
                </a:solidFill>
                <a:latin typeface="Times New Roman" panose="02020603050405020304" pitchFamily="18" charset="0"/>
                <a:ea typeface="宋体" panose="02010600030101010101" pitchFamily="2" charset="-122"/>
              </a:rPr>
              <a:t>小</a:t>
            </a:r>
            <a:r>
              <a:rPr lang="zh-CN" altLang="zh-CN" sz="2000" kern="100" dirty="0" smtClean="0">
                <a:solidFill>
                  <a:srgbClr val="002060"/>
                </a:solidFill>
                <a:latin typeface="Times New Roman" panose="02020603050405020304" pitchFamily="18" charset="0"/>
                <a:ea typeface="宋体" panose="02010600030101010101" pitchFamily="2" charset="-122"/>
              </a:rPr>
              <a:t>值</a:t>
            </a:r>
            <a:r>
              <a:rPr lang="en-US" altLang="zh-CN" sz="2000" kern="100" dirty="0">
                <a:solidFill>
                  <a:srgbClr val="002060"/>
                </a:solidFill>
                <a:latin typeface="Arial Black" panose="020B0A04020102020204" pitchFamily="34" charset="0"/>
                <a:ea typeface="宋体" panose="02010600030101010101" pitchFamily="2" charset="-122"/>
              </a:rPr>
              <a:t>-</a:t>
            </a:r>
            <a:r>
              <a:rPr lang="en-US" altLang="zh-CN" sz="2000" kern="100" dirty="0" smtClean="0">
                <a:solidFill>
                  <a:srgbClr val="002060"/>
                </a:solidFill>
                <a:latin typeface="Times New Roman" panose="02020603050405020304" pitchFamily="18" charset="0"/>
                <a:ea typeface="宋体" panose="02010600030101010101" pitchFamily="2" charset="-122"/>
              </a:rPr>
              <a:t>Q</a:t>
            </a:r>
            <a:r>
              <a:rPr lang="en-US" altLang="zh-CN" sz="2000" kern="100" baseline="-25000" dirty="0" smtClean="0">
                <a:solidFill>
                  <a:srgbClr val="002060"/>
                </a:solidFill>
                <a:latin typeface="Times New Roman" panose="02020603050405020304" pitchFamily="18" charset="0"/>
                <a:ea typeface="宋体" panose="02010600030101010101" pitchFamily="2" charset="-122"/>
              </a:rPr>
              <a:t>1</a:t>
            </a:r>
            <a:r>
              <a:rPr lang="zh-CN" altLang="en-US" sz="2000" kern="100" dirty="0" smtClean="0">
                <a:solidFill>
                  <a:srgbClr val="002060"/>
                </a:solidFill>
                <a:latin typeface="Times New Roman" panose="02020603050405020304" pitchFamily="18" charset="0"/>
                <a:ea typeface="宋体" panose="02010600030101010101" pitchFamily="2" charset="-122"/>
              </a:rPr>
              <a:t>≤</a:t>
            </a:r>
            <a:r>
              <a:rPr lang="en-US" altLang="zh-CN" sz="2000" kern="100" dirty="0">
                <a:solidFill>
                  <a:srgbClr val="002060"/>
                </a:solidFill>
                <a:latin typeface="Times New Roman" panose="02020603050405020304" pitchFamily="18" charset="0"/>
                <a:ea typeface="宋体" panose="02010600030101010101" pitchFamily="2" charset="-122"/>
              </a:rPr>
              <a:t>1.5Q</a:t>
            </a:r>
            <a:r>
              <a:rPr lang="en-US" altLang="zh-CN" sz="2000" kern="100" baseline="-25000" dirty="0">
                <a:solidFill>
                  <a:srgbClr val="002060"/>
                </a:solidFill>
                <a:latin typeface="Times New Roman" panose="02020603050405020304" pitchFamily="18" charset="0"/>
                <a:ea typeface="宋体" panose="02010600030101010101" pitchFamily="2" charset="-122"/>
              </a:rPr>
              <a:t>D</a:t>
            </a:r>
            <a:r>
              <a:rPr lang="zh-CN" altLang="en-US" sz="2000" kern="100" dirty="0" smtClean="0">
                <a:solidFill>
                  <a:srgbClr val="002060"/>
                </a:solidFill>
                <a:latin typeface="Times New Roman" panose="02020603050405020304" pitchFamily="18" charset="0"/>
                <a:ea typeface="宋体" panose="02010600030101010101" pitchFamily="2" charset="-122"/>
              </a:rPr>
              <a:t>，下边缘</a:t>
            </a:r>
            <a:r>
              <a:rPr lang="en-US" altLang="zh-CN" sz="2000" kern="100" dirty="0">
                <a:solidFill>
                  <a:srgbClr val="002060"/>
                </a:solidFill>
                <a:latin typeface="Times New Roman" panose="02020603050405020304" pitchFamily="18" charset="0"/>
                <a:ea typeface="宋体" panose="02010600030101010101" pitchFamily="2" charset="-122"/>
              </a:rPr>
              <a:t>=</a:t>
            </a:r>
            <a:r>
              <a:rPr lang="zh-CN" altLang="zh-CN" sz="2000" kern="100" dirty="0" smtClean="0">
                <a:solidFill>
                  <a:srgbClr val="002060"/>
                </a:solidFill>
                <a:latin typeface="Times New Roman" panose="02020603050405020304" pitchFamily="18" charset="0"/>
                <a:ea typeface="宋体" panose="02010600030101010101" pitchFamily="2" charset="-122"/>
              </a:rPr>
              <a:t>最</a:t>
            </a:r>
            <a:r>
              <a:rPr lang="zh-CN" altLang="en-US" sz="2000" kern="100" dirty="0" smtClean="0">
                <a:solidFill>
                  <a:srgbClr val="002060"/>
                </a:solidFill>
                <a:latin typeface="Times New Roman" panose="02020603050405020304" pitchFamily="18" charset="0"/>
                <a:ea typeface="宋体" panose="02010600030101010101" pitchFamily="2" charset="-122"/>
              </a:rPr>
              <a:t>小</a:t>
            </a:r>
            <a:r>
              <a:rPr lang="zh-CN" altLang="zh-CN" sz="2000" kern="100" dirty="0" smtClean="0">
                <a:solidFill>
                  <a:srgbClr val="002060"/>
                </a:solidFill>
                <a:latin typeface="Times New Roman" panose="02020603050405020304" pitchFamily="18" charset="0"/>
                <a:ea typeface="宋体" panose="02010600030101010101" pitchFamily="2" charset="-122"/>
              </a:rPr>
              <a:t>值</a:t>
            </a:r>
            <a:r>
              <a:rPr lang="zh-CN" altLang="en-US" sz="2000" kern="100" dirty="0">
                <a:solidFill>
                  <a:srgbClr val="002060"/>
                </a:solidFill>
                <a:latin typeface="Times New Roman" panose="02020603050405020304" pitchFamily="18" charset="0"/>
                <a:ea typeface="宋体" panose="02010600030101010101" pitchFamily="2" charset="-122"/>
              </a:rPr>
              <a:t>；</a:t>
            </a:r>
            <a:endParaRPr lang="en-US" altLang="zh-CN" sz="2000" kern="100" dirty="0">
              <a:solidFill>
                <a:srgbClr val="002060"/>
              </a:solidFill>
              <a:latin typeface="Times New Roman" panose="02020603050405020304" pitchFamily="18" charset="0"/>
              <a:ea typeface="宋体" panose="02010600030101010101" pitchFamily="2" charset="-122"/>
            </a:endParaRPr>
          </a:p>
          <a:p>
            <a:pPr marL="485775" lvl="1" indent="0" algn="just">
              <a:lnSpc>
                <a:spcPct val="110000"/>
              </a:lnSpc>
              <a:spcBef>
                <a:spcPts val="600"/>
              </a:spcBef>
              <a:spcAft>
                <a:spcPts val="0"/>
              </a:spcAft>
              <a:buNone/>
            </a:pPr>
            <a:r>
              <a:rPr lang="zh-CN" altLang="en-US" sz="2000" kern="100" dirty="0" smtClean="0">
                <a:solidFill>
                  <a:srgbClr val="002060"/>
                </a:solidFill>
                <a:latin typeface="Times New Roman" panose="02020603050405020304" pitchFamily="18" charset="0"/>
                <a:ea typeface="宋体" panose="02010600030101010101" pitchFamily="2" charset="-122"/>
              </a:rPr>
              <a:t>            若 </a:t>
            </a:r>
            <a:r>
              <a:rPr lang="zh-CN" altLang="zh-CN" sz="2000" kern="100" dirty="0" smtClean="0">
                <a:solidFill>
                  <a:srgbClr val="002060"/>
                </a:solidFill>
                <a:latin typeface="Times New Roman" panose="02020603050405020304" pitchFamily="18" charset="0"/>
                <a:ea typeface="宋体" panose="02010600030101010101" pitchFamily="2" charset="-122"/>
              </a:rPr>
              <a:t>最</a:t>
            </a:r>
            <a:r>
              <a:rPr lang="zh-CN" altLang="en-US" sz="2000" kern="100" dirty="0" smtClean="0">
                <a:solidFill>
                  <a:srgbClr val="002060"/>
                </a:solidFill>
                <a:latin typeface="Times New Roman" panose="02020603050405020304" pitchFamily="18" charset="0"/>
                <a:ea typeface="宋体" panose="02010600030101010101" pitchFamily="2" charset="-122"/>
              </a:rPr>
              <a:t>小</a:t>
            </a:r>
            <a:r>
              <a:rPr lang="zh-CN" altLang="zh-CN" sz="2000" kern="100" dirty="0" smtClean="0">
                <a:solidFill>
                  <a:srgbClr val="002060"/>
                </a:solidFill>
                <a:latin typeface="Times New Roman" panose="02020603050405020304" pitchFamily="18" charset="0"/>
                <a:ea typeface="宋体" panose="02010600030101010101" pitchFamily="2" charset="-122"/>
              </a:rPr>
              <a:t>值</a:t>
            </a:r>
            <a:r>
              <a:rPr lang="en-US" altLang="zh-CN" sz="2000" kern="100" dirty="0">
                <a:solidFill>
                  <a:srgbClr val="002060"/>
                </a:solidFill>
                <a:latin typeface="Arial Black" panose="020B0A04020102020204" pitchFamily="34" charset="0"/>
                <a:ea typeface="宋体" panose="02010600030101010101" pitchFamily="2" charset="-122"/>
              </a:rPr>
              <a:t>-</a:t>
            </a:r>
            <a:r>
              <a:rPr lang="en-US" altLang="zh-CN" sz="2000" kern="100" dirty="0" smtClean="0">
                <a:solidFill>
                  <a:srgbClr val="002060"/>
                </a:solidFill>
                <a:latin typeface="Times New Roman" panose="02020603050405020304" pitchFamily="18" charset="0"/>
                <a:ea typeface="宋体" panose="02010600030101010101" pitchFamily="2" charset="-122"/>
              </a:rPr>
              <a:t>Q</a:t>
            </a:r>
            <a:r>
              <a:rPr lang="en-US" altLang="zh-CN" sz="2000" kern="100" baseline="-25000" dirty="0" smtClean="0">
                <a:solidFill>
                  <a:srgbClr val="002060"/>
                </a:solidFill>
                <a:latin typeface="Times New Roman" panose="02020603050405020304" pitchFamily="18" charset="0"/>
                <a:ea typeface="宋体" panose="02010600030101010101" pitchFamily="2" charset="-122"/>
              </a:rPr>
              <a:t>1</a:t>
            </a:r>
            <a:r>
              <a:rPr lang="en-US" altLang="zh-CN" sz="2000" kern="100" dirty="0" smtClean="0">
                <a:solidFill>
                  <a:srgbClr val="002060"/>
                </a:solidFill>
                <a:latin typeface="Times New Roman" panose="02020603050405020304" pitchFamily="18" charset="0"/>
                <a:ea typeface="宋体" panose="02010600030101010101" pitchFamily="2" charset="-122"/>
              </a:rPr>
              <a:t>&gt;1.5Q</a:t>
            </a:r>
            <a:r>
              <a:rPr lang="en-US" altLang="zh-CN" sz="2000" kern="100" baseline="-25000" dirty="0" smtClean="0">
                <a:solidFill>
                  <a:srgbClr val="002060"/>
                </a:solidFill>
                <a:latin typeface="Times New Roman" panose="02020603050405020304" pitchFamily="18" charset="0"/>
                <a:ea typeface="宋体" panose="02010600030101010101" pitchFamily="2" charset="-122"/>
              </a:rPr>
              <a:t>D</a:t>
            </a:r>
            <a:r>
              <a:rPr lang="zh-CN" altLang="en-US" sz="2000" kern="100" dirty="0" smtClean="0">
                <a:solidFill>
                  <a:srgbClr val="002060"/>
                </a:solidFill>
                <a:latin typeface="Times New Roman" panose="02020603050405020304" pitchFamily="18" charset="0"/>
                <a:ea typeface="宋体" panose="02010600030101010101" pitchFamily="2" charset="-122"/>
              </a:rPr>
              <a:t>，下边缘</a:t>
            </a:r>
            <a:r>
              <a:rPr lang="en-US" altLang="zh-CN" sz="2000" kern="100" dirty="0">
                <a:solidFill>
                  <a:srgbClr val="002060"/>
                </a:solidFill>
                <a:latin typeface="Times New Roman" panose="02020603050405020304" pitchFamily="18" charset="0"/>
                <a:ea typeface="宋体" panose="02010600030101010101" pitchFamily="2" charset="-122"/>
              </a:rPr>
              <a:t>= </a:t>
            </a:r>
            <a:r>
              <a:rPr lang="en-US" altLang="zh-CN" sz="2000" kern="100" dirty="0" smtClean="0">
                <a:solidFill>
                  <a:srgbClr val="002060"/>
                </a:solidFill>
                <a:latin typeface="Times New Roman" panose="02020603050405020304" pitchFamily="18" charset="0"/>
                <a:ea typeface="宋体" panose="02010600030101010101" pitchFamily="2" charset="-122"/>
              </a:rPr>
              <a:t>Q</a:t>
            </a:r>
            <a:r>
              <a:rPr lang="en-US" altLang="zh-CN" sz="2000" kern="100" baseline="-25000" dirty="0" smtClean="0">
                <a:solidFill>
                  <a:srgbClr val="002060"/>
                </a:solidFill>
                <a:latin typeface="Times New Roman" panose="02020603050405020304" pitchFamily="18" charset="0"/>
                <a:ea typeface="宋体" panose="02010600030101010101" pitchFamily="2" charset="-122"/>
              </a:rPr>
              <a:t>1</a:t>
            </a:r>
            <a:r>
              <a:rPr lang="en-US" altLang="zh-CN" sz="2000" kern="100" dirty="0" smtClean="0">
                <a:solidFill>
                  <a:srgbClr val="002060"/>
                </a:solidFill>
                <a:latin typeface="Times New Roman" panose="02020603050405020304" pitchFamily="18" charset="0"/>
                <a:ea typeface="宋体" panose="02010600030101010101" pitchFamily="2" charset="-122"/>
              </a:rPr>
              <a:t>-1.5Q</a:t>
            </a:r>
            <a:r>
              <a:rPr lang="en-US" altLang="zh-CN" sz="2000" kern="100" baseline="-25000" dirty="0" smtClean="0">
                <a:solidFill>
                  <a:srgbClr val="002060"/>
                </a:solidFill>
                <a:latin typeface="Times New Roman" panose="02020603050405020304" pitchFamily="18" charset="0"/>
                <a:ea typeface="宋体" panose="02010600030101010101" pitchFamily="2" charset="-122"/>
              </a:rPr>
              <a:t>D</a:t>
            </a:r>
            <a:r>
              <a:rPr lang="zh-CN" altLang="en-US" sz="2000" kern="100" baseline="-25000" dirty="0" smtClean="0">
                <a:solidFill>
                  <a:srgbClr val="002060"/>
                </a:solidFill>
                <a:latin typeface="Times New Roman" panose="02020603050405020304" pitchFamily="18" charset="0"/>
                <a:ea typeface="宋体" panose="02010600030101010101" pitchFamily="2" charset="-122"/>
              </a:rPr>
              <a:t>。</a:t>
            </a:r>
            <a:endParaRPr lang="en-US" altLang="zh-CN" sz="2000" kern="100" dirty="0" smtClean="0">
              <a:solidFill>
                <a:srgbClr val="002060"/>
              </a:solidFill>
              <a:latin typeface="Times New Roman" panose="02020603050405020304" pitchFamily="18" charset="0"/>
              <a:ea typeface="宋体" panose="02010600030101010101" pitchFamily="2" charset="-122"/>
            </a:endParaRPr>
          </a:p>
          <a:p>
            <a:pPr marL="808038" lvl="1" indent="-630238" algn="just">
              <a:lnSpc>
                <a:spcPct val="110000"/>
              </a:lnSpc>
              <a:spcBef>
                <a:spcPts val="600"/>
              </a:spcBef>
              <a:spcAft>
                <a:spcPts val="0"/>
              </a:spcAft>
              <a:buNone/>
            </a:pPr>
            <a:r>
              <a:rPr lang="zh-CN" altLang="zh-CN" sz="2400" kern="100" dirty="0" smtClean="0">
                <a:solidFill>
                  <a:srgbClr val="000000"/>
                </a:solidFill>
                <a:latin typeface="Times New Roman" panose="02020603050405020304" pitchFamily="18" charset="0"/>
                <a:ea typeface="宋体" panose="02010600030101010101" pitchFamily="2" charset="-122"/>
              </a:rPr>
              <a:t>（</a:t>
            </a:r>
            <a:r>
              <a:rPr lang="en-US" altLang="zh-CN" sz="2400" kern="100" dirty="0">
                <a:solidFill>
                  <a:srgbClr val="000000"/>
                </a:solidFill>
                <a:latin typeface="Times New Roman" panose="02020603050405020304" pitchFamily="18" charset="0"/>
                <a:ea typeface="宋体" panose="02010600030101010101" pitchFamily="2" charset="-122"/>
              </a:rPr>
              <a:t>4</a:t>
            </a:r>
            <a:r>
              <a:rPr lang="zh-CN" altLang="zh-CN" sz="2400" kern="100" dirty="0" smtClean="0">
                <a:solidFill>
                  <a:srgbClr val="000000"/>
                </a:solidFill>
                <a:latin typeface="Times New Roman" panose="02020603050405020304" pitchFamily="18" charset="0"/>
                <a:ea typeface="宋体" panose="02010600030101010101" pitchFamily="2" charset="-122"/>
              </a:rPr>
              <a:t>）</a:t>
            </a:r>
            <a:r>
              <a:rPr lang="zh-CN" altLang="en-US" sz="2400" dirty="0">
                <a:solidFill>
                  <a:srgbClr val="C00000"/>
                </a:solidFill>
              </a:rPr>
              <a:t>离群点</a:t>
            </a:r>
            <a:r>
              <a:rPr lang="zh-CN" altLang="en-US" sz="2000" dirty="0"/>
              <a:t>（</a:t>
            </a:r>
            <a:r>
              <a:rPr lang="zh-CN" altLang="en-US" sz="2200" dirty="0"/>
              <a:t>超越上、下界的变量值</a:t>
            </a:r>
            <a:r>
              <a:rPr lang="zh-CN" altLang="en-US" sz="2000" dirty="0"/>
              <a:t>）</a:t>
            </a:r>
            <a:r>
              <a:rPr lang="zh-CN" altLang="en-US" sz="2400" kern="100" dirty="0" smtClean="0">
                <a:solidFill>
                  <a:srgbClr val="000000"/>
                </a:solidFill>
                <a:latin typeface="Times New Roman" panose="02020603050405020304" pitchFamily="18" charset="0"/>
                <a:ea typeface="宋体" panose="02010600030101010101" pitchFamily="2" charset="-122"/>
              </a:rPr>
              <a:t>在</a:t>
            </a:r>
            <a:r>
              <a:rPr lang="zh-CN" altLang="en-US" sz="2400" kern="100" dirty="0">
                <a:solidFill>
                  <a:srgbClr val="000000"/>
                </a:solidFill>
                <a:latin typeface="Times New Roman" panose="02020603050405020304" pitchFamily="18" charset="0"/>
                <a:ea typeface="宋体" panose="02010600030101010101" pitchFamily="2" charset="-122"/>
              </a:rPr>
              <a:t>箱体的</a:t>
            </a:r>
            <a:r>
              <a:rPr lang="zh-CN" altLang="en-US" sz="2400" kern="100" dirty="0" smtClean="0">
                <a:solidFill>
                  <a:srgbClr val="000000"/>
                </a:solidFill>
                <a:latin typeface="Times New Roman" panose="02020603050405020304" pitchFamily="18" charset="0"/>
                <a:ea typeface="宋体" panose="02010600030101010101" pitchFamily="2" charset="-122"/>
              </a:rPr>
              <a:t>上、下方</a:t>
            </a:r>
            <a:r>
              <a:rPr lang="zh-CN" altLang="en-US" sz="2400" dirty="0"/>
              <a:t>用小圆圈</a:t>
            </a:r>
            <a:r>
              <a:rPr lang="zh-CN" altLang="en-US" sz="2400" dirty="0" smtClean="0"/>
              <a:t>表示。</a:t>
            </a:r>
            <a:endParaRPr lang="zh-CN" altLang="en-US" sz="2400" dirty="0">
              <a:solidFill>
                <a:srgbClr val="000000"/>
              </a:solidFill>
            </a:endParaRPr>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140</a:t>
            </a:fld>
            <a:endParaRPr lang="en-US" altLang="zh-CN" dirty="0"/>
          </a:p>
        </p:txBody>
      </p:sp>
    </p:spTree>
    <p:extLst>
      <p:ext uri="{BB962C8B-B14F-4D97-AF65-F5344CB8AC3E}">
        <p14:creationId xmlns:p14="http://schemas.microsoft.com/office/powerpoint/2010/main" val="22261394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up)">
                                      <p:cBhvr>
                                        <p:cTn id="15" dur="500"/>
                                        <p:tgtEl>
                                          <p:spTgt spid="3">
                                            <p:txEl>
                                              <p:pRg st="3" end="3"/>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up)">
                                      <p:cBhvr>
                                        <p:cTn id="18" dur="500"/>
                                        <p:tgtEl>
                                          <p:spTgt spid="3">
                                            <p:txEl>
                                              <p:pRg st="4" end="4"/>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up)">
                                      <p:cBhvr>
                                        <p:cTn id="21" dur="500"/>
                                        <p:tgtEl>
                                          <p:spTgt spid="3">
                                            <p:txEl>
                                              <p:pRg st="5" end="5"/>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up)">
                                      <p:cBhvr>
                                        <p:cTn id="24" dur="500"/>
                                        <p:tgtEl>
                                          <p:spTgt spid="3">
                                            <p:txEl>
                                              <p:pRg st="6" end="6"/>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up)">
                                      <p:cBhvr>
                                        <p:cTn id="27" dur="500"/>
                                        <p:tgtEl>
                                          <p:spTgt spid="3">
                                            <p:txEl>
                                              <p:pRg st="7" end="7"/>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ipe(up)">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0"/>
            <a:ext cx="7772400" cy="558552"/>
          </a:xfrm>
        </p:spPr>
        <p:txBody>
          <a:bodyPr/>
          <a:lstStyle/>
          <a:p>
            <a:r>
              <a:rPr lang="zh-CN" altLang="en-US" sz="3600" dirty="0"/>
              <a:t>图</a:t>
            </a:r>
            <a:r>
              <a:rPr lang="en-US" altLang="zh-CN" sz="3600" dirty="0" smtClean="0"/>
              <a:t>3.6  </a:t>
            </a:r>
            <a:r>
              <a:rPr lang="zh-CN" altLang="en-US" sz="3600" dirty="0" smtClean="0"/>
              <a:t>箱</a:t>
            </a:r>
            <a:r>
              <a:rPr lang="zh-CN" altLang="en-US" sz="3600" dirty="0"/>
              <a:t>线</a:t>
            </a:r>
            <a:r>
              <a:rPr lang="zh-CN" altLang="en-US" sz="3600" dirty="0" smtClean="0"/>
              <a:t>图</a:t>
            </a:r>
            <a:endParaRPr lang="zh-CN" altLang="en-US" sz="3600" dirty="0"/>
          </a:p>
        </p:txBody>
      </p:sp>
      <p:pic>
        <p:nvPicPr>
          <p:cNvPr id="5" name="SmartArt 占位符 4"/>
          <p:cNvPicPr>
            <a:picLocks noGrp="1" noChangeAspect="1"/>
          </p:cNvPicPr>
          <p:nvPr>
            <p:ph type="dgm" idx="1"/>
          </p:nvPr>
        </p:nvPicPr>
        <p:blipFill>
          <a:blip r:embed="rId2"/>
          <a:stretch>
            <a:fillRect/>
          </a:stretch>
        </p:blipFill>
        <p:spPr>
          <a:xfrm>
            <a:off x="1259632" y="557768"/>
            <a:ext cx="6686128" cy="5306144"/>
          </a:xfrm>
          <a:prstGeom prst="rect">
            <a:avLst/>
          </a:prstGeom>
        </p:spPr>
      </p:pic>
      <p:sp>
        <p:nvSpPr>
          <p:cNvPr id="6" name="矩形 5"/>
          <p:cNvSpPr/>
          <p:nvPr/>
        </p:nvSpPr>
        <p:spPr>
          <a:xfrm>
            <a:off x="827584" y="5863912"/>
            <a:ext cx="7632848" cy="498598"/>
          </a:xfrm>
          <a:prstGeom prst="rect">
            <a:avLst/>
          </a:prstGeom>
        </p:spPr>
        <p:txBody>
          <a:bodyPr wrap="square">
            <a:spAutoFit/>
          </a:bodyPr>
          <a:lstStyle/>
          <a:p>
            <a:pPr lvl="0">
              <a:lnSpc>
                <a:spcPct val="110000"/>
              </a:lnSpc>
              <a:spcBef>
                <a:spcPts val="600"/>
              </a:spcBef>
            </a:pPr>
            <a:r>
              <a:rPr lang="en-US" altLang="zh-CN" b="1" dirty="0">
                <a:solidFill>
                  <a:srgbClr val="0070C0"/>
                </a:solidFill>
                <a:latin typeface="宋体" pitchFamily="2" charset="-122"/>
                <a:ea typeface="宋体" pitchFamily="2" charset="-122"/>
              </a:rPr>
              <a:t>SPSS</a:t>
            </a:r>
            <a:r>
              <a:rPr lang="zh-CN" altLang="en-US" b="1" dirty="0">
                <a:solidFill>
                  <a:srgbClr val="0070C0"/>
                </a:solidFill>
                <a:latin typeface="宋体" pitchFamily="2" charset="-122"/>
                <a:ea typeface="宋体" pitchFamily="2" charset="-122"/>
              </a:rPr>
              <a:t>等软件可绘制箱线图</a:t>
            </a:r>
            <a:r>
              <a:rPr lang="en-US" altLang="zh-CN" b="1" dirty="0">
                <a:solidFill>
                  <a:srgbClr val="0070C0"/>
                </a:solidFill>
                <a:latin typeface="宋体" pitchFamily="2" charset="-122"/>
                <a:ea typeface="宋体" pitchFamily="2" charset="-122"/>
              </a:rPr>
              <a:t>——</a:t>
            </a:r>
            <a:r>
              <a:rPr lang="zh-CN" altLang="en-US" b="1" dirty="0">
                <a:solidFill>
                  <a:srgbClr val="0070C0"/>
                </a:solidFill>
                <a:latin typeface="宋体" pitchFamily="2" charset="-122"/>
                <a:ea typeface="宋体" pitchFamily="2" charset="-122"/>
              </a:rPr>
              <a:t>见二维码</a:t>
            </a:r>
            <a:r>
              <a:rPr lang="en-US" altLang="zh-CN" b="1" dirty="0">
                <a:solidFill>
                  <a:srgbClr val="0070C0"/>
                </a:solidFill>
                <a:latin typeface="宋体" pitchFamily="2" charset="-122"/>
                <a:ea typeface="宋体" pitchFamily="2" charset="-122"/>
              </a:rPr>
              <a:t>/</a:t>
            </a:r>
            <a:r>
              <a:rPr lang="zh-CN" altLang="en-US" b="1" dirty="0">
                <a:solidFill>
                  <a:srgbClr val="0070C0"/>
                </a:solidFill>
                <a:latin typeface="宋体" pitchFamily="2" charset="-122"/>
                <a:ea typeface="宋体" pitchFamily="2" charset="-122"/>
              </a:rPr>
              <a:t>学习通资料。</a:t>
            </a:r>
            <a:endParaRPr lang="zh-CN" altLang="en-US" sz="2800" b="1" dirty="0">
              <a:solidFill>
                <a:srgbClr val="0070C0"/>
              </a:solidFill>
              <a:latin typeface="宋体" pitchFamily="2" charset="-122"/>
              <a:ea typeface="宋体" pitchFamily="2" charset="-122"/>
            </a:endParaRPr>
          </a:p>
        </p:txBody>
      </p:sp>
    </p:spTree>
    <p:extLst>
      <p:ext uri="{BB962C8B-B14F-4D97-AF65-F5344CB8AC3E}">
        <p14:creationId xmlns:p14="http://schemas.microsoft.com/office/powerpoint/2010/main" val="3103475250"/>
      </p:ext>
    </p:extLst>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0"/>
            <a:ext cx="7772400" cy="990600"/>
          </a:xfrm>
        </p:spPr>
        <p:txBody>
          <a:bodyPr/>
          <a:lstStyle/>
          <a:p>
            <a:r>
              <a:rPr lang="zh-CN" altLang="en-US" dirty="0" smtClean="0"/>
              <a:t>箱线图的解读</a:t>
            </a:r>
            <a:endParaRPr lang="zh-CN" altLang="en-US" dirty="0"/>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142</a:t>
            </a:fld>
            <a:endParaRPr lang="en-US" altLang="zh-CN" dirty="0"/>
          </a:p>
        </p:txBody>
      </p:sp>
      <p:sp>
        <p:nvSpPr>
          <p:cNvPr id="5" name="内容占位符 2"/>
          <p:cNvSpPr txBox="1">
            <a:spLocks/>
          </p:cNvSpPr>
          <p:nvPr/>
        </p:nvSpPr>
        <p:spPr bwMode="auto">
          <a:xfrm>
            <a:off x="395536" y="908720"/>
            <a:ext cx="8497639" cy="54000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90000"/>
              <a:buBlip>
                <a:blip r:embed="rId2"/>
              </a:buBlip>
              <a:defRPr kumimoji="1" sz="3200" b="1">
                <a:solidFill>
                  <a:srgbClr val="C56B9E"/>
                </a:solidFill>
                <a:latin typeface="+mn-lt"/>
                <a:ea typeface="+mn-ea"/>
                <a:cs typeface="+mn-cs"/>
              </a:defRPr>
            </a:lvl1pPr>
            <a:lvl2pPr marL="742950" indent="-285750" algn="l" rtl="0" eaLnBrk="0" fontAlgn="base" hangingPunct="0">
              <a:spcBef>
                <a:spcPct val="20000"/>
              </a:spcBef>
              <a:spcAft>
                <a:spcPct val="0"/>
              </a:spcAft>
              <a:buSzPct val="80000"/>
              <a:buBlip>
                <a:blip r:embed="rId3"/>
              </a:buBlip>
              <a:defRPr kumimoji="1" sz="2800" b="1">
                <a:solidFill>
                  <a:srgbClr val="000000"/>
                </a:solidFill>
                <a:latin typeface="+mn-lt"/>
                <a:ea typeface="+mn-ea"/>
              </a:defRPr>
            </a:lvl2pPr>
            <a:lvl3pPr marL="1143000" indent="-228600" algn="l" rtl="0" eaLnBrk="0" fontAlgn="base" hangingPunct="0">
              <a:spcBef>
                <a:spcPct val="20000"/>
              </a:spcBef>
              <a:spcAft>
                <a:spcPct val="0"/>
              </a:spcAft>
              <a:buSzPct val="70000"/>
              <a:buBlip>
                <a:blip r:embed="rId4"/>
              </a:buBlip>
              <a:defRPr kumimoji="1" sz="2400" b="1">
                <a:solidFill>
                  <a:schemeClr val="tx2"/>
                </a:solidFill>
                <a:latin typeface="+mn-lt"/>
                <a:ea typeface="+mn-ea"/>
              </a:defRPr>
            </a:lvl3pPr>
            <a:lvl4pPr marL="1600200" indent="-228600" algn="l" rtl="0" eaLnBrk="0" fontAlgn="base" hangingPunct="0">
              <a:spcBef>
                <a:spcPct val="20000"/>
              </a:spcBef>
              <a:spcAft>
                <a:spcPct val="0"/>
              </a:spcAft>
              <a:buSzPct val="70000"/>
              <a:buBlip>
                <a:blip r:embed="rId5"/>
              </a:buBlip>
              <a:defRPr kumimoji="1" sz="2000" b="1">
                <a:solidFill>
                  <a:srgbClr val="006600"/>
                </a:solidFill>
                <a:latin typeface="+mn-lt"/>
                <a:ea typeface="+mn-ea"/>
              </a:defRPr>
            </a:lvl4pPr>
            <a:lvl5pPr marL="2057400" indent="-228600" algn="l" rtl="0" eaLnBrk="0" fontAlgn="base" hangingPunct="0">
              <a:spcBef>
                <a:spcPct val="20000"/>
              </a:spcBef>
              <a:spcAft>
                <a:spcPct val="0"/>
              </a:spcAft>
              <a:buSzPct val="70000"/>
              <a:buBlip>
                <a:blip r:embed="rId6"/>
              </a:buBlip>
              <a:defRPr kumimoji="1" sz="2000">
                <a:solidFill>
                  <a:schemeClr val="tx1"/>
                </a:solidFill>
                <a:latin typeface="+mn-lt"/>
                <a:ea typeface="+mn-ea"/>
              </a:defRPr>
            </a:lvl5pPr>
            <a:lvl6pPr marL="2514600" indent="-228600" algn="l" rtl="0" fontAlgn="base">
              <a:spcBef>
                <a:spcPct val="20000"/>
              </a:spcBef>
              <a:spcAft>
                <a:spcPct val="0"/>
              </a:spcAft>
              <a:buSzPct val="70000"/>
              <a:buBlip>
                <a:blip r:embed="rId6"/>
              </a:buBlip>
              <a:defRPr kumimoji="1" sz="2000">
                <a:solidFill>
                  <a:schemeClr val="tx1"/>
                </a:solidFill>
                <a:latin typeface="+mn-lt"/>
                <a:ea typeface="+mn-ea"/>
              </a:defRPr>
            </a:lvl6pPr>
            <a:lvl7pPr marL="2971800" indent="-228600" algn="l" rtl="0" fontAlgn="base">
              <a:spcBef>
                <a:spcPct val="20000"/>
              </a:spcBef>
              <a:spcAft>
                <a:spcPct val="0"/>
              </a:spcAft>
              <a:buSzPct val="70000"/>
              <a:buBlip>
                <a:blip r:embed="rId6"/>
              </a:buBlip>
              <a:defRPr kumimoji="1" sz="2000">
                <a:solidFill>
                  <a:schemeClr val="tx1"/>
                </a:solidFill>
                <a:latin typeface="+mn-lt"/>
                <a:ea typeface="+mn-ea"/>
              </a:defRPr>
            </a:lvl7pPr>
            <a:lvl8pPr marL="3429000" indent="-228600" algn="l" rtl="0" fontAlgn="base">
              <a:spcBef>
                <a:spcPct val="20000"/>
              </a:spcBef>
              <a:spcAft>
                <a:spcPct val="0"/>
              </a:spcAft>
              <a:buSzPct val="70000"/>
              <a:buBlip>
                <a:blip r:embed="rId6"/>
              </a:buBlip>
              <a:defRPr kumimoji="1" sz="2000">
                <a:solidFill>
                  <a:schemeClr val="tx1"/>
                </a:solidFill>
                <a:latin typeface="+mn-lt"/>
                <a:ea typeface="+mn-ea"/>
              </a:defRPr>
            </a:lvl8pPr>
            <a:lvl9pPr marL="3886200" indent="-228600" algn="l" rtl="0" fontAlgn="base">
              <a:spcBef>
                <a:spcPct val="20000"/>
              </a:spcBef>
              <a:spcAft>
                <a:spcPct val="0"/>
              </a:spcAft>
              <a:buSzPct val="70000"/>
              <a:buBlip>
                <a:blip r:embed="rId6"/>
              </a:buBlip>
              <a:defRPr kumimoji="1" sz="2000">
                <a:solidFill>
                  <a:schemeClr val="tx1"/>
                </a:solidFill>
                <a:latin typeface="+mn-lt"/>
                <a:ea typeface="+mn-ea"/>
              </a:defRPr>
            </a:lvl9pPr>
          </a:lstStyle>
          <a:p>
            <a:pPr>
              <a:spcBef>
                <a:spcPts val="600"/>
              </a:spcBef>
              <a:buClr>
                <a:srgbClr val="00B050"/>
              </a:buClr>
              <a:buSzPct val="74000"/>
              <a:buFont typeface="Wingdings" panose="05000000000000000000" pitchFamily="2" charset="2"/>
              <a:buChar char="l"/>
            </a:pPr>
            <a:r>
              <a:rPr lang="zh-CN" altLang="zh-CN" dirty="0">
                <a:solidFill>
                  <a:srgbClr val="0070C0"/>
                </a:solidFill>
              </a:rPr>
              <a:t>数据分布</a:t>
            </a:r>
            <a:r>
              <a:rPr lang="zh-CN" altLang="zh-CN" dirty="0" smtClean="0">
                <a:solidFill>
                  <a:srgbClr val="0070C0"/>
                </a:solidFill>
              </a:rPr>
              <a:t>的</a:t>
            </a:r>
            <a:r>
              <a:rPr lang="zh-CN" altLang="en-US" dirty="0" smtClean="0">
                <a:solidFill>
                  <a:srgbClr val="0070C0"/>
                </a:solidFill>
              </a:rPr>
              <a:t>集中趋势、一般水平</a:t>
            </a:r>
            <a:r>
              <a:rPr lang="en-US" altLang="zh-CN" sz="2800" dirty="0" smtClean="0">
                <a:solidFill>
                  <a:srgbClr val="002060"/>
                </a:solidFill>
              </a:rPr>
              <a:t>——</a:t>
            </a:r>
            <a:r>
              <a:rPr lang="en-US" altLang="zh-CN" sz="2800" i="1" kern="100" dirty="0" smtClean="0">
                <a:solidFill>
                  <a:srgbClr val="002060"/>
                </a:solidFill>
                <a:latin typeface="Times New Roman" panose="02020603050405020304" pitchFamily="18" charset="0"/>
                <a:ea typeface="宋体" panose="02010600030101010101" pitchFamily="2" charset="-122"/>
              </a:rPr>
              <a:t> </a:t>
            </a:r>
            <a:r>
              <a:rPr lang="en-US" altLang="zh-CN" sz="2800" i="1" kern="100" dirty="0">
                <a:solidFill>
                  <a:srgbClr val="002060"/>
                </a:solidFill>
                <a:latin typeface="Times New Roman" panose="02020603050405020304" pitchFamily="18" charset="0"/>
                <a:ea typeface="宋体" panose="02010600030101010101" pitchFamily="2" charset="-122"/>
              </a:rPr>
              <a:t>Me </a:t>
            </a:r>
            <a:r>
              <a:rPr lang="zh-CN" altLang="en-US" dirty="0" smtClean="0">
                <a:solidFill>
                  <a:srgbClr val="0070C0"/>
                </a:solidFill>
              </a:rPr>
              <a:t>；</a:t>
            </a:r>
            <a:endParaRPr lang="en-US" altLang="zh-CN" dirty="0" smtClean="0">
              <a:solidFill>
                <a:srgbClr val="0070C0"/>
              </a:solidFill>
            </a:endParaRPr>
          </a:p>
          <a:p>
            <a:pPr>
              <a:spcBef>
                <a:spcPts val="600"/>
              </a:spcBef>
              <a:buClr>
                <a:srgbClr val="00B050"/>
              </a:buClr>
              <a:buSzPct val="74000"/>
              <a:buFont typeface="Wingdings" panose="05000000000000000000" pitchFamily="2" charset="2"/>
              <a:buChar char="l"/>
            </a:pPr>
            <a:r>
              <a:rPr lang="zh-CN" altLang="zh-CN" dirty="0">
                <a:solidFill>
                  <a:srgbClr val="0070C0"/>
                </a:solidFill>
              </a:rPr>
              <a:t>数据分布</a:t>
            </a:r>
            <a:r>
              <a:rPr lang="zh-CN" altLang="zh-CN" dirty="0" smtClean="0">
                <a:solidFill>
                  <a:srgbClr val="0070C0"/>
                </a:solidFill>
              </a:rPr>
              <a:t>的</a:t>
            </a:r>
            <a:r>
              <a:rPr lang="zh-CN" altLang="en-US" dirty="0" smtClean="0">
                <a:solidFill>
                  <a:srgbClr val="0070C0"/>
                </a:solidFill>
              </a:rPr>
              <a:t>离散程度</a:t>
            </a:r>
            <a:r>
              <a:rPr lang="en-US" altLang="zh-CN" sz="2800" dirty="0" smtClean="0">
                <a:solidFill>
                  <a:srgbClr val="002060"/>
                </a:solidFill>
              </a:rPr>
              <a:t>——</a:t>
            </a:r>
            <a:r>
              <a:rPr lang="zh-CN" altLang="en-US" sz="2800" dirty="0" smtClean="0">
                <a:solidFill>
                  <a:srgbClr val="002060"/>
                </a:solidFill>
              </a:rPr>
              <a:t>箱体长度</a:t>
            </a:r>
            <a:r>
              <a:rPr lang="zh-CN" altLang="en-US" sz="2400" dirty="0" smtClean="0">
                <a:solidFill>
                  <a:srgbClr val="002060"/>
                </a:solidFill>
              </a:rPr>
              <a:t>（</a:t>
            </a:r>
            <a:r>
              <a:rPr lang="zh-CN" altLang="zh-CN" sz="2400" dirty="0" smtClean="0">
                <a:solidFill>
                  <a:srgbClr val="002060"/>
                </a:solidFill>
              </a:rPr>
              <a:t>四</a:t>
            </a:r>
            <a:r>
              <a:rPr lang="zh-CN" altLang="zh-CN" sz="2400" dirty="0">
                <a:solidFill>
                  <a:srgbClr val="002060"/>
                </a:solidFill>
              </a:rPr>
              <a:t>分位</a:t>
            </a:r>
            <a:r>
              <a:rPr lang="zh-CN" altLang="zh-CN" sz="2400" dirty="0" smtClean="0">
                <a:solidFill>
                  <a:srgbClr val="002060"/>
                </a:solidFill>
              </a:rPr>
              <a:t>距</a:t>
            </a:r>
            <a:r>
              <a:rPr lang="en-US" altLang="zh-CN" sz="2400" i="1" kern="0" dirty="0">
                <a:solidFill>
                  <a:srgbClr val="002060"/>
                </a:solidFill>
                <a:latin typeface="Times New Roman" panose="02020603050405020304" pitchFamily="18" charset="0"/>
                <a:cs typeface="Times New Roman" panose="02020603050405020304" pitchFamily="18" charset="0"/>
              </a:rPr>
              <a:t>Q</a:t>
            </a:r>
            <a:r>
              <a:rPr lang="en-US" altLang="zh-CN" sz="2400" i="1" kern="0" baseline="-25000" dirty="0">
                <a:solidFill>
                  <a:srgbClr val="002060"/>
                </a:solidFill>
                <a:latin typeface="Times New Roman" panose="02020603050405020304" pitchFamily="18" charset="0"/>
                <a:cs typeface="Times New Roman" panose="02020603050405020304" pitchFamily="18" charset="0"/>
              </a:rPr>
              <a:t>D</a:t>
            </a:r>
            <a:r>
              <a:rPr lang="en-US" altLang="zh-CN" sz="2400" i="1" kern="0" baseline="-25000" dirty="0">
                <a:solidFill>
                  <a:srgbClr val="002060"/>
                </a:solidFill>
              </a:rPr>
              <a:t> </a:t>
            </a:r>
            <a:r>
              <a:rPr lang="zh-CN" altLang="en-US" sz="2400" dirty="0" smtClean="0">
                <a:solidFill>
                  <a:srgbClr val="002060"/>
                </a:solidFill>
              </a:rPr>
              <a:t>）</a:t>
            </a:r>
            <a:r>
              <a:rPr lang="zh-CN" altLang="en-US" sz="2800" dirty="0">
                <a:solidFill>
                  <a:srgbClr val="002060"/>
                </a:solidFill>
              </a:rPr>
              <a:t>、</a:t>
            </a:r>
            <a:r>
              <a:rPr lang="zh-CN" altLang="en-US" sz="2400" dirty="0">
                <a:solidFill>
                  <a:srgbClr val="002060"/>
                </a:solidFill>
              </a:rPr>
              <a:t>须</a:t>
            </a:r>
            <a:r>
              <a:rPr lang="zh-CN" altLang="zh-CN" sz="2400" dirty="0">
                <a:solidFill>
                  <a:srgbClr val="002060"/>
                </a:solidFill>
              </a:rPr>
              <a:t>长</a:t>
            </a:r>
            <a:r>
              <a:rPr lang="zh-CN" altLang="en-US" sz="2400" dirty="0" smtClean="0">
                <a:solidFill>
                  <a:srgbClr val="002060"/>
                </a:solidFill>
              </a:rPr>
              <a:t>、最大（小</a:t>
            </a:r>
            <a:r>
              <a:rPr lang="zh-CN" altLang="en-US" sz="2400" dirty="0">
                <a:solidFill>
                  <a:srgbClr val="002060"/>
                </a:solidFill>
              </a:rPr>
              <a:t>）</a:t>
            </a:r>
            <a:r>
              <a:rPr lang="zh-CN" altLang="en-US" sz="2400" dirty="0" smtClean="0">
                <a:solidFill>
                  <a:srgbClr val="002060"/>
                </a:solidFill>
              </a:rPr>
              <a:t>值；</a:t>
            </a:r>
            <a:endParaRPr lang="en-US" altLang="zh-CN" sz="2800" dirty="0" smtClean="0">
              <a:solidFill>
                <a:srgbClr val="002060"/>
              </a:solidFill>
            </a:endParaRPr>
          </a:p>
          <a:p>
            <a:pPr>
              <a:spcBef>
                <a:spcPts val="600"/>
              </a:spcBef>
              <a:buClr>
                <a:srgbClr val="00B050"/>
              </a:buClr>
              <a:buSzPct val="74000"/>
              <a:buFont typeface="Wingdings" panose="05000000000000000000" pitchFamily="2" charset="2"/>
              <a:buChar char="l"/>
            </a:pPr>
            <a:r>
              <a:rPr lang="zh-CN" altLang="zh-CN" dirty="0">
                <a:solidFill>
                  <a:srgbClr val="0070C0"/>
                </a:solidFill>
              </a:rPr>
              <a:t>数据分布</a:t>
            </a:r>
            <a:r>
              <a:rPr lang="zh-CN" altLang="zh-CN" dirty="0" smtClean="0">
                <a:solidFill>
                  <a:srgbClr val="0070C0"/>
                </a:solidFill>
              </a:rPr>
              <a:t>的</a:t>
            </a:r>
            <a:r>
              <a:rPr lang="zh-CN" altLang="en-US" dirty="0" smtClean="0">
                <a:solidFill>
                  <a:srgbClr val="0070C0"/>
                </a:solidFill>
              </a:rPr>
              <a:t>形态</a:t>
            </a:r>
            <a:r>
              <a:rPr lang="zh-CN" altLang="en-US" dirty="0">
                <a:solidFill>
                  <a:srgbClr val="0070C0"/>
                </a:solidFill>
              </a:rPr>
              <a:t>（</a:t>
            </a:r>
            <a:r>
              <a:rPr lang="zh-CN" altLang="zh-CN" dirty="0">
                <a:solidFill>
                  <a:srgbClr val="0070C0"/>
                </a:solidFill>
              </a:rPr>
              <a:t>偏态</a:t>
            </a:r>
            <a:r>
              <a:rPr lang="zh-CN" altLang="en-US" dirty="0">
                <a:solidFill>
                  <a:srgbClr val="0070C0"/>
                </a:solidFill>
              </a:rPr>
              <a:t>）</a:t>
            </a:r>
            <a:r>
              <a:rPr lang="en-US" altLang="zh-CN" sz="2800" dirty="0" smtClean="0">
                <a:solidFill>
                  <a:srgbClr val="002060"/>
                </a:solidFill>
              </a:rPr>
              <a:t>——</a:t>
            </a:r>
            <a:r>
              <a:rPr lang="zh-CN" altLang="en-US" sz="2800" dirty="0" smtClean="0">
                <a:solidFill>
                  <a:srgbClr val="002060"/>
                </a:solidFill>
              </a:rPr>
              <a:t>箱体中</a:t>
            </a:r>
            <a:r>
              <a:rPr lang="en-US" altLang="zh-CN" sz="2800" i="1" kern="100" dirty="0" smtClean="0">
                <a:solidFill>
                  <a:srgbClr val="002060"/>
                </a:solidFill>
                <a:latin typeface="Times New Roman" panose="02020603050405020304" pitchFamily="18" charset="0"/>
                <a:ea typeface="宋体" panose="02010600030101010101" pitchFamily="2" charset="-122"/>
              </a:rPr>
              <a:t>Me</a:t>
            </a:r>
            <a:r>
              <a:rPr lang="zh-CN" altLang="en-US" sz="2800" kern="100" dirty="0" smtClean="0">
                <a:solidFill>
                  <a:srgbClr val="002060"/>
                </a:solidFill>
                <a:latin typeface="Times New Roman" panose="02020603050405020304" pitchFamily="18" charset="0"/>
                <a:ea typeface="宋体" panose="02010600030101010101" pitchFamily="2" charset="-122"/>
              </a:rPr>
              <a:t>上下箱体长度</a:t>
            </a:r>
            <a:r>
              <a:rPr lang="zh-CN" altLang="en-US" sz="2800" dirty="0" smtClean="0">
                <a:solidFill>
                  <a:srgbClr val="002060"/>
                </a:solidFill>
              </a:rPr>
              <a:t>是否对称</a:t>
            </a:r>
            <a:r>
              <a:rPr lang="zh-CN" altLang="en-US" sz="2800" b="0" dirty="0" smtClean="0">
                <a:solidFill>
                  <a:srgbClr val="002060"/>
                </a:solidFill>
              </a:rPr>
              <a:t>（若下方箱体较长即</a:t>
            </a:r>
            <a:r>
              <a:rPr lang="en-US" altLang="zh-CN" sz="2800" b="0" kern="100" dirty="0" smtClean="0">
                <a:solidFill>
                  <a:srgbClr val="002060"/>
                </a:solidFill>
                <a:latin typeface="Times New Roman" panose="02020603050405020304" pitchFamily="18" charset="0"/>
                <a:ea typeface="宋体" panose="02010600030101010101" pitchFamily="2" charset="-122"/>
              </a:rPr>
              <a:t>Me</a:t>
            </a:r>
            <a:r>
              <a:rPr lang="zh-CN" altLang="en-US" sz="2800" b="0" kern="100" dirty="0" smtClean="0">
                <a:solidFill>
                  <a:srgbClr val="002060"/>
                </a:solidFill>
                <a:latin typeface="Times New Roman" panose="02020603050405020304" pitchFamily="18" charset="0"/>
                <a:ea typeface="宋体" panose="02010600030101010101" pitchFamily="2" charset="-122"/>
              </a:rPr>
              <a:t>偏上边缘</a:t>
            </a:r>
            <a:r>
              <a:rPr lang="zh-CN" altLang="en-US" sz="2800" kern="100" dirty="0" smtClean="0">
                <a:solidFill>
                  <a:srgbClr val="002060"/>
                </a:solidFill>
                <a:latin typeface="Times New Roman" panose="02020603050405020304" pitchFamily="18" charset="0"/>
                <a:ea typeface="宋体" panose="02010600030101010101" pitchFamily="2" charset="-122"/>
              </a:rPr>
              <a:t>，</a:t>
            </a:r>
            <a:r>
              <a:rPr lang="zh-CN" altLang="en-US" sz="2800" b="0" dirty="0">
                <a:solidFill>
                  <a:srgbClr val="002060"/>
                </a:solidFill>
              </a:rPr>
              <a:t>说明</a:t>
            </a:r>
            <a:r>
              <a:rPr lang="zh-CN" altLang="en-US" sz="2800" b="0" dirty="0" smtClean="0">
                <a:solidFill>
                  <a:srgbClr val="002060"/>
                </a:solidFill>
              </a:rPr>
              <a:t>数据呈负偏，反之呈正偏），还可以结合上下须长度来观察</a:t>
            </a:r>
            <a:r>
              <a:rPr lang="zh-CN" altLang="zh-CN" sz="2800" dirty="0" smtClean="0">
                <a:solidFill>
                  <a:srgbClr val="002060"/>
                </a:solidFill>
              </a:rPr>
              <a:t>。</a:t>
            </a:r>
            <a:endParaRPr lang="en-US" altLang="zh-CN" sz="2800" dirty="0" smtClean="0">
              <a:solidFill>
                <a:srgbClr val="002060"/>
              </a:solidFill>
            </a:endParaRPr>
          </a:p>
          <a:p>
            <a:pPr>
              <a:spcBef>
                <a:spcPts val="600"/>
              </a:spcBef>
              <a:buClr>
                <a:srgbClr val="00B050"/>
              </a:buClr>
              <a:buSzPct val="74000"/>
              <a:buFont typeface="Wingdings" panose="05000000000000000000" pitchFamily="2" charset="2"/>
              <a:buChar char="l"/>
            </a:pPr>
            <a:r>
              <a:rPr lang="zh-CN" altLang="en-US" kern="0" dirty="0" smtClean="0">
                <a:solidFill>
                  <a:srgbClr val="0070C0"/>
                </a:solidFill>
              </a:rPr>
              <a:t>判</a:t>
            </a:r>
            <a:r>
              <a:rPr lang="zh-CN" altLang="zh-CN" kern="0" dirty="0" smtClean="0">
                <a:solidFill>
                  <a:srgbClr val="0070C0"/>
                </a:solidFill>
              </a:rPr>
              <a:t>别</a:t>
            </a:r>
            <a:r>
              <a:rPr lang="zh-CN" altLang="zh-CN" kern="0" dirty="0" smtClean="0">
                <a:solidFill>
                  <a:srgbClr val="0070C0"/>
                </a:solidFill>
              </a:rPr>
              <a:t>数据中的</a:t>
            </a:r>
            <a:r>
              <a:rPr lang="zh-CN" altLang="zh-CN" kern="0" dirty="0" smtClean="0">
                <a:solidFill>
                  <a:srgbClr val="0070C0"/>
                </a:solidFill>
              </a:rPr>
              <a:t>异常值</a:t>
            </a:r>
            <a:r>
              <a:rPr lang="en-US" altLang="zh-CN" sz="2400" kern="0" dirty="0" smtClean="0">
                <a:solidFill>
                  <a:srgbClr val="002060"/>
                </a:solidFill>
              </a:rPr>
              <a:t>—— </a:t>
            </a:r>
            <a:r>
              <a:rPr lang="zh-CN" altLang="zh-CN" sz="2400" kern="0" dirty="0" smtClean="0">
                <a:solidFill>
                  <a:srgbClr val="002060"/>
                </a:solidFill>
              </a:rPr>
              <a:t>箱线图</a:t>
            </a:r>
            <a:r>
              <a:rPr lang="zh-CN" altLang="en-US" sz="2400" kern="0" dirty="0" smtClean="0">
                <a:solidFill>
                  <a:srgbClr val="002060"/>
                </a:solidFill>
              </a:rPr>
              <a:t>中</a:t>
            </a:r>
            <a:r>
              <a:rPr lang="zh-CN" altLang="zh-CN" sz="2400" kern="0" dirty="0" smtClean="0">
                <a:solidFill>
                  <a:srgbClr val="002060"/>
                </a:solidFill>
              </a:rPr>
              <a:t>异常值被定义为小于</a:t>
            </a:r>
            <a:r>
              <a:rPr lang="en-US" altLang="zh-CN" sz="2400" kern="0" dirty="0" smtClean="0">
                <a:solidFill>
                  <a:srgbClr val="002060"/>
                </a:solidFill>
                <a:latin typeface="Times New Roman" panose="02020603050405020304" pitchFamily="18" charset="0"/>
                <a:cs typeface="Times New Roman" panose="02020603050405020304" pitchFamily="18" charset="0"/>
              </a:rPr>
              <a:t>(</a:t>
            </a:r>
            <a:r>
              <a:rPr lang="en-US" altLang="zh-CN" sz="2400" i="1" kern="0" dirty="0" smtClean="0">
                <a:solidFill>
                  <a:srgbClr val="002060"/>
                </a:solidFill>
                <a:latin typeface="Times New Roman" panose="02020603050405020304" pitchFamily="18" charset="0"/>
                <a:cs typeface="Times New Roman" panose="02020603050405020304" pitchFamily="18" charset="0"/>
              </a:rPr>
              <a:t>Q</a:t>
            </a:r>
            <a:r>
              <a:rPr lang="en-US" altLang="zh-CN" sz="2400" kern="0" baseline="-25000" dirty="0" smtClean="0">
                <a:solidFill>
                  <a:srgbClr val="002060"/>
                </a:solidFill>
                <a:latin typeface="Times New Roman" panose="02020603050405020304" pitchFamily="18" charset="0"/>
                <a:cs typeface="Times New Roman" panose="02020603050405020304" pitchFamily="18" charset="0"/>
              </a:rPr>
              <a:t>1</a:t>
            </a:r>
            <a:r>
              <a:rPr lang="en-US" altLang="zh-CN" sz="2400" kern="0" dirty="0" smtClean="0">
                <a:solidFill>
                  <a:srgbClr val="002060"/>
                </a:solidFill>
                <a:latin typeface="Times New Roman" panose="02020603050405020304" pitchFamily="18" charset="0"/>
                <a:cs typeface="Times New Roman" panose="02020603050405020304" pitchFamily="18" charset="0"/>
              </a:rPr>
              <a:t>-1.5</a:t>
            </a:r>
            <a:r>
              <a:rPr lang="en-US" altLang="zh-CN" sz="2400" i="1" kern="0" dirty="0" smtClean="0">
                <a:solidFill>
                  <a:srgbClr val="002060"/>
                </a:solidFill>
                <a:latin typeface="Times New Roman" panose="02020603050405020304" pitchFamily="18" charset="0"/>
                <a:cs typeface="Times New Roman" panose="02020603050405020304" pitchFamily="18" charset="0"/>
              </a:rPr>
              <a:t>Q</a:t>
            </a:r>
            <a:r>
              <a:rPr lang="en-US" altLang="zh-CN" sz="2400" i="1" kern="0" baseline="-25000" dirty="0" smtClean="0">
                <a:solidFill>
                  <a:srgbClr val="002060"/>
                </a:solidFill>
                <a:latin typeface="Times New Roman" panose="02020603050405020304" pitchFamily="18" charset="0"/>
                <a:cs typeface="Times New Roman" panose="02020603050405020304" pitchFamily="18" charset="0"/>
              </a:rPr>
              <a:t>D</a:t>
            </a:r>
            <a:r>
              <a:rPr lang="en-US" altLang="zh-CN" sz="2400" kern="0" dirty="0" smtClean="0">
                <a:solidFill>
                  <a:srgbClr val="002060"/>
                </a:solidFill>
                <a:latin typeface="Times New Roman" panose="02020603050405020304" pitchFamily="18" charset="0"/>
                <a:cs typeface="Times New Roman" panose="02020603050405020304" pitchFamily="18" charset="0"/>
              </a:rPr>
              <a:t>)</a:t>
            </a:r>
            <a:r>
              <a:rPr lang="zh-CN" altLang="zh-CN" sz="2400" kern="0" dirty="0" smtClean="0">
                <a:solidFill>
                  <a:srgbClr val="002060"/>
                </a:solidFill>
              </a:rPr>
              <a:t>或大于</a:t>
            </a:r>
            <a:r>
              <a:rPr lang="en-US" altLang="zh-CN" sz="2400" kern="0" dirty="0" smtClean="0">
                <a:solidFill>
                  <a:srgbClr val="002060"/>
                </a:solidFill>
                <a:latin typeface="Times New Roman" panose="02020603050405020304" pitchFamily="18" charset="0"/>
                <a:cs typeface="Times New Roman" panose="02020603050405020304" pitchFamily="18" charset="0"/>
              </a:rPr>
              <a:t>(</a:t>
            </a:r>
            <a:r>
              <a:rPr lang="en-US" altLang="zh-CN" sz="2400" i="1" kern="0" dirty="0" smtClean="0">
                <a:solidFill>
                  <a:srgbClr val="002060"/>
                </a:solidFill>
                <a:latin typeface="Times New Roman" panose="02020603050405020304" pitchFamily="18" charset="0"/>
                <a:cs typeface="Times New Roman" panose="02020603050405020304" pitchFamily="18" charset="0"/>
              </a:rPr>
              <a:t>Q</a:t>
            </a:r>
            <a:r>
              <a:rPr lang="en-US" altLang="zh-CN" sz="2400" kern="0" baseline="-25000" dirty="0" smtClean="0">
                <a:solidFill>
                  <a:srgbClr val="002060"/>
                </a:solidFill>
                <a:latin typeface="Times New Roman" panose="02020603050405020304" pitchFamily="18" charset="0"/>
                <a:cs typeface="Times New Roman" panose="02020603050405020304" pitchFamily="18" charset="0"/>
              </a:rPr>
              <a:t>3</a:t>
            </a:r>
            <a:r>
              <a:rPr lang="en-US" altLang="zh-CN" sz="2400" kern="0" dirty="0" smtClean="0">
                <a:solidFill>
                  <a:srgbClr val="002060"/>
                </a:solidFill>
                <a:latin typeface="Times New Roman" panose="02020603050405020304" pitchFamily="18" charset="0"/>
                <a:cs typeface="Times New Roman" panose="02020603050405020304" pitchFamily="18" charset="0"/>
              </a:rPr>
              <a:t>+1.5</a:t>
            </a:r>
            <a:r>
              <a:rPr lang="en-US" altLang="zh-CN" sz="2400" i="1" kern="0" dirty="0" smtClean="0">
                <a:solidFill>
                  <a:srgbClr val="002060"/>
                </a:solidFill>
                <a:latin typeface="Times New Roman" panose="02020603050405020304" pitchFamily="18" charset="0"/>
                <a:cs typeface="Times New Roman" panose="02020603050405020304" pitchFamily="18" charset="0"/>
              </a:rPr>
              <a:t> </a:t>
            </a:r>
            <a:r>
              <a:rPr lang="en-US" altLang="zh-CN" sz="2400" i="1" kern="0" dirty="0" smtClean="0">
                <a:solidFill>
                  <a:srgbClr val="002060"/>
                </a:solidFill>
                <a:latin typeface="Times New Roman" panose="02020603050405020304" pitchFamily="18" charset="0"/>
                <a:cs typeface="Times New Roman" panose="02020603050405020304" pitchFamily="18" charset="0"/>
              </a:rPr>
              <a:t>Q</a:t>
            </a:r>
            <a:r>
              <a:rPr lang="en-US" altLang="zh-CN" sz="2400" i="1" kern="0" baseline="-25000" dirty="0" smtClean="0">
                <a:solidFill>
                  <a:srgbClr val="002060"/>
                </a:solidFill>
                <a:latin typeface="Times New Roman" panose="02020603050405020304" pitchFamily="18" charset="0"/>
                <a:cs typeface="Times New Roman" panose="02020603050405020304" pitchFamily="18" charset="0"/>
              </a:rPr>
              <a:t>D</a:t>
            </a:r>
            <a:r>
              <a:rPr lang="en-US" altLang="zh-CN" sz="2400" kern="0" dirty="0" smtClean="0">
                <a:solidFill>
                  <a:srgbClr val="002060"/>
                </a:solidFill>
                <a:latin typeface="Times New Roman" panose="02020603050405020304" pitchFamily="18" charset="0"/>
                <a:cs typeface="Times New Roman" panose="02020603050405020304" pitchFamily="18" charset="0"/>
              </a:rPr>
              <a:t>)</a:t>
            </a:r>
            <a:r>
              <a:rPr lang="zh-CN" altLang="zh-CN" sz="2400" kern="0" dirty="0" smtClean="0">
                <a:solidFill>
                  <a:srgbClr val="002060"/>
                </a:solidFill>
              </a:rPr>
              <a:t>的</a:t>
            </a:r>
            <a:r>
              <a:rPr lang="zh-CN" altLang="zh-CN" sz="2400" kern="0" dirty="0" smtClean="0">
                <a:solidFill>
                  <a:srgbClr val="002060"/>
                </a:solidFill>
              </a:rPr>
              <a:t>值</a:t>
            </a:r>
            <a:r>
              <a:rPr lang="zh-CN" altLang="en-US" sz="2400" kern="0" dirty="0" smtClean="0">
                <a:solidFill>
                  <a:srgbClr val="002060"/>
                </a:solidFill>
              </a:rPr>
              <a:t>，</a:t>
            </a:r>
            <a:r>
              <a:rPr lang="zh-CN" altLang="en-US" sz="2400" dirty="0" smtClean="0">
                <a:solidFill>
                  <a:srgbClr val="002060"/>
                </a:solidFill>
              </a:rPr>
              <a:t>用</a:t>
            </a:r>
            <a:r>
              <a:rPr lang="zh-CN" altLang="en-US" sz="2400" dirty="0">
                <a:solidFill>
                  <a:srgbClr val="002060"/>
                </a:solidFill>
              </a:rPr>
              <a:t>小圆圈表示。</a:t>
            </a:r>
            <a:endParaRPr lang="en-US" altLang="zh-CN" sz="2400" kern="0" dirty="0" smtClean="0">
              <a:solidFill>
                <a:srgbClr val="002060"/>
              </a:solidFill>
            </a:endParaRPr>
          </a:p>
          <a:p>
            <a:pPr marL="355600" indent="-293688">
              <a:spcBef>
                <a:spcPts val="600"/>
              </a:spcBef>
              <a:buClr>
                <a:srgbClr val="00B050"/>
              </a:buClr>
              <a:buSzPct val="74000"/>
              <a:buFont typeface="Wingdings" panose="05000000000000000000" pitchFamily="2" charset="2"/>
              <a:buChar char="l"/>
            </a:pPr>
            <a:r>
              <a:rPr lang="zh-CN" altLang="en-US" dirty="0" smtClean="0">
                <a:solidFill>
                  <a:srgbClr val="0070C0"/>
                </a:solidFill>
              </a:rPr>
              <a:t>多</a:t>
            </a:r>
            <a:r>
              <a:rPr lang="zh-CN" altLang="zh-CN" dirty="0" smtClean="0">
                <a:solidFill>
                  <a:srgbClr val="0070C0"/>
                </a:solidFill>
              </a:rPr>
              <a:t>组</a:t>
            </a:r>
            <a:r>
              <a:rPr lang="zh-CN" altLang="zh-CN" dirty="0">
                <a:solidFill>
                  <a:srgbClr val="0070C0"/>
                </a:solidFill>
              </a:rPr>
              <a:t>数据的箱线</a:t>
            </a:r>
            <a:r>
              <a:rPr lang="zh-CN" altLang="zh-CN" dirty="0" smtClean="0">
                <a:solidFill>
                  <a:srgbClr val="0070C0"/>
                </a:solidFill>
              </a:rPr>
              <a:t>图</a:t>
            </a:r>
            <a:r>
              <a:rPr lang="zh-CN" altLang="en-US" dirty="0" smtClean="0">
                <a:solidFill>
                  <a:srgbClr val="0070C0"/>
                </a:solidFill>
              </a:rPr>
              <a:t>可</a:t>
            </a:r>
            <a:r>
              <a:rPr lang="zh-CN" altLang="zh-CN" dirty="0" smtClean="0">
                <a:solidFill>
                  <a:srgbClr val="0070C0"/>
                </a:solidFill>
              </a:rPr>
              <a:t>并行</a:t>
            </a:r>
            <a:r>
              <a:rPr lang="zh-CN" altLang="zh-CN" dirty="0">
                <a:solidFill>
                  <a:srgbClr val="0070C0"/>
                </a:solidFill>
              </a:rPr>
              <a:t>排列</a:t>
            </a:r>
            <a:r>
              <a:rPr lang="zh-CN" altLang="zh-CN" sz="2800" dirty="0" smtClean="0">
                <a:solidFill>
                  <a:srgbClr val="0070C0"/>
                </a:solidFill>
              </a:rPr>
              <a:t>，</a:t>
            </a:r>
            <a:r>
              <a:rPr lang="zh-CN" altLang="en-US" sz="2800" dirty="0">
                <a:solidFill>
                  <a:srgbClr val="0070C0"/>
                </a:solidFill>
              </a:rPr>
              <a:t>便于直观</a:t>
            </a:r>
            <a:r>
              <a:rPr lang="zh-CN" altLang="en-US" sz="2800" dirty="0" smtClean="0">
                <a:solidFill>
                  <a:srgbClr val="0070C0"/>
                </a:solidFill>
              </a:rPr>
              <a:t>比较</a:t>
            </a:r>
            <a:r>
              <a:rPr lang="zh-CN" altLang="zh-CN" sz="2800" dirty="0" smtClean="0">
                <a:solidFill>
                  <a:srgbClr val="0070C0"/>
                </a:solidFill>
              </a:rPr>
              <a:t>几</a:t>
            </a:r>
            <a:r>
              <a:rPr lang="zh-CN" altLang="zh-CN" sz="2800" dirty="0">
                <a:solidFill>
                  <a:srgbClr val="0070C0"/>
                </a:solidFill>
              </a:rPr>
              <a:t>组数据</a:t>
            </a:r>
            <a:r>
              <a:rPr lang="zh-CN" altLang="zh-CN" sz="2800" dirty="0" smtClean="0">
                <a:solidFill>
                  <a:srgbClr val="0070C0"/>
                </a:solidFill>
              </a:rPr>
              <a:t>的</a:t>
            </a:r>
            <a:r>
              <a:rPr lang="zh-CN" altLang="en-US" sz="2800" dirty="0" smtClean="0">
                <a:solidFill>
                  <a:srgbClr val="0070C0"/>
                </a:solidFill>
              </a:rPr>
              <a:t>分布</a:t>
            </a:r>
            <a:r>
              <a:rPr lang="zh-CN" altLang="en-US" sz="2800" dirty="0" smtClean="0">
                <a:solidFill>
                  <a:srgbClr val="0070C0"/>
                </a:solidFill>
              </a:rPr>
              <a:t>信息</a:t>
            </a:r>
            <a:r>
              <a:rPr lang="zh-CN" altLang="en-US" sz="2800" dirty="0" smtClean="0">
                <a:solidFill>
                  <a:srgbClr val="002060"/>
                </a:solidFill>
              </a:rPr>
              <a:t>，</a:t>
            </a:r>
            <a:r>
              <a:rPr lang="zh-CN" altLang="en-US" sz="2800" dirty="0" smtClean="0">
                <a:solidFill>
                  <a:srgbClr val="002060"/>
                </a:solidFill>
              </a:rPr>
              <a:t>如下图</a:t>
            </a:r>
            <a:r>
              <a:rPr lang="zh-CN" altLang="en-US" sz="2800" dirty="0" smtClean="0">
                <a:solidFill>
                  <a:srgbClr val="002060"/>
                </a:solidFill>
              </a:rPr>
              <a:t>：</a:t>
            </a:r>
            <a:endParaRPr lang="zh-CN" altLang="en-US" kern="0" dirty="0">
              <a:solidFill>
                <a:srgbClr val="0070C0"/>
              </a:solidFill>
            </a:endParaRPr>
          </a:p>
        </p:txBody>
      </p:sp>
    </p:spTree>
    <p:extLst>
      <p:ext uri="{BB962C8B-B14F-4D97-AF65-F5344CB8AC3E}">
        <p14:creationId xmlns:p14="http://schemas.microsoft.com/office/powerpoint/2010/main" val="23716090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75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990600"/>
          </a:xfrm>
        </p:spPr>
        <p:txBody>
          <a:bodyPr/>
          <a:lstStyle/>
          <a:p>
            <a:r>
              <a:rPr lang="en-US" altLang="zh-CN" dirty="0" smtClean="0"/>
              <a:t>【</a:t>
            </a:r>
            <a:r>
              <a:rPr lang="zh-CN" altLang="en-US" dirty="0" smtClean="0"/>
              <a:t>例</a:t>
            </a:r>
            <a:r>
              <a:rPr lang="en-US" altLang="zh-CN" dirty="0" smtClean="0"/>
              <a:t>】</a:t>
            </a:r>
            <a:r>
              <a:rPr lang="zh-CN" altLang="en-US" dirty="0" smtClean="0"/>
              <a:t>多组数据的箱线图</a:t>
            </a:r>
            <a:endParaRPr lang="zh-CN" altLang="en-US" dirty="0"/>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143</a:t>
            </a:fld>
            <a:endParaRPr lang="en-US" altLang="zh-CN" dirty="0"/>
          </a:p>
        </p:txBody>
      </p:sp>
      <p:sp>
        <p:nvSpPr>
          <p:cNvPr id="6" name="文本框 5"/>
          <p:cNvSpPr txBox="1"/>
          <p:nvPr/>
        </p:nvSpPr>
        <p:spPr>
          <a:xfrm>
            <a:off x="899592" y="1335207"/>
            <a:ext cx="4824536" cy="523220"/>
          </a:xfrm>
          <a:prstGeom prst="rect">
            <a:avLst/>
          </a:prstGeom>
          <a:noFill/>
        </p:spPr>
        <p:txBody>
          <a:bodyPr wrap="square" rtlCol="0">
            <a:spAutoFit/>
          </a:bodyPr>
          <a:lstStyle/>
          <a:p>
            <a:r>
              <a:rPr lang="en-US" altLang="zh-CN" sz="2800" dirty="0" smtClean="0"/>
              <a:t>4</a:t>
            </a:r>
            <a:r>
              <a:rPr lang="zh-CN" altLang="en-US" sz="2800" dirty="0" smtClean="0"/>
              <a:t>个科目考试成绩的箱线图：</a:t>
            </a:r>
            <a:endParaRPr lang="zh-CN" altLang="en-US" sz="2800" dirty="0"/>
          </a:p>
        </p:txBody>
      </p:sp>
      <p:pic>
        <p:nvPicPr>
          <p:cNvPr id="8" name="图片 7"/>
          <p:cNvPicPr>
            <a:picLocks noChangeAspect="1"/>
          </p:cNvPicPr>
          <p:nvPr/>
        </p:nvPicPr>
        <p:blipFill>
          <a:blip r:embed="rId2"/>
          <a:stretch>
            <a:fillRect/>
          </a:stretch>
        </p:blipFill>
        <p:spPr>
          <a:xfrm>
            <a:off x="324222" y="1896882"/>
            <a:ext cx="8568953" cy="4438941"/>
          </a:xfrm>
          <a:prstGeom prst="rect">
            <a:avLst/>
          </a:prstGeom>
        </p:spPr>
      </p:pic>
    </p:spTree>
    <p:extLst>
      <p:ext uri="{BB962C8B-B14F-4D97-AF65-F5344CB8AC3E}">
        <p14:creationId xmlns:p14="http://schemas.microsoft.com/office/powerpoint/2010/main" val="4096402585"/>
      </p:ext>
    </p:extLst>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5" name="Rectangle 2"/>
          <p:cNvSpPr>
            <a:spLocks noGrp="1" noChangeArrowheads="1"/>
          </p:cNvSpPr>
          <p:nvPr>
            <p:ph type="title"/>
          </p:nvPr>
        </p:nvSpPr>
        <p:spPr>
          <a:xfrm>
            <a:off x="1043608" y="437505"/>
            <a:ext cx="6337300" cy="709613"/>
          </a:xfrm>
          <a:noFill/>
        </p:spPr>
        <p:txBody>
          <a:bodyPr lIns="90488" tIns="44450" rIns="90488" bIns="44450" anchor="ctr" anchorCtr="1"/>
          <a:lstStyle/>
          <a:p>
            <a:pPr algn="r" eaLnBrk="1" hangingPunct="1"/>
            <a:r>
              <a:rPr lang="zh-CN" altLang="en-US" sz="4000" dirty="0" smtClean="0"/>
              <a:t>本章小结</a:t>
            </a:r>
          </a:p>
        </p:txBody>
      </p:sp>
      <p:sp>
        <p:nvSpPr>
          <p:cNvPr id="146436" name="Rectangle 3"/>
          <p:cNvSpPr>
            <a:spLocks noGrp="1" noChangeArrowheads="1"/>
          </p:cNvSpPr>
          <p:nvPr>
            <p:ph type="body" idx="1"/>
          </p:nvPr>
        </p:nvSpPr>
        <p:spPr>
          <a:xfrm>
            <a:off x="827584" y="1268760"/>
            <a:ext cx="7632848" cy="5256584"/>
          </a:xfrm>
          <a:noFill/>
        </p:spPr>
        <p:txBody>
          <a:bodyPr lIns="90488" tIns="44450" rIns="90488" bIns="44450"/>
          <a:lstStyle/>
          <a:p>
            <a:pPr>
              <a:lnSpc>
                <a:spcPct val="105000"/>
              </a:lnSpc>
              <a:spcBef>
                <a:spcPts val="600"/>
              </a:spcBef>
              <a:buClr>
                <a:srgbClr val="7030A0"/>
              </a:buClr>
              <a:buSzPct val="60000"/>
              <a:buFont typeface="Wingdings" panose="05000000000000000000" pitchFamily="2" charset="2"/>
              <a:buChar char="l"/>
            </a:pPr>
            <a:r>
              <a:rPr lang="zh-CN" altLang="zh-CN" dirty="0" smtClean="0">
                <a:solidFill>
                  <a:srgbClr val="000000"/>
                </a:solidFill>
              </a:rPr>
              <a:t>总量指标的概念和种类</a:t>
            </a:r>
            <a:r>
              <a:rPr lang="zh-CN" altLang="en-US" dirty="0" smtClean="0">
                <a:solidFill>
                  <a:srgbClr val="000000"/>
                </a:solidFill>
              </a:rPr>
              <a:t>、计量单位</a:t>
            </a:r>
            <a:r>
              <a:rPr lang="zh-CN" altLang="zh-CN" dirty="0" smtClean="0">
                <a:solidFill>
                  <a:srgbClr val="000000"/>
                </a:solidFill>
              </a:rPr>
              <a:t>；</a:t>
            </a:r>
          </a:p>
          <a:p>
            <a:pPr>
              <a:lnSpc>
                <a:spcPct val="105000"/>
              </a:lnSpc>
              <a:spcBef>
                <a:spcPts val="600"/>
              </a:spcBef>
              <a:buClr>
                <a:srgbClr val="7030A0"/>
              </a:buClr>
              <a:buSzPct val="60000"/>
              <a:buFont typeface="Wingdings" panose="05000000000000000000" pitchFamily="2" charset="2"/>
              <a:buChar char="l"/>
            </a:pPr>
            <a:r>
              <a:rPr lang="zh-CN" altLang="zh-CN" dirty="0" smtClean="0">
                <a:solidFill>
                  <a:srgbClr val="000000"/>
                </a:solidFill>
              </a:rPr>
              <a:t>相对指标的概念、</a:t>
            </a:r>
            <a:r>
              <a:rPr lang="zh-CN" altLang="en-US" dirty="0" smtClean="0">
                <a:solidFill>
                  <a:srgbClr val="000000"/>
                </a:solidFill>
              </a:rPr>
              <a:t>种类与计算</a:t>
            </a:r>
            <a:r>
              <a:rPr lang="zh-CN" altLang="zh-CN" dirty="0" smtClean="0">
                <a:solidFill>
                  <a:srgbClr val="000000"/>
                </a:solidFill>
              </a:rPr>
              <a:t>；</a:t>
            </a:r>
          </a:p>
          <a:p>
            <a:pPr eaLnBrk="1" hangingPunct="1">
              <a:buClr>
                <a:srgbClr val="7030A0"/>
              </a:buClr>
              <a:buSzPct val="60000"/>
              <a:buFont typeface="Wingdings" panose="05000000000000000000" pitchFamily="2" charset="2"/>
              <a:buChar char="l"/>
            </a:pPr>
            <a:r>
              <a:rPr lang="zh-CN" altLang="en-US" dirty="0" smtClean="0">
                <a:solidFill>
                  <a:srgbClr val="000000"/>
                </a:solidFill>
              </a:rPr>
              <a:t>测度集中趋势的各种指标的含义、计算方法、特点和应用场合</a:t>
            </a:r>
          </a:p>
          <a:p>
            <a:pPr eaLnBrk="1" hangingPunct="1">
              <a:buClr>
                <a:srgbClr val="7030A0"/>
              </a:buClr>
              <a:buSzPct val="60000"/>
              <a:buFont typeface="Wingdings" panose="05000000000000000000" pitchFamily="2" charset="2"/>
              <a:buChar char="l"/>
            </a:pPr>
            <a:r>
              <a:rPr lang="zh-CN" altLang="en-US" dirty="0" smtClean="0">
                <a:solidFill>
                  <a:srgbClr val="000000"/>
                </a:solidFill>
              </a:rPr>
              <a:t>测度离散程度的</a:t>
            </a:r>
            <a:r>
              <a:rPr lang="zh-CN" altLang="en-US" dirty="0">
                <a:solidFill>
                  <a:srgbClr val="000000"/>
                </a:solidFill>
              </a:rPr>
              <a:t>各种指标</a:t>
            </a:r>
            <a:r>
              <a:rPr lang="zh-CN" altLang="en-US" dirty="0" smtClean="0">
                <a:solidFill>
                  <a:srgbClr val="000000"/>
                </a:solidFill>
              </a:rPr>
              <a:t>的含义、计算方法、特点和应用场合</a:t>
            </a:r>
          </a:p>
          <a:p>
            <a:pPr eaLnBrk="1" hangingPunct="1">
              <a:buClr>
                <a:srgbClr val="7030A0"/>
              </a:buClr>
              <a:buSzPct val="60000"/>
              <a:buFont typeface="Wingdings" panose="05000000000000000000" pitchFamily="2" charset="2"/>
              <a:buChar char="l"/>
            </a:pPr>
            <a:r>
              <a:rPr lang="zh-CN" altLang="en-US" dirty="0" smtClean="0">
                <a:solidFill>
                  <a:srgbClr val="000000"/>
                </a:solidFill>
              </a:rPr>
              <a:t>偏度与峰度的含义和基本测度方法</a:t>
            </a:r>
            <a:endParaRPr lang="en-US" altLang="zh-CN" dirty="0" smtClean="0">
              <a:solidFill>
                <a:srgbClr val="000000"/>
              </a:solidFill>
            </a:endParaRPr>
          </a:p>
          <a:p>
            <a:pPr eaLnBrk="1" hangingPunct="1">
              <a:buClr>
                <a:srgbClr val="7030A0"/>
              </a:buClr>
              <a:buSzPct val="60000"/>
              <a:buFont typeface="Wingdings" panose="05000000000000000000" pitchFamily="2" charset="2"/>
              <a:buChar char="l"/>
            </a:pPr>
            <a:r>
              <a:rPr lang="en-US" altLang="zh-CN" dirty="0" smtClean="0">
                <a:solidFill>
                  <a:srgbClr val="000000"/>
                </a:solidFill>
              </a:rPr>
              <a:t>Z</a:t>
            </a:r>
            <a:r>
              <a:rPr lang="zh-CN" altLang="en-US" dirty="0" smtClean="0">
                <a:solidFill>
                  <a:srgbClr val="000000"/>
                </a:solidFill>
              </a:rPr>
              <a:t>分数、经验法则、箱线图</a:t>
            </a:r>
          </a:p>
          <a:p>
            <a:pPr eaLnBrk="1" hangingPunct="1">
              <a:buClr>
                <a:srgbClr val="7030A0"/>
              </a:buClr>
              <a:buSzPct val="60000"/>
              <a:buFont typeface="Wingdings" panose="05000000000000000000" pitchFamily="2" charset="2"/>
              <a:buChar char="l"/>
            </a:pPr>
            <a:r>
              <a:rPr lang="zh-CN" altLang="en-US" sz="2800" dirty="0" smtClean="0">
                <a:solidFill>
                  <a:srgbClr val="000000"/>
                </a:solidFill>
              </a:rPr>
              <a:t>利用 </a:t>
            </a:r>
            <a:r>
              <a:rPr lang="en-US" altLang="zh-CN" sz="2800" dirty="0" smtClean="0">
                <a:solidFill>
                  <a:srgbClr val="000000"/>
                </a:solidFill>
              </a:rPr>
              <a:t>Excel </a:t>
            </a:r>
            <a:r>
              <a:rPr lang="zh-CN" altLang="en-US" sz="2800" dirty="0" smtClean="0">
                <a:solidFill>
                  <a:srgbClr val="000000"/>
                </a:solidFill>
              </a:rPr>
              <a:t>或其它软件计算常用统计指标</a:t>
            </a:r>
          </a:p>
        </p:txBody>
      </p:sp>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144</a:t>
            </a:fld>
            <a:endParaRPr lang="en-US" altLang="zh-CN" dirty="0"/>
          </a:p>
        </p:txBody>
      </p:sp>
    </p:spTree>
  </p:cSld>
  <p:clrMapOvr>
    <a:masterClrMapping/>
  </p:clrMapOvr>
  <p:transition>
    <p:wipe dir="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a:xfrm>
            <a:off x="-108520" y="620713"/>
            <a:ext cx="8492108" cy="990600"/>
          </a:xfrm>
        </p:spPr>
        <p:txBody>
          <a:bodyPr/>
          <a:lstStyle/>
          <a:p>
            <a:pPr eaLnBrk="1" hangingPunct="1"/>
            <a:r>
              <a:rPr lang="en-US" altLang="zh-CN" sz="3600" dirty="0" smtClean="0"/>
              <a:t>【</a:t>
            </a:r>
            <a:r>
              <a:rPr lang="zh-CN" altLang="en-US" sz="3600" dirty="0" smtClean="0"/>
              <a:t>思考与练习</a:t>
            </a:r>
            <a:r>
              <a:rPr lang="en-US" altLang="zh-CN" sz="3600" dirty="0" smtClean="0"/>
              <a:t>】</a:t>
            </a:r>
            <a:r>
              <a:rPr lang="en-US" altLang="zh-CN" sz="4000" dirty="0" smtClean="0"/>
              <a:t/>
            </a:r>
            <a:br>
              <a:rPr lang="en-US" altLang="zh-CN" sz="4000" dirty="0" smtClean="0"/>
            </a:br>
            <a:r>
              <a:rPr lang="zh-CN" altLang="en-US" sz="4000" dirty="0" smtClean="0"/>
              <a:t>选择哪个品种？</a:t>
            </a:r>
          </a:p>
        </p:txBody>
      </p:sp>
      <p:sp>
        <p:nvSpPr>
          <p:cNvPr id="59397" name="Rectangle 3"/>
          <p:cNvSpPr>
            <a:spLocks noGrp="1" noChangeArrowheads="1"/>
          </p:cNvSpPr>
          <p:nvPr>
            <p:ph type="body" idx="1"/>
          </p:nvPr>
        </p:nvSpPr>
        <p:spPr>
          <a:xfrm>
            <a:off x="917576" y="2208042"/>
            <a:ext cx="7466012" cy="4057650"/>
          </a:xfrm>
        </p:spPr>
        <p:txBody>
          <a:bodyPr/>
          <a:lstStyle/>
          <a:p>
            <a:pPr marL="609600" indent="-609600" eaLnBrk="1" hangingPunct="1">
              <a:lnSpc>
                <a:spcPct val="120000"/>
              </a:lnSpc>
            </a:pPr>
            <a:r>
              <a:rPr lang="zh-CN" altLang="en-US" dirty="0" smtClean="0">
                <a:solidFill>
                  <a:srgbClr val="C00000"/>
                </a:solidFill>
              </a:rPr>
              <a:t>假设某种农作物有两个品种，它们的平均亩产及其标准差分别为：</a:t>
            </a:r>
          </a:p>
          <a:p>
            <a:pPr marL="1219200" lvl="1" indent="-533400" eaLnBrk="1" hangingPunct="1">
              <a:lnSpc>
                <a:spcPct val="120000"/>
              </a:lnSpc>
              <a:buFontTx/>
              <a:buNone/>
            </a:pPr>
            <a:r>
              <a:rPr lang="zh-CN" altLang="en-US" dirty="0" smtClean="0"/>
              <a:t>品种     平均亩产     标准差</a:t>
            </a:r>
            <a:r>
              <a:rPr lang="en-US" altLang="zh-CN" dirty="0" smtClean="0"/>
              <a:t>(</a:t>
            </a:r>
            <a:r>
              <a:rPr lang="zh-CN" altLang="en-US" dirty="0" smtClean="0"/>
              <a:t>单位：</a:t>
            </a:r>
            <a:r>
              <a:rPr lang="en-US" altLang="zh-CN" dirty="0" smtClean="0"/>
              <a:t>kg/</a:t>
            </a:r>
            <a:r>
              <a:rPr lang="zh-CN" altLang="en-US" dirty="0" smtClean="0"/>
              <a:t>亩</a:t>
            </a:r>
            <a:r>
              <a:rPr lang="en-US" altLang="zh-CN" dirty="0" smtClean="0"/>
              <a:t>)</a:t>
            </a:r>
          </a:p>
          <a:p>
            <a:pPr marL="1219200" lvl="1" indent="-533400" eaLnBrk="1" hangingPunct="1">
              <a:lnSpc>
                <a:spcPct val="120000"/>
              </a:lnSpc>
              <a:buFontTx/>
              <a:buNone/>
            </a:pPr>
            <a:r>
              <a:rPr lang="en-US" altLang="zh-CN" dirty="0" smtClean="0"/>
              <a:t>   A            300          10</a:t>
            </a:r>
          </a:p>
          <a:p>
            <a:pPr marL="1219200" lvl="1" indent="-533400" eaLnBrk="1" hangingPunct="1">
              <a:lnSpc>
                <a:spcPct val="120000"/>
              </a:lnSpc>
              <a:buFontTx/>
              <a:buNone/>
            </a:pPr>
            <a:r>
              <a:rPr lang="en-US" altLang="zh-CN" dirty="0" smtClean="0"/>
              <a:t>   B            320          20</a:t>
            </a:r>
          </a:p>
          <a:p>
            <a:pPr marL="609600" indent="-609600" eaLnBrk="1" hangingPunct="1">
              <a:lnSpc>
                <a:spcPct val="120000"/>
              </a:lnSpc>
            </a:pPr>
            <a:r>
              <a:rPr lang="zh-CN" altLang="en-US" dirty="0" smtClean="0">
                <a:solidFill>
                  <a:srgbClr val="C00000"/>
                </a:solidFill>
              </a:rPr>
              <a:t>你认为哪个品种较优？为什么？</a:t>
            </a:r>
          </a:p>
        </p:txBody>
      </p:sp>
      <p:graphicFrame>
        <p:nvGraphicFramePr>
          <p:cNvPr id="631812" name="Object 4"/>
          <p:cNvGraphicFramePr>
            <a:graphicFrameLocks noChangeAspect="1"/>
          </p:cNvGraphicFramePr>
          <p:nvPr/>
        </p:nvGraphicFramePr>
        <p:xfrm>
          <a:off x="7740650" y="0"/>
          <a:ext cx="1403350" cy="1403350"/>
        </p:xfrm>
        <a:graphic>
          <a:graphicData uri="http://schemas.openxmlformats.org/presentationml/2006/ole">
            <mc:AlternateContent xmlns:mc="http://schemas.openxmlformats.org/markup-compatibility/2006">
              <mc:Choice xmlns:v="urn:schemas-microsoft-com:vml" Requires="v">
                <p:oleObj spid="_x0000_s59571" name="Clip" r:id="rId3" imgW="2365200" imgH="2365200" progId="">
                  <p:embed/>
                </p:oleObj>
              </mc:Choice>
              <mc:Fallback>
                <p:oleObj name="Clip" r:id="rId3" imgW="2365200" imgH="23652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0650" y="0"/>
                        <a:ext cx="1403350" cy="140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145</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31812"/>
                                        </p:tgtEl>
                                        <p:attrNameLst>
                                          <p:attrName>style.visibility</p:attrName>
                                        </p:attrNameLst>
                                      </p:cBhvr>
                                      <p:to>
                                        <p:strVal val="visible"/>
                                      </p:to>
                                    </p:set>
                                    <p:animEffect transition="in" filter="diamond(in)">
                                      <p:cBhvr>
                                        <p:cTn id="7" dur="2000"/>
                                        <p:tgtEl>
                                          <p:spTgt spid="63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672"/>
            <a:ext cx="7772400" cy="990600"/>
          </a:xfrm>
        </p:spPr>
        <p:txBody>
          <a:bodyPr/>
          <a:lstStyle/>
          <a:p>
            <a:r>
              <a:rPr lang="en-US" altLang="zh-CN" sz="3600" dirty="0" smtClean="0">
                <a:solidFill>
                  <a:srgbClr val="1313FF"/>
                </a:solidFill>
              </a:rPr>
              <a:t>【</a:t>
            </a:r>
            <a:r>
              <a:rPr lang="zh-CN" altLang="en-US" sz="3600" dirty="0" smtClean="0">
                <a:solidFill>
                  <a:srgbClr val="1313FF"/>
                </a:solidFill>
              </a:rPr>
              <a:t>附</a:t>
            </a:r>
            <a:r>
              <a:rPr lang="en-US" altLang="zh-CN" sz="3600" dirty="0" smtClean="0">
                <a:solidFill>
                  <a:srgbClr val="1313FF"/>
                </a:solidFill>
              </a:rPr>
              <a:t>】</a:t>
            </a:r>
            <a:r>
              <a:rPr lang="zh-CN" altLang="en-US" sz="4000" dirty="0" smtClean="0"/>
              <a:t>样本的偏度与峰度</a:t>
            </a:r>
            <a:endParaRPr lang="zh-CN" altLang="en-US" dirty="0"/>
          </a:p>
        </p:txBody>
      </p:sp>
      <p:sp>
        <p:nvSpPr>
          <p:cNvPr id="4" name="灯片编号占位符 3"/>
          <p:cNvSpPr>
            <a:spLocks noGrp="1"/>
          </p:cNvSpPr>
          <p:nvPr>
            <p:ph type="sldNum" sz="quarter" idx="12"/>
          </p:nvPr>
        </p:nvSpPr>
        <p:spPr/>
        <p:txBody>
          <a:bodyPr/>
          <a:lstStyle/>
          <a:p>
            <a:pPr>
              <a:defRPr/>
            </a:pPr>
            <a:fld id="{62FC49CA-8014-4DA2-ABEB-AF96863EC77D}" type="slidenum">
              <a:rPr lang="en-US" altLang="zh-CN" smtClean="0"/>
              <a:pPr>
                <a:defRPr/>
              </a:pPr>
              <a:t>146</a:t>
            </a:fld>
            <a:endParaRPr lang="en-US" altLang="zh-CN" dirty="0"/>
          </a:p>
        </p:txBody>
      </p:sp>
      <p:pic>
        <p:nvPicPr>
          <p:cNvPr id="297987" name="Picture 3"/>
          <p:cNvPicPr>
            <a:picLocks noChangeAspect="1" noChangeArrowheads="1"/>
          </p:cNvPicPr>
          <p:nvPr/>
        </p:nvPicPr>
        <p:blipFill>
          <a:blip r:embed="rId2" cstate="print"/>
          <a:srcRect/>
          <a:stretch>
            <a:fillRect/>
          </a:stretch>
        </p:blipFill>
        <p:spPr bwMode="auto">
          <a:xfrm>
            <a:off x="251520" y="1818137"/>
            <a:ext cx="4824536" cy="1925582"/>
          </a:xfrm>
          <a:prstGeom prst="rect">
            <a:avLst/>
          </a:prstGeom>
          <a:noFill/>
          <a:ln w="9525">
            <a:noFill/>
            <a:miter lim="800000"/>
            <a:headEnd/>
            <a:tailEnd/>
          </a:ln>
        </p:spPr>
      </p:pic>
      <p:pic>
        <p:nvPicPr>
          <p:cNvPr id="297986" name="Picture 2"/>
          <p:cNvPicPr>
            <a:picLocks noChangeAspect="1" noChangeArrowheads="1"/>
          </p:cNvPicPr>
          <p:nvPr/>
        </p:nvPicPr>
        <p:blipFill>
          <a:blip r:embed="rId3" cstate="print"/>
          <a:srcRect/>
          <a:stretch>
            <a:fillRect/>
          </a:stretch>
        </p:blipFill>
        <p:spPr bwMode="auto">
          <a:xfrm>
            <a:off x="4355976" y="2780928"/>
            <a:ext cx="4445272" cy="3600400"/>
          </a:xfrm>
          <a:prstGeom prst="rect">
            <a:avLst/>
          </a:prstGeom>
          <a:noFill/>
          <a:ln w="9525">
            <a:solidFill>
              <a:schemeClr val="accent1"/>
            </a:solidFill>
            <a:miter lim="800000"/>
            <a:headEnd/>
            <a:tailEnd/>
          </a:ln>
        </p:spPr>
      </p:pic>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692026"/>
            <a:ext cx="8287072" cy="990600"/>
          </a:xfrm>
        </p:spPr>
        <p:txBody>
          <a:bodyPr>
            <a:normAutofit fontScale="90000"/>
          </a:bodyPr>
          <a:lstStyle/>
          <a:p>
            <a:r>
              <a:rPr lang="en-US" altLang="zh-CN" dirty="0" smtClean="0">
                <a:solidFill>
                  <a:srgbClr val="0070C0"/>
                </a:solidFill>
              </a:rPr>
              <a:t>【</a:t>
            </a:r>
            <a:r>
              <a:rPr lang="zh-CN" altLang="en-US" dirty="0" smtClean="0">
                <a:solidFill>
                  <a:srgbClr val="0070C0"/>
                </a:solidFill>
              </a:rPr>
              <a:t>补充</a:t>
            </a:r>
            <a:r>
              <a:rPr lang="en-US" altLang="zh-CN" dirty="0" smtClean="0">
                <a:solidFill>
                  <a:srgbClr val="0070C0"/>
                </a:solidFill>
              </a:rPr>
              <a:t>】</a:t>
            </a:r>
            <a:r>
              <a:rPr lang="zh-CN" altLang="en-US" dirty="0" smtClean="0">
                <a:solidFill>
                  <a:srgbClr val="FF0000"/>
                </a:solidFill>
              </a:rPr>
              <a:t>证明：</a:t>
            </a:r>
            <a:r>
              <a:rPr lang="en-US" altLang="zh-CN" dirty="0" smtClean="0">
                <a:solidFill>
                  <a:srgbClr val="FF0000"/>
                </a:solidFill>
              </a:rPr>
              <a:t/>
            </a:r>
            <a:br>
              <a:rPr lang="en-US" altLang="zh-CN" dirty="0" smtClean="0">
                <a:solidFill>
                  <a:srgbClr val="FF0000"/>
                </a:solidFill>
              </a:rPr>
            </a:br>
            <a:r>
              <a:rPr lang="zh-CN" altLang="en-US" dirty="0" smtClean="0">
                <a:solidFill>
                  <a:srgbClr val="FF0000"/>
                </a:solidFill>
              </a:rPr>
              <a:t>算术平均数</a:t>
            </a:r>
            <a:r>
              <a:rPr lang="en-US" altLang="zh-CN" dirty="0" smtClean="0">
                <a:solidFill>
                  <a:srgbClr val="FF0000"/>
                </a:solidFill>
              </a:rPr>
              <a:t>&gt;</a:t>
            </a:r>
            <a:r>
              <a:rPr lang="zh-CN" altLang="en-US" dirty="0" smtClean="0">
                <a:solidFill>
                  <a:srgbClr val="FF0000"/>
                </a:solidFill>
              </a:rPr>
              <a:t>几何平均数</a:t>
            </a:r>
            <a:endParaRPr lang="zh-CN" altLang="en-US" dirty="0">
              <a:solidFill>
                <a:srgbClr val="FF0000"/>
              </a:solidFill>
            </a:endParaRPr>
          </a:p>
        </p:txBody>
      </p:sp>
      <p:graphicFrame>
        <p:nvGraphicFramePr>
          <p:cNvPr id="21506" name="Object 2"/>
          <p:cNvGraphicFramePr>
            <a:graphicFrameLocks noChangeAspect="1"/>
          </p:cNvGraphicFramePr>
          <p:nvPr>
            <p:extLst>
              <p:ext uri="{D42A27DB-BD31-4B8C-83A1-F6EECF244321}">
                <p14:modId xmlns:p14="http://schemas.microsoft.com/office/powerpoint/2010/main" val="2245335331"/>
              </p:ext>
            </p:extLst>
          </p:nvPr>
        </p:nvGraphicFramePr>
        <p:xfrm>
          <a:off x="468233" y="1934687"/>
          <a:ext cx="2491627" cy="864097"/>
        </p:xfrm>
        <a:graphic>
          <a:graphicData uri="http://schemas.openxmlformats.org/presentationml/2006/ole">
            <mc:AlternateContent xmlns:mc="http://schemas.openxmlformats.org/markup-compatibility/2006">
              <mc:Choice xmlns:v="urn:schemas-microsoft-com:vml" Requires="v">
                <p:oleObj spid="_x0000_s281640" name="公式" r:id="rId3" imgW="799920" imgH="228600" progId="Equation.3">
                  <p:embed/>
                </p:oleObj>
              </mc:Choice>
              <mc:Fallback>
                <p:oleObj name="公式" r:id="rId3" imgW="79992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33" y="1934687"/>
                        <a:ext cx="2491627" cy="8640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2"/>
          <p:cNvGraphicFramePr>
            <a:graphicFrameLocks noChangeAspect="1"/>
          </p:cNvGraphicFramePr>
          <p:nvPr>
            <p:extLst>
              <p:ext uri="{D42A27DB-BD31-4B8C-83A1-F6EECF244321}">
                <p14:modId xmlns:p14="http://schemas.microsoft.com/office/powerpoint/2010/main" val="2027632020"/>
              </p:ext>
            </p:extLst>
          </p:nvPr>
        </p:nvGraphicFramePr>
        <p:xfrm>
          <a:off x="3771544" y="1740959"/>
          <a:ext cx="3403600" cy="815975"/>
        </p:xfrm>
        <a:graphic>
          <a:graphicData uri="http://schemas.openxmlformats.org/presentationml/2006/ole">
            <mc:AlternateContent xmlns:mc="http://schemas.openxmlformats.org/markup-compatibility/2006">
              <mc:Choice xmlns:v="urn:schemas-microsoft-com:vml" Requires="v">
                <p:oleObj spid="_x0000_s281641" name="公式" r:id="rId5" imgW="1091880" imgH="215640" progId="Equation.3">
                  <p:embed/>
                </p:oleObj>
              </mc:Choice>
              <mc:Fallback>
                <p:oleObj name="公式" r:id="rId5" imgW="1091880" imgH="21564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1544" y="1740959"/>
                        <a:ext cx="3403600"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
          <p:cNvGraphicFramePr>
            <a:graphicFrameLocks noChangeAspect="1"/>
          </p:cNvGraphicFramePr>
          <p:nvPr>
            <p:extLst>
              <p:ext uri="{D42A27DB-BD31-4B8C-83A1-F6EECF244321}">
                <p14:modId xmlns:p14="http://schemas.microsoft.com/office/powerpoint/2010/main" val="523308698"/>
              </p:ext>
            </p:extLst>
          </p:nvPr>
        </p:nvGraphicFramePr>
        <p:xfrm>
          <a:off x="3771544" y="2568524"/>
          <a:ext cx="4320480" cy="899808"/>
        </p:xfrm>
        <a:graphic>
          <a:graphicData uri="http://schemas.openxmlformats.org/presentationml/2006/ole">
            <mc:AlternateContent xmlns:mc="http://schemas.openxmlformats.org/markup-compatibility/2006">
              <mc:Choice xmlns:v="urn:schemas-microsoft-com:vml" Requires="v">
                <p:oleObj spid="_x0000_s281642" name="公式" r:id="rId7" imgW="1257120" imgH="215640" progId="Equation.3">
                  <p:embed/>
                </p:oleObj>
              </mc:Choice>
              <mc:Fallback>
                <p:oleObj name="公式" r:id="rId7" imgW="1257120" imgH="2156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1544" y="2568524"/>
                        <a:ext cx="4320480" cy="8998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2"/>
          <p:cNvGraphicFramePr>
            <a:graphicFrameLocks noChangeAspect="1"/>
          </p:cNvGraphicFramePr>
          <p:nvPr>
            <p:extLst>
              <p:ext uri="{D42A27DB-BD31-4B8C-83A1-F6EECF244321}">
                <p14:modId xmlns:p14="http://schemas.microsoft.com/office/powerpoint/2010/main" val="2493558636"/>
              </p:ext>
            </p:extLst>
          </p:nvPr>
        </p:nvGraphicFramePr>
        <p:xfrm>
          <a:off x="455257" y="3972455"/>
          <a:ext cx="3316287" cy="952500"/>
        </p:xfrm>
        <a:graphic>
          <a:graphicData uri="http://schemas.openxmlformats.org/presentationml/2006/ole">
            <mc:AlternateContent xmlns:mc="http://schemas.openxmlformats.org/markup-compatibility/2006">
              <mc:Choice xmlns:v="urn:schemas-microsoft-com:vml" Requires="v">
                <p:oleObj spid="_x0000_s281643" name="公式" r:id="rId9" imgW="965160" imgH="228600" progId="Equation.3">
                  <p:embed/>
                </p:oleObj>
              </mc:Choice>
              <mc:Fallback>
                <p:oleObj name="公式" r:id="rId9" imgW="965160" imgH="22860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257" y="3972455"/>
                        <a:ext cx="3316287"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
          <p:cNvGraphicFramePr>
            <a:graphicFrameLocks noChangeAspect="1"/>
          </p:cNvGraphicFramePr>
          <p:nvPr>
            <p:extLst>
              <p:ext uri="{D42A27DB-BD31-4B8C-83A1-F6EECF244321}">
                <p14:modId xmlns:p14="http://schemas.microsoft.com/office/powerpoint/2010/main" val="3250723701"/>
              </p:ext>
            </p:extLst>
          </p:nvPr>
        </p:nvGraphicFramePr>
        <p:xfrm>
          <a:off x="4467064" y="3537304"/>
          <a:ext cx="3312368" cy="1641475"/>
        </p:xfrm>
        <a:graphic>
          <a:graphicData uri="http://schemas.openxmlformats.org/presentationml/2006/ole">
            <mc:AlternateContent xmlns:mc="http://schemas.openxmlformats.org/markup-compatibility/2006">
              <mc:Choice xmlns:v="urn:schemas-microsoft-com:vml" Requires="v">
                <p:oleObj spid="_x0000_s281644" name="公式" r:id="rId11" imgW="901440" imgH="393480" progId="Equation.3">
                  <p:embed/>
                </p:oleObj>
              </mc:Choice>
              <mc:Fallback>
                <p:oleObj name="公式" r:id="rId11" imgW="901440" imgH="39348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67064" y="3537304"/>
                        <a:ext cx="3312368" cy="164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1083370394"/>
              </p:ext>
            </p:extLst>
          </p:nvPr>
        </p:nvGraphicFramePr>
        <p:xfrm>
          <a:off x="3391219" y="5072929"/>
          <a:ext cx="3186113" cy="1641475"/>
        </p:xfrm>
        <a:graphic>
          <a:graphicData uri="http://schemas.openxmlformats.org/presentationml/2006/ole">
            <mc:AlternateContent xmlns:mc="http://schemas.openxmlformats.org/markup-compatibility/2006">
              <mc:Choice xmlns:v="urn:schemas-microsoft-com:vml" Requires="v">
                <p:oleObj spid="_x0000_s281645" name="公式" r:id="rId13" imgW="927000" imgH="393480" progId="Equation.3">
                  <p:embed/>
                </p:oleObj>
              </mc:Choice>
              <mc:Fallback>
                <p:oleObj name="公式" r:id="rId13" imgW="927000" imgH="39348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91219" y="5072929"/>
                        <a:ext cx="3186113" cy="164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6876256" y="5445224"/>
            <a:ext cx="2088232" cy="523220"/>
          </a:xfrm>
          <a:prstGeom prst="rect">
            <a:avLst/>
          </a:prstGeom>
          <a:noFill/>
        </p:spPr>
        <p:txBody>
          <a:bodyPr wrap="square" rtlCol="0">
            <a:spAutoFit/>
          </a:bodyPr>
          <a:lstStyle/>
          <a:p>
            <a:r>
              <a:rPr lang="en-US" altLang="zh-CN" sz="2800" i="1" dirty="0" smtClean="0"/>
              <a:t>(</a:t>
            </a:r>
            <a:r>
              <a:rPr lang="en-US" altLang="zh-CN" sz="2800" i="1" dirty="0" err="1" smtClean="0"/>
              <a:t>a,b</a:t>
            </a:r>
            <a:r>
              <a:rPr lang="en-US" altLang="zh-CN" sz="2800" i="1" dirty="0" smtClean="0"/>
              <a:t>&gt;0,a≠b)</a:t>
            </a:r>
            <a:endParaRPr lang="zh-CN" altLang="en-US" sz="2800" i="1" dirty="0"/>
          </a:p>
        </p:txBody>
      </p:sp>
      <p:sp>
        <p:nvSpPr>
          <p:cNvPr id="12" name="灯片编号占位符 11"/>
          <p:cNvSpPr>
            <a:spLocks noGrp="1"/>
          </p:cNvSpPr>
          <p:nvPr>
            <p:ph type="sldNum" sz="quarter" idx="12"/>
          </p:nvPr>
        </p:nvSpPr>
        <p:spPr/>
        <p:txBody>
          <a:bodyPr/>
          <a:lstStyle/>
          <a:p>
            <a:pPr>
              <a:defRPr/>
            </a:pPr>
            <a:fld id="{62FC49CA-8014-4DA2-ABEB-AF96863EC77D}" type="slidenum">
              <a:rPr lang="en-US" altLang="zh-CN" smtClean="0"/>
              <a:pPr>
                <a:defRPr/>
              </a:pPr>
              <a:t>147</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wipe(left)">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850106"/>
          </a:xfrm>
        </p:spPr>
        <p:txBody>
          <a:bodyPr>
            <a:normAutofit/>
          </a:bodyPr>
          <a:lstStyle/>
          <a:p>
            <a:r>
              <a:rPr lang="zh-CN" altLang="en-US" sz="3600" b="1" dirty="0" smtClean="0"/>
              <a:t>数值平均的通式（幂平均函数）</a:t>
            </a:r>
            <a:endParaRPr lang="zh-CN" altLang="en-US" sz="3600" b="1" dirty="0"/>
          </a:p>
        </p:txBody>
      </p:sp>
      <p:sp>
        <p:nvSpPr>
          <p:cNvPr id="3" name="内容占位符 2"/>
          <p:cNvSpPr>
            <a:spLocks noGrp="1"/>
          </p:cNvSpPr>
          <p:nvPr>
            <p:ph idx="1"/>
          </p:nvPr>
        </p:nvSpPr>
        <p:spPr>
          <a:xfrm>
            <a:off x="3707904" y="2348880"/>
            <a:ext cx="5616624" cy="3888432"/>
          </a:xfrm>
        </p:spPr>
        <p:txBody>
          <a:bodyPr>
            <a:normAutofit fontScale="92500"/>
          </a:bodyPr>
          <a:lstStyle/>
          <a:p>
            <a:r>
              <a:rPr lang="zh-CN" altLang="en-US" dirty="0" smtClean="0">
                <a:solidFill>
                  <a:srgbClr val="002060"/>
                </a:solidFill>
              </a:rPr>
              <a:t>当</a:t>
            </a:r>
            <a:r>
              <a:rPr lang="en-US" altLang="zh-CN" dirty="0" smtClean="0">
                <a:solidFill>
                  <a:srgbClr val="002060"/>
                </a:solidFill>
              </a:rPr>
              <a:t>K=1, </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C00000"/>
                </a:solidFill>
              </a:rPr>
              <a:t>算术平均数</a:t>
            </a:r>
            <a:r>
              <a:rPr lang="zh-CN" altLang="en-US" dirty="0" smtClean="0">
                <a:solidFill>
                  <a:srgbClr val="002060"/>
                </a:solidFill>
              </a:rPr>
              <a:t>；</a:t>
            </a:r>
            <a:endParaRPr lang="en-US" altLang="zh-CN" dirty="0" smtClean="0">
              <a:solidFill>
                <a:srgbClr val="002060"/>
              </a:solidFill>
            </a:endParaRPr>
          </a:p>
          <a:p>
            <a:r>
              <a:rPr lang="zh-CN" altLang="en-US" dirty="0" smtClean="0">
                <a:solidFill>
                  <a:srgbClr val="002060"/>
                </a:solidFill>
              </a:rPr>
              <a:t>当</a:t>
            </a:r>
            <a:r>
              <a:rPr lang="en-US" altLang="zh-CN" dirty="0" smtClean="0">
                <a:solidFill>
                  <a:srgbClr val="002060"/>
                </a:solidFill>
              </a:rPr>
              <a:t>K=-1, </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C00000"/>
                </a:solidFill>
              </a:rPr>
              <a:t>调和平均数</a:t>
            </a:r>
            <a:r>
              <a:rPr lang="zh-CN" altLang="en-US" dirty="0" smtClean="0">
                <a:solidFill>
                  <a:srgbClr val="002060"/>
                </a:solidFill>
              </a:rPr>
              <a:t>；</a:t>
            </a:r>
            <a:endParaRPr lang="en-US" altLang="zh-CN" dirty="0" smtClean="0">
              <a:solidFill>
                <a:srgbClr val="002060"/>
              </a:solidFill>
            </a:endParaRPr>
          </a:p>
          <a:p>
            <a:r>
              <a:rPr lang="zh-CN" altLang="en-US" dirty="0" smtClean="0">
                <a:solidFill>
                  <a:srgbClr val="002060"/>
                </a:solidFill>
              </a:rPr>
              <a:t>当</a:t>
            </a:r>
            <a:r>
              <a:rPr lang="en-US" altLang="zh-CN" dirty="0" smtClean="0">
                <a:solidFill>
                  <a:srgbClr val="002060"/>
                </a:solidFill>
              </a:rPr>
              <a:t>K→0,</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C00000"/>
                </a:solidFill>
              </a:rPr>
              <a:t>几何平均数</a:t>
            </a:r>
            <a:endParaRPr lang="en-US" altLang="zh-CN" dirty="0" smtClean="0">
              <a:solidFill>
                <a:srgbClr val="C00000"/>
              </a:solidFill>
            </a:endParaRPr>
          </a:p>
          <a:p>
            <a:r>
              <a:rPr lang="zh-CN" altLang="en-US" dirty="0" smtClean="0">
                <a:solidFill>
                  <a:srgbClr val="002060"/>
                </a:solidFill>
              </a:rPr>
              <a:t>当</a:t>
            </a:r>
            <a:r>
              <a:rPr lang="en-US" altLang="zh-CN" dirty="0" smtClean="0">
                <a:solidFill>
                  <a:srgbClr val="002060"/>
                </a:solidFill>
              </a:rPr>
              <a:t>K=2, </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002060"/>
                </a:solidFill>
              </a:rPr>
              <a:t>平方平均数；</a:t>
            </a:r>
            <a:endParaRPr lang="en-US" altLang="zh-CN" dirty="0" smtClean="0">
              <a:solidFill>
                <a:srgbClr val="002060"/>
              </a:solidFill>
            </a:endParaRPr>
          </a:p>
          <a:p>
            <a:r>
              <a:rPr lang="zh-CN" altLang="en-US" dirty="0" smtClean="0">
                <a:solidFill>
                  <a:srgbClr val="002060"/>
                </a:solidFill>
              </a:rPr>
              <a:t>当</a:t>
            </a:r>
            <a:r>
              <a:rPr lang="en-US" altLang="zh-CN" dirty="0" smtClean="0">
                <a:solidFill>
                  <a:srgbClr val="002060"/>
                </a:solidFill>
              </a:rPr>
              <a:t>K=</a:t>
            </a:r>
            <a:r>
              <a:rPr lang="en-US" altLang="zh-CN" dirty="0" smtClean="0">
                <a:solidFill>
                  <a:srgbClr val="002060"/>
                </a:solidFill>
                <a:latin typeface="Times New Roman"/>
                <a:cs typeface="Times New Roman"/>
              </a:rPr>
              <a:t>∞</a:t>
            </a:r>
            <a:r>
              <a:rPr lang="en-US" altLang="zh-CN" dirty="0" smtClean="0">
                <a:solidFill>
                  <a:srgbClr val="002060"/>
                </a:solidFill>
              </a:rPr>
              <a:t>, </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002060"/>
                </a:solidFill>
              </a:rPr>
              <a:t>最大值；</a:t>
            </a:r>
            <a:endParaRPr lang="en-US" altLang="zh-CN" dirty="0" smtClean="0">
              <a:solidFill>
                <a:srgbClr val="002060"/>
              </a:solidFill>
            </a:endParaRPr>
          </a:p>
          <a:p>
            <a:r>
              <a:rPr lang="zh-CN" altLang="en-US" dirty="0" smtClean="0">
                <a:solidFill>
                  <a:srgbClr val="002060"/>
                </a:solidFill>
              </a:rPr>
              <a:t>当</a:t>
            </a:r>
            <a:r>
              <a:rPr lang="en-US" altLang="zh-CN" dirty="0" smtClean="0">
                <a:solidFill>
                  <a:srgbClr val="002060"/>
                </a:solidFill>
              </a:rPr>
              <a:t>K=-</a:t>
            </a:r>
            <a:r>
              <a:rPr lang="en-US" altLang="zh-CN" dirty="0" smtClean="0">
                <a:solidFill>
                  <a:srgbClr val="002060"/>
                </a:solidFill>
                <a:latin typeface="Times New Roman"/>
                <a:cs typeface="Times New Roman"/>
              </a:rPr>
              <a:t>∞</a:t>
            </a:r>
            <a:r>
              <a:rPr lang="en-US" altLang="zh-CN" dirty="0" smtClean="0">
                <a:solidFill>
                  <a:srgbClr val="002060"/>
                </a:solidFill>
              </a:rPr>
              <a:t>, </a:t>
            </a:r>
            <a:r>
              <a:rPr lang="zh-CN" altLang="en-US" dirty="0" smtClean="0">
                <a:solidFill>
                  <a:srgbClr val="002060"/>
                </a:solidFill>
              </a:rPr>
              <a:t>上式</a:t>
            </a:r>
            <a:r>
              <a:rPr lang="en-US" altLang="zh-CN" dirty="0" smtClean="0">
                <a:solidFill>
                  <a:srgbClr val="002060"/>
                </a:solidFill>
              </a:rPr>
              <a:t>=</a:t>
            </a:r>
            <a:r>
              <a:rPr lang="zh-CN" altLang="en-US" dirty="0" smtClean="0">
                <a:solidFill>
                  <a:srgbClr val="002060"/>
                </a:solidFill>
              </a:rPr>
              <a:t>最小值；</a:t>
            </a:r>
            <a:endParaRPr lang="en-US" altLang="zh-CN" dirty="0" smtClean="0">
              <a:solidFill>
                <a:srgbClr val="002060"/>
              </a:solidFill>
            </a:endParaRPr>
          </a:p>
          <a:p>
            <a:r>
              <a:rPr lang="en-US" altLang="zh-CN" dirty="0" smtClean="0">
                <a:solidFill>
                  <a:srgbClr val="002060"/>
                </a:solidFill>
              </a:rPr>
              <a:t>K</a:t>
            </a:r>
            <a:r>
              <a:rPr lang="zh-CN" altLang="en-US" dirty="0" smtClean="0">
                <a:solidFill>
                  <a:srgbClr val="002060"/>
                </a:solidFill>
              </a:rPr>
              <a:t>越大，上式越大，反之则反</a:t>
            </a:r>
            <a:endParaRPr lang="en-US" altLang="zh-CN" dirty="0" smtClean="0">
              <a:solidFill>
                <a:srgbClr val="002060"/>
              </a:solidFill>
            </a:endParaRPr>
          </a:p>
        </p:txBody>
      </p:sp>
      <p:graphicFrame>
        <p:nvGraphicFramePr>
          <p:cNvPr id="4098" name="Object 2"/>
          <p:cNvGraphicFramePr>
            <a:graphicFrameLocks noChangeAspect="1"/>
          </p:cNvGraphicFramePr>
          <p:nvPr/>
        </p:nvGraphicFramePr>
        <p:xfrm>
          <a:off x="827584" y="1124744"/>
          <a:ext cx="3659187" cy="1898650"/>
        </p:xfrm>
        <a:graphic>
          <a:graphicData uri="http://schemas.openxmlformats.org/presentationml/2006/ole">
            <mc:AlternateContent xmlns:mc="http://schemas.openxmlformats.org/markup-compatibility/2006">
              <mc:Choice xmlns:v="urn:schemas-microsoft-com:vml" Requires="v">
                <p:oleObj spid="_x0000_s193892" name="公式" r:id="rId4" imgW="660240" imgH="457200" progId="Equation.3">
                  <p:embed/>
                </p:oleObj>
              </mc:Choice>
              <mc:Fallback>
                <p:oleObj name="公式" r:id="rId4" imgW="660240" imgH="45720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124744"/>
                        <a:ext cx="3659187" cy="189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3539" name="Object 3"/>
          <p:cNvGraphicFramePr>
            <a:graphicFrameLocks noChangeAspect="1"/>
          </p:cNvGraphicFramePr>
          <p:nvPr/>
        </p:nvGraphicFramePr>
        <p:xfrm>
          <a:off x="293472" y="3573016"/>
          <a:ext cx="3342424" cy="2437061"/>
        </p:xfrm>
        <a:graphic>
          <a:graphicData uri="http://schemas.openxmlformats.org/presentationml/2006/ole">
            <mc:AlternateContent xmlns:mc="http://schemas.openxmlformats.org/markup-compatibility/2006">
              <mc:Choice xmlns:v="urn:schemas-microsoft-com:vml" Requires="v">
                <p:oleObj spid="_x0000_s193893" name="公式" r:id="rId6" imgW="749160" imgH="482400" progId="Equation.3">
                  <p:embed/>
                </p:oleObj>
              </mc:Choice>
              <mc:Fallback>
                <p:oleObj name="公式" r:id="rId6" imgW="749160" imgH="4824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472" y="3573016"/>
                        <a:ext cx="3342424" cy="24370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62FC49CA-8014-4DA2-ABEB-AF96863EC77D}" type="slidenum">
              <a:rPr lang="en-US" altLang="zh-CN" smtClean="0"/>
              <a:pPr>
                <a:defRPr/>
              </a:pPr>
              <a:t>148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left)">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3539"/>
                                        </p:tgtEl>
                                        <p:attrNameLst>
                                          <p:attrName>style.visibility</p:attrName>
                                        </p:attrNameLst>
                                      </p:cBhvr>
                                      <p:to>
                                        <p:strVal val="visible"/>
                                      </p:to>
                                    </p:set>
                                    <p:animEffect transition="in" filter="wipe(left)">
                                      <p:cBhvr>
                                        <p:cTn id="12" dur="500"/>
                                        <p:tgtEl>
                                          <p:spTgt spid="193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华文隶书" pitchFamily="2" charset="-122"/>
          </a:defRPr>
        </a:defPPr>
      </a:lstStyle>
    </a:lnDef>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Designs\Sumi Painting.pot</Template>
  <TotalTime>9635</TotalTime>
  <Words>9599</Words>
  <Application>Microsoft Office PowerPoint</Application>
  <PresentationFormat>全屏显示(4:3)</PresentationFormat>
  <Paragraphs>1387</Paragraphs>
  <Slides>148</Slides>
  <Notes>35</Notes>
  <HiddenSlides>0</HiddenSlides>
  <MMClips>1</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4</vt:i4>
      </vt:variant>
      <vt:variant>
        <vt:lpstr>幻灯片标题</vt:lpstr>
      </vt:variant>
      <vt:variant>
        <vt:i4>148</vt:i4>
      </vt:variant>
    </vt:vector>
  </HeadingPairs>
  <TitlesOfParts>
    <vt:vector size="176" baseType="lpstr">
      <vt:lpstr>BatangChe</vt:lpstr>
      <vt:lpstr>Monotype Sorts</vt:lpstr>
      <vt:lpstr>等线</vt:lpstr>
      <vt:lpstr>黑体</vt:lpstr>
      <vt:lpstr>华文隶书</vt:lpstr>
      <vt:lpstr>华文宋体</vt:lpstr>
      <vt:lpstr>华文新魏</vt:lpstr>
      <vt:lpstr>华文行楷</vt:lpstr>
      <vt:lpstr>楷体_GB2312</vt:lpstr>
      <vt:lpstr>隶书</vt:lpstr>
      <vt:lpstr>宋体</vt:lpstr>
      <vt:lpstr>宋体</vt:lpstr>
      <vt:lpstr>Arial</vt:lpstr>
      <vt:lpstr>Arial</vt:lpstr>
      <vt:lpstr>Arial Black</vt:lpstr>
      <vt:lpstr>Book Antiqua</vt:lpstr>
      <vt:lpstr>Cambria Math</vt:lpstr>
      <vt:lpstr>Symbol</vt:lpstr>
      <vt:lpstr>Tahoma</vt:lpstr>
      <vt:lpstr>Times New Roman</vt:lpstr>
      <vt:lpstr>Verdana</vt:lpstr>
      <vt:lpstr>Wingdings</vt:lpstr>
      <vt:lpstr>Wingdings 2</vt:lpstr>
      <vt:lpstr>Sumi Painting</vt:lpstr>
      <vt:lpstr>公式</vt:lpstr>
      <vt:lpstr>Clip</vt:lpstr>
      <vt:lpstr>Equation</vt:lpstr>
      <vt:lpstr>Microsoft 公式 3.0</vt:lpstr>
      <vt:lpstr> 3 数据特征的描述</vt:lpstr>
      <vt:lpstr>PowerPoint 演示文稿</vt:lpstr>
      <vt:lpstr>3.1  总量指标和相对指标</vt:lpstr>
      <vt:lpstr>总量指标（例——摘自国家统计局统计公报2024.2.29）</vt:lpstr>
      <vt:lpstr>3.1.1  总量指标 </vt:lpstr>
      <vt:lpstr>2. 总量指标的计量单位</vt:lpstr>
      <vt:lpstr>实物单位（续）</vt:lpstr>
      <vt:lpstr>2. 总量指标的计量单位（续）</vt:lpstr>
      <vt:lpstr>3. 总量指标的种类</vt:lpstr>
      <vt:lpstr>3. 总量指标的种类（续）</vt:lpstr>
      <vt:lpstr>经济流量与经济存量之间的关系 </vt:lpstr>
      <vt:lpstr>4.国民经济中的重要总量指标</vt:lpstr>
      <vt:lpstr>国民经济中的重要总量指标(1)</vt:lpstr>
      <vt:lpstr>国民经济中的重要总量指标(1)</vt:lpstr>
      <vt:lpstr>【例】</vt:lpstr>
      <vt:lpstr>国民经济中的重要总量指标(续2)</vt:lpstr>
      <vt:lpstr>国内生产总值与有关指标的关系</vt:lpstr>
      <vt:lpstr>对比分析法</vt:lpstr>
      <vt:lpstr>3.1.2  相对指标 </vt:lpstr>
      <vt:lpstr>关于百分比的变动</vt:lpstr>
      <vt:lpstr>百分比与百分点、千分比与千分点</vt:lpstr>
      <vt:lpstr>谁是亚洲最赚钱的公司？ </vt:lpstr>
      <vt:lpstr>相对指标的意义</vt:lpstr>
      <vt:lpstr>2. 相对指标的种类及作用</vt:lpstr>
      <vt:lpstr>(2)比例相对数——比例（结构性的比例）</vt:lpstr>
      <vt:lpstr>(3)比较相对数</vt:lpstr>
      <vt:lpstr>(6) 动态相对数</vt:lpstr>
      <vt:lpstr>（4）计划完成相对数</vt:lpstr>
      <vt:lpstr>例1</vt:lpstr>
      <vt:lpstr>【思考1—】解</vt:lpstr>
      <vt:lpstr>【思考2——如何计算计划完成百分比？】</vt:lpstr>
      <vt:lpstr>【思考2——如何计算计划完成百分比？】</vt:lpstr>
      <vt:lpstr>怎样计算超额完成计划百分比？</vt:lpstr>
      <vt:lpstr>中长期计划的完成程度</vt:lpstr>
      <vt:lpstr>计划执行进度</vt:lpstr>
      <vt:lpstr>有关13亿的大小</vt:lpstr>
      <vt:lpstr>（5）强度相对数</vt:lpstr>
      <vt:lpstr>强度相对数的特点</vt:lpstr>
      <vt:lpstr>相对指标的种类小结</vt:lpstr>
      <vt:lpstr>（三）计算和应用相对指标应注意的问题</vt:lpstr>
      <vt:lpstr>3.2  数据集中趋势的描述  ——平均指标</vt:lpstr>
      <vt:lpstr>集中趋势(Central tendency)</vt:lpstr>
      <vt:lpstr>平均数的种类</vt:lpstr>
      <vt:lpstr>1、算术平均数（均值）</vt:lpstr>
      <vt:lpstr>【附】算术平均数与强度相对指标的区别</vt:lpstr>
      <vt:lpstr>（1）简单算术平均数——未分组时 </vt:lpstr>
      <vt:lpstr>（2）加权算术平均数</vt:lpstr>
      <vt:lpstr>权数（权重）</vt:lpstr>
      <vt:lpstr>【例3-1】 </vt:lpstr>
      <vt:lpstr>【例3-1】解</vt:lpstr>
      <vt:lpstr>比重权数更能够直接体现权数的实质</vt:lpstr>
      <vt:lpstr>怎样由组距数列计算总平均数？</vt:lpstr>
      <vt:lpstr>根据组距数列计算总平均数的方法   ——加权算术平均法</vt:lpstr>
      <vt:lpstr>（3）调和平均数</vt:lpstr>
      <vt:lpstr>PowerPoint 演示文稿</vt:lpstr>
      <vt:lpstr>【例3-1+】</vt:lpstr>
      <vt:lpstr>例（3-3*）</vt:lpstr>
      <vt:lpstr>解：</vt:lpstr>
      <vt:lpstr>【附】对相对数求总平均</vt:lpstr>
      <vt:lpstr>平均计划完成百分比——解</vt:lpstr>
      <vt:lpstr>小结</vt:lpstr>
      <vt:lpstr>（4）算术平均数的特点和数学性质</vt:lpstr>
      <vt:lpstr>(4)  算术平均数的数学性质(1)</vt:lpstr>
      <vt:lpstr>(4)  算术平均数的数学性质(2)</vt:lpstr>
      <vt:lpstr>(4)  算术平均数的数学性质(3)</vt:lpstr>
      <vt:lpstr>2.几何平均数</vt:lpstr>
      <vt:lpstr>例</vt:lpstr>
      <vt:lpstr>思考：平均废品率为多少？</vt:lpstr>
      <vt:lpstr>PowerPoint 演示文稿</vt:lpstr>
      <vt:lpstr>加权几何平均法</vt:lpstr>
      <vt:lpstr>3.3.2   位置平均数</vt:lpstr>
      <vt:lpstr>1. 众数（Mode)</vt:lpstr>
      <vt:lpstr>   由未分组数据或单变量值分组的数列确定众数时，直接找出创新次数最多的变量值即可</vt:lpstr>
      <vt:lpstr>由等距数列近似计算众数</vt:lpstr>
      <vt:lpstr>例</vt:lpstr>
      <vt:lpstr>PowerPoint 演示文稿</vt:lpstr>
      <vt:lpstr>PowerPoint 演示文稿</vt:lpstr>
      <vt:lpstr>计算和应用众数的前提条件</vt:lpstr>
      <vt:lpstr>收入的中位数</vt:lpstr>
      <vt:lpstr>2. 中位数（Median)</vt:lpstr>
      <vt:lpstr>中位数的确定</vt:lpstr>
      <vt:lpstr>例</vt:lpstr>
      <vt:lpstr>例</vt:lpstr>
      <vt:lpstr>PowerPoint 演示文稿</vt:lpstr>
      <vt:lpstr>在组距数列中确定中位数</vt:lpstr>
      <vt:lpstr>PowerPoint 演示文稿</vt:lpstr>
      <vt:lpstr>图示——证</vt:lpstr>
      <vt:lpstr>例</vt:lpstr>
      <vt:lpstr>3. 四分位数（ Quartile ）</vt:lpstr>
      <vt:lpstr>【例】</vt:lpstr>
      <vt:lpstr>【十分位数和百分位数】</vt:lpstr>
      <vt:lpstr>工资指导价的高位数、低位数?</vt:lpstr>
      <vt:lpstr>众数、中位数和均值的关系</vt:lpstr>
      <vt:lpstr>PowerPoint 演示文稿</vt:lpstr>
      <vt:lpstr>【附】经验公式</vt:lpstr>
      <vt:lpstr>3.2.3 计算和应用平均指标 应注意的问题</vt:lpstr>
      <vt:lpstr>一则笑话</vt:lpstr>
      <vt:lpstr>投资的统计思考</vt:lpstr>
      <vt:lpstr>次数分布的两种主要特征</vt:lpstr>
      <vt:lpstr>3.3 统计数据离中趋势的描述——变异指标  </vt:lpstr>
      <vt:lpstr>3.2.1 变异指标的概念和作用</vt:lpstr>
      <vt:lpstr>【例】</vt:lpstr>
      <vt:lpstr>3.3.2  极差与四分位差</vt:lpstr>
      <vt:lpstr>PowerPoint 演示文稿</vt:lpstr>
      <vt:lpstr>3.3.2  极差与四分位差（续）</vt:lpstr>
      <vt:lpstr>3.3.3 平均差</vt:lpstr>
      <vt:lpstr>例</vt:lpstr>
      <vt:lpstr>3.3.4 方差和标准差</vt:lpstr>
      <vt:lpstr>PowerPoint 演示文稿</vt:lpstr>
      <vt:lpstr>方差和标准差的数学性质</vt:lpstr>
      <vt:lpstr>方差和标准差的数学性质（续）</vt:lpstr>
      <vt:lpstr>方差的主要数学性质（续）</vt:lpstr>
      <vt:lpstr>3.3.5 离散系数与异众比率</vt:lpstr>
      <vt:lpstr>（例2）</vt:lpstr>
      <vt:lpstr>PowerPoint 演示文稿</vt:lpstr>
      <vt:lpstr>离散系数包括：</vt:lpstr>
      <vt:lpstr>例1——解答</vt:lpstr>
      <vt:lpstr>2. 异众比率</vt:lpstr>
      <vt:lpstr>例</vt:lpstr>
      <vt:lpstr>3.4  数据分布形态的测定—偏度和峰度</vt:lpstr>
      <vt:lpstr>3.4.1  矩（动差 ）</vt:lpstr>
      <vt:lpstr>PowerPoint 演示文稿</vt:lpstr>
      <vt:lpstr>3.4.2 偏态的测定</vt:lpstr>
      <vt:lpstr>偏度(偏度系数)</vt:lpstr>
      <vt:lpstr>【附】测度偏态的其他方法</vt:lpstr>
      <vt:lpstr>2.由3个四分位数之间的关系求偏态系数</vt:lpstr>
      <vt:lpstr>3.4.3 峰态（Kurtosis）</vt:lpstr>
      <vt:lpstr>峰度系数</vt:lpstr>
      <vt:lpstr>【例】计算平均差和方差、标准差</vt:lpstr>
      <vt:lpstr>【例】</vt:lpstr>
      <vt:lpstr>3.5   Z-分数与相关定理</vt:lpstr>
      <vt:lpstr>讨论与思考</vt:lpstr>
      <vt:lpstr>3.5.1 Z-分数（Z-score）</vt:lpstr>
      <vt:lpstr>【例】解答</vt:lpstr>
      <vt:lpstr>3.5.2 切比雪夫定理与经验法则</vt:lpstr>
      <vt:lpstr>正态分布</vt:lpstr>
      <vt:lpstr>钟形分布中的经验法则（empirical rule）</vt:lpstr>
      <vt:lpstr>钟形分布中的经验法则（续）</vt:lpstr>
      <vt:lpstr>3.6  箱线图（Boxplot）</vt:lpstr>
      <vt:lpstr>绘制箱线图的步骤</vt:lpstr>
      <vt:lpstr>图3.6  箱线图</vt:lpstr>
      <vt:lpstr>箱线图的解读</vt:lpstr>
      <vt:lpstr>【例】多组数据的箱线图</vt:lpstr>
      <vt:lpstr>本章小结</vt:lpstr>
      <vt:lpstr>【思考与练习】 选择哪个品种？</vt:lpstr>
      <vt:lpstr>【附】样本的偏度与峰度</vt:lpstr>
      <vt:lpstr>【补充】证明： 算术平均数&gt;几何平均数</vt:lpstr>
      <vt:lpstr>数值平均的通式（幂平均函数）</vt:lpstr>
    </vt:vector>
  </TitlesOfParts>
  <Company>swufe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第3章统计数据的描述</dc:title>
  <dc:creator>Wangqh</dc:creator>
  <cp:lastModifiedBy>Windows User</cp:lastModifiedBy>
  <cp:revision>931</cp:revision>
  <dcterms:created xsi:type="dcterms:W3CDTF">2002-01-23T09:32:22Z</dcterms:created>
  <dcterms:modified xsi:type="dcterms:W3CDTF">2024-03-09T04:29:51Z</dcterms:modified>
</cp:coreProperties>
</file>