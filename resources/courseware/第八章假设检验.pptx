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wdp" ContentType="image/vnd.ms-photo"/>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3648" r:id="rId1"/>
  </p:sldMasterIdLst>
  <p:notesMasterIdLst>
    <p:notesMasterId r:id="rId113"/>
  </p:notesMasterIdLst>
  <p:handoutMasterIdLst>
    <p:handoutMasterId r:id="rId114"/>
  </p:handoutMasterIdLst>
  <p:sldIdLst>
    <p:sldId id="256" r:id="rId2"/>
    <p:sldId id="262" r:id="rId3"/>
    <p:sldId id="257" r:id="rId4"/>
    <p:sldId id="264" r:id="rId5"/>
    <p:sldId id="265" r:id="rId6"/>
    <p:sldId id="266" r:id="rId7"/>
    <p:sldId id="267" r:id="rId8"/>
    <p:sldId id="268" r:id="rId9"/>
    <p:sldId id="383" r:id="rId10"/>
    <p:sldId id="384" r:id="rId11"/>
    <p:sldId id="381" r:id="rId12"/>
    <p:sldId id="270" r:id="rId13"/>
    <p:sldId id="274" r:id="rId14"/>
    <p:sldId id="275" r:id="rId15"/>
    <p:sldId id="276" r:id="rId16"/>
    <p:sldId id="277" r:id="rId17"/>
    <p:sldId id="278" r:id="rId18"/>
    <p:sldId id="279" r:id="rId19"/>
    <p:sldId id="280" r:id="rId20"/>
    <p:sldId id="281" r:id="rId21"/>
    <p:sldId id="282" r:id="rId22"/>
    <p:sldId id="283" r:id="rId23"/>
    <p:sldId id="284" r:id="rId24"/>
    <p:sldId id="285" r:id="rId25"/>
    <p:sldId id="385" r:id="rId26"/>
    <p:sldId id="287" r:id="rId27"/>
    <p:sldId id="288" r:id="rId28"/>
    <p:sldId id="289" r:id="rId29"/>
    <p:sldId id="290" r:id="rId30"/>
    <p:sldId id="291" r:id="rId31"/>
    <p:sldId id="388" r:id="rId32"/>
    <p:sldId id="292" r:id="rId33"/>
    <p:sldId id="293" r:id="rId34"/>
    <p:sldId id="295" r:id="rId35"/>
    <p:sldId id="296" r:id="rId36"/>
    <p:sldId id="297" r:id="rId37"/>
    <p:sldId id="299" r:id="rId38"/>
    <p:sldId id="300" r:id="rId39"/>
    <p:sldId id="301" r:id="rId40"/>
    <p:sldId id="302" r:id="rId41"/>
    <p:sldId id="303" r:id="rId42"/>
    <p:sldId id="304" r:id="rId43"/>
    <p:sldId id="386" r:id="rId44"/>
    <p:sldId id="308" r:id="rId45"/>
    <p:sldId id="309" r:id="rId46"/>
    <p:sldId id="310" r:id="rId47"/>
    <p:sldId id="311" r:id="rId48"/>
    <p:sldId id="312" r:id="rId49"/>
    <p:sldId id="313" r:id="rId50"/>
    <p:sldId id="314" r:id="rId51"/>
    <p:sldId id="315" r:id="rId52"/>
    <p:sldId id="316" r:id="rId53"/>
    <p:sldId id="317" r:id="rId54"/>
    <p:sldId id="318" r:id="rId55"/>
    <p:sldId id="319" r:id="rId56"/>
    <p:sldId id="320" r:id="rId57"/>
    <p:sldId id="321" r:id="rId58"/>
    <p:sldId id="322" r:id="rId59"/>
    <p:sldId id="323" r:id="rId60"/>
    <p:sldId id="324" r:id="rId61"/>
    <p:sldId id="325" r:id="rId62"/>
    <p:sldId id="326" r:id="rId63"/>
    <p:sldId id="327" r:id="rId64"/>
    <p:sldId id="328" r:id="rId65"/>
    <p:sldId id="329" r:id="rId66"/>
    <p:sldId id="330" r:id="rId67"/>
    <p:sldId id="331" r:id="rId68"/>
    <p:sldId id="333" r:id="rId69"/>
    <p:sldId id="334" r:id="rId70"/>
    <p:sldId id="336" r:id="rId71"/>
    <p:sldId id="337" r:id="rId72"/>
    <p:sldId id="338" r:id="rId73"/>
    <p:sldId id="339" r:id="rId74"/>
    <p:sldId id="340" r:id="rId75"/>
    <p:sldId id="341" r:id="rId76"/>
    <p:sldId id="342" r:id="rId77"/>
    <p:sldId id="343" r:id="rId78"/>
    <p:sldId id="344" r:id="rId79"/>
    <p:sldId id="345" r:id="rId80"/>
    <p:sldId id="346" r:id="rId81"/>
    <p:sldId id="347" r:id="rId82"/>
    <p:sldId id="348" r:id="rId83"/>
    <p:sldId id="349" r:id="rId84"/>
    <p:sldId id="351" r:id="rId85"/>
    <p:sldId id="352" r:id="rId86"/>
    <p:sldId id="353" r:id="rId87"/>
    <p:sldId id="354" r:id="rId88"/>
    <p:sldId id="355" r:id="rId89"/>
    <p:sldId id="356" r:id="rId90"/>
    <p:sldId id="357" r:id="rId91"/>
    <p:sldId id="358" r:id="rId92"/>
    <p:sldId id="359" r:id="rId93"/>
    <p:sldId id="360" r:id="rId94"/>
    <p:sldId id="361" r:id="rId95"/>
    <p:sldId id="362" r:id="rId96"/>
    <p:sldId id="363" r:id="rId97"/>
    <p:sldId id="364" r:id="rId98"/>
    <p:sldId id="365" r:id="rId99"/>
    <p:sldId id="366" r:id="rId100"/>
    <p:sldId id="367" r:id="rId101"/>
    <p:sldId id="368" r:id="rId102"/>
    <p:sldId id="369" r:id="rId103"/>
    <p:sldId id="370" r:id="rId104"/>
    <p:sldId id="371" r:id="rId105"/>
    <p:sldId id="372" r:id="rId106"/>
    <p:sldId id="373" r:id="rId107"/>
    <p:sldId id="374" r:id="rId108"/>
    <p:sldId id="375" r:id="rId109"/>
    <p:sldId id="376" r:id="rId110"/>
    <p:sldId id="377" r:id="rId111"/>
    <p:sldId id="378" r:id="rId112"/>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66FF"/>
    <a:srgbClr val="2F559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524" autoAdjust="0"/>
    <p:restoredTop sz="95209" autoAdjust="0"/>
  </p:normalViewPr>
  <p:slideViewPr>
    <p:cSldViewPr snapToGrid="0">
      <p:cViewPr varScale="1">
        <p:scale>
          <a:sx n="156" d="100"/>
          <a:sy n="156" d="100"/>
        </p:scale>
        <p:origin x="150" y="426"/>
      </p:cViewPr>
      <p:guideLst/>
    </p:cSldViewPr>
  </p:slideViewPr>
  <p:outlineViewPr>
    <p:cViewPr>
      <p:scale>
        <a:sx n="33" d="100"/>
        <a:sy n="33" d="100"/>
      </p:scale>
      <p:origin x="0" y="0"/>
    </p:cViewPr>
    <p:sldLst>
      <p:sld r:id="rId1" collapse="1"/>
      <p:sld r:id="rId2" collapse="1"/>
      <p:sld r:id="rId3" collapse="1"/>
      <p:sld r:id="rId4" collapse="1"/>
      <p:sld r:id="rId5" collapse="1"/>
      <p:sld r:id="rId6" collapse="1"/>
      <p:sld r:id="rId7" collapse="1"/>
      <p:sld r:id="rId8" collapse="1"/>
      <p:sld r:id="rId9" collapse="1"/>
      <p:sld r:id="rId10" collapse="1"/>
      <p:sld r:id="rId11" collapse="1"/>
      <p:sld r:id="rId12" collapse="1"/>
      <p:sld r:id="rId13" collapse="1"/>
      <p:sld r:id="rId14" collapse="1"/>
      <p:sld r:id="rId15" collapse="1"/>
      <p:sld r:id="rId16" collapse="1"/>
      <p:sld r:id="rId17" collapse="1"/>
      <p:sld r:id="rId18" collapse="1"/>
      <p:sld r:id="rId19" collapse="1"/>
      <p:sld r:id="rId20" collapse="1"/>
      <p:sld r:id="rId21" collapse="1"/>
      <p:sld r:id="rId22" collapse="1"/>
      <p:sld r:id="rId23" collapse="1"/>
      <p:sld r:id="rId24" collapse="1"/>
      <p:sld r:id="rId25" collapse="1"/>
      <p:sld r:id="rId26" collapse="1"/>
      <p:sld r:id="rId27" collapse="1"/>
      <p:sld r:id="rId28" collapse="1"/>
      <p:sld r:id="rId29" collapse="1"/>
      <p:sld r:id="rId30" collapse="1"/>
      <p:sld r:id="rId31" collapse="1"/>
      <p:sld r:id="rId32" collapse="1"/>
      <p:sld r:id="rId33" collapse="1"/>
      <p:sld r:id="rId34" collapse="1"/>
      <p:sld r:id="rId35" collapse="1"/>
      <p:sld r:id="rId36" collapse="1"/>
      <p:sld r:id="rId37" collapse="1"/>
      <p:sld r:id="rId38" collapse="1"/>
      <p:sld r:id="rId39" collapse="1"/>
      <p:sld r:id="rId40" collapse="1"/>
      <p:sld r:id="rId41" collapse="1"/>
      <p:sld r:id="rId42" collapse="1"/>
      <p:sld r:id="rId43" collapse="1"/>
      <p:sld r:id="rId44" collapse="1"/>
      <p:sld r:id="rId45" collapse="1"/>
      <p:sld r:id="rId46" collapse="1"/>
      <p:sld r:id="rId47" collapse="1"/>
      <p:sld r:id="rId48" collapse="1"/>
      <p:sld r:id="rId49" collapse="1"/>
      <p:sld r:id="rId50" collapse="1"/>
      <p:sld r:id="rId51" collapse="1"/>
      <p:sld r:id="rId52" collapse="1"/>
      <p:sld r:id="rId53" collapse="1"/>
      <p:sld r:id="rId54" collapse="1"/>
      <p:sld r:id="rId55" collapse="1"/>
      <p:sld r:id="rId56" collapse="1"/>
      <p:sld r:id="rId57" collapse="1"/>
      <p:sld r:id="rId58" collapse="1"/>
      <p:sld r:id="rId59" collapse="1"/>
      <p:sld r:id="rId60" collapse="1"/>
      <p:sld r:id="rId61" collapse="1"/>
      <p:sld r:id="rId62" collapse="1"/>
      <p:sld r:id="rId63" collapse="1"/>
      <p:sld r:id="rId64" collapse="1"/>
      <p:sld r:id="rId65" collapse="1"/>
      <p:sld r:id="rId66" collapse="1"/>
      <p:sld r:id="rId67" collapse="1"/>
      <p:sld r:id="rId68" collapse="1"/>
      <p:sld r:id="rId69" collapse="1"/>
      <p:sld r:id="rId70" collapse="1"/>
      <p:sld r:id="rId71" collapse="1"/>
      <p:sld r:id="rId72" collapse="1"/>
      <p:sld r:id="rId73" collapse="1"/>
      <p:sld r:id="rId74" collapse="1"/>
      <p:sld r:id="rId75" collapse="1"/>
      <p:sld r:id="rId76" collapse="1"/>
      <p:sld r:id="rId77" collapse="1"/>
      <p:sld r:id="rId78" collapse="1"/>
      <p:sld r:id="rId79" collapse="1"/>
      <p:sld r:id="rId80" collapse="1"/>
      <p:sld r:id="rId81" collapse="1"/>
      <p:sld r:id="rId82" collapse="1"/>
      <p:sld r:id="rId83" collapse="1"/>
      <p:sld r:id="rId84" collapse="1"/>
      <p:sld r:id="rId85" collapse="1"/>
      <p:sld r:id="rId86" collapse="1"/>
      <p:sld r:id="rId87" collapse="1"/>
      <p:sld r:id="rId88" collapse="1"/>
      <p:sld r:id="rId89" collapse="1"/>
      <p:sld r:id="rId90" collapse="1"/>
      <p:sld r:id="rId91" collapse="1"/>
      <p:sld r:id="rId92" collapse="1"/>
      <p:sld r:id="rId93" collapse="1"/>
      <p:sld r:id="rId94" collapse="1"/>
      <p:sld r:id="rId95" collapse="1"/>
      <p:sld r:id="rId96" collapse="1"/>
      <p:sld r:id="rId97" collapse="1"/>
      <p:sld r:id="rId98" collapse="1"/>
      <p:sld r:id="rId99" collapse="1"/>
      <p:sld r:id="rId100" collapse="1"/>
      <p:sld r:id="rId101" collapse="1"/>
      <p:sld r:id="rId102" collapse="1"/>
      <p:sld r:id="rId103" collapse="1"/>
      <p:sld r:id="rId104" collapse="1"/>
      <p:sld r:id="rId105" collapse="1"/>
    </p:sldLst>
  </p:outlineViewPr>
  <p:notesTextViewPr>
    <p:cViewPr>
      <p:scale>
        <a:sx n="1" d="1"/>
        <a:sy n="1" d="1"/>
      </p:scale>
      <p:origin x="0" y="0"/>
    </p:cViewPr>
  </p:notesTextViewPr>
  <p:notesViewPr>
    <p:cSldViewPr snapToGrid="0">
      <p:cViewPr varScale="1">
        <p:scale>
          <a:sx n="63" d="100"/>
          <a:sy n="63" d="100"/>
        </p:scale>
        <p:origin x="1986" y="78"/>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theme" Target="theme/theme1.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102" Type="http://schemas.openxmlformats.org/officeDocument/2006/relationships/slide" Target="slides/slide101.xml"/><Relationship Id="rId110" Type="http://schemas.openxmlformats.org/officeDocument/2006/relationships/slide" Target="slides/slide109.xml"/><Relationship Id="rId115"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13" Type="http://schemas.openxmlformats.org/officeDocument/2006/relationships/notesMaster" Target="notesMasters/notesMaster1.xml"/><Relationship Id="rId118"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11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slide" Target="slides/slide11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handoutMaster" Target="handoutMasters/handout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s>
</file>

<file path=ppt/_rels/viewProps.xml.rels><?xml version="1.0" encoding="UTF-8" standalone="yes"?>
<Relationships xmlns="http://schemas.openxmlformats.org/package/2006/relationships"><Relationship Id="rId26" Type="http://schemas.openxmlformats.org/officeDocument/2006/relationships/slide" Target="slides/slide30.xml"/><Relationship Id="rId21" Type="http://schemas.openxmlformats.org/officeDocument/2006/relationships/slide" Target="slides/slide25.xml"/><Relationship Id="rId42" Type="http://schemas.openxmlformats.org/officeDocument/2006/relationships/slide" Target="slides/slide47.xml"/><Relationship Id="rId47" Type="http://schemas.openxmlformats.org/officeDocument/2006/relationships/slide" Target="slides/slide52.xml"/><Relationship Id="rId63" Type="http://schemas.openxmlformats.org/officeDocument/2006/relationships/slide" Target="slides/slide68.xml"/><Relationship Id="rId68" Type="http://schemas.openxmlformats.org/officeDocument/2006/relationships/slide" Target="slides/slide73.xml"/><Relationship Id="rId84" Type="http://schemas.openxmlformats.org/officeDocument/2006/relationships/slide" Target="slides/slide90.xml"/><Relationship Id="rId89" Type="http://schemas.openxmlformats.org/officeDocument/2006/relationships/slide" Target="slides/slide95.xml"/><Relationship Id="rId7" Type="http://schemas.openxmlformats.org/officeDocument/2006/relationships/slide" Target="slides/slide11.xml"/><Relationship Id="rId71" Type="http://schemas.openxmlformats.org/officeDocument/2006/relationships/slide" Target="slides/slide76.xml"/><Relationship Id="rId92" Type="http://schemas.openxmlformats.org/officeDocument/2006/relationships/slide" Target="slides/slide98.xml"/><Relationship Id="rId2" Type="http://schemas.openxmlformats.org/officeDocument/2006/relationships/slide" Target="slides/slide5.xml"/><Relationship Id="rId16" Type="http://schemas.openxmlformats.org/officeDocument/2006/relationships/slide" Target="slides/slide20.xml"/><Relationship Id="rId29" Type="http://schemas.openxmlformats.org/officeDocument/2006/relationships/slide" Target="slides/slide33.xml"/><Relationship Id="rId11" Type="http://schemas.openxmlformats.org/officeDocument/2006/relationships/slide" Target="slides/slide15.xml"/><Relationship Id="rId24" Type="http://schemas.openxmlformats.org/officeDocument/2006/relationships/slide" Target="slides/slide28.xml"/><Relationship Id="rId32" Type="http://schemas.openxmlformats.org/officeDocument/2006/relationships/slide" Target="slides/slide36.xml"/><Relationship Id="rId37" Type="http://schemas.openxmlformats.org/officeDocument/2006/relationships/slide" Target="slides/slide41.xml"/><Relationship Id="rId40" Type="http://schemas.openxmlformats.org/officeDocument/2006/relationships/slide" Target="slides/slide45.xml"/><Relationship Id="rId45" Type="http://schemas.openxmlformats.org/officeDocument/2006/relationships/slide" Target="slides/slide50.xml"/><Relationship Id="rId53" Type="http://schemas.openxmlformats.org/officeDocument/2006/relationships/slide" Target="slides/slide58.xml"/><Relationship Id="rId58" Type="http://schemas.openxmlformats.org/officeDocument/2006/relationships/slide" Target="slides/slide63.xml"/><Relationship Id="rId66" Type="http://schemas.openxmlformats.org/officeDocument/2006/relationships/slide" Target="slides/slide71.xml"/><Relationship Id="rId74" Type="http://schemas.openxmlformats.org/officeDocument/2006/relationships/slide" Target="slides/slide79.xml"/><Relationship Id="rId79" Type="http://schemas.openxmlformats.org/officeDocument/2006/relationships/slide" Target="slides/slide85.xml"/><Relationship Id="rId87" Type="http://schemas.openxmlformats.org/officeDocument/2006/relationships/slide" Target="slides/slide93.xml"/><Relationship Id="rId102" Type="http://schemas.openxmlformats.org/officeDocument/2006/relationships/slide" Target="slides/slide108.xml"/><Relationship Id="rId5" Type="http://schemas.openxmlformats.org/officeDocument/2006/relationships/slide" Target="slides/slide8.xml"/><Relationship Id="rId61" Type="http://schemas.openxmlformats.org/officeDocument/2006/relationships/slide" Target="slides/slide66.xml"/><Relationship Id="rId82" Type="http://schemas.openxmlformats.org/officeDocument/2006/relationships/slide" Target="slides/slide88.xml"/><Relationship Id="rId90" Type="http://schemas.openxmlformats.org/officeDocument/2006/relationships/slide" Target="slides/slide96.xml"/><Relationship Id="rId95" Type="http://schemas.openxmlformats.org/officeDocument/2006/relationships/slide" Target="slides/slide101.xml"/><Relationship Id="rId19" Type="http://schemas.openxmlformats.org/officeDocument/2006/relationships/slide" Target="slides/slide23.xml"/><Relationship Id="rId14" Type="http://schemas.openxmlformats.org/officeDocument/2006/relationships/slide" Target="slides/slide18.xml"/><Relationship Id="rId22" Type="http://schemas.openxmlformats.org/officeDocument/2006/relationships/slide" Target="slides/slide26.xml"/><Relationship Id="rId27" Type="http://schemas.openxmlformats.org/officeDocument/2006/relationships/slide" Target="slides/slide31.xml"/><Relationship Id="rId30" Type="http://schemas.openxmlformats.org/officeDocument/2006/relationships/slide" Target="slides/slide34.xml"/><Relationship Id="rId35" Type="http://schemas.openxmlformats.org/officeDocument/2006/relationships/slide" Target="slides/slide39.xml"/><Relationship Id="rId43" Type="http://schemas.openxmlformats.org/officeDocument/2006/relationships/slide" Target="slides/slide48.xml"/><Relationship Id="rId48" Type="http://schemas.openxmlformats.org/officeDocument/2006/relationships/slide" Target="slides/slide53.xml"/><Relationship Id="rId56" Type="http://schemas.openxmlformats.org/officeDocument/2006/relationships/slide" Target="slides/slide61.xml"/><Relationship Id="rId64" Type="http://schemas.openxmlformats.org/officeDocument/2006/relationships/slide" Target="slides/slide69.xml"/><Relationship Id="rId69" Type="http://schemas.openxmlformats.org/officeDocument/2006/relationships/slide" Target="slides/slide74.xml"/><Relationship Id="rId77" Type="http://schemas.openxmlformats.org/officeDocument/2006/relationships/slide" Target="slides/slide83.xml"/><Relationship Id="rId100" Type="http://schemas.openxmlformats.org/officeDocument/2006/relationships/slide" Target="slides/slide106.xml"/><Relationship Id="rId105" Type="http://schemas.openxmlformats.org/officeDocument/2006/relationships/slide" Target="slides/slide111.xml"/><Relationship Id="rId8" Type="http://schemas.openxmlformats.org/officeDocument/2006/relationships/slide" Target="slides/slide12.xml"/><Relationship Id="rId51" Type="http://schemas.openxmlformats.org/officeDocument/2006/relationships/slide" Target="slides/slide56.xml"/><Relationship Id="rId72" Type="http://schemas.openxmlformats.org/officeDocument/2006/relationships/slide" Target="slides/slide77.xml"/><Relationship Id="rId80" Type="http://schemas.openxmlformats.org/officeDocument/2006/relationships/slide" Target="slides/slide86.xml"/><Relationship Id="rId85" Type="http://schemas.openxmlformats.org/officeDocument/2006/relationships/slide" Target="slides/slide91.xml"/><Relationship Id="rId93" Type="http://schemas.openxmlformats.org/officeDocument/2006/relationships/slide" Target="slides/slide99.xml"/><Relationship Id="rId98" Type="http://schemas.openxmlformats.org/officeDocument/2006/relationships/slide" Target="slides/slide104.xml"/><Relationship Id="rId3" Type="http://schemas.openxmlformats.org/officeDocument/2006/relationships/slide" Target="slides/slide6.xml"/><Relationship Id="rId12" Type="http://schemas.openxmlformats.org/officeDocument/2006/relationships/slide" Target="slides/slide16.xml"/><Relationship Id="rId17" Type="http://schemas.openxmlformats.org/officeDocument/2006/relationships/slide" Target="slides/slide21.xml"/><Relationship Id="rId25" Type="http://schemas.openxmlformats.org/officeDocument/2006/relationships/slide" Target="slides/slide29.xml"/><Relationship Id="rId33" Type="http://schemas.openxmlformats.org/officeDocument/2006/relationships/slide" Target="slides/slide37.xml"/><Relationship Id="rId38" Type="http://schemas.openxmlformats.org/officeDocument/2006/relationships/slide" Target="slides/slide42.xml"/><Relationship Id="rId46" Type="http://schemas.openxmlformats.org/officeDocument/2006/relationships/slide" Target="slides/slide51.xml"/><Relationship Id="rId59" Type="http://schemas.openxmlformats.org/officeDocument/2006/relationships/slide" Target="slides/slide64.xml"/><Relationship Id="rId67" Type="http://schemas.openxmlformats.org/officeDocument/2006/relationships/slide" Target="slides/slide72.xml"/><Relationship Id="rId103" Type="http://schemas.openxmlformats.org/officeDocument/2006/relationships/slide" Target="slides/slide109.xml"/><Relationship Id="rId20" Type="http://schemas.openxmlformats.org/officeDocument/2006/relationships/slide" Target="slides/slide24.xml"/><Relationship Id="rId41" Type="http://schemas.openxmlformats.org/officeDocument/2006/relationships/slide" Target="slides/slide46.xml"/><Relationship Id="rId54" Type="http://schemas.openxmlformats.org/officeDocument/2006/relationships/slide" Target="slides/slide59.xml"/><Relationship Id="rId62" Type="http://schemas.openxmlformats.org/officeDocument/2006/relationships/slide" Target="slides/slide67.xml"/><Relationship Id="rId70" Type="http://schemas.openxmlformats.org/officeDocument/2006/relationships/slide" Target="slides/slide75.xml"/><Relationship Id="rId75" Type="http://schemas.openxmlformats.org/officeDocument/2006/relationships/slide" Target="slides/slide80.xml"/><Relationship Id="rId83" Type="http://schemas.openxmlformats.org/officeDocument/2006/relationships/slide" Target="slides/slide89.xml"/><Relationship Id="rId88" Type="http://schemas.openxmlformats.org/officeDocument/2006/relationships/slide" Target="slides/slide94.xml"/><Relationship Id="rId91" Type="http://schemas.openxmlformats.org/officeDocument/2006/relationships/slide" Target="slides/slide97.xml"/><Relationship Id="rId96" Type="http://schemas.openxmlformats.org/officeDocument/2006/relationships/slide" Target="slides/slide102.xml"/><Relationship Id="rId1" Type="http://schemas.openxmlformats.org/officeDocument/2006/relationships/slide" Target="slides/slide4.xml"/><Relationship Id="rId6" Type="http://schemas.openxmlformats.org/officeDocument/2006/relationships/slide" Target="slides/slide10.xml"/><Relationship Id="rId15" Type="http://schemas.openxmlformats.org/officeDocument/2006/relationships/slide" Target="slides/slide19.xml"/><Relationship Id="rId23" Type="http://schemas.openxmlformats.org/officeDocument/2006/relationships/slide" Target="slides/slide27.xml"/><Relationship Id="rId28" Type="http://schemas.openxmlformats.org/officeDocument/2006/relationships/slide" Target="slides/slide32.xml"/><Relationship Id="rId36" Type="http://schemas.openxmlformats.org/officeDocument/2006/relationships/slide" Target="slides/slide40.xml"/><Relationship Id="rId49" Type="http://schemas.openxmlformats.org/officeDocument/2006/relationships/slide" Target="slides/slide54.xml"/><Relationship Id="rId57" Type="http://schemas.openxmlformats.org/officeDocument/2006/relationships/slide" Target="slides/slide62.xml"/><Relationship Id="rId10" Type="http://schemas.openxmlformats.org/officeDocument/2006/relationships/slide" Target="slides/slide14.xml"/><Relationship Id="rId31" Type="http://schemas.openxmlformats.org/officeDocument/2006/relationships/slide" Target="slides/slide35.xml"/><Relationship Id="rId44" Type="http://schemas.openxmlformats.org/officeDocument/2006/relationships/slide" Target="slides/slide49.xml"/><Relationship Id="rId52" Type="http://schemas.openxmlformats.org/officeDocument/2006/relationships/slide" Target="slides/slide57.xml"/><Relationship Id="rId60" Type="http://schemas.openxmlformats.org/officeDocument/2006/relationships/slide" Target="slides/slide65.xml"/><Relationship Id="rId65" Type="http://schemas.openxmlformats.org/officeDocument/2006/relationships/slide" Target="slides/slide70.xml"/><Relationship Id="rId73" Type="http://schemas.openxmlformats.org/officeDocument/2006/relationships/slide" Target="slides/slide78.xml"/><Relationship Id="rId78" Type="http://schemas.openxmlformats.org/officeDocument/2006/relationships/slide" Target="slides/slide84.xml"/><Relationship Id="rId81" Type="http://schemas.openxmlformats.org/officeDocument/2006/relationships/slide" Target="slides/slide87.xml"/><Relationship Id="rId86" Type="http://schemas.openxmlformats.org/officeDocument/2006/relationships/slide" Target="slides/slide92.xml"/><Relationship Id="rId94" Type="http://schemas.openxmlformats.org/officeDocument/2006/relationships/slide" Target="slides/slide100.xml"/><Relationship Id="rId99" Type="http://schemas.openxmlformats.org/officeDocument/2006/relationships/slide" Target="slides/slide105.xml"/><Relationship Id="rId101" Type="http://schemas.openxmlformats.org/officeDocument/2006/relationships/slide" Target="slides/slide107.xml"/><Relationship Id="rId4" Type="http://schemas.openxmlformats.org/officeDocument/2006/relationships/slide" Target="slides/slide7.xml"/><Relationship Id="rId9" Type="http://schemas.openxmlformats.org/officeDocument/2006/relationships/slide" Target="slides/slide13.xml"/><Relationship Id="rId13" Type="http://schemas.openxmlformats.org/officeDocument/2006/relationships/slide" Target="slides/slide17.xml"/><Relationship Id="rId18" Type="http://schemas.openxmlformats.org/officeDocument/2006/relationships/slide" Target="slides/slide22.xml"/><Relationship Id="rId39" Type="http://schemas.openxmlformats.org/officeDocument/2006/relationships/slide" Target="slides/slide44.xml"/><Relationship Id="rId34" Type="http://schemas.openxmlformats.org/officeDocument/2006/relationships/slide" Target="slides/slide38.xml"/><Relationship Id="rId50" Type="http://schemas.openxmlformats.org/officeDocument/2006/relationships/slide" Target="slides/slide55.xml"/><Relationship Id="rId55" Type="http://schemas.openxmlformats.org/officeDocument/2006/relationships/slide" Target="slides/slide60.xml"/><Relationship Id="rId76" Type="http://schemas.openxmlformats.org/officeDocument/2006/relationships/slide" Target="slides/slide81.xml"/><Relationship Id="rId97" Type="http://schemas.openxmlformats.org/officeDocument/2006/relationships/slide" Target="slides/slide103.xml"/><Relationship Id="rId104" Type="http://schemas.openxmlformats.org/officeDocument/2006/relationships/slide" Target="slides/slide11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791D0A5E-FA7B-DACE-14BA-D1FC110A20B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a:extLst>
              <a:ext uri="{FF2B5EF4-FFF2-40B4-BE49-F238E27FC236}">
                <a16:creationId xmlns:a16="http://schemas.microsoft.com/office/drawing/2014/main" id="{18EBAD23-764C-C31C-8CF5-ED7DA599AAC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6E752C-FE40-4A84-8DB9-FF3FD7239BDC}" type="datetimeFigureOut">
              <a:rPr lang="zh-CN" altLang="en-US" smtClean="0"/>
              <a:t>2024/1/2</a:t>
            </a:fld>
            <a:endParaRPr lang="zh-CN" altLang="en-US"/>
          </a:p>
        </p:txBody>
      </p:sp>
      <p:sp>
        <p:nvSpPr>
          <p:cNvPr id="4" name="页脚占位符 3">
            <a:extLst>
              <a:ext uri="{FF2B5EF4-FFF2-40B4-BE49-F238E27FC236}">
                <a16:creationId xmlns:a16="http://schemas.microsoft.com/office/drawing/2014/main" id="{EF21BE92-56D8-FBF4-E590-9C209A93983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a:extLst>
              <a:ext uri="{FF2B5EF4-FFF2-40B4-BE49-F238E27FC236}">
                <a16:creationId xmlns:a16="http://schemas.microsoft.com/office/drawing/2014/main" id="{DFD35447-A950-6DBA-F664-98F4675EC92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1F0ADA3-9B9A-4657-9395-985FB66FAED0}" type="slidenum">
              <a:rPr lang="zh-CN" altLang="en-US" smtClean="0"/>
              <a:t>‹#›</a:t>
            </a:fld>
            <a:endParaRPr lang="zh-CN" altLang="en-US"/>
          </a:p>
        </p:txBody>
      </p:sp>
    </p:spTree>
    <p:extLst>
      <p:ext uri="{BB962C8B-B14F-4D97-AF65-F5344CB8AC3E}">
        <p14:creationId xmlns:p14="http://schemas.microsoft.com/office/powerpoint/2010/main" val="422284537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136DD43-4F40-4208-88D0-5622562EF30F}" type="datetimeFigureOut">
              <a:rPr lang="zh-CN" altLang="en-US" smtClean="0"/>
              <a:t>2024/1/2</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479AB4D-55C9-4E03-92E9-EE7DF995422D}" type="slidenum">
              <a:rPr lang="zh-CN" altLang="en-US" smtClean="0"/>
              <a:t>‹#›</a:t>
            </a:fld>
            <a:endParaRPr lang="zh-CN" altLang="en-US"/>
          </a:p>
        </p:txBody>
      </p:sp>
    </p:spTree>
    <p:extLst>
      <p:ext uri="{BB962C8B-B14F-4D97-AF65-F5344CB8AC3E}">
        <p14:creationId xmlns:p14="http://schemas.microsoft.com/office/powerpoint/2010/main" val="21647849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7"/>
          <p:cNvSpPr>
            <a:spLocks noGrp="1" noChangeArrowheads="1"/>
          </p:cNvSpPr>
          <p:nvPr>
            <p:ph type="sldNum" sz="quarter" idx="5"/>
          </p:nvPr>
        </p:nvSpPr>
        <p:spPr>
          <a:noFill/>
        </p:spPr>
        <p:txBody>
          <a:bodyPr/>
          <a:lstStyle/>
          <a:p>
            <a:fld id="{9CB49F56-DA92-4B57-A39A-17D9D8F0BD3C}" type="slidenum">
              <a:rPr lang="en-US" altLang="zh-CN" smtClean="0">
                <a:latin typeface="Arial" pitchFamily="34" charset="0"/>
                <a:ea typeface="宋体" pitchFamily="2" charset="-122"/>
              </a:rPr>
              <a:pPr/>
              <a:t>5</a:t>
            </a:fld>
            <a:endParaRPr lang="en-US" altLang="zh-CN">
              <a:latin typeface="Arial" pitchFamily="34" charset="0"/>
              <a:ea typeface="宋体" pitchFamily="2" charset="-122"/>
            </a:endParaRPr>
          </a:p>
        </p:txBody>
      </p:sp>
      <p:sp>
        <p:nvSpPr>
          <p:cNvPr id="126979" name="Rectangle 2"/>
          <p:cNvSpPr>
            <a:spLocks noGrp="1" noChangeArrowheads="1"/>
          </p:cNvSpPr>
          <p:nvPr>
            <p:ph type="body" idx="1"/>
          </p:nvPr>
        </p:nvSpPr>
        <p:spPr>
          <a:xfrm>
            <a:off x="885825" y="3503613"/>
            <a:ext cx="4873625" cy="5540375"/>
          </a:xfrm>
          <a:noFill/>
          <a:ln/>
        </p:spPr>
        <p:txBody>
          <a:bodyPr lIns="90488" tIns="44450" rIns="90488" bIns="44450"/>
          <a:lstStyle/>
          <a:p>
            <a:pPr eaLnBrk="1" hangingPunct="1"/>
            <a:endParaRPr lang="zh-CN" altLang="zh-CN">
              <a:latin typeface="Arial" pitchFamily="34" charset="0"/>
              <a:ea typeface="宋体" pitchFamily="2" charset="-122"/>
            </a:endParaRPr>
          </a:p>
        </p:txBody>
      </p:sp>
      <p:sp>
        <p:nvSpPr>
          <p:cNvPr id="126980" name="Rectangle 3"/>
          <p:cNvSpPr>
            <a:spLocks noGrp="1" noRot="1" noChangeAspect="1" noChangeArrowheads="1" noTextEdit="1"/>
          </p:cNvSpPr>
          <p:nvPr>
            <p:ph type="sldImg"/>
          </p:nvPr>
        </p:nvSpPr>
        <p:spPr>
          <a:xfrm>
            <a:off x="1163638" y="739775"/>
            <a:ext cx="4318000" cy="2430463"/>
          </a:xfrm>
          <a:ln w="12700" cap="flat">
            <a:solidFill>
              <a:schemeClr val="tx1"/>
            </a:solidFill>
          </a:ln>
        </p:spPr>
      </p:sp>
    </p:spTree>
    <p:extLst>
      <p:ext uri="{BB962C8B-B14F-4D97-AF65-F5344CB8AC3E}">
        <p14:creationId xmlns:p14="http://schemas.microsoft.com/office/powerpoint/2010/main" val="19204286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7"/>
          <p:cNvSpPr>
            <a:spLocks noGrp="1" noChangeArrowheads="1"/>
          </p:cNvSpPr>
          <p:nvPr>
            <p:ph type="sldNum" sz="quarter" idx="5"/>
          </p:nvPr>
        </p:nvSpPr>
        <p:spPr>
          <a:noFill/>
        </p:spPr>
        <p:txBody>
          <a:bodyPr/>
          <a:lstStyle/>
          <a:p>
            <a:fld id="{0ECAC65E-78D7-4F7B-99BC-83A221C03EFC}" type="slidenum">
              <a:rPr lang="en-US" altLang="zh-CN" smtClean="0">
                <a:latin typeface="Arial" pitchFamily="34" charset="0"/>
                <a:ea typeface="宋体" pitchFamily="2" charset="-122"/>
              </a:rPr>
              <a:pPr/>
              <a:t>12</a:t>
            </a:fld>
            <a:endParaRPr lang="en-US" altLang="zh-CN">
              <a:latin typeface="Arial" pitchFamily="34" charset="0"/>
              <a:ea typeface="宋体" pitchFamily="2" charset="-122"/>
            </a:endParaRPr>
          </a:p>
        </p:txBody>
      </p:sp>
      <p:sp>
        <p:nvSpPr>
          <p:cNvPr id="129027" name="Rectangle 2"/>
          <p:cNvSpPr>
            <a:spLocks noGrp="1" noChangeArrowheads="1"/>
          </p:cNvSpPr>
          <p:nvPr>
            <p:ph type="body" idx="1"/>
          </p:nvPr>
        </p:nvSpPr>
        <p:spPr>
          <a:xfrm>
            <a:off x="885825" y="3503613"/>
            <a:ext cx="4873625" cy="5540375"/>
          </a:xfrm>
          <a:noFill/>
          <a:ln/>
        </p:spPr>
        <p:txBody>
          <a:bodyPr lIns="90488" tIns="44450" rIns="90488" bIns="44450"/>
          <a:lstStyle/>
          <a:p>
            <a:pPr eaLnBrk="1" hangingPunct="1"/>
            <a:endParaRPr lang="zh-CN" altLang="zh-CN">
              <a:latin typeface="Arial" pitchFamily="34" charset="0"/>
              <a:ea typeface="宋体" pitchFamily="2" charset="-122"/>
            </a:endParaRPr>
          </a:p>
        </p:txBody>
      </p:sp>
      <p:sp>
        <p:nvSpPr>
          <p:cNvPr id="129028" name="Rectangle 3"/>
          <p:cNvSpPr>
            <a:spLocks noGrp="1" noRot="1" noChangeAspect="1" noChangeArrowheads="1" noTextEdit="1"/>
          </p:cNvSpPr>
          <p:nvPr>
            <p:ph type="sldImg"/>
          </p:nvPr>
        </p:nvSpPr>
        <p:spPr>
          <a:xfrm>
            <a:off x="1163638" y="739775"/>
            <a:ext cx="4318000" cy="2430463"/>
          </a:xfrm>
          <a:ln w="12700" cap="flat">
            <a:solidFill>
              <a:schemeClr val="tx1"/>
            </a:solidFill>
          </a:ln>
        </p:spPr>
      </p:sp>
    </p:spTree>
    <p:extLst>
      <p:ext uri="{BB962C8B-B14F-4D97-AF65-F5344CB8AC3E}">
        <p14:creationId xmlns:p14="http://schemas.microsoft.com/office/powerpoint/2010/main" val="13651931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7"/>
          <p:cNvSpPr>
            <a:spLocks noGrp="1" noChangeArrowheads="1"/>
          </p:cNvSpPr>
          <p:nvPr>
            <p:ph type="sldNum" sz="quarter" idx="5"/>
          </p:nvPr>
        </p:nvSpPr>
        <p:spPr>
          <a:noFill/>
        </p:spPr>
        <p:txBody>
          <a:bodyPr/>
          <a:lstStyle/>
          <a:p>
            <a:fld id="{4EC133F8-774B-4CA8-BF26-BDD6F2C619A7}" type="slidenum">
              <a:rPr lang="en-US" altLang="zh-CN" smtClean="0">
                <a:latin typeface="Arial" pitchFamily="34" charset="0"/>
                <a:ea typeface="宋体" pitchFamily="2" charset="-122"/>
              </a:rPr>
              <a:pPr/>
              <a:t>13</a:t>
            </a:fld>
            <a:endParaRPr lang="en-US" altLang="zh-CN">
              <a:latin typeface="Arial" pitchFamily="34" charset="0"/>
              <a:ea typeface="宋体" pitchFamily="2" charset="-122"/>
            </a:endParaRPr>
          </a:p>
        </p:txBody>
      </p:sp>
      <p:sp>
        <p:nvSpPr>
          <p:cNvPr id="130051" name="Rectangle 2"/>
          <p:cNvSpPr>
            <a:spLocks noGrp="1" noChangeArrowheads="1"/>
          </p:cNvSpPr>
          <p:nvPr>
            <p:ph type="body" idx="1"/>
          </p:nvPr>
        </p:nvSpPr>
        <p:spPr>
          <a:xfrm>
            <a:off x="885825" y="3503613"/>
            <a:ext cx="4873625" cy="5540375"/>
          </a:xfrm>
          <a:noFill/>
          <a:ln/>
        </p:spPr>
        <p:txBody>
          <a:bodyPr lIns="90488" tIns="44450" rIns="90488" bIns="44450"/>
          <a:lstStyle/>
          <a:p>
            <a:pPr eaLnBrk="1" hangingPunct="1"/>
            <a:endParaRPr lang="zh-CN" altLang="zh-CN">
              <a:latin typeface="Arial" pitchFamily="34" charset="0"/>
              <a:ea typeface="宋体" pitchFamily="2" charset="-122"/>
            </a:endParaRPr>
          </a:p>
        </p:txBody>
      </p:sp>
      <p:sp>
        <p:nvSpPr>
          <p:cNvPr id="130052" name="Rectangle 3"/>
          <p:cNvSpPr>
            <a:spLocks noGrp="1" noRot="1" noChangeAspect="1" noChangeArrowheads="1" noTextEdit="1"/>
          </p:cNvSpPr>
          <p:nvPr>
            <p:ph type="sldImg"/>
          </p:nvPr>
        </p:nvSpPr>
        <p:spPr>
          <a:xfrm>
            <a:off x="1163638" y="739775"/>
            <a:ext cx="4318000" cy="2430463"/>
          </a:xfrm>
          <a:ln w="12700" cap="flat">
            <a:solidFill>
              <a:schemeClr val="tx1"/>
            </a:solidFill>
          </a:ln>
        </p:spPr>
      </p:sp>
    </p:spTree>
    <p:extLst>
      <p:ext uri="{BB962C8B-B14F-4D97-AF65-F5344CB8AC3E}">
        <p14:creationId xmlns:p14="http://schemas.microsoft.com/office/powerpoint/2010/main" val="26151006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7"/>
          <p:cNvSpPr>
            <a:spLocks noGrp="1" noChangeArrowheads="1"/>
          </p:cNvSpPr>
          <p:nvPr>
            <p:ph type="sldNum" sz="quarter" idx="5"/>
          </p:nvPr>
        </p:nvSpPr>
        <p:spPr>
          <a:noFill/>
        </p:spPr>
        <p:txBody>
          <a:bodyPr/>
          <a:lstStyle/>
          <a:p>
            <a:fld id="{FBC18EF8-EDCF-4CBB-A2A6-EC60FFF39A63}" type="slidenum">
              <a:rPr lang="en-US" altLang="zh-CN" smtClean="0">
                <a:latin typeface="Arial" pitchFamily="34" charset="0"/>
                <a:ea typeface="宋体" pitchFamily="2" charset="-122"/>
              </a:rPr>
              <a:pPr/>
              <a:t>15</a:t>
            </a:fld>
            <a:endParaRPr lang="en-US" altLang="zh-CN">
              <a:latin typeface="Arial" pitchFamily="34" charset="0"/>
              <a:ea typeface="宋体" pitchFamily="2" charset="-122"/>
            </a:endParaRPr>
          </a:p>
        </p:txBody>
      </p:sp>
      <p:sp>
        <p:nvSpPr>
          <p:cNvPr id="131075" name="Rectangle 2"/>
          <p:cNvSpPr>
            <a:spLocks noGrp="1" noChangeArrowheads="1"/>
          </p:cNvSpPr>
          <p:nvPr>
            <p:ph type="body" idx="1"/>
          </p:nvPr>
        </p:nvSpPr>
        <p:spPr>
          <a:xfrm>
            <a:off x="885825" y="3503613"/>
            <a:ext cx="4873625" cy="5540375"/>
          </a:xfrm>
          <a:noFill/>
          <a:ln/>
        </p:spPr>
        <p:txBody>
          <a:bodyPr lIns="90488" tIns="44450" rIns="90488" bIns="44450"/>
          <a:lstStyle/>
          <a:p>
            <a:pPr eaLnBrk="1" hangingPunct="1"/>
            <a:endParaRPr lang="zh-CN" altLang="zh-CN">
              <a:latin typeface="Arial" pitchFamily="34" charset="0"/>
              <a:ea typeface="宋体" pitchFamily="2" charset="-122"/>
            </a:endParaRPr>
          </a:p>
        </p:txBody>
      </p:sp>
      <p:sp>
        <p:nvSpPr>
          <p:cNvPr id="131076" name="Rectangle 3"/>
          <p:cNvSpPr>
            <a:spLocks noGrp="1" noRot="1" noChangeAspect="1" noChangeArrowheads="1" noTextEdit="1"/>
          </p:cNvSpPr>
          <p:nvPr>
            <p:ph type="sldImg"/>
          </p:nvPr>
        </p:nvSpPr>
        <p:spPr>
          <a:xfrm>
            <a:off x="1163638" y="739775"/>
            <a:ext cx="4318000" cy="2430463"/>
          </a:xfrm>
          <a:ln w="12700" cap="flat">
            <a:solidFill>
              <a:schemeClr val="tx1"/>
            </a:solidFill>
          </a:ln>
        </p:spPr>
      </p:sp>
    </p:spTree>
    <p:extLst>
      <p:ext uri="{BB962C8B-B14F-4D97-AF65-F5344CB8AC3E}">
        <p14:creationId xmlns:p14="http://schemas.microsoft.com/office/powerpoint/2010/main" val="33016547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7"/>
          <p:cNvSpPr>
            <a:spLocks noGrp="1" noChangeArrowheads="1"/>
          </p:cNvSpPr>
          <p:nvPr>
            <p:ph type="sldNum" sz="quarter" idx="5"/>
          </p:nvPr>
        </p:nvSpPr>
        <p:spPr>
          <a:noFill/>
        </p:spPr>
        <p:txBody>
          <a:bodyPr/>
          <a:lstStyle/>
          <a:p>
            <a:fld id="{19D969F1-2E45-49A4-8B43-8AAC50E6D2FE}" type="slidenum">
              <a:rPr lang="en-US" altLang="zh-CN" smtClean="0">
                <a:latin typeface="Arial" pitchFamily="34" charset="0"/>
                <a:ea typeface="宋体" pitchFamily="2" charset="-122"/>
              </a:rPr>
              <a:pPr/>
              <a:t>17</a:t>
            </a:fld>
            <a:endParaRPr lang="en-US" altLang="zh-CN">
              <a:latin typeface="Arial" pitchFamily="34" charset="0"/>
              <a:ea typeface="宋体" pitchFamily="2" charset="-122"/>
            </a:endParaRPr>
          </a:p>
        </p:txBody>
      </p:sp>
      <p:sp>
        <p:nvSpPr>
          <p:cNvPr id="132099" name="Rectangle 2"/>
          <p:cNvSpPr>
            <a:spLocks noGrp="1" noChangeArrowheads="1"/>
          </p:cNvSpPr>
          <p:nvPr>
            <p:ph type="body" idx="1"/>
          </p:nvPr>
        </p:nvSpPr>
        <p:spPr>
          <a:xfrm>
            <a:off x="885825" y="3503613"/>
            <a:ext cx="4873625" cy="5540375"/>
          </a:xfrm>
          <a:noFill/>
          <a:ln/>
        </p:spPr>
        <p:txBody>
          <a:bodyPr lIns="90488" tIns="44450" rIns="90488" bIns="44450"/>
          <a:lstStyle/>
          <a:p>
            <a:pPr eaLnBrk="1" hangingPunct="1"/>
            <a:endParaRPr lang="zh-CN" altLang="zh-CN">
              <a:latin typeface="Arial" pitchFamily="34" charset="0"/>
              <a:ea typeface="宋体" pitchFamily="2" charset="-122"/>
            </a:endParaRPr>
          </a:p>
        </p:txBody>
      </p:sp>
      <p:sp>
        <p:nvSpPr>
          <p:cNvPr id="132100" name="Rectangle 3"/>
          <p:cNvSpPr>
            <a:spLocks noGrp="1" noRot="1" noChangeAspect="1" noChangeArrowheads="1" noTextEdit="1"/>
          </p:cNvSpPr>
          <p:nvPr>
            <p:ph type="sldImg"/>
          </p:nvPr>
        </p:nvSpPr>
        <p:spPr>
          <a:xfrm>
            <a:off x="1163638" y="739775"/>
            <a:ext cx="4318000" cy="2430463"/>
          </a:xfrm>
          <a:ln w="12700" cap="flat">
            <a:solidFill>
              <a:schemeClr val="tx1"/>
            </a:solidFill>
          </a:ln>
        </p:spPr>
      </p:sp>
    </p:spTree>
    <p:extLst>
      <p:ext uri="{BB962C8B-B14F-4D97-AF65-F5344CB8AC3E}">
        <p14:creationId xmlns:p14="http://schemas.microsoft.com/office/powerpoint/2010/main" val="235091048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7"/>
          <p:cNvSpPr>
            <a:spLocks noGrp="1" noChangeArrowheads="1"/>
          </p:cNvSpPr>
          <p:nvPr>
            <p:ph type="sldNum" sz="quarter" idx="5"/>
          </p:nvPr>
        </p:nvSpPr>
        <p:spPr>
          <a:noFill/>
        </p:spPr>
        <p:txBody>
          <a:bodyPr/>
          <a:lstStyle/>
          <a:p>
            <a:fld id="{7DA0483C-DD94-4C2F-ADBC-EAA8F27AEBB3}" type="slidenum">
              <a:rPr lang="en-US" altLang="zh-CN" smtClean="0">
                <a:latin typeface="Arial" pitchFamily="34" charset="0"/>
                <a:ea typeface="宋体" pitchFamily="2" charset="-122"/>
              </a:rPr>
              <a:pPr/>
              <a:t>18</a:t>
            </a:fld>
            <a:endParaRPr lang="en-US" altLang="zh-CN">
              <a:latin typeface="Arial" pitchFamily="34" charset="0"/>
              <a:ea typeface="宋体" pitchFamily="2" charset="-122"/>
            </a:endParaRPr>
          </a:p>
        </p:txBody>
      </p:sp>
      <p:sp>
        <p:nvSpPr>
          <p:cNvPr id="133123" name="Rectangle 2"/>
          <p:cNvSpPr>
            <a:spLocks noGrp="1" noChangeArrowheads="1"/>
          </p:cNvSpPr>
          <p:nvPr>
            <p:ph type="body" idx="1"/>
          </p:nvPr>
        </p:nvSpPr>
        <p:spPr>
          <a:xfrm>
            <a:off x="885825" y="3503613"/>
            <a:ext cx="4873625" cy="5540375"/>
          </a:xfrm>
          <a:noFill/>
          <a:ln/>
        </p:spPr>
        <p:txBody>
          <a:bodyPr lIns="90488" tIns="44450" rIns="90488" bIns="44450"/>
          <a:lstStyle/>
          <a:p>
            <a:pPr eaLnBrk="1" hangingPunct="1"/>
            <a:endParaRPr lang="zh-CN" altLang="zh-CN">
              <a:latin typeface="Arial" pitchFamily="34" charset="0"/>
              <a:ea typeface="宋体" pitchFamily="2" charset="-122"/>
            </a:endParaRPr>
          </a:p>
        </p:txBody>
      </p:sp>
      <p:sp>
        <p:nvSpPr>
          <p:cNvPr id="133124" name="Rectangle 3"/>
          <p:cNvSpPr>
            <a:spLocks noGrp="1" noRot="1" noChangeAspect="1" noChangeArrowheads="1" noTextEdit="1"/>
          </p:cNvSpPr>
          <p:nvPr>
            <p:ph type="sldImg"/>
          </p:nvPr>
        </p:nvSpPr>
        <p:spPr>
          <a:xfrm>
            <a:off x="1163638" y="739775"/>
            <a:ext cx="4318000" cy="2430463"/>
          </a:xfrm>
          <a:ln w="12700" cap="flat">
            <a:solidFill>
              <a:schemeClr val="tx1"/>
            </a:solidFill>
          </a:ln>
        </p:spPr>
      </p:sp>
    </p:spTree>
    <p:extLst>
      <p:ext uri="{BB962C8B-B14F-4D97-AF65-F5344CB8AC3E}">
        <p14:creationId xmlns:p14="http://schemas.microsoft.com/office/powerpoint/2010/main" val="377769299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7"/>
          <p:cNvSpPr>
            <a:spLocks noGrp="1" noChangeArrowheads="1"/>
          </p:cNvSpPr>
          <p:nvPr>
            <p:ph type="sldNum" sz="quarter" idx="5"/>
          </p:nvPr>
        </p:nvSpPr>
        <p:spPr>
          <a:noFill/>
        </p:spPr>
        <p:txBody>
          <a:bodyPr/>
          <a:lstStyle/>
          <a:p>
            <a:fld id="{D4F43CBC-766A-4D22-86DA-877470BA9F4C}" type="slidenum">
              <a:rPr lang="en-US" altLang="zh-CN" smtClean="0">
                <a:latin typeface="Arial" pitchFamily="34" charset="0"/>
                <a:ea typeface="宋体" pitchFamily="2" charset="-122"/>
              </a:rPr>
              <a:pPr/>
              <a:t>19</a:t>
            </a:fld>
            <a:endParaRPr lang="en-US" altLang="zh-CN">
              <a:latin typeface="Arial" pitchFamily="34" charset="0"/>
              <a:ea typeface="宋体" pitchFamily="2" charset="-122"/>
            </a:endParaRPr>
          </a:p>
        </p:txBody>
      </p:sp>
      <p:sp>
        <p:nvSpPr>
          <p:cNvPr id="134147" name="Rectangle 2"/>
          <p:cNvSpPr>
            <a:spLocks noGrp="1" noChangeArrowheads="1"/>
          </p:cNvSpPr>
          <p:nvPr>
            <p:ph type="body" idx="1"/>
          </p:nvPr>
        </p:nvSpPr>
        <p:spPr>
          <a:xfrm>
            <a:off x="885825" y="3503613"/>
            <a:ext cx="4873625" cy="5540375"/>
          </a:xfrm>
          <a:noFill/>
          <a:ln/>
        </p:spPr>
        <p:txBody>
          <a:bodyPr lIns="90488" tIns="44450" rIns="90488" bIns="44450"/>
          <a:lstStyle/>
          <a:p>
            <a:pPr eaLnBrk="1" hangingPunct="1"/>
            <a:endParaRPr lang="zh-CN" altLang="zh-CN">
              <a:latin typeface="Arial" pitchFamily="34" charset="0"/>
              <a:ea typeface="宋体" pitchFamily="2" charset="-122"/>
            </a:endParaRPr>
          </a:p>
        </p:txBody>
      </p:sp>
      <p:sp>
        <p:nvSpPr>
          <p:cNvPr id="134148" name="Rectangle 3"/>
          <p:cNvSpPr>
            <a:spLocks noGrp="1" noRot="1" noChangeAspect="1" noChangeArrowheads="1" noTextEdit="1"/>
          </p:cNvSpPr>
          <p:nvPr>
            <p:ph type="sldImg"/>
          </p:nvPr>
        </p:nvSpPr>
        <p:spPr>
          <a:xfrm>
            <a:off x="1163638" y="739775"/>
            <a:ext cx="4318000" cy="2430463"/>
          </a:xfrm>
          <a:ln w="12700" cap="flat">
            <a:solidFill>
              <a:schemeClr val="tx1"/>
            </a:solidFill>
          </a:ln>
        </p:spPr>
      </p:sp>
    </p:spTree>
    <p:extLst>
      <p:ext uri="{BB962C8B-B14F-4D97-AF65-F5344CB8AC3E}">
        <p14:creationId xmlns:p14="http://schemas.microsoft.com/office/powerpoint/2010/main" val="132754456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7"/>
          <p:cNvSpPr>
            <a:spLocks noGrp="1" noChangeArrowheads="1"/>
          </p:cNvSpPr>
          <p:nvPr>
            <p:ph type="sldNum" sz="quarter" idx="5"/>
          </p:nvPr>
        </p:nvSpPr>
        <p:spPr>
          <a:noFill/>
        </p:spPr>
        <p:txBody>
          <a:bodyPr/>
          <a:lstStyle/>
          <a:p>
            <a:fld id="{296E8BC5-0C47-4344-AD43-5F9BD3CEC8F5}" type="slidenum">
              <a:rPr lang="en-US" altLang="zh-CN" smtClean="0">
                <a:latin typeface="Arial" pitchFamily="34" charset="0"/>
                <a:ea typeface="宋体" pitchFamily="2" charset="-122"/>
              </a:rPr>
              <a:pPr/>
              <a:t>22</a:t>
            </a:fld>
            <a:endParaRPr lang="en-US" altLang="zh-CN">
              <a:latin typeface="Arial" pitchFamily="34" charset="0"/>
              <a:ea typeface="宋体" pitchFamily="2" charset="-122"/>
            </a:endParaRPr>
          </a:p>
        </p:txBody>
      </p:sp>
      <p:sp>
        <p:nvSpPr>
          <p:cNvPr id="135171" name="Rectangle 2"/>
          <p:cNvSpPr>
            <a:spLocks noGrp="1" noChangeArrowheads="1"/>
          </p:cNvSpPr>
          <p:nvPr>
            <p:ph type="body" idx="1"/>
          </p:nvPr>
        </p:nvSpPr>
        <p:spPr>
          <a:xfrm>
            <a:off x="885825" y="3503613"/>
            <a:ext cx="4873625" cy="5540375"/>
          </a:xfrm>
          <a:noFill/>
          <a:ln/>
        </p:spPr>
        <p:txBody>
          <a:bodyPr lIns="90488" tIns="44450" rIns="90488" bIns="44450"/>
          <a:lstStyle/>
          <a:p>
            <a:pPr eaLnBrk="1" hangingPunct="1"/>
            <a:endParaRPr lang="zh-CN" altLang="zh-CN">
              <a:latin typeface="Arial" pitchFamily="34" charset="0"/>
              <a:ea typeface="宋体" pitchFamily="2" charset="-122"/>
            </a:endParaRPr>
          </a:p>
        </p:txBody>
      </p:sp>
      <p:sp>
        <p:nvSpPr>
          <p:cNvPr id="135172" name="Rectangle 3"/>
          <p:cNvSpPr>
            <a:spLocks noGrp="1" noRot="1" noChangeAspect="1" noChangeArrowheads="1" noTextEdit="1"/>
          </p:cNvSpPr>
          <p:nvPr>
            <p:ph type="sldImg"/>
          </p:nvPr>
        </p:nvSpPr>
        <p:spPr>
          <a:xfrm>
            <a:off x="1163638" y="739775"/>
            <a:ext cx="4318000" cy="2430463"/>
          </a:xfrm>
          <a:ln w="12700" cap="flat">
            <a:solidFill>
              <a:schemeClr val="tx1"/>
            </a:solidFill>
          </a:ln>
        </p:spPr>
      </p:sp>
    </p:spTree>
    <p:extLst>
      <p:ext uri="{BB962C8B-B14F-4D97-AF65-F5344CB8AC3E}">
        <p14:creationId xmlns:p14="http://schemas.microsoft.com/office/powerpoint/2010/main" val="88205244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幻灯片图像占位符 1"/>
          <p:cNvSpPr>
            <a:spLocks noGrp="1" noRot="1" noChangeAspect="1" noTextEdit="1"/>
          </p:cNvSpPr>
          <p:nvPr>
            <p:ph type="sldImg"/>
          </p:nvPr>
        </p:nvSpPr>
        <p:spPr>
          <a:ln/>
        </p:spPr>
      </p:sp>
      <p:sp>
        <p:nvSpPr>
          <p:cNvPr id="136195" name="备注占位符 2"/>
          <p:cNvSpPr>
            <a:spLocks noGrp="1"/>
          </p:cNvSpPr>
          <p:nvPr>
            <p:ph type="body" idx="1"/>
          </p:nvPr>
        </p:nvSpPr>
        <p:spPr>
          <a:noFill/>
          <a:ln/>
        </p:spPr>
        <p:txBody>
          <a:bodyPr/>
          <a:lstStyle/>
          <a:p>
            <a:endParaRPr lang="zh-CN" altLang="en-US">
              <a:latin typeface="Arial" pitchFamily="34" charset="0"/>
              <a:ea typeface="宋体" pitchFamily="2" charset="-122"/>
            </a:endParaRPr>
          </a:p>
        </p:txBody>
      </p:sp>
      <p:sp>
        <p:nvSpPr>
          <p:cNvPr id="136196" name="灯片编号占位符 3"/>
          <p:cNvSpPr>
            <a:spLocks noGrp="1"/>
          </p:cNvSpPr>
          <p:nvPr>
            <p:ph type="sldNum" sz="quarter" idx="5"/>
          </p:nvPr>
        </p:nvSpPr>
        <p:spPr>
          <a:noFill/>
        </p:spPr>
        <p:txBody>
          <a:bodyPr/>
          <a:lstStyle/>
          <a:p>
            <a:fld id="{F79ECCFB-30AA-4B7B-AC03-782E6072A864}" type="slidenum">
              <a:rPr lang="en-US" altLang="zh-CN" smtClean="0">
                <a:latin typeface="Arial" pitchFamily="34" charset="0"/>
                <a:ea typeface="宋体" pitchFamily="2" charset="-122"/>
              </a:rPr>
              <a:pPr/>
              <a:t>23</a:t>
            </a:fld>
            <a:endParaRPr lang="en-US" altLang="zh-CN">
              <a:latin typeface="Arial" pitchFamily="34" charset="0"/>
              <a:ea typeface="宋体" pitchFamily="2" charset="-122"/>
            </a:endParaRPr>
          </a:p>
        </p:txBody>
      </p:sp>
    </p:spTree>
    <p:extLst>
      <p:ext uri="{BB962C8B-B14F-4D97-AF65-F5344CB8AC3E}">
        <p14:creationId xmlns:p14="http://schemas.microsoft.com/office/powerpoint/2010/main" val="24541477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7"/>
          <p:cNvSpPr>
            <a:spLocks noGrp="1" noChangeArrowheads="1"/>
          </p:cNvSpPr>
          <p:nvPr>
            <p:ph type="sldNum" sz="quarter" idx="5"/>
          </p:nvPr>
        </p:nvSpPr>
        <p:spPr>
          <a:noFill/>
        </p:spPr>
        <p:txBody>
          <a:bodyPr/>
          <a:lstStyle/>
          <a:p>
            <a:fld id="{0C7EA8C1-0777-4BD5-A28D-107D27C139D0}" type="slidenum">
              <a:rPr lang="en-US" altLang="zh-CN" smtClean="0">
                <a:latin typeface="Arial" pitchFamily="34" charset="0"/>
                <a:ea typeface="宋体" pitchFamily="2" charset="-122"/>
              </a:rPr>
              <a:pPr/>
              <a:t>26</a:t>
            </a:fld>
            <a:endParaRPr lang="en-US" altLang="zh-CN">
              <a:latin typeface="Arial" pitchFamily="34" charset="0"/>
              <a:ea typeface="宋体" pitchFamily="2" charset="-122"/>
            </a:endParaRPr>
          </a:p>
        </p:txBody>
      </p:sp>
      <p:sp>
        <p:nvSpPr>
          <p:cNvPr id="138243" name="Rectangle 2"/>
          <p:cNvSpPr>
            <a:spLocks noGrp="1" noChangeArrowheads="1"/>
          </p:cNvSpPr>
          <p:nvPr>
            <p:ph type="body" idx="1"/>
          </p:nvPr>
        </p:nvSpPr>
        <p:spPr>
          <a:xfrm>
            <a:off x="885825" y="3503613"/>
            <a:ext cx="4873625" cy="5540375"/>
          </a:xfrm>
          <a:noFill/>
          <a:ln/>
        </p:spPr>
        <p:txBody>
          <a:bodyPr lIns="90488" tIns="44450" rIns="90488" bIns="44450"/>
          <a:lstStyle/>
          <a:p>
            <a:pPr eaLnBrk="1" hangingPunct="1"/>
            <a:endParaRPr lang="zh-CN" altLang="zh-CN">
              <a:latin typeface="Arial" pitchFamily="34" charset="0"/>
              <a:ea typeface="宋体" pitchFamily="2" charset="-122"/>
            </a:endParaRPr>
          </a:p>
        </p:txBody>
      </p:sp>
      <p:sp>
        <p:nvSpPr>
          <p:cNvPr id="138244" name="Rectangle 3"/>
          <p:cNvSpPr>
            <a:spLocks noGrp="1" noRot="1" noChangeAspect="1" noChangeArrowheads="1" noTextEdit="1"/>
          </p:cNvSpPr>
          <p:nvPr>
            <p:ph type="sldImg"/>
          </p:nvPr>
        </p:nvSpPr>
        <p:spPr>
          <a:xfrm>
            <a:off x="1163638" y="739775"/>
            <a:ext cx="4318000" cy="2430463"/>
          </a:xfrm>
          <a:ln w="12700" cap="flat">
            <a:solidFill>
              <a:schemeClr val="tx1"/>
            </a:solidFill>
          </a:ln>
        </p:spPr>
      </p:sp>
    </p:spTree>
    <p:extLst>
      <p:ext uri="{BB962C8B-B14F-4D97-AF65-F5344CB8AC3E}">
        <p14:creationId xmlns:p14="http://schemas.microsoft.com/office/powerpoint/2010/main" val="321103658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7"/>
          <p:cNvSpPr>
            <a:spLocks noGrp="1" noChangeArrowheads="1"/>
          </p:cNvSpPr>
          <p:nvPr>
            <p:ph type="sldNum" sz="quarter" idx="5"/>
          </p:nvPr>
        </p:nvSpPr>
        <p:spPr>
          <a:noFill/>
        </p:spPr>
        <p:txBody>
          <a:bodyPr/>
          <a:lstStyle/>
          <a:p>
            <a:fld id="{F5EADFF0-B252-4607-9AE1-0DCEAFF7E964}" type="slidenum">
              <a:rPr lang="en-US" altLang="zh-CN" smtClean="0">
                <a:latin typeface="Arial" pitchFamily="34" charset="0"/>
                <a:ea typeface="宋体" pitchFamily="2" charset="-122"/>
              </a:rPr>
              <a:pPr/>
              <a:t>32</a:t>
            </a:fld>
            <a:endParaRPr lang="en-US" altLang="zh-CN">
              <a:latin typeface="Arial" pitchFamily="34" charset="0"/>
              <a:ea typeface="宋体" pitchFamily="2" charset="-122"/>
            </a:endParaRPr>
          </a:p>
        </p:txBody>
      </p:sp>
      <p:sp>
        <p:nvSpPr>
          <p:cNvPr id="139267" name="Rectangle 2"/>
          <p:cNvSpPr>
            <a:spLocks noGrp="1" noChangeArrowheads="1"/>
          </p:cNvSpPr>
          <p:nvPr>
            <p:ph type="body" idx="1"/>
          </p:nvPr>
        </p:nvSpPr>
        <p:spPr>
          <a:xfrm>
            <a:off x="885825" y="3503613"/>
            <a:ext cx="4873625" cy="5540375"/>
          </a:xfrm>
          <a:noFill/>
          <a:ln/>
        </p:spPr>
        <p:txBody>
          <a:bodyPr lIns="90488" tIns="44450" rIns="90488" bIns="44450"/>
          <a:lstStyle/>
          <a:p>
            <a:pPr eaLnBrk="1" hangingPunct="1"/>
            <a:endParaRPr lang="zh-CN" altLang="zh-CN">
              <a:latin typeface="Arial" pitchFamily="34" charset="0"/>
              <a:ea typeface="宋体" pitchFamily="2" charset="-122"/>
            </a:endParaRPr>
          </a:p>
        </p:txBody>
      </p:sp>
      <p:sp>
        <p:nvSpPr>
          <p:cNvPr id="139268" name="Rectangle 3"/>
          <p:cNvSpPr>
            <a:spLocks noGrp="1" noRot="1" noChangeAspect="1" noChangeArrowheads="1" noTextEdit="1"/>
          </p:cNvSpPr>
          <p:nvPr>
            <p:ph type="sldImg"/>
          </p:nvPr>
        </p:nvSpPr>
        <p:spPr>
          <a:xfrm>
            <a:off x="1163638" y="739775"/>
            <a:ext cx="4318000" cy="2430463"/>
          </a:xfrm>
          <a:ln w="12700" cap="flat">
            <a:solidFill>
              <a:schemeClr val="tx1"/>
            </a:solidFill>
          </a:ln>
        </p:spPr>
      </p:sp>
    </p:spTree>
    <p:extLst>
      <p:ext uri="{BB962C8B-B14F-4D97-AF65-F5344CB8AC3E}">
        <p14:creationId xmlns:p14="http://schemas.microsoft.com/office/powerpoint/2010/main" val="33196967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Rectangle 7"/>
          <p:cNvSpPr>
            <a:spLocks noGrp="1" noChangeArrowheads="1"/>
          </p:cNvSpPr>
          <p:nvPr>
            <p:ph type="sldNum" sz="quarter" idx="5"/>
          </p:nvPr>
        </p:nvSpPr>
        <p:spPr>
          <a:noFill/>
        </p:spPr>
        <p:txBody>
          <a:bodyPr/>
          <a:lstStyle/>
          <a:p>
            <a:fld id="{75FF7AAC-97A0-4162-9851-4253A8F3404F}" type="slidenum">
              <a:rPr lang="en-US" altLang="zh-CN" smtClean="0">
                <a:latin typeface="Arial" pitchFamily="34" charset="0"/>
                <a:ea typeface="宋体" pitchFamily="2" charset="-122"/>
              </a:rPr>
              <a:pPr/>
              <a:t>34</a:t>
            </a:fld>
            <a:endParaRPr lang="en-US" altLang="zh-CN">
              <a:latin typeface="Arial" pitchFamily="34" charset="0"/>
              <a:ea typeface="宋体" pitchFamily="2" charset="-122"/>
            </a:endParaRPr>
          </a:p>
        </p:txBody>
      </p:sp>
      <p:sp>
        <p:nvSpPr>
          <p:cNvPr id="140291" name="Rectangle 2"/>
          <p:cNvSpPr>
            <a:spLocks noGrp="1" noChangeArrowheads="1"/>
          </p:cNvSpPr>
          <p:nvPr>
            <p:ph type="body" idx="1"/>
          </p:nvPr>
        </p:nvSpPr>
        <p:spPr>
          <a:xfrm>
            <a:off x="885825" y="3503613"/>
            <a:ext cx="4873625" cy="5540375"/>
          </a:xfrm>
          <a:noFill/>
          <a:ln/>
        </p:spPr>
        <p:txBody>
          <a:bodyPr lIns="90488" tIns="44450" rIns="90488" bIns="44450"/>
          <a:lstStyle/>
          <a:p>
            <a:pPr eaLnBrk="1" hangingPunct="1"/>
            <a:endParaRPr lang="zh-CN" altLang="zh-CN">
              <a:latin typeface="Arial" pitchFamily="34" charset="0"/>
              <a:ea typeface="宋体" pitchFamily="2" charset="-122"/>
            </a:endParaRPr>
          </a:p>
        </p:txBody>
      </p:sp>
      <p:sp>
        <p:nvSpPr>
          <p:cNvPr id="140292" name="Rectangle 3"/>
          <p:cNvSpPr>
            <a:spLocks noGrp="1" noRot="1" noChangeAspect="1" noChangeArrowheads="1" noTextEdit="1"/>
          </p:cNvSpPr>
          <p:nvPr>
            <p:ph type="sldImg"/>
          </p:nvPr>
        </p:nvSpPr>
        <p:spPr>
          <a:xfrm>
            <a:off x="1163638" y="739775"/>
            <a:ext cx="4318000" cy="2430463"/>
          </a:xfrm>
          <a:ln w="12700" cap="flat">
            <a:solidFill>
              <a:schemeClr val="tx1"/>
            </a:solidFill>
          </a:ln>
        </p:spPr>
      </p:sp>
    </p:spTree>
    <p:extLst>
      <p:ext uri="{BB962C8B-B14F-4D97-AF65-F5344CB8AC3E}">
        <p14:creationId xmlns:p14="http://schemas.microsoft.com/office/powerpoint/2010/main" val="340256398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7"/>
          <p:cNvSpPr>
            <a:spLocks noGrp="1" noChangeArrowheads="1"/>
          </p:cNvSpPr>
          <p:nvPr>
            <p:ph type="sldNum" sz="quarter" idx="5"/>
          </p:nvPr>
        </p:nvSpPr>
        <p:spPr>
          <a:noFill/>
        </p:spPr>
        <p:txBody>
          <a:bodyPr/>
          <a:lstStyle/>
          <a:p>
            <a:fld id="{8899AF9D-F2C7-4C7C-9B6D-8CECD4667906}" type="slidenum">
              <a:rPr lang="en-US" altLang="zh-CN" smtClean="0">
                <a:latin typeface="Arial" pitchFamily="34" charset="0"/>
                <a:ea typeface="宋体" pitchFamily="2" charset="-122"/>
              </a:rPr>
              <a:pPr/>
              <a:t>35</a:t>
            </a:fld>
            <a:endParaRPr lang="en-US" altLang="zh-CN">
              <a:latin typeface="Arial" pitchFamily="34" charset="0"/>
              <a:ea typeface="宋体" pitchFamily="2" charset="-122"/>
            </a:endParaRPr>
          </a:p>
        </p:txBody>
      </p:sp>
      <p:sp>
        <p:nvSpPr>
          <p:cNvPr id="141315" name="Rectangle 2"/>
          <p:cNvSpPr>
            <a:spLocks noGrp="1" noChangeArrowheads="1"/>
          </p:cNvSpPr>
          <p:nvPr>
            <p:ph type="body" idx="1"/>
          </p:nvPr>
        </p:nvSpPr>
        <p:spPr>
          <a:xfrm>
            <a:off x="885825" y="3503613"/>
            <a:ext cx="4873625" cy="5540375"/>
          </a:xfrm>
          <a:noFill/>
          <a:ln/>
        </p:spPr>
        <p:txBody>
          <a:bodyPr lIns="90488" tIns="44450" rIns="90488" bIns="44450"/>
          <a:lstStyle/>
          <a:p>
            <a:pPr eaLnBrk="1" hangingPunct="1"/>
            <a:endParaRPr lang="zh-CN" altLang="zh-CN">
              <a:latin typeface="Arial" pitchFamily="34" charset="0"/>
              <a:ea typeface="宋体" pitchFamily="2" charset="-122"/>
            </a:endParaRPr>
          </a:p>
        </p:txBody>
      </p:sp>
      <p:sp>
        <p:nvSpPr>
          <p:cNvPr id="141316" name="Rectangle 3"/>
          <p:cNvSpPr>
            <a:spLocks noGrp="1" noRot="1" noChangeAspect="1" noChangeArrowheads="1" noTextEdit="1"/>
          </p:cNvSpPr>
          <p:nvPr>
            <p:ph type="sldImg"/>
          </p:nvPr>
        </p:nvSpPr>
        <p:spPr>
          <a:xfrm>
            <a:off x="1163638" y="739775"/>
            <a:ext cx="4318000" cy="2430463"/>
          </a:xfrm>
          <a:ln w="12700" cap="flat">
            <a:solidFill>
              <a:schemeClr val="tx1"/>
            </a:solidFill>
          </a:ln>
        </p:spPr>
      </p:sp>
    </p:spTree>
    <p:extLst>
      <p:ext uri="{BB962C8B-B14F-4D97-AF65-F5344CB8AC3E}">
        <p14:creationId xmlns:p14="http://schemas.microsoft.com/office/powerpoint/2010/main" val="164469716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7"/>
          <p:cNvSpPr>
            <a:spLocks noGrp="1" noChangeArrowheads="1"/>
          </p:cNvSpPr>
          <p:nvPr>
            <p:ph type="sldNum" sz="quarter" idx="5"/>
          </p:nvPr>
        </p:nvSpPr>
        <p:spPr>
          <a:noFill/>
        </p:spPr>
        <p:txBody>
          <a:bodyPr/>
          <a:lstStyle/>
          <a:p>
            <a:fld id="{F45FD7B2-2EA9-4DD0-AA79-F9176A6CB01A}" type="slidenum">
              <a:rPr lang="en-US" altLang="zh-CN" smtClean="0">
                <a:latin typeface="Arial" pitchFamily="34" charset="0"/>
                <a:ea typeface="宋体" pitchFamily="2" charset="-122"/>
              </a:rPr>
              <a:pPr/>
              <a:t>36</a:t>
            </a:fld>
            <a:endParaRPr lang="en-US" altLang="zh-CN">
              <a:latin typeface="Arial" pitchFamily="34" charset="0"/>
              <a:ea typeface="宋体" pitchFamily="2" charset="-122"/>
            </a:endParaRPr>
          </a:p>
        </p:txBody>
      </p:sp>
      <p:sp>
        <p:nvSpPr>
          <p:cNvPr id="142339" name="Rectangle 2"/>
          <p:cNvSpPr>
            <a:spLocks noGrp="1" noChangeArrowheads="1"/>
          </p:cNvSpPr>
          <p:nvPr>
            <p:ph type="body" idx="1"/>
          </p:nvPr>
        </p:nvSpPr>
        <p:spPr>
          <a:xfrm>
            <a:off x="885825" y="3503613"/>
            <a:ext cx="4873625" cy="5540375"/>
          </a:xfrm>
          <a:noFill/>
          <a:ln/>
        </p:spPr>
        <p:txBody>
          <a:bodyPr lIns="90488" tIns="44450" rIns="90488" bIns="44450"/>
          <a:lstStyle/>
          <a:p>
            <a:pPr eaLnBrk="1" hangingPunct="1"/>
            <a:endParaRPr lang="zh-CN" altLang="zh-CN">
              <a:latin typeface="Arial" pitchFamily="34" charset="0"/>
              <a:ea typeface="宋体" pitchFamily="2" charset="-122"/>
            </a:endParaRPr>
          </a:p>
        </p:txBody>
      </p:sp>
      <p:sp>
        <p:nvSpPr>
          <p:cNvPr id="142340" name="Rectangle 3"/>
          <p:cNvSpPr>
            <a:spLocks noGrp="1" noRot="1" noChangeAspect="1" noChangeArrowheads="1" noTextEdit="1"/>
          </p:cNvSpPr>
          <p:nvPr>
            <p:ph type="sldImg"/>
          </p:nvPr>
        </p:nvSpPr>
        <p:spPr>
          <a:xfrm>
            <a:off x="1163638" y="739775"/>
            <a:ext cx="4318000" cy="2430463"/>
          </a:xfrm>
          <a:ln w="12700" cap="flat">
            <a:solidFill>
              <a:schemeClr val="tx1"/>
            </a:solidFill>
          </a:ln>
        </p:spPr>
      </p:sp>
    </p:spTree>
    <p:extLst>
      <p:ext uri="{BB962C8B-B14F-4D97-AF65-F5344CB8AC3E}">
        <p14:creationId xmlns:p14="http://schemas.microsoft.com/office/powerpoint/2010/main" val="311997505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7"/>
          <p:cNvSpPr>
            <a:spLocks noGrp="1" noChangeArrowheads="1"/>
          </p:cNvSpPr>
          <p:nvPr>
            <p:ph type="sldNum" sz="quarter" idx="5"/>
          </p:nvPr>
        </p:nvSpPr>
        <p:spPr>
          <a:noFill/>
        </p:spPr>
        <p:txBody>
          <a:bodyPr/>
          <a:lstStyle/>
          <a:p>
            <a:fld id="{CA28D5E4-BA2A-4FDD-AAD4-3BDBE91D3FE0}" type="slidenum">
              <a:rPr lang="en-US" altLang="zh-CN" smtClean="0">
                <a:latin typeface="Arial" pitchFamily="34" charset="0"/>
                <a:ea typeface="宋体" pitchFamily="2" charset="-122"/>
              </a:rPr>
              <a:pPr/>
              <a:t>38</a:t>
            </a:fld>
            <a:endParaRPr lang="en-US" altLang="zh-CN">
              <a:latin typeface="Arial" pitchFamily="34" charset="0"/>
              <a:ea typeface="宋体" pitchFamily="2" charset="-122"/>
            </a:endParaRPr>
          </a:p>
        </p:txBody>
      </p:sp>
      <p:sp>
        <p:nvSpPr>
          <p:cNvPr id="143363" name="Rectangle 2"/>
          <p:cNvSpPr>
            <a:spLocks noGrp="1" noChangeArrowheads="1"/>
          </p:cNvSpPr>
          <p:nvPr>
            <p:ph type="body" idx="1"/>
          </p:nvPr>
        </p:nvSpPr>
        <p:spPr>
          <a:xfrm>
            <a:off x="885825" y="3503613"/>
            <a:ext cx="4873625" cy="5540375"/>
          </a:xfrm>
          <a:noFill/>
          <a:ln/>
        </p:spPr>
        <p:txBody>
          <a:bodyPr lIns="90488" tIns="44450" rIns="90488" bIns="44450"/>
          <a:lstStyle/>
          <a:p>
            <a:pPr eaLnBrk="1" hangingPunct="1"/>
            <a:endParaRPr lang="zh-CN" altLang="zh-CN">
              <a:latin typeface="Arial" pitchFamily="34" charset="0"/>
              <a:ea typeface="宋体" pitchFamily="2" charset="-122"/>
            </a:endParaRPr>
          </a:p>
        </p:txBody>
      </p:sp>
      <p:sp>
        <p:nvSpPr>
          <p:cNvPr id="143364" name="Rectangle 3"/>
          <p:cNvSpPr>
            <a:spLocks noGrp="1" noRot="1" noChangeAspect="1" noChangeArrowheads="1" noTextEdit="1"/>
          </p:cNvSpPr>
          <p:nvPr>
            <p:ph type="sldImg"/>
          </p:nvPr>
        </p:nvSpPr>
        <p:spPr>
          <a:xfrm>
            <a:off x="1163638" y="739775"/>
            <a:ext cx="4318000" cy="2430463"/>
          </a:xfrm>
          <a:ln w="12700" cap="flat">
            <a:solidFill>
              <a:schemeClr val="tx1"/>
            </a:solidFill>
          </a:ln>
        </p:spPr>
      </p:sp>
    </p:spTree>
    <p:extLst>
      <p:ext uri="{BB962C8B-B14F-4D97-AF65-F5344CB8AC3E}">
        <p14:creationId xmlns:p14="http://schemas.microsoft.com/office/powerpoint/2010/main" val="59864286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Rectangle 7"/>
          <p:cNvSpPr>
            <a:spLocks noGrp="1" noChangeArrowheads="1"/>
          </p:cNvSpPr>
          <p:nvPr>
            <p:ph type="sldNum" sz="quarter" idx="5"/>
          </p:nvPr>
        </p:nvSpPr>
        <p:spPr>
          <a:noFill/>
        </p:spPr>
        <p:txBody>
          <a:bodyPr/>
          <a:lstStyle/>
          <a:p>
            <a:fld id="{0EAD09C0-11C8-4414-9151-05512EC5153F}" type="slidenum">
              <a:rPr lang="en-US" altLang="zh-CN" smtClean="0">
                <a:latin typeface="Arial" pitchFamily="34" charset="0"/>
                <a:ea typeface="宋体" pitchFamily="2" charset="-122"/>
              </a:rPr>
              <a:pPr/>
              <a:t>40</a:t>
            </a:fld>
            <a:endParaRPr lang="en-US" altLang="zh-CN">
              <a:latin typeface="Arial" pitchFamily="34" charset="0"/>
              <a:ea typeface="宋体" pitchFamily="2" charset="-122"/>
            </a:endParaRPr>
          </a:p>
        </p:txBody>
      </p:sp>
      <p:sp>
        <p:nvSpPr>
          <p:cNvPr id="144387" name="Rectangle 2"/>
          <p:cNvSpPr>
            <a:spLocks noGrp="1" noChangeArrowheads="1"/>
          </p:cNvSpPr>
          <p:nvPr>
            <p:ph type="body" idx="1"/>
          </p:nvPr>
        </p:nvSpPr>
        <p:spPr>
          <a:xfrm>
            <a:off x="885825" y="3503613"/>
            <a:ext cx="4873625" cy="5540375"/>
          </a:xfrm>
          <a:noFill/>
          <a:ln/>
        </p:spPr>
        <p:txBody>
          <a:bodyPr lIns="90488" tIns="44450" rIns="90488" bIns="44450"/>
          <a:lstStyle/>
          <a:p>
            <a:pPr eaLnBrk="1" hangingPunct="1"/>
            <a:endParaRPr lang="zh-CN" altLang="zh-CN">
              <a:latin typeface="Arial" pitchFamily="34" charset="0"/>
              <a:ea typeface="宋体" pitchFamily="2" charset="-122"/>
            </a:endParaRPr>
          </a:p>
        </p:txBody>
      </p:sp>
      <p:sp>
        <p:nvSpPr>
          <p:cNvPr id="144388" name="Rectangle 3"/>
          <p:cNvSpPr>
            <a:spLocks noGrp="1" noRot="1" noChangeAspect="1" noChangeArrowheads="1" noTextEdit="1"/>
          </p:cNvSpPr>
          <p:nvPr>
            <p:ph type="sldImg"/>
          </p:nvPr>
        </p:nvSpPr>
        <p:spPr>
          <a:xfrm>
            <a:off x="1163638" y="739775"/>
            <a:ext cx="4318000" cy="2430463"/>
          </a:xfrm>
          <a:ln w="12700" cap="flat">
            <a:solidFill>
              <a:schemeClr val="tx1"/>
            </a:solidFill>
          </a:ln>
        </p:spPr>
      </p:sp>
    </p:spTree>
    <p:extLst>
      <p:ext uri="{BB962C8B-B14F-4D97-AF65-F5344CB8AC3E}">
        <p14:creationId xmlns:p14="http://schemas.microsoft.com/office/powerpoint/2010/main" val="56303908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Rectangle 7"/>
          <p:cNvSpPr>
            <a:spLocks noGrp="1" noChangeArrowheads="1"/>
          </p:cNvSpPr>
          <p:nvPr>
            <p:ph type="sldNum" sz="quarter" idx="5"/>
          </p:nvPr>
        </p:nvSpPr>
        <p:spPr>
          <a:noFill/>
        </p:spPr>
        <p:txBody>
          <a:bodyPr/>
          <a:lstStyle/>
          <a:p>
            <a:fld id="{15E84413-D19B-41D9-A452-B00B62DB0F21}" type="slidenum">
              <a:rPr lang="en-US" altLang="zh-CN" smtClean="0">
                <a:latin typeface="Arial" pitchFamily="34" charset="0"/>
                <a:ea typeface="宋体" pitchFamily="2" charset="-122"/>
              </a:rPr>
              <a:pPr/>
              <a:t>44</a:t>
            </a:fld>
            <a:endParaRPr lang="en-US" altLang="zh-CN">
              <a:latin typeface="Arial" pitchFamily="34" charset="0"/>
              <a:ea typeface="宋体" pitchFamily="2" charset="-122"/>
            </a:endParaRPr>
          </a:p>
        </p:txBody>
      </p:sp>
      <p:sp>
        <p:nvSpPr>
          <p:cNvPr id="146435" name="Rectangle 2"/>
          <p:cNvSpPr>
            <a:spLocks noGrp="1" noChangeArrowheads="1"/>
          </p:cNvSpPr>
          <p:nvPr>
            <p:ph type="body" idx="1"/>
          </p:nvPr>
        </p:nvSpPr>
        <p:spPr>
          <a:xfrm>
            <a:off x="885825" y="3503613"/>
            <a:ext cx="4873625" cy="5540375"/>
          </a:xfrm>
          <a:noFill/>
          <a:ln/>
        </p:spPr>
        <p:txBody>
          <a:bodyPr lIns="90488" tIns="44450" rIns="90488" bIns="44450"/>
          <a:lstStyle/>
          <a:p>
            <a:pPr eaLnBrk="1" hangingPunct="1"/>
            <a:endParaRPr lang="zh-CN" altLang="zh-CN">
              <a:latin typeface="Arial" pitchFamily="34" charset="0"/>
              <a:ea typeface="宋体" pitchFamily="2" charset="-122"/>
            </a:endParaRPr>
          </a:p>
        </p:txBody>
      </p:sp>
      <p:sp>
        <p:nvSpPr>
          <p:cNvPr id="146436" name="Rectangle 3"/>
          <p:cNvSpPr>
            <a:spLocks noGrp="1" noRot="1" noChangeAspect="1" noChangeArrowheads="1" noTextEdit="1"/>
          </p:cNvSpPr>
          <p:nvPr>
            <p:ph type="sldImg"/>
          </p:nvPr>
        </p:nvSpPr>
        <p:spPr>
          <a:xfrm>
            <a:off x="1163638" y="739775"/>
            <a:ext cx="4318000" cy="2430463"/>
          </a:xfrm>
          <a:ln w="12700" cap="flat">
            <a:solidFill>
              <a:schemeClr val="tx1"/>
            </a:solidFill>
          </a:ln>
        </p:spPr>
      </p:sp>
    </p:spTree>
    <p:extLst>
      <p:ext uri="{BB962C8B-B14F-4D97-AF65-F5344CB8AC3E}">
        <p14:creationId xmlns:p14="http://schemas.microsoft.com/office/powerpoint/2010/main" val="400330808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Rectangle 7"/>
          <p:cNvSpPr>
            <a:spLocks noGrp="1" noChangeArrowheads="1"/>
          </p:cNvSpPr>
          <p:nvPr>
            <p:ph type="sldNum" sz="quarter" idx="5"/>
          </p:nvPr>
        </p:nvSpPr>
        <p:spPr>
          <a:noFill/>
        </p:spPr>
        <p:txBody>
          <a:bodyPr/>
          <a:lstStyle/>
          <a:p>
            <a:fld id="{D6D9E391-AB3D-4C41-8B67-D424563088A3}" type="slidenum">
              <a:rPr lang="en-US" altLang="zh-CN" smtClean="0">
                <a:latin typeface="Arial" pitchFamily="34" charset="0"/>
                <a:ea typeface="宋体" pitchFamily="2" charset="-122"/>
              </a:rPr>
              <a:pPr/>
              <a:t>45</a:t>
            </a:fld>
            <a:endParaRPr lang="en-US" altLang="zh-CN">
              <a:latin typeface="Arial" pitchFamily="34" charset="0"/>
              <a:ea typeface="宋体" pitchFamily="2" charset="-122"/>
            </a:endParaRPr>
          </a:p>
        </p:txBody>
      </p:sp>
      <p:sp>
        <p:nvSpPr>
          <p:cNvPr id="147459" name="Rectangle 1026"/>
          <p:cNvSpPr>
            <a:spLocks noGrp="1" noChangeArrowheads="1"/>
          </p:cNvSpPr>
          <p:nvPr>
            <p:ph type="body" idx="1"/>
          </p:nvPr>
        </p:nvSpPr>
        <p:spPr>
          <a:xfrm>
            <a:off x="885825" y="3503613"/>
            <a:ext cx="4873625" cy="5540375"/>
          </a:xfrm>
          <a:noFill/>
          <a:ln/>
        </p:spPr>
        <p:txBody>
          <a:bodyPr lIns="90488" tIns="44450" rIns="90488" bIns="44450"/>
          <a:lstStyle/>
          <a:p>
            <a:pPr eaLnBrk="1" hangingPunct="1"/>
            <a:endParaRPr lang="zh-CN" altLang="zh-CN">
              <a:latin typeface="Arial" pitchFamily="34" charset="0"/>
              <a:ea typeface="宋体" pitchFamily="2" charset="-122"/>
            </a:endParaRPr>
          </a:p>
        </p:txBody>
      </p:sp>
      <p:sp>
        <p:nvSpPr>
          <p:cNvPr id="147460" name="Rectangle 1027"/>
          <p:cNvSpPr>
            <a:spLocks noGrp="1" noRot="1" noChangeAspect="1" noChangeArrowheads="1" noTextEdit="1"/>
          </p:cNvSpPr>
          <p:nvPr>
            <p:ph type="sldImg"/>
          </p:nvPr>
        </p:nvSpPr>
        <p:spPr>
          <a:xfrm>
            <a:off x="1163638" y="739775"/>
            <a:ext cx="4318000" cy="2430463"/>
          </a:xfrm>
          <a:ln w="12700" cap="flat">
            <a:solidFill>
              <a:schemeClr val="tx1"/>
            </a:solidFill>
          </a:ln>
        </p:spPr>
      </p:sp>
    </p:spTree>
    <p:extLst>
      <p:ext uri="{BB962C8B-B14F-4D97-AF65-F5344CB8AC3E}">
        <p14:creationId xmlns:p14="http://schemas.microsoft.com/office/powerpoint/2010/main" val="401816232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Rectangle 7"/>
          <p:cNvSpPr>
            <a:spLocks noGrp="1" noChangeArrowheads="1"/>
          </p:cNvSpPr>
          <p:nvPr>
            <p:ph type="sldNum" sz="quarter" idx="5"/>
          </p:nvPr>
        </p:nvSpPr>
        <p:spPr>
          <a:noFill/>
        </p:spPr>
        <p:txBody>
          <a:bodyPr/>
          <a:lstStyle/>
          <a:p>
            <a:fld id="{ECC518FD-8C45-442A-9E66-C4B57DEB9075}" type="slidenum">
              <a:rPr lang="en-US" altLang="zh-CN" smtClean="0">
                <a:latin typeface="Arial" pitchFamily="34" charset="0"/>
                <a:ea typeface="宋体" pitchFamily="2" charset="-122"/>
              </a:rPr>
              <a:pPr/>
              <a:t>46</a:t>
            </a:fld>
            <a:endParaRPr lang="en-US" altLang="zh-CN">
              <a:latin typeface="Arial" pitchFamily="34" charset="0"/>
              <a:ea typeface="宋体" pitchFamily="2" charset="-122"/>
            </a:endParaRPr>
          </a:p>
        </p:txBody>
      </p:sp>
      <p:sp>
        <p:nvSpPr>
          <p:cNvPr id="148483" name="Rectangle 2"/>
          <p:cNvSpPr>
            <a:spLocks noGrp="1" noChangeArrowheads="1"/>
          </p:cNvSpPr>
          <p:nvPr>
            <p:ph type="body" idx="1"/>
          </p:nvPr>
        </p:nvSpPr>
        <p:spPr>
          <a:xfrm>
            <a:off x="885825" y="3503613"/>
            <a:ext cx="4873625" cy="5540375"/>
          </a:xfrm>
          <a:noFill/>
          <a:ln/>
        </p:spPr>
        <p:txBody>
          <a:bodyPr lIns="90488" tIns="44450" rIns="90488" bIns="44450"/>
          <a:lstStyle/>
          <a:p>
            <a:pPr eaLnBrk="1" hangingPunct="1"/>
            <a:endParaRPr lang="zh-CN" altLang="zh-CN">
              <a:latin typeface="Arial" pitchFamily="34" charset="0"/>
              <a:ea typeface="宋体" pitchFamily="2" charset="-122"/>
            </a:endParaRPr>
          </a:p>
        </p:txBody>
      </p:sp>
      <p:sp>
        <p:nvSpPr>
          <p:cNvPr id="148484" name="Rectangle 3"/>
          <p:cNvSpPr>
            <a:spLocks noGrp="1" noRot="1" noChangeAspect="1" noChangeArrowheads="1" noTextEdit="1"/>
          </p:cNvSpPr>
          <p:nvPr>
            <p:ph type="sldImg"/>
          </p:nvPr>
        </p:nvSpPr>
        <p:spPr>
          <a:xfrm>
            <a:off x="1163638" y="739775"/>
            <a:ext cx="4318000" cy="2430463"/>
          </a:xfrm>
          <a:ln w="12700" cap="flat">
            <a:solidFill>
              <a:schemeClr val="tx1"/>
            </a:solidFill>
          </a:ln>
        </p:spPr>
      </p:sp>
    </p:spTree>
    <p:extLst>
      <p:ext uri="{BB962C8B-B14F-4D97-AF65-F5344CB8AC3E}">
        <p14:creationId xmlns:p14="http://schemas.microsoft.com/office/powerpoint/2010/main" val="222803765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Rectangle 7"/>
          <p:cNvSpPr>
            <a:spLocks noGrp="1" noChangeArrowheads="1"/>
          </p:cNvSpPr>
          <p:nvPr>
            <p:ph type="sldNum" sz="quarter" idx="5"/>
          </p:nvPr>
        </p:nvSpPr>
        <p:spPr>
          <a:noFill/>
        </p:spPr>
        <p:txBody>
          <a:bodyPr/>
          <a:lstStyle/>
          <a:p>
            <a:fld id="{094E416B-943C-4CA4-B884-4A807B72F856}" type="slidenum">
              <a:rPr lang="en-US" altLang="zh-CN" smtClean="0">
                <a:latin typeface="Arial" pitchFamily="34" charset="0"/>
                <a:ea typeface="宋体" pitchFamily="2" charset="-122"/>
              </a:rPr>
              <a:pPr/>
              <a:t>48</a:t>
            </a:fld>
            <a:endParaRPr lang="en-US" altLang="zh-CN">
              <a:latin typeface="Arial" pitchFamily="34" charset="0"/>
              <a:ea typeface="宋体" pitchFamily="2" charset="-122"/>
            </a:endParaRPr>
          </a:p>
        </p:txBody>
      </p:sp>
      <p:sp>
        <p:nvSpPr>
          <p:cNvPr id="149507" name="Rectangle 2"/>
          <p:cNvSpPr>
            <a:spLocks noGrp="1" noChangeArrowheads="1"/>
          </p:cNvSpPr>
          <p:nvPr>
            <p:ph type="body" idx="1"/>
          </p:nvPr>
        </p:nvSpPr>
        <p:spPr>
          <a:xfrm>
            <a:off x="885825" y="3503613"/>
            <a:ext cx="4873625" cy="5540375"/>
          </a:xfrm>
          <a:noFill/>
          <a:ln/>
        </p:spPr>
        <p:txBody>
          <a:bodyPr lIns="90488" tIns="44450" rIns="90488" bIns="44450"/>
          <a:lstStyle/>
          <a:p>
            <a:pPr eaLnBrk="1" hangingPunct="1"/>
            <a:endParaRPr lang="zh-CN" altLang="zh-CN">
              <a:latin typeface="Arial" pitchFamily="34" charset="0"/>
              <a:ea typeface="宋体" pitchFamily="2" charset="-122"/>
            </a:endParaRPr>
          </a:p>
        </p:txBody>
      </p:sp>
      <p:sp>
        <p:nvSpPr>
          <p:cNvPr id="149508" name="Rectangle 3"/>
          <p:cNvSpPr>
            <a:spLocks noGrp="1" noRot="1" noChangeAspect="1" noChangeArrowheads="1" noTextEdit="1"/>
          </p:cNvSpPr>
          <p:nvPr>
            <p:ph type="sldImg"/>
          </p:nvPr>
        </p:nvSpPr>
        <p:spPr>
          <a:xfrm>
            <a:off x="1163638" y="739775"/>
            <a:ext cx="4318000" cy="2430463"/>
          </a:xfrm>
          <a:ln w="12700" cap="flat">
            <a:solidFill>
              <a:schemeClr val="tx1"/>
            </a:solidFill>
          </a:ln>
        </p:spPr>
      </p:sp>
    </p:spTree>
    <p:extLst>
      <p:ext uri="{BB962C8B-B14F-4D97-AF65-F5344CB8AC3E}">
        <p14:creationId xmlns:p14="http://schemas.microsoft.com/office/powerpoint/2010/main" val="255419183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Rectangle 7"/>
          <p:cNvSpPr>
            <a:spLocks noGrp="1" noChangeArrowheads="1"/>
          </p:cNvSpPr>
          <p:nvPr>
            <p:ph type="sldNum" sz="quarter" idx="5"/>
          </p:nvPr>
        </p:nvSpPr>
        <p:spPr>
          <a:noFill/>
        </p:spPr>
        <p:txBody>
          <a:bodyPr/>
          <a:lstStyle/>
          <a:p>
            <a:fld id="{1706CE18-A239-4D17-9457-5631C39CFBCC}" type="slidenum">
              <a:rPr lang="en-US" altLang="zh-CN" smtClean="0">
                <a:latin typeface="Arial" pitchFamily="34" charset="0"/>
                <a:ea typeface="宋体" pitchFamily="2" charset="-122"/>
              </a:rPr>
              <a:pPr/>
              <a:t>49</a:t>
            </a:fld>
            <a:endParaRPr lang="en-US" altLang="zh-CN">
              <a:latin typeface="Arial" pitchFamily="34" charset="0"/>
              <a:ea typeface="宋体" pitchFamily="2" charset="-122"/>
            </a:endParaRPr>
          </a:p>
        </p:txBody>
      </p:sp>
      <p:sp>
        <p:nvSpPr>
          <p:cNvPr id="150531" name="Rectangle 2"/>
          <p:cNvSpPr>
            <a:spLocks noGrp="1" noChangeArrowheads="1"/>
          </p:cNvSpPr>
          <p:nvPr>
            <p:ph type="body" idx="1"/>
          </p:nvPr>
        </p:nvSpPr>
        <p:spPr>
          <a:xfrm>
            <a:off x="885825" y="3503613"/>
            <a:ext cx="4873625" cy="5540375"/>
          </a:xfrm>
          <a:noFill/>
          <a:ln/>
        </p:spPr>
        <p:txBody>
          <a:bodyPr lIns="90488" tIns="44450" rIns="90488" bIns="44450"/>
          <a:lstStyle/>
          <a:p>
            <a:pPr eaLnBrk="1" hangingPunct="1"/>
            <a:endParaRPr lang="zh-CN" altLang="zh-CN">
              <a:latin typeface="Arial" pitchFamily="34" charset="0"/>
              <a:ea typeface="宋体" pitchFamily="2" charset="-122"/>
            </a:endParaRPr>
          </a:p>
        </p:txBody>
      </p:sp>
      <p:sp>
        <p:nvSpPr>
          <p:cNvPr id="150532" name="Rectangle 3"/>
          <p:cNvSpPr>
            <a:spLocks noGrp="1" noRot="1" noChangeAspect="1" noChangeArrowheads="1" noTextEdit="1"/>
          </p:cNvSpPr>
          <p:nvPr>
            <p:ph type="sldImg"/>
          </p:nvPr>
        </p:nvSpPr>
        <p:spPr>
          <a:xfrm>
            <a:off x="1163638" y="739775"/>
            <a:ext cx="4318000" cy="2430463"/>
          </a:xfrm>
          <a:ln w="12700" cap="flat">
            <a:solidFill>
              <a:schemeClr val="tx1"/>
            </a:solidFill>
          </a:ln>
        </p:spPr>
      </p:sp>
    </p:spTree>
    <p:extLst>
      <p:ext uri="{BB962C8B-B14F-4D97-AF65-F5344CB8AC3E}">
        <p14:creationId xmlns:p14="http://schemas.microsoft.com/office/powerpoint/2010/main" val="365120031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Rectangle 7"/>
          <p:cNvSpPr>
            <a:spLocks noGrp="1" noChangeArrowheads="1"/>
          </p:cNvSpPr>
          <p:nvPr>
            <p:ph type="sldNum" sz="quarter" idx="5"/>
          </p:nvPr>
        </p:nvSpPr>
        <p:spPr>
          <a:noFill/>
        </p:spPr>
        <p:txBody>
          <a:bodyPr/>
          <a:lstStyle/>
          <a:p>
            <a:fld id="{6F21AA9E-BD84-44D6-A131-C6AD283F2A6C}" type="slidenum">
              <a:rPr lang="en-US" altLang="zh-CN" smtClean="0">
                <a:latin typeface="Arial" pitchFamily="34" charset="0"/>
                <a:ea typeface="宋体" pitchFamily="2" charset="-122"/>
              </a:rPr>
              <a:pPr/>
              <a:t>50</a:t>
            </a:fld>
            <a:endParaRPr lang="en-US" altLang="zh-CN">
              <a:latin typeface="Arial" pitchFamily="34" charset="0"/>
              <a:ea typeface="宋体" pitchFamily="2" charset="-122"/>
            </a:endParaRPr>
          </a:p>
        </p:txBody>
      </p:sp>
      <p:sp>
        <p:nvSpPr>
          <p:cNvPr id="151555" name="Rectangle 2"/>
          <p:cNvSpPr>
            <a:spLocks noGrp="1" noChangeArrowheads="1"/>
          </p:cNvSpPr>
          <p:nvPr>
            <p:ph type="body" idx="1"/>
          </p:nvPr>
        </p:nvSpPr>
        <p:spPr>
          <a:xfrm>
            <a:off x="885825" y="3503613"/>
            <a:ext cx="4873625" cy="5540375"/>
          </a:xfrm>
          <a:noFill/>
          <a:ln/>
        </p:spPr>
        <p:txBody>
          <a:bodyPr lIns="90488" tIns="44450" rIns="90488" bIns="44450"/>
          <a:lstStyle/>
          <a:p>
            <a:pPr eaLnBrk="1" hangingPunct="1"/>
            <a:endParaRPr lang="zh-CN" altLang="zh-CN">
              <a:latin typeface="Arial" pitchFamily="34" charset="0"/>
              <a:ea typeface="宋体" pitchFamily="2" charset="-122"/>
            </a:endParaRPr>
          </a:p>
        </p:txBody>
      </p:sp>
      <p:sp>
        <p:nvSpPr>
          <p:cNvPr id="151556" name="Rectangle 3"/>
          <p:cNvSpPr>
            <a:spLocks noGrp="1" noRot="1" noChangeAspect="1" noChangeArrowheads="1" noTextEdit="1"/>
          </p:cNvSpPr>
          <p:nvPr>
            <p:ph type="sldImg"/>
          </p:nvPr>
        </p:nvSpPr>
        <p:spPr>
          <a:xfrm>
            <a:off x="1163638" y="739775"/>
            <a:ext cx="4318000" cy="2430463"/>
          </a:xfrm>
          <a:ln w="12700" cap="flat">
            <a:solidFill>
              <a:schemeClr val="tx1"/>
            </a:solidFill>
          </a:ln>
        </p:spPr>
      </p:sp>
    </p:spTree>
    <p:extLst>
      <p:ext uri="{BB962C8B-B14F-4D97-AF65-F5344CB8AC3E}">
        <p14:creationId xmlns:p14="http://schemas.microsoft.com/office/powerpoint/2010/main" val="411108111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Rectangle 7"/>
          <p:cNvSpPr>
            <a:spLocks noGrp="1" noChangeArrowheads="1"/>
          </p:cNvSpPr>
          <p:nvPr>
            <p:ph type="sldNum" sz="quarter" idx="5"/>
          </p:nvPr>
        </p:nvSpPr>
        <p:spPr>
          <a:noFill/>
        </p:spPr>
        <p:txBody>
          <a:bodyPr/>
          <a:lstStyle/>
          <a:p>
            <a:fld id="{B8C3D1D9-98EB-429F-BBB7-9B621758C35D}" type="slidenum">
              <a:rPr lang="en-US" altLang="zh-CN" smtClean="0">
                <a:latin typeface="Arial" pitchFamily="34" charset="0"/>
                <a:ea typeface="宋体" pitchFamily="2" charset="-122"/>
              </a:rPr>
              <a:pPr/>
              <a:t>51</a:t>
            </a:fld>
            <a:endParaRPr lang="en-US" altLang="zh-CN">
              <a:latin typeface="Arial" pitchFamily="34" charset="0"/>
              <a:ea typeface="宋体" pitchFamily="2" charset="-122"/>
            </a:endParaRPr>
          </a:p>
        </p:txBody>
      </p:sp>
      <p:sp>
        <p:nvSpPr>
          <p:cNvPr id="152579" name="Rectangle 2"/>
          <p:cNvSpPr>
            <a:spLocks noGrp="1" noChangeArrowheads="1"/>
          </p:cNvSpPr>
          <p:nvPr>
            <p:ph type="body" idx="1"/>
          </p:nvPr>
        </p:nvSpPr>
        <p:spPr>
          <a:xfrm>
            <a:off x="885825" y="3503613"/>
            <a:ext cx="4873625" cy="5540375"/>
          </a:xfrm>
          <a:noFill/>
          <a:ln/>
        </p:spPr>
        <p:txBody>
          <a:bodyPr lIns="90488" tIns="44450" rIns="90488" bIns="44450"/>
          <a:lstStyle/>
          <a:p>
            <a:pPr eaLnBrk="1" hangingPunct="1"/>
            <a:endParaRPr lang="zh-CN" altLang="zh-CN">
              <a:latin typeface="Arial" pitchFamily="34" charset="0"/>
              <a:ea typeface="宋体" pitchFamily="2" charset="-122"/>
            </a:endParaRPr>
          </a:p>
        </p:txBody>
      </p:sp>
      <p:sp>
        <p:nvSpPr>
          <p:cNvPr id="152580" name="Rectangle 3"/>
          <p:cNvSpPr>
            <a:spLocks noGrp="1" noRot="1" noChangeAspect="1" noChangeArrowheads="1" noTextEdit="1"/>
          </p:cNvSpPr>
          <p:nvPr>
            <p:ph type="sldImg"/>
          </p:nvPr>
        </p:nvSpPr>
        <p:spPr>
          <a:xfrm>
            <a:off x="1163638" y="739775"/>
            <a:ext cx="4318000" cy="2430463"/>
          </a:xfrm>
          <a:ln w="12700" cap="flat">
            <a:solidFill>
              <a:schemeClr val="tx1"/>
            </a:solidFill>
          </a:ln>
        </p:spPr>
      </p:sp>
    </p:spTree>
    <p:extLst>
      <p:ext uri="{BB962C8B-B14F-4D97-AF65-F5344CB8AC3E}">
        <p14:creationId xmlns:p14="http://schemas.microsoft.com/office/powerpoint/2010/main" val="256285697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Rectangle 7"/>
          <p:cNvSpPr>
            <a:spLocks noGrp="1" noChangeArrowheads="1"/>
          </p:cNvSpPr>
          <p:nvPr>
            <p:ph type="sldNum" sz="quarter" idx="5"/>
          </p:nvPr>
        </p:nvSpPr>
        <p:spPr>
          <a:noFill/>
        </p:spPr>
        <p:txBody>
          <a:bodyPr/>
          <a:lstStyle/>
          <a:p>
            <a:fld id="{A348B970-E09C-4ABA-BFE1-339EB2D245B4}" type="slidenum">
              <a:rPr lang="en-US" altLang="zh-CN" smtClean="0">
                <a:latin typeface="Arial" pitchFamily="34" charset="0"/>
                <a:ea typeface="宋体" pitchFamily="2" charset="-122"/>
              </a:rPr>
              <a:pPr/>
              <a:t>52</a:t>
            </a:fld>
            <a:endParaRPr lang="en-US" altLang="zh-CN">
              <a:latin typeface="Arial" pitchFamily="34" charset="0"/>
              <a:ea typeface="宋体" pitchFamily="2" charset="-122"/>
            </a:endParaRPr>
          </a:p>
        </p:txBody>
      </p:sp>
      <p:sp>
        <p:nvSpPr>
          <p:cNvPr id="153603" name="Rectangle 2"/>
          <p:cNvSpPr>
            <a:spLocks noGrp="1" noChangeArrowheads="1"/>
          </p:cNvSpPr>
          <p:nvPr>
            <p:ph type="body" idx="1"/>
          </p:nvPr>
        </p:nvSpPr>
        <p:spPr>
          <a:xfrm>
            <a:off x="885825" y="3503613"/>
            <a:ext cx="4873625" cy="5540375"/>
          </a:xfrm>
          <a:noFill/>
          <a:ln/>
        </p:spPr>
        <p:txBody>
          <a:bodyPr lIns="90488" tIns="44450" rIns="90488" bIns="44450"/>
          <a:lstStyle/>
          <a:p>
            <a:pPr eaLnBrk="1" hangingPunct="1"/>
            <a:endParaRPr lang="zh-CN" altLang="zh-CN">
              <a:latin typeface="Arial" pitchFamily="34" charset="0"/>
              <a:ea typeface="宋体" pitchFamily="2" charset="-122"/>
            </a:endParaRPr>
          </a:p>
        </p:txBody>
      </p:sp>
      <p:sp>
        <p:nvSpPr>
          <p:cNvPr id="153604" name="Rectangle 3"/>
          <p:cNvSpPr>
            <a:spLocks noGrp="1" noRot="1" noChangeAspect="1" noChangeArrowheads="1" noTextEdit="1"/>
          </p:cNvSpPr>
          <p:nvPr>
            <p:ph type="sldImg"/>
          </p:nvPr>
        </p:nvSpPr>
        <p:spPr>
          <a:xfrm>
            <a:off x="1163638" y="739775"/>
            <a:ext cx="4318000" cy="2430463"/>
          </a:xfrm>
          <a:ln w="12700" cap="flat">
            <a:solidFill>
              <a:schemeClr val="tx1"/>
            </a:solidFill>
          </a:ln>
        </p:spPr>
      </p:sp>
    </p:spTree>
    <p:extLst>
      <p:ext uri="{BB962C8B-B14F-4D97-AF65-F5344CB8AC3E}">
        <p14:creationId xmlns:p14="http://schemas.microsoft.com/office/powerpoint/2010/main" val="45578580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7"/>
          <p:cNvSpPr>
            <a:spLocks noGrp="1" noChangeArrowheads="1"/>
          </p:cNvSpPr>
          <p:nvPr>
            <p:ph type="sldNum" sz="quarter" idx="5"/>
          </p:nvPr>
        </p:nvSpPr>
        <p:spPr>
          <a:noFill/>
        </p:spPr>
        <p:txBody>
          <a:bodyPr/>
          <a:lstStyle/>
          <a:p>
            <a:fld id="{CEFFFE9E-6EC1-406D-94F6-498F6A2BB80E}" type="slidenum">
              <a:rPr lang="en-US" altLang="zh-CN" smtClean="0">
                <a:latin typeface="Arial" pitchFamily="34" charset="0"/>
                <a:ea typeface="宋体" pitchFamily="2" charset="-122"/>
              </a:rPr>
              <a:pPr/>
              <a:t>53</a:t>
            </a:fld>
            <a:endParaRPr lang="en-US" altLang="zh-CN">
              <a:latin typeface="Arial" pitchFamily="34" charset="0"/>
              <a:ea typeface="宋体" pitchFamily="2" charset="-122"/>
            </a:endParaRPr>
          </a:p>
        </p:txBody>
      </p:sp>
      <p:sp>
        <p:nvSpPr>
          <p:cNvPr id="154627" name="Rectangle 2"/>
          <p:cNvSpPr>
            <a:spLocks noGrp="1" noChangeArrowheads="1"/>
          </p:cNvSpPr>
          <p:nvPr>
            <p:ph type="body" idx="1"/>
          </p:nvPr>
        </p:nvSpPr>
        <p:spPr>
          <a:xfrm>
            <a:off x="885825" y="3503613"/>
            <a:ext cx="4873625" cy="5540375"/>
          </a:xfrm>
          <a:noFill/>
          <a:ln/>
        </p:spPr>
        <p:txBody>
          <a:bodyPr lIns="90488" tIns="44450" rIns="90488" bIns="44450"/>
          <a:lstStyle/>
          <a:p>
            <a:pPr eaLnBrk="1" hangingPunct="1"/>
            <a:endParaRPr lang="zh-CN" altLang="zh-CN">
              <a:latin typeface="Arial" pitchFamily="34" charset="0"/>
              <a:ea typeface="宋体" pitchFamily="2" charset="-122"/>
            </a:endParaRPr>
          </a:p>
        </p:txBody>
      </p:sp>
      <p:sp>
        <p:nvSpPr>
          <p:cNvPr id="154628" name="Rectangle 3"/>
          <p:cNvSpPr>
            <a:spLocks noGrp="1" noRot="1" noChangeAspect="1" noChangeArrowheads="1" noTextEdit="1"/>
          </p:cNvSpPr>
          <p:nvPr>
            <p:ph type="sldImg"/>
          </p:nvPr>
        </p:nvSpPr>
        <p:spPr>
          <a:xfrm>
            <a:off x="1163638" y="739775"/>
            <a:ext cx="4318000" cy="2430463"/>
          </a:xfrm>
          <a:ln w="12700" cap="flat">
            <a:solidFill>
              <a:schemeClr val="tx1"/>
            </a:solidFill>
          </a:ln>
        </p:spPr>
      </p:sp>
    </p:spTree>
    <p:extLst>
      <p:ext uri="{BB962C8B-B14F-4D97-AF65-F5344CB8AC3E}">
        <p14:creationId xmlns:p14="http://schemas.microsoft.com/office/powerpoint/2010/main" val="63698630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Rectangle 7"/>
          <p:cNvSpPr>
            <a:spLocks noGrp="1" noChangeArrowheads="1"/>
          </p:cNvSpPr>
          <p:nvPr>
            <p:ph type="sldNum" sz="quarter" idx="5"/>
          </p:nvPr>
        </p:nvSpPr>
        <p:spPr>
          <a:noFill/>
        </p:spPr>
        <p:txBody>
          <a:bodyPr/>
          <a:lstStyle/>
          <a:p>
            <a:fld id="{1EC9D377-9F9A-4825-ADAD-E0B01CE53309}" type="slidenum">
              <a:rPr lang="en-US" altLang="zh-CN" smtClean="0">
                <a:latin typeface="Arial" pitchFamily="34" charset="0"/>
                <a:ea typeface="宋体" pitchFamily="2" charset="-122"/>
              </a:rPr>
              <a:pPr/>
              <a:t>54</a:t>
            </a:fld>
            <a:endParaRPr lang="en-US" altLang="zh-CN">
              <a:latin typeface="Arial" pitchFamily="34" charset="0"/>
              <a:ea typeface="宋体" pitchFamily="2" charset="-122"/>
            </a:endParaRPr>
          </a:p>
        </p:txBody>
      </p:sp>
      <p:sp>
        <p:nvSpPr>
          <p:cNvPr id="155651" name="Rectangle 2"/>
          <p:cNvSpPr>
            <a:spLocks noGrp="1" noChangeArrowheads="1"/>
          </p:cNvSpPr>
          <p:nvPr>
            <p:ph type="body" idx="1"/>
          </p:nvPr>
        </p:nvSpPr>
        <p:spPr>
          <a:xfrm>
            <a:off x="885825" y="3503613"/>
            <a:ext cx="4873625" cy="5540375"/>
          </a:xfrm>
          <a:noFill/>
          <a:ln/>
        </p:spPr>
        <p:txBody>
          <a:bodyPr lIns="90488" tIns="44450" rIns="90488" bIns="44450"/>
          <a:lstStyle/>
          <a:p>
            <a:pPr eaLnBrk="1" hangingPunct="1"/>
            <a:endParaRPr lang="zh-CN" altLang="zh-CN">
              <a:latin typeface="Arial" pitchFamily="34" charset="0"/>
              <a:ea typeface="宋体" pitchFamily="2" charset="-122"/>
            </a:endParaRPr>
          </a:p>
        </p:txBody>
      </p:sp>
      <p:sp>
        <p:nvSpPr>
          <p:cNvPr id="155652" name="Rectangle 3"/>
          <p:cNvSpPr>
            <a:spLocks noGrp="1" noRot="1" noChangeAspect="1" noChangeArrowheads="1" noTextEdit="1"/>
          </p:cNvSpPr>
          <p:nvPr>
            <p:ph type="sldImg"/>
          </p:nvPr>
        </p:nvSpPr>
        <p:spPr>
          <a:xfrm>
            <a:off x="1163638" y="739775"/>
            <a:ext cx="4318000" cy="2430463"/>
          </a:xfrm>
          <a:ln w="12700" cap="flat">
            <a:solidFill>
              <a:schemeClr val="tx1"/>
            </a:solidFill>
          </a:ln>
        </p:spPr>
      </p:sp>
    </p:spTree>
    <p:extLst>
      <p:ext uri="{BB962C8B-B14F-4D97-AF65-F5344CB8AC3E}">
        <p14:creationId xmlns:p14="http://schemas.microsoft.com/office/powerpoint/2010/main" val="40192169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Rectangle 7"/>
          <p:cNvSpPr>
            <a:spLocks noGrp="1" noChangeArrowheads="1"/>
          </p:cNvSpPr>
          <p:nvPr>
            <p:ph type="sldNum" sz="quarter" idx="5"/>
          </p:nvPr>
        </p:nvSpPr>
        <p:spPr>
          <a:noFill/>
        </p:spPr>
        <p:txBody>
          <a:bodyPr/>
          <a:lstStyle/>
          <a:p>
            <a:fld id="{AA972969-16F0-405B-9C2B-5150638FAECF}" type="slidenum">
              <a:rPr lang="en-US" altLang="zh-CN" smtClean="0">
                <a:latin typeface="Arial" pitchFamily="34" charset="0"/>
                <a:ea typeface="宋体" pitchFamily="2" charset="-122"/>
              </a:rPr>
              <a:pPr/>
              <a:t>55</a:t>
            </a:fld>
            <a:endParaRPr lang="en-US" altLang="zh-CN">
              <a:latin typeface="Arial" pitchFamily="34" charset="0"/>
              <a:ea typeface="宋体" pitchFamily="2" charset="-122"/>
            </a:endParaRPr>
          </a:p>
        </p:txBody>
      </p:sp>
      <p:sp>
        <p:nvSpPr>
          <p:cNvPr id="156675" name="Rectangle 2"/>
          <p:cNvSpPr>
            <a:spLocks noGrp="1" noChangeArrowheads="1"/>
          </p:cNvSpPr>
          <p:nvPr>
            <p:ph type="body" idx="1"/>
          </p:nvPr>
        </p:nvSpPr>
        <p:spPr>
          <a:xfrm>
            <a:off x="885825" y="3503613"/>
            <a:ext cx="4873625" cy="5540375"/>
          </a:xfrm>
          <a:noFill/>
          <a:ln/>
        </p:spPr>
        <p:txBody>
          <a:bodyPr lIns="90488" tIns="44450" rIns="90488" bIns="44450"/>
          <a:lstStyle/>
          <a:p>
            <a:pPr eaLnBrk="1" hangingPunct="1"/>
            <a:endParaRPr lang="zh-CN" altLang="zh-CN">
              <a:latin typeface="Arial" pitchFamily="34" charset="0"/>
              <a:ea typeface="宋体" pitchFamily="2" charset="-122"/>
            </a:endParaRPr>
          </a:p>
        </p:txBody>
      </p:sp>
      <p:sp>
        <p:nvSpPr>
          <p:cNvPr id="156676" name="Rectangle 3"/>
          <p:cNvSpPr>
            <a:spLocks noGrp="1" noRot="1" noChangeAspect="1" noChangeArrowheads="1" noTextEdit="1"/>
          </p:cNvSpPr>
          <p:nvPr>
            <p:ph type="sldImg"/>
          </p:nvPr>
        </p:nvSpPr>
        <p:spPr>
          <a:xfrm>
            <a:off x="1163638" y="739775"/>
            <a:ext cx="4318000" cy="2430463"/>
          </a:xfrm>
          <a:ln w="12700" cap="flat">
            <a:solidFill>
              <a:schemeClr val="tx1"/>
            </a:solidFill>
          </a:ln>
        </p:spPr>
      </p:sp>
    </p:spTree>
    <p:extLst>
      <p:ext uri="{BB962C8B-B14F-4D97-AF65-F5344CB8AC3E}">
        <p14:creationId xmlns:p14="http://schemas.microsoft.com/office/powerpoint/2010/main" val="232084944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Rectangle 7"/>
          <p:cNvSpPr>
            <a:spLocks noGrp="1" noChangeArrowheads="1"/>
          </p:cNvSpPr>
          <p:nvPr>
            <p:ph type="sldNum" sz="quarter" idx="5"/>
          </p:nvPr>
        </p:nvSpPr>
        <p:spPr>
          <a:noFill/>
        </p:spPr>
        <p:txBody>
          <a:bodyPr/>
          <a:lstStyle/>
          <a:p>
            <a:fld id="{61D50EC6-67C9-4FC1-8D38-155FAF6B423F}" type="slidenum">
              <a:rPr lang="en-US" altLang="zh-CN" smtClean="0">
                <a:latin typeface="Arial" pitchFamily="34" charset="0"/>
                <a:ea typeface="宋体" pitchFamily="2" charset="-122"/>
              </a:rPr>
              <a:pPr/>
              <a:t>56</a:t>
            </a:fld>
            <a:endParaRPr lang="en-US" altLang="zh-CN">
              <a:latin typeface="Arial" pitchFamily="34" charset="0"/>
              <a:ea typeface="宋体" pitchFamily="2" charset="-122"/>
            </a:endParaRPr>
          </a:p>
        </p:txBody>
      </p:sp>
      <p:sp>
        <p:nvSpPr>
          <p:cNvPr id="157699" name="Rectangle 2"/>
          <p:cNvSpPr>
            <a:spLocks noGrp="1" noChangeArrowheads="1"/>
          </p:cNvSpPr>
          <p:nvPr>
            <p:ph type="body" idx="1"/>
          </p:nvPr>
        </p:nvSpPr>
        <p:spPr>
          <a:xfrm>
            <a:off x="885825" y="3503613"/>
            <a:ext cx="4873625" cy="5540375"/>
          </a:xfrm>
          <a:noFill/>
          <a:ln/>
        </p:spPr>
        <p:txBody>
          <a:bodyPr lIns="90488" tIns="44450" rIns="90488" bIns="44450"/>
          <a:lstStyle/>
          <a:p>
            <a:pPr eaLnBrk="1" hangingPunct="1"/>
            <a:endParaRPr lang="zh-CN" altLang="zh-CN">
              <a:latin typeface="Arial" pitchFamily="34" charset="0"/>
              <a:ea typeface="宋体" pitchFamily="2" charset="-122"/>
            </a:endParaRPr>
          </a:p>
        </p:txBody>
      </p:sp>
      <p:sp>
        <p:nvSpPr>
          <p:cNvPr id="157700" name="Rectangle 3"/>
          <p:cNvSpPr>
            <a:spLocks noGrp="1" noRot="1" noChangeAspect="1" noChangeArrowheads="1" noTextEdit="1"/>
          </p:cNvSpPr>
          <p:nvPr>
            <p:ph type="sldImg"/>
          </p:nvPr>
        </p:nvSpPr>
        <p:spPr>
          <a:xfrm>
            <a:off x="1163638" y="739775"/>
            <a:ext cx="4318000" cy="2430463"/>
          </a:xfrm>
          <a:ln w="12700" cap="flat">
            <a:solidFill>
              <a:schemeClr val="tx1"/>
            </a:solidFill>
          </a:ln>
        </p:spPr>
      </p:sp>
    </p:spTree>
    <p:extLst>
      <p:ext uri="{BB962C8B-B14F-4D97-AF65-F5344CB8AC3E}">
        <p14:creationId xmlns:p14="http://schemas.microsoft.com/office/powerpoint/2010/main" val="16474083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Rectangle 7"/>
          <p:cNvSpPr>
            <a:spLocks noGrp="1" noChangeArrowheads="1"/>
          </p:cNvSpPr>
          <p:nvPr>
            <p:ph type="sldNum" sz="quarter" idx="5"/>
          </p:nvPr>
        </p:nvSpPr>
        <p:spPr>
          <a:noFill/>
        </p:spPr>
        <p:txBody>
          <a:bodyPr/>
          <a:lstStyle/>
          <a:p>
            <a:fld id="{E62149E7-8DE2-4A79-BB42-36AA86349588}" type="slidenum">
              <a:rPr lang="en-US" altLang="zh-CN" smtClean="0">
                <a:latin typeface="Arial" pitchFamily="34" charset="0"/>
                <a:ea typeface="宋体" pitchFamily="2" charset="-122"/>
              </a:rPr>
              <a:pPr/>
              <a:t>57</a:t>
            </a:fld>
            <a:endParaRPr lang="en-US" altLang="zh-CN">
              <a:latin typeface="Arial" pitchFamily="34" charset="0"/>
              <a:ea typeface="宋体" pitchFamily="2" charset="-122"/>
            </a:endParaRPr>
          </a:p>
        </p:txBody>
      </p:sp>
      <p:sp>
        <p:nvSpPr>
          <p:cNvPr id="158723" name="Rectangle 2"/>
          <p:cNvSpPr>
            <a:spLocks noGrp="1" noChangeArrowheads="1"/>
          </p:cNvSpPr>
          <p:nvPr>
            <p:ph type="body" idx="1"/>
          </p:nvPr>
        </p:nvSpPr>
        <p:spPr>
          <a:xfrm>
            <a:off x="885825" y="3503613"/>
            <a:ext cx="4873625" cy="5540375"/>
          </a:xfrm>
          <a:noFill/>
          <a:ln/>
        </p:spPr>
        <p:txBody>
          <a:bodyPr lIns="90488" tIns="44450" rIns="90488" bIns="44450"/>
          <a:lstStyle/>
          <a:p>
            <a:pPr eaLnBrk="1" hangingPunct="1"/>
            <a:endParaRPr lang="zh-CN" altLang="zh-CN">
              <a:latin typeface="Arial" pitchFamily="34" charset="0"/>
              <a:ea typeface="宋体" pitchFamily="2" charset="-122"/>
            </a:endParaRPr>
          </a:p>
        </p:txBody>
      </p:sp>
      <p:sp>
        <p:nvSpPr>
          <p:cNvPr id="158724" name="Rectangle 3"/>
          <p:cNvSpPr>
            <a:spLocks noGrp="1" noRot="1" noChangeAspect="1" noChangeArrowheads="1" noTextEdit="1"/>
          </p:cNvSpPr>
          <p:nvPr>
            <p:ph type="sldImg"/>
          </p:nvPr>
        </p:nvSpPr>
        <p:spPr>
          <a:xfrm>
            <a:off x="1163638" y="739775"/>
            <a:ext cx="4318000" cy="2430463"/>
          </a:xfrm>
          <a:ln w="12700" cap="flat">
            <a:solidFill>
              <a:schemeClr val="tx1"/>
            </a:solidFill>
          </a:ln>
        </p:spPr>
      </p:sp>
    </p:spTree>
    <p:extLst>
      <p:ext uri="{BB962C8B-B14F-4D97-AF65-F5344CB8AC3E}">
        <p14:creationId xmlns:p14="http://schemas.microsoft.com/office/powerpoint/2010/main" val="384132266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Rectangle 7"/>
          <p:cNvSpPr>
            <a:spLocks noGrp="1" noChangeArrowheads="1"/>
          </p:cNvSpPr>
          <p:nvPr>
            <p:ph type="sldNum" sz="quarter" idx="5"/>
          </p:nvPr>
        </p:nvSpPr>
        <p:spPr>
          <a:noFill/>
        </p:spPr>
        <p:txBody>
          <a:bodyPr/>
          <a:lstStyle/>
          <a:p>
            <a:fld id="{0EBA1390-6A79-4387-BDE4-127BCF24E5D5}" type="slidenum">
              <a:rPr lang="en-US" altLang="zh-CN" smtClean="0">
                <a:latin typeface="Arial" pitchFamily="34" charset="0"/>
                <a:ea typeface="宋体" pitchFamily="2" charset="-122"/>
              </a:rPr>
              <a:pPr/>
              <a:t>58</a:t>
            </a:fld>
            <a:endParaRPr lang="en-US" altLang="zh-CN">
              <a:latin typeface="Arial" pitchFamily="34" charset="0"/>
              <a:ea typeface="宋体" pitchFamily="2" charset="-122"/>
            </a:endParaRPr>
          </a:p>
        </p:txBody>
      </p:sp>
      <p:sp>
        <p:nvSpPr>
          <p:cNvPr id="159747" name="Rectangle 2"/>
          <p:cNvSpPr>
            <a:spLocks noGrp="1" noChangeArrowheads="1"/>
          </p:cNvSpPr>
          <p:nvPr>
            <p:ph type="body" idx="1"/>
          </p:nvPr>
        </p:nvSpPr>
        <p:spPr>
          <a:xfrm>
            <a:off x="885825" y="3503613"/>
            <a:ext cx="4873625" cy="5540375"/>
          </a:xfrm>
          <a:noFill/>
          <a:ln/>
        </p:spPr>
        <p:txBody>
          <a:bodyPr lIns="90488" tIns="44450" rIns="90488" bIns="44450"/>
          <a:lstStyle/>
          <a:p>
            <a:pPr eaLnBrk="1" hangingPunct="1"/>
            <a:endParaRPr lang="zh-CN" altLang="zh-CN">
              <a:latin typeface="Arial" pitchFamily="34" charset="0"/>
              <a:ea typeface="宋体" pitchFamily="2" charset="-122"/>
            </a:endParaRPr>
          </a:p>
        </p:txBody>
      </p:sp>
      <p:sp>
        <p:nvSpPr>
          <p:cNvPr id="159748" name="Rectangle 3"/>
          <p:cNvSpPr>
            <a:spLocks noGrp="1" noRot="1" noChangeAspect="1" noChangeArrowheads="1" noTextEdit="1"/>
          </p:cNvSpPr>
          <p:nvPr>
            <p:ph type="sldImg"/>
          </p:nvPr>
        </p:nvSpPr>
        <p:spPr>
          <a:xfrm>
            <a:off x="1163638" y="739775"/>
            <a:ext cx="4318000" cy="2430463"/>
          </a:xfrm>
          <a:ln w="12700" cap="flat">
            <a:solidFill>
              <a:schemeClr val="tx1"/>
            </a:solidFill>
          </a:ln>
        </p:spPr>
      </p:sp>
    </p:spTree>
    <p:extLst>
      <p:ext uri="{BB962C8B-B14F-4D97-AF65-F5344CB8AC3E}">
        <p14:creationId xmlns:p14="http://schemas.microsoft.com/office/powerpoint/2010/main" val="420434911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Rectangle 7"/>
          <p:cNvSpPr>
            <a:spLocks noGrp="1" noChangeArrowheads="1"/>
          </p:cNvSpPr>
          <p:nvPr>
            <p:ph type="sldNum" sz="quarter" idx="5"/>
          </p:nvPr>
        </p:nvSpPr>
        <p:spPr>
          <a:noFill/>
        </p:spPr>
        <p:txBody>
          <a:bodyPr/>
          <a:lstStyle/>
          <a:p>
            <a:fld id="{2D3E12E0-0E80-4C15-8DBC-5017ABA2D894}" type="slidenum">
              <a:rPr lang="en-US" altLang="zh-CN" smtClean="0">
                <a:latin typeface="Arial" pitchFamily="34" charset="0"/>
                <a:ea typeface="宋体" pitchFamily="2" charset="-122"/>
              </a:rPr>
              <a:pPr/>
              <a:t>59</a:t>
            </a:fld>
            <a:endParaRPr lang="en-US" altLang="zh-CN">
              <a:latin typeface="Arial" pitchFamily="34" charset="0"/>
              <a:ea typeface="宋体" pitchFamily="2" charset="-122"/>
            </a:endParaRPr>
          </a:p>
        </p:txBody>
      </p:sp>
      <p:sp>
        <p:nvSpPr>
          <p:cNvPr id="160771" name="Rectangle 1026"/>
          <p:cNvSpPr>
            <a:spLocks noGrp="1" noChangeArrowheads="1"/>
          </p:cNvSpPr>
          <p:nvPr>
            <p:ph type="body" idx="1"/>
          </p:nvPr>
        </p:nvSpPr>
        <p:spPr>
          <a:xfrm>
            <a:off x="885825" y="3503613"/>
            <a:ext cx="4873625" cy="5540375"/>
          </a:xfrm>
          <a:noFill/>
          <a:ln/>
        </p:spPr>
        <p:txBody>
          <a:bodyPr lIns="90488" tIns="44450" rIns="90488" bIns="44450"/>
          <a:lstStyle/>
          <a:p>
            <a:pPr eaLnBrk="1" hangingPunct="1"/>
            <a:endParaRPr lang="zh-CN" altLang="zh-CN">
              <a:latin typeface="Arial" pitchFamily="34" charset="0"/>
              <a:ea typeface="宋体" pitchFamily="2" charset="-122"/>
            </a:endParaRPr>
          </a:p>
        </p:txBody>
      </p:sp>
      <p:sp>
        <p:nvSpPr>
          <p:cNvPr id="160772" name="Rectangle 1027"/>
          <p:cNvSpPr>
            <a:spLocks noGrp="1" noRot="1" noChangeAspect="1" noChangeArrowheads="1" noTextEdit="1"/>
          </p:cNvSpPr>
          <p:nvPr>
            <p:ph type="sldImg"/>
          </p:nvPr>
        </p:nvSpPr>
        <p:spPr>
          <a:xfrm>
            <a:off x="1163638" y="739775"/>
            <a:ext cx="4318000" cy="2430463"/>
          </a:xfrm>
          <a:ln w="12700" cap="flat">
            <a:solidFill>
              <a:schemeClr val="tx1"/>
            </a:solidFill>
          </a:ln>
        </p:spPr>
      </p:sp>
    </p:spTree>
    <p:extLst>
      <p:ext uri="{BB962C8B-B14F-4D97-AF65-F5344CB8AC3E}">
        <p14:creationId xmlns:p14="http://schemas.microsoft.com/office/powerpoint/2010/main" val="325561538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Rectangle 7"/>
          <p:cNvSpPr>
            <a:spLocks noGrp="1" noChangeArrowheads="1"/>
          </p:cNvSpPr>
          <p:nvPr>
            <p:ph type="sldNum" sz="quarter" idx="5"/>
          </p:nvPr>
        </p:nvSpPr>
        <p:spPr>
          <a:noFill/>
        </p:spPr>
        <p:txBody>
          <a:bodyPr/>
          <a:lstStyle/>
          <a:p>
            <a:fld id="{333B2754-18DC-4198-AB8C-BEF82BA32CD8}" type="slidenum">
              <a:rPr lang="en-US" altLang="zh-CN" smtClean="0">
                <a:latin typeface="Arial" pitchFamily="34" charset="0"/>
                <a:ea typeface="宋体" pitchFamily="2" charset="-122"/>
              </a:rPr>
              <a:pPr/>
              <a:t>60</a:t>
            </a:fld>
            <a:endParaRPr lang="en-US" altLang="zh-CN">
              <a:latin typeface="Arial" pitchFamily="34" charset="0"/>
              <a:ea typeface="宋体" pitchFamily="2" charset="-122"/>
            </a:endParaRPr>
          </a:p>
        </p:txBody>
      </p:sp>
      <p:sp>
        <p:nvSpPr>
          <p:cNvPr id="161795" name="Rectangle 2"/>
          <p:cNvSpPr>
            <a:spLocks noGrp="1" noChangeArrowheads="1"/>
          </p:cNvSpPr>
          <p:nvPr>
            <p:ph type="body" idx="1"/>
          </p:nvPr>
        </p:nvSpPr>
        <p:spPr>
          <a:xfrm>
            <a:off x="885825" y="3503613"/>
            <a:ext cx="4873625" cy="5540375"/>
          </a:xfrm>
          <a:noFill/>
          <a:ln/>
        </p:spPr>
        <p:txBody>
          <a:bodyPr lIns="90488" tIns="44450" rIns="90488" bIns="44450"/>
          <a:lstStyle/>
          <a:p>
            <a:pPr eaLnBrk="1" hangingPunct="1"/>
            <a:endParaRPr lang="zh-CN" altLang="zh-CN">
              <a:latin typeface="Arial" pitchFamily="34" charset="0"/>
              <a:ea typeface="宋体" pitchFamily="2" charset="-122"/>
            </a:endParaRPr>
          </a:p>
        </p:txBody>
      </p:sp>
      <p:sp>
        <p:nvSpPr>
          <p:cNvPr id="161796" name="Rectangle 3"/>
          <p:cNvSpPr>
            <a:spLocks noGrp="1" noRot="1" noChangeAspect="1" noChangeArrowheads="1" noTextEdit="1"/>
          </p:cNvSpPr>
          <p:nvPr>
            <p:ph type="sldImg"/>
          </p:nvPr>
        </p:nvSpPr>
        <p:spPr>
          <a:xfrm>
            <a:off x="1163638" y="739775"/>
            <a:ext cx="4318000" cy="2430463"/>
          </a:xfrm>
          <a:ln w="12700" cap="flat">
            <a:solidFill>
              <a:schemeClr val="tx1"/>
            </a:solidFill>
          </a:ln>
        </p:spPr>
      </p:sp>
    </p:spTree>
    <p:extLst>
      <p:ext uri="{BB962C8B-B14F-4D97-AF65-F5344CB8AC3E}">
        <p14:creationId xmlns:p14="http://schemas.microsoft.com/office/powerpoint/2010/main" val="127267272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Rectangle 7"/>
          <p:cNvSpPr>
            <a:spLocks noGrp="1" noChangeArrowheads="1"/>
          </p:cNvSpPr>
          <p:nvPr>
            <p:ph type="sldNum" sz="quarter" idx="5"/>
          </p:nvPr>
        </p:nvSpPr>
        <p:spPr>
          <a:noFill/>
        </p:spPr>
        <p:txBody>
          <a:bodyPr/>
          <a:lstStyle/>
          <a:p>
            <a:fld id="{6AEBAD65-299C-439D-B460-B0B002DA9EE5}" type="slidenum">
              <a:rPr lang="en-US" altLang="zh-CN" smtClean="0">
                <a:latin typeface="Arial" pitchFamily="34" charset="0"/>
                <a:ea typeface="宋体" pitchFamily="2" charset="-122"/>
              </a:rPr>
              <a:pPr/>
              <a:t>61</a:t>
            </a:fld>
            <a:endParaRPr lang="en-US" altLang="zh-CN">
              <a:latin typeface="Arial" pitchFamily="34" charset="0"/>
              <a:ea typeface="宋体" pitchFamily="2" charset="-122"/>
            </a:endParaRPr>
          </a:p>
        </p:txBody>
      </p:sp>
      <p:sp>
        <p:nvSpPr>
          <p:cNvPr id="162819" name="Rectangle 2"/>
          <p:cNvSpPr>
            <a:spLocks noGrp="1" noChangeArrowheads="1"/>
          </p:cNvSpPr>
          <p:nvPr>
            <p:ph type="body" idx="1"/>
          </p:nvPr>
        </p:nvSpPr>
        <p:spPr>
          <a:xfrm>
            <a:off x="885825" y="3503613"/>
            <a:ext cx="4873625" cy="5540375"/>
          </a:xfrm>
          <a:noFill/>
          <a:ln/>
        </p:spPr>
        <p:txBody>
          <a:bodyPr lIns="90488" tIns="44450" rIns="90488" bIns="44450"/>
          <a:lstStyle/>
          <a:p>
            <a:pPr eaLnBrk="1" hangingPunct="1"/>
            <a:endParaRPr lang="zh-CN" altLang="zh-CN">
              <a:latin typeface="Arial" pitchFamily="34" charset="0"/>
              <a:ea typeface="宋体" pitchFamily="2" charset="-122"/>
            </a:endParaRPr>
          </a:p>
        </p:txBody>
      </p:sp>
      <p:sp>
        <p:nvSpPr>
          <p:cNvPr id="162820" name="Rectangle 3"/>
          <p:cNvSpPr>
            <a:spLocks noGrp="1" noRot="1" noChangeAspect="1" noChangeArrowheads="1" noTextEdit="1"/>
          </p:cNvSpPr>
          <p:nvPr>
            <p:ph type="sldImg"/>
          </p:nvPr>
        </p:nvSpPr>
        <p:spPr>
          <a:xfrm>
            <a:off x="1163638" y="739775"/>
            <a:ext cx="4318000" cy="2430463"/>
          </a:xfrm>
          <a:ln w="12700" cap="flat">
            <a:solidFill>
              <a:schemeClr val="tx1"/>
            </a:solidFill>
          </a:ln>
        </p:spPr>
      </p:sp>
    </p:spTree>
    <p:extLst>
      <p:ext uri="{BB962C8B-B14F-4D97-AF65-F5344CB8AC3E}">
        <p14:creationId xmlns:p14="http://schemas.microsoft.com/office/powerpoint/2010/main" val="387602357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Rectangle 7"/>
          <p:cNvSpPr>
            <a:spLocks noGrp="1" noChangeArrowheads="1"/>
          </p:cNvSpPr>
          <p:nvPr>
            <p:ph type="sldNum" sz="quarter" idx="5"/>
          </p:nvPr>
        </p:nvSpPr>
        <p:spPr>
          <a:noFill/>
        </p:spPr>
        <p:txBody>
          <a:bodyPr/>
          <a:lstStyle/>
          <a:p>
            <a:fld id="{AE44F4EC-0217-4194-B26F-E07AF741AF70}" type="slidenum">
              <a:rPr lang="en-US" altLang="zh-CN" smtClean="0">
                <a:latin typeface="Arial" pitchFamily="34" charset="0"/>
                <a:ea typeface="宋体" pitchFamily="2" charset="-122"/>
              </a:rPr>
              <a:pPr/>
              <a:t>72</a:t>
            </a:fld>
            <a:endParaRPr lang="en-US" altLang="zh-CN">
              <a:latin typeface="Arial" pitchFamily="34" charset="0"/>
              <a:ea typeface="宋体" pitchFamily="2" charset="-122"/>
            </a:endParaRPr>
          </a:p>
        </p:txBody>
      </p:sp>
      <p:sp>
        <p:nvSpPr>
          <p:cNvPr id="165891" name="Rectangle 2"/>
          <p:cNvSpPr>
            <a:spLocks noGrp="1" noChangeArrowheads="1"/>
          </p:cNvSpPr>
          <p:nvPr>
            <p:ph type="body" idx="1"/>
          </p:nvPr>
        </p:nvSpPr>
        <p:spPr>
          <a:xfrm>
            <a:off x="885825" y="3503613"/>
            <a:ext cx="4873625" cy="5540375"/>
          </a:xfrm>
          <a:noFill/>
          <a:ln/>
        </p:spPr>
        <p:txBody>
          <a:bodyPr lIns="90488" tIns="44450" rIns="90488" bIns="44450"/>
          <a:lstStyle/>
          <a:p>
            <a:pPr eaLnBrk="1" hangingPunct="1"/>
            <a:endParaRPr lang="zh-CN" altLang="zh-CN">
              <a:latin typeface="Arial" pitchFamily="34" charset="0"/>
              <a:ea typeface="宋体" pitchFamily="2" charset="-122"/>
            </a:endParaRPr>
          </a:p>
        </p:txBody>
      </p:sp>
      <p:sp>
        <p:nvSpPr>
          <p:cNvPr id="165892" name="Rectangle 3"/>
          <p:cNvSpPr>
            <a:spLocks noGrp="1" noRot="1" noChangeAspect="1" noChangeArrowheads="1" noTextEdit="1"/>
          </p:cNvSpPr>
          <p:nvPr>
            <p:ph type="sldImg"/>
          </p:nvPr>
        </p:nvSpPr>
        <p:spPr>
          <a:xfrm>
            <a:off x="1163638" y="739775"/>
            <a:ext cx="4318000" cy="2430463"/>
          </a:xfrm>
          <a:ln w="12700" cap="flat">
            <a:solidFill>
              <a:schemeClr val="tx1"/>
            </a:solidFill>
          </a:ln>
        </p:spPr>
      </p:sp>
    </p:spTree>
    <p:extLst>
      <p:ext uri="{BB962C8B-B14F-4D97-AF65-F5344CB8AC3E}">
        <p14:creationId xmlns:p14="http://schemas.microsoft.com/office/powerpoint/2010/main" val="205927811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4" name="Rectangle 7"/>
          <p:cNvSpPr>
            <a:spLocks noGrp="1" noChangeArrowheads="1"/>
          </p:cNvSpPr>
          <p:nvPr>
            <p:ph type="sldNum" sz="quarter" idx="5"/>
          </p:nvPr>
        </p:nvSpPr>
        <p:spPr>
          <a:noFill/>
        </p:spPr>
        <p:txBody>
          <a:bodyPr/>
          <a:lstStyle/>
          <a:p>
            <a:fld id="{6847A4DC-518C-40B4-8698-F47F5F911FC4}" type="slidenum">
              <a:rPr lang="en-US" altLang="zh-CN" smtClean="0">
                <a:latin typeface="Arial" pitchFamily="34" charset="0"/>
                <a:ea typeface="宋体" pitchFamily="2" charset="-122"/>
              </a:rPr>
              <a:pPr/>
              <a:t>73</a:t>
            </a:fld>
            <a:endParaRPr lang="en-US" altLang="zh-CN">
              <a:latin typeface="Arial" pitchFamily="34" charset="0"/>
              <a:ea typeface="宋体" pitchFamily="2" charset="-122"/>
            </a:endParaRPr>
          </a:p>
        </p:txBody>
      </p:sp>
      <p:sp>
        <p:nvSpPr>
          <p:cNvPr id="166915" name="Rectangle 2"/>
          <p:cNvSpPr>
            <a:spLocks noGrp="1" noChangeArrowheads="1"/>
          </p:cNvSpPr>
          <p:nvPr>
            <p:ph type="body" idx="1"/>
          </p:nvPr>
        </p:nvSpPr>
        <p:spPr>
          <a:xfrm>
            <a:off x="885825" y="3503613"/>
            <a:ext cx="4873625" cy="5540375"/>
          </a:xfrm>
          <a:noFill/>
          <a:ln/>
        </p:spPr>
        <p:txBody>
          <a:bodyPr lIns="90488" tIns="44450" rIns="90488" bIns="44450"/>
          <a:lstStyle/>
          <a:p>
            <a:pPr eaLnBrk="1" hangingPunct="1"/>
            <a:endParaRPr lang="zh-CN" altLang="zh-CN">
              <a:latin typeface="Arial" pitchFamily="34" charset="0"/>
              <a:ea typeface="宋体" pitchFamily="2" charset="-122"/>
            </a:endParaRPr>
          </a:p>
        </p:txBody>
      </p:sp>
      <p:sp>
        <p:nvSpPr>
          <p:cNvPr id="166916" name="Rectangle 3"/>
          <p:cNvSpPr>
            <a:spLocks noGrp="1" noRot="1" noChangeAspect="1" noChangeArrowheads="1" noTextEdit="1"/>
          </p:cNvSpPr>
          <p:nvPr>
            <p:ph type="sldImg"/>
          </p:nvPr>
        </p:nvSpPr>
        <p:spPr>
          <a:xfrm>
            <a:off x="1163638" y="739775"/>
            <a:ext cx="4318000" cy="2430463"/>
          </a:xfrm>
          <a:ln w="12700" cap="flat">
            <a:solidFill>
              <a:schemeClr val="tx1"/>
            </a:solidFill>
          </a:ln>
        </p:spPr>
      </p:sp>
    </p:spTree>
    <p:extLst>
      <p:ext uri="{BB962C8B-B14F-4D97-AF65-F5344CB8AC3E}">
        <p14:creationId xmlns:p14="http://schemas.microsoft.com/office/powerpoint/2010/main" val="20927287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8" name="Rectangle 7"/>
          <p:cNvSpPr>
            <a:spLocks noGrp="1" noChangeArrowheads="1"/>
          </p:cNvSpPr>
          <p:nvPr>
            <p:ph type="sldNum" sz="quarter" idx="5"/>
          </p:nvPr>
        </p:nvSpPr>
        <p:spPr>
          <a:noFill/>
        </p:spPr>
        <p:txBody>
          <a:bodyPr/>
          <a:lstStyle/>
          <a:p>
            <a:fld id="{682521A1-4BD2-470C-B603-F4473412886E}" type="slidenum">
              <a:rPr lang="en-US" altLang="zh-CN" smtClean="0">
                <a:latin typeface="Arial" pitchFamily="34" charset="0"/>
                <a:ea typeface="宋体" pitchFamily="2" charset="-122"/>
              </a:rPr>
              <a:pPr/>
              <a:t>74</a:t>
            </a:fld>
            <a:endParaRPr lang="en-US" altLang="zh-CN">
              <a:latin typeface="Arial" pitchFamily="34" charset="0"/>
              <a:ea typeface="宋体" pitchFamily="2" charset="-122"/>
            </a:endParaRPr>
          </a:p>
        </p:txBody>
      </p:sp>
      <p:sp>
        <p:nvSpPr>
          <p:cNvPr id="167939" name="Rectangle 2"/>
          <p:cNvSpPr>
            <a:spLocks noGrp="1" noChangeArrowheads="1"/>
          </p:cNvSpPr>
          <p:nvPr>
            <p:ph type="body" idx="1"/>
          </p:nvPr>
        </p:nvSpPr>
        <p:spPr>
          <a:xfrm>
            <a:off x="885825" y="3503613"/>
            <a:ext cx="4873625" cy="5540375"/>
          </a:xfrm>
          <a:noFill/>
          <a:ln/>
        </p:spPr>
        <p:txBody>
          <a:bodyPr lIns="90488" tIns="44450" rIns="90488" bIns="44450"/>
          <a:lstStyle/>
          <a:p>
            <a:pPr eaLnBrk="1" hangingPunct="1"/>
            <a:endParaRPr lang="zh-CN" altLang="zh-CN">
              <a:latin typeface="Arial" pitchFamily="34" charset="0"/>
              <a:ea typeface="宋体" pitchFamily="2" charset="-122"/>
            </a:endParaRPr>
          </a:p>
        </p:txBody>
      </p:sp>
      <p:sp>
        <p:nvSpPr>
          <p:cNvPr id="167940" name="Rectangle 3"/>
          <p:cNvSpPr>
            <a:spLocks noGrp="1" noRot="1" noChangeAspect="1" noChangeArrowheads="1" noTextEdit="1"/>
          </p:cNvSpPr>
          <p:nvPr>
            <p:ph type="sldImg"/>
          </p:nvPr>
        </p:nvSpPr>
        <p:spPr>
          <a:xfrm>
            <a:off x="1163638" y="739775"/>
            <a:ext cx="4318000" cy="2430463"/>
          </a:xfrm>
          <a:ln w="12700" cap="flat">
            <a:solidFill>
              <a:schemeClr val="tx1"/>
            </a:solidFill>
          </a:ln>
        </p:spPr>
      </p:sp>
    </p:spTree>
    <p:extLst>
      <p:ext uri="{BB962C8B-B14F-4D97-AF65-F5344CB8AC3E}">
        <p14:creationId xmlns:p14="http://schemas.microsoft.com/office/powerpoint/2010/main" val="106133043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Rectangle 7"/>
          <p:cNvSpPr>
            <a:spLocks noGrp="1" noChangeArrowheads="1"/>
          </p:cNvSpPr>
          <p:nvPr>
            <p:ph type="sldNum" sz="quarter" idx="5"/>
          </p:nvPr>
        </p:nvSpPr>
        <p:spPr>
          <a:noFill/>
        </p:spPr>
        <p:txBody>
          <a:bodyPr/>
          <a:lstStyle/>
          <a:p>
            <a:fld id="{6C202A5D-BE4D-4BF7-BAC7-4ADF7A91AB10}" type="slidenum">
              <a:rPr lang="en-US" altLang="zh-CN" smtClean="0">
                <a:latin typeface="Arial" pitchFamily="34" charset="0"/>
                <a:ea typeface="宋体" pitchFamily="2" charset="-122"/>
              </a:rPr>
              <a:pPr/>
              <a:t>84</a:t>
            </a:fld>
            <a:endParaRPr lang="en-US" altLang="zh-CN">
              <a:latin typeface="Arial" pitchFamily="34" charset="0"/>
              <a:ea typeface="宋体" pitchFamily="2" charset="-122"/>
            </a:endParaRPr>
          </a:p>
        </p:txBody>
      </p:sp>
      <p:sp>
        <p:nvSpPr>
          <p:cNvPr id="169987" name="Rectangle 2"/>
          <p:cNvSpPr>
            <a:spLocks noGrp="1" noChangeArrowheads="1"/>
          </p:cNvSpPr>
          <p:nvPr>
            <p:ph type="body" idx="1"/>
          </p:nvPr>
        </p:nvSpPr>
        <p:spPr>
          <a:xfrm>
            <a:off x="885825" y="3340100"/>
            <a:ext cx="4873625" cy="6356350"/>
          </a:xfrm>
          <a:noFill/>
          <a:ln/>
        </p:spPr>
        <p:txBody>
          <a:bodyPr lIns="90488" tIns="44450" rIns="90488" bIns="44450"/>
          <a:lstStyle/>
          <a:p>
            <a:pPr marL="114300" lvl="1">
              <a:spcBef>
                <a:spcPct val="20000"/>
              </a:spcBef>
            </a:pPr>
            <a:endParaRPr lang="zh-CN" altLang="zh-CN">
              <a:latin typeface="Arial" pitchFamily="34" charset="0"/>
              <a:ea typeface="宋体" pitchFamily="2" charset="-122"/>
            </a:endParaRPr>
          </a:p>
        </p:txBody>
      </p:sp>
      <p:sp>
        <p:nvSpPr>
          <p:cNvPr id="169988" name="Rectangle 3"/>
          <p:cNvSpPr>
            <a:spLocks noGrp="1" noRot="1" noChangeAspect="1" noChangeArrowheads="1" noTextEdit="1"/>
          </p:cNvSpPr>
          <p:nvPr>
            <p:ph type="sldImg"/>
          </p:nvPr>
        </p:nvSpPr>
        <p:spPr>
          <a:xfrm>
            <a:off x="1163638" y="739775"/>
            <a:ext cx="4318000" cy="2430463"/>
          </a:xfrm>
          <a:ln w="12700" cap="flat">
            <a:solidFill>
              <a:schemeClr val="tx1"/>
            </a:solidFill>
          </a:ln>
        </p:spPr>
      </p:sp>
    </p:spTree>
    <p:extLst>
      <p:ext uri="{BB962C8B-B14F-4D97-AF65-F5344CB8AC3E}">
        <p14:creationId xmlns:p14="http://schemas.microsoft.com/office/powerpoint/2010/main" val="253633024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Rectangle 7"/>
          <p:cNvSpPr>
            <a:spLocks noGrp="1" noChangeArrowheads="1"/>
          </p:cNvSpPr>
          <p:nvPr>
            <p:ph type="sldNum" sz="quarter" idx="5"/>
          </p:nvPr>
        </p:nvSpPr>
        <p:spPr>
          <a:noFill/>
        </p:spPr>
        <p:txBody>
          <a:bodyPr/>
          <a:lstStyle/>
          <a:p>
            <a:fld id="{E600CA5C-9666-4178-A6B4-13ECE4451BD7}" type="slidenum">
              <a:rPr lang="en-US" altLang="zh-CN" smtClean="0">
                <a:latin typeface="Arial" pitchFamily="34" charset="0"/>
                <a:ea typeface="宋体" pitchFamily="2" charset="-122"/>
              </a:rPr>
              <a:pPr/>
              <a:t>85</a:t>
            </a:fld>
            <a:endParaRPr lang="en-US" altLang="zh-CN">
              <a:latin typeface="Arial" pitchFamily="34" charset="0"/>
              <a:ea typeface="宋体" pitchFamily="2" charset="-122"/>
            </a:endParaRPr>
          </a:p>
        </p:txBody>
      </p:sp>
      <p:sp>
        <p:nvSpPr>
          <p:cNvPr id="171011" name="Rectangle 2"/>
          <p:cNvSpPr>
            <a:spLocks noGrp="1" noChangeArrowheads="1"/>
          </p:cNvSpPr>
          <p:nvPr>
            <p:ph type="body" idx="1"/>
          </p:nvPr>
        </p:nvSpPr>
        <p:spPr>
          <a:xfrm>
            <a:off x="885825" y="3340100"/>
            <a:ext cx="4873625" cy="6356350"/>
          </a:xfrm>
          <a:noFill/>
          <a:ln/>
        </p:spPr>
        <p:txBody>
          <a:bodyPr lIns="90488" tIns="44450" rIns="90488" bIns="44450"/>
          <a:lstStyle/>
          <a:p>
            <a:pPr marL="114300" lvl="1">
              <a:spcBef>
                <a:spcPct val="20000"/>
              </a:spcBef>
            </a:pPr>
            <a:endParaRPr lang="zh-CN" altLang="zh-CN">
              <a:latin typeface="Arial" pitchFamily="34" charset="0"/>
              <a:ea typeface="宋体" pitchFamily="2" charset="-122"/>
            </a:endParaRPr>
          </a:p>
        </p:txBody>
      </p:sp>
      <p:sp>
        <p:nvSpPr>
          <p:cNvPr id="171012" name="Rectangle 3"/>
          <p:cNvSpPr>
            <a:spLocks noGrp="1" noRot="1" noChangeAspect="1" noChangeArrowheads="1" noTextEdit="1"/>
          </p:cNvSpPr>
          <p:nvPr>
            <p:ph type="sldImg"/>
          </p:nvPr>
        </p:nvSpPr>
        <p:spPr>
          <a:xfrm>
            <a:off x="1163638" y="739775"/>
            <a:ext cx="4318000" cy="2430463"/>
          </a:xfrm>
          <a:ln w="12700" cap="flat">
            <a:solidFill>
              <a:schemeClr val="tx1"/>
            </a:solidFill>
          </a:ln>
        </p:spPr>
      </p:sp>
    </p:spTree>
    <p:extLst>
      <p:ext uri="{BB962C8B-B14F-4D97-AF65-F5344CB8AC3E}">
        <p14:creationId xmlns:p14="http://schemas.microsoft.com/office/powerpoint/2010/main" val="172668931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4" name="Rectangle 7"/>
          <p:cNvSpPr>
            <a:spLocks noGrp="1" noChangeArrowheads="1"/>
          </p:cNvSpPr>
          <p:nvPr>
            <p:ph type="sldNum" sz="quarter" idx="5"/>
          </p:nvPr>
        </p:nvSpPr>
        <p:spPr>
          <a:noFill/>
        </p:spPr>
        <p:txBody>
          <a:bodyPr/>
          <a:lstStyle/>
          <a:p>
            <a:fld id="{BC6C7224-09C6-4F7F-B1BB-4EC036590CCD}" type="slidenum">
              <a:rPr lang="en-US" altLang="zh-CN" smtClean="0">
                <a:latin typeface="Arial" pitchFamily="34" charset="0"/>
                <a:ea typeface="宋体" pitchFamily="2" charset="-122"/>
              </a:rPr>
              <a:pPr/>
              <a:t>86</a:t>
            </a:fld>
            <a:endParaRPr lang="en-US" altLang="zh-CN">
              <a:latin typeface="Arial" pitchFamily="34" charset="0"/>
              <a:ea typeface="宋体" pitchFamily="2" charset="-122"/>
            </a:endParaRPr>
          </a:p>
        </p:txBody>
      </p:sp>
      <p:sp>
        <p:nvSpPr>
          <p:cNvPr id="172035" name="Rectangle 2"/>
          <p:cNvSpPr>
            <a:spLocks noGrp="1" noChangeArrowheads="1"/>
          </p:cNvSpPr>
          <p:nvPr>
            <p:ph type="body" idx="1"/>
          </p:nvPr>
        </p:nvSpPr>
        <p:spPr>
          <a:xfrm>
            <a:off x="885825" y="3340100"/>
            <a:ext cx="4873625" cy="6356350"/>
          </a:xfrm>
          <a:noFill/>
          <a:ln/>
        </p:spPr>
        <p:txBody>
          <a:bodyPr lIns="90488" tIns="44450" rIns="90488" bIns="44450"/>
          <a:lstStyle/>
          <a:p>
            <a:pPr marL="114300" lvl="1">
              <a:spcBef>
                <a:spcPct val="20000"/>
              </a:spcBef>
            </a:pPr>
            <a:endParaRPr lang="zh-CN" altLang="zh-CN">
              <a:latin typeface="Arial" pitchFamily="34" charset="0"/>
              <a:ea typeface="宋体" pitchFamily="2" charset="-122"/>
            </a:endParaRPr>
          </a:p>
        </p:txBody>
      </p:sp>
      <p:sp>
        <p:nvSpPr>
          <p:cNvPr id="172036" name="Rectangle 3"/>
          <p:cNvSpPr>
            <a:spLocks noGrp="1" noRot="1" noChangeAspect="1" noChangeArrowheads="1" noTextEdit="1"/>
          </p:cNvSpPr>
          <p:nvPr>
            <p:ph type="sldImg"/>
          </p:nvPr>
        </p:nvSpPr>
        <p:spPr>
          <a:xfrm>
            <a:off x="1163638" y="739775"/>
            <a:ext cx="4318000" cy="2430463"/>
          </a:xfrm>
          <a:ln w="12700" cap="flat">
            <a:solidFill>
              <a:schemeClr val="tx1"/>
            </a:solidFill>
          </a:ln>
        </p:spPr>
      </p:sp>
    </p:spTree>
    <p:extLst>
      <p:ext uri="{BB962C8B-B14F-4D97-AF65-F5344CB8AC3E}">
        <p14:creationId xmlns:p14="http://schemas.microsoft.com/office/powerpoint/2010/main" val="272679724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8" name="Rectangle 7"/>
          <p:cNvSpPr>
            <a:spLocks noGrp="1" noChangeArrowheads="1"/>
          </p:cNvSpPr>
          <p:nvPr>
            <p:ph type="sldNum" sz="quarter" idx="5"/>
          </p:nvPr>
        </p:nvSpPr>
        <p:spPr>
          <a:noFill/>
        </p:spPr>
        <p:txBody>
          <a:bodyPr/>
          <a:lstStyle/>
          <a:p>
            <a:fld id="{497F826A-4A68-45B9-BCD9-C4F702A9C8DB}" type="slidenum">
              <a:rPr lang="en-US" altLang="zh-CN" smtClean="0">
                <a:latin typeface="Arial" pitchFamily="34" charset="0"/>
                <a:ea typeface="宋体" pitchFamily="2" charset="-122"/>
              </a:rPr>
              <a:pPr/>
              <a:t>87</a:t>
            </a:fld>
            <a:endParaRPr lang="en-US" altLang="zh-CN">
              <a:latin typeface="Arial" pitchFamily="34" charset="0"/>
              <a:ea typeface="宋体" pitchFamily="2" charset="-122"/>
            </a:endParaRPr>
          </a:p>
        </p:txBody>
      </p:sp>
      <p:sp>
        <p:nvSpPr>
          <p:cNvPr id="173059" name="Rectangle 2"/>
          <p:cNvSpPr>
            <a:spLocks noGrp="1" noChangeArrowheads="1"/>
          </p:cNvSpPr>
          <p:nvPr>
            <p:ph type="body" idx="1"/>
          </p:nvPr>
        </p:nvSpPr>
        <p:spPr>
          <a:xfrm>
            <a:off x="885825" y="3340100"/>
            <a:ext cx="4873625" cy="6356350"/>
          </a:xfrm>
          <a:noFill/>
          <a:ln/>
        </p:spPr>
        <p:txBody>
          <a:bodyPr lIns="90488" tIns="44450" rIns="90488" bIns="44450"/>
          <a:lstStyle/>
          <a:p>
            <a:pPr marL="114300" lvl="1">
              <a:spcBef>
                <a:spcPct val="20000"/>
              </a:spcBef>
            </a:pPr>
            <a:endParaRPr lang="zh-CN" altLang="zh-CN">
              <a:latin typeface="Arial" pitchFamily="34" charset="0"/>
              <a:ea typeface="宋体" pitchFamily="2" charset="-122"/>
            </a:endParaRPr>
          </a:p>
        </p:txBody>
      </p:sp>
      <p:sp>
        <p:nvSpPr>
          <p:cNvPr id="173060" name="Rectangle 3"/>
          <p:cNvSpPr>
            <a:spLocks noGrp="1" noRot="1" noChangeAspect="1" noChangeArrowheads="1" noTextEdit="1"/>
          </p:cNvSpPr>
          <p:nvPr>
            <p:ph type="sldImg"/>
          </p:nvPr>
        </p:nvSpPr>
        <p:spPr>
          <a:xfrm>
            <a:off x="1163638" y="739775"/>
            <a:ext cx="4318000" cy="2430463"/>
          </a:xfrm>
          <a:ln w="12700" cap="flat">
            <a:solidFill>
              <a:schemeClr val="tx1"/>
            </a:solidFill>
          </a:ln>
        </p:spPr>
      </p:sp>
    </p:spTree>
    <p:extLst>
      <p:ext uri="{BB962C8B-B14F-4D97-AF65-F5344CB8AC3E}">
        <p14:creationId xmlns:p14="http://schemas.microsoft.com/office/powerpoint/2010/main" val="98469536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Rectangle 7"/>
          <p:cNvSpPr>
            <a:spLocks noGrp="1" noChangeArrowheads="1"/>
          </p:cNvSpPr>
          <p:nvPr>
            <p:ph type="sldNum" sz="quarter" idx="5"/>
          </p:nvPr>
        </p:nvSpPr>
        <p:spPr>
          <a:noFill/>
        </p:spPr>
        <p:txBody>
          <a:bodyPr/>
          <a:lstStyle/>
          <a:p>
            <a:fld id="{2C2EA5B2-7F89-4076-8471-B190D7C81C1A}" type="slidenum">
              <a:rPr lang="en-US" altLang="zh-CN" smtClean="0">
                <a:latin typeface="Arial" pitchFamily="34" charset="0"/>
                <a:ea typeface="宋体" pitchFamily="2" charset="-122"/>
              </a:rPr>
              <a:pPr/>
              <a:t>88</a:t>
            </a:fld>
            <a:endParaRPr lang="en-US" altLang="zh-CN">
              <a:latin typeface="Arial" pitchFamily="34" charset="0"/>
              <a:ea typeface="宋体" pitchFamily="2" charset="-122"/>
            </a:endParaRPr>
          </a:p>
        </p:txBody>
      </p:sp>
      <p:sp>
        <p:nvSpPr>
          <p:cNvPr id="174083" name="Rectangle 2"/>
          <p:cNvSpPr>
            <a:spLocks noGrp="1" noChangeArrowheads="1"/>
          </p:cNvSpPr>
          <p:nvPr>
            <p:ph type="body" idx="1"/>
          </p:nvPr>
        </p:nvSpPr>
        <p:spPr>
          <a:xfrm>
            <a:off x="885825" y="3340100"/>
            <a:ext cx="4873625" cy="6356350"/>
          </a:xfrm>
          <a:noFill/>
          <a:ln/>
        </p:spPr>
        <p:txBody>
          <a:bodyPr lIns="90488" tIns="44450" rIns="90488" bIns="44450"/>
          <a:lstStyle/>
          <a:p>
            <a:pPr marL="114300" lvl="1">
              <a:spcBef>
                <a:spcPct val="20000"/>
              </a:spcBef>
            </a:pPr>
            <a:endParaRPr lang="zh-CN" altLang="zh-CN">
              <a:latin typeface="Arial" pitchFamily="34" charset="0"/>
              <a:ea typeface="宋体" pitchFamily="2" charset="-122"/>
            </a:endParaRPr>
          </a:p>
        </p:txBody>
      </p:sp>
      <p:sp>
        <p:nvSpPr>
          <p:cNvPr id="174084" name="Rectangle 3"/>
          <p:cNvSpPr>
            <a:spLocks noGrp="1" noRot="1" noChangeAspect="1" noChangeArrowheads="1" noTextEdit="1"/>
          </p:cNvSpPr>
          <p:nvPr>
            <p:ph type="sldImg"/>
          </p:nvPr>
        </p:nvSpPr>
        <p:spPr>
          <a:xfrm>
            <a:off x="1163638" y="739775"/>
            <a:ext cx="4318000" cy="2430463"/>
          </a:xfrm>
          <a:ln w="12700" cap="flat">
            <a:solidFill>
              <a:schemeClr val="tx1"/>
            </a:solidFill>
          </a:ln>
        </p:spPr>
      </p:sp>
    </p:spTree>
    <p:extLst>
      <p:ext uri="{BB962C8B-B14F-4D97-AF65-F5344CB8AC3E}">
        <p14:creationId xmlns:p14="http://schemas.microsoft.com/office/powerpoint/2010/main" val="321899887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Rectangle 7"/>
          <p:cNvSpPr>
            <a:spLocks noGrp="1" noChangeArrowheads="1"/>
          </p:cNvSpPr>
          <p:nvPr>
            <p:ph type="sldNum" sz="quarter" idx="5"/>
          </p:nvPr>
        </p:nvSpPr>
        <p:spPr>
          <a:noFill/>
        </p:spPr>
        <p:txBody>
          <a:bodyPr/>
          <a:lstStyle/>
          <a:p>
            <a:fld id="{4EA5099C-A32F-400D-8266-3BBBC0619CC3}" type="slidenum">
              <a:rPr lang="en-US" altLang="zh-CN" smtClean="0">
                <a:latin typeface="Arial" pitchFamily="34" charset="0"/>
                <a:ea typeface="宋体" pitchFamily="2" charset="-122"/>
              </a:rPr>
              <a:pPr/>
              <a:t>91</a:t>
            </a:fld>
            <a:endParaRPr lang="en-US" altLang="zh-CN">
              <a:latin typeface="Arial" pitchFamily="34" charset="0"/>
              <a:ea typeface="宋体" pitchFamily="2" charset="-122"/>
            </a:endParaRPr>
          </a:p>
        </p:txBody>
      </p:sp>
      <p:sp>
        <p:nvSpPr>
          <p:cNvPr id="175107" name="Rectangle 2"/>
          <p:cNvSpPr>
            <a:spLocks noGrp="1" noChangeArrowheads="1"/>
          </p:cNvSpPr>
          <p:nvPr>
            <p:ph type="body" idx="1"/>
          </p:nvPr>
        </p:nvSpPr>
        <p:spPr>
          <a:xfrm>
            <a:off x="885825" y="3340100"/>
            <a:ext cx="4873625" cy="6356350"/>
          </a:xfrm>
          <a:noFill/>
          <a:ln/>
        </p:spPr>
        <p:txBody>
          <a:bodyPr lIns="90488" tIns="44450" rIns="90488" bIns="44450"/>
          <a:lstStyle/>
          <a:p>
            <a:pPr marL="114300" lvl="1">
              <a:spcBef>
                <a:spcPct val="20000"/>
              </a:spcBef>
            </a:pPr>
            <a:endParaRPr lang="zh-CN" altLang="zh-CN">
              <a:latin typeface="Arial" pitchFamily="34" charset="0"/>
              <a:ea typeface="宋体" pitchFamily="2" charset="-122"/>
            </a:endParaRPr>
          </a:p>
        </p:txBody>
      </p:sp>
      <p:sp>
        <p:nvSpPr>
          <p:cNvPr id="175108" name="Rectangle 3"/>
          <p:cNvSpPr>
            <a:spLocks noGrp="1" noRot="1" noChangeAspect="1" noChangeArrowheads="1" noTextEdit="1"/>
          </p:cNvSpPr>
          <p:nvPr>
            <p:ph type="sldImg"/>
          </p:nvPr>
        </p:nvSpPr>
        <p:spPr>
          <a:xfrm>
            <a:off x="1163638" y="739775"/>
            <a:ext cx="4318000" cy="2430463"/>
          </a:xfrm>
          <a:ln w="12700" cap="flat">
            <a:solidFill>
              <a:schemeClr val="tx1"/>
            </a:solidFill>
          </a:ln>
        </p:spPr>
      </p:sp>
    </p:spTree>
    <p:extLst>
      <p:ext uri="{BB962C8B-B14F-4D97-AF65-F5344CB8AC3E}">
        <p14:creationId xmlns:p14="http://schemas.microsoft.com/office/powerpoint/2010/main" val="115386580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Rectangle 7"/>
          <p:cNvSpPr>
            <a:spLocks noGrp="1" noChangeArrowheads="1"/>
          </p:cNvSpPr>
          <p:nvPr>
            <p:ph type="sldNum" sz="quarter" idx="5"/>
          </p:nvPr>
        </p:nvSpPr>
        <p:spPr>
          <a:noFill/>
        </p:spPr>
        <p:txBody>
          <a:bodyPr/>
          <a:lstStyle/>
          <a:p>
            <a:fld id="{803511EF-544C-4228-92E7-A56AA42C04BA}" type="slidenum">
              <a:rPr lang="en-US" altLang="zh-CN" smtClean="0">
                <a:latin typeface="Arial" pitchFamily="34" charset="0"/>
                <a:ea typeface="宋体" pitchFamily="2" charset="-122"/>
              </a:rPr>
              <a:pPr/>
              <a:t>94</a:t>
            </a:fld>
            <a:endParaRPr lang="en-US" altLang="zh-CN">
              <a:latin typeface="Arial" pitchFamily="34" charset="0"/>
              <a:ea typeface="宋体" pitchFamily="2" charset="-122"/>
            </a:endParaRPr>
          </a:p>
        </p:txBody>
      </p:sp>
      <p:sp>
        <p:nvSpPr>
          <p:cNvPr id="176131" name="Rectangle 2"/>
          <p:cNvSpPr>
            <a:spLocks noGrp="1" noChangeArrowheads="1"/>
          </p:cNvSpPr>
          <p:nvPr>
            <p:ph type="body" idx="1"/>
          </p:nvPr>
        </p:nvSpPr>
        <p:spPr>
          <a:xfrm>
            <a:off x="885825" y="3340100"/>
            <a:ext cx="4873625" cy="6356350"/>
          </a:xfrm>
          <a:noFill/>
          <a:ln/>
        </p:spPr>
        <p:txBody>
          <a:bodyPr lIns="90488" tIns="44450" rIns="90488" bIns="44450"/>
          <a:lstStyle/>
          <a:p>
            <a:pPr marL="114300" lvl="1">
              <a:spcBef>
                <a:spcPct val="20000"/>
              </a:spcBef>
            </a:pPr>
            <a:endParaRPr lang="zh-CN" altLang="zh-CN">
              <a:latin typeface="Arial" pitchFamily="34" charset="0"/>
              <a:ea typeface="宋体" pitchFamily="2" charset="-122"/>
            </a:endParaRPr>
          </a:p>
        </p:txBody>
      </p:sp>
      <p:sp>
        <p:nvSpPr>
          <p:cNvPr id="176132" name="Rectangle 3"/>
          <p:cNvSpPr>
            <a:spLocks noGrp="1" noRot="1" noChangeAspect="1" noChangeArrowheads="1" noTextEdit="1"/>
          </p:cNvSpPr>
          <p:nvPr>
            <p:ph type="sldImg"/>
          </p:nvPr>
        </p:nvSpPr>
        <p:spPr>
          <a:xfrm>
            <a:off x="1163638" y="739775"/>
            <a:ext cx="4318000" cy="2430463"/>
          </a:xfrm>
          <a:ln w="12700" cap="flat">
            <a:solidFill>
              <a:schemeClr val="tx1"/>
            </a:solidFill>
          </a:ln>
        </p:spPr>
      </p:sp>
    </p:spTree>
    <p:extLst>
      <p:ext uri="{BB962C8B-B14F-4D97-AF65-F5344CB8AC3E}">
        <p14:creationId xmlns:p14="http://schemas.microsoft.com/office/powerpoint/2010/main" val="136607884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4" name="Rectangle 7"/>
          <p:cNvSpPr>
            <a:spLocks noGrp="1" noChangeArrowheads="1"/>
          </p:cNvSpPr>
          <p:nvPr>
            <p:ph type="sldNum" sz="quarter" idx="5"/>
          </p:nvPr>
        </p:nvSpPr>
        <p:spPr>
          <a:noFill/>
        </p:spPr>
        <p:txBody>
          <a:bodyPr/>
          <a:lstStyle/>
          <a:p>
            <a:fld id="{EA5F9C17-8C75-4771-BFA4-E48AE9308256}" type="slidenum">
              <a:rPr lang="en-US" altLang="zh-CN" smtClean="0">
                <a:latin typeface="Arial" pitchFamily="34" charset="0"/>
                <a:ea typeface="宋体" pitchFamily="2" charset="-122"/>
              </a:rPr>
              <a:pPr/>
              <a:t>95</a:t>
            </a:fld>
            <a:endParaRPr lang="en-US" altLang="zh-CN">
              <a:latin typeface="Arial" pitchFamily="34" charset="0"/>
              <a:ea typeface="宋体" pitchFamily="2" charset="-122"/>
            </a:endParaRPr>
          </a:p>
        </p:txBody>
      </p:sp>
      <p:sp>
        <p:nvSpPr>
          <p:cNvPr id="177155" name="Rectangle 2"/>
          <p:cNvSpPr>
            <a:spLocks noGrp="1" noChangeArrowheads="1"/>
          </p:cNvSpPr>
          <p:nvPr>
            <p:ph type="body" idx="1"/>
          </p:nvPr>
        </p:nvSpPr>
        <p:spPr>
          <a:xfrm>
            <a:off x="885825" y="3340100"/>
            <a:ext cx="4873625" cy="6356350"/>
          </a:xfrm>
          <a:noFill/>
          <a:ln/>
        </p:spPr>
        <p:txBody>
          <a:bodyPr lIns="90488" tIns="44450" rIns="90488" bIns="44450"/>
          <a:lstStyle/>
          <a:p>
            <a:pPr marL="114300" lvl="1">
              <a:spcBef>
                <a:spcPct val="20000"/>
              </a:spcBef>
            </a:pPr>
            <a:endParaRPr lang="zh-CN" altLang="zh-CN">
              <a:latin typeface="Arial" pitchFamily="34" charset="0"/>
              <a:ea typeface="宋体" pitchFamily="2" charset="-122"/>
            </a:endParaRPr>
          </a:p>
        </p:txBody>
      </p:sp>
      <p:sp>
        <p:nvSpPr>
          <p:cNvPr id="177156" name="Rectangle 3"/>
          <p:cNvSpPr>
            <a:spLocks noGrp="1" noRot="1" noChangeAspect="1" noChangeArrowheads="1" noTextEdit="1"/>
          </p:cNvSpPr>
          <p:nvPr>
            <p:ph type="sldImg"/>
          </p:nvPr>
        </p:nvSpPr>
        <p:spPr>
          <a:xfrm>
            <a:off x="1163638" y="739775"/>
            <a:ext cx="4318000" cy="2430463"/>
          </a:xfrm>
          <a:ln w="12700" cap="flat">
            <a:solidFill>
              <a:schemeClr val="tx1"/>
            </a:solidFill>
          </a:ln>
        </p:spPr>
      </p:sp>
    </p:spTree>
    <p:extLst>
      <p:ext uri="{BB962C8B-B14F-4D97-AF65-F5344CB8AC3E}">
        <p14:creationId xmlns:p14="http://schemas.microsoft.com/office/powerpoint/2010/main" val="423637409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8" name="Rectangle 7"/>
          <p:cNvSpPr>
            <a:spLocks noGrp="1" noChangeArrowheads="1"/>
          </p:cNvSpPr>
          <p:nvPr>
            <p:ph type="sldNum" sz="quarter" idx="5"/>
          </p:nvPr>
        </p:nvSpPr>
        <p:spPr>
          <a:noFill/>
        </p:spPr>
        <p:txBody>
          <a:bodyPr/>
          <a:lstStyle/>
          <a:p>
            <a:fld id="{F7021006-3FA2-4DE8-B328-D0CE597B5DD0}" type="slidenum">
              <a:rPr lang="en-US" altLang="zh-CN" smtClean="0">
                <a:latin typeface="Arial" pitchFamily="34" charset="0"/>
                <a:ea typeface="宋体" pitchFamily="2" charset="-122"/>
              </a:rPr>
              <a:pPr/>
              <a:t>98</a:t>
            </a:fld>
            <a:endParaRPr lang="en-US" altLang="zh-CN">
              <a:latin typeface="Arial" pitchFamily="34" charset="0"/>
              <a:ea typeface="宋体" pitchFamily="2" charset="-122"/>
            </a:endParaRPr>
          </a:p>
        </p:txBody>
      </p:sp>
      <p:sp>
        <p:nvSpPr>
          <p:cNvPr id="178179" name="Rectangle 2"/>
          <p:cNvSpPr>
            <a:spLocks noGrp="1" noChangeArrowheads="1"/>
          </p:cNvSpPr>
          <p:nvPr>
            <p:ph type="body" idx="1"/>
          </p:nvPr>
        </p:nvSpPr>
        <p:spPr>
          <a:xfrm>
            <a:off x="885825" y="3340100"/>
            <a:ext cx="4873625" cy="6356350"/>
          </a:xfrm>
          <a:noFill/>
          <a:ln/>
        </p:spPr>
        <p:txBody>
          <a:bodyPr lIns="90488" tIns="44450" rIns="90488" bIns="44450"/>
          <a:lstStyle/>
          <a:p>
            <a:pPr marL="114300" lvl="1">
              <a:spcBef>
                <a:spcPct val="20000"/>
              </a:spcBef>
            </a:pPr>
            <a:endParaRPr lang="zh-CN" altLang="zh-CN">
              <a:latin typeface="Arial" pitchFamily="34" charset="0"/>
              <a:ea typeface="宋体" pitchFamily="2" charset="-122"/>
            </a:endParaRPr>
          </a:p>
        </p:txBody>
      </p:sp>
      <p:sp>
        <p:nvSpPr>
          <p:cNvPr id="178180" name="Rectangle 3"/>
          <p:cNvSpPr>
            <a:spLocks noGrp="1" noRot="1" noChangeAspect="1" noChangeArrowheads="1" noTextEdit="1"/>
          </p:cNvSpPr>
          <p:nvPr>
            <p:ph type="sldImg"/>
          </p:nvPr>
        </p:nvSpPr>
        <p:spPr>
          <a:xfrm>
            <a:off x="1163638" y="739775"/>
            <a:ext cx="4318000" cy="2430463"/>
          </a:xfrm>
          <a:ln w="12700" cap="flat">
            <a:solidFill>
              <a:schemeClr val="tx1"/>
            </a:solidFill>
          </a:ln>
        </p:spPr>
      </p:sp>
    </p:spTree>
    <p:extLst>
      <p:ext uri="{BB962C8B-B14F-4D97-AF65-F5344CB8AC3E}">
        <p14:creationId xmlns:p14="http://schemas.microsoft.com/office/powerpoint/2010/main" val="227264416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2" name="Rectangle 7"/>
          <p:cNvSpPr>
            <a:spLocks noGrp="1" noChangeArrowheads="1"/>
          </p:cNvSpPr>
          <p:nvPr>
            <p:ph type="sldNum" sz="quarter" idx="5"/>
          </p:nvPr>
        </p:nvSpPr>
        <p:spPr>
          <a:noFill/>
        </p:spPr>
        <p:txBody>
          <a:bodyPr/>
          <a:lstStyle/>
          <a:p>
            <a:fld id="{FD6415A4-E9D0-450E-8610-96DC51579637}" type="slidenum">
              <a:rPr lang="en-US" altLang="zh-CN" smtClean="0">
                <a:latin typeface="Arial" pitchFamily="34" charset="0"/>
                <a:ea typeface="宋体" pitchFamily="2" charset="-122"/>
              </a:rPr>
              <a:pPr/>
              <a:t>99</a:t>
            </a:fld>
            <a:endParaRPr lang="en-US" altLang="zh-CN">
              <a:latin typeface="Arial" pitchFamily="34" charset="0"/>
              <a:ea typeface="宋体" pitchFamily="2" charset="-122"/>
            </a:endParaRPr>
          </a:p>
        </p:txBody>
      </p:sp>
      <p:sp>
        <p:nvSpPr>
          <p:cNvPr id="179203" name="Rectangle 2"/>
          <p:cNvSpPr>
            <a:spLocks noGrp="1" noChangeArrowheads="1"/>
          </p:cNvSpPr>
          <p:nvPr>
            <p:ph type="body" idx="1"/>
          </p:nvPr>
        </p:nvSpPr>
        <p:spPr>
          <a:xfrm>
            <a:off x="885825" y="3340100"/>
            <a:ext cx="4873625" cy="6356350"/>
          </a:xfrm>
          <a:noFill/>
          <a:ln/>
        </p:spPr>
        <p:txBody>
          <a:bodyPr lIns="90488" tIns="44450" rIns="90488" bIns="44450"/>
          <a:lstStyle/>
          <a:p>
            <a:pPr marL="114300" lvl="1">
              <a:spcBef>
                <a:spcPct val="20000"/>
              </a:spcBef>
            </a:pPr>
            <a:endParaRPr lang="zh-CN" altLang="zh-CN">
              <a:latin typeface="Arial" pitchFamily="34" charset="0"/>
              <a:ea typeface="宋体" pitchFamily="2" charset="-122"/>
            </a:endParaRPr>
          </a:p>
        </p:txBody>
      </p:sp>
      <p:sp>
        <p:nvSpPr>
          <p:cNvPr id="179204" name="Rectangle 3"/>
          <p:cNvSpPr>
            <a:spLocks noGrp="1" noRot="1" noChangeAspect="1" noChangeArrowheads="1" noTextEdit="1"/>
          </p:cNvSpPr>
          <p:nvPr>
            <p:ph type="sldImg"/>
          </p:nvPr>
        </p:nvSpPr>
        <p:spPr>
          <a:xfrm>
            <a:off x="1163638" y="739775"/>
            <a:ext cx="4318000" cy="2430463"/>
          </a:xfrm>
          <a:ln w="12700" cap="flat">
            <a:solidFill>
              <a:schemeClr val="tx1"/>
            </a:solidFill>
          </a:ln>
        </p:spPr>
      </p:sp>
    </p:spTree>
    <p:extLst>
      <p:ext uri="{BB962C8B-B14F-4D97-AF65-F5344CB8AC3E}">
        <p14:creationId xmlns:p14="http://schemas.microsoft.com/office/powerpoint/2010/main" val="312764623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6" name="Rectangle 7"/>
          <p:cNvSpPr>
            <a:spLocks noGrp="1" noChangeArrowheads="1"/>
          </p:cNvSpPr>
          <p:nvPr>
            <p:ph type="sldNum" sz="quarter" idx="5"/>
          </p:nvPr>
        </p:nvSpPr>
        <p:spPr>
          <a:noFill/>
        </p:spPr>
        <p:txBody>
          <a:bodyPr/>
          <a:lstStyle/>
          <a:p>
            <a:fld id="{8648F8D4-4EA6-4854-8717-AB739E9FB17D}" type="slidenum">
              <a:rPr lang="en-US" altLang="zh-CN" smtClean="0">
                <a:latin typeface="Arial" pitchFamily="34" charset="0"/>
                <a:ea typeface="宋体" pitchFamily="2" charset="-122"/>
              </a:rPr>
              <a:pPr/>
              <a:t>100</a:t>
            </a:fld>
            <a:endParaRPr lang="en-US" altLang="zh-CN">
              <a:latin typeface="Arial" pitchFamily="34" charset="0"/>
              <a:ea typeface="宋体" pitchFamily="2" charset="-122"/>
            </a:endParaRPr>
          </a:p>
        </p:txBody>
      </p:sp>
      <p:sp>
        <p:nvSpPr>
          <p:cNvPr id="180227" name="Rectangle 2"/>
          <p:cNvSpPr>
            <a:spLocks noGrp="1" noChangeArrowheads="1"/>
          </p:cNvSpPr>
          <p:nvPr>
            <p:ph type="body" idx="1"/>
          </p:nvPr>
        </p:nvSpPr>
        <p:spPr>
          <a:xfrm>
            <a:off x="885825" y="3340100"/>
            <a:ext cx="4873625" cy="6356350"/>
          </a:xfrm>
          <a:noFill/>
          <a:ln/>
        </p:spPr>
        <p:txBody>
          <a:bodyPr lIns="90488" tIns="44450" rIns="90488" bIns="44450"/>
          <a:lstStyle/>
          <a:p>
            <a:pPr marL="114300" lvl="1">
              <a:spcBef>
                <a:spcPct val="20000"/>
              </a:spcBef>
            </a:pPr>
            <a:endParaRPr lang="zh-CN" altLang="zh-CN">
              <a:latin typeface="Arial" pitchFamily="34" charset="0"/>
              <a:ea typeface="宋体" pitchFamily="2" charset="-122"/>
            </a:endParaRPr>
          </a:p>
        </p:txBody>
      </p:sp>
      <p:sp>
        <p:nvSpPr>
          <p:cNvPr id="180228" name="Rectangle 3"/>
          <p:cNvSpPr>
            <a:spLocks noGrp="1" noRot="1" noChangeAspect="1" noChangeArrowheads="1" noTextEdit="1"/>
          </p:cNvSpPr>
          <p:nvPr>
            <p:ph type="sldImg"/>
          </p:nvPr>
        </p:nvSpPr>
        <p:spPr>
          <a:xfrm>
            <a:off x="1163638" y="739775"/>
            <a:ext cx="4318000" cy="2430463"/>
          </a:xfrm>
          <a:ln w="12700" cap="flat">
            <a:solidFill>
              <a:schemeClr val="tx1"/>
            </a:solidFill>
          </a:ln>
        </p:spPr>
      </p:sp>
    </p:spTree>
    <p:extLst>
      <p:ext uri="{BB962C8B-B14F-4D97-AF65-F5344CB8AC3E}">
        <p14:creationId xmlns:p14="http://schemas.microsoft.com/office/powerpoint/2010/main" val="5747123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50" name="Rectangle 7"/>
          <p:cNvSpPr>
            <a:spLocks noGrp="1" noChangeArrowheads="1"/>
          </p:cNvSpPr>
          <p:nvPr>
            <p:ph type="sldNum" sz="quarter" idx="5"/>
          </p:nvPr>
        </p:nvSpPr>
        <p:spPr>
          <a:noFill/>
        </p:spPr>
        <p:txBody>
          <a:bodyPr/>
          <a:lstStyle/>
          <a:p>
            <a:fld id="{A6F32DAB-1A8C-47FD-BE04-8FD0EEA7AF5C}" type="slidenum">
              <a:rPr lang="en-US" altLang="zh-CN" smtClean="0">
                <a:latin typeface="Arial" pitchFamily="34" charset="0"/>
                <a:ea typeface="宋体" pitchFamily="2" charset="-122"/>
              </a:rPr>
              <a:pPr/>
              <a:t>101</a:t>
            </a:fld>
            <a:endParaRPr lang="en-US" altLang="zh-CN">
              <a:latin typeface="Arial" pitchFamily="34" charset="0"/>
              <a:ea typeface="宋体" pitchFamily="2" charset="-122"/>
            </a:endParaRPr>
          </a:p>
        </p:txBody>
      </p:sp>
      <p:sp>
        <p:nvSpPr>
          <p:cNvPr id="181251" name="Rectangle 2"/>
          <p:cNvSpPr>
            <a:spLocks noGrp="1" noChangeArrowheads="1"/>
          </p:cNvSpPr>
          <p:nvPr>
            <p:ph type="body" idx="1"/>
          </p:nvPr>
        </p:nvSpPr>
        <p:spPr>
          <a:xfrm>
            <a:off x="885825" y="3503613"/>
            <a:ext cx="4873625" cy="5540375"/>
          </a:xfrm>
          <a:noFill/>
          <a:ln/>
        </p:spPr>
        <p:txBody>
          <a:bodyPr lIns="90488" tIns="44450" rIns="90488" bIns="44450"/>
          <a:lstStyle/>
          <a:p>
            <a:endParaRPr lang="zh-CN" altLang="zh-CN">
              <a:latin typeface="Arial" pitchFamily="34" charset="0"/>
              <a:ea typeface="宋体" pitchFamily="2" charset="-122"/>
            </a:endParaRPr>
          </a:p>
        </p:txBody>
      </p:sp>
      <p:sp>
        <p:nvSpPr>
          <p:cNvPr id="181252" name="Rectangle 3"/>
          <p:cNvSpPr>
            <a:spLocks noGrp="1" noRot="1" noChangeAspect="1" noChangeArrowheads="1" noTextEdit="1"/>
          </p:cNvSpPr>
          <p:nvPr>
            <p:ph type="sldImg"/>
          </p:nvPr>
        </p:nvSpPr>
        <p:spPr>
          <a:xfrm>
            <a:off x="1163638" y="739775"/>
            <a:ext cx="4318000" cy="2430463"/>
          </a:xfrm>
          <a:ln w="12700" cap="flat">
            <a:solidFill>
              <a:schemeClr val="tx1"/>
            </a:solidFill>
          </a:ln>
        </p:spPr>
      </p:sp>
    </p:spTree>
    <p:extLst>
      <p:ext uri="{BB962C8B-B14F-4D97-AF65-F5344CB8AC3E}">
        <p14:creationId xmlns:p14="http://schemas.microsoft.com/office/powerpoint/2010/main" val="119651152"/>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4" name="Rectangle 7"/>
          <p:cNvSpPr>
            <a:spLocks noGrp="1" noChangeArrowheads="1"/>
          </p:cNvSpPr>
          <p:nvPr>
            <p:ph type="sldNum" sz="quarter" idx="5"/>
          </p:nvPr>
        </p:nvSpPr>
        <p:spPr>
          <a:noFill/>
        </p:spPr>
        <p:txBody>
          <a:bodyPr/>
          <a:lstStyle/>
          <a:p>
            <a:fld id="{9C6C02A6-1C8C-40DE-BF00-EADBD98BED1B}" type="slidenum">
              <a:rPr lang="en-US" altLang="zh-CN" smtClean="0">
                <a:latin typeface="Arial" pitchFamily="34" charset="0"/>
                <a:ea typeface="宋体" pitchFamily="2" charset="-122"/>
              </a:rPr>
              <a:pPr/>
              <a:t>102</a:t>
            </a:fld>
            <a:endParaRPr lang="en-US" altLang="zh-CN">
              <a:latin typeface="Arial" pitchFamily="34" charset="0"/>
              <a:ea typeface="宋体" pitchFamily="2" charset="-122"/>
            </a:endParaRPr>
          </a:p>
        </p:txBody>
      </p:sp>
      <p:sp>
        <p:nvSpPr>
          <p:cNvPr id="182275" name="Rectangle 2"/>
          <p:cNvSpPr>
            <a:spLocks noGrp="1" noChangeArrowheads="1"/>
          </p:cNvSpPr>
          <p:nvPr>
            <p:ph type="body" idx="1"/>
          </p:nvPr>
        </p:nvSpPr>
        <p:spPr>
          <a:xfrm>
            <a:off x="885825" y="3340100"/>
            <a:ext cx="4873625" cy="6356350"/>
          </a:xfrm>
          <a:noFill/>
          <a:ln/>
        </p:spPr>
        <p:txBody>
          <a:bodyPr lIns="90488" tIns="44450" rIns="90488" bIns="44450"/>
          <a:lstStyle/>
          <a:p>
            <a:pPr marL="114300" lvl="1">
              <a:spcBef>
                <a:spcPct val="20000"/>
              </a:spcBef>
            </a:pPr>
            <a:endParaRPr lang="zh-CN" altLang="zh-CN">
              <a:latin typeface="Arial" pitchFamily="34" charset="0"/>
              <a:ea typeface="宋体" pitchFamily="2" charset="-122"/>
            </a:endParaRPr>
          </a:p>
        </p:txBody>
      </p:sp>
      <p:sp>
        <p:nvSpPr>
          <p:cNvPr id="182276" name="Rectangle 3"/>
          <p:cNvSpPr>
            <a:spLocks noGrp="1" noRot="1" noChangeAspect="1" noChangeArrowheads="1" noTextEdit="1"/>
          </p:cNvSpPr>
          <p:nvPr>
            <p:ph type="sldImg"/>
          </p:nvPr>
        </p:nvSpPr>
        <p:spPr>
          <a:xfrm>
            <a:off x="1163638" y="739775"/>
            <a:ext cx="4318000" cy="2430463"/>
          </a:xfrm>
          <a:ln w="12700" cap="flat">
            <a:solidFill>
              <a:schemeClr val="tx1"/>
            </a:solidFill>
          </a:ln>
        </p:spPr>
      </p:sp>
    </p:spTree>
    <p:extLst>
      <p:ext uri="{BB962C8B-B14F-4D97-AF65-F5344CB8AC3E}">
        <p14:creationId xmlns:p14="http://schemas.microsoft.com/office/powerpoint/2010/main" val="4207670513"/>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8" name="Rectangle 7"/>
          <p:cNvSpPr>
            <a:spLocks noGrp="1" noChangeArrowheads="1"/>
          </p:cNvSpPr>
          <p:nvPr>
            <p:ph type="sldNum" sz="quarter" idx="5"/>
          </p:nvPr>
        </p:nvSpPr>
        <p:spPr>
          <a:noFill/>
        </p:spPr>
        <p:txBody>
          <a:bodyPr/>
          <a:lstStyle/>
          <a:p>
            <a:fld id="{32951625-9A01-4A26-B694-8095DE765743}" type="slidenum">
              <a:rPr lang="en-US" altLang="zh-CN" smtClean="0">
                <a:latin typeface="Arial" pitchFamily="34" charset="0"/>
                <a:ea typeface="宋体" pitchFamily="2" charset="-122"/>
              </a:rPr>
              <a:pPr/>
              <a:t>105</a:t>
            </a:fld>
            <a:endParaRPr lang="en-US" altLang="zh-CN">
              <a:latin typeface="Arial" pitchFamily="34" charset="0"/>
              <a:ea typeface="宋体" pitchFamily="2" charset="-122"/>
            </a:endParaRPr>
          </a:p>
        </p:txBody>
      </p:sp>
      <p:sp>
        <p:nvSpPr>
          <p:cNvPr id="183299" name="Rectangle 2"/>
          <p:cNvSpPr>
            <a:spLocks noGrp="1" noChangeArrowheads="1"/>
          </p:cNvSpPr>
          <p:nvPr>
            <p:ph type="body" idx="1"/>
          </p:nvPr>
        </p:nvSpPr>
        <p:spPr>
          <a:xfrm>
            <a:off x="885825" y="3340100"/>
            <a:ext cx="4873625" cy="6356350"/>
          </a:xfrm>
          <a:noFill/>
          <a:ln/>
        </p:spPr>
        <p:txBody>
          <a:bodyPr lIns="90488" tIns="44450" rIns="90488" bIns="44450"/>
          <a:lstStyle/>
          <a:p>
            <a:pPr marL="114300" lvl="1">
              <a:spcBef>
                <a:spcPct val="20000"/>
              </a:spcBef>
            </a:pPr>
            <a:endParaRPr lang="zh-CN" altLang="zh-CN">
              <a:latin typeface="Arial" pitchFamily="34" charset="0"/>
              <a:ea typeface="宋体" pitchFamily="2" charset="-122"/>
            </a:endParaRPr>
          </a:p>
        </p:txBody>
      </p:sp>
      <p:sp>
        <p:nvSpPr>
          <p:cNvPr id="183300" name="Rectangle 3"/>
          <p:cNvSpPr>
            <a:spLocks noGrp="1" noRot="1" noChangeAspect="1" noChangeArrowheads="1" noTextEdit="1"/>
          </p:cNvSpPr>
          <p:nvPr>
            <p:ph type="sldImg"/>
          </p:nvPr>
        </p:nvSpPr>
        <p:spPr>
          <a:xfrm>
            <a:off x="1163638" y="739775"/>
            <a:ext cx="4318000" cy="2430463"/>
          </a:xfrm>
          <a:ln w="12700" cap="flat">
            <a:solidFill>
              <a:schemeClr val="tx1"/>
            </a:solidFill>
          </a:ln>
        </p:spPr>
      </p:sp>
    </p:spTree>
    <p:extLst>
      <p:ext uri="{BB962C8B-B14F-4D97-AF65-F5344CB8AC3E}">
        <p14:creationId xmlns:p14="http://schemas.microsoft.com/office/powerpoint/2010/main" val="948716855"/>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2" name="Rectangle 7"/>
          <p:cNvSpPr>
            <a:spLocks noGrp="1" noChangeArrowheads="1"/>
          </p:cNvSpPr>
          <p:nvPr>
            <p:ph type="sldNum" sz="quarter" idx="5"/>
          </p:nvPr>
        </p:nvSpPr>
        <p:spPr>
          <a:noFill/>
        </p:spPr>
        <p:txBody>
          <a:bodyPr/>
          <a:lstStyle/>
          <a:p>
            <a:fld id="{A68A39D0-BB3C-4C1B-8EA9-71115046DBD2}" type="slidenum">
              <a:rPr lang="en-US" altLang="zh-CN" smtClean="0">
                <a:latin typeface="Arial" pitchFamily="34" charset="0"/>
                <a:ea typeface="宋体" pitchFamily="2" charset="-122"/>
              </a:rPr>
              <a:pPr/>
              <a:t>106</a:t>
            </a:fld>
            <a:endParaRPr lang="en-US" altLang="zh-CN">
              <a:latin typeface="Arial" pitchFamily="34" charset="0"/>
              <a:ea typeface="宋体" pitchFamily="2" charset="-122"/>
            </a:endParaRPr>
          </a:p>
        </p:txBody>
      </p:sp>
      <p:sp>
        <p:nvSpPr>
          <p:cNvPr id="184323" name="Rectangle 2"/>
          <p:cNvSpPr>
            <a:spLocks noGrp="1" noChangeArrowheads="1"/>
          </p:cNvSpPr>
          <p:nvPr>
            <p:ph type="body" idx="1"/>
          </p:nvPr>
        </p:nvSpPr>
        <p:spPr>
          <a:xfrm>
            <a:off x="885825" y="3340100"/>
            <a:ext cx="4873625" cy="6356350"/>
          </a:xfrm>
          <a:noFill/>
          <a:ln/>
        </p:spPr>
        <p:txBody>
          <a:bodyPr lIns="90488" tIns="44450" rIns="90488" bIns="44450"/>
          <a:lstStyle/>
          <a:p>
            <a:pPr marL="114300" lvl="1">
              <a:spcBef>
                <a:spcPct val="20000"/>
              </a:spcBef>
            </a:pPr>
            <a:endParaRPr lang="zh-CN" altLang="zh-CN">
              <a:latin typeface="Arial" pitchFamily="34" charset="0"/>
              <a:ea typeface="宋体" pitchFamily="2" charset="-122"/>
            </a:endParaRPr>
          </a:p>
        </p:txBody>
      </p:sp>
      <p:sp>
        <p:nvSpPr>
          <p:cNvPr id="184324" name="Rectangle 3"/>
          <p:cNvSpPr>
            <a:spLocks noGrp="1" noRot="1" noChangeAspect="1" noChangeArrowheads="1" noTextEdit="1"/>
          </p:cNvSpPr>
          <p:nvPr>
            <p:ph type="sldImg"/>
          </p:nvPr>
        </p:nvSpPr>
        <p:spPr>
          <a:xfrm>
            <a:off x="1163638" y="739775"/>
            <a:ext cx="4318000" cy="2430463"/>
          </a:xfrm>
          <a:ln w="12700" cap="flat">
            <a:solidFill>
              <a:schemeClr val="tx1"/>
            </a:solidFill>
          </a:ln>
        </p:spPr>
      </p:sp>
    </p:spTree>
    <p:extLst>
      <p:ext uri="{BB962C8B-B14F-4D97-AF65-F5344CB8AC3E}">
        <p14:creationId xmlns:p14="http://schemas.microsoft.com/office/powerpoint/2010/main" val="3737847137"/>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6" name="Rectangle 7"/>
          <p:cNvSpPr>
            <a:spLocks noGrp="1" noChangeArrowheads="1"/>
          </p:cNvSpPr>
          <p:nvPr>
            <p:ph type="sldNum" sz="quarter" idx="5"/>
          </p:nvPr>
        </p:nvSpPr>
        <p:spPr>
          <a:noFill/>
        </p:spPr>
        <p:txBody>
          <a:bodyPr/>
          <a:lstStyle/>
          <a:p>
            <a:fld id="{4C0993A5-B67D-4EDE-86F0-2FE551C7E5A8}" type="slidenum">
              <a:rPr lang="en-US" altLang="zh-CN" smtClean="0">
                <a:latin typeface="Arial" pitchFamily="34" charset="0"/>
                <a:ea typeface="宋体" pitchFamily="2" charset="-122"/>
              </a:rPr>
              <a:pPr/>
              <a:t>107</a:t>
            </a:fld>
            <a:endParaRPr lang="en-US" altLang="zh-CN">
              <a:latin typeface="Arial" pitchFamily="34" charset="0"/>
              <a:ea typeface="宋体" pitchFamily="2" charset="-122"/>
            </a:endParaRPr>
          </a:p>
        </p:txBody>
      </p:sp>
      <p:sp>
        <p:nvSpPr>
          <p:cNvPr id="185347" name="Rectangle 2"/>
          <p:cNvSpPr>
            <a:spLocks noGrp="1" noChangeArrowheads="1"/>
          </p:cNvSpPr>
          <p:nvPr>
            <p:ph type="body" idx="1"/>
          </p:nvPr>
        </p:nvSpPr>
        <p:spPr>
          <a:xfrm>
            <a:off x="885825" y="3340100"/>
            <a:ext cx="4873625" cy="6356350"/>
          </a:xfrm>
          <a:noFill/>
          <a:ln/>
        </p:spPr>
        <p:txBody>
          <a:bodyPr lIns="90488" tIns="44450" rIns="90488" bIns="44450"/>
          <a:lstStyle/>
          <a:p>
            <a:pPr marL="114300" lvl="1">
              <a:spcBef>
                <a:spcPct val="20000"/>
              </a:spcBef>
            </a:pPr>
            <a:endParaRPr lang="zh-CN" altLang="zh-CN">
              <a:latin typeface="Arial" pitchFamily="34" charset="0"/>
              <a:ea typeface="宋体" pitchFamily="2" charset="-122"/>
            </a:endParaRPr>
          </a:p>
        </p:txBody>
      </p:sp>
      <p:sp>
        <p:nvSpPr>
          <p:cNvPr id="185348" name="Rectangle 3"/>
          <p:cNvSpPr>
            <a:spLocks noGrp="1" noRot="1" noChangeAspect="1" noChangeArrowheads="1" noTextEdit="1"/>
          </p:cNvSpPr>
          <p:nvPr>
            <p:ph type="sldImg"/>
          </p:nvPr>
        </p:nvSpPr>
        <p:spPr>
          <a:xfrm>
            <a:off x="1163638" y="739775"/>
            <a:ext cx="4318000" cy="2430463"/>
          </a:xfrm>
          <a:ln w="12700" cap="flat">
            <a:solidFill>
              <a:schemeClr val="tx1"/>
            </a:solidFill>
          </a:ln>
        </p:spPr>
      </p:sp>
    </p:spTree>
    <p:extLst>
      <p:ext uri="{BB962C8B-B14F-4D97-AF65-F5344CB8AC3E}">
        <p14:creationId xmlns:p14="http://schemas.microsoft.com/office/powerpoint/2010/main" val="1824297322"/>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70" name="Rectangle 7"/>
          <p:cNvSpPr>
            <a:spLocks noGrp="1" noChangeArrowheads="1"/>
          </p:cNvSpPr>
          <p:nvPr>
            <p:ph type="sldNum" sz="quarter" idx="5"/>
          </p:nvPr>
        </p:nvSpPr>
        <p:spPr>
          <a:noFill/>
        </p:spPr>
        <p:txBody>
          <a:bodyPr/>
          <a:lstStyle/>
          <a:p>
            <a:fld id="{8ECF0A64-923C-4D7A-BD58-81AB197352B4}" type="slidenum">
              <a:rPr lang="en-US" altLang="zh-CN" smtClean="0">
                <a:latin typeface="Arial" pitchFamily="34" charset="0"/>
                <a:ea typeface="宋体" pitchFamily="2" charset="-122"/>
              </a:rPr>
              <a:pPr/>
              <a:t>108</a:t>
            </a:fld>
            <a:endParaRPr lang="en-US" altLang="zh-CN">
              <a:latin typeface="Arial" pitchFamily="34" charset="0"/>
              <a:ea typeface="宋体" pitchFamily="2" charset="-122"/>
            </a:endParaRPr>
          </a:p>
        </p:txBody>
      </p:sp>
      <p:sp>
        <p:nvSpPr>
          <p:cNvPr id="186371" name="Rectangle 2"/>
          <p:cNvSpPr>
            <a:spLocks noGrp="1" noChangeArrowheads="1"/>
          </p:cNvSpPr>
          <p:nvPr>
            <p:ph type="body" idx="1"/>
          </p:nvPr>
        </p:nvSpPr>
        <p:spPr>
          <a:xfrm>
            <a:off x="885825" y="3340100"/>
            <a:ext cx="4873625" cy="6356350"/>
          </a:xfrm>
          <a:noFill/>
          <a:ln/>
        </p:spPr>
        <p:txBody>
          <a:bodyPr lIns="90488" tIns="44450" rIns="90488" bIns="44450"/>
          <a:lstStyle/>
          <a:p>
            <a:pPr marL="114300" lvl="1">
              <a:spcBef>
                <a:spcPct val="20000"/>
              </a:spcBef>
            </a:pPr>
            <a:endParaRPr lang="zh-CN" altLang="zh-CN">
              <a:latin typeface="Arial" pitchFamily="34" charset="0"/>
              <a:ea typeface="宋体" pitchFamily="2" charset="-122"/>
            </a:endParaRPr>
          </a:p>
        </p:txBody>
      </p:sp>
      <p:sp>
        <p:nvSpPr>
          <p:cNvPr id="186372" name="Rectangle 3"/>
          <p:cNvSpPr>
            <a:spLocks noGrp="1" noRot="1" noChangeAspect="1" noChangeArrowheads="1" noTextEdit="1"/>
          </p:cNvSpPr>
          <p:nvPr>
            <p:ph type="sldImg"/>
          </p:nvPr>
        </p:nvSpPr>
        <p:spPr>
          <a:xfrm>
            <a:off x="1163638" y="739775"/>
            <a:ext cx="4318000" cy="2430463"/>
          </a:xfrm>
          <a:ln w="12700" cap="flat">
            <a:solidFill>
              <a:schemeClr val="tx1"/>
            </a:solidFill>
          </a:ln>
        </p:spPr>
      </p:sp>
    </p:spTree>
    <p:extLst>
      <p:ext uri="{BB962C8B-B14F-4D97-AF65-F5344CB8AC3E}">
        <p14:creationId xmlns:p14="http://schemas.microsoft.com/office/powerpoint/2010/main" val="208068603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4" name="Rectangle 7"/>
          <p:cNvSpPr>
            <a:spLocks noGrp="1" noChangeArrowheads="1"/>
          </p:cNvSpPr>
          <p:nvPr>
            <p:ph type="sldNum" sz="quarter" idx="5"/>
          </p:nvPr>
        </p:nvSpPr>
        <p:spPr>
          <a:noFill/>
        </p:spPr>
        <p:txBody>
          <a:bodyPr/>
          <a:lstStyle/>
          <a:p>
            <a:fld id="{004B8BD2-B108-4733-B422-D80B003E96CE}" type="slidenum">
              <a:rPr lang="en-US" altLang="zh-CN" smtClean="0">
                <a:latin typeface="Arial" pitchFamily="34" charset="0"/>
                <a:ea typeface="宋体" pitchFamily="2" charset="-122"/>
              </a:rPr>
              <a:pPr/>
              <a:t>111</a:t>
            </a:fld>
            <a:endParaRPr lang="en-US" altLang="zh-CN">
              <a:latin typeface="Arial" pitchFamily="34" charset="0"/>
              <a:ea typeface="宋体" pitchFamily="2" charset="-122"/>
            </a:endParaRPr>
          </a:p>
        </p:txBody>
      </p:sp>
      <p:sp>
        <p:nvSpPr>
          <p:cNvPr id="187395" name="Rectangle 2"/>
          <p:cNvSpPr>
            <a:spLocks noGrp="1" noChangeArrowheads="1"/>
          </p:cNvSpPr>
          <p:nvPr>
            <p:ph type="body" idx="1"/>
          </p:nvPr>
        </p:nvSpPr>
        <p:spPr>
          <a:xfrm>
            <a:off x="885825" y="3503613"/>
            <a:ext cx="4873625" cy="5540375"/>
          </a:xfrm>
          <a:noFill/>
          <a:ln/>
        </p:spPr>
        <p:txBody>
          <a:bodyPr lIns="90488" tIns="44450" rIns="90488" bIns="44450"/>
          <a:lstStyle/>
          <a:p>
            <a:endParaRPr lang="zh-CN" altLang="zh-CN">
              <a:latin typeface="Arial" pitchFamily="34" charset="0"/>
              <a:ea typeface="宋体" pitchFamily="2" charset="-122"/>
            </a:endParaRPr>
          </a:p>
        </p:txBody>
      </p:sp>
      <p:sp>
        <p:nvSpPr>
          <p:cNvPr id="187396" name="Rectangle 3"/>
          <p:cNvSpPr>
            <a:spLocks noGrp="1" noRot="1" noChangeAspect="1" noChangeArrowheads="1" noTextEdit="1"/>
          </p:cNvSpPr>
          <p:nvPr>
            <p:ph type="sldImg"/>
          </p:nvPr>
        </p:nvSpPr>
        <p:spPr>
          <a:xfrm>
            <a:off x="1163638" y="739775"/>
            <a:ext cx="4318000" cy="2430463"/>
          </a:xfrm>
          <a:ln w="12700" cap="flat">
            <a:solidFill>
              <a:schemeClr val="tx1"/>
            </a:solidFill>
          </a:ln>
        </p:spPr>
      </p:sp>
    </p:spTree>
    <p:extLst>
      <p:ext uri="{BB962C8B-B14F-4D97-AF65-F5344CB8AC3E}">
        <p14:creationId xmlns:p14="http://schemas.microsoft.com/office/powerpoint/2010/main" val="3991035036"/>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3.png"/><Relationship Id="rId5" Type="http://schemas.microsoft.com/office/2007/relationships/hdphoto" Target="../media/hdphoto2.wdp"/><Relationship Id="rId4"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 Id="rId4" Type="http://schemas.microsoft.com/office/2007/relationships/hdphoto" Target="../media/hdphoto1.wdp"/></Relationships>
</file>

<file path=ppt/slideLayouts/_rels/slideLayout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pic>
        <p:nvPicPr>
          <p:cNvPr id="19" name="图片 18">
            <a:extLst>
              <a:ext uri="{FF2B5EF4-FFF2-40B4-BE49-F238E27FC236}">
                <a16:creationId xmlns:a16="http://schemas.microsoft.com/office/drawing/2014/main" id="{90E1A95C-AB60-11CE-9FCC-A12789A51D6F}"/>
              </a:ext>
            </a:extLst>
          </p:cNvPr>
          <p:cNvPicPr>
            <a:picLocks noChangeAspect="1"/>
          </p:cNvPicPr>
          <p:nvPr userDrawn="1"/>
        </p:nvPicPr>
        <p:blipFill>
          <a:blip r:embed="rId2">
            <a:extLst>
              <a:ext uri="{BEBA8EAE-BF5A-486C-A8C5-ECC9F3942E4B}">
                <a14:imgProps xmlns:a14="http://schemas.microsoft.com/office/drawing/2010/main">
                  <a14:imgLayer r:embed="rId3">
                    <a14:imgEffect>
                      <a14:artisticPaintBrush/>
                    </a14:imgEffect>
                  </a14:imgLayer>
                </a14:imgProps>
              </a:ext>
              <a:ext uri="{28A0092B-C50C-407E-A947-70E740481C1C}">
                <a14:useLocalDpi xmlns:a14="http://schemas.microsoft.com/office/drawing/2010/main" val="0"/>
              </a:ext>
            </a:extLst>
          </a:blip>
          <a:stretch>
            <a:fillRect/>
          </a:stretch>
        </p:blipFill>
        <p:spPr>
          <a:xfrm>
            <a:off x="0" y="6826"/>
            <a:ext cx="12192000" cy="6858000"/>
          </a:xfrm>
          <a:prstGeom prst="rect">
            <a:avLst/>
          </a:prstGeom>
        </p:spPr>
      </p:pic>
      <p:sp>
        <p:nvSpPr>
          <p:cNvPr id="3" name="副标题 2">
            <a:extLst>
              <a:ext uri="{FF2B5EF4-FFF2-40B4-BE49-F238E27FC236}">
                <a16:creationId xmlns:a16="http://schemas.microsoft.com/office/drawing/2014/main" id="{69AC3648-3719-56A4-E63A-102A57745D08}"/>
              </a:ext>
            </a:extLst>
          </p:cNvPr>
          <p:cNvSpPr>
            <a:spLocks noGrp="1"/>
          </p:cNvSpPr>
          <p:nvPr>
            <p:ph type="subTitle" idx="1"/>
          </p:nvPr>
        </p:nvSpPr>
        <p:spPr>
          <a:xfrm>
            <a:off x="1524000" y="3726180"/>
            <a:ext cx="9144000" cy="1120140"/>
          </a:xfrm>
        </p:spPr>
        <p:txBody>
          <a:bodyPr>
            <a:normAutofit/>
          </a:bodyPr>
          <a:lstStyle>
            <a:lvl1pPr marL="0" indent="0" algn="ctr">
              <a:buNone/>
              <a:defRPr sz="2800" b="1">
                <a:solidFill>
                  <a:schemeClr val="accent1">
                    <a:lumMod val="75000"/>
                  </a:schemeClr>
                </a:solidFill>
                <a:effectLst/>
              </a:defRPr>
            </a:lvl1pPr>
            <a:lvl2pPr marL="342891" indent="0" algn="ctr">
              <a:buNone/>
              <a:defRPr sz="1500"/>
            </a:lvl2pPr>
            <a:lvl3pPr marL="685783" indent="0" algn="ctr">
              <a:buNone/>
              <a:defRPr sz="1351"/>
            </a:lvl3pPr>
            <a:lvl4pPr marL="1028674" indent="0" algn="ctr">
              <a:buNone/>
              <a:defRPr sz="1200"/>
            </a:lvl4pPr>
            <a:lvl5pPr marL="1371566" indent="0" algn="ctr">
              <a:buNone/>
              <a:defRPr sz="1200"/>
            </a:lvl5pPr>
            <a:lvl6pPr marL="1714457" indent="0" algn="ctr">
              <a:buNone/>
              <a:defRPr sz="1200"/>
            </a:lvl6pPr>
            <a:lvl7pPr marL="2057349" indent="0" algn="ctr">
              <a:buNone/>
              <a:defRPr sz="1200"/>
            </a:lvl7pPr>
            <a:lvl8pPr marL="2400240" indent="0" algn="ctr">
              <a:buNone/>
              <a:defRPr sz="1200"/>
            </a:lvl8pPr>
            <a:lvl9pPr marL="2743131" indent="0" algn="ctr">
              <a:buNone/>
              <a:defRPr sz="1200"/>
            </a:lvl9pPr>
          </a:lstStyle>
          <a:p>
            <a:r>
              <a:rPr lang="zh-CN" altLang="en-US"/>
              <a:t>单击以编辑母版副标题样式</a:t>
            </a:r>
            <a:endParaRPr lang="zh-CN" altLang="en-US" dirty="0"/>
          </a:p>
        </p:txBody>
      </p:sp>
      <p:grpSp>
        <p:nvGrpSpPr>
          <p:cNvPr id="14" name="组合 13">
            <a:extLst>
              <a:ext uri="{FF2B5EF4-FFF2-40B4-BE49-F238E27FC236}">
                <a16:creationId xmlns:a16="http://schemas.microsoft.com/office/drawing/2014/main" id="{2D2A6A41-A5E3-1F93-8042-1A6754E98F5D}"/>
              </a:ext>
            </a:extLst>
          </p:cNvPr>
          <p:cNvGrpSpPr/>
          <p:nvPr userDrawn="1"/>
        </p:nvGrpSpPr>
        <p:grpSpPr>
          <a:xfrm>
            <a:off x="0" y="2"/>
            <a:ext cx="2091691" cy="1988141"/>
            <a:chOff x="1234440" y="204112"/>
            <a:chExt cx="2091690" cy="1988141"/>
          </a:xfrm>
        </p:grpSpPr>
        <p:pic>
          <p:nvPicPr>
            <p:cNvPr id="15" name="图片 14">
              <a:extLst>
                <a:ext uri="{FF2B5EF4-FFF2-40B4-BE49-F238E27FC236}">
                  <a16:creationId xmlns:a16="http://schemas.microsoft.com/office/drawing/2014/main" id="{85EC5039-FEDC-5D6B-0723-F481246B9DBA}"/>
                </a:ext>
              </a:extLst>
            </p:cNvPr>
            <p:cNvPicPr>
              <a:picLocks noChangeAspect="1"/>
            </p:cNvPicPr>
            <p:nvPr userDrawn="1"/>
          </p:nvPicPr>
          <p:blipFill>
            <a:blip r:embed="rId4">
              <a:extLst>
                <a:ext uri="{BEBA8EAE-BF5A-486C-A8C5-ECC9F3942E4B}">
                  <a14:imgProps xmlns:a14="http://schemas.microsoft.com/office/drawing/2010/main">
                    <a14:imgLayer r:embed="rId5">
                      <a14:imgEffect>
                        <a14:artisticPhotocopy/>
                      </a14:imgEffect>
                    </a14:imgLayer>
                  </a14:imgProps>
                </a:ext>
                <a:ext uri="{28A0092B-C50C-407E-A947-70E740481C1C}">
                  <a14:useLocalDpi xmlns:a14="http://schemas.microsoft.com/office/drawing/2010/main" val="0"/>
                </a:ext>
              </a:extLst>
            </a:blip>
            <a:stretch>
              <a:fillRect/>
            </a:stretch>
          </p:blipFill>
          <p:spPr>
            <a:xfrm>
              <a:off x="1234440" y="204112"/>
              <a:ext cx="2091690" cy="1988141"/>
            </a:xfrm>
            <a:prstGeom prst="rect">
              <a:avLst/>
            </a:prstGeom>
          </p:spPr>
        </p:pic>
        <p:sp>
          <p:nvSpPr>
            <p:cNvPr id="16" name="矩形 15">
              <a:extLst>
                <a:ext uri="{FF2B5EF4-FFF2-40B4-BE49-F238E27FC236}">
                  <a16:creationId xmlns:a16="http://schemas.microsoft.com/office/drawing/2014/main" id="{97E70C10-17B3-00AF-8350-5E3351AFADF7}"/>
                </a:ext>
              </a:extLst>
            </p:cNvPr>
            <p:cNvSpPr/>
            <p:nvPr userDrawn="1"/>
          </p:nvSpPr>
          <p:spPr>
            <a:xfrm>
              <a:off x="1234440" y="204112"/>
              <a:ext cx="2091690" cy="1988141"/>
            </a:xfrm>
            <a:prstGeom prst="rect">
              <a:avLst/>
            </a:prstGeom>
            <a:solidFill>
              <a:schemeClr val="bg1">
                <a:alpha val="4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grpSp>
      <p:pic>
        <p:nvPicPr>
          <p:cNvPr id="10" name="图片 9">
            <a:extLst>
              <a:ext uri="{FF2B5EF4-FFF2-40B4-BE49-F238E27FC236}">
                <a16:creationId xmlns:a16="http://schemas.microsoft.com/office/drawing/2014/main" id="{A9181C8E-6D4D-B027-9E6C-866691379494}"/>
              </a:ext>
            </a:extLst>
          </p:cNvPr>
          <p:cNvPicPr>
            <a:picLocks noChangeAspect="1"/>
          </p:cNvPicPr>
          <p:nvPr userDrawn="1"/>
        </p:nvPicPr>
        <p:blipFill>
          <a:blip r:embed="rId6">
            <a:clrChange>
              <a:clrFrom>
                <a:srgbClr val="FFFFFF"/>
              </a:clrFrom>
              <a:clrTo>
                <a:srgbClr val="FFFFFF">
                  <a:alpha val="0"/>
                </a:srgbClr>
              </a:clrTo>
            </a:clrChange>
            <a:duotone>
              <a:prstClr val="black"/>
              <a:schemeClr val="accent1">
                <a:tint val="45000"/>
                <a:satMod val="400000"/>
              </a:schemeClr>
            </a:duotone>
            <a:extLst>
              <a:ext uri="{28A0092B-C50C-407E-A947-70E740481C1C}">
                <a14:useLocalDpi xmlns:a14="http://schemas.microsoft.com/office/drawing/2010/main" val="0"/>
              </a:ext>
            </a:extLst>
          </a:blip>
          <a:stretch>
            <a:fillRect/>
          </a:stretch>
        </p:blipFill>
        <p:spPr>
          <a:xfrm>
            <a:off x="137161" y="37814"/>
            <a:ext cx="3599497" cy="523369"/>
          </a:xfrm>
          <a:prstGeom prst="rect">
            <a:avLst/>
          </a:prstGeom>
          <a:effectLst>
            <a:reflection blurRad="6350" stA="50000" endA="300" endPos="55000" dir="5400000" sy="-100000" algn="bl" rotWithShape="0"/>
          </a:effectLst>
        </p:spPr>
      </p:pic>
      <p:sp>
        <p:nvSpPr>
          <p:cNvPr id="2" name="标题 1">
            <a:extLst>
              <a:ext uri="{FF2B5EF4-FFF2-40B4-BE49-F238E27FC236}">
                <a16:creationId xmlns:a16="http://schemas.microsoft.com/office/drawing/2014/main" id="{2377F44A-D5B9-E04F-1B3F-9093D830C895}"/>
              </a:ext>
            </a:extLst>
          </p:cNvPr>
          <p:cNvSpPr>
            <a:spLocks noGrp="1"/>
          </p:cNvSpPr>
          <p:nvPr>
            <p:ph type="ctrTitle" hasCustomPrompt="1"/>
          </p:nvPr>
        </p:nvSpPr>
        <p:spPr>
          <a:xfrm>
            <a:off x="0" y="1122365"/>
            <a:ext cx="12192000" cy="1746567"/>
          </a:xfrm>
          <a:effectLst>
            <a:reflection blurRad="6350" stA="52000" endA="300" endPos="35000" dir="5400000" sy="-100000" algn="bl" rotWithShape="0"/>
          </a:effectLst>
        </p:spPr>
        <p:txBody>
          <a:bodyPr anchor="ctr"/>
          <a:lstStyle>
            <a:lvl1pPr algn="ctr">
              <a:defRPr sz="4500" b="1">
                <a:solidFill>
                  <a:schemeClr val="accent1">
                    <a:lumMod val="75000"/>
                  </a:schemeClr>
                </a:solidFill>
                <a:effectLst>
                  <a:reflection blurRad="63500" stA="50000" endA="300" endPos="50000" dist="88900" dir="5400000" sy="-100000" algn="bl" rotWithShape="0"/>
                </a:effectLst>
              </a:defRPr>
            </a:lvl1pPr>
          </a:lstStyle>
          <a:p>
            <a:r>
              <a:rPr lang="zh-CN" altLang="en-US" dirty="0"/>
              <a:t>单击此处编辑母版标题样式（章节）</a:t>
            </a:r>
          </a:p>
        </p:txBody>
      </p:sp>
    </p:spTree>
    <p:extLst>
      <p:ext uri="{BB962C8B-B14F-4D97-AF65-F5344CB8AC3E}">
        <p14:creationId xmlns:p14="http://schemas.microsoft.com/office/powerpoint/2010/main" val="7100854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pic>
        <p:nvPicPr>
          <p:cNvPr id="14" name="图片 13">
            <a:extLst>
              <a:ext uri="{FF2B5EF4-FFF2-40B4-BE49-F238E27FC236}">
                <a16:creationId xmlns:a16="http://schemas.microsoft.com/office/drawing/2014/main" id="{F7D82B74-71A0-CFA3-1FA7-332CD870E49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4604"/>
            <a:ext cx="10894496" cy="1987468"/>
          </a:xfrm>
          <a:prstGeom prst="rect">
            <a:avLst/>
          </a:prstGeom>
        </p:spPr>
      </p:pic>
      <p:sp>
        <p:nvSpPr>
          <p:cNvPr id="4" name="日期占位符 3">
            <a:extLst>
              <a:ext uri="{FF2B5EF4-FFF2-40B4-BE49-F238E27FC236}">
                <a16:creationId xmlns:a16="http://schemas.microsoft.com/office/drawing/2014/main" id="{60FD8E30-EE8C-6BA1-37A7-35AC8E4EB2FE}"/>
              </a:ext>
            </a:extLst>
          </p:cNvPr>
          <p:cNvSpPr>
            <a:spLocks noGrp="1"/>
          </p:cNvSpPr>
          <p:nvPr>
            <p:ph type="dt" sz="half" idx="10"/>
          </p:nvPr>
        </p:nvSpPr>
        <p:spPr>
          <a:xfrm>
            <a:off x="0" y="6542087"/>
            <a:ext cx="2743200" cy="304487"/>
          </a:xfrm>
          <a:prstGeom prst="rect">
            <a:avLst/>
          </a:prstGeom>
        </p:spPr>
        <p:txBody>
          <a:bodyPr/>
          <a:lstStyle/>
          <a:p>
            <a:endParaRPr lang="zh-CN" altLang="en-US"/>
          </a:p>
        </p:txBody>
      </p:sp>
      <p:grpSp>
        <p:nvGrpSpPr>
          <p:cNvPr id="16" name="组合 15">
            <a:extLst>
              <a:ext uri="{FF2B5EF4-FFF2-40B4-BE49-F238E27FC236}">
                <a16:creationId xmlns:a16="http://schemas.microsoft.com/office/drawing/2014/main" id="{584FD515-82E0-BD09-1A11-7E0F3E4C8ACD}"/>
              </a:ext>
            </a:extLst>
          </p:cNvPr>
          <p:cNvGrpSpPr/>
          <p:nvPr userDrawn="1"/>
        </p:nvGrpSpPr>
        <p:grpSpPr>
          <a:xfrm>
            <a:off x="0" y="1657350"/>
            <a:ext cx="12192000" cy="5212084"/>
            <a:chOff x="0" y="1657350"/>
            <a:chExt cx="12192000" cy="5212084"/>
          </a:xfrm>
        </p:grpSpPr>
        <p:pic>
          <p:nvPicPr>
            <p:cNvPr id="17" name="图片 16">
              <a:extLst>
                <a:ext uri="{FF2B5EF4-FFF2-40B4-BE49-F238E27FC236}">
                  <a16:creationId xmlns:a16="http://schemas.microsoft.com/office/drawing/2014/main" id="{B19E2A8D-64C0-E12E-C096-D098B85881F5}"/>
                </a:ext>
              </a:extLst>
            </p:cNvPr>
            <p:cNvPicPr>
              <a:picLocks noChangeAspect="1"/>
            </p:cNvPicPr>
            <p:nvPr userDrawn="1"/>
          </p:nvPicPr>
          <p:blipFill>
            <a:blip r:embed="rId3">
              <a:extLst>
                <a:ext uri="{BEBA8EAE-BF5A-486C-A8C5-ECC9F3942E4B}">
                  <a14:imgProps xmlns:a14="http://schemas.microsoft.com/office/drawing/2010/main">
                    <a14:imgLayer r:embed="rId4">
                      <a14:imgEffect>
                        <a14:artisticPaintBrush/>
                      </a14:imgEffect>
                    </a14:imgLayer>
                  </a14:imgProps>
                </a:ext>
                <a:ext uri="{28A0092B-C50C-407E-A947-70E740481C1C}">
                  <a14:useLocalDpi xmlns:a14="http://schemas.microsoft.com/office/drawing/2010/main" val="0"/>
                </a:ext>
              </a:extLst>
            </a:blip>
            <a:stretch>
              <a:fillRect/>
            </a:stretch>
          </p:blipFill>
          <p:spPr>
            <a:xfrm>
              <a:off x="0" y="1657350"/>
              <a:ext cx="12192000" cy="5207476"/>
            </a:xfrm>
            <a:prstGeom prst="rect">
              <a:avLst/>
            </a:prstGeom>
          </p:spPr>
        </p:pic>
        <p:sp>
          <p:nvSpPr>
            <p:cNvPr id="18" name="矩形 17">
              <a:extLst>
                <a:ext uri="{FF2B5EF4-FFF2-40B4-BE49-F238E27FC236}">
                  <a16:creationId xmlns:a16="http://schemas.microsoft.com/office/drawing/2014/main" id="{4D6BE784-25C5-37C0-351D-C4EEE1B54C40}"/>
                </a:ext>
              </a:extLst>
            </p:cNvPr>
            <p:cNvSpPr/>
            <p:nvPr userDrawn="1"/>
          </p:nvSpPr>
          <p:spPr>
            <a:xfrm>
              <a:off x="0" y="2823210"/>
              <a:ext cx="12192000" cy="4046224"/>
            </a:xfrm>
            <a:prstGeom prst="rect">
              <a:avLst/>
            </a:prstGeom>
            <a:solidFill>
              <a:schemeClr val="bg1">
                <a:alpha val="5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 name="标题占位符 1">
            <a:extLst>
              <a:ext uri="{FF2B5EF4-FFF2-40B4-BE49-F238E27FC236}">
                <a16:creationId xmlns:a16="http://schemas.microsoft.com/office/drawing/2014/main" id="{CDDD5C83-4DF3-4112-E273-EE8C9786D90E}"/>
              </a:ext>
            </a:extLst>
          </p:cNvPr>
          <p:cNvSpPr>
            <a:spLocks noGrp="1"/>
          </p:cNvSpPr>
          <p:nvPr>
            <p:ph type="title"/>
          </p:nvPr>
        </p:nvSpPr>
        <p:spPr>
          <a:xfrm>
            <a:off x="541020" y="6826"/>
            <a:ext cx="11650980" cy="662782"/>
          </a:xfrm>
          <a:prstGeom prst="rect">
            <a:avLst/>
          </a:prstGeom>
        </p:spPr>
        <p:txBody>
          <a:bodyPr vert="horz" lIns="91440" tIns="45720" rIns="91440" bIns="45720" rtlCol="0" anchor="ctr">
            <a:normAutofit/>
          </a:bodyPr>
          <a:lstStyle/>
          <a:p>
            <a:r>
              <a:rPr lang="zh-CN" altLang="en-US"/>
              <a:t>单击此处编辑母版标题样式</a:t>
            </a:r>
            <a:endParaRPr lang="zh-CN" altLang="en-US" dirty="0"/>
          </a:p>
        </p:txBody>
      </p:sp>
      <p:sp>
        <p:nvSpPr>
          <p:cNvPr id="3" name="内容占位符 2">
            <a:extLst>
              <a:ext uri="{FF2B5EF4-FFF2-40B4-BE49-F238E27FC236}">
                <a16:creationId xmlns:a16="http://schemas.microsoft.com/office/drawing/2014/main" id="{5BC57549-1377-1308-C899-C4200C56E9E9}"/>
              </a:ext>
            </a:extLst>
          </p:cNvPr>
          <p:cNvSpPr>
            <a:spLocks noGrp="1"/>
          </p:cNvSpPr>
          <p:nvPr>
            <p:ph idx="1" hasCustomPrompt="1"/>
          </p:nvPr>
        </p:nvSpPr>
        <p:spPr/>
        <p:txBody>
          <a:bodyPr/>
          <a:lstStyle>
            <a:lvl1pPr>
              <a:defRPr sz="3200">
                <a:solidFill>
                  <a:srgbClr val="2F5597"/>
                </a:solidFill>
              </a:defRPr>
            </a:lvl1pPr>
            <a:lvl2pPr>
              <a:defRPr sz="2800">
                <a:solidFill>
                  <a:srgbClr val="2F5597"/>
                </a:solidFill>
              </a:defRPr>
            </a:lvl2pPr>
            <a:lvl3pPr>
              <a:defRPr sz="2400">
                <a:solidFill>
                  <a:srgbClr val="2F5597"/>
                </a:solidFill>
              </a:defRPr>
            </a:lvl3pPr>
            <a:lvl4pPr>
              <a:defRPr sz="2400">
                <a:solidFill>
                  <a:schemeClr val="accent1">
                    <a:lumMod val="75000"/>
                  </a:schemeClr>
                </a:solidFill>
              </a:defRPr>
            </a:lvl4pPr>
          </a:lstStyle>
          <a:p>
            <a:pPr lvl="0"/>
            <a:r>
              <a:rPr lang="zh-CN" altLang="en-US" dirty="0"/>
              <a:t>一级标题</a:t>
            </a:r>
          </a:p>
          <a:p>
            <a:pPr lvl="1"/>
            <a:r>
              <a:rPr lang="zh-CN" altLang="en-US" dirty="0"/>
              <a:t>二级标题</a:t>
            </a:r>
          </a:p>
          <a:p>
            <a:pPr lvl="2"/>
            <a:r>
              <a:rPr lang="zh-CN" altLang="en-US" dirty="0"/>
              <a:t>三级标题</a:t>
            </a:r>
          </a:p>
        </p:txBody>
      </p:sp>
      <p:sp>
        <p:nvSpPr>
          <p:cNvPr id="8" name="灯片编号占位符 6">
            <a:extLst>
              <a:ext uri="{FF2B5EF4-FFF2-40B4-BE49-F238E27FC236}">
                <a16:creationId xmlns:a16="http://schemas.microsoft.com/office/drawing/2014/main" id="{68452FB3-A5EC-64BE-3BF3-9BF67E719F8A}"/>
              </a:ext>
            </a:extLst>
          </p:cNvPr>
          <p:cNvSpPr>
            <a:spLocks noGrp="1"/>
          </p:cNvSpPr>
          <p:nvPr>
            <p:ph type="sldNum" sz="quarter" idx="4"/>
          </p:nvPr>
        </p:nvSpPr>
        <p:spPr>
          <a:xfrm>
            <a:off x="9178291" y="6311343"/>
            <a:ext cx="2743200" cy="365125"/>
          </a:xfrm>
          <a:prstGeom prst="rect">
            <a:avLst/>
          </a:prstGeom>
        </p:spPr>
        <p:txBody>
          <a:bodyPr vert="horz" lIns="91440" tIns="45720" rIns="91440" bIns="45720" rtlCol="0" anchor="ctr"/>
          <a:lstStyle>
            <a:lvl1pPr algn="r">
              <a:defRPr sz="1200">
                <a:solidFill>
                  <a:schemeClr val="bg1">
                    <a:lumMod val="95000"/>
                  </a:schemeClr>
                </a:solidFill>
                <a:latin typeface="微软雅黑" panose="020B0503020204020204" pitchFamily="34" charset="-122"/>
                <a:ea typeface="微软雅黑" panose="020B0503020204020204" pitchFamily="34" charset="-122"/>
              </a:defRPr>
            </a:lvl1pPr>
          </a:lstStyle>
          <a:p>
            <a:fld id="{4ABD14BD-504E-42EC-A2AB-5F7BAF221D6C}" type="slidenum">
              <a:rPr lang="zh-CN" altLang="en-US" smtClean="0"/>
              <a:pPr/>
              <a:t>‹#›</a:t>
            </a:fld>
            <a:endParaRPr lang="zh-CN" altLang="en-US"/>
          </a:p>
        </p:txBody>
      </p:sp>
    </p:spTree>
    <p:extLst>
      <p:ext uri="{BB962C8B-B14F-4D97-AF65-F5344CB8AC3E}">
        <p14:creationId xmlns:p14="http://schemas.microsoft.com/office/powerpoint/2010/main" val="10766903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标题和比较内容">
    <p:spTree>
      <p:nvGrpSpPr>
        <p:cNvPr id="1" name=""/>
        <p:cNvGrpSpPr/>
        <p:nvPr/>
      </p:nvGrpSpPr>
      <p:grpSpPr>
        <a:xfrm>
          <a:off x="0" y="0"/>
          <a:ext cx="0" cy="0"/>
          <a:chOff x="0" y="0"/>
          <a:chExt cx="0" cy="0"/>
        </a:xfrm>
      </p:grpSpPr>
      <p:grpSp>
        <p:nvGrpSpPr>
          <p:cNvPr id="16" name="组合 15">
            <a:extLst>
              <a:ext uri="{FF2B5EF4-FFF2-40B4-BE49-F238E27FC236}">
                <a16:creationId xmlns:a16="http://schemas.microsoft.com/office/drawing/2014/main" id="{5331B5B5-5011-E5B7-E9C3-F8B8D77BC4AE}"/>
              </a:ext>
            </a:extLst>
          </p:cNvPr>
          <p:cNvGrpSpPr/>
          <p:nvPr userDrawn="1"/>
        </p:nvGrpSpPr>
        <p:grpSpPr>
          <a:xfrm>
            <a:off x="0" y="1657350"/>
            <a:ext cx="12192000" cy="5212084"/>
            <a:chOff x="0" y="1657350"/>
            <a:chExt cx="12192000" cy="5212084"/>
          </a:xfrm>
        </p:grpSpPr>
        <p:pic>
          <p:nvPicPr>
            <p:cNvPr id="14" name="图片 13">
              <a:extLst>
                <a:ext uri="{FF2B5EF4-FFF2-40B4-BE49-F238E27FC236}">
                  <a16:creationId xmlns:a16="http://schemas.microsoft.com/office/drawing/2014/main" id="{9F9D7CE4-CCF5-2DFF-9AD5-33B1E1F2D97C}"/>
                </a:ext>
              </a:extLst>
            </p:cNvPr>
            <p:cNvPicPr>
              <a:picLocks noChangeAspect="1"/>
            </p:cNvPicPr>
            <p:nvPr userDrawn="1"/>
          </p:nvPicPr>
          <p:blipFill>
            <a:blip r:embed="rId2">
              <a:extLst>
                <a:ext uri="{BEBA8EAE-BF5A-486C-A8C5-ECC9F3942E4B}">
                  <a14:imgProps xmlns:a14="http://schemas.microsoft.com/office/drawing/2010/main">
                    <a14:imgLayer r:embed="rId3">
                      <a14:imgEffect>
                        <a14:artisticPaintBrush/>
                      </a14:imgEffect>
                    </a14:imgLayer>
                  </a14:imgProps>
                </a:ext>
                <a:ext uri="{28A0092B-C50C-407E-A947-70E740481C1C}">
                  <a14:useLocalDpi xmlns:a14="http://schemas.microsoft.com/office/drawing/2010/main" val="0"/>
                </a:ext>
              </a:extLst>
            </a:blip>
            <a:stretch>
              <a:fillRect/>
            </a:stretch>
          </p:blipFill>
          <p:spPr>
            <a:xfrm>
              <a:off x="0" y="1657350"/>
              <a:ext cx="12192000" cy="5207476"/>
            </a:xfrm>
            <a:prstGeom prst="rect">
              <a:avLst/>
            </a:prstGeom>
          </p:spPr>
        </p:pic>
        <p:sp>
          <p:nvSpPr>
            <p:cNvPr id="15" name="矩形 14">
              <a:extLst>
                <a:ext uri="{FF2B5EF4-FFF2-40B4-BE49-F238E27FC236}">
                  <a16:creationId xmlns:a16="http://schemas.microsoft.com/office/drawing/2014/main" id="{077499E2-9F90-B003-7BD2-F9D870619CC1}"/>
                </a:ext>
              </a:extLst>
            </p:cNvPr>
            <p:cNvSpPr/>
            <p:nvPr userDrawn="1"/>
          </p:nvSpPr>
          <p:spPr>
            <a:xfrm>
              <a:off x="0" y="2823210"/>
              <a:ext cx="12192000" cy="4046224"/>
            </a:xfrm>
            <a:prstGeom prst="rect">
              <a:avLst/>
            </a:prstGeom>
            <a:solidFill>
              <a:schemeClr val="bg1">
                <a:alpha val="5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13" name="图片 12">
            <a:extLst>
              <a:ext uri="{FF2B5EF4-FFF2-40B4-BE49-F238E27FC236}">
                <a16:creationId xmlns:a16="http://schemas.microsoft.com/office/drawing/2014/main" id="{DCD5D946-4A4F-1ED9-0E35-F0EDD2EB1827}"/>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0" y="0"/>
            <a:ext cx="10894496" cy="1987468"/>
          </a:xfrm>
          <a:prstGeom prst="rect">
            <a:avLst/>
          </a:prstGeom>
        </p:spPr>
      </p:pic>
      <p:sp>
        <p:nvSpPr>
          <p:cNvPr id="4" name="内容占位符 3">
            <a:extLst>
              <a:ext uri="{FF2B5EF4-FFF2-40B4-BE49-F238E27FC236}">
                <a16:creationId xmlns:a16="http://schemas.microsoft.com/office/drawing/2014/main" id="{2FAB0E7E-6947-3D38-E752-CB13A2398E95}"/>
              </a:ext>
            </a:extLst>
          </p:cNvPr>
          <p:cNvSpPr>
            <a:spLocks noGrp="1"/>
          </p:cNvSpPr>
          <p:nvPr>
            <p:ph sz="half" idx="2" hasCustomPrompt="1"/>
          </p:nvPr>
        </p:nvSpPr>
        <p:spPr>
          <a:xfrm>
            <a:off x="270510" y="804704"/>
            <a:ext cx="5364481" cy="5207476"/>
          </a:xfrm>
        </p:spPr>
        <p:txBody>
          <a:bodyPr/>
          <a:lstStyle/>
          <a:p>
            <a:pPr lvl="0"/>
            <a:r>
              <a:rPr lang="zh-CN" altLang="en-US" dirty="0"/>
              <a:t>一级标题</a:t>
            </a:r>
          </a:p>
          <a:p>
            <a:pPr lvl="1"/>
            <a:r>
              <a:rPr lang="zh-CN" altLang="en-US" dirty="0"/>
              <a:t>二级标题</a:t>
            </a:r>
          </a:p>
          <a:p>
            <a:pPr lvl="2"/>
            <a:r>
              <a:rPr lang="zh-CN" altLang="en-US" dirty="0"/>
              <a:t>三级标题</a:t>
            </a:r>
          </a:p>
          <a:p>
            <a:pPr lvl="2"/>
            <a:endParaRPr lang="zh-CN" altLang="en-US" dirty="0"/>
          </a:p>
        </p:txBody>
      </p:sp>
      <p:sp>
        <p:nvSpPr>
          <p:cNvPr id="6" name="内容占位符 5">
            <a:extLst>
              <a:ext uri="{FF2B5EF4-FFF2-40B4-BE49-F238E27FC236}">
                <a16:creationId xmlns:a16="http://schemas.microsoft.com/office/drawing/2014/main" id="{9405B5EC-0BD8-8A12-B164-D066FD3CDA96}"/>
              </a:ext>
            </a:extLst>
          </p:cNvPr>
          <p:cNvSpPr>
            <a:spLocks noGrp="1"/>
          </p:cNvSpPr>
          <p:nvPr>
            <p:ph sz="quarter" idx="4" hasCustomPrompt="1"/>
          </p:nvPr>
        </p:nvSpPr>
        <p:spPr>
          <a:xfrm>
            <a:off x="6000751" y="804704"/>
            <a:ext cx="5920739" cy="5207476"/>
          </a:xfrm>
        </p:spPr>
        <p:txBody>
          <a:bodyPr/>
          <a:lstStyle/>
          <a:p>
            <a:pPr lvl="0"/>
            <a:r>
              <a:rPr lang="zh-CN" altLang="en-US" dirty="0"/>
              <a:t>一级标题</a:t>
            </a:r>
          </a:p>
          <a:p>
            <a:pPr lvl="1"/>
            <a:r>
              <a:rPr lang="zh-CN" altLang="en-US" dirty="0"/>
              <a:t>二级标题</a:t>
            </a:r>
          </a:p>
          <a:p>
            <a:pPr lvl="2"/>
            <a:r>
              <a:rPr lang="zh-CN" altLang="en-US" dirty="0"/>
              <a:t>三级标题</a:t>
            </a:r>
          </a:p>
        </p:txBody>
      </p:sp>
      <p:sp>
        <p:nvSpPr>
          <p:cNvPr id="2" name="标题占位符 1">
            <a:extLst>
              <a:ext uri="{FF2B5EF4-FFF2-40B4-BE49-F238E27FC236}">
                <a16:creationId xmlns:a16="http://schemas.microsoft.com/office/drawing/2014/main" id="{23C37A6F-817C-92B1-88E7-09099749A8CE}"/>
              </a:ext>
            </a:extLst>
          </p:cNvPr>
          <p:cNvSpPr>
            <a:spLocks noGrp="1"/>
          </p:cNvSpPr>
          <p:nvPr>
            <p:ph type="title"/>
          </p:nvPr>
        </p:nvSpPr>
        <p:spPr>
          <a:xfrm>
            <a:off x="541020" y="6826"/>
            <a:ext cx="11650980" cy="662782"/>
          </a:xfrm>
          <a:prstGeom prst="rect">
            <a:avLst/>
          </a:prstGeom>
        </p:spPr>
        <p:txBody>
          <a:bodyPr vert="horz" lIns="91440" tIns="45720" rIns="91440" bIns="45720" rtlCol="0" anchor="ctr">
            <a:normAutofit/>
          </a:bodyPr>
          <a:lstStyle/>
          <a:p>
            <a:r>
              <a:rPr lang="zh-CN" altLang="en-US"/>
              <a:t>单击此处编辑母版标题样式</a:t>
            </a:r>
            <a:endParaRPr lang="zh-CN" altLang="en-US" dirty="0"/>
          </a:p>
        </p:txBody>
      </p:sp>
      <p:sp>
        <p:nvSpPr>
          <p:cNvPr id="5" name="灯片编号占位符 6">
            <a:extLst>
              <a:ext uri="{FF2B5EF4-FFF2-40B4-BE49-F238E27FC236}">
                <a16:creationId xmlns:a16="http://schemas.microsoft.com/office/drawing/2014/main" id="{BD8FF8CF-E677-67C6-AB4E-A6BDDA8534BA}"/>
              </a:ext>
            </a:extLst>
          </p:cNvPr>
          <p:cNvSpPr>
            <a:spLocks noGrp="1"/>
          </p:cNvSpPr>
          <p:nvPr>
            <p:ph type="sldNum" sz="quarter" idx="10"/>
          </p:nvPr>
        </p:nvSpPr>
        <p:spPr>
          <a:xfrm>
            <a:off x="9178291" y="6311343"/>
            <a:ext cx="2743200" cy="365125"/>
          </a:xfrm>
          <a:prstGeom prst="rect">
            <a:avLst/>
          </a:prstGeom>
        </p:spPr>
        <p:txBody>
          <a:bodyPr vert="horz" lIns="91440" tIns="45720" rIns="91440" bIns="45720" rtlCol="0" anchor="ctr"/>
          <a:lstStyle>
            <a:lvl1pPr algn="r">
              <a:defRPr sz="1200">
                <a:solidFill>
                  <a:schemeClr val="bg1">
                    <a:lumMod val="95000"/>
                  </a:schemeClr>
                </a:solidFill>
                <a:latin typeface="微软雅黑" panose="020B0503020204020204" pitchFamily="34" charset="-122"/>
                <a:ea typeface="微软雅黑" panose="020B0503020204020204" pitchFamily="34" charset="-122"/>
              </a:defRPr>
            </a:lvl1pPr>
          </a:lstStyle>
          <a:p>
            <a:fld id="{4ABD14BD-504E-42EC-A2AB-5F7BAF221D6C}" type="slidenum">
              <a:rPr lang="zh-CN" altLang="en-US" smtClean="0"/>
              <a:pPr/>
              <a:t>‹#›</a:t>
            </a:fld>
            <a:endParaRPr lang="zh-CN" altLang="en-US"/>
          </a:p>
        </p:txBody>
      </p:sp>
    </p:spTree>
    <p:extLst>
      <p:ext uri="{BB962C8B-B14F-4D97-AF65-F5344CB8AC3E}">
        <p14:creationId xmlns:p14="http://schemas.microsoft.com/office/powerpoint/2010/main" val="35072423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空白页">
    <p:spTree>
      <p:nvGrpSpPr>
        <p:cNvPr id="1" name=""/>
        <p:cNvGrpSpPr/>
        <p:nvPr/>
      </p:nvGrpSpPr>
      <p:grpSpPr>
        <a:xfrm>
          <a:off x="0" y="0"/>
          <a:ext cx="0" cy="0"/>
          <a:chOff x="0" y="0"/>
          <a:chExt cx="0" cy="0"/>
        </a:xfrm>
      </p:grpSpPr>
      <p:grpSp>
        <p:nvGrpSpPr>
          <p:cNvPr id="16" name="组合 15">
            <a:extLst>
              <a:ext uri="{FF2B5EF4-FFF2-40B4-BE49-F238E27FC236}">
                <a16:creationId xmlns:a16="http://schemas.microsoft.com/office/drawing/2014/main" id="{5331B5B5-5011-E5B7-E9C3-F8B8D77BC4AE}"/>
              </a:ext>
            </a:extLst>
          </p:cNvPr>
          <p:cNvGrpSpPr/>
          <p:nvPr userDrawn="1"/>
        </p:nvGrpSpPr>
        <p:grpSpPr>
          <a:xfrm>
            <a:off x="0" y="1657350"/>
            <a:ext cx="12192000" cy="5212084"/>
            <a:chOff x="0" y="1657350"/>
            <a:chExt cx="12192000" cy="5212084"/>
          </a:xfrm>
        </p:grpSpPr>
        <p:pic>
          <p:nvPicPr>
            <p:cNvPr id="14" name="图片 13">
              <a:extLst>
                <a:ext uri="{FF2B5EF4-FFF2-40B4-BE49-F238E27FC236}">
                  <a16:creationId xmlns:a16="http://schemas.microsoft.com/office/drawing/2014/main" id="{9F9D7CE4-CCF5-2DFF-9AD5-33B1E1F2D97C}"/>
                </a:ext>
              </a:extLst>
            </p:cNvPr>
            <p:cNvPicPr>
              <a:picLocks noChangeAspect="1"/>
            </p:cNvPicPr>
            <p:nvPr userDrawn="1"/>
          </p:nvPicPr>
          <p:blipFill>
            <a:blip r:embed="rId2">
              <a:extLst>
                <a:ext uri="{BEBA8EAE-BF5A-486C-A8C5-ECC9F3942E4B}">
                  <a14:imgProps xmlns:a14="http://schemas.microsoft.com/office/drawing/2010/main">
                    <a14:imgLayer r:embed="rId3">
                      <a14:imgEffect>
                        <a14:artisticPaintBrush/>
                      </a14:imgEffect>
                    </a14:imgLayer>
                  </a14:imgProps>
                </a:ext>
                <a:ext uri="{28A0092B-C50C-407E-A947-70E740481C1C}">
                  <a14:useLocalDpi xmlns:a14="http://schemas.microsoft.com/office/drawing/2010/main" val="0"/>
                </a:ext>
              </a:extLst>
            </a:blip>
            <a:stretch>
              <a:fillRect/>
            </a:stretch>
          </p:blipFill>
          <p:spPr>
            <a:xfrm>
              <a:off x="0" y="1657350"/>
              <a:ext cx="12192000" cy="5207476"/>
            </a:xfrm>
            <a:prstGeom prst="rect">
              <a:avLst/>
            </a:prstGeom>
          </p:spPr>
        </p:pic>
        <p:sp>
          <p:nvSpPr>
            <p:cNvPr id="15" name="矩形 14">
              <a:extLst>
                <a:ext uri="{FF2B5EF4-FFF2-40B4-BE49-F238E27FC236}">
                  <a16:creationId xmlns:a16="http://schemas.microsoft.com/office/drawing/2014/main" id="{077499E2-9F90-B003-7BD2-F9D870619CC1}"/>
                </a:ext>
              </a:extLst>
            </p:cNvPr>
            <p:cNvSpPr/>
            <p:nvPr userDrawn="1"/>
          </p:nvSpPr>
          <p:spPr>
            <a:xfrm>
              <a:off x="0" y="2823210"/>
              <a:ext cx="12192000" cy="4046224"/>
            </a:xfrm>
            <a:prstGeom prst="rect">
              <a:avLst/>
            </a:prstGeom>
            <a:solidFill>
              <a:schemeClr val="bg1">
                <a:alpha val="5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13" name="图片 12">
            <a:extLst>
              <a:ext uri="{FF2B5EF4-FFF2-40B4-BE49-F238E27FC236}">
                <a16:creationId xmlns:a16="http://schemas.microsoft.com/office/drawing/2014/main" id="{DCD5D946-4A4F-1ED9-0E35-F0EDD2EB1827}"/>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0" y="0"/>
            <a:ext cx="10894496" cy="1987468"/>
          </a:xfrm>
          <a:prstGeom prst="rect">
            <a:avLst/>
          </a:prstGeom>
        </p:spPr>
      </p:pic>
      <p:sp>
        <p:nvSpPr>
          <p:cNvPr id="5" name="灯片编号占位符 6">
            <a:extLst>
              <a:ext uri="{FF2B5EF4-FFF2-40B4-BE49-F238E27FC236}">
                <a16:creationId xmlns:a16="http://schemas.microsoft.com/office/drawing/2014/main" id="{BD8FF8CF-E677-67C6-AB4E-A6BDDA8534BA}"/>
              </a:ext>
            </a:extLst>
          </p:cNvPr>
          <p:cNvSpPr>
            <a:spLocks noGrp="1"/>
          </p:cNvSpPr>
          <p:nvPr>
            <p:ph type="sldNum" sz="quarter" idx="10"/>
          </p:nvPr>
        </p:nvSpPr>
        <p:spPr>
          <a:xfrm>
            <a:off x="9178291" y="6311343"/>
            <a:ext cx="2743200" cy="365125"/>
          </a:xfrm>
          <a:prstGeom prst="rect">
            <a:avLst/>
          </a:prstGeom>
        </p:spPr>
        <p:txBody>
          <a:bodyPr vert="horz" lIns="91440" tIns="45720" rIns="91440" bIns="45720" rtlCol="0" anchor="ctr"/>
          <a:lstStyle>
            <a:lvl1pPr algn="r">
              <a:defRPr sz="1200">
                <a:solidFill>
                  <a:schemeClr val="bg1">
                    <a:lumMod val="95000"/>
                  </a:schemeClr>
                </a:solidFill>
                <a:latin typeface="微软雅黑" panose="020B0503020204020204" pitchFamily="34" charset="-122"/>
                <a:ea typeface="微软雅黑" panose="020B0503020204020204" pitchFamily="34" charset="-122"/>
              </a:defRPr>
            </a:lvl1pPr>
          </a:lstStyle>
          <a:p>
            <a:fld id="{4ABD14BD-504E-42EC-A2AB-5F7BAF221D6C}" type="slidenum">
              <a:rPr lang="zh-CN" altLang="en-US" smtClean="0"/>
              <a:pPr/>
              <a:t>‹#›</a:t>
            </a:fld>
            <a:endParaRPr lang="zh-CN" altLang="en-US"/>
          </a:p>
        </p:txBody>
      </p:sp>
    </p:spTree>
    <p:extLst>
      <p:ext uri="{BB962C8B-B14F-4D97-AF65-F5344CB8AC3E}">
        <p14:creationId xmlns:p14="http://schemas.microsoft.com/office/powerpoint/2010/main" val="6337374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空白页（无题头页码）">
    <p:spTree>
      <p:nvGrpSpPr>
        <p:cNvPr id="1" name=""/>
        <p:cNvGrpSpPr/>
        <p:nvPr/>
      </p:nvGrpSpPr>
      <p:grpSpPr>
        <a:xfrm>
          <a:off x="0" y="0"/>
          <a:ext cx="0" cy="0"/>
          <a:chOff x="0" y="0"/>
          <a:chExt cx="0" cy="0"/>
        </a:xfrm>
      </p:grpSpPr>
      <p:grpSp>
        <p:nvGrpSpPr>
          <p:cNvPr id="6" name="组合 5">
            <a:extLst>
              <a:ext uri="{FF2B5EF4-FFF2-40B4-BE49-F238E27FC236}">
                <a16:creationId xmlns:a16="http://schemas.microsoft.com/office/drawing/2014/main" id="{4FC9EE5B-B788-51F5-CBD3-DD8EDF521B83}"/>
              </a:ext>
            </a:extLst>
          </p:cNvPr>
          <p:cNvGrpSpPr/>
          <p:nvPr userDrawn="1"/>
        </p:nvGrpSpPr>
        <p:grpSpPr>
          <a:xfrm>
            <a:off x="0" y="1657350"/>
            <a:ext cx="12192000" cy="5212084"/>
            <a:chOff x="0" y="1657350"/>
            <a:chExt cx="12192000" cy="5212084"/>
          </a:xfrm>
        </p:grpSpPr>
        <p:pic>
          <p:nvPicPr>
            <p:cNvPr id="7" name="图片 6">
              <a:extLst>
                <a:ext uri="{FF2B5EF4-FFF2-40B4-BE49-F238E27FC236}">
                  <a16:creationId xmlns:a16="http://schemas.microsoft.com/office/drawing/2014/main" id="{9D8A08C6-FD02-1EFB-898D-62FC4271ECB7}"/>
                </a:ext>
              </a:extLst>
            </p:cNvPr>
            <p:cNvPicPr>
              <a:picLocks noChangeAspect="1"/>
            </p:cNvPicPr>
            <p:nvPr userDrawn="1"/>
          </p:nvPicPr>
          <p:blipFill>
            <a:blip r:embed="rId2">
              <a:extLst>
                <a:ext uri="{BEBA8EAE-BF5A-486C-A8C5-ECC9F3942E4B}">
                  <a14:imgProps xmlns:a14="http://schemas.microsoft.com/office/drawing/2010/main">
                    <a14:imgLayer r:embed="rId3">
                      <a14:imgEffect>
                        <a14:artisticPaintBrush/>
                      </a14:imgEffect>
                    </a14:imgLayer>
                  </a14:imgProps>
                </a:ext>
                <a:ext uri="{28A0092B-C50C-407E-A947-70E740481C1C}">
                  <a14:useLocalDpi xmlns:a14="http://schemas.microsoft.com/office/drawing/2010/main" val="0"/>
                </a:ext>
              </a:extLst>
            </a:blip>
            <a:stretch>
              <a:fillRect/>
            </a:stretch>
          </p:blipFill>
          <p:spPr>
            <a:xfrm>
              <a:off x="0" y="1657350"/>
              <a:ext cx="12192000" cy="5207476"/>
            </a:xfrm>
            <a:prstGeom prst="rect">
              <a:avLst/>
            </a:prstGeom>
          </p:spPr>
        </p:pic>
        <p:sp>
          <p:nvSpPr>
            <p:cNvPr id="8" name="矩形 7">
              <a:extLst>
                <a:ext uri="{FF2B5EF4-FFF2-40B4-BE49-F238E27FC236}">
                  <a16:creationId xmlns:a16="http://schemas.microsoft.com/office/drawing/2014/main" id="{A6BA4D1C-3C58-19A2-3199-37843C7107B6}"/>
                </a:ext>
              </a:extLst>
            </p:cNvPr>
            <p:cNvSpPr/>
            <p:nvPr userDrawn="1"/>
          </p:nvSpPr>
          <p:spPr>
            <a:xfrm>
              <a:off x="0" y="2823210"/>
              <a:ext cx="12192000" cy="4046224"/>
            </a:xfrm>
            <a:prstGeom prst="rect">
              <a:avLst/>
            </a:prstGeom>
            <a:solidFill>
              <a:schemeClr val="bg1">
                <a:alpha val="5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645032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xAndClipArt">
  <p:cSld name="标题，文本与剪贴画">
    <p:spTree>
      <p:nvGrpSpPr>
        <p:cNvPr id="1" name=""/>
        <p:cNvGrpSpPr/>
        <p:nvPr/>
      </p:nvGrpSpPr>
      <p:grpSpPr>
        <a:xfrm>
          <a:off x="0" y="0"/>
          <a:ext cx="0" cy="0"/>
          <a:chOff x="0" y="0"/>
          <a:chExt cx="0" cy="0"/>
        </a:xfrm>
      </p:grpSpPr>
      <p:sp>
        <p:nvSpPr>
          <p:cNvPr id="2" name="标题 1"/>
          <p:cNvSpPr>
            <a:spLocks noGrp="1"/>
          </p:cNvSpPr>
          <p:nvPr>
            <p:ph type="title"/>
          </p:nvPr>
        </p:nvSpPr>
        <p:spPr>
          <a:xfrm>
            <a:off x="1117600" y="228600"/>
            <a:ext cx="10363200" cy="990600"/>
          </a:xfrm>
        </p:spPr>
        <p:txBody>
          <a:bodyPr/>
          <a:lstStyle/>
          <a:p>
            <a:r>
              <a:rPr lang="zh-CN" altLang="en-US"/>
              <a:t>单击此处编辑母版标题样式</a:t>
            </a:r>
          </a:p>
        </p:txBody>
      </p:sp>
      <p:sp>
        <p:nvSpPr>
          <p:cNvPr id="3" name="文本占位符 2"/>
          <p:cNvSpPr>
            <a:spLocks noGrp="1"/>
          </p:cNvSpPr>
          <p:nvPr>
            <p:ph type="body" sz="half" idx="1"/>
          </p:nvPr>
        </p:nvSpPr>
        <p:spPr>
          <a:xfrm>
            <a:off x="1016000" y="1524000"/>
            <a:ext cx="5080000" cy="47244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剪贴画占位符 3"/>
          <p:cNvSpPr>
            <a:spLocks noGrp="1"/>
          </p:cNvSpPr>
          <p:nvPr>
            <p:ph type="clipArt" sz="half" idx="2"/>
          </p:nvPr>
        </p:nvSpPr>
        <p:spPr>
          <a:xfrm>
            <a:off x="6299200" y="1524000"/>
            <a:ext cx="5080000" cy="4724400"/>
          </a:xfrm>
        </p:spPr>
        <p:txBody>
          <a:bodyPr/>
          <a:lstStyle/>
          <a:p>
            <a:pPr lvl="0"/>
            <a:endParaRPr lang="zh-CN" altLang="en-US" noProof="0"/>
          </a:p>
        </p:txBody>
      </p:sp>
      <p:sp>
        <p:nvSpPr>
          <p:cNvPr id="5" name="Rectangle 31"/>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32"/>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33"/>
          <p:cNvSpPr>
            <a:spLocks noGrp="1" noChangeArrowheads="1"/>
          </p:cNvSpPr>
          <p:nvPr>
            <p:ph type="sldNum" sz="quarter" idx="12"/>
          </p:nvPr>
        </p:nvSpPr>
        <p:spPr>
          <a:ln/>
        </p:spPr>
        <p:txBody>
          <a:bodyPr/>
          <a:lstStyle>
            <a:lvl1pPr>
              <a:defRPr/>
            </a:lvl1pPr>
          </a:lstStyle>
          <a:p>
            <a:pPr>
              <a:defRPr/>
            </a:pPr>
            <a:r>
              <a:rPr lang="en-US" altLang="zh-CN"/>
              <a:t>8--</a:t>
            </a:r>
            <a:fld id="{DA1C801E-EA41-44E3-954F-244DD0226AE9}" type="slidenum">
              <a:rPr lang="en-US" altLang="zh-CN"/>
              <a:pPr>
                <a:defRPr/>
              </a:pPr>
              <a:t>‹#›</a:t>
            </a:fld>
            <a:endParaRPr lang="en-US" altLang="zh-CN"/>
          </a:p>
        </p:txBody>
      </p:sp>
    </p:spTree>
    <p:extLst>
      <p:ext uri="{BB962C8B-B14F-4D97-AF65-F5344CB8AC3E}">
        <p14:creationId xmlns:p14="http://schemas.microsoft.com/office/powerpoint/2010/main" val="4034996424"/>
      </p:ext>
    </p:extLst>
  </p:cSld>
  <p:clrMapOvr>
    <a:masterClrMapping/>
  </p:clrMapOvr>
  <p:transition>
    <p:wipe dir="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tbl">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1117600" y="228600"/>
            <a:ext cx="10363200" cy="990600"/>
          </a:xfrm>
        </p:spPr>
        <p:txBody>
          <a:bodyPr/>
          <a:lstStyle/>
          <a:p>
            <a:r>
              <a:rPr lang="zh-CN" altLang="en-US"/>
              <a:t>单击此处编辑母版标题样式</a:t>
            </a:r>
          </a:p>
        </p:txBody>
      </p:sp>
      <p:sp>
        <p:nvSpPr>
          <p:cNvPr id="3" name="表格占位符 2"/>
          <p:cNvSpPr>
            <a:spLocks noGrp="1"/>
          </p:cNvSpPr>
          <p:nvPr>
            <p:ph type="tbl" idx="1"/>
          </p:nvPr>
        </p:nvSpPr>
        <p:spPr>
          <a:xfrm>
            <a:off x="1016000" y="1524000"/>
            <a:ext cx="10363200" cy="4724400"/>
          </a:xfrm>
        </p:spPr>
        <p:txBody>
          <a:bodyPr/>
          <a:lstStyle/>
          <a:p>
            <a:pPr lvl="0"/>
            <a:endParaRPr lang="zh-CN" altLang="en-US" noProof="0"/>
          </a:p>
        </p:txBody>
      </p:sp>
      <p:sp>
        <p:nvSpPr>
          <p:cNvPr id="4" name="Rectangle 31"/>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32"/>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33"/>
          <p:cNvSpPr>
            <a:spLocks noGrp="1" noChangeArrowheads="1"/>
          </p:cNvSpPr>
          <p:nvPr>
            <p:ph type="sldNum" sz="quarter" idx="12"/>
          </p:nvPr>
        </p:nvSpPr>
        <p:spPr>
          <a:ln/>
        </p:spPr>
        <p:txBody>
          <a:bodyPr/>
          <a:lstStyle>
            <a:lvl1pPr>
              <a:defRPr/>
            </a:lvl1pPr>
          </a:lstStyle>
          <a:p>
            <a:pPr>
              <a:defRPr/>
            </a:pPr>
            <a:r>
              <a:rPr lang="en-US" altLang="zh-CN"/>
              <a:t>8--</a:t>
            </a:r>
            <a:fld id="{7AD673A2-9DFB-46A7-A2A7-A8F1AB171D7A}" type="slidenum">
              <a:rPr lang="en-US" altLang="zh-CN"/>
              <a:pPr>
                <a:defRPr/>
              </a:pPr>
              <a:t>‹#›</a:t>
            </a:fld>
            <a:endParaRPr lang="en-US" altLang="zh-CN"/>
          </a:p>
        </p:txBody>
      </p:sp>
    </p:spTree>
    <p:extLst>
      <p:ext uri="{BB962C8B-B14F-4D97-AF65-F5344CB8AC3E}">
        <p14:creationId xmlns:p14="http://schemas.microsoft.com/office/powerpoint/2010/main" val="2583084132"/>
      </p:ext>
    </p:extLst>
  </p:cSld>
  <p:clrMapOvr>
    <a:masterClrMapping/>
  </p:clrMapOvr>
  <p:transition>
    <p:wipe dir="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txAndTwoObj">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1117600" y="228600"/>
            <a:ext cx="10363200" cy="990600"/>
          </a:xfrm>
        </p:spPr>
        <p:txBody>
          <a:bodyPr/>
          <a:lstStyle/>
          <a:p>
            <a:r>
              <a:rPr lang="zh-CN" altLang="en-US"/>
              <a:t>单击此处编辑母版标题样式</a:t>
            </a:r>
          </a:p>
        </p:txBody>
      </p:sp>
      <p:sp>
        <p:nvSpPr>
          <p:cNvPr id="3" name="文本占位符 2"/>
          <p:cNvSpPr>
            <a:spLocks noGrp="1"/>
          </p:cNvSpPr>
          <p:nvPr>
            <p:ph type="body" sz="half" idx="1"/>
          </p:nvPr>
        </p:nvSpPr>
        <p:spPr>
          <a:xfrm>
            <a:off x="1016000" y="1524000"/>
            <a:ext cx="5080000" cy="47244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6299200" y="1524000"/>
            <a:ext cx="5080000" cy="22860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6299200" y="3962400"/>
            <a:ext cx="5080000" cy="22860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Rectangle 31"/>
          <p:cNvSpPr>
            <a:spLocks noGrp="1" noChangeArrowheads="1"/>
          </p:cNvSpPr>
          <p:nvPr>
            <p:ph type="dt" sz="half" idx="10"/>
          </p:nvPr>
        </p:nvSpPr>
        <p:spPr>
          <a:ln/>
        </p:spPr>
        <p:txBody>
          <a:bodyPr/>
          <a:lstStyle>
            <a:lvl1pPr>
              <a:defRPr/>
            </a:lvl1pPr>
          </a:lstStyle>
          <a:p>
            <a:pPr>
              <a:defRPr/>
            </a:pPr>
            <a:endParaRPr lang="en-US" altLang="zh-CN"/>
          </a:p>
        </p:txBody>
      </p:sp>
      <p:sp>
        <p:nvSpPr>
          <p:cNvPr id="7" name="Rectangle 32"/>
          <p:cNvSpPr>
            <a:spLocks noGrp="1" noChangeArrowheads="1"/>
          </p:cNvSpPr>
          <p:nvPr>
            <p:ph type="ftr" sz="quarter" idx="11"/>
          </p:nvPr>
        </p:nvSpPr>
        <p:spPr>
          <a:ln/>
        </p:spPr>
        <p:txBody>
          <a:bodyPr/>
          <a:lstStyle>
            <a:lvl1pPr>
              <a:defRPr/>
            </a:lvl1pPr>
          </a:lstStyle>
          <a:p>
            <a:pPr>
              <a:defRPr/>
            </a:pPr>
            <a:endParaRPr lang="en-US" altLang="zh-CN"/>
          </a:p>
        </p:txBody>
      </p:sp>
      <p:sp>
        <p:nvSpPr>
          <p:cNvPr id="8" name="Rectangle 33"/>
          <p:cNvSpPr>
            <a:spLocks noGrp="1" noChangeArrowheads="1"/>
          </p:cNvSpPr>
          <p:nvPr>
            <p:ph type="sldNum" sz="quarter" idx="12"/>
          </p:nvPr>
        </p:nvSpPr>
        <p:spPr>
          <a:ln/>
        </p:spPr>
        <p:txBody>
          <a:bodyPr/>
          <a:lstStyle>
            <a:lvl1pPr>
              <a:defRPr/>
            </a:lvl1pPr>
          </a:lstStyle>
          <a:p>
            <a:pPr>
              <a:defRPr/>
            </a:pPr>
            <a:r>
              <a:rPr lang="en-US" altLang="zh-CN"/>
              <a:t>8--</a:t>
            </a:r>
            <a:fld id="{C834DFC9-44FB-4CFC-A750-C8621DA4C3B9}" type="slidenum">
              <a:rPr lang="en-US" altLang="zh-CN"/>
              <a:pPr>
                <a:defRPr/>
              </a:pPr>
              <a:t>‹#›</a:t>
            </a:fld>
            <a:endParaRPr lang="en-US" altLang="zh-CN"/>
          </a:p>
        </p:txBody>
      </p:sp>
    </p:spTree>
    <p:extLst>
      <p:ext uri="{BB962C8B-B14F-4D97-AF65-F5344CB8AC3E}">
        <p14:creationId xmlns:p14="http://schemas.microsoft.com/office/powerpoint/2010/main" val="1115798536"/>
      </p:ext>
    </p:extLst>
  </p:cSld>
  <p:clrMapOvr>
    <a:masterClrMapping/>
  </p:clrMapOvr>
  <p:transition>
    <p:wipe dir="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1117600" y="228600"/>
            <a:ext cx="10363200" cy="990600"/>
          </a:xfrm>
        </p:spPr>
        <p:txBody>
          <a:bodyPr/>
          <a:lstStyle/>
          <a:p>
            <a:r>
              <a:rPr lang="zh-CN" altLang="en-US"/>
              <a:t>单击此处编辑母版标题样式</a:t>
            </a:r>
          </a:p>
        </p:txBody>
      </p:sp>
      <p:sp>
        <p:nvSpPr>
          <p:cNvPr id="3" name="文本占位符 2"/>
          <p:cNvSpPr>
            <a:spLocks noGrp="1"/>
          </p:cNvSpPr>
          <p:nvPr>
            <p:ph type="body" sz="half" idx="1"/>
          </p:nvPr>
        </p:nvSpPr>
        <p:spPr>
          <a:xfrm>
            <a:off x="1016000" y="1524000"/>
            <a:ext cx="5080000" cy="47244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299200" y="1524000"/>
            <a:ext cx="5080000" cy="47244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31"/>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32"/>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33"/>
          <p:cNvSpPr>
            <a:spLocks noGrp="1" noChangeArrowheads="1"/>
          </p:cNvSpPr>
          <p:nvPr>
            <p:ph type="sldNum" sz="quarter" idx="12"/>
          </p:nvPr>
        </p:nvSpPr>
        <p:spPr>
          <a:ln/>
        </p:spPr>
        <p:txBody>
          <a:bodyPr/>
          <a:lstStyle>
            <a:lvl1pPr>
              <a:defRPr/>
            </a:lvl1pPr>
          </a:lstStyle>
          <a:p>
            <a:pPr>
              <a:defRPr/>
            </a:pPr>
            <a:r>
              <a:rPr lang="en-US" altLang="zh-CN"/>
              <a:t>8--</a:t>
            </a:r>
            <a:fld id="{5F0B84DF-F7E3-4DFF-A968-C1B1CAE1A03F}" type="slidenum">
              <a:rPr lang="en-US" altLang="zh-CN"/>
              <a:pPr>
                <a:defRPr/>
              </a:pPr>
              <a:t>‹#›</a:t>
            </a:fld>
            <a:endParaRPr lang="en-US" altLang="zh-CN"/>
          </a:p>
        </p:txBody>
      </p:sp>
    </p:spTree>
    <p:extLst>
      <p:ext uri="{BB962C8B-B14F-4D97-AF65-F5344CB8AC3E}">
        <p14:creationId xmlns:p14="http://schemas.microsoft.com/office/powerpoint/2010/main" val="755028291"/>
      </p:ext>
    </p:extLst>
  </p:cSld>
  <p:clrMapOvr>
    <a:masterClrMapping/>
  </p:clrMapOvr>
  <p:transition>
    <p:wipe dir="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E09A9CA9-31DD-83B3-3E76-B30B001E4634}"/>
              </a:ext>
            </a:extLst>
          </p:cNvPr>
          <p:cNvSpPr>
            <a:spLocks noGrp="1"/>
          </p:cNvSpPr>
          <p:nvPr>
            <p:ph type="title"/>
          </p:nvPr>
        </p:nvSpPr>
        <p:spPr>
          <a:xfrm>
            <a:off x="541020" y="6826"/>
            <a:ext cx="11650980" cy="662782"/>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a:extLst>
              <a:ext uri="{FF2B5EF4-FFF2-40B4-BE49-F238E27FC236}">
                <a16:creationId xmlns:a16="http://schemas.microsoft.com/office/drawing/2014/main" id="{72491F11-3B28-CCCD-8457-E079270E01B7}"/>
              </a:ext>
            </a:extLst>
          </p:cNvPr>
          <p:cNvSpPr>
            <a:spLocks noGrp="1"/>
          </p:cNvSpPr>
          <p:nvPr>
            <p:ph type="body" idx="1"/>
          </p:nvPr>
        </p:nvSpPr>
        <p:spPr>
          <a:xfrm>
            <a:off x="270511" y="800100"/>
            <a:ext cx="11650980" cy="5333761"/>
          </a:xfrm>
          <a:prstGeom prst="rect">
            <a:avLst/>
          </a:prstGeom>
        </p:spPr>
        <p:txBody>
          <a:bodyPr vert="horz" lIns="91440" tIns="45720" rIns="91440" bIns="45720" rtlCol="0">
            <a:normAutofit/>
          </a:bodyPr>
          <a:lstStyle/>
          <a:p>
            <a:pPr lvl="0"/>
            <a:r>
              <a:rPr lang="zh-CN" altLang="en-US" dirty="0"/>
              <a:t>一级标题</a:t>
            </a:r>
          </a:p>
          <a:p>
            <a:pPr lvl="1"/>
            <a:r>
              <a:rPr lang="zh-CN" altLang="en-US" dirty="0"/>
              <a:t>二级标题</a:t>
            </a:r>
          </a:p>
          <a:p>
            <a:pPr lvl="2"/>
            <a:r>
              <a:rPr lang="zh-CN" altLang="en-US" dirty="0"/>
              <a:t>三级标题</a:t>
            </a:r>
          </a:p>
        </p:txBody>
      </p:sp>
      <p:sp>
        <p:nvSpPr>
          <p:cNvPr id="7" name="灯片编号占位符 6">
            <a:extLst>
              <a:ext uri="{FF2B5EF4-FFF2-40B4-BE49-F238E27FC236}">
                <a16:creationId xmlns:a16="http://schemas.microsoft.com/office/drawing/2014/main" id="{7D46468F-0755-E29B-F298-04DA71683A95}"/>
              </a:ext>
            </a:extLst>
          </p:cNvPr>
          <p:cNvSpPr>
            <a:spLocks noGrp="1"/>
          </p:cNvSpPr>
          <p:nvPr>
            <p:ph type="sldNum" sz="quarter" idx="4"/>
          </p:nvPr>
        </p:nvSpPr>
        <p:spPr>
          <a:xfrm>
            <a:off x="9178291" y="6311343"/>
            <a:ext cx="2743200" cy="365125"/>
          </a:xfrm>
          <a:prstGeom prst="rect">
            <a:avLst/>
          </a:prstGeom>
        </p:spPr>
        <p:txBody>
          <a:bodyPr vert="horz" lIns="91440" tIns="45720" rIns="91440" bIns="45720" rtlCol="0" anchor="ctr"/>
          <a:lstStyle>
            <a:lvl1pPr algn="r">
              <a:defRPr sz="1200">
                <a:solidFill>
                  <a:schemeClr val="bg1">
                    <a:lumMod val="95000"/>
                  </a:schemeClr>
                </a:solidFill>
                <a:latin typeface="微软雅黑" panose="020B0503020204020204" pitchFamily="34" charset="-122"/>
                <a:ea typeface="微软雅黑" panose="020B0503020204020204" pitchFamily="34" charset="-122"/>
              </a:defRPr>
            </a:lvl1pPr>
          </a:lstStyle>
          <a:p>
            <a:fld id="{4ABD14BD-504E-42EC-A2AB-5F7BAF221D6C}" type="slidenum">
              <a:rPr lang="zh-CN" altLang="en-US" smtClean="0"/>
              <a:pPr/>
              <a:t>‹#›</a:t>
            </a:fld>
            <a:endParaRPr lang="zh-CN" altLang="en-US"/>
          </a:p>
        </p:txBody>
      </p:sp>
    </p:spTree>
    <p:extLst>
      <p:ext uri="{BB962C8B-B14F-4D97-AF65-F5344CB8AC3E}">
        <p14:creationId xmlns:p14="http://schemas.microsoft.com/office/powerpoint/2010/main" val="274558065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3" r:id="rId3"/>
    <p:sldLayoutId id="2147483656" r:id="rId4"/>
    <p:sldLayoutId id="2147483655" r:id="rId5"/>
    <p:sldLayoutId id="2147483657" r:id="rId6"/>
    <p:sldLayoutId id="2147483658" r:id="rId7"/>
    <p:sldLayoutId id="2147483659" r:id="rId8"/>
    <p:sldLayoutId id="2147483660" r:id="rId9"/>
  </p:sldLayoutIdLst>
  <p:hf hdr="0" ftr="0" dt="0"/>
  <p:txStyles>
    <p:titleStyle>
      <a:lvl1pPr algn="l" defTabSz="685783" rtl="0" eaLnBrk="1" latinLnBrk="0" hangingPunct="1">
        <a:lnSpc>
          <a:spcPct val="90000"/>
        </a:lnSpc>
        <a:spcBef>
          <a:spcPct val="0"/>
        </a:spcBef>
        <a:buNone/>
        <a:defRPr sz="3200" kern="1200">
          <a:solidFill>
            <a:schemeClr val="accent1">
              <a:lumMod val="7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j-cs"/>
        </a:defRPr>
      </a:lvl1pPr>
    </p:titleStyle>
    <p:bodyStyle>
      <a:lvl1pPr marL="457200" indent="-457200" algn="l" defTabSz="685783" rtl="0" eaLnBrk="1" latinLnBrk="0" hangingPunct="1">
        <a:lnSpc>
          <a:spcPct val="100000"/>
        </a:lnSpc>
        <a:spcBef>
          <a:spcPts val="751"/>
        </a:spcBef>
        <a:spcAft>
          <a:spcPts val="225"/>
        </a:spcAft>
        <a:buSzPct val="80000"/>
        <a:buFont typeface="Wingdings" panose="05000000000000000000" pitchFamily="2" charset="2"/>
        <a:buChar char="n"/>
        <a:defRPr sz="3200" kern="1200">
          <a:solidFill>
            <a:srgbClr val="2F5597"/>
          </a:solidFill>
          <a:latin typeface="微软雅黑" panose="020B0503020204020204" pitchFamily="34" charset="-122"/>
          <a:ea typeface="微软雅黑" panose="020B0503020204020204" pitchFamily="34" charset="-122"/>
          <a:cs typeface="+mn-cs"/>
        </a:defRPr>
      </a:lvl1pPr>
      <a:lvl2pPr marL="0" indent="-457200" algn="l" defTabSz="685783" rtl="0" eaLnBrk="1" fontAlgn="ctr" latinLnBrk="0" hangingPunct="1">
        <a:lnSpc>
          <a:spcPct val="100000"/>
        </a:lnSpc>
        <a:spcBef>
          <a:spcPts val="375"/>
        </a:spcBef>
        <a:spcAft>
          <a:spcPts val="225"/>
        </a:spcAft>
        <a:buSzPct val="80000"/>
        <a:buFont typeface="Wingdings" panose="05000000000000000000" pitchFamily="2" charset="2"/>
        <a:buChar char="l"/>
        <a:defRPr sz="2800" kern="1200">
          <a:solidFill>
            <a:srgbClr val="2F5597"/>
          </a:solidFill>
          <a:latin typeface="微软雅黑" panose="020B0503020204020204" pitchFamily="34" charset="-122"/>
          <a:ea typeface="微软雅黑" panose="020B0503020204020204" pitchFamily="34" charset="-122"/>
          <a:cs typeface="+mn-cs"/>
        </a:defRPr>
      </a:lvl2pPr>
      <a:lvl3pPr marL="323992" indent="-457200" algn="l" defTabSz="685783" rtl="0" eaLnBrk="1" fontAlgn="ctr" latinLnBrk="0" hangingPunct="1">
        <a:lnSpc>
          <a:spcPct val="100000"/>
        </a:lnSpc>
        <a:spcBef>
          <a:spcPts val="375"/>
        </a:spcBef>
        <a:spcAft>
          <a:spcPts val="225"/>
        </a:spcAft>
        <a:buSzPct val="70000"/>
        <a:buFont typeface="Wingdings" panose="05000000000000000000" pitchFamily="2" charset="2"/>
        <a:buChar char="Ø"/>
        <a:defRPr sz="2400" kern="1200">
          <a:solidFill>
            <a:srgbClr val="2F5597"/>
          </a:solidFill>
          <a:latin typeface="微软雅黑" panose="020B0503020204020204" pitchFamily="34" charset="-122"/>
          <a:ea typeface="微软雅黑" panose="020B0503020204020204" pitchFamily="34" charset="-122"/>
          <a:cs typeface="+mn-cs"/>
        </a:defRPr>
      </a:lvl3pPr>
      <a:lvl4pPr marL="324000" indent="-216000" algn="l" defTabSz="685783" rtl="0" eaLnBrk="1" fontAlgn="ctr" latinLnBrk="0" hangingPunct="1">
        <a:lnSpc>
          <a:spcPct val="100000"/>
        </a:lnSpc>
        <a:spcBef>
          <a:spcPts val="375"/>
        </a:spcBef>
        <a:spcAft>
          <a:spcPts val="225"/>
        </a:spcAft>
        <a:buSzPct val="80000"/>
        <a:buFont typeface="Wingdings" panose="05000000000000000000" pitchFamily="2" charset="2"/>
        <a:buChar char="Ø"/>
        <a:defRPr sz="2400" kern="1200">
          <a:solidFill>
            <a:schemeClr val="accent1">
              <a:lumMod val="75000"/>
            </a:schemeClr>
          </a:solidFill>
          <a:latin typeface="微软雅黑" panose="020B0503020204020204" pitchFamily="34" charset="-122"/>
          <a:ea typeface="微软雅黑" panose="020B0503020204020204" pitchFamily="34" charset="-122"/>
          <a:cs typeface="+mn-cs"/>
        </a:defRPr>
      </a:lvl4pPr>
      <a:lvl5pPr marL="971976"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微软雅黑" panose="020B0503020204020204" pitchFamily="34" charset="-122"/>
          <a:ea typeface="微软雅黑" panose="020B0503020204020204" pitchFamily="34" charset="-122"/>
          <a:cs typeface="+mn-cs"/>
        </a:defRPr>
      </a:lvl5pPr>
      <a:lvl6pPr marL="1885904"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578"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p:bodyStyle>
    <p:otherStyle>
      <a:defPPr>
        <a:defRPr lang="zh-CN"/>
      </a:defPPr>
      <a:lvl1pPr marL="0" algn="l" defTabSz="685783" rtl="0" eaLnBrk="1" latinLnBrk="0" hangingPunct="1">
        <a:defRPr sz="1351" kern="1200">
          <a:solidFill>
            <a:schemeClr val="tx1"/>
          </a:solidFill>
          <a:latin typeface="+mn-lt"/>
          <a:ea typeface="+mn-ea"/>
          <a:cs typeface="+mn-cs"/>
        </a:defRPr>
      </a:lvl1pPr>
      <a:lvl2pPr marL="342891" algn="l" defTabSz="685783" rtl="0" eaLnBrk="1" latinLnBrk="0" hangingPunct="1">
        <a:defRPr sz="1351" kern="1200">
          <a:solidFill>
            <a:schemeClr val="tx1"/>
          </a:solidFill>
          <a:latin typeface="+mn-lt"/>
          <a:ea typeface="+mn-ea"/>
          <a:cs typeface="+mn-cs"/>
        </a:defRPr>
      </a:lvl2pPr>
      <a:lvl3pPr marL="685783" algn="l" defTabSz="685783" rtl="0" eaLnBrk="1" latinLnBrk="0" hangingPunct="1">
        <a:defRPr sz="1351" kern="1200">
          <a:solidFill>
            <a:schemeClr val="tx1"/>
          </a:solidFill>
          <a:latin typeface="+mn-lt"/>
          <a:ea typeface="+mn-ea"/>
          <a:cs typeface="+mn-cs"/>
        </a:defRPr>
      </a:lvl3pPr>
      <a:lvl4pPr marL="1028674" algn="l" defTabSz="685783" rtl="0" eaLnBrk="1" latinLnBrk="0" hangingPunct="1">
        <a:defRPr sz="1351" kern="1200">
          <a:solidFill>
            <a:schemeClr val="tx1"/>
          </a:solidFill>
          <a:latin typeface="+mn-lt"/>
          <a:ea typeface="+mn-ea"/>
          <a:cs typeface="+mn-cs"/>
        </a:defRPr>
      </a:lvl4pPr>
      <a:lvl5pPr marL="1371566" algn="l" defTabSz="685783" rtl="0" eaLnBrk="1" latinLnBrk="0" hangingPunct="1">
        <a:defRPr sz="1351" kern="1200">
          <a:solidFill>
            <a:schemeClr val="tx1"/>
          </a:solidFill>
          <a:latin typeface="+mn-lt"/>
          <a:ea typeface="+mn-ea"/>
          <a:cs typeface="+mn-cs"/>
        </a:defRPr>
      </a:lvl5pPr>
      <a:lvl6pPr marL="1714457" algn="l" defTabSz="685783" rtl="0" eaLnBrk="1" latinLnBrk="0" hangingPunct="1">
        <a:defRPr sz="1351" kern="1200">
          <a:solidFill>
            <a:schemeClr val="tx1"/>
          </a:solidFill>
          <a:latin typeface="+mn-lt"/>
          <a:ea typeface="+mn-ea"/>
          <a:cs typeface="+mn-cs"/>
        </a:defRPr>
      </a:lvl6pPr>
      <a:lvl7pPr marL="2057349" algn="l" defTabSz="685783" rtl="0" eaLnBrk="1" latinLnBrk="0" hangingPunct="1">
        <a:defRPr sz="1351" kern="1200">
          <a:solidFill>
            <a:schemeClr val="tx1"/>
          </a:solidFill>
          <a:latin typeface="+mn-lt"/>
          <a:ea typeface="+mn-ea"/>
          <a:cs typeface="+mn-cs"/>
        </a:defRPr>
      </a:lvl7pPr>
      <a:lvl8pPr marL="2400240" algn="l" defTabSz="685783" rtl="0" eaLnBrk="1" latinLnBrk="0" hangingPunct="1">
        <a:defRPr sz="1351" kern="1200">
          <a:solidFill>
            <a:schemeClr val="tx1"/>
          </a:solidFill>
          <a:latin typeface="+mn-lt"/>
          <a:ea typeface="+mn-ea"/>
          <a:cs typeface="+mn-cs"/>
        </a:defRPr>
      </a:lvl8pPr>
      <a:lvl9pPr marL="2743131" algn="l" defTabSz="685783" rtl="0" eaLnBrk="1" latinLnBrk="0" hangingPunct="1">
        <a:defRPr sz="1351"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oleObject" Target="../embeddings/oleObject2.bin"/><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image" Target="../media/image10.wmf"/><Relationship Id="rId3" Type="http://schemas.openxmlformats.org/officeDocument/2006/relationships/oleObject" Target="../embeddings/oleObject3.bin"/><Relationship Id="rId7" Type="http://schemas.openxmlformats.org/officeDocument/2006/relationships/oleObject" Target="../embeddings/oleObject5.bin"/><Relationship Id="rId12" Type="http://schemas.openxmlformats.org/officeDocument/2006/relationships/image" Target="../media/image12.wmf"/><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9.wmf"/><Relationship Id="rId11" Type="http://schemas.openxmlformats.org/officeDocument/2006/relationships/oleObject" Target="../embeddings/oleObject7.bin"/><Relationship Id="rId5" Type="http://schemas.openxmlformats.org/officeDocument/2006/relationships/oleObject" Target="../embeddings/oleObject4.bin"/><Relationship Id="rId10" Type="http://schemas.openxmlformats.org/officeDocument/2006/relationships/image" Target="../media/image11.wmf"/><Relationship Id="rId4" Type="http://schemas.openxmlformats.org/officeDocument/2006/relationships/image" Target="../media/image8.wmf"/><Relationship Id="rId9" Type="http://schemas.openxmlformats.org/officeDocument/2006/relationships/oleObject" Target="../embeddings/oleObject6.bin"/></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oleObject" Target="../embeddings/oleObject8.bin"/><Relationship Id="rId1" Type="http://schemas.openxmlformats.org/officeDocument/2006/relationships/slideLayout" Target="../slideLayouts/slideLayout2.xml"/><Relationship Id="rId5" Type="http://schemas.openxmlformats.org/officeDocument/2006/relationships/image" Target="../media/image15.wmf"/><Relationship Id="rId4" Type="http://schemas.openxmlformats.org/officeDocument/2006/relationships/oleObject" Target="../embeddings/oleObject9.bin"/></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6.wmf"/></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oleObject" Target="../embeddings/oleObject11.bin"/><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8.wmf"/><Relationship Id="rId2" Type="http://schemas.openxmlformats.org/officeDocument/2006/relationships/oleObject" Target="../embeddings/oleObject12.bin"/><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20.wmf"/></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1.wmf"/><Relationship Id="rId2" Type="http://schemas.openxmlformats.org/officeDocument/2006/relationships/oleObject" Target="../embeddings/oleObject14.bin"/><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2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1.wmf"/><Relationship Id="rId2" Type="http://schemas.openxmlformats.org/officeDocument/2006/relationships/oleObject" Target="../embeddings/oleObject14.bin"/><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oleObject" Target="../embeddings/oleObject15.bin"/><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26.wmf"/><Relationship Id="rId7" Type="http://schemas.openxmlformats.org/officeDocument/2006/relationships/image" Target="../media/image28.wmf"/><Relationship Id="rId2" Type="http://schemas.openxmlformats.org/officeDocument/2006/relationships/oleObject" Target="../embeddings/oleObject16.bin"/><Relationship Id="rId1" Type="http://schemas.openxmlformats.org/officeDocument/2006/relationships/slideLayout" Target="../slideLayouts/slideLayout2.xml"/><Relationship Id="rId6" Type="http://schemas.openxmlformats.org/officeDocument/2006/relationships/oleObject" Target="../embeddings/oleObject18.bin"/><Relationship Id="rId5" Type="http://schemas.openxmlformats.org/officeDocument/2006/relationships/image" Target="../media/image27.wmf"/><Relationship Id="rId4" Type="http://schemas.openxmlformats.org/officeDocument/2006/relationships/oleObject" Target="../embeddings/oleObject17.bin"/></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8" Type="http://schemas.openxmlformats.org/officeDocument/2006/relationships/image" Target="../media/image31.wmf"/><Relationship Id="rId3" Type="http://schemas.openxmlformats.org/officeDocument/2006/relationships/oleObject" Target="../embeddings/oleObject19.bin"/><Relationship Id="rId7" Type="http://schemas.openxmlformats.org/officeDocument/2006/relationships/oleObject" Target="../embeddings/oleObject21.bin"/><Relationship Id="rId2" Type="http://schemas.openxmlformats.org/officeDocument/2006/relationships/notesSlide" Target="../notesSlides/notesSlide17.xml"/><Relationship Id="rId1" Type="http://schemas.openxmlformats.org/officeDocument/2006/relationships/slideLayout" Target="../slideLayouts/slideLayout8.xml"/><Relationship Id="rId6" Type="http://schemas.openxmlformats.org/officeDocument/2006/relationships/image" Target="../media/image30.wmf"/><Relationship Id="rId5" Type="http://schemas.openxmlformats.org/officeDocument/2006/relationships/oleObject" Target="../embeddings/oleObject20.bin"/><Relationship Id="rId4" Type="http://schemas.openxmlformats.org/officeDocument/2006/relationships/image" Target="../media/image29.wmf"/></Relationships>
</file>

<file path=ppt/slides/_rels/slide45.xml.rels><?xml version="1.0" encoding="UTF-8" standalone="yes"?>
<Relationships xmlns="http://schemas.openxmlformats.org/package/2006/relationships"><Relationship Id="rId3" Type="http://schemas.openxmlformats.org/officeDocument/2006/relationships/image" Target="../media/image32.wmf"/><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8" Type="http://schemas.openxmlformats.org/officeDocument/2006/relationships/image" Target="../media/image35.wmf"/><Relationship Id="rId3" Type="http://schemas.openxmlformats.org/officeDocument/2006/relationships/oleObject" Target="../embeddings/oleObject22.bin"/><Relationship Id="rId7" Type="http://schemas.openxmlformats.org/officeDocument/2006/relationships/oleObject" Target="../embeddings/oleObject24.bin"/><Relationship Id="rId2" Type="http://schemas.openxmlformats.org/officeDocument/2006/relationships/notesSlide" Target="../notesSlides/notesSlide19.xml"/><Relationship Id="rId1" Type="http://schemas.openxmlformats.org/officeDocument/2006/relationships/slideLayout" Target="../slideLayouts/slideLayout4.xml"/><Relationship Id="rId6" Type="http://schemas.openxmlformats.org/officeDocument/2006/relationships/image" Target="../media/image34.wmf"/><Relationship Id="rId5" Type="http://schemas.openxmlformats.org/officeDocument/2006/relationships/oleObject" Target="../embeddings/oleObject23.bin"/><Relationship Id="rId4" Type="http://schemas.openxmlformats.org/officeDocument/2006/relationships/image" Target="../media/image33.wmf"/></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8" Type="http://schemas.openxmlformats.org/officeDocument/2006/relationships/image" Target="../media/image23.png"/><Relationship Id="rId13" Type="http://schemas.openxmlformats.org/officeDocument/2006/relationships/oleObject" Target="../embeddings/oleObject29.bin"/><Relationship Id="rId3" Type="http://schemas.openxmlformats.org/officeDocument/2006/relationships/oleObject" Target="../embeddings/oleObject25.bin"/><Relationship Id="rId7" Type="http://schemas.openxmlformats.org/officeDocument/2006/relationships/image" Target="../media/image22.png"/><Relationship Id="rId12" Type="http://schemas.openxmlformats.org/officeDocument/2006/relationships/image" Target="../media/image38.wmf"/><Relationship Id="rId2" Type="http://schemas.openxmlformats.org/officeDocument/2006/relationships/notesSlide" Target="../notesSlides/notesSlide20.xml"/><Relationship Id="rId1" Type="http://schemas.openxmlformats.org/officeDocument/2006/relationships/slideLayout" Target="../slideLayouts/slideLayout4.xml"/><Relationship Id="rId6" Type="http://schemas.openxmlformats.org/officeDocument/2006/relationships/image" Target="../media/image36.emf"/><Relationship Id="rId11" Type="http://schemas.openxmlformats.org/officeDocument/2006/relationships/oleObject" Target="../embeddings/oleObject28.bin"/><Relationship Id="rId5" Type="http://schemas.openxmlformats.org/officeDocument/2006/relationships/oleObject" Target="../embeddings/oleObject26.bin"/><Relationship Id="rId10" Type="http://schemas.openxmlformats.org/officeDocument/2006/relationships/image" Target="../media/image37.wmf"/><Relationship Id="rId4" Type="http://schemas.openxmlformats.org/officeDocument/2006/relationships/image" Target="../media/image27.wmf"/><Relationship Id="rId9" Type="http://schemas.openxmlformats.org/officeDocument/2006/relationships/oleObject" Target="../embeddings/oleObject27.bin"/><Relationship Id="rId14" Type="http://schemas.openxmlformats.org/officeDocument/2006/relationships/image" Target="../media/image39.wmf"/></Relationships>
</file>

<file path=ppt/slides/_rels/slide49.xml.rels><?xml version="1.0" encoding="UTF-8" standalone="yes"?>
<Relationships xmlns="http://schemas.openxmlformats.org/package/2006/relationships"><Relationship Id="rId3" Type="http://schemas.openxmlformats.org/officeDocument/2006/relationships/oleObject" Target="../embeddings/oleObject30.bin"/><Relationship Id="rId2" Type="http://schemas.openxmlformats.org/officeDocument/2006/relationships/notesSlide" Target="../notesSlides/notesSlide21.xml"/><Relationship Id="rId1" Type="http://schemas.openxmlformats.org/officeDocument/2006/relationships/slideLayout" Target="../slideLayouts/slideLayout4.xml"/><Relationship Id="rId6" Type="http://schemas.openxmlformats.org/officeDocument/2006/relationships/image" Target="../media/image41.wmf"/><Relationship Id="rId5" Type="http://schemas.openxmlformats.org/officeDocument/2006/relationships/oleObject" Target="../embeddings/oleObject31.bin"/><Relationship Id="rId4" Type="http://schemas.openxmlformats.org/officeDocument/2006/relationships/image" Target="../media/image40.wmf"/></Relationships>
</file>

<file path=ppt/slides/_rels/slide50.xml.rels><?xml version="1.0" encoding="UTF-8" standalone="yes"?>
<Relationships xmlns="http://schemas.openxmlformats.org/package/2006/relationships"><Relationship Id="rId8" Type="http://schemas.openxmlformats.org/officeDocument/2006/relationships/image" Target="../media/image44.wmf"/><Relationship Id="rId3" Type="http://schemas.openxmlformats.org/officeDocument/2006/relationships/oleObject" Target="../embeddings/oleObject32.bin"/><Relationship Id="rId7" Type="http://schemas.openxmlformats.org/officeDocument/2006/relationships/oleObject" Target="../embeddings/oleObject34.bin"/><Relationship Id="rId2" Type="http://schemas.openxmlformats.org/officeDocument/2006/relationships/notesSlide" Target="../notesSlides/notesSlide22.xml"/><Relationship Id="rId1" Type="http://schemas.openxmlformats.org/officeDocument/2006/relationships/slideLayout" Target="../slideLayouts/slideLayout4.xml"/><Relationship Id="rId6" Type="http://schemas.openxmlformats.org/officeDocument/2006/relationships/image" Target="../media/image43.wmf"/><Relationship Id="rId5" Type="http://schemas.openxmlformats.org/officeDocument/2006/relationships/oleObject" Target="../embeddings/oleObject33.bin"/><Relationship Id="rId4" Type="http://schemas.openxmlformats.org/officeDocument/2006/relationships/image" Target="../media/image42.wmf"/></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8.xml"/></Relationships>
</file>

<file path=ppt/slides/_rels/slide5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4.xml"/><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23.png"/></Relationships>
</file>

<file path=ppt/slides/_rels/slide53.xml.rels><?xml version="1.0" encoding="UTF-8" standalone="yes"?>
<Relationships xmlns="http://schemas.openxmlformats.org/package/2006/relationships"><Relationship Id="rId3" Type="http://schemas.openxmlformats.org/officeDocument/2006/relationships/image" Target="../media/image45.png"/><Relationship Id="rId7" Type="http://schemas.openxmlformats.org/officeDocument/2006/relationships/image" Target="../media/image47.emf"/><Relationship Id="rId2" Type="http://schemas.openxmlformats.org/officeDocument/2006/relationships/notesSlide" Target="../notesSlides/notesSlide25.xml"/><Relationship Id="rId1" Type="http://schemas.openxmlformats.org/officeDocument/2006/relationships/slideLayout" Target="../slideLayouts/slideLayout4.xml"/><Relationship Id="rId6" Type="http://schemas.openxmlformats.org/officeDocument/2006/relationships/oleObject" Target="../embeddings/oleObject36.bin"/><Relationship Id="rId5" Type="http://schemas.openxmlformats.org/officeDocument/2006/relationships/image" Target="../media/image46.emf"/><Relationship Id="rId4" Type="http://schemas.openxmlformats.org/officeDocument/2006/relationships/oleObject" Target="../embeddings/oleObject35.bin"/></Relationships>
</file>

<file path=ppt/slides/_rels/slide54.xml.rels><?xml version="1.0" encoding="UTF-8" standalone="yes"?>
<Relationships xmlns="http://schemas.openxmlformats.org/package/2006/relationships"><Relationship Id="rId8" Type="http://schemas.openxmlformats.org/officeDocument/2006/relationships/oleObject" Target="../embeddings/oleObject39.bin"/><Relationship Id="rId13" Type="http://schemas.openxmlformats.org/officeDocument/2006/relationships/image" Target="../media/image52.wmf"/><Relationship Id="rId3" Type="http://schemas.openxmlformats.org/officeDocument/2006/relationships/image" Target="../media/image22.png"/><Relationship Id="rId7" Type="http://schemas.openxmlformats.org/officeDocument/2006/relationships/image" Target="../media/image49.wmf"/><Relationship Id="rId12" Type="http://schemas.openxmlformats.org/officeDocument/2006/relationships/oleObject" Target="../embeddings/oleObject41.bin"/><Relationship Id="rId2" Type="http://schemas.openxmlformats.org/officeDocument/2006/relationships/notesSlide" Target="../notesSlides/notesSlide26.xml"/><Relationship Id="rId1" Type="http://schemas.openxmlformats.org/officeDocument/2006/relationships/slideLayout" Target="../slideLayouts/slideLayout9.xml"/><Relationship Id="rId6" Type="http://schemas.openxmlformats.org/officeDocument/2006/relationships/oleObject" Target="../embeddings/oleObject38.bin"/><Relationship Id="rId11" Type="http://schemas.openxmlformats.org/officeDocument/2006/relationships/image" Target="../media/image51.wmf"/><Relationship Id="rId5" Type="http://schemas.openxmlformats.org/officeDocument/2006/relationships/image" Target="../media/image48.wmf"/><Relationship Id="rId15" Type="http://schemas.openxmlformats.org/officeDocument/2006/relationships/image" Target="../media/image53.wmf"/><Relationship Id="rId10" Type="http://schemas.openxmlformats.org/officeDocument/2006/relationships/oleObject" Target="../embeddings/oleObject40.bin"/><Relationship Id="rId4" Type="http://schemas.openxmlformats.org/officeDocument/2006/relationships/oleObject" Target="../embeddings/oleObject37.bin"/><Relationship Id="rId9" Type="http://schemas.openxmlformats.org/officeDocument/2006/relationships/image" Target="../media/image50.wmf"/><Relationship Id="rId14" Type="http://schemas.openxmlformats.org/officeDocument/2006/relationships/oleObject" Target="../embeddings/oleObject42.bin"/></Relationships>
</file>

<file path=ppt/slides/_rels/slide55.xml.rels><?xml version="1.0" encoding="UTF-8" standalone="yes"?>
<Relationships xmlns="http://schemas.openxmlformats.org/package/2006/relationships"><Relationship Id="rId3" Type="http://schemas.openxmlformats.org/officeDocument/2006/relationships/oleObject" Target="../embeddings/oleObject43.bin"/><Relationship Id="rId2" Type="http://schemas.openxmlformats.org/officeDocument/2006/relationships/notesSlide" Target="../notesSlides/notesSlide27.xml"/><Relationship Id="rId1" Type="http://schemas.openxmlformats.org/officeDocument/2006/relationships/slideLayout" Target="../slideLayouts/slideLayout4.xml"/><Relationship Id="rId4" Type="http://schemas.openxmlformats.org/officeDocument/2006/relationships/image" Target="../media/image54.wmf"/></Relationships>
</file>

<file path=ppt/slides/_rels/slide56.xml.rels><?xml version="1.0" encoding="UTF-8" standalone="yes"?>
<Relationships xmlns="http://schemas.openxmlformats.org/package/2006/relationships"><Relationship Id="rId8" Type="http://schemas.openxmlformats.org/officeDocument/2006/relationships/image" Target="../media/image57.wmf"/><Relationship Id="rId3" Type="http://schemas.openxmlformats.org/officeDocument/2006/relationships/oleObject" Target="../embeddings/oleObject44.bin"/><Relationship Id="rId7" Type="http://schemas.openxmlformats.org/officeDocument/2006/relationships/oleObject" Target="../embeddings/oleObject46.bin"/><Relationship Id="rId2" Type="http://schemas.openxmlformats.org/officeDocument/2006/relationships/notesSlide" Target="../notesSlides/notesSlide28.xml"/><Relationship Id="rId1" Type="http://schemas.openxmlformats.org/officeDocument/2006/relationships/slideLayout" Target="../slideLayouts/slideLayout5.xml"/><Relationship Id="rId6" Type="http://schemas.openxmlformats.org/officeDocument/2006/relationships/image" Target="../media/image56.wmf"/><Relationship Id="rId5" Type="http://schemas.openxmlformats.org/officeDocument/2006/relationships/oleObject" Target="../embeddings/oleObject45.bin"/><Relationship Id="rId4" Type="http://schemas.openxmlformats.org/officeDocument/2006/relationships/image" Target="../media/image55.wmf"/></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58.xml.rels><?xml version="1.0" encoding="UTF-8" standalone="yes"?>
<Relationships xmlns="http://schemas.openxmlformats.org/package/2006/relationships"><Relationship Id="rId3" Type="http://schemas.openxmlformats.org/officeDocument/2006/relationships/oleObject" Target="../embeddings/oleObject47.bin"/><Relationship Id="rId2" Type="http://schemas.openxmlformats.org/officeDocument/2006/relationships/notesSlide" Target="../notesSlides/notesSlide30.xml"/><Relationship Id="rId1" Type="http://schemas.openxmlformats.org/officeDocument/2006/relationships/slideLayout" Target="../slideLayouts/slideLayout9.xml"/><Relationship Id="rId4" Type="http://schemas.openxmlformats.org/officeDocument/2006/relationships/image" Target="../media/image58.emf"/></Relationships>
</file>

<file path=ppt/slides/_rels/slide59.xml.rels><?xml version="1.0" encoding="UTF-8" standalone="yes"?>
<Relationships xmlns="http://schemas.openxmlformats.org/package/2006/relationships"><Relationship Id="rId3" Type="http://schemas.openxmlformats.org/officeDocument/2006/relationships/oleObject" Target="../embeddings/oleObject48.bin"/><Relationship Id="rId2" Type="http://schemas.openxmlformats.org/officeDocument/2006/relationships/notesSlide" Target="../notesSlides/notesSlide31.xml"/><Relationship Id="rId1" Type="http://schemas.openxmlformats.org/officeDocument/2006/relationships/slideLayout" Target="../slideLayouts/slideLayout9.xml"/><Relationship Id="rId6" Type="http://schemas.openxmlformats.org/officeDocument/2006/relationships/image" Target="../media/image60.wmf"/><Relationship Id="rId5" Type="http://schemas.openxmlformats.org/officeDocument/2006/relationships/oleObject" Target="../embeddings/oleObject49.bin"/><Relationship Id="rId4" Type="http://schemas.openxmlformats.org/officeDocument/2006/relationships/image" Target="../media/image59.emf"/></Relationships>
</file>

<file path=ppt/slides/_rels/slide60.xml.rels><?xml version="1.0" encoding="UTF-8" standalone="yes"?>
<Relationships xmlns="http://schemas.openxmlformats.org/package/2006/relationships"><Relationship Id="rId3" Type="http://schemas.openxmlformats.org/officeDocument/2006/relationships/oleObject" Target="../embeddings/oleObject50.bin"/><Relationship Id="rId2" Type="http://schemas.openxmlformats.org/officeDocument/2006/relationships/notesSlide" Target="../notesSlides/notesSlide32.xml"/><Relationship Id="rId1" Type="http://schemas.openxmlformats.org/officeDocument/2006/relationships/slideLayout" Target="../slideLayouts/slideLayout4.xml"/><Relationship Id="rId6" Type="http://schemas.openxmlformats.org/officeDocument/2006/relationships/image" Target="../media/image62.wmf"/><Relationship Id="rId5" Type="http://schemas.openxmlformats.org/officeDocument/2006/relationships/oleObject" Target="../embeddings/oleObject51.bin"/><Relationship Id="rId4" Type="http://schemas.openxmlformats.org/officeDocument/2006/relationships/image" Target="../media/image61.wmf"/></Relationships>
</file>

<file path=ppt/slides/_rels/slide61.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image" Target="../media/image64.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65.wmf"/><Relationship Id="rId2" Type="http://schemas.openxmlformats.org/officeDocument/2006/relationships/oleObject" Target="../embeddings/oleObject52.bin"/><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2.xml.rels><?xml version="1.0" encoding="UTF-8" standalone="yes"?>
<Relationships xmlns="http://schemas.openxmlformats.org/package/2006/relationships"><Relationship Id="rId3" Type="http://schemas.openxmlformats.org/officeDocument/2006/relationships/oleObject" Target="../embeddings/oleObject53.bin"/><Relationship Id="rId2" Type="http://schemas.openxmlformats.org/officeDocument/2006/relationships/notesSlide" Target="../notesSlides/notesSlide34.xml"/><Relationship Id="rId1" Type="http://schemas.openxmlformats.org/officeDocument/2006/relationships/slideLayout" Target="../slideLayouts/slideLayout5.xml"/><Relationship Id="rId6" Type="http://schemas.openxmlformats.org/officeDocument/2006/relationships/image" Target="../media/image67.emf"/><Relationship Id="rId5" Type="http://schemas.openxmlformats.org/officeDocument/2006/relationships/oleObject" Target="../embeddings/oleObject54.bin"/><Relationship Id="rId4" Type="http://schemas.openxmlformats.org/officeDocument/2006/relationships/image" Target="../media/image66.emf"/></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5.xml"/></Relationships>
</file>

<file path=ppt/slides/_rels/slide74.xml.rels><?xml version="1.0" encoding="UTF-8" standalone="yes"?>
<Relationships xmlns="http://schemas.openxmlformats.org/package/2006/relationships"><Relationship Id="rId8" Type="http://schemas.openxmlformats.org/officeDocument/2006/relationships/image" Target="../media/image70.emf"/><Relationship Id="rId3" Type="http://schemas.openxmlformats.org/officeDocument/2006/relationships/oleObject" Target="../embeddings/oleObject55.bin"/><Relationship Id="rId7" Type="http://schemas.openxmlformats.org/officeDocument/2006/relationships/oleObject" Target="../embeddings/oleObject57.bin"/><Relationship Id="rId2" Type="http://schemas.openxmlformats.org/officeDocument/2006/relationships/notesSlide" Target="../notesSlides/notesSlide36.xml"/><Relationship Id="rId1" Type="http://schemas.openxmlformats.org/officeDocument/2006/relationships/slideLayout" Target="../slideLayouts/slideLayout8.xml"/><Relationship Id="rId6" Type="http://schemas.openxmlformats.org/officeDocument/2006/relationships/image" Target="../media/image69.wmf"/><Relationship Id="rId5" Type="http://schemas.openxmlformats.org/officeDocument/2006/relationships/oleObject" Target="../embeddings/oleObject56.bin"/><Relationship Id="rId4" Type="http://schemas.openxmlformats.org/officeDocument/2006/relationships/image" Target="../media/image68.wmf"/></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3" Type="http://schemas.openxmlformats.org/officeDocument/2006/relationships/image" Target="../media/image71.wmf"/><Relationship Id="rId7" Type="http://schemas.openxmlformats.org/officeDocument/2006/relationships/image" Target="../media/image73.wmf"/><Relationship Id="rId2" Type="http://schemas.openxmlformats.org/officeDocument/2006/relationships/oleObject" Target="../embeddings/oleObject58.bin"/><Relationship Id="rId1" Type="http://schemas.openxmlformats.org/officeDocument/2006/relationships/slideLayout" Target="../slideLayouts/slideLayout2.xml"/><Relationship Id="rId6" Type="http://schemas.openxmlformats.org/officeDocument/2006/relationships/oleObject" Target="../embeddings/oleObject60.bin"/><Relationship Id="rId5" Type="http://schemas.openxmlformats.org/officeDocument/2006/relationships/image" Target="../media/image72.wmf"/><Relationship Id="rId4" Type="http://schemas.openxmlformats.org/officeDocument/2006/relationships/oleObject" Target="../embeddings/oleObject59.bin"/></Relationships>
</file>

<file path=ppt/slides/_rels/slide77.xml.rels><?xml version="1.0" encoding="UTF-8" standalone="yes"?>
<Relationships xmlns="http://schemas.openxmlformats.org/package/2006/relationships"><Relationship Id="rId8" Type="http://schemas.openxmlformats.org/officeDocument/2006/relationships/oleObject" Target="../embeddings/oleObject64.bin"/><Relationship Id="rId3" Type="http://schemas.openxmlformats.org/officeDocument/2006/relationships/image" Target="../media/image71.wmf"/><Relationship Id="rId7" Type="http://schemas.openxmlformats.org/officeDocument/2006/relationships/image" Target="../media/image74.wmf"/><Relationship Id="rId2" Type="http://schemas.openxmlformats.org/officeDocument/2006/relationships/oleObject" Target="../embeddings/oleObject61.bin"/><Relationship Id="rId1" Type="http://schemas.openxmlformats.org/officeDocument/2006/relationships/slideLayout" Target="../slideLayouts/slideLayout2.xml"/><Relationship Id="rId6" Type="http://schemas.openxmlformats.org/officeDocument/2006/relationships/oleObject" Target="../embeddings/oleObject63.bin"/><Relationship Id="rId5" Type="http://schemas.openxmlformats.org/officeDocument/2006/relationships/image" Target="../media/image72.wmf"/><Relationship Id="rId4" Type="http://schemas.openxmlformats.org/officeDocument/2006/relationships/oleObject" Target="../embeddings/oleObject62.bin"/><Relationship Id="rId9" Type="http://schemas.openxmlformats.org/officeDocument/2006/relationships/image" Target="../media/image75.wmf"/></Relationships>
</file>

<file path=ppt/slides/_rels/slide78.xml.rels><?xml version="1.0" encoding="UTF-8" standalone="yes"?>
<Relationships xmlns="http://schemas.openxmlformats.org/package/2006/relationships"><Relationship Id="rId8" Type="http://schemas.openxmlformats.org/officeDocument/2006/relationships/oleObject" Target="../embeddings/oleObject68.bin"/><Relationship Id="rId3" Type="http://schemas.openxmlformats.org/officeDocument/2006/relationships/image" Target="../media/image71.wmf"/><Relationship Id="rId7" Type="http://schemas.openxmlformats.org/officeDocument/2006/relationships/image" Target="../media/image76.wmf"/><Relationship Id="rId2" Type="http://schemas.openxmlformats.org/officeDocument/2006/relationships/oleObject" Target="../embeddings/oleObject65.bin"/><Relationship Id="rId1" Type="http://schemas.openxmlformats.org/officeDocument/2006/relationships/slideLayout" Target="../slideLayouts/slideLayout2.xml"/><Relationship Id="rId6" Type="http://schemas.openxmlformats.org/officeDocument/2006/relationships/oleObject" Target="../embeddings/oleObject67.bin"/><Relationship Id="rId5" Type="http://schemas.openxmlformats.org/officeDocument/2006/relationships/image" Target="../media/image72.wmf"/><Relationship Id="rId4" Type="http://schemas.openxmlformats.org/officeDocument/2006/relationships/oleObject" Target="../embeddings/oleObject66.bin"/><Relationship Id="rId9" Type="http://schemas.openxmlformats.org/officeDocument/2006/relationships/image" Target="../media/image77.wmf"/></Relationships>
</file>

<file path=ppt/slides/_rels/slide79.xml.rels><?xml version="1.0" encoding="UTF-8" standalone="yes"?>
<Relationships xmlns="http://schemas.openxmlformats.org/package/2006/relationships"><Relationship Id="rId8" Type="http://schemas.openxmlformats.org/officeDocument/2006/relationships/oleObject" Target="../embeddings/oleObject72.bin"/><Relationship Id="rId3" Type="http://schemas.openxmlformats.org/officeDocument/2006/relationships/image" Target="../media/image71.wmf"/><Relationship Id="rId7" Type="http://schemas.openxmlformats.org/officeDocument/2006/relationships/image" Target="../media/image78.wmf"/><Relationship Id="rId2" Type="http://schemas.openxmlformats.org/officeDocument/2006/relationships/oleObject" Target="../embeddings/oleObject69.bin"/><Relationship Id="rId1" Type="http://schemas.openxmlformats.org/officeDocument/2006/relationships/slideLayout" Target="../slideLayouts/slideLayout2.xml"/><Relationship Id="rId6" Type="http://schemas.openxmlformats.org/officeDocument/2006/relationships/oleObject" Target="../embeddings/oleObject71.bin"/><Relationship Id="rId11" Type="http://schemas.openxmlformats.org/officeDocument/2006/relationships/image" Target="../media/image80.wmf"/><Relationship Id="rId5" Type="http://schemas.openxmlformats.org/officeDocument/2006/relationships/image" Target="../media/image72.wmf"/><Relationship Id="rId10" Type="http://schemas.openxmlformats.org/officeDocument/2006/relationships/oleObject" Target="../embeddings/oleObject73.bin"/><Relationship Id="rId4" Type="http://schemas.openxmlformats.org/officeDocument/2006/relationships/oleObject" Target="../embeddings/oleObject70.bin"/><Relationship Id="rId9" Type="http://schemas.openxmlformats.org/officeDocument/2006/relationships/image" Target="../media/image79.wmf"/></Relationships>
</file>

<file path=ppt/slides/_rels/slide80.xml.rels><?xml version="1.0" encoding="UTF-8" standalone="yes"?>
<Relationships xmlns="http://schemas.openxmlformats.org/package/2006/relationships"><Relationship Id="rId8" Type="http://schemas.openxmlformats.org/officeDocument/2006/relationships/oleObject" Target="../embeddings/oleObject77.bin"/><Relationship Id="rId13" Type="http://schemas.openxmlformats.org/officeDocument/2006/relationships/image" Target="../media/image86.wmf"/><Relationship Id="rId3" Type="http://schemas.openxmlformats.org/officeDocument/2006/relationships/image" Target="../media/image81.wmf"/><Relationship Id="rId7" Type="http://schemas.openxmlformats.org/officeDocument/2006/relationships/image" Target="../media/image83.wmf"/><Relationship Id="rId12" Type="http://schemas.openxmlformats.org/officeDocument/2006/relationships/oleObject" Target="../embeddings/oleObject79.bin"/><Relationship Id="rId2" Type="http://schemas.openxmlformats.org/officeDocument/2006/relationships/oleObject" Target="../embeddings/oleObject74.bin"/><Relationship Id="rId1" Type="http://schemas.openxmlformats.org/officeDocument/2006/relationships/slideLayout" Target="../slideLayouts/slideLayout2.xml"/><Relationship Id="rId6" Type="http://schemas.openxmlformats.org/officeDocument/2006/relationships/oleObject" Target="../embeddings/oleObject76.bin"/><Relationship Id="rId11" Type="http://schemas.openxmlformats.org/officeDocument/2006/relationships/image" Target="../media/image85.wmf"/><Relationship Id="rId5" Type="http://schemas.openxmlformats.org/officeDocument/2006/relationships/image" Target="../media/image82.wmf"/><Relationship Id="rId15" Type="http://schemas.openxmlformats.org/officeDocument/2006/relationships/image" Target="../media/image87.wmf"/><Relationship Id="rId10" Type="http://schemas.openxmlformats.org/officeDocument/2006/relationships/oleObject" Target="../embeddings/oleObject78.bin"/><Relationship Id="rId4" Type="http://schemas.openxmlformats.org/officeDocument/2006/relationships/oleObject" Target="../embeddings/oleObject75.bin"/><Relationship Id="rId9" Type="http://schemas.openxmlformats.org/officeDocument/2006/relationships/image" Target="../media/image84.wmf"/><Relationship Id="rId14" Type="http://schemas.openxmlformats.org/officeDocument/2006/relationships/oleObject" Target="../embeddings/oleObject80.bin"/></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88.gif"/><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4.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4.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4.xml"/></Relationships>
</file>

<file path=ppt/slides/_rels/slide89.xml.rels><?xml version="1.0" encoding="UTF-8" standalone="yes"?>
<Relationships xmlns="http://schemas.openxmlformats.org/package/2006/relationships"><Relationship Id="rId3" Type="http://schemas.openxmlformats.org/officeDocument/2006/relationships/image" Target="../media/image89.wmf"/><Relationship Id="rId2" Type="http://schemas.openxmlformats.org/officeDocument/2006/relationships/oleObject" Target="../embeddings/oleObject81.bin"/><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4.xml"/></Relationships>
</file>

<file path=ppt/slides/_rels/slide92.xml.rels><?xml version="1.0" encoding="UTF-8" standalone="yes"?>
<Relationships xmlns="http://schemas.openxmlformats.org/package/2006/relationships"><Relationship Id="rId8" Type="http://schemas.openxmlformats.org/officeDocument/2006/relationships/oleObject" Target="../embeddings/oleObject85.bin"/><Relationship Id="rId3" Type="http://schemas.openxmlformats.org/officeDocument/2006/relationships/image" Target="../media/image90.wmf"/><Relationship Id="rId7" Type="http://schemas.openxmlformats.org/officeDocument/2006/relationships/image" Target="../media/image92.wmf"/><Relationship Id="rId2" Type="http://schemas.openxmlformats.org/officeDocument/2006/relationships/oleObject" Target="../embeddings/oleObject82.bin"/><Relationship Id="rId1" Type="http://schemas.openxmlformats.org/officeDocument/2006/relationships/slideLayout" Target="../slideLayouts/slideLayout2.xml"/><Relationship Id="rId6" Type="http://schemas.openxmlformats.org/officeDocument/2006/relationships/oleObject" Target="../embeddings/oleObject84.bin"/><Relationship Id="rId11" Type="http://schemas.openxmlformats.org/officeDocument/2006/relationships/image" Target="../media/image94.wmf"/><Relationship Id="rId5" Type="http://schemas.openxmlformats.org/officeDocument/2006/relationships/image" Target="../media/image91.wmf"/><Relationship Id="rId10" Type="http://schemas.openxmlformats.org/officeDocument/2006/relationships/oleObject" Target="../embeddings/oleObject86.bin"/><Relationship Id="rId4" Type="http://schemas.openxmlformats.org/officeDocument/2006/relationships/oleObject" Target="../embeddings/oleObject83.bin"/><Relationship Id="rId9" Type="http://schemas.openxmlformats.org/officeDocument/2006/relationships/image" Target="../media/image93.wmf"/></Relationships>
</file>

<file path=ppt/slides/_rels/slide93.xml.rels><?xml version="1.0" encoding="UTF-8" standalone="yes"?>
<Relationships xmlns="http://schemas.openxmlformats.org/package/2006/relationships"><Relationship Id="rId8" Type="http://schemas.openxmlformats.org/officeDocument/2006/relationships/oleObject" Target="../embeddings/oleObject90.bin"/><Relationship Id="rId3" Type="http://schemas.openxmlformats.org/officeDocument/2006/relationships/image" Target="../media/image95.wmf"/><Relationship Id="rId7" Type="http://schemas.openxmlformats.org/officeDocument/2006/relationships/image" Target="../media/image97.wmf"/><Relationship Id="rId2" Type="http://schemas.openxmlformats.org/officeDocument/2006/relationships/oleObject" Target="../embeddings/oleObject87.bin"/><Relationship Id="rId1" Type="http://schemas.openxmlformats.org/officeDocument/2006/relationships/slideLayout" Target="../slideLayouts/slideLayout2.xml"/><Relationship Id="rId6" Type="http://schemas.openxmlformats.org/officeDocument/2006/relationships/oleObject" Target="../embeddings/oleObject89.bin"/><Relationship Id="rId5" Type="http://schemas.openxmlformats.org/officeDocument/2006/relationships/image" Target="../media/image96.wmf"/><Relationship Id="rId4" Type="http://schemas.openxmlformats.org/officeDocument/2006/relationships/oleObject" Target="../embeddings/oleObject88.bin"/><Relationship Id="rId9" Type="http://schemas.openxmlformats.org/officeDocument/2006/relationships/image" Target="../media/image98.wmf"/></Relationships>
</file>

<file path=ppt/slides/_rels/slide94.xml.rels><?xml version="1.0" encoding="UTF-8" standalone="yes"?>
<Relationships xmlns="http://schemas.openxmlformats.org/package/2006/relationships"><Relationship Id="rId3" Type="http://schemas.openxmlformats.org/officeDocument/2006/relationships/oleObject" Target="../embeddings/oleObject91.bin"/><Relationship Id="rId2" Type="http://schemas.openxmlformats.org/officeDocument/2006/relationships/notesSlide" Target="../notesSlides/notesSlide43.xml"/><Relationship Id="rId1" Type="http://schemas.openxmlformats.org/officeDocument/2006/relationships/slideLayout" Target="../slideLayouts/slideLayout4.xml"/><Relationship Id="rId4" Type="http://schemas.openxmlformats.org/officeDocument/2006/relationships/image" Target="../media/image99.emf"/></Relationships>
</file>

<file path=ppt/slides/_rels/slide95.xml.rels><?xml version="1.0" encoding="UTF-8" standalone="yes"?>
<Relationships xmlns="http://schemas.openxmlformats.org/package/2006/relationships"><Relationship Id="rId3" Type="http://schemas.openxmlformats.org/officeDocument/2006/relationships/oleObject" Target="../embeddings/oleObject92.bin"/><Relationship Id="rId2" Type="http://schemas.openxmlformats.org/officeDocument/2006/relationships/notesSlide" Target="../notesSlides/notesSlide44.xml"/><Relationship Id="rId1" Type="http://schemas.openxmlformats.org/officeDocument/2006/relationships/slideLayout" Target="../slideLayouts/slideLayout4.xml"/><Relationship Id="rId4" Type="http://schemas.openxmlformats.org/officeDocument/2006/relationships/image" Target="../media/image100.emf"/></Relationships>
</file>

<file path=ppt/slides/_rels/slide96.xml.rels><?xml version="1.0" encoding="UTF-8" standalone="yes"?>
<Relationships xmlns="http://schemas.openxmlformats.org/package/2006/relationships"><Relationship Id="rId3" Type="http://schemas.openxmlformats.org/officeDocument/2006/relationships/image" Target="../media/image101.emf"/><Relationship Id="rId2" Type="http://schemas.openxmlformats.org/officeDocument/2006/relationships/oleObject" Target="../embeddings/oleObject93.bin"/><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image" Target="../media/image102.wmf"/><Relationship Id="rId2" Type="http://schemas.openxmlformats.org/officeDocument/2006/relationships/oleObject" Target="../embeddings/oleObject94.bin"/><Relationship Id="rId1" Type="http://schemas.openxmlformats.org/officeDocument/2006/relationships/slideLayout" Target="../slideLayouts/slideLayout2.xml"/><Relationship Id="rId5" Type="http://schemas.openxmlformats.org/officeDocument/2006/relationships/image" Target="../media/image103.wmf"/><Relationship Id="rId4" Type="http://schemas.openxmlformats.org/officeDocument/2006/relationships/oleObject" Target="../embeddings/oleObject95.bin"/></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4.xml"/></Relationships>
</file>

<file path=ppt/slides/_rels/slide99.xml.rels><?xml version="1.0" encoding="UTF-8" standalone="yes"?>
<Relationships xmlns="http://schemas.openxmlformats.org/package/2006/relationships"><Relationship Id="rId3" Type="http://schemas.openxmlformats.org/officeDocument/2006/relationships/oleObject" Target="../embeddings/oleObject96.bin"/><Relationship Id="rId2" Type="http://schemas.openxmlformats.org/officeDocument/2006/relationships/notesSlide" Target="../notesSlides/notesSlide46.xml"/><Relationship Id="rId1" Type="http://schemas.openxmlformats.org/officeDocument/2006/relationships/slideLayout" Target="../slideLayouts/slideLayout4.xml"/><Relationship Id="rId4" Type="http://schemas.openxmlformats.org/officeDocument/2006/relationships/image" Target="../media/image104.wmf"/></Relationships>
</file>

<file path=ppt/slides/_rels/slide100.xml.rels><?xml version="1.0" encoding="UTF-8" standalone="yes"?>
<Relationships xmlns="http://schemas.openxmlformats.org/package/2006/relationships"><Relationship Id="rId3" Type="http://schemas.openxmlformats.org/officeDocument/2006/relationships/oleObject" Target="../embeddings/oleObject97.bin"/><Relationship Id="rId2" Type="http://schemas.openxmlformats.org/officeDocument/2006/relationships/notesSlide" Target="../notesSlides/notesSlide47.xml"/><Relationship Id="rId1" Type="http://schemas.openxmlformats.org/officeDocument/2006/relationships/slideLayout" Target="../slideLayouts/slideLayout4.xml"/><Relationship Id="rId4" Type="http://schemas.openxmlformats.org/officeDocument/2006/relationships/image" Target="../media/image105.emf"/></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oleObject" Target="../embeddings/oleObject98.bin"/><Relationship Id="rId2" Type="http://schemas.openxmlformats.org/officeDocument/2006/relationships/notesSlide" Target="../notesSlides/notesSlide49.xml"/><Relationship Id="rId1" Type="http://schemas.openxmlformats.org/officeDocument/2006/relationships/slideLayout" Target="../slideLayouts/slideLayout4.xml"/><Relationship Id="rId4" Type="http://schemas.openxmlformats.org/officeDocument/2006/relationships/image" Target="../media/image106.wmf"/></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4.xml"/></Relationships>
</file>

<file path=ppt/slides/_rels/slide106.xml.rels><?xml version="1.0" encoding="UTF-8" standalone="yes"?>
<Relationships xmlns="http://schemas.openxmlformats.org/package/2006/relationships"><Relationship Id="rId8" Type="http://schemas.openxmlformats.org/officeDocument/2006/relationships/image" Target="../media/image109.wmf"/><Relationship Id="rId3" Type="http://schemas.openxmlformats.org/officeDocument/2006/relationships/oleObject" Target="../embeddings/oleObject99.bin"/><Relationship Id="rId7" Type="http://schemas.openxmlformats.org/officeDocument/2006/relationships/oleObject" Target="../embeddings/oleObject101.bin"/><Relationship Id="rId2" Type="http://schemas.openxmlformats.org/officeDocument/2006/relationships/notesSlide" Target="../notesSlides/notesSlide51.xml"/><Relationship Id="rId1" Type="http://schemas.openxmlformats.org/officeDocument/2006/relationships/slideLayout" Target="../slideLayouts/slideLayout7.xml"/><Relationship Id="rId6" Type="http://schemas.openxmlformats.org/officeDocument/2006/relationships/image" Target="../media/image108.wmf"/><Relationship Id="rId5" Type="http://schemas.openxmlformats.org/officeDocument/2006/relationships/oleObject" Target="../embeddings/oleObject100.bin"/><Relationship Id="rId4" Type="http://schemas.openxmlformats.org/officeDocument/2006/relationships/image" Target="../media/image107.emf"/></Relationships>
</file>

<file path=ppt/slides/_rels/slide107.xml.rels><?xml version="1.0" encoding="UTF-8" standalone="yes"?>
<Relationships xmlns="http://schemas.openxmlformats.org/package/2006/relationships"><Relationship Id="rId8" Type="http://schemas.openxmlformats.org/officeDocument/2006/relationships/image" Target="../media/image112.wmf"/><Relationship Id="rId3" Type="http://schemas.openxmlformats.org/officeDocument/2006/relationships/oleObject" Target="../embeddings/oleObject102.bin"/><Relationship Id="rId7" Type="http://schemas.openxmlformats.org/officeDocument/2006/relationships/oleObject" Target="../embeddings/oleObject104.bin"/><Relationship Id="rId2" Type="http://schemas.openxmlformats.org/officeDocument/2006/relationships/notesSlide" Target="../notesSlides/notesSlide52.xml"/><Relationship Id="rId1" Type="http://schemas.openxmlformats.org/officeDocument/2006/relationships/slideLayout" Target="../slideLayouts/slideLayout6.xml"/><Relationship Id="rId6" Type="http://schemas.openxmlformats.org/officeDocument/2006/relationships/image" Target="../media/image111.wmf"/><Relationship Id="rId5" Type="http://schemas.openxmlformats.org/officeDocument/2006/relationships/oleObject" Target="../embeddings/oleObject103.bin"/><Relationship Id="rId10" Type="http://schemas.openxmlformats.org/officeDocument/2006/relationships/image" Target="../media/image113.emf"/><Relationship Id="rId4" Type="http://schemas.openxmlformats.org/officeDocument/2006/relationships/image" Target="../media/image110.emf"/><Relationship Id="rId9" Type="http://schemas.openxmlformats.org/officeDocument/2006/relationships/oleObject" Target="../embeddings/oleObject105.bin"/></Relationships>
</file>

<file path=ppt/slides/_rels/slide108.xml.rels><?xml version="1.0" encoding="UTF-8" standalone="yes"?>
<Relationships xmlns="http://schemas.openxmlformats.org/package/2006/relationships"><Relationship Id="rId3" Type="http://schemas.openxmlformats.org/officeDocument/2006/relationships/oleObject" Target="../embeddings/oleObject106.bin"/><Relationship Id="rId2" Type="http://schemas.openxmlformats.org/officeDocument/2006/relationships/notesSlide" Target="../notesSlides/notesSlide53.xml"/><Relationship Id="rId1" Type="http://schemas.openxmlformats.org/officeDocument/2006/relationships/slideLayout" Target="../slideLayouts/slideLayout4.xml"/><Relationship Id="rId6" Type="http://schemas.openxmlformats.org/officeDocument/2006/relationships/image" Target="../media/image115.wmf"/><Relationship Id="rId5" Type="http://schemas.openxmlformats.org/officeDocument/2006/relationships/oleObject" Target="../embeddings/oleObject107.bin"/><Relationship Id="rId4" Type="http://schemas.openxmlformats.org/officeDocument/2006/relationships/image" Target="../media/image114.wmf"/></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image" Target="../media/image116.png"/><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副标题 6">
            <a:extLst>
              <a:ext uri="{FF2B5EF4-FFF2-40B4-BE49-F238E27FC236}">
                <a16:creationId xmlns:a16="http://schemas.microsoft.com/office/drawing/2014/main" id="{4F253667-E038-5703-4CD1-33BC513329A2}"/>
              </a:ext>
            </a:extLst>
          </p:cNvPr>
          <p:cNvSpPr>
            <a:spLocks noGrp="1"/>
          </p:cNvSpPr>
          <p:nvPr>
            <p:ph type="subTitle" idx="1"/>
          </p:nvPr>
        </p:nvSpPr>
        <p:spPr>
          <a:xfrm>
            <a:off x="2717800" y="2908300"/>
            <a:ext cx="8077200" cy="2628900"/>
          </a:xfrm>
        </p:spPr>
        <p:txBody>
          <a:bodyPr>
            <a:noAutofit/>
          </a:bodyPr>
          <a:lstStyle/>
          <a:p>
            <a:pPr algn="l"/>
            <a:r>
              <a:rPr lang="en-US" altLang="zh-CN" sz="3600" dirty="0">
                <a:solidFill>
                  <a:srgbClr val="0070C0"/>
                </a:solidFill>
              </a:rPr>
              <a:t>8.1  </a:t>
            </a:r>
            <a:r>
              <a:rPr lang="zh-CN" altLang="en-US" sz="3600" dirty="0">
                <a:solidFill>
                  <a:srgbClr val="0070C0"/>
                </a:solidFill>
              </a:rPr>
              <a:t>假设检验的一般问题</a:t>
            </a:r>
            <a:endParaRPr lang="en-US" altLang="zh-CN" sz="3600" dirty="0">
              <a:solidFill>
                <a:srgbClr val="0070C0"/>
              </a:solidFill>
            </a:endParaRPr>
          </a:p>
          <a:p>
            <a:pPr algn="l"/>
            <a:r>
              <a:rPr lang="en-US" altLang="zh-CN" sz="3600" dirty="0">
                <a:solidFill>
                  <a:srgbClr val="0070C0"/>
                </a:solidFill>
              </a:rPr>
              <a:t>8.2  </a:t>
            </a:r>
            <a:r>
              <a:rPr lang="zh-CN" altLang="en-US" sz="3600" dirty="0">
                <a:solidFill>
                  <a:srgbClr val="0070C0"/>
                </a:solidFill>
              </a:rPr>
              <a:t>一个总体参数的假设检验 </a:t>
            </a:r>
            <a:endParaRPr lang="en-US" altLang="zh-CN" sz="3600" dirty="0">
              <a:solidFill>
                <a:srgbClr val="0070C0"/>
              </a:solidFill>
            </a:endParaRPr>
          </a:p>
          <a:p>
            <a:pPr algn="l"/>
            <a:r>
              <a:rPr lang="en-US" altLang="zh-CN" sz="3600" dirty="0">
                <a:solidFill>
                  <a:srgbClr val="0070C0"/>
                </a:solidFill>
              </a:rPr>
              <a:t>8.3  </a:t>
            </a:r>
            <a:r>
              <a:rPr lang="zh-CN" altLang="en-US" sz="3600" dirty="0">
                <a:solidFill>
                  <a:srgbClr val="0070C0"/>
                </a:solidFill>
              </a:rPr>
              <a:t>两个总体参数的假设检验</a:t>
            </a:r>
            <a:endParaRPr lang="en-US" altLang="zh-CN" sz="3600" dirty="0">
              <a:solidFill>
                <a:srgbClr val="0070C0"/>
              </a:solidFill>
            </a:endParaRPr>
          </a:p>
          <a:p>
            <a:pPr algn="l"/>
            <a:r>
              <a:rPr lang="en-US" altLang="zh-CN" sz="3600" dirty="0">
                <a:solidFill>
                  <a:srgbClr val="0070C0"/>
                </a:solidFill>
              </a:rPr>
              <a:t>8.4  </a:t>
            </a:r>
            <a:r>
              <a:rPr lang="zh-CN" altLang="en-US" sz="3200" dirty="0">
                <a:solidFill>
                  <a:srgbClr val="0070C0"/>
                </a:solidFill>
              </a:rPr>
              <a:t>多个总体均值的比较</a:t>
            </a:r>
            <a:r>
              <a:rPr lang="en-US" altLang="zh-CN" sz="3200" dirty="0">
                <a:solidFill>
                  <a:srgbClr val="0070C0"/>
                </a:solidFill>
                <a:latin typeface="Arial" pitchFamily="34" charset="0"/>
              </a:rPr>
              <a:t>—</a:t>
            </a:r>
            <a:r>
              <a:rPr lang="zh-CN" altLang="en-US" sz="3200" dirty="0">
                <a:solidFill>
                  <a:srgbClr val="0070C0"/>
                </a:solidFill>
              </a:rPr>
              <a:t>单因素方差分析  </a:t>
            </a:r>
            <a:endParaRPr lang="en-US" altLang="zh-CN" sz="3200" dirty="0">
              <a:solidFill>
                <a:srgbClr val="0070C0"/>
              </a:solidFill>
            </a:endParaRPr>
          </a:p>
          <a:p>
            <a:endParaRPr lang="zh-CN" altLang="en-US" sz="3600" dirty="0">
              <a:solidFill>
                <a:srgbClr val="0070C0"/>
              </a:solidFill>
            </a:endParaRPr>
          </a:p>
        </p:txBody>
      </p:sp>
      <p:sp>
        <p:nvSpPr>
          <p:cNvPr id="6" name="标题 5">
            <a:extLst>
              <a:ext uri="{FF2B5EF4-FFF2-40B4-BE49-F238E27FC236}">
                <a16:creationId xmlns:a16="http://schemas.microsoft.com/office/drawing/2014/main" id="{67737696-94B0-B69F-91E2-A9C7C1347CF6}"/>
              </a:ext>
            </a:extLst>
          </p:cNvPr>
          <p:cNvSpPr>
            <a:spLocks noGrp="1"/>
          </p:cNvSpPr>
          <p:nvPr>
            <p:ph type="ctrTitle"/>
          </p:nvPr>
        </p:nvSpPr>
        <p:spPr>
          <a:xfrm>
            <a:off x="139700" y="296865"/>
            <a:ext cx="11798300" cy="2395535"/>
          </a:xfrm>
        </p:spPr>
        <p:txBody>
          <a:bodyPr>
            <a:noAutofit/>
          </a:bodyPr>
          <a:lstStyle/>
          <a:p>
            <a:r>
              <a:rPr lang="en-US" altLang="zh-CN" sz="6600" dirty="0" err="1"/>
              <a:t>Ch</a:t>
            </a:r>
            <a:r>
              <a:rPr lang="en-US" altLang="zh-CN" sz="6600" dirty="0"/>
              <a:t> 8</a:t>
            </a:r>
            <a:r>
              <a:rPr lang="en-US" altLang="zh-CN" sz="4000" dirty="0"/>
              <a:t> </a:t>
            </a:r>
            <a:br>
              <a:rPr lang="en-US" altLang="zh-CN" sz="4000" dirty="0"/>
            </a:br>
            <a:br>
              <a:rPr lang="en-US" altLang="zh-CN" sz="2400" dirty="0"/>
            </a:br>
            <a:r>
              <a:rPr lang="en-US" altLang="zh-CN" sz="6000" dirty="0"/>
              <a:t> </a:t>
            </a:r>
            <a:r>
              <a:rPr lang="zh-CN" altLang="en-US" sz="6600" dirty="0"/>
              <a:t>假设检验与方差分析</a:t>
            </a:r>
            <a:endParaRPr lang="zh-CN" altLang="en-US" sz="6000" dirty="0"/>
          </a:p>
        </p:txBody>
      </p:sp>
    </p:spTree>
    <p:extLst>
      <p:ext uri="{BB962C8B-B14F-4D97-AF65-F5344CB8AC3E}">
        <p14:creationId xmlns:p14="http://schemas.microsoft.com/office/powerpoint/2010/main" val="25840565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副标题 6">
            <a:extLst>
              <a:ext uri="{FF2B5EF4-FFF2-40B4-BE49-F238E27FC236}">
                <a16:creationId xmlns:a16="http://schemas.microsoft.com/office/drawing/2014/main" id="{4F253667-E038-5703-4CD1-33BC513329A2}"/>
              </a:ext>
            </a:extLst>
          </p:cNvPr>
          <p:cNvSpPr>
            <a:spLocks noGrp="1"/>
          </p:cNvSpPr>
          <p:nvPr>
            <p:ph type="subTitle" idx="1"/>
          </p:nvPr>
        </p:nvSpPr>
        <p:spPr>
          <a:xfrm>
            <a:off x="2819400" y="2387600"/>
            <a:ext cx="7912100" cy="2590800"/>
          </a:xfrm>
        </p:spPr>
        <p:txBody>
          <a:bodyPr>
            <a:noAutofit/>
          </a:bodyPr>
          <a:lstStyle/>
          <a:p>
            <a:pPr algn="l">
              <a:lnSpc>
                <a:spcPct val="150000"/>
              </a:lnSpc>
            </a:pPr>
            <a:r>
              <a:rPr lang="zh-CN" altLang="en-US" sz="3600" dirty="0">
                <a:solidFill>
                  <a:srgbClr val="0070C0"/>
                </a:solidFill>
              </a:rPr>
              <a:t>一、假设检验的基本思想</a:t>
            </a:r>
          </a:p>
          <a:p>
            <a:pPr algn="l">
              <a:lnSpc>
                <a:spcPct val="150000"/>
              </a:lnSpc>
            </a:pPr>
            <a:r>
              <a:rPr lang="zh-CN" altLang="en-US" sz="3600" dirty="0">
                <a:solidFill>
                  <a:srgbClr val="0070C0"/>
                </a:solidFill>
              </a:rPr>
              <a:t>二、假设检验的一般步骤</a:t>
            </a:r>
          </a:p>
          <a:p>
            <a:pPr algn="l">
              <a:lnSpc>
                <a:spcPct val="150000"/>
              </a:lnSpc>
            </a:pPr>
            <a:r>
              <a:rPr lang="zh-CN" altLang="en-US" sz="3600" dirty="0">
                <a:solidFill>
                  <a:srgbClr val="0070C0"/>
                </a:solidFill>
              </a:rPr>
              <a:t>三、假设检验的两类错误</a:t>
            </a:r>
          </a:p>
          <a:p>
            <a:endParaRPr lang="zh-CN" altLang="en-US" sz="3600" dirty="0">
              <a:solidFill>
                <a:srgbClr val="0070C0"/>
              </a:solidFill>
            </a:endParaRPr>
          </a:p>
        </p:txBody>
      </p:sp>
      <p:sp>
        <p:nvSpPr>
          <p:cNvPr id="6" name="标题 5">
            <a:extLst>
              <a:ext uri="{FF2B5EF4-FFF2-40B4-BE49-F238E27FC236}">
                <a16:creationId xmlns:a16="http://schemas.microsoft.com/office/drawing/2014/main" id="{67737696-94B0-B69F-91E2-A9C7C1347CF6}"/>
              </a:ext>
            </a:extLst>
          </p:cNvPr>
          <p:cNvSpPr>
            <a:spLocks noGrp="1"/>
          </p:cNvSpPr>
          <p:nvPr>
            <p:ph type="ctrTitle"/>
          </p:nvPr>
        </p:nvSpPr>
        <p:spPr>
          <a:xfrm>
            <a:off x="139700" y="296865"/>
            <a:ext cx="11798300" cy="2395535"/>
          </a:xfrm>
        </p:spPr>
        <p:txBody>
          <a:bodyPr>
            <a:noAutofit/>
          </a:bodyPr>
          <a:lstStyle/>
          <a:p>
            <a:r>
              <a:rPr lang="en-US" altLang="zh-CN" sz="4800" dirty="0"/>
              <a:t>8.1  </a:t>
            </a:r>
            <a:r>
              <a:rPr lang="zh-CN" altLang="en-US" sz="4800" dirty="0"/>
              <a:t>假设检验的一般问题</a:t>
            </a:r>
            <a:endParaRPr lang="zh-CN" altLang="en-US" sz="4400" dirty="0"/>
          </a:p>
        </p:txBody>
      </p:sp>
    </p:spTree>
    <p:extLst>
      <p:ext uri="{BB962C8B-B14F-4D97-AF65-F5344CB8AC3E}">
        <p14:creationId xmlns:p14="http://schemas.microsoft.com/office/powerpoint/2010/main" val="38211854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A057232-ACDC-636B-340D-BB2F404F24AC}"/>
              </a:ext>
            </a:extLst>
          </p:cNvPr>
          <p:cNvSpPr>
            <a:spLocks noGrp="1"/>
          </p:cNvSpPr>
          <p:nvPr>
            <p:ph type="title"/>
          </p:nvPr>
        </p:nvSpPr>
        <p:spPr>
          <a:xfrm>
            <a:off x="1803400" y="6826"/>
            <a:ext cx="9867900" cy="662782"/>
          </a:xfrm>
        </p:spPr>
        <p:txBody>
          <a:bodyPr/>
          <a:lstStyle/>
          <a:p>
            <a:r>
              <a:rPr lang="zh-CN" altLang="en-US" dirty="0"/>
              <a:t>引例</a:t>
            </a:r>
            <a:r>
              <a:rPr lang="en-US" altLang="zh-CN" dirty="0"/>
              <a:t>1</a:t>
            </a:r>
            <a:endParaRPr lang="zh-CN" altLang="en-US" dirty="0"/>
          </a:p>
        </p:txBody>
      </p:sp>
      <p:sp>
        <p:nvSpPr>
          <p:cNvPr id="3" name="内容占位符 2">
            <a:extLst>
              <a:ext uri="{FF2B5EF4-FFF2-40B4-BE49-F238E27FC236}">
                <a16:creationId xmlns:a16="http://schemas.microsoft.com/office/drawing/2014/main" id="{15537F92-B8E2-AEBD-FD0C-285CDBC49E91}"/>
              </a:ext>
            </a:extLst>
          </p:cNvPr>
          <p:cNvSpPr>
            <a:spLocks noGrp="1"/>
          </p:cNvSpPr>
          <p:nvPr>
            <p:ph idx="1"/>
          </p:nvPr>
        </p:nvSpPr>
        <p:spPr>
          <a:xfrm>
            <a:off x="319119" y="711200"/>
            <a:ext cx="11161681" cy="5333761"/>
          </a:xfrm>
        </p:spPr>
        <p:txBody>
          <a:bodyPr>
            <a:normAutofit fontScale="77500" lnSpcReduction="20000"/>
          </a:bodyPr>
          <a:lstStyle/>
          <a:p>
            <a:pPr marL="0" indent="0">
              <a:lnSpc>
                <a:spcPct val="170000"/>
              </a:lnSpc>
              <a:spcBef>
                <a:spcPts val="600"/>
              </a:spcBef>
              <a:spcAft>
                <a:spcPts val="0"/>
              </a:spcAft>
              <a:buNone/>
            </a:pPr>
            <a:r>
              <a:rPr lang="en-US" altLang="zh-CN" dirty="0"/>
              <a:t>    </a:t>
            </a:r>
            <a:r>
              <a:rPr lang="zh-CN" altLang="zh-CN" dirty="0"/>
              <a:t>医学检测中经常提到关于检测结果存在“</a:t>
            </a:r>
            <a:r>
              <a:rPr lang="zh-CN" altLang="zh-CN" b="1" dirty="0">
                <a:solidFill>
                  <a:srgbClr val="00B0F0"/>
                </a:solidFill>
              </a:rPr>
              <a:t>假阴</a:t>
            </a:r>
            <a:r>
              <a:rPr lang="zh-CN" altLang="zh-CN" dirty="0"/>
              <a:t>”或 “</a:t>
            </a:r>
            <a:r>
              <a:rPr lang="zh-CN" altLang="zh-CN" b="1" dirty="0">
                <a:solidFill>
                  <a:srgbClr val="00B0F0"/>
                </a:solidFill>
              </a:rPr>
              <a:t>假阳</a:t>
            </a:r>
            <a:r>
              <a:rPr lang="zh-CN" altLang="zh-CN" dirty="0"/>
              <a:t>”的可能。从统计理论来看，这是为什么呢？根据样本得出的结论可能存在哪些错误呢？为什么要多种检测方法结合？为什么须进行多次检测？ </a:t>
            </a:r>
          </a:p>
          <a:p>
            <a:pPr marL="0" indent="0">
              <a:lnSpc>
                <a:spcPct val="170000"/>
              </a:lnSpc>
              <a:spcBef>
                <a:spcPts val="600"/>
              </a:spcBef>
              <a:spcAft>
                <a:spcPts val="0"/>
              </a:spcAft>
              <a:buNone/>
            </a:pPr>
            <a:r>
              <a:rPr lang="zh-CN" altLang="en-US" sz="2800" dirty="0"/>
              <a:t>      新药</a:t>
            </a:r>
            <a:r>
              <a:rPr lang="zh-CN" altLang="zh-CN" sz="2800" dirty="0"/>
              <a:t>上市前一般需要经历三期临床试验。严格的试验主要是采用随机对照试验（</a:t>
            </a:r>
            <a:r>
              <a:rPr lang="en-US" altLang="zh-CN" sz="2800" dirty="0"/>
              <a:t>Randomized controlled trial</a:t>
            </a:r>
            <a:r>
              <a:rPr lang="zh-CN" altLang="zh-CN" sz="2800" dirty="0"/>
              <a:t>），即将研究对象按随机化的方法分为试验组与对照组，试验组给予所要测试的药品，对照组给予安慰剂，最后观察两组结果的差别是否具有统计意义</a:t>
            </a:r>
            <a:r>
              <a:rPr lang="zh-CN" altLang="zh-CN" dirty="0"/>
              <a:t>。</a:t>
            </a:r>
            <a:r>
              <a:rPr lang="zh-CN" altLang="zh-CN" b="1" dirty="0">
                <a:solidFill>
                  <a:srgbClr val="7030A0"/>
                </a:solidFill>
              </a:rPr>
              <a:t>为什么必须要经过大样本的临床试验呢？为什么要采用随机对照试验呢</a:t>
            </a:r>
            <a:r>
              <a:rPr lang="en-US" altLang="zh-CN" b="1" dirty="0">
                <a:solidFill>
                  <a:srgbClr val="7030A0"/>
                </a:solidFill>
              </a:rPr>
              <a:t>? </a:t>
            </a:r>
            <a:r>
              <a:rPr lang="zh-CN" altLang="zh-CN" b="1" dirty="0">
                <a:solidFill>
                  <a:srgbClr val="7030A0"/>
                </a:solidFill>
              </a:rPr>
              <a:t>试验组与对照组的差异要多大才具有统计意义呢</a:t>
            </a:r>
            <a:r>
              <a:rPr lang="en-US" altLang="zh-CN" b="1" dirty="0">
                <a:solidFill>
                  <a:srgbClr val="7030A0"/>
                </a:solidFill>
              </a:rPr>
              <a:t>? </a:t>
            </a:r>
            <a:endParaRPr lang="zh-CN" altLang="zh-CN" b="1" dirty="0">
              <a:solidFill>
                <a:srgbClr val="7030A0"/>
              </a:solidFill>
            </a:endParaRPr>
          </a:p>
          <a:p>
            <a:pPr marL="0" indent="0">
              <a:lnSpc>
                <a:spcPct val="170000"/>
              </a:lnSpc>
              <a:spcBef>
                <a:spcPts val="600"/>
              </a:spcBef>
              <a:spcAft>
                <a:spcPts val="0"/>
              </a:spcAft>
              <a:buNone/>
            </a:pPr>
            <a:r>
              <a:rPr lang="en-US" altLang="zh-CN" dirty="0"/>
              <a:t>   </a:t>
            </a:r>
            <a:r>
              <a:rPr lang="zh-CN" altLang="zh-CN" dirty="0"/>
              <a:t>回答以上问题</a:t>
            </a:r>
            <a:r>
              <a:rPr lang="zh-CN" altLang="en-US" dirty="0"/>
              <a:t>，</a:t>
            </a:r>
            <a:r>
              <a:rPr lang="zh-CN" altLang="zh-CN" dirty="0"/>
              <a:t>就需要运用统计推断中的假设检验和方差分析。</a:t>
            </a:r>
            <a:endParaRPr lang="zh-CN" altLang="en-US" dirty="0"/>
          </a:p>
        </p:txBody>
      </p:sp>
      <p:sp>
        <p:nvSpPr>
          <p:cNvPr id="4" name="灯片编号占位符 3">
            <a:extLst>
              <a:ext uri="{FF2B5EF4-FFF2-40B4-BE49-F238E27FC236}">
                <a16:creationId xmlns:a16="http://schemas.microsoft.com/office/drawing/2014/main" id="{2DDAE441-2328-F8B1-8185-AEB5E07931A9}"/>
              </a:ext>
            </a:extLst>
          </p:cNvPr>
          <p:cNvSpPr>
            <a:spLocks noGrp="1"/>
          </p:cNvSpPr>
          <p:nvPr>
            <p:ph type="sldNum" sz="quarter" idx="4"/>
          </p:nvPr>
        </p:nvSpPr>
        <p:spPr/>
        <p:txBody>
          <a:bodyPr/>
          <a:lstStyle/>
          <a:p>
            <a:fld id="{4ABD14BD-504E-42EC-A2AB-5F7BAF221D6C}" type="slidenum">
              <a:rPr lang="zh-CN" altLang="en-US" smtClean="0"/>
              <a:pPr/>
              <a:t>3</a:t>
            </a:fld>
            <a:endParaRPr lang="zh-CN" altLang="en-US"/>
          </a:p>
        </p:txBody>
      </p:sp>
    </p:spTree>
    <p:extLst>
      <p:ext uri="{BB962C8B-B14F-4D97-AF65-F5344CB8AC3E}">
        <p14:creationId xmlns:p14="http://schemas.microsoft.com/office/powerpoint/2010/main" val="41599485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9394" name="灯片编号占位符 5"/>
          <p:cNvSpPr>
            <a:spLocks noGrp="1"/>
          </p:cNvSpPr>
          <p:nvPr>
            <p:ph type="sldNum" sz="quarter" idx="4294967295"/>
          </p:nvPr>
        </p:nvSpPr>
        <p:spPr>
          <a:noFill/>
        </p:spPr>
        <p:txBody>
          <a:bodyPr/>
          <a:lstStyle/>
          <a:p>
            <a:endParaRPr lang="en-US" altLang="zh-CN" dirty="0">
              <a:ea typeface="宋体" pitchFamily="2" charset="-122"/>
            </a:endParaRPr>
          </a:p>
        </p:txBody>
      </p:sp>
      <p:sp>
        <p:nvSpPr>
          <p:cNvPr id="59395" name="Rectangle 2050"/>
          <p:cNvSpPr>
            <a:spLocks noGrp="1" noChangeArrowheads="1"/>
          </p:cNvSpPr>
          <p:nvPr>
            <p:ph type="title"/>
          </p:nvPr>
        </p:nvSpPr>
        <p:spPr>
          <a:xfrm>
            <a:off x="2533650" y="495300"/>
            <a:ext cx="7258050" cy="723900"/>
          </a:xfrm>
        </p:spPr>
        <p:txBody>
          <a:bodyPr/>
          <a:lstStyle/>
          <a:p>
            <a:pPr eaLnBrk="1" hangingPunct="1"/>
            <a:r>
              <a:rPr lang="zh-CN" altLang="en-US" sz="4000" dirty="0">
                <a:solidFill>
                  <a:srgbClr val="000000"/>
                </a:solidFill>
              </a:rPr>
              <a:t>实际中的假设检验问题</a:t>
            </a:r>
          </a:p>
        </p:txBody>
      </p:sp>
      <p:sp>
        <p:nvSpPr>
          <p:cNvPr id="59396" name="Rectangle 2051"/>
          <p:cNvSpPr>
            <a:spLocks noGrp="1" noChangeArrowheads="1"/>
          </p:cNvSpPr>
          <p:nvPr>
            <p:ph type="body" idx="1"/>
          </p:nvPr>
        </p:nvSpPr>
        <p:spPr>
          <a:xfrm>
            <a:off x="1619250" y="1219200"/>
            <a:ext cx="8172450" cy="2678906"/>
          </a:xfrm>
          <a:noFill/>
        </p:spPr>
        <p:txBody>
          <a:bodyPr vert="horz" lIns="90488" tIns="44450" rIns="90488" bIns="44450" rtlCol="0">
            <a:noAutofit/>
          </a:bodyPr>
          <a:lstStyle/>
          <a:p>
            <a:r>
              <a:rPr lang="zh-CN" altLang="en-US" sz="2700" b="1" dirty="0"/>
              <a:t>产品生产线工作是否正常；</a:t>
            </a:r>
          </a:p>
          <a:p>
            <a:r>
              <a:rPr lang="zh-CN" altLang="en-US" sz="2700" b="1" dirty="0"/>
              <a:t>厂商声称产品质量符合标准，是否可信；</a:t>
            </a:r>
          </a:p>
          <a:p>
            <a:r>
              <a:rPr lang="zh-CN" altLang="zh-CN" sz="2700" b="1" dirty="0"/>
              <a:t>测试不同营销方式的效果有无显著差异；</a:t>
            </a:r>
            <a:endParaRPr lang="en-US" altLang="zh-CN" sz="2700" b="1" dirty="0"/>
          </a:p>
          <a:p>
            <a:r>
              <a:rPr lang="zh-CN" altLang="en-US" sz="2700" b="1" dirty="0"/>
              <a:t>学生考试成绩是否服从正态分布</a:t>
            </a:r>
            <a:endParaRPr lang="en-US" altLang="zh-CN" sz="2700" b="1" dirty="0"/>
          </a:p>
          <a:p>
            <a:r>
              <a:rPr lang="zh-CN" altLang="en-US" sz="2700" b="1" dirty="0"/>
              <a:t>两个变量间是否存在相关性</a:t>
            </a:r>
            <a:r>
              <a:rPr lang="en-US" altLang="zh-CN" sz="2700" b="1" dirty="0"/>
              <a:t>……  ……</a:t>
            </a:r>
          </a:p>
        </p:txBody>
      </p:sp>
      <p:sp>
        <p:nvSpPr>
          <p:cNvPr id="330756" name="Text Box 2052"/>
          <p:cNvSpPr txBox="1">
            <a:spLocks noChangeArrowheads="1"/>
          </p:cNvSpPr>
          <p:nvPr/>
        </p:nvSpPr>
        <p:spPr bwMode="auto">
          <a:xfrm>
            <a:off x="1609724" y="3898106"/>
            <a:ext cx="8963025" cy="2332946"/>
          </a:xfrm>
          <a:prstGeom prst="rect">
            <a:avLst/>
          </a:prstGeom>
          <a:noFill/>
          <a:ln w="12700">
            <a:noFill/>
            <a:miter lim="800000"/>
            <a:headEnd/>
            <a:tailEnd/>
          </a:ln>
        </p:spPr>
        <p:txBody>
          <a:bodyPr wrap="square">
            <a:spAutoFit/>
          </a:bodyPr>
          <a:lstStyle/>
          <a:p>
            <a:pPr eaLnBrk="0" hangingPunct="0">
              <a:spcBef>
                <a:spcPct val="10000"/>
              </a:spcBef>
            </a:pPr>
            <a:r>
              <a:rPr kumimoji="1" lang="en-US" altLang="zh-CN" sz="2800" b="1" dirty="0">
                <a:solidFill>
                  <a:srgbClr val="FF0066"/>
                </a:solidFill>
              </a:rPr>
              <a:t>※ </a:t>
            </a:r>
            <a:r>
              <a:rPr kumimoji="1" lang="zh-CN" altLang="en-US" sz="2800" b="1" dirty="0">
                <a:solidFill>
                  <a:srgbClr val="FF0066"/>
                </a:solidFill>
              </a:rPr>
              <a:t>假设检验</a:t>
            </a:r>
            <a:r>
              <a:rPr kumimoji="1" lang="en-US" altLang="zh-CN" sz="2800" b="1" dirty="0">
                <a:solidFill>
                  <a:srgbClr val="000000"/>
                </a:solidFill>
              </a:rPr>
              <a:t>——</a:t>
            </a:r>
            <a:r>
              <a:rPr kumimoji="1" lang="zh-CN" altLang="en-US" sz="2800" b="1" dirty="0">
                <a:solidFill>
                  <a:srgbClr val="000000"/>
                </a:solidFill>
              </a:rPr>
              <a:t>关于总体某一数量特征事先作出一个假设命题，然后通过样本信息来判断该命题是否成立。可分为：</a:t>
            </a:r>
          </a:p>
          <a:p>
            <a:pPr marL="444500" lvl="1" eaLnBrk="0" hangingPunct="0">
              <a:spcBef>
                <a:spcPct val="10000"/>
              </a:spcBef>
              <a:buClr>
                <a:srgbClr val="0070C0"/>
              </a:buClr>
              <a:buSzPct val="80000"/>
              <a:buFont typeface="Wingdings" panose="05000000000000000000" pitchFamily="2" charset="2"/>
              <a:buChar char="l"/>
            </a:pPr>
            <a:r>
              <a:rPr kumimoji="1" lang="zh-CN" altLang="en-US" b="1" dirty="0">
                <a:solidFill>
                  <a:srgbClr val="000000"/>
                </a:solidFill>
              </a:rPr>
              <a:t>   </a:t>
            </a:r>
            <a:r>
              <a:rPr kumimoji="1" lang="zh-CN" altLang="en-US" sz="2800" b="1" dirty="0">
                <a:solidFill>
                  <a:srgbClr val="0070C0"/>
                </a:solidFill>
              </a:rPr>
              <a:t>参数检验（限定分布检验）</a:t>
            </a:r>
            <a:endParaRPr kumimoji="1" lang="en-US" altLang="zh-CN" sz="2800" b="1" dirty="0">
              <a:solidFill>
                <a:srgbClr val="0070C0"/>
              </a:solidFill>
            </a:endParaRPr>
          </a:p>
          <a:p>
            <a:pPr marL="444500" lvl="1" eaLnBrk="0" hangingPunct="0">
              <a:spcBef>
                <a:spcPct val="10000"/>
              </a:spcBef>
              <a:buClr>
                <a:srgbClr val="0070C0"/>
              </a:buClr>
              <a:buSzPct val="80000"/>
              <a:buFont typeface="Wingdings" panose="05000000000000000000" pitchFamily="2" charset="2"/>
              <a:buChar char="l"/>
            </a:pPr>
            <a:r>
              <a:rPr kumimoji="1" lang="zh-CN" altLang="en-US" b="1" dirty="0">
                <a:solidFill>
                  <a:srgbClr val="0070C0"/>
                </a:solidFill>
              </a:rPr>
              <a:t> </a:t>
            </a:r>
            <a:r>
              <a:rPr kumimoji="1" lang="zh-CN" altLang="en-US" sz="2800" b="1" dirty="0">
                <a:solidFill>
                  <a:srgbClr val="0070C0"/>
                </a:solidFill>
              </a:rPr>
              <a:t>非参数检验（自由分布检验）</a:t>
            </a:r>
            <a:r>
              <a:rPr kumimoji="1" lang="en-US" altLang="zh-CN" sz="2400" dirty="0">
                <a:solidFill>
                  <a:schemeClr val="tx1">
                    <a:lumMod val="50000"/>
                    <a:lumOff val="50000"/>
                  </a:schemeClr>
                </a:solidFill>
              </a:rPr>
              <a:t>——</a:t>
            </a:r>
            <a:r>
              <a:rPr kumimoji="1" lang="zh-CN" altLang="en-US" sz="2400" dirty="0">
                <a:solidFill>
                  <a:schemeClr val="tx1">
                    <a:lumMod val="50000"/>
                    <a:lumOff val="50000"/>
                  </a:schemeClr>
                </a:solidFill>
              </a:rPr>
              <a:t>本课程不讲</a:t>
            </a:r>
          </a:p>
        </p:txBody>
      </p:sp>
    </p:spTree>
    <p:extLst>
      <p:ext uri="{BB962C8B-B14F-4D97-AF65-F5344CB8AC3E}">
        <p14:creationId xmlns:p14="http://schemas.microsoft.com/office/powerpoint/2010/main" val="13776901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30756"/>
                                        </p:tgtEl>
                                        <p:attrNameLst>
                                          <p:attrName>style.visibility</p:attrName>
                                        </p:attrNameLst>
                                      </p:cBhvr>
                                      <p:to>
                                        <p:strVal val="visible"/>
                                      </p:to>
                                    </p:set>
                                    <p:anim calcmode="lin" valueType="num">
                                      <p:cBhvr additive="base">
                                        <p:cTn id="7" dur="500" fill="hold"/>
                                        <p:tgtEl>
                                          <p:spTgt spid="330756"/>
                                        </p:tgtEl>
                                        <p:attrNameLst>
                                          <p:attrName>ppt_x</p:attrName>
                                        </p:attrNameLst>
                                      </p:cBhvr>
                                      <p:tavLst>
                                        <p:tav tm="0">
                                          <p:val>
                                            <p:strVal val="0-#ppt_w/2"/>
                                          </p:val>
                                        </p:tav>
                                        <p:tav tm="100000">
                                          <p:val>
                                            <p:strVal val="#ppt_x"/>
                                          </p:val>
                                        </p:tav>
                                      </p:tavLst>
                                    </p:anim>
                                    <p:anim calcmode="lin" valueType="num">
                                      <p:cBhvr additive="base">
                                        <p:cTn id="8" dur="500" fill="hold"/>
                                        <p:tgtEl>
                                          <p:spTgt spid="33075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0756" grpId="0" autoUpdateAnimBg="0"/>
    </p:bldLst>
  </p:timing>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1442" name="灯片编号占位符 5"/>
          <p:cNvSpPr>
            <a:spLocks noGrp="1"/>
          </p:cNvSpPr>
          <p:nvPr>
            <p:ph type="sldNum" sz="quarter" idx="4294967295"/>
          </p:nvPr>
        </p:nvSpPr>
        <p:spPr>
          <a:noFill/>
        </p:spPr>
        <p:txBody>
          <a:bodyPr/>
          <a:lstStyle/>
          <a:p>
            <a:r>
              <a:rPr lang="en-US" altLang="zh-CN">
                <a:ea typeface="宋体" pitchFamily="2" charset="-122"/>
              </a:rPr>
              <a:t>8--</a:t>
            </a:r>
            <a:fld id="{FEFA84C7-9B3A-4EB2-ABEB-72B600D41551}" type="slidenum">
              <a:rPr lang="en-US" altLang="zh-CN" smtClean="0">
                <a:ea typeface="宋体" pitchFamily="2" charset="-122"/>
              </a:rPr>
              <a:pPr/>
              <a:t>5</a:t>
            </a:fld>
            <a:endParaRPr lang="en-US" altLang="zh-CN">
              <a:ea typeface="宋体" pitchFamily="2" charset="-122"/>
            </a:endParaRPr>
          </a:p>
        </p:txBody>
      </p:sp>
      <p:sp>
        <p:nvSpPr>
          <p:cNvPr id="61443" name="Rectangle 2"/>
          <p:cNvSpPr>
            <a:spLocks noGrp="1" noChangeArrowheads="1"/>
          </p:cNvSpPr>
          <p:nvPr>
            <p:ph type="title"/>
          </p:nvPr>
        </p:nvSpPr>
        <p:spPr>
          <a:xfrm>
            <a:off x="2424113" y="489510"/>
            <a:ext cx="6754178" cy="990600"/>
          </a:xfrm>
          <a:noFill/>
        </p:spPr>
        <p:txBody>
          <a:bodyPr vert="horz" lIns="90488" tIns="44450" rIns="90488" bIns="44450" rtlCol="0" anchor="ctr" anchorCtr="1">
            <a:normAutofit/>
          </a:bodyPr>
          <a:lstStyle/>
          <a:p>
            <a:pPr eaLnBrk="1" hangingPunct="1"/>
            <a:r>
              <a:rPr lang="zh-CN" altLang="en-US" sz="4000" b="1" dirty="0">
                <a:solidFill>
                  <a:srgbClr val="00B0F0"/>
                </a:solidFill>
                <a:effectLst/>
              </a:rPr>
              <a:t>小概率原理</a:t>
            </a:r>
          </a:p>
        </p:txBody>
      </p:sp>
      <p:sp>
        <p:nvSpPr>
          <p:cNvPr id="14339" name="Rectangle 3"/>
          <p:cNvSpPr>
            <a:spLocks noGrp="1" noChangeArrowheads="1"/>
          </p:cNvSpPr>
          <p:nvPr>
            <p:ph type="body" idx="1"/>
          </p:nvPr>
        </p:nvSpPr>
        <p:spPr>
          <a:xfrm>
            <a:off x="1809750" y="1231901"/>
            <a:ext cx="8286750" cy="5197476"/>
          </a:xfrm>
          <a:noFill/>
        </p:spPr>
        <p:txBody>
          <a:bodyPr vert="horz" lIns="90488" tIns="44450" rIns="90488" bIns="44450" rtlCol="0">
            <a:normAutofit/>
          </a:bodyPr>
          <a:lstStyle/>
          <a:p>
            <a:pPr marL="1219200" lvl="1" indent="-762000">
              <a:lnSpc>
                <a:spcPct val="120000"/>
              </a:lnSpc>
              <a:spcBef>
                <a:spcPct val="10000"/>
              </a:spcBef>
            </a:pPr>
            <a:r>
              <a:rPr lang="zh-CN" altLang="en-US" b="0" dirty="0">
                <a:solidFill>
                  <a:srgbClr val="CC0099"/>
                </a:solidFill>
              </a:rPr>
              <a:t>小概率事件</a:t>
            </a:r>
            <a:r>
              <a:rPr lang="zh-CN" altLang="en-US" dirty="0">
                <a:solidFill>
                  <a:schemeClr val="tx2"/>
                </a:solidFill>
              </a:rPr>
              <a:t>：</a:t>
            </a:r>
            <a:r>
              <a:rPr lang="zh-CN" altLang="en-US" b="0" dirty="0"/>
              <a:t>发生概率很小的随机事件</a:t>
            </a:r>
          </a:p>
          <a:p>
            <a:pPr marL="1219200" lvl="1" indent="-762000">
              <a:lnSpc>
                <a:spcPct val="120000"/>
              </a:lnSpc>
              <a:spcBef>
                <a:spcPct val="10000"/>
              </a:spcBef>
            </a:pPr>
            <a:r>
              <a:rPr lang="zh-CN" altLang="en-US" dirty="0">
                <a:solidFill>
                  <a:srgbClr val="CC0099"/>
                </a:solidFill>
              </a:rPr>
              <a:t>小概率原理</a:t>
            </a:r>
            <a:r>
              <a:rPr lang="zh-CN" altLang="en-US" dirty="0"/>
              <a:t>：小概率事件在一次试验（观察）中几乎不可能发生。</a:t>
            </a:r>
          </a:p>
          <a:p>
            <a:pPr marL="914400" lvl="2" indent="0">
              <a:lnSpc>
                <a:spcPct val="120000"/>
              </a:lnSpc>
              <a:spcBef>
                <a:spcPct val="10000"/>
              </a:spcBef>
              <a:buNone/>
            </a:pPr>
            <a:r>
              <a:rPr lang="zh-CN" altLang="en-US" dirty="0"/>
              <a:t>        小概率原理在日常决策中广泛运用</a:t>
            </a:r>
            <a:r>
              <a:rPr lang="en-US" altLang="zh-CN" dirty="0">
                <a:solidFill>
                  <a:srgbClr val="008000"/>
                </a:solidFill>
                <a:latin typeface="Arial" pitchFamily="34" charset="0"/>
              </a:rPr>
              <a:t>…</a:t>
            </a:r>
            <a:endParaRPr lang="en-US" altLang="zh-CN" dirty="0">
              <a:solidFill>
                <a:srgbClr val="008000"/>
              </a:solidFill>
            </a:endParaRPr>
          </a:p>
          <a:p>
            <a:pPr marL="1219200" lvl="1" indent="-762000">
              <a:lnSpc>
                <a:spcPct val="120000"/>
              </a:lnSpc>
              <a:spcBef>
                <a:spcPct val="10000"/>
              </a:spcBef>
            </a:pPr>
            <a:r>
              <a:rPr lang="zh-CN" altLang="en-US" dirty="0">
                <a:solidFill>
                  <a:srgbClr val="CC0099"/>
                </a:solidFill>
              </a:rPr>
              <a:t>什么样的概率才算小概率？</a:t>
            </a:r>
          </a:p>
          <a:p>
            <a:pPr marL="1543050" lvl="2" indent="-628650">
              <a:lnSpc>
                <a:spcPct val="120000"/>
              </a:lnSpc>
              <a:spcBef>
                <a:spcPct val="10000"/>
              </a:spcBef>
            </a:pPr>
            <a:r>
              <a:rPr lang="zh-CN" altLang="en-US" sz="2800" dirty="0"/>
              <a:t>根据决策的风险要求来决定，没有统一的界定标准。</a:t>
            </a:r>
          </a:p>
          <a:p>
            <a:pPr marL="1543050" lvl="2" indent="-628650">
              <a:lnSpc>
                <a:spcPct val="120000"/>
              </a:lnSpc>
              <a:spcBef>
                <a:spcPct val="10000"/>
              </a:spcBef>
            </a:pPr>
            <a:r>
              <a:rPr lang="zh-CN" altLang="en-US" sz="2800" dirty="0"/>
              <a:t>假设检验中给“小概率”设定的具体水准称为</a:t>
            </a:r>
            <a:r>
              <a:rPr lang="zh-CN" altLang="en-US" sz="2800" dirty="0">
                <a:solidFill>
                  <a:srgbClr val="CC0099"/>
                </a:solidFill>
              </a:rPr>
              <a:t>显著性水平（</a:t>
            </a:r>
            <a:r>
              <a:rPr lang="zh-CN" altLang="en-US" sz="2800" i="1" dirty="0">
                <a:solidFill>
                  <a:srgbClr val="FF00FF"/>
                </a:solidFill>
                <a:latin typeface="Symbol" pitchFamily="18" charset="2"/>
              </a:rPr>
              <a:t></a:t>
            </a:r>
            <a:r>
              <a:rPr lang="zh-CN" altLang="en-US" sz="2800" dirty="0">
                <a:solidFill>
                  <a:srgbClr val="FF00FF"/>
                </a:solidFill>
                <a:latin typeface="Symbol" pitchFamily="18" charset="2"/>
              </a:rPr>
              <a:t>）</a:t>
            </a:r>
            <a:r>
              <a:rPr lang="en-US" altLang="zh-CN" sz="2000" dirty="0">
                <a:solidFill>
                  <a:srgbClr val="002060"/>
                </a:solidFill>
                <a:latin typeface="Symbol" pitchFamily="18" charset="2"/>
              </a:rPr>
              <a:t> </a:t>
            </a:r>
            <a:r>
              <a:rPr lang="en-US" altLang="zh-CN" sz="2000" dirty="0">
                <a:solidFill>
                  <a:srgbClr val="002060"/>
                </a:solidFill>
                <a:latin typeface="+mn-ea"/>
                <a:ea typeface="+mn-ea"/>
              </a:rPr>
              <a:t>——</a:t>
            </a:r>
            <a:r>
              <a:rPr lang="zh-CN" altLang="en-US" sz="2000" dirty="0">
                <a:solidFill>
                  <a:srgbClr val="002060"/>
                </a:solidFill>
                <a:latin typeface="Symbol" pitchFamily="18" charset="2"/>
              </a:rPr>
              <a:t>后面详讲</a:t>
            </a:r>
            <a:r>
              <a:rPr lang="zh-CN" altLang="en-US" sz="2800" dirty="0"/>
              <a:t>。</a:t>
            </a:r>
          </a:p>
        </p:txBody>
      </p:sp>
    </p:spTree>
    <p:extLst>
      <p:ext uri="{BB962C8B-B14F-4D97-AF65-F5344CB8AC3E}">
        <p14:creationId xmlns:p14="http://schemas.microsoft.com/office/powerpoint/2010/main" val="8339778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4339">
                                            <p:txEl>
                                              <p:pRg st="1" end="1"/>
                                            </p:txEl>
                                          </p:spTgt>
                                        </p:tgtEl>
                                        <p:attrNameLst>
                                          <p:attrName>style.visibility</p:attrName>
                                        </p:attrNameLst>
                                      </p:cBhvr>
                                      <p:to>
                                        <p:strVal val="visible"/>
                                      </p:to>
                                    </p:set>
                                    <p:animEffect transition="in" filter="wipe(left)">
                                      <p:cBhvr>
                                        <p:cTn id="7" dur="500"/>
                                        <p:tgtEl>
                                          <p:spTgt spid="14339">
                                            <p:txEl>
                                              <p:pRg st="1" end="1"/>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4339">
                                            <p:txEl>
                                              <p:pRg st="2" end="2"/>
                                            </p:txEl>
                                          </p:spTgt>
                                        </p:tgtEl>
                                        <p:attrNameLst>
                                          <p:attrName>style.visibility</p:attrName>
                                        </p:attrNameLst>
                                      </p:cBhvr>
                                      <p:to>
                                        <p:strVal val="visible"/>
                                      </p:to>
                                    </p:set>
                                    <p:animEffect transition="in" filter="wipe(left)">
                                      <p:cBhvr>
                                        <p:cTn id="10" dur="500"/>
                                        <p:tgtEl>
                                          <p:spTgt spid="14339">
                                            <p:txEl>
                                              <p:pRg st="2" end="2"/>
                                            </p:txEl>
                                          </p:spTgt>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14339">
                                            <p:txEl>
                                              <p:pRg st="3" end="3"/>
                                            </p:txEl>
                                          </p:spTgt>
                                        </p:tgtEl>
                                        <p:attrNameLst>
                                          <p:attrName>style.visibility</p:attrName>
                                        </p:attrNameLst>
                                      </p:cBhvr>
                                      <p:to>
                                        <p:strVal val="visible"/>
                                      </p:to>
                                    </p:set>
                                    <p:animEffect transition="in" filter="wipe(left)">
                                      <p:cBhvr>
                                        <p:cTn id="13" dur="500"/>
                                        <p:tgtEl>
                                          <p:spTgt spid="14339">
                                            <p:txEl>
                                              <p:pRg st="3" end="3"/>
                                            </p:txEl>
                                          </p:spTgt>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14339">
                                            <p:txEl>
                                              <p:pRg st="4" end="4"/>
                                            </p:txEl>
                                          </p:spTgt>
                                        </p:tgtEl>
                                        <p:attrNameLst>
                                          <p:attrName>style.visibility</p:attrName>
                                        </p:attrNameLst>
                                      </p:cBhvr>
                                      <p:to>
                                        <p:strVal val="visible"/>
                                      </p:to>
                                    </p:set>
                                    <p:animEffect transition="in" filter="wipe(left)">
                                      <p:cBhvr>
                                        <p:cTn id="16" dur="500"/>
                                        <p:tgtEl>
                                          <p:spTgt spid="14339">
                                            <p:txEl>
                                              <p:pRg st="4" end="4"/>
                                            </p:txEl>
                                          </p:spTgt>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14339">
                                            <p:txEl>
                                              <p:pRg st="5" end="5"/>
                                            </p:txEl>
                                          </p:spTgt>
                                        </p:tgtEl>
                                        <p:attrNameLst>
                                          <p:attrName>style.visibility</p:attrName>
                                        </p:attrNameLst>
                                      </p:cBhvr>
                                      <p:to>
                                        <p:strVal val="visible"/>
                                      </p:to>
                                    </p:set>
                                    <p:animEffect transition="in" filter="wipe(left)">
                                      <p:cBhvr>
                                        <p:cTn id="19" dur="500"/>
                                        <p:tgtEl>
                                          <p:spTgt spid="14339">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9" grpId="0" build="p" autoUpdateAnimBg="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灯片编号占位符 5"/>
          <p:cNvSpPr>
            <a:spLocks noGrp="1"/>
          </p:cNvSpPr>
          <p:nvPr>
            <p:ph type="sldNum" sz="quarter" idx="4294967295"/>
          </p:nvPr>
        </p:nvSpPr>
        <p:spPr>
          <a:noFill/>
        </p:spPr>
        <p:txBody>
          <a:bodyPr/>
          <a:lstStyle/>
          <a:p>
            <a:r>
              <a:rPr lang="en-US" altLang="zh-CN">
                <a:ea typeface="宋体" pitchFamily="2" charset="-122"/>
              </a:rPr>
              <a:t>8--</a:t>
            </a:r>
            <a:fld id="{BEA33235-A063-4D48-B219-FBDCDCE555F6}" type="slidenum">
              <a:rPr lang="en-US" altLang="zh-CN" smtClean="0">
                <a:ea typeface="宋体" pitchFamily="2" charset="-122"/>
              </a:rPr>
              <a:pPr/>
              <a:t>6</a:t>
            </a:fld>
            <a:endParaRPr lang="en-US" altLang="zh-CN">
              <a:ea typeface="宋体" pitchFamily="2" charset="-122"/>
            </a:endParaRPr>
          </a:p>
        </p:txBody>
      </p:sp>
      <p:sp>
        <p:nvSpPr>
          <p:cNvPr id="62467" name="Rectangle 2"/>
          <p:cNvSpPr>
            <a:spLocks noGrp="1" noChangeArrowheads="1"/>
          </p:cNvSpPr>
          <p:nvPr>
            <p:ph type="title"/>
          </p:nvPr>
        </p:nvSpPr>
        <p:spPr>
          <a:xfrm>
            <a:off x="2173288" y="112712"/>
            <a:ext cx="1903412" cy="719138"/>
          </a:xfrm>
        </p:spPr>
        <p:txBody>
          <a:bodyPr>
            <a:normAutofit/>
          </a:bodyPr>
          <a:lstStyle/>
          <a:p>
            <a:pPr eaLnBrk="1" hangingPunct="1"/>
            <a:r>
              <a:rPr lang="en-US" altLang="zh-CN" b="1" dirty="0">
                <a:solidFill>
                  <a:srgbClr val="00B0F0"/>
                </a:solidFill>
                <a:effectLst/>
              </a:rPr>
              <a:t>【</a:t>
            </a:r>
            <a:r>
              <a:rPr lang="zh-CN" altLang="en-US" b="1" dirty="0">
                <a:solidFill>
                  <a:srgbClr val="00B0F0"/>
                </a:solidFill>
                <a:effectLst/>
              </a:rPr>
              <a:t>引例</a:t>
            </a:r>
            <a:r>
              <a:rPr lang="en-US" altLang="zh-CN" b="1" dirty="0">
                <a:solidFill>
                  <a:srgbClr val="00B0F0"/>
                </a:solidFill>
                <a:effectLst/>
              </a:rPr>
              <a:t>2】</a:t>
            </a:r>
            <a:endParaRPr lang="zh-CN" altLang="en-US" b="1" dirty="0">
              <a:solidFill>
                <a:srgbClr val="00B0F0"/>
              </a:solidFill>
              <a:effectLst/>
            </a:endParaRPr>
          </a:p>
        </p:txBody>
      </p:sp>
      <p:sp>
        <p:nvSpPr>
          <p:cNvPr id="62468" name="Rectangle 3"/>
          <p:cNvSpPr>
            <a:spLocks noGrp="1" noChangeArrowheads="1"/>
          </p:cNvSpPr>
          <p:nvPr>
            <p:ph type="body" idx="1"/>
          </p:nvPr>
        </p:nvSpPr>
        <p:spPr>
          <a:xfrm>
            <a:off x="957358" y="831850"/>
            <a:ext cx="9545542" cy="5480049"/>
          </a:xfrm>
          <a:noFill/>
        </p:spPr>
        <p:txBody>
          <a:bodyPr>
            <a:noAutofit/>
          </a:bodyPr>
          <a:lstStyle/>
          <a:p>
            <a:pPr marL="457200" lvl="1" indent="0">
              <a:lnSpc>
                <a:spcPct val="150000"/>
              </a:lnSpc>
              <a:spcBef>
                <a:spcPts val="600"/>
              </a:spcBef>
              <a:spcAft>
                <a:spcPts val="0"/>
              </a:spcAft>
              <a:buNone/>
            </a:pPr>
            <a:r>
              <a:rPr lang="en-US" altLang="zh-CN" b="1" dirty="0"/>
              <a:t>    </a:t>
            </a:r>
            <a:r>
              <a:rPr lang="zh-CN" altLang="zh-CN" b="1" dirty="0"/>
              <a:t>销售商从生产企业采购了</a:t>
            </a:r>
            <a:r>
              <a:rPr lang="en-US" altLang="zh-CN" b="1" dirty="0"/>
              <a:t>2000</a:t>
            </a:r>
            <a:r>
              <a:rPr lang="zh-CN" altLang="zh-CN" b="1" dirty="0"/>
              <a:t>件产品，合同规定，若这批产品不合格率超过</a:t>
            </a:r>
            <a:r>
              <a:rPr lang="en-US" altLang="zh-CN" b="1" dirty="0"/>
              <a:t>5%</a:t>
            </a:r>
            <a:r>
              <a:rPr lang="zh-CN" altLang="zh-CN" b="1" dirty="0"/>
              <a:t>，销售商就可以退货并获得相应的赔偿。验收时，随机抽取了</a:t>
            </a:r>
            <a:r>
              <a:rPr lang="en-US" altLang="zh-CN" b="1" dirty="0"/>
              <a:t>10</a:t>
            </a:r>
            <a:r>
              <a:rPr lang="zh-CN" altLang="zh-CN" b="1" dirty="0"/>
              <a:t>件进行检测，查出</a:t>
            </a:r>
            <a:r>
              <a:rPr lang="en-US" altLang="zh-CN" b="1" dirty="0"/>
              <a:t>3</a:t>
            </a:r>
            <a:r>
              <a:rPr lang="zh-CN" altLang="zh-CN" b="1" dirty="0"/>
              <a:t>件不合格品。</a:t>
            </a:r>
            <a:r>
              <a:rPr lang="zh-CN" altLang="en-US" b="1" dirty="0"/>
              <a:t>于是，</a:t>
            </a:r>
            <a:endParaRPr lang="en-US" altLang="zh-CN" b="1" dirty="0"/>
          </a:p>
          <a:p>
            <a:pPr marL="857250" lvl="2" indent="228600">
              <a:lnSpc>
                <a:spcPct val="150000"/>
              </a:lnSpc>
              <a:spcBef>
                <a:spcPts val="600"/>
              </a:spcBef>
              <a:spcAft>
                <a:spcPts val="0"/>
              </a:spcAft>
            </a:pPr>
            <a:r>
              <a:rPr lang="zh-CN" altLang="zh-CN" b="1" dirty="0"/>
              <a:t>销售商要求退货并赔偿</a:t>
            </a:r>
            <a:r>
              <a:rPr lang="en-US" altLang="zh-CN" sz="2200" b="1" dirty="0"/>
              <a:t>(</a:t>
            </a:r>
            <a:r>
              <a:rPr lang="zh-CN" altLang="en-US" sz="2200" b="1" dirty="0"/>
              <a:t>理由：</a:t>
            </a:r>
            <a:r>
              <a:rPr lang="zh-CN" altLang="en-US" sz="2200" b="1" dirty="0">
                <a:solidFill>
                  <a:srgbClr val="0070C0"/>
                </a:solidFill>
              </a:rPr>
              <a:t>样本不合格率</a:t>
            </a:r>
            <a:r>
              <a:rPr lang="en-US" altLang="zh-CN" sz="2200" b="1" i="1" dirty="0">
                <a:solidFill>
                  <a:srgbClr val="0070C0"/>
                </a:solidFill>
              </a:rPr>
              <a:t>p</a:t>
            </a:r>
            <a:r>
              <a:rPr lang="en-US" altLang="zh-CN" sz="2200" b="1" dirty="0"/>
              <a:t>=30%&gt;5%)</a:t>
            </a:r>
          </a:p>
          <a:p>
            <a:pPr marL="857250" lvl="2" indent="228600">
              <a:lnSpc>
                <a:spcPct val="150000"/>
              </a:lnSpc>
              <a:spcBef>
                <a:spcPts val="600"/>
              </a:spcBef>
              <a:spcAft>
                <a:spcPts val="0"/>
              </a:spcAft>
            </a:pPr>
            <a:r>
              <a:rPr lang="zh-CN" altLang="zh-CN" b="1" dirty="0"/>
              <a:t>但生产企业并买账</a:t>
            </a:r>
            <a:r>
              <a:rPr lang="zh-CN" altLang="en-US" sz="2200" b="1" dirty="0"/>
              <a:t>（理由：</a:t>
            </a:r>
            <a:r>
              <a:rPr lang="zh-CN" altLang="zh-CN" sz="2200" b="1" dirty="0"/>
              <a:t>样本不合格率超标并不能说明整批产品不合格率超标</a:t>
            </a:r>
            <a:r>
              <a:rPr lang="zh-CN" altLang="en-US" sz="2200" b="1" dirty="0"/>
              <a:t>）</a:t>
            </a:r>
            <a:endParaRPr lang="en-US" altLang="zh-CN" sz="2200" b="1" dirty="0"/>
          </a:p>
          <a:p>
            <a:pPr marL="533258" lvl="1" indent="0">
              <a:lnSpc>
                <a:spcPct val="150000"/>
              </a:lnSpc>
              <a:spcBef>
                <a:spcPts val="600"/>
              </a:spcBef>
              <a:spcAft>
                <a:spcPts val="0"/>
              </a:spcAft>
              <a:buNone/>
            </a:pPr>
            <a:r>
              <a:rPr lang="zh-CN" altLang="en-US" b="1" dirty="0">
                <a:solidFill>
                  <a:srgbClr val="002060"/>
                </a:solidFill>
              </a:rPr>
              <a:t>应该如何判定？</a:t>
            </a:r>
            <a:endParaRPr lang="en-US" altLang="zh-CN" b="1" dirty="0">
              <a:solidFill>
                <a:srgbClr val="002060"/>
              </a:solidFill>
            </a:endParaRPr>
          </a:p>
          <a:p>
            <a:pPr marL="857250" lvl="2" indent="228600">
              <a:lnSpc>
                <a:spcPct val="150000"/>
              </a:lnSpc>
              <a:spcBef>
                <a:spcPts val="600"/>
              </a:spcBef>
              <a:spcAft>
                <a:spcPts val="0"/>
              </a:spcAft>
            </a:pPr>
            <a:r>
              <a:rPr lang="zh-CN" altLang="en-US" sz="2800" b="1" dirty="0">
                <a:solidFill>
                  <a:srgbClr val="FF33CC"/>
                </a:solidFill>
              </a:rPr>
              <a:t>  待检验的假设：</a:t>
            </a:r>
            <a:r>
              <a:rPr lang="zh-CN" altLang="en-US" sz="2800" b="1" dirty="0">
                <a:solidFill>
                  <a:srgbClr val="0070C0"/>
                </a:solidFill>
              </a:rPr>
              <a:t>总体不合格率</a:t>
            </a:r>
            <a:r>
              <a:rPr lang="en-US" altLang="zh-CN" sz="2800" b="1" i="1" dirty="0">
                <a:solidFill>
                  <a:srgbClr val="0070C0"/>
                </a:solidFill>
                <a:latin typeface="Times New Roman" pitchFamily="18" charset="0"/>
              </a:rPr>
              <a:t>P</a:t>
            </a:r>
            <a:r>
              <a:rPr lang="en-US" altLang="zh-CN" sz="2800" b="1" dirty="0"/>
              <a:t>≤5%</a:t>
            </a:r>
          </a:p>
        </p:txBody>
      </p:sp>
    </p:spTree>
    <p:extLst>
      <p:ext uri="{BB962C8B-B14F-4D97-AF65-F5344CB8AC3E}">
        <p14:creationId xmlns:p14="http://schemas.microsoft.com/office/powerpoint/2010/main" val="21076134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27" name="灯片编号占位符 5"/>
          <p:cNvSpPr>
            <a:spLocks noGrp="1"/>
          </p:cNvSpPr>
          <p:nvPr>
            <p:ph type="sldNum" sz="quarter" idx="4294967295"/>
          </p:nvPr>
        </p:nvSpPr>
        <p:spPr>
          <a:noFill/>
        </p:spPr>
        <p:txBody>
          <a:bodyPr/>
          <a:lstStyle/>
          <a:p>
            <a:r>
              <a:rPr lang="en-US" altLang="zh-CN" dirty="0">
                <a:ea typeface="宋体" pitchFamily="2" charset="-122"/>
              </a:rPr>
              <a:t>8--</a:t>
            </a:r>
            <a:fld id="{64765193-8416-4DF4-8292-E61E220767CC}" type="slidenum">
              <a:rPr lang="en-US" altLang="zh-CN" smtClean="0">
                <a:ea typeface="宋体" pitchFamily="2" charset="-122"/>
              </a:rPr>
              <a:pPr/>
              <a:t>7</a:t>
            </a:fld>
            <a:endParaRPr lang="en-US" altLang="zh-CN" dirty="0">
              <a:ea typeface="宋体" pitchFamily="2" charset="-122"/>
            </a:endParaRPr>
          </a:p>
        </p:txBody>
      </p:sp>
      <p:sp>
        <p:nvSpPr>
          <p:cNvPr id="1028" name="Rectangle 2050"/>
          <p:cNvSpPr>
            <a:spLocks noGrp="1" noChangeArrowheads="1"/>
          </p:cNvSpPr>
          <p:nvPr>
            <p:ph type="title"/>
          </p:nvPr>
        </p:nvSpPr>
        <p:spPr>
          <a:xfrm>
            <a:off x="1708731" y="-25400"/>
            <a:ext cx="7587669" cy="990600"/>
          </a:xfrm>
        </p:spPr>
        <p:txBody>
          <a:bodyPr>
            <a:normAutofit/>
          </a:bodyPr>
          <a:lstStyle/>
          <a:p>
            <a:pPr eaLnBrk="1" hangingPunct="1"/>
            <a:r>
              <a:rPr lang="zh-CN" altLang="en-US" b="1" dirty="0">
                <a:solidFill>
                  <a:srgbClr val="00B0F0"/>
                </a:solidFill>
                <a:effectLst/>
              </a:rPr>
              <a:t>一、假设检验的基本思想（续）</a:t>
            </a:r>
          </a:p>
        </p:txBody>
      </p:sp>
      <p:sp>
        <p:nvSpPr>
          <p:cNvPr id="228355" name="Rectangle 2051"/>
          <p:cNvSpPr>
            <a:spLocks noGrp="1" noChangeArrowheads="1"/>
          </p:cNvSpPr>
          <p:nvPr>
            <p:ph type="body" idx="1"/>
          </p:nvPr>
        </p:nvSpPr>
        <p:spPr>
          <a:xfrm>
            <a:off x="1666875" y="965200"/>
            <a:ext cx="8572500" cy="5037138"/>
          </a:xfrm>
          <a:noFill/>
        </p:spPr>
        <p:txBody>
          <a:bodyPr>
            <a:normAutofit lnSpcReduction="10000"/>
          </a:bodyPr>
          <a:lstStyle/>
          <a:p>
            <a:pPr marL="812800" lvl="2" indent="-812800" fontAlgn="auto">
              <a:lnSpc>
                <a:spcPct val="124000"/>
              </a:lnSpc>
              <a:spcBef>
                <a:spcPts val="600"/>
              </a:spcBef>
              <a:buSzPct val="80000"/>
              <a:buNone/>
            </a:pPr>
            <a:r>
              <a:rPr lang="zh-CN" altLang="en-US" sz="2800" b="1" dirty="0"/>
              <a:t>   决策思路</a:t>
            </a:r>
            <a:r>
              <a:rPr lang="en-US" altLang="zh-CN" sz="2800" b="1" dirty="0"/>
              <a:t>——</a:t>
            </a:r>
            <a:r>
              <a:rPr lang="zh-CN" altLang="en-US" sz="2800" b="1" dirty="0">
                <a:solidFill>
                  <a:srgbClr val="CC66FF"/>
                </a:solidFill>
              </a:rPr>
              <a:t>假设：总体不合格率</a:t>
            </a:r>
            <a:r>
              <a:rPr lang="en-US" altLang="zh-CN" sz="2800" b="1" i="1" dirty="0">
                <a:solidFill>
                  <a:srgbClr val="CC66FF"/>
                </a:solidFill>
                <a:latin typeface="Times New Roman" pitchFamily="18" charset="0"/>
              </a:rPr>
              <a:t>P</a:t>
            </a:r>
            <a:r>
              <a:rPr lang="en-US" altLang="zh-CN" sz="2800" b="1" dirty="0">
                <a:solidFill>
                  <a:srgbClr val="CC66FF"/>
                </a:solidFill>
              </a:rPr>
              <a:t>=5%</a:t>
            </a:r>
          </a:p>
          <a:p>
            <a:pPr marL="457200" lvl="1" indent="228600">
              <a:lnSpc>
                <a:spcPct val="124000"/>
              </a:lnSpc>
              <a:spcBef>
                <a:spcPts val="600"/>
              </a:spcBef>
            </a:pPr>
            <a:r>
              <a:rPr lang="zh-CN" altLang="en-US" b="1" dirty="0"/>
              <a:t>如果这一假设成立，则根据二项分布理论可算得：所抽样本出现的概率为 </a:t>
            </a:r>
            <a:r>
              <a:rPr lang="en-US" altLang="zh-CN" b="1" dirty="0">
                <a:solidFill>
                  <a:srgbClr val="CC66FF"/>
                </a:solidFill>
              </a:rPr>
              <a:t>0.01</a:t>
            </a:r>
            <a:r>
              <a:rPr lang="en-US" altLang="zh-CN" b="1" dirty="0">
                <a:solidFill>
                  <a:srgbClr val="008000"/>
                </a:solidFill>
                <a:latin typeface="Times New Roman" pitchFamily="18" charset="0"/>
              </a:rPr>
              <a:t>  </a:t>
            </a:r>
            <a:r>
              <a:rPr lang="zh-CN" altLang="en-US" b="1" dirty="0">
                <a:latin typeface="Times New Roman" pitchFamily="18" charset="0"/>
              </a:rPr>
              <a:t>即</a:t>
            </a:r>
            <a:r>
              <a:rPr lang="zh-CN" altLang="en-US" b="1" dirty="0">
                <a:solidFill>
                  <a:srgbClr val="008000"/>
                </a:solidFill>
                <a:latin typeface="Times New Roman" pitchFamily="18" charset="0"/>
              </a:rPr>
              <a:t>                    </a:t>
            </a:r>
            <a:r>
              <a:rPr lang="en-US" altLang="zh-CN" b="1" dirty="0"/>
              <a:t> </a:t>
            </a:r>
          </a:p>
          <a:p>
            <a:pPr marL="914400" lvl="2" indent="171450">
              <a:lnSpc>
                <a:spcPct val="124000"/>
              </a:lnSpc>
              <a:spcBef>
                <a:spcPts val="600"/>
              </a:spcBef>
              <a:buNone/>
            </a:pPr>
            <a:r>
              <a:rPr lang="en-US" altLang="zh-CN" b="1" dirty="0">
                <a:solidFill>
                  <a:srgbClr val="7030A0"/>
                </a:solidFill>
                <a:latin typeface="Arial" pitchFamily="34" charset="0"/>
              </a:rPr>
              <a:t>——</a:t>
            </a:r>
            <a:r>
              <a:rPr lang="zh-CN" altLang="en-US" b="1" dirty="0">
                <a:solidFill>
                  <a:srgbClr val="7030A0"/>
                </a:solidFill>
              </a:rPr>
              <a:t>即在次品率为</a:t>
            </a:r>
            <a:r>
              <a:rPr lang="en-US" altLang="zh-CN" b="1" dirty="0">
                <a:solidFill>
                  <a:srgbClr val="7030A0"/>
                </a:solidFill>
              </a:rPr>
              <a:t>5%</a:t>
            </a:r>
            <a:r>
              <a:rPr lang="zh-CN" altLang="en-US" b="1" dirty="0">
                <a:solidFill>
                  <a:srgbClr val="7030A0"/>
                </a:solidFill>
              </a:rPr>
              <a:t>的总体中抽出</a:t>
            </a:r>
            <a:r>
              <a:rPr lang="en-US" altLang="zh-CN" b="1" dirty="0">
                <a:solidFill>
                  <a:srgbClr val="7030A0"/>
                </a:solidFill>
              </a:rPr>
              <a:t>10</a:t>
            </a:r>
            <a:r>
              <a:rPr lang="zh-CN" altLang="en-US" b="1" dirty="0">
                <a:solidFill>
                  <a:srgbClr val="7030A0"/>
                </a:solidFill>
              </a:rPr>
              <a:t>件产品就有</a:t>
            </a:r>
            <a:r>
              <a:rPr lang="en-US" altLang="zh-CN" b="1" dirty="0">
                <a:solidFill>
                  <a:srgbClr val="7030A0"/>
                </a:solidFill>
              </a:rPr>
              <a:t>3</a:t>
            </a:r>
            <a:r>
              <a:rPr lang="zh-CN" altLang="en-US" b="1" dirty="0">
                <a:solidFill>
                  <a:srgbClr val="7030A0"/>
                </a:solidFill>
              </a:rPr>
              <a:t>件次品的概率只有 </a:t>
            </a:r>
            <a:r>
              <a:rPr lang="en-US" altLang="zh-CN" b="1" dirty="0">
                <a:solidFill>
                  <a:srgbClr val="7030A0"/>
                </a:solidFill>
              </a:rPr>
              <a:t>1</a:t>
            </a:r>
            <a:r>
              <a:rPr lang="en-US" altLang="zh-CN" b="1" dirty="0">
                <a:solidFill>
                  <a:srgbClr val="7030A0"/>
                </a:solidFill>
                <a:latin typeface="Arial" pitchFamily="34" charset="0"/>
              </a:rPr>
              <a:t>%</a:t>
            </a:r>
            <a:endParaRPr lang="zh-CN" altLang="en-US" b="1" dirty="0">
              <a:solidFill>
                <a:srgbClr val="7030A0"/>
              </a:solidFill>
            </a:endParaRPr>
          </a:p>
          <a:p>
            <a:pPr marL="457200" lvl="1" indent="228600">
              <a:lnSpc>
                <a:spcPct val="124000"/>
              </a:lnSpc>
              <a:spcBef>
                <a:spcPts val="600"/>
              </a:spcBef>
            </a:pPr>
            <a:r>
              <a:rPr lang="zh-CN" altLang="en-US" b="1" dirty="0"/>
              <a:t>理论上这种小概率事件在一次抽样中不会发生，但实际却抽到了这样的样本，这显然不合理。</a:t>
            </a:r>
            <a:endParaRPr lang="en-US" altLang="zh-CN" b="1" dirty="0"/>
          </a:p>
          <a:p>
            <a:pPr marL="457200" lvl="1" indent="228600">
              <a:lnSpc>
                <a:spcPct val="124000"/>
              </a:lnSpc>
              <a:spcBef>
                <a:spcPts val="600"/>
              </a:spcBef>
            </a:pPr>
            <a:r>
              <a:rPr lang="zh-CN" altLang="en-US" b="1" dirty="0"/>
              <a:t>这种不合理性源于推论的假设前提，故上述假设不能接受，即可推断这批产品的次品率大于</a:t>
            </a:r>
            <a:r>
              <a:rPr lang="en-US" altLang="zh-CN" b="1" dirty="0"/>
              <a:t>5</a:t>
            </a:r>
            <a:r>
              <a:rPr lang="zh-CN" altLang="en-US" b="1" dirty="0"/>
              <a:t>％。</a:t>
            </a:r>
          </a:p>
        </p:txBody>
      </p:sp>
      <p:sp>
        <p:nvSpPr>
          <p:cNvPr id="1031" name="Rectangle 7"/>
          <p:cNvSpPr>
            <a:spLocks noChangeArrowheads="1"/>
          </p:cNvSpPr>
          <p:nvPr/>
        </p:nvSpPr>
        <p:spPr bwMode="auto">
          <a:xfrm>
            <a:off x="1524001" y="-184666"/>
            <a:ext cx="184731" cy="369332"/>
          </a:xfrm>
          <a:prstGeom prst="rect">
            <a:avLst/>
          </a:prstGeom>
          <a:noFill/>
          <a:ln w="9525">
            <a:noFill/>
            <a:miter lim="800000"/>
            <a:headEnd/>
            <a:tailEnd/>
          </a:ln>
          <a:effectLst>
            <a:prstShdw prst="shdw17" dist="17961" dir="2700000">
              <a:schemeClr val="accent1">
                <a:gamma/>
                <a:shade val="60000"/>
                <a:invGamma/>
              </a:schemeClr>
            </a:prstShdw>
          </a:effectLst>
        </p:spPr>
        <p:txBody>
          <a:bodyPr wrap="none" anchor="ctr">
            <a:spAutoFit/>
          </a:bodyPr>
          <a:lstStyle/>
          <a:p>
            <a:pPr>
              <a:defRPr/>
            </a:pPr>
            <a:endParaRPr lang="zh-CN" altLang="en-US"/>
          </a:p>
        </p:txBody>
      </p:sp>
      <p:graphicFrame>
        <p:nvGraphicFramePr>
          <p:cNvPr id="1026" name="Object 6"/>
          <p:cNvGraphicFramePr>
            <a:graphicFrameLocks noChangeAspect="1"/>
          </p:cNvGraphicFramePr>
          <p:nvPr>
            <p:extLst>
              <p:ext uri="{D42A27DB-BD31-4B8C-83A1-F6EECF244321}">
                <p14:modId xmlns:p14="http://schemas.microsoft.com/office/powerpoint/2010/main" val="2320777711"/>
              </p:ext>
            </p:extLst>
          </p:nvPr>
        </p:nvGraphicFramePr>
        <p:xfrm>
          <a:off x="7213600" y="2120900"/>
          <a:ext cx="2927351" cy="596900"/>
        </p:xfrm>
        <a:graphic>
          <a:graphicData uri="http://schemas.openxmlformats.org/presentationml/2006/ole">
            <mc:AlternateContent xmlns:mc="http://schemas.openxmlformats.org/markup-compatibility/2006">
              <mc:Choice xmlns:v="urn:schemas-microsoft-com:vml" Requires="v">
                <p:oleObj name="公式" r:id="rId2" imgW="1282680" imgH="241200" progId="Equation.3">
                  <p:embed/>
                </p:oleObj>
              </mc:Choice>
              <mc:Fallback>
                <p:oleObj name="公式" r:id="rId2" imgW="1282680" imgH="241200" progId="Equation.3">
                  <p:embed/>
                  <p:pic>
                    <p:nvPicPr>
                      <p:cNvPr id="1026" name="Object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13600" y="2120900"/>
                        <a:ext cx="2927351" cy="596900"/>
                      </a:xfrm>
                      <a:prstGeom prst="rect">
                        <a:avLst/>
                      </a:prstGeom>
                      <a:solidFill>
                        <a:srgbClr val="FFFFFF"/>
                      </a:solidFill>
                    </p:spPr>
                  </p:pic>
                </p:oleObj>
              </mc:Fallback>
            </mc:AlternateContent>
          </a:graphicData>
        </a:graphic>
      </p:graphicFrame>
    </p:spTree>
    <p:extLst>
      <p:ext uri="{BB962C8B-B14F-4D97-AF65-F5344CB8AC3E}">
        <p14:creationId xmlns:p14="http://schemas.microsoft.com/office/powerpoint/2010/main" val="23346726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228355">
                                            <p:txEl>
                                              <p:pRg st="2" end="2"/>
                                            </p:txEl>
                                          </p:spTgt>
                                        </p:tgtEl>
                                        <p:attrNameLst>
                                          <p:attrName>style.visibility</p:attrName>
                                        </p:attrNameLst>
                                      </p:cBhvr>
                                      <p:to>
                                        <p:strVal val="visible"/>
                                      </p:to>
                                    </p:set>
                                    <p:animEffect transition="in" filter="wipe(left)">
                                      <p:cBhvr>
                                        <p:cTn id="7" dur="500"/>
                                        <p:tgtEl>
                                          <p:spTgt spid="228355">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28355">
                                            <p:txEl>
                                              <p:pRg st="3" end="3"/>
                                            </p:txEl>
                                          </p:spTgt>
                                        </p:tgtEl>
                                        <p:attrNameLst>
                                          <p:attrName>style.visibility</p:attrName>
                                        </p:attrNameLst>
                                      </p:cBhvr>
                                      <p:to>
                                        <p:strVal val="visible"/>
                                      </p:to>
                                    </p:set>
                                    <p:animEffect transition="in" filter="wipe(left)">
                                      <p:cBhvr>
                                        <p:cTn id="12" dur="500"/>
                                        <p:tgtEl>
                                          <p:spTgt spid="228355">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28355">
                                            <p:txEl>
                                              <p:pRg st="4" end="4"/>
                                            </p:txEl>
                                          </p:spTgt>
                                        </p:tgtEl>
                                        <p:attrNameLst>
                                          <p:attrName>style.visibility</p:attrName>
                                        </p:attrNameLst>
                                      </p:cBhvr>
                                      <p:to>
                                        <p:strVal val="visible"/>
                                      </p:to>
                                    </p:set>
                                    <p:animEffect transition="in" filter="wipe(left)">
                                      <p:cBhvr>
                                        <p:cTn id="17" dur="500"/>
                                        <p:tgtEl>
                                          <p:spTgt spid="22835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8355" grpId="0" uiExpand="1" build="p" bldLvl="2" autoUpdateAnimBg="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标题 1"/>
          <p:cNvSpPr>
            <a:spLocks noGrp="1"/>
          </p:cNvSpPr>
          <p:nvPr>
            <p:ph type="title"/>
          </p:nvPr>
        </p:nvSpPr>
        <p:spPr>
          <a:xfrm>
            <a:off x="1846960" y="195700"/>
            <a:ext cx="7175500" cy="662782"/>
          </a:xfrm>
        </p:spPr>
        <p:txBody>
          <a:bodyPr/>
          <a:lstStyle/>
          <a:p>
            <a:r>
              <a:rPr lang="zh-CN" altLang="en-US" dirty="0"/>
              <a:t>一、假设检验的基本思想（续）</a:t>
            </a:r>
          </a:p>
        </p:txBody>
      </p:sp>
      <p:sp>
        <p:nvSpPr>
          <p:cNvPr id="2052" name="内容占位符 2"/>
          <p:cNvSpPr>
            <a:spLocks noGrp="1"/>
          </p:cNvSpPr>
          <p:nvPr>
            <p:ph idx="1"/>
          </p:nvPr>
        </p:nvSpPr>
        <p:spPr>
          <a:xfrm>
            <a:off x="2063749" y="861100"/>
            <a:ext cx="8608341" cy="5447625"/>
          </a:xfrm>
        </p:spPr>
        <p:txBody>
          <a:bodyPr>
            <a:normAutofit/>
          </a:bodyPr>
          <a:lstStyle/>
          <a:p>
            <a:pPr marL="0" indent="717550">
              <a:lnSpc>
                <a:spcPct val="150000"/>
              </a:lnSpc>
              <a:spcBef>
                <a:spcPts val="600"/>
              </a:spcBef>
              <a:buNone/>
            </a:pPr>
            <a:r>
              <a:rPr lang="zh-CN" altLang="zh-CN" sz="2800" b="1" dirty="0">
                <a:solidFill>
                  <a:schemeClr val="tx1"/>
                </a:solidFill>
              </a:rPr>
              <a:t>假如，抽查</a:t>
            </a:r>
            <a:r>
              <a:rPr lang="en-US" altLang="zh-CN" sz="2800" b="1" dirty="0">
                <a:solidFill>
                  <a:schemeClr val="tx1"/>
                </a:solidFill>
              </a:rPr>
              <a:t>10</a:t>
            </a:r>
            <a:r>
              <a:rPr lang="zh-CN" altLang="zh-CN" sz="2800" b="1" dirty="0">
                <a:solidFill>
                  <a:schemeClr val="tx1"/>
                </a:solidFill>
              </a:rPr>
              <a:t>件产品仅有</a:t>
            </a:r>
            <a:r>
              <a:rPr lang="en-US" altLang="zh-CN" sz="2800" b="1" dirty="0">
                <a:solidFill>
                  <a:schemeClr val="tx1"/>
                </a:solidFill>
              </a:rPr>
              <a:t>1</a:t>
            </a:r>
            <a:r>
              <a:rPr lang="zh-CN" altLang="zh-CN" sz="2800" b="1" dirty="0">
                <a:solidFill>
                  <a:schemeClr val="tx1"/>
                </a:solidFill>
              </a:rPr>
              <a:t>件不合格品呢？样本不合格率</a:t>
            </a:r>
            <a:r>
              <a:rPr lang="en-US" altLang="zh-CN" sz="2800" b="1" dirty="0">
                <a:solidFill>
                  <a:schemeClr val="tx1"/>
                </a:solidFill>
              </a:rPr>
              <a:t>10%</a:t>
            </a:r>
            <a:r>
              <a:rPr lang="zh-CN" altLang="zh-CN" sz="2800" b="1" dirty="0">
                <a:solidFill>
                  <a:schemeClr val="tx1"/>
                </a:solidFill>
              </a:rPr>
              <a:t>。销售商是否有权要求退货？</a:t>
            </a:r>
            <a:endParaRPr lang="en-US" altLang="zh-CN" sz="2800" b="1" dirty="0">
              <a:solidFill>
                <a:schemeClr val="tx1"/>
              </a:solidFill>
            </a:endParaRPr>
          </a:p>
          <a:p>
            <a:pPr marL="0" indent="717550">
              <a:lnSpc>
                <a:spcPct val="150000"/>
              </a:lnSpc>
              <a:spcBef>
                <a:spcPts val="600"/>
              </a:spcBef>
              <a:buNone/>
            </a:pPr>
            <a:r>
              <a:rPr lang="zh-CN" altLang="en-US" sz="2800" b="1" dirty="0">
                <a:solidFill>
                  <a:schemeClr val="tx1"/>
                </a:solidFill>
              </a:rPr>
              <a:t>同理，</a:t>
            </a:r>
            <a:r>
              <a:rPr lang="zh-CN" altLang="zh-CN" sz="2800" b="1" dirty="0">
                <a:solidFill>
                  <a:schemeClr val="tx1"/>
                </a:solidFill>
              </a:rPr>
              <a:t>先假设</a:t>
            </a:r>
            <a:r>
              <a:rPr lang="en-US" altLang="zh-CN" sz="2800" b="1" i="1" dirty="0">
                <a:solidFill>
                  <a:schemeClr val="tx1"/>
                </a:solidFill>
                <a:latin typeface="Times New Roman" pitchFamily="18" charset="0"/>
                <a:cs typeface="Times New Roman" pitchFamily="18" charset="0"/>
              </a:rPr>
              <a:t>P</a:t>
            </a:r>
            <a:r>
              <a:rPr lang="en-US" altLang="zh-CN" sz="2800" b="1" dirty="0">
                <a:solidFill>
                  <a:schemeClr val="tx1"/>
                </a:solidFill>
              </a:rPr>
              <a:t>=5%</a:t>
            </a:r>
            <a:r>
              <a:rPr lang="zh-CN" altLang="zh-CN" sz="2800" b="1" dirty="0">
                <a:solidFill>
                  <a:schemeClr val="tx1"/>
                </a:solidFill>
              </a:rPr>
              <a:t>，则从总体中抽</a:t>
            </a:r>
            <a:r>
              <a:rPr lang="en-US" altLang="zh-CN" sz="2800" b="1" dirty="0">
                <a:solidFill>
                  <a:schemeClr val="tx1"/>
                </a:solidFill>
              </a:rPr>
              <a:t>10</a:t>
            </a:r>
            <a:r>
              <a:rPr lang="zh-CN" altLang="zh-CN" sz="2800" b="1" dirty="0">
                <a:solidFill>
                  <a:schemeClr val="tx1"/>
                </a:solidFill>
              </a:rPr>
              <a:t>件产品就有</a:t>
            </a:r>
            <a:r>
              <a:rPr lang="en-US" altLang="zh-CN" sz="2800" b="1" dirty="0">
                <a:solidFill>
                  <a:schemeClr val="tx1"/>
                </a:solidFill>
              </a:rPr>
              <a:t>1</a:t>
            </a:r>
            <a:r>
              <a:rPr lang="zh-CN" altLang="zh-CN" sz="2800" b="1" dirty="0">
                <a:solidFill>
                  <a:schemeClr val="tx1"/>
                </a:solidFill>
              </a:rPr>
              <a:t>件不合格的概率</a:t>
            </a:r>
            <a:r>
              <a:rPr lang="en-US" altLang="zh-CN" sz="2800" b="1" dirty="0">
                <a:solidFill>
                  <a:schemeClr val="tx1"/>
                </a:solidFill>
              </a:rPr>
              <a:t> =0.315=</a:t>
            </a:r>
          </a:p>
          <a:p>
            <a:pPr marL="0" indent="717550">
              <a:lnSpc>
                <a:spcPct val="150000"/>
              </a:lnSpc>
              <a:spcBef>
                <a:spcPts val="600"/>
              </a:spcBef>
              <a:buNone/>
            </a:pPr>
            <a:r>
              <a:rPr lang="zh-CN" altLang="zh-CN" sz="2800" b="1" dirty="0">
                <a:solidFill>
                  <a:schemeClr val="tx1"/>
                </a:solidFill>
              </a:rPr>
              <a:t>也就是说，在“</a:t>
            </a:r>
            <a:r>
              <a:rPr lang="en-US" altLang="zh-CN" sz="2800" b="1" dirty="0">
                <a:solidFill>
                  <a:schemeClr val="tx1"/>
                </a:solidFill>
              </a:rPr>
              <a:t>P=5%</a:t>
            </a:r>
            <a:r>
              <a:rPr lang="zh-CN" altLang="zh-CN" sz="2800" b="1" dirty="0">
                <a:solidFill>
                  <a:schemeClr val="tx1"/>
                </a:solidFill>
              </a:rPr>
              <a:t>”假设前提下，随机抽到这种样本可能性不算小，比较“正常”，样本信息与假设命题不矛盾</a:t>
            </a:r>
            <a:r>
              <a:rPr lang="zh-CN" altLang="en-US" sz="2800" b="1" dirty="0">
                <a:solidFill>
                  <a:schemeClr val="tx1"/>
                </a:solidFill>
              </a:rPr>
              <a:t>，</a:t>
            </a:r>
            <a:r>
              <a:rPr lang="zh-CN" altLang="zh-CN" sz="2800" b="1" dirty="0">
                <a:solidFill>
                  <a:schemeClr val="tx1"/>
                </a:solidFill>
              </a:rPr>
              <a:t>从而不能否定“</a:t>
            </a:r>
            <a:r>
              <a:rPr lang="en-US" altLang="zh-CN" sz="2800" b="1" dirty="0">
                <a:solidFill>
                  <a:schemeClr val="tx1"/>
                </a:solidFill>
              </a:rPr>
              <a:t>P=5%</a:t>
            </a:r>
            <a:r>
              <a:rPr lang="zh-CN" altLang="zh-CN" sz="2800" b="1" dirty="0">
                <a:solidFill>
                  <a:schemeClr val="tx1"/>
                </a:solidFill>
              </a:rPr>
              <a:t>”的假设命题，销售商退货索赔的理由不充分。</a:t>
            </a:r>
          </a:p>
          <a:p>
            <a:pPr>
              <a:lnSpc>
                <a:spcPct val="114000"/>
              </a:lnSpc>
              <a:spcBef>
                <a:spcPts val="600"/>
              </a:spcBef>
            </a:pPr>
            <a:endParaRPr lang="zh-CN" altLang="en-US" b="1" dirty="0">
              <a:solidFill>
                <a:schemeClr val="tx1"/>
              </a:solidFill>
            </a:endParaRPr>
          </a:p>
        </p:txBody>
      </p:sp>
      <p:sp>
        <p:nvSpPr>
          <p:cNvPr id="2053" name="灯片编号占位符 3"/>
          <p:cNvSpPr>
            <a:spLocks noGrp="1"/>
          </p:cNvSpPr>
          <p:nvPr>
            <p:ph type="sldNum" sz="quarter" idx="4294967295"/>
          </p:nvPr>
        </p:nvSpPr>
        <p:spPr>
          <a:noFill/>
        </p:spPr>
        <p:txBody>
          <a:bodyPr/>
          <a:lstStyle/>
          <a:p>
            <a:r>
              <a:rPr lang="en-US" altLang="zh-CN">
                <a:ea typeface="宋体" pitchFamily="2" charset="-122"/>
              </a:rPr>
              <a:t>8--</a:t>
            </a:r>
            <a:fld id="{AC51B9D4-6B07-4A86-91C4-C298F1A6B9EE}" type="slidenum">
              <a:rPr lang="en-US" altLang="zh-CN" smtClean="0">
                <a:ea typeface="宋体" pitchFamily="2" charset="-122"/>
              </a:rPr>
              <a:pPr/>
              <a:t>8</a:t>
            </a:fld>
            <a:endParaRPr lang="en-US" altLang="zh-CN">
              <a:ea typeface="宋体" pitchFamily="2" charset="-122"/>
            </a:endParaRPr>
          </a:p>
        </p:txBody>
      </p:sp>
      <p:sp>
        <p:nvSpPr>
          <p:cNvPr id="263170" name="Rectangle 2"/>
          <p:cNvSpPr>
            <a:spLocks noChangeArrowheads="1"/>
          </p:cNvSpPr>
          <p:nvPr/>
        </p:nvSpPr>
        <p:spPr bwMode="auto">
          <a:xfrm>
            <a:off x="1524001" y="-184666"/>
            <a:ext cx="184731" cy="369332"/>
          </a:xfrm>
          <a:prstGeom prst="rect">
            <a:avLst/>
          </a:prstGeom>
          <a:noFill/>
          <a:ln w="9525">
            <a:noFill/>
            <a:miter lim="800000"/>
            <a:headEnd/>
            <a:tailEnd/>
          </a:ln>
          <a:effectLst>
            <a:prstShdw prst="shdw17" dist="17961" dir="2700000">
              <a:schemeClr val="accent1">
                <a:gamma/>
                <a:shade val="60000"/>
                <a:invGamma/>
              </a:schemeClr>
            </a:prstShdw>
          </a:effectLst>
        </p:spPr>
        <p:txBody>
          <a:bodyPr wrap="none" anchor="ctr">
            <a:spAutoFit/>
          </a:bodyPr>
          <a:lstStyle/>
          <a:p>
            <a:pPr>
              <a:defRPr/>
            </a:pPr>
            <a:endParaRPr lang="zh-CN" altLang="en-US"/>
          </a:p>
        </p:txBody>
      </p:sp>
      <p:graphicFrame>
        <p:nvGraphicFramePr>
          <p:cNvPr id="2050" name="Object 1"/>
          <p:cNvGraphicFramePr>
            <a:graphicFrameLocks noChangeAspect="1"/>
          </p:cNvGraphicFramePr>
          <p:nvPr>
            <p:extLst>
              <p:ext uri="{D42A27DB-BD31-4B8C-83A1-F6EECF244321}">
                <p14:modId xmlns:p14="http://schemas.microsoft.com/office/powerpoint/2010/main" val="1528594469"/>
              </p:ext>
            </p:extLst>
          </p:nvPr>
        </p:nvGraphicFramePr>
        <p:xfrm>
          <a:off x="7049389" y="2966345"/>
          <a:ext cx="1973071" cy="556775"/>
        </p:xfrm>
        <a:graphic>
          <a:graphicData uri="http://schemas.openxmlformats.org/presentationml/2006/ole">
            <mc:AlternateContent xmlns:mc="http://schemas.openxmlformats.org/markup-compatibility/2006">
              <mc:Choice xmlns:v="urn:schemas-microsoft-com:vml" Requires="v">
                <p:oleObj name="公式" r:id="rId2" imgW="863225" imgH="241195" progId="Equation.3">
                  <p:embed/>
                </p:oleObj>
              </mc:Choice>
              <mc:Fallback>
                <p:oleObj name="公式" r:id="rId2" imgW="863225" imgH="241195" progId="Equation.3">
                  <p:embed/>
                  <p:pic>
                    <p:nvPicPr>
                      <p:cNvPr id="205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49389" y="2966345"/>
                        <a:ext cx="1973071" cy="556775"/>
                      </a:xfrm>
                      <a:prstGeom prst="rect">
                        <a:avLst/>
                      </a:prstGeom>
                      <a:solidFill>
                        <a:srgbClr val="FFFFFF"/>
                      </a:solidFill>
                    </p:spPr>
                  </p:pic>
                </p:oleObj>
              </mc:Fallback>
            </mc:AlternateContent>
          </a:graphicData>
        </a:graphic>
      </p:graphicFrame>
    </p:spTree>
    <p:extLst>
      <p:ext uri="{BB962C8B-B14F-4D97-AF65-F5344CB8AC3E}">
        <p14:creationId xmlns:p14="http://schemas.microsoft.com/office/powerpoint/2010/main" val="38444626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79500" y="6826"/>
            <a:ext cx="10071100" cy="662782"/>
          </a:xfrm>
        </p:spPr>
        <p:txBody>
          <a:bodyPr/>
          <a:lstStyle/>
          <a:p>
            <a:r>
              <a:rPr lang="en-US" altLang="zh-CN" dirty="0"/>
              <a:t>【</a:t>
            </a:r>
            <a:r>
              <a:rPr lang="zh-CN" altLang="en-US" dirty="0"/>
              <a:t>例</a:t>
            </a:r>
            <a:r>
              <a:rPr lang="en-US" altLang="zh-CN" dirty="0"/>
              <a:t>8-1】</a:t>
            </a:r>
            <a:endParaRPr lang="zh-CN" altLang="en-US" dirty="0"/>
          </a:p>
        </p:txBody>
      </p:sp>
      <p:sp>
        <p:nvSpPr>
          <p:cNvPr id="3" name="内容占位符 2"/>
          <p:cNvSpPr>
            <a:spLocks noGrp="1"/>
          </p:cNvSpPr>
          <p:nvPr>
            <p:ph idx="1"/>
          </p:nvPr>
        </p:nvSpPr>
        <p:spPr>
          <a:xfrm>
            <a:off x="346711" y="762000"/>
            <a:ext cx="11362689" cy="5847455"/>
          </a:xfrm>
        </p:spPr>
        <p:txBody>
          <a:bodyPr>
            <a:normAutofit fontScale="77500" lnSpcReduction="20000"/>
          </a:bodyPr>
          <a:lstStyle/>
          <a:p>
            <a:pPr marL="0" indent="0">
              <a:lnSpc>
                <a:spcPct val="160000"/>
              </a:lnSpc>
              <a:spcBef>
                <a:spcPts val="600"/>
              </a:spcBef>
              <a:spcAft>
                <a:spcPts val="0"/>
              </a:spcAft>
              <a:buNone/>
            </a:pPr>
            <a:r>
              <a:rPr lang="zh-CN" altLang="en-US" dirty="0"/>
              <a:t>      </a:t>
            </a:r>
            <a:r>
              <a:rPr lang="zh-CN" altLang="en-US" sz="3000" dirty="0"/>
              <a:t>某企业生产一种零件，过去的大量资料表明，零件长度服从正态分布，平均长度为</a:t>
            </a:r>
            <a:r>
              <a:rPr lang="en-US" altLang="zh-CN" sz="3000" dirty="0"/>
              <a:t>4</a:t>
            </a:r>
            <a:r>
              <a:rPr lang="zh-CN" altLang="en-US" sz="3000" dirty="0"/>
              <a:t>厘米，标准差为</a:t>
            </a:r>
            <a:r>
              <a:rPr lang="en-US" altLang="zh-CN" sz="3000" dirty="0"/>
              <a:t>0.15</a:t>
            </a:r>
            <a:r>
              <a:rPr lang="zh-CN" altLang="en-US" sz="3000" dirty="0"/>
              <a:t>厘米。现从改革工艺后生产的零件中随机抽查</a:t>
            </a:r>
            <a:r>
              <a:rPr lang="en-US" altLang="zh-CN" sz="3000" dirty="0"/>
              <a:t>100</a:t>
            </a:r>
            <a:r>
              <a:rPr lang="zh-CN" altLang="en-US" sz="3000" dirty="0"/>
              <a:t>个零件，测得平均长度为</a:t>
            </a:r>
            <a:r>
              <a:rPr lang="en-US" altLang="zh-CN" sz="3000" dirty="0"/>
              <a:t>3.95</a:t>
            </a:r>
            <a:r>
              <a:rPr lang="zh-CN" altLang="en-US" sz="3000" dirty="0"/>
              <a:t>厘米。现问：工艺改革前后零件的长度是否发生了显著的变化呢？</a:t>
            </a:r>
            <a:endParaRPr lang="en-US" altLang="zh-CN" sz="3000" dirty="0"/>
          </a:p>
          <a:p>
            <a:pPr marL="0" indent="0">
              <a:lnSpc>
                <a:spcPct val="160000"/>
              </a:lnSpc>
              <a:spcBef>
                <a:spcPts val="600"/>
              </a:spcBef>
              <a:spcAft>
                <a:spcPts val="0"/>
              </a:spcAft>
              <a:buNone/>
            </a:pPr>
            <a:r>
              <a:rPr lang="zh-CN" altLang="en-US" sz="3000" b="1" dirty="0"/>
              <a:t>      解：</a:t>
            </a:r>
            <a:r>
              <a:rPr lang="zh-CN" altLang="en-US" sz="3000" dirty="0"/>
              <a:t>这是关于改革后零件的总体平均长度是否等于</a:t>
            </a:r>
            <a:r>
              <a:rPr lang="en-US" altLang="zh-CN" sz="3000" dirty="0"/>
              <a:t>4</a:t>
            </a:r>
            <a:r>
              <a:rPr lang="zh-CN" altLang="en-US" sz="3000" dirty="0"/>
              <a:t>厘米的假设检验问题。样本平均长度与</a:t>
            </a:r>
            <a:r>
              <a:rPr lang="en-US" altLang="zh-CN" sz="3000" dirty="0"/>
              <a:t>4</a:t>
            </a:r>
            <a:r>
              <a:rPr lang="zh-CN" altLang="en-US" sz="3000" dirty="0"/>
              <a:t>厘米之差异不外乎两种可能原因：</a:t>
            </a:r>
            <a:endParaRPr lang="en-US" altLang="zh-CN" sz="3000" dirty="0"/>
          </a:p>
          <a:p>
            <a:pPr marL="533400" lvl="1" indent="0">
              <a:lnSpc>
                <a:spcPct val="160000"/>
              </a:lnSpc>
              <a:spcBef>
                <a:spcPts val="600"/>
              </a:spcBef>
              <a:spcAft>
                <a:spcPts val="0"/>
              </a:spcAft>
              <a:buNone/>
            </a:pPr>
            <a:r>
              <a:rPr lang="zh-CN" altLang="en-US" sz="3000" dirty="0"/>
              <a:t>一是总体平均长度不变，但由于抽样的随机性使得样本均值与总体均值之间存在抽样误差；</a:t>
            </a:r>
            <a:endParaRPr lang="en-US" altLang="zh-CN" sz="3000" dirty="0"/>
          </a:p>
          <a:p>
            <a:pPr marL="533400" lvl="1" indent="0">
              <a:lnSpc>
                <a:spcPct val="160000"/>
              </a:lnSpc>
              <a:spcBef>
                <a:spcPts val="600"/>
              </a:spcBef>
              <a:spcAft>
                <a:spcPts val="0"/>
              </a:spcAft>
              <a:buNone/>
            </a:pPr>
            <a:r>
              <a:rPr lang="zh-CN" altLang="en-US" sz="3000" dirty="0"/>
              <a:t>二是总体平均长度确实发生了变化，使得来自这一总体的样本均值也不等于</a:t>
            </a:r>
            <a:r>
              <a:rPr lang="en-US" altLang="zh-CN" sz="3000" dirty="0"/>
              <a:t>4</a:t>
            </a:r>
            <a:r>
              <a:rPr lang="zh-CN" altLang="en-US" sz="3000" dirty="0"/>
              <a:t>厘米。</a:t>
            </a:r>
          </a:p>
        </p:txBody>
      </p:sp>
      <p:sp>
        <p:nvSpPr>
          <p:cNvPr id="4" name="灯片编号占位符 3"/>
          <p:cNvSpPr>
            <a:spLocks noGrp="1"/>
          </p:cNvSpPr>
          <p:nvPr>
            <p:ph type="sldNum" sz="quarter" idx="4"/>
          </p:nvPr>
        </p:nvSpPr>
        <p:spPr/>
        <p:txBody>
          <a:bodyPr/>
          <a:lstStyle/>
          <a:p>
            <a:fld id="{4ABD14BD-504E-42EC-A2AB-5F7BAF221D6C}" type="slidenum">
              <a:rPr lang="zh-CN" altLang="en-US" smtClean="0"/>
              <a:pPr/>
              <a:t>9</a:t>
            </a:fld>
            <a:endParaRPr lang="zh-CN" altLang="en-US"/>
          </a:p>
        </p:txBody>
      </p:sp>
    </p:spTree>
    <p:extLst>
      <p:ext uri="{BB962C8B-B14F-4D97-AF65-F5344CB8AC3E}">
        <p14:creationId xmlns:p14="http://schemas.microsoft.com/office/powerpoint/2010/main" val="41131123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wipe(left)">
                                      <p:cBhvr>
                                        <p:cTn id="7" dur="10"/>
                                        <p:tgtEl>
                                          <p:spTgt spid="3">
                                            <p:txEl>
                                              <p:pRg st="1" end="1"/>
                                            </p:txEl>
                                          </p:spTgt>
                                        </p:tgtEl>
                                      </p:cBhvr>
                                    </p:animEffect>
                                  </p:childTnLst>
                                </p:cTn>
                              </p:par>
                              <p:par>
                                <p:cTn id="8" presetID="22" presetClass="entr" presetSubtype="8"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wipe(left)">
                                      <p:cBhvr>
                                        <p:cTn id="10" dur="10"/>
                                        <p:tgtEl>
                                          <p:spTgt spid="3">
                                            <p:txEl>
                                              <p:pRg st="2" end="2"/>
                                            </p:txEl>
                                          </p:spTgt>
                                        </p:tgtEl>
                                      </p:cBhvr>
                                    </p:animEffect>
                                  </p:childTnLst>
                                </p:cTn>
                              </p:par>
                              <p:par>
                                <p:cTn id="11" presetID="22" presetClass="entr" presetSubtype="8"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Effect transition="in" filter="wipe(left)">
                                      <p:cBhvr>
                                        <p:cTn id="13" dur="1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灯片编号占位符 5"/>
          <p:cNvSpPr>
            <a:spLocks noGrp="1"/>
          </p:cNvSpPr>
          <p:nvPr>
            <p:ph type="sldNum" sz="quarter" idx="4294967295"/>
          </p:nvPr>
        </p:nvSpPr>
        <p:spPr>
          <a:noFill/>
        </p:spPr>
        <p:txBody>
          <a:bodyPr/>
          <a:lstStyle/>
          <a:p>
            <a:r>
              <a:rPr lang="en-US" altLang="zh-CN">
                <a:ea typeface="宋体" pitchFamily="2" charset="-122"/>
              </a:rPr>
              <a:t>8--</a:t>
            </a:r>
            <a:fld id="{255EB9E7-FF87-47D7-93AD-7A36CB3F5B78}" type="slidenum">
              <a:rPr lang="en-US" altLang="zh-CN" smtClean="0">
                <a:ea typeface="宋体" pitchFamily="2" charset="-122"/>
              </a:rPr>
              <a:pPr/>
              <a:t>10</a:t>
            </a:fld>
            <a:endParaRPr lang="en-US" altLang="zh-CN">
              <a:ea typeface="宋体" pitchFamily="2" charset="-122"/>
            </a:endParaRPr>
          </a:p>
        </p:txBody>
      </p:sp>
      <p:sp>
        <p:nvSpPr>
          <p:cNvPr id="13316" name="Rectangle 2"/>
          <p:cNvSpPr>
            <a:spLocks noGrp="1" noChangeArrowheads="1"/>
          </p:cNvSpPr>
          <p:nvPr>
            <p:ph type="title"/>
          </p:nvPr>
        </p:nvSpPr>
        <p:spPr>
          <a:xfrm>
            <a:off x="1188685" y="157823"/>
            <a:ext cx="10820400" cy="662782"/>
          </a:xfrm>
        </p:spPr>
        <p:txBody>
          <a:bodyPr>
            <a:normAutofit/>
          </a:bodyPr>
          <a:lstStyle/>
          <a:p>
            <a:r>
              <a:rPr lang="en-US" altLang="zh-CN" dirty="0">
                <a:solidFill>
                  <a:srgbClr val="0070C0"/>
                </a:solidFill>
                <a:effectLst/>
              </a:rPr>
              <a:t>【</a:t>
            </a:r>
            <a:r>
              <a:rPr lang="zh-CN" altLang="en-US" dirty="0">
                <a:solidFill>
                  <a:srgbClr val="0070C0"/>
                </a:solidFill>
                <a:effectLst/>
              </a:rPr>
              <a:t>例</a:t>
            </a:r>
            <a:r>
              <a:rPr lang="en-US" altLang="zh-CN" dirty="0">
                <a:solidFill>
                  <a:srgbClr val="0070C0"/>
                </a:solidFill>
                <a:effectLst/>
              </a:rPr>
              <a:t>8-1】(</a:t>
            </a:r>
            <a:r>
              <a:rPr lang="zh-CN" altLang="en-US" dirty="0">
                <a:solidFill>
                  <a:srgbClr val="0070C0"/>
                </a:solidFill>
                <a:effectLst/>
              </a:rPr>
              <a:t>续）改革后的零件平均长度是否为</a:t>
            </a:r>
            <a:r>
              <a:rPr lang="en-US" altLang="zh-CN" dirty="0">
                <a:solidFill>
                  <a:srgbClr val="0070C0"/>
                </a:solidFill>
                <a:effectLst/>
              </a:rPr>
              <a:t>4cm</a:t>
            </a:r>
            <a:r>
              <a:rPr lang="zh-CN" altLang="en-US" dirty="0">
                <a:solidFill>
                  <a:srgbClr val="0070C0"/>
                </a:solidFill>
                <a:effectLst/>
              </a:rPr>
              <a:t>？</a:t>
            </a:r>
          </a:p>
        </p:txBody>
      </p:sp>
      <mc:AlternateContent xmlns:mc="http://schemas.openxmlformats.org/markup-compatibility/2006">
        <mc:Choice xmlns:a14="http://schemas.microsoft.com/office/drawing/2010/main" Requires="a14">
          <p:sp>
            <p:nvSpPr>
              <p:cNvPr id="53251" name="Rectangle 3"/>
              <p:cNvSpPr>
                <a:spLocks noGrp="1" noChangeArrowheads="1"/>
              </p:cNvSpPr>
              <p:nvPr>
                <p:ph type="body" idx="1"/>
              </p:nvPr>
            </p:nvSpPr>
            <p:spPr>
              <a:xfrm>
                <a:off x="927029" y="892179"/>
                <a:ext cx="9910516" cy="5450243"/>
              </a:xfrm>
            </p:spPr>
            <p:txBody>
              <a:bodyPr>
                <a:normAutofit fontScale="85000" lnSpcReduction="10000"/>
              </a:bodyPr>
              <a:lstStyle/>
              <a:p>
                <a:pPr marL="0" indent="717550">
                  <a:lnSpc>
                    <a:spcPct val="110000"/>
                  </a:lnSpc>
                  <a:spcBef>
                    <a:spcPts val="600"/>
                  </a:spcBef>
                  <a:spcAft>
                    <a:spcPts val="0"/>
                  </a:spcAft>
                  <a:buNone/>
                </a:pPr>
                <a:r>
                  <a:rPr lang="zh-CN" altLang="en-US" dirty="0"/>
                  <a:t>待检验的假设  </a:t>
                </a:r>
                <a:r>
                  <a:rPr lang="en-US" altLang="zh-CN" b="1" i="1" dirty="0">
                    <a:solidFill>
                      <a:srgbClr val="C00000"/>
                    </a:solidFill>
                  </a:rPr>
                  <a:t>H</a:t>
                </a:r>
                <a:r>
                  <a:rPr lang="en-US" altLang="zh-CN" b="1" i="1" baseline="-25000" dirty="0">
                    <a:solidFill>
                      <a:srgbClr val="C00000"/>
                    </a:solidFill>
                  </a:rPr>
                  <a:t>0 </a:t>
                </a:r>
                <a:r>
                  <a:rPr lang="en-US" altLang="zh-CN" b="1" dirty="0">
                    <a:solidFill>
                      <a:srgbClr val="C00000"/>
                    </a:solidFill>
                  </a:rPr>
                  <a:t>: </a:t>
                </a:r>
                <a:r>
                  <a:rPr lang="el-GR" altLang="zh-CN" b="1" i="1" dirty="0">
                    <a:solidFill>
                      <a:srgbClr val="C00000"/>
                    </a:solidFill>
                    <a:latin typeface="华文中宋" pitchFamily="2" charset="-122"/>
                    <a:ea typeface="华文中宋" pitchFamily="2" charset="-122"/>
                    <a:cs typeface="Tahoma" pitchFamily="34" charset="0"/>
                  </a:rPr>
                  <a:t>μ</a:t>
                </a:r>
                <a:r>
                  <a:rPr lang="en-US" altLang="zh-CN" b="1" dirty="0">
                    <a:solidFill>
                      <a:srgbClr val="C00000"/>
                    </a:solidFill>
                  </a:rPr>
                  <a:t>=</a:t>
                </a:r>
                <a:r>
                  <a:rPr lang="en-US" altLang="zh-CN" dirty="0">
                    <a:solidFill>
                      <a:srgbClr val="C00000"/>
                    </a:solidFill>
                  </a:rPr>
                  <a:t>4</a:t>
                </a:r>
                <a:r>
                  <a:rPr lang="en-US" altLang="zh-CN" dirty="0"/>
                  <a:t>  (</a:t>
                </a:r>
                <a:r>
                  <a:rPr lang="el-GR" altLang="zh-CN" b="1" i="1" dirty="0">
                    <a:solidFill>
                      <a:srgbClr val="0070C0"/>
                    </a:solidFill>
                    <a:latin typeface="华文中宋" pitchFamily="2" charset="-122"/>
                    <a:ea typeface="华文中宋" pitchFamily="2" charset="-122"/>
                    <a:cs typeface="Tahoma" pitchFamily="34" charset="0"/>
                  </a:rPr>
                  <a:t>μ</a:t>
                </a:r>
                <a:r>
                  <a:rPr lang="en-US" altLang="zh-CN" b="1" i="1" dirty="0">
                    <a:solidFill>
                      <a:srgbClr val="0070C0"/>
                    </a:solidFill>
                    <a:latin typeface="华文中宋" pitchFamily="2" charset="-122"/>
                    <a:ea typeface="华文中宋" pitchFamily="2" charset="-122"/>
                    <a:cs typeface="Tahoma" pitchFamily="34" charset="0"/>
                  </a:rPr>
                  <a:t> </a:t>
                </a:r>
                <a:r>
                  <a:rPr lang="zh-CN" altLang="en-US" dirty="0"/>
                  <a:t>为总体均值）</a:t>
                </a:r>
                <a:endParaRPr lang="en-US" altLang="zh-CN" b="1" dirty="0">
                  <a:solidFill>
                    <a:srgbClr val="C00000"/>
                  </a:solidFill>
                </a:endParaRPr>
              </a:p>
              <a:p>
                <a:pPr marL="0" indent="717550">
                  <a:lnSpc>
                    <a:spcPct val="110000"/>
                  </a:lnSpc>
                  <a:spcBef>
                    <a:spcPts val="600"/>
                  </a:spcBef>
                  <a:spcAft>
                    <a:spcPts val="0"/>
                  </a:spcAft>
                  <a:buNone/>
                </a:pPr>
                <a:r>
                  <a:rPr lang="zh-CN" altLang="en-US" dirty="0"/>
                  <a:t>根据样本均值</a:t>
                </a:r>
                <a14:m>
                  <m:oMath xmlns:m="http://schemas.openxmlformats.org/officeDocument/2006/math">
                    <m:acc>
                      <m:accPr>
                        <m:chr m:val="̅"/>
                        <m:ctrlPr>
                          <a:rPr lang="zh-CN" altLang="en-US" i="1" smtClean="0">
                            <a:latin typeface="Cambria Math" panose="02040503050406030204" pitchFamily="18" charset="0"/>
                          </a:rPr>
                        </m:ctrlPr>
                      </m:accPr>
                      <m:e>
                        <m:r>
                          <a:rPr lang="en-US" altLang="zh-CN" b="0" i="1" smtClean="0">
                            <a:latin typeface="Cambria Math" panose="02040503050406030204" pitchFamily="18" charset="0"/>
                          </a:rPr>
                          <m:t>𝑋</m:t>
                        </m:r>
                      </m:e>
                    </m:acc>
                  </m:oMath>
                </a14:m>
                <a:r>
                  <a:rPr lang="zh-CN" altLang="en-US" dirty="0"/>
                  <a:t>的抽样分布定理，若假设</a:t>
                </a:r>
                <a:r>
                  <a:rPr lang="zh-CN" altLang="en-US" dirty="0">
                    <a:latin typeface="仿宋" panose="02010609060101010101" pitchFamily="49" charset="-122"/>
                    <a:ea typeface="仿宋" panose="02010609060101010101" pitchFamily="49" charset="-122"/>
                  </a:rPr>
                  <a:t>“</a:t>
                </a:r>
                <a:r>
                  <a:rPr lang="en-US" altLang="zh-CN" i="1" dirty="0"/>
                  <a:t>µ</a:t>
                </a:r>
                <a:r>
                  <a:rPr lang="en-US" altLang="zh-CN" dirty="0"/>
                  <a:t>=4</a:t>
                </a:r>
                <a:r>
                  <a:rPr lang="zh-CN" altLang="en-US" dirty="0">
                    <a:latin typeface="仿宋" panose="02010609060101010101" pitchFamily="49" charset="-122"/>
                    <a:ea typeface="仿宋" panose="02010609060101010101" pitchFamily="49" charset="-122"/>
                  </a:rPr>
                  <a:t>”</a:t>
                </a:r>
                <a:r>
                  <a:rPr lang="zh-CN" altLang="en-US" dirty="0"/>
                  <a:t>成立，则应有：</a:t>
                </a:r>
                <a:endParaRPr lang="en-US" altLang="zh-CN" dirty="0"/>
              </a:p>
              <a:p>
                <a:pPr marL="0" lvl="2" indent="717550">
                  <a:lnSpc>
                    <a:spcPct val="110000"/>
                  </a:lnSpc>
                  <a:spcBef>
                    <a:spcPts val="600"/>
                  </a:spcBef>
                  <a:spcAft>
                    <a:spcPts val="0"/>
                  </a:spcAft>
                  <a:buNone/>
                </a:pPr>
                <a:endParaRPr lang="en-US" altLang="zh-CN" dirty="0"/>
              </a:p>
              <a:p>
                <a:pPr marL="0" lvl="2" indent="717550">
                  <a:lnSpc>
                    <a:spcPct val="110000"/>
                  </a:lnSpc>
                  <a:spcBef>
                    <a:spcPts val="600"/>
                  </a:spcBef>
                  <a:spcAft>
                    <a:spcPts val="0"/>
                  </a:spcAft>
                  <a:buNone/>
                </a:pPr>
                <a:endParaRPr lang="en-US" altLang="zh-CN" dirty="0"/>
              </a:p>
              <a:p>
                <a:pPr marL="0" indent="717550">
                  <a:lnSpc>
                    <a:spcPct val="110000"/>
                  </a:lnSpc>
                  <a:spcBef>
                    <a:spcPts val="600"/>
                  </a:spcBef>
                  <a:spcAft>
                    <a:spcPts val="0"/>
                  </a:spcAft>
                  <a:buNone/>
                </a:pPr>
                <a:r>
                  <a:rPr lang="zh-CN" altLang="zh-CN" dirty="0"/>
                  <a:t>在（</a:t>
                </a:r>
                <a:r>
                  <a:rPr lang="en-US" altLang="zh-CN" dirty="0"/>
                  <a:t>1-</a:t>
                </a:r>
                <a:r>
                  <a:rPr lang="en-US" altLang="zh-CN" i="1" dirty="0"/>
                  <a:t>α</a:t>
                </a:r>
                <a:r>
                  <a:rPr lang="zh-CN" altLang="zh-CN" dirty="0"/>
                  <a:t>）的置信度下，应有</a:t>
                </a:r>
                <a:r>
                  <a:rPr lang="zh-CN" altLang="en-US" dirty="0"/>
                  <a:t>：</a:t>
                </a:r>
                <a:endParaRPr lang="en-US" altLang="zh-CN" dirty="0"/>
              </a:p>
              <a:p>
                <a:pPr marL="0" indent="717550">
                  <a:lnSpc>
                    <a:spcPct val="110000"/>
                  </a:lnSpc>
                  <a:spcBef>
                    <a:spcPts val="600"/>
                  </a:spcBef>
                  <a:spcAft>
                    <a:spcPts val="0"/>
                  </a:spcAft>
                  <a:buNone/>
                </a:pPr>
                <a:endParaRPr lang="en-US" altLang="zh-CN" dirty="0"/>
              </a:p>
              <a:p>
                <a:pPr marL="0" indent="717550">
                  <a:lnSpc>
                    <a:spcPct val="110000"/>
                  </a:lnSpc>
                  <a:spcBef>
                    <a:spcPts val="600"/>
                  </a:spcBef>
                  <a:spcAft>
                    <a:spcPts val="0"/>
                  </a:spcAft>
                  <a:buNone/>
                </a:pPr>
                <a:endParaRPr lang="en-US" altLang="zh-CN" dirty="0"/>
              </a:p>
              <a:p>
                <a:pPr marL="0" indent="717550">
                  <a:lnSpc>
                    <a:spcPct val="110000"/>
                  </a:lnSpc>
                  <a:spcBef>
                    <a:spcPts val="600"/>
                  </a:spcBef>
                  <a:spcAft>
                    <a:spcPts val="0"/>
                  </a:spcAft>
                  <a:buNone/>
                </a:pPr>
                <a:endParaRPr lang="en-US" altLang="zh-CN" b="1" dirty="0">
                  <a:latin typeface="宋体" panose="02010600030101010101" pitchFamily="2" charset="-122"/>
                  <a:ea typeface="宋体" panose="02010600030101010101" pitchFamily="2" charset="-122"/>
                  <a:cs typeface="Times New Roman" panose="02020603050405020304" pitchFamily="18" charset="0"/>
                </a:endParaRPr>
              </a:p>
              <a:p>
                <a:pPr marL="0" indent="717550">
                  <a:lnSpc>
                    <a:spcPct val="110000"/>
                  </a:lnSpc>
                  <a:spcBef>
                    <a:spcPts val="600"/>
                  </a:spcBef>
                  <a:spcAft>
                    <a:spcPts val="0"/>
                  </a:spcAft>
                  <a:buNone/>
                </a:pPr>
                <a:r>
                  <a:rPr lang="zh-CN" altLang="en-US" b="1" dirty="0">
                    <a:latin typeface="宋体" panose="02010600030101010101" pitchFamily="2" charset="-122"/>
                    <a:ea typeface="宋体" panose="02010600030101010101" pitchFamily="2" charset="-122"/>
                    <a:cs typeface="Times New Roman" panose="02020603050405020304" pitchFamily="18" charset="0"/>
                  </a:rPr>
                  <a:t>若</a:t>
                </a:r>
                <a:r>
                  <a:rPr lang="en-US" altLang="zh-CN" b="1" dirty="0">
                    <a:latin typeface="Times New Roman" panose="02020603050405020304" pitchFamily="18" charset="0"/>
                    <a:ea typeface="宋体" panose="02010600030101010101" pitchFamily="2" charset="-122"/>
                    <a:cs typeface="Times New Roman" panose="02020603050405020304" pitchFamily="18" charset="0"/>
                  </a:rPr>
                  <a:t>α</a:t>
                </a:r>
                <a:r>
                  <a:rPr lang="zh-CN" altLang="en-US" b="1" dirty="0">
                    <a:latin typeface="宋体" panose="02010600030101010101" pitchFamily="2" charset="-122"/>
                    <a:ea typeface="宋体" panose="02010600030101010101" pitchFamily="2" charset="-122"/>
                    <a:cs typeface="Times New Roman" panose="02020603050405020304" pitchFamily="18" charset="0"/>
                  </a:rPr>
                  <a:t>小，          就是小概率事件</a:t>
                </a:r>
                <a:r>
                  <a:rPr lang="zh-CN" altLang="en-US" dirty="0">
                    <a:solidFill>
                      <a:schemeClr val="tx1"/>
                    </a:solidFill>
                    <a:latin typeface="宋体" panose="02010600030101010101" pitchFamily="2" charset="-122"/>
                    <a:ea typeface="宋体" panose="02010600030101010101" pitchFamily="2" charset="-122"/>
                    <a:cs typeface="Times New Roman" panose="02020603050405020304" pitchFamily="18" charset="0"/>
                  </a:rPr>
                  <a:t>。</a:t>
                </a:r>
                <a:r>
                  <a:rPr lang="zh-CN" altLang="en-US" sz="4400" dirty="0">
                    <a:solidFill>
                      <a:schemeClr val="tx1"/>
                    </a:solidFill>
                  </a:rPr>
                  <a:t> </a:t>
                </a:r>
                <a:endParaRPr lang="en-US" altLang="zh-CN" dirty="0"/>
              </a:p>
            </p:txBody>
          </p:sp>
        </mc:Choice>
        <mc:Fallback>
          <p:sp>
            <p:nvSpPr>
              <p:cNvPr id="53251" name="Rectangle 3"/>
              <p:cNvSpPr>
                <a:spLocks noGrp="1" noRot="1" noChangeAspect="1" noMove="1" noResize="1" noEditPoints="1" noAdjustHandles="1" noChangeArrowheads="1" noChangeShapeType="1" noTextEdit="1"/>
              </p:cNvSpPr>
              <p:nvPr>
                <p:ph type="body" idx="1"/>
              </p:nvPr>
            </p:nvSpPr>
            <p:spPr>
              <a:xfrm>
                <a:off x="927029" y="892179"/>
                <a:ext cx="9910516" cy="5450243"/>
              </a:xfrm>
              <a:blipFill>
                <a:blip r:embed="rId2"/>
                <a:stretch>
                  <a:fillRect l="-1169" t="-895"/>
                </a:stretch>
              </a:blipFill>
            </p:spPr>
            <p:txBody>
              <a:bodyPr/>
              <a:lstStyle/>
              <a:p>
                <a:r>
                  <a:rPr lang="zh-CN" altLang="en-US">
                    <a:noFill/>
                  </a:rPr>
                  <a:t> </a:t>
                </a:r>
              </a:p>
            </p:txBody>
          </p:sp>
        </mc:Fallback>
      </mc:AlternateContent>
      <p:sp>
        <p:nvSpPr>
          <p:cNvPr id="13318" name="Rectangle 3"/>
          <p:cNvSpPr>
            <a:spLocks noChangeArrowheads="1"/>
          </p:cNvSpPr>
          <p:nvPr/>
        </p:nvSpPr>
        <p:spPr bwMode="auto">
          <a:xfrm>
            <a:off x="1524001" y="-184666"/>
            <a:ext cx="184731" cy="369332"/>
          </a:xfrm>
          <a:prstGeom prst="rect">
            <a:avLst/>
          </a:prstGeom>
          <a:noFill/>
          <a:ln w="9525">
            <a:noFill/>
            <a:miter lim="800000"/>
            <a:headEnd/>
            <a:tailEnd/>
          </a:ln>
        </p:spPr>
        <p:txBody>
          <a:bodyPr wrap="none" anchor="ctr">
            <a:spAutoFit/>
          </a:bodyPr>
          <a:lstStyle/>
          <a:p>
            <a:endParaRPr lang="zh-CN" altLang="en-US"/>
          </a:p>
        </p:txBody>
      </p:sp>
      <p:sp>
        <p:nvSpPr>
          <p:cNvPr id="6" name="Rectangle 6"/>
          <p:cNvSpPr>
            <a:spLocks noChangeArrowheads="1"/>
          </p:cNvSpPr>
          <p:nvPr/>
        </p:nvSpPr>
        <p:spPr bwMode="auto">
          <a:xfrm>
            <a:off x="1879600" y="362585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7" name="对象 6"/>
          <p:cNvGraphicFramePr>
            <a:graphicFrameLocks noChangeAspect="1"/>
          </p:cNvGraphicFramePr>
          <p:nvPr>
            <p:extLst>
              <p:ext uri="{D42A27DB-BD31-4B8C-83A1-F6EECF244321}">
                <p14:modId xmlns:p14="http://schemas.microsoft.com/office/powerpoint/2010/main" val="89005394"/>
              </p:ext>
            </p:extLst>
          </p:nvPr>
        </p:nvGraphicFramePr>
        <p:xfrm>
          <a:off x="2317436" y="2189100"/>
          <a:ext cx="3118164" cy="717550"/>
        </p:xfrm>
        <a:graphic>
          <a:graphicData uri="http://schemas.openxmlformats.org/presentationml/2006/ole">
            <mc:AlternateContent xmlns:mc="http://schemas.openxmlformats.org/markup-compatibility/2006">
              <mc:Choice xmlns:v="urn:schemas-microsoft-com:vml" Requires="v">
                <p:oleObj name="公式" r:id="rId3" imgW="1066800" imgH="228600" progId="Equation.3">
                  <p:embed/>
                </p:oleObj>
              </mc:Choice>
              <mc:Fallback>
                <p:oleObj name="公式" r:id="rId3" imgW="1066800" imgH="228600" progId="Equation.3">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17436" y="2189100"/>
                        <a:ext cx="3118164" cy="717550"/>
                      </a:xfrm>
                      <a:prstGeom prst="rect">
                        <a:avLst/>
                      </a:prstGeom>
                      <a:noFill/>
                    </p:spPr>
                  </p:pic>
                </p:oleObj>
              </mc:Fallback>
            </mc:AlternateContent>
          </a:graphicData>
        </a:graphic>
      </p:graphicFrame>
      <p:sp>
        <p:nvSpPr>
          <p:cNvPr id="10" name="Rectangle 1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1" name="对象 10"/>
          <p:cNvGraphicFramePr>
            <a:graphicFrameLocks noChangeAspect="1"/>
          </p:cNvGraphicFramePr>
          <p:nvPr>
            <p:extLst>
              <p:ext uri="{D42A27DB-BD31-4B8C-83A1-F6EECF244321}">
                <p14:modId xmlns:p14="http://schemas.microsoft.com/office/powerpoint/2010/main" val="3890903473"/>
              </p:ext>
            </p:extLst>
          </p:nvPr>
        </p:nvGraphicFramePr>
        <p:xfrm>
          <a:off x="6205537" y="1997886"/>
          <a:ext cx="3540125" cy="1375213"/>
        </p:xfrm>
        <a:graphic>
          <a:graphicData uri="http://schemas.openxmlformats.org/presentationml/2006/ole">
            <mc:AlternateContent xmlns:mc="http://schemas.openxmlformats.org/markup-compatibility/2006">
              <mc:Choice xmlns:v="urn:schemas-microsoft-com:vml" Requires="v">
                <p:oleObj name="公式" r:id="rId5" imgW="1257300" imgH="457200" progId="Equation.3">
                  <p:embed/>
                </p:oleObj>
              </mc:Choice>
              <mc:Fallback>
                <p:oleObj name="公式" r:id="rId5" imgW="1257300" imgH="457200" progId="Equation.3">
                  <p:embed/>
                  <p:pic>
                    <p:nvPicPr>
                      <p:cNvPr id="0" name="Object 1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205537" y="1997886"/>
                        <a:ext cx="3540125" cy="1375213"/>
                      </a:xfrm>
                      <a:prstGeom prst="rect">
                        <a:avLst/>
                      </a:prstGeom>
                      <a:noFill/>
                    </p:spPr>
                  </p:pic>
                </p:oleObj>
              </mc:Fallback>
            </mc:AlternateContent>
          </a:graphicData>
        </a:graphic>
      </p:graphicFrame>
      <p:sp>
        <p:nvSpPr>
          <p:cNvPr id="12" name="Rectangle 14"/>
          <p:cNvSpPr>
            <a:spLocks noChangeArrowheads="1"/>
          </p:cNvSpPr>
          <p:nvPr/>
        </p:nvSpPr>
        <p:spPr bwMode="auto">
          <a:xfrm>
            <a:off x="-97155" y="8376"/>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3" name="对象 12"/>
          <p:cNvGraphicFramePr>
            <a:graphicFrameLocks noChangeAspect="1"/>
          </p:cNvGraphicFramePr>
          <p:nvPr>
            <p:extLst>
              <p:ext uri="{D42A27DB-BD31-4B8C-83A1-F6EECF244321}">
                <p14:modId xmlns:p14="http://schemas.microsoft.com/office/powerpoint/2010/main" val="2126691843"/>
              </p:ext>
            </p:extLst>
          </p:nvPr>
        </p:nvGraphicFramePr>
        <p:xfrm>
          <a:off x="2317436" y="3484902"/>
          <a:ext cx="4783137" cy="1323975"/>
        </p:xfrm>
        <a:graphic>
          <a:graphicData uri="http://schemas.openxmlformats.org/presentationml/2006/ole">
            <mc:AlternateContent xmlns:mc="http://schemas.openxmlformats.org/markup-compatibility/2006">
              <mc:Choice xmlns:v="urn:schemas-microsoft-com:vml" Requires="v">
                <p:oleObj name="公式" r:id="rId7" imgW="2412720" imgH="457200" progId="Equation.3">
                  <p:embed/>
                </p:oleObj>
              </mc:Choice>
              <mc:Fallback>
                <p:oleObj name="公式" r:id="rId7" imgW="2412720" imgH="457200" progId="Equation.3">
                  <p:embed/>
                  <p:pic>
                    <p:nvPicPr>
                      <p:cNvPr id="0" name="Object 13"/>
                      <p:cNvPicPr>
                        <a:picLocks noChangeAspect="1" noChangeArrowheads="1"/>
                      </p:cNvPicPr>
                      <p:nvPr/>
                    </p:nvPicPr>
                    <p:blipFill>
                      <a:blip r:embed="rId8"/>
                      <a:srcRect/>
                      <a:stretch>
                        <a:fillRect/>
                      </a:stretch>
                    </p:blipFill>
                    <p:spPr bwMode="auto">
                      <a:xfrm>
                        <a:off x="2317436" y="3484902"/>
                        <a:ext cx="4783137" cy="1323975"/>
                      </a:xfrm>
                      <a:prstGeom prst="rect">
                        <a:avLst/>
                      </a:prstGeom>
                      <a:noFill/>
                    </p:spPr>
                  </p:pic>
                </p:oleObj>
              </mc:Fallback>
            </mc:AlternateContent>
          </a:graphicData>
        </a:graphic>
      </p:graphicFrame>
      <p:sp>
        <p:nvSpPr>
          <p:cNvPr id="14" name="Rectangle 19"/>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5" name="对象 14"/>
          <p:cNvGraphicFramePr>
            <a:graphicFrameLocks noChangeAspect="1"/>
          </p:cNvGraphicFramePr>
          <p:nvPr>
            <p:extLst>
              <p:ext uri="{D42A27DB-BD31-4B8C-83A1-F6EECF244321}">
                <p14:modId xmlns:p14="http://schemas.microsoft.com/office/powerpoint/2010/main" val="2199800718"/>
              </p:ext>
            </p:extLst>
          </p:nvPr>
        </p:nvGraphicFramePr>
        <p:xfrm>
          <a:off x="7709982" y="3983966"/>
          <a:ext cx="3062287" cy="747418"/>
        </p:xfrm>
        <a:graphic>
          <a:graphicData uri="http://schemas.openxmlformats.org/presentationml/2006/ole">
            <mc:AlternateContent xmlns:mc="http://schemas.openxmlformats.org/markup-compatibility/2006">
              <mc:Choice xmlns:v="urn:schemas-microsoft-com:vml" Requires="v">
                <p:oleObj name="公式" r:id="rId9" imgW="1320480" imgH="241200" progId="Equation.3">
                  <p:embed/>
                </p:oleObj>
              </mc:Choice>
              <mc:Fallback>
                <p:oleObj name="公式" r:id="rId9" imgW="1320480" imgH="241200" progId="Equation.3">
                  <p:embed/>
                  <p:pic>
                    <p:nvPicPr>
                      <p:cNvPr id="0" name="Object 18"/>
                      <p:cNvPicPr>
                        <a:picLocks noChangeAspect="1" noChangeArrowheads="1"/>
                      </p:cNvPicPr>
                      <p:nvPr/>
                    </p:nvPicPr>
                    <p:blipFill>
                      <a:blip r:embed="rId10"/>
                      <a:srcRect/>
                      <a:stretch>
                        <a:fillRect/>
                      </a:stretch>
                    </p:blipFill>
                    <p:spPr bwMode="auto">
                      <a:xfrm>
                        <a:off x="7709982" y="3983966"/>
                        <a:ext cx="3062287" cy="747418"/>
                      </a:xfrm>
                      <a:prstGeom prst="rect">
                        <a:avLst/>
                      </a:prstGeom>
                      <a:noFill/>
                    </p:spPr>
                  </p:pic>
                </p:oleObj>
              </mc:Fallback>
            </mc:AlternateContent>
          </a:graphicData>
        </a:graphic>
      </p:graphicFrame>
      <p:graphicFrame>
        <p:nvGraphicFramePr>
          <p:cNvPr id="17" name="对象 16"/>
          <p:cNvGraphicFramePr>
            <a:graphicFrameLocks noChangeAspect="1"/>
          </p:cNvGraphicFramePr>
          <p:nvPr>
            <p:extLst>
              <p:ext uri="{D42A27DB-BD31-4B8C-83A1-F6EECF244321}">
                <p14:modId xmlns:p14="http://schemas.microsoft.com/office/powerpoint/2010/main" val="202999453"/>
              </p:ext>
            </p:extLst>
          </p:nvPr>
        </p:nvGraphicFramePr>
        <p:xfrm>
          <a:off x="2726833" y="5092469"/>
          <a:ext cx="1982171" cy="762374"/>
        </p:xfrm>
        <a:graphic>
          <a:graphicData uri="http://schemas.openxmlformats.org/presentationml/2006/ole">
            <mc:AlternateContent xmlns:mc="http://schemas.openxmlformats.org/markup-compatibility/2006">
              <mc:Choice xmlns:v="urn:schemas-microsoft-com:vml" Requires="v">
                <p:oleObj name="公式" r:id="rId11" imgW="622030" imgH="241195" progId="Equation.3">
                  <p:embed/>
                </p:oleObj>
              </mc:Choice>
              <mc:Fallback>
                <p:oleObj name="公式" r:id="rId11" imgW="622030" imgH="241195" progId="Equation.3">
                  <p:embed/>
                  <p:pic>
                    <p:nvPicPr>
                      <p:cNvPr id="0" name="Object 20"/>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726833" y="5092469"/>
                        <a:ext cx="1982171" cy="762374"/>
                      </a:xfrm>
                      <a:prstGeom prst="rect">
                        <a:avLst/>
                      </a:prstGeom>
                      <a:noFill/>
                    </p:spPr>
                  </p:pic>
                </p:oleObj>
              </mc:Fallback>
            </mc:AlternateContent>
          </a:graphicData>
        </a:graphic>
      </p:graphicFrame>
    </p:spTree>
    <p:extLst>
      <p:ext uri="{BB962C8B-B14F-4D97-AF65-F5344CB8AC3E}">
        <p14:creationId xmlns:p14="http://schemas.microsoft.com/office/powerpoint/2010/main" val="1262093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53251">
                                            <p:txEl>
                                              <p:pRg st="4" end="4"/>
                                            </p:txEl>
                                          </p:spTgt>
                                        </p:tgtEl>
                                        <p:attrNameLst>
                                          <p:attrName>style.visibility</p:attrName>
                                        </p:attrNameLst>
                                      </p:cBhvr>
                                      <p:to>
                                        <p:strVal val="visible"/>
                                      </p:to>
                                    </p:set>
                                    <p:animEffect transition="in" filter="wipe(down)">
                                      <p:cBhvr>
                                        <p:cTn id="7" dur="500"/>
                                        <p:tgtEl>
                                          <p:spTgt spid="53251">
                                            <p:txEl>
                                              <p:pRg st="4" end="4"/>
                                            </p:txEl>
                                          </p:spTgt>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wipe(up)">
                                      <p:cBhvr>
                                        <p:cTn id="11" dur="10"/>
                                        <p:tgtEl>
                                          <p:spTgt spid="13"/>
                                        </p:tgtEl>
                                      </p:cBhvr>
                                    </p:animEffect>
                                  </p:childTnLst>
                                </p:cTn>
                              </p:par>
                            </p:childTnLst>
                          </p:cTn>
                        </p:par>
                        <p:par>
                          <p:cTn id="12" fill="hold">
                            <p:stCondLst>
                              <p:cond delay="510"/>
                            </p:stCondLst>
                            <p:childTnLst>
                              <p:par>
                                <p:cTn id="13" presetID="22" presetClass="entr" presetSubtype="8" fill="hold" nodeType="after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wipe(left)">
                                      <p:cBhvr>
                                        <p:cTn id="15" dur="500"/>
                                        <p:tgtEl>
                                          <p:spTgt spid="15"/>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4" fill="hold" grpId="0" nodeType="clickEffect">
                                  <p:stCondLst>
                                    <p:cond delay="0"/>
                                  </p:stCondLst>
                                  <p:childTnLst>
                                    <p:set>
                                      <p:cBhvr>
                                        <p:cTn id="19" dur="1" fill="hold">
                                          <p:stCondLst>
                                            <p:cond delay="0"/>
                                          </p:stCondLst>
                                        </p:cTn>
                                        <p:tgtEl>
                                          <p:spTgt spid="53251">
                                            <p:txEl>
                                              <p:pRg st="8" end="8"/>
                                            </p:txEl>
                                          </p:spTgt>
                                        </p:tgtEl>
                                        <p:attrNameLst>
                                          <p:attrName>style.visibility</p:attrName>
                                        </p:attrNameLst>
                                      </p:cBhvr>
                                      <p:to>
                                        <p:strVal val="visible"/>
                                      </p:to>
                                    </p:set>
                                    <p:animEffect transition="in" filter="wipe(down)">
                                      <p:cBhvr>
                                        <p:cTn id="20" dur="500"/>
                                        <p:tgtEl>
                                          <p:spTgt spid="53251">
                                            <p:txEl>
                                              <p:pRg st="8" end="8"/>
                                            </p:txEl>
                                          </p:spTgt>
                                        </p:tgtEl>
                                      </p:cBhvr>
                                    </p:animEffect>
                                  </p:childTnLst>
                                </p:cTn>
                              </p:par>
                              <p:par>
                                <p:cTn id="21" presetID="22" presetClass="entr" presetSubtype="4" fill="hold" nodeType="withEffect">
                                  <p:stCondLst>
                                    <p:cond delay="0"/>
                                  </p:stCondLst>
                                  <p:childTnLst>
                                    <p:set>
                                      <p:cBhvr>
                                        <p:cTn id="22" dur="1" fill="hold">
                                          <p:stCondLst>
                                            <p:cond delay="0"/>
                                          </p:stCondLst>
                                        </p:cTn>
                                        <p:tgtEl>
                                          <p:spTgt spid="17"/>
                                        </p:tgtEl>
                                        <p:attrNameLst>
                                          <p:attrName>style.visibility</p:attrName>
                                        </p:attrNameLst>
                                      </p:cBhvr>
                                      <p:to>
                                        <p:strVal val="visible"/>
                                      </p:to>
                                    </p:set>
                                    <p:animEffect transition="in" filter="wipe(down)">
                                      <p:cBhvr>
                                        <p:cTn id="23" dur="1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251" grpId="0" uiExpand="1"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灯片编号占位符 5"/>
          <p:cNvSpPr>
            <a:spLocks noGrp="1"/>
          </p:cNvSpPr>
          <p:nvPr>
            <p:ph type="sldNum" sz="quarter" idx="4294967295"/>
          </p:nvPr>
        </p:nvSpPr>
        <p:spPr>
          <a:noFill/>
        </p:spPr>
        <p:txBody>
          <a:bodyPr/>
          <a:lstStyle/>
          <a:p>
            <a:r>
              <a:rPr lang="en-US" altLang="zh-CN">
                <a:ea typeface="宋体" pitchFamily="2" charset="-122"/>
              </a:rPr>
              <a:t>8--</a:t>
            </a:r>
            <a:fld id="{255EB9E7-FF87-47D7-93AD-7A36CB3F5B78}" type="slidenum">
              <a:rPr lang="en-US" altLang="zh-CN" smtClean="0">
                <a:ea typeface="宋体" pitchFamily="2" charset="-122"/>
              </a:rPr>
              <a:pPr/>
              <a:t>11</a:t>
            </a:fld>
            <a:endParaRPr lang="en-US" altLang="zh-CN">
              <a:ea typeface="宋体" pitchFamily="2" charset="-122"/>
            </a:endParaRPr>
          </a:p>
        </p:txBody>
      </p:sp>
      <p:sp>
        <p:nvSpPr>
          <p:cNvPr id="13316" name="Rectangle 2"/>
          <p:cNvSpPr>
            <a:spLocks noGrp="1" noChangeArrowheads="1"/>
          </p:cNvSpPr>
          <p:nvPr>
            <p:ph type="title"/>
          </p:nvPr>
        </p:nvSpPr>
        <p:spPr/>
        <p:txBody>
          <a:bodyPr>
            <a:normAutofit/>
          </a:bodyPr>
          <a:lstStyle/>
          <a:p>
            <a:r>
              <a:rPr lang="en-US" altLang="zh-CN" dirty="0">
                <a:solidFill>
                  <a:srgbClr val="0070C0"/>
                </a:solidFill>
              </a:rPr>
              <a:t>【</a:t>
            </a:r>
            <a:r>
              <a:rPr lang="zh-CN" altLang="en-US" dirty="0">
                <a:solidFill>
                  <a:srgbClr val="0070C0"/>
                </a:solidFill>
              </a:rPr>
              <a:t>例</a:t>
            </a:r>
            <a:r>
              <a:rPr lang="en-US" altLang="zh-CN" dirty="0">
                <a:solidFill>
                  <a:srgbClr val="0070C0"/>
                </a:solidFill>
              </a:rPr>
              <a:t>8-1】(</a:t>
            </a:r>
            <a:r>
              <a:rPr lang="zh-CN" altLang="en-US" dirty="0">
                <a:solidFill>
                  <a:srgbClr val="0070C0"/>
                </a:solidFill>
              </a:rPr>
              <a:t>续）</a:t>
            </a:r>
          </a:p>
        </p:txBody>
      </p:sp>
      <p:sp>
        <p:nvSpPr>
          <p:cNvPr id="53251" name="Rectangle 3"/>
          <p:cNvSpPr>
            <a:spLocks noGrp="1" noChangeArrowheads="1"/>
          </p:cNvSpPr>
          <p:nvPr>
            <p:ph type="body" idx="1"/>
          </p:nvPr>
        </p:nvSpPr>
        <p:spPr>
          <a:xfrm>
            <a:off x="1384301" y="610712"/>
            <a:ext cx="8139113" cy="781684"/>
          </a:xfrm>
        </p:spPr>
        <p:txBody>
          <a:bodyPr/>
          <a:lstStyle/>
          <a:p>
            <a:pPr lvl="1" indent="514350">
              <a:lnSpc>
                <a:spcPct val="135000"/>
              </a:lnSpc>
              <a:spcBef>
                <a:spcPct val="35000"/>
              </a:spcBef>
              <a:buNone/>
            </a:pPr>
            <a:r>
              <a:rPr lang="zh-CN" altLang="en-US" dirty="0">
                <a:solidFill>
                  <a:schemeClr val="tx1"/>
                </a:solidFill>
              </a:rPr>
              <a:t>给定显著性水平</a:t>
            </a:r>
            <a:r>
              <a:rPr lang="en-US" altLang="zh-CN" dirty="0">
                <a:solidFill>
                  <a:schemeClr val="tx1"/>
                </a:solidFill>
              </a:rPr>
              <a:t>1</a:t>
            </a:r>
            <a:r>
              <a:rPr lang="en-US" altLang="zh-CN" dirty="0">
                <a:solidFill>
                  <a:schemeClr val="tx1"/>
                </a:solidFill>
                <a:latin typeface="Times New Roman" pitchFamily="18" charset="0"/>
                <a:cs typeface="Tahoma" pitchFamily="34" charset="0"/>
              </a:rPr>
              <a:t>‰</a:t>
            </a:r>
            <a:r>
              <a:rPr lang="zh-CN" altLang="en-US" dirty="0">
                <a:solidFill>
                  <a:schemeClr val="tx1"/>
                </a:solidFill>
              </a:rPr>
              <a:t>，查临界值</a:t>
            </a:r>
            <a:r>
              <a:rPr lang="en-US" altLang="zh-CN" sz="2400" i="1" dirty="0">
                <a:sym typeface="Symbol" pitchFamily="18" charset="2"/>
              </a:rPr>
              <a:t>Z</a:t>
            </a:r>
            <a:r>
              <a:rPr lang="el-GR" altLang="zh-CN" sz="2400" i="1" baseline="-25000" dirty="0">
                <a:latin typeface="宋体" pitchFamily="2" charset="-122"/>
              </a:rPr>
              <a:t>α</a:t>
            </a:r>
            <a:r>
              <a:rPr lang="en-US" altLang="zh-CN" sz="2400" i="1" baseline="-25000" dirty="0">
                <a:latin typeface="宋体" pitchFamily="2" charset="-122"/>
              </a:rPr>
              <a:t>/2</a:t>
            </a:r>
            <a:r>
              <a:rPr lang="en-US" altLang="zh-CN" dirty="0"/>
              <a:t>=3.29</a:t>
            </a:r>
          </a:p>
        </p:txBody>
      </p:sp>
      <p:sp>
        <p:nvSpPr>
          <p:cNvPr id="13318" name="Rectangle 3"/>
          <p:cNvSpPr>
            <a:spLocks noChangeArrowheads="1"/>
          </p:cNvSpPr>
          <p:nvPr/>
        </p:nvSpPr>
        <p:spPr bwMode="auto">
          <a:xfrm>
            <a:off x="1524001" y="-184666"/>
            <a:ext cx="184731" cy="369332"/>
          </a:xfrm>
          <a:prstGeom prst="rect">
            <a:avLst/>
          </a:prstGeom>
          <a:noFill/>
          <a:ln w="9525">
            <a:noFill/>
            <a:miter lim="800000"/>
            <a:headEnd/>
            <a:tailEnd/>
          </a:ln>
        </p:spPr>
        <p:txBody>
          <a:bodyPr wrap="none" anchor="ctr">
            <a:spAutoFit/>
          </a:bodyPr>
          <a:lstStyle/>
          <a:p>
            <a:endParaRPr lang="zh-CN" altLang="en-US"/>
          </a:p>
        </p:txBody>
      </p:sp>
      <p:pic>
        <p:nvPicPr>
          <p:cNvPr id="3" name="图片 2"/>
          <p:cNvPicPr>
            <a:picLocks noChangeAspect="1"/>
          </p:cNvPicPr>
          <p:nvPr/>
        </p:nvPicPr>
        <p:blipFill>
          <a:blip r:embed="rId2"/>
          <a:stretch>
            <a:fillRect/>
          </a:stretch>
        </p:blipFill>
        <p:spPr>
          <a:xfrm>
            <a:off x="2312596" y="1273495"/>
            <a:ext cx="7870052" cy="1918694"/>
          </a:xfrm>
          <a:prstGeom prst="rect">
            <a:avLst/>
          </a:prstGeom>
        </p:spPr>
      </p:pic>
      <p:sp>
        <p:nvSpPr>
          <p:cNvPr id="9" name="Rectangle 3"/>
          <p:cNvSpPr txBox="1">
            <a:spLocks noChangeArrowheads="1"/>
          </p:cNvSpPr>
          <p:nvPr/>
        </p:nvSpPr>
        <p:spPr>
          <a:xfrm>
            <a:off x="850901" y="3303820"/>
            <a:ext cx="9956800" cy="3034544"/>
          </a:xfrm>
          <a:prstGeom prst="rect">
            <a:avLst/>
          </a:prstGeom>
        </p:spPr>
        <p:txBody>
          <a:bodyPr vert="horz" lIns="91440" tIns="45720" rIns="91440" bIns="45720" rtlCol="0">
            <a:noAutofit/>
          </a:bodyPr>
          <a:lstStyle>
            <a:lvl1pPr marL="457200" indent="-457200" algn="l" defTabSz="685783" rtl="0" eaLnBrk="1" latinLnBrk="0" hangingPunct="1">
              <a:lnSpc>
                <a:spcPct val="100000"/>
              </a:lnSpc>
              <a:spcBef>
                <a:spcPts val="751"/>
              </a:spcBef>
              <a:spcAft>
                <a:spcPts val="225"/>
              </a:spcAft>
              <a:buSzPct val="80000"/>
              <a:buFont typeface="Wingdings" panose="05000000000000000000" pitchFamily="2" charset="2"/>
              <a:buChar char="n"/>
              <a:defRPr sz="3200" kern="1200">
                <a:solidFill>
                  <a:srgbClr val="2F5597"/>
                </a:solidFill>
                <a:latin typeface="微软雅黑" panose="020B0503020204020204" pitchFamily="34" charset="-122"/>
                <a:ea typeface="微软雅黑" panose="020B0503020204020204" pitchFamily="34" charset="-122"/>
                <a:cs typeface="+mn-cs"/>
              </a:defRPr>
            </a:lvl1pPr>
            <a:lvl2pPr marL="0" indent="-457200" algn="l" defTabSz="685783" rtl="0" eaLnBrk="1" fontAlgn="ctr" latinLnBrk="0" hangingPunct="1">
              <a:lnSpc>
                <a:spcPct val="100000"/>
              </a:lnSpc>
              <a:spcBef>
                <a:spcPts val="375"/>
              </a:spcBef>
              <a:spcAft>
                <a:spcPts val="225"/>
              </a:spcAft>
              <a:buSzPct val="80000"/>
              <a:buFont typeface="Wingdings" panose="05000000000000000000" pitchFamily="2" charset="2"/>
              <a:buChar char="l"/>
              <a:defRPr sz="2800" kern="1200">
                <a:solidFill>
                  <a:srgbClr val="2F5597"/>
                </a:solidFill>
                <a:latin typeface="微软雅黑" panose="020B0503020204020204" pitchFamily="34" charset="-122"/>
                <a:ea typeface="微软雅黑" panose="020B0503020204020204" pitchFamily="34" charset="-122"/>
                <a:cs typeface="+mn-cs"/>
              </a:defRPr>
            </a:lvl2pPr>
            <a:lvl3pPr marL="323992" indent="-457200" algn="l" defTabSz="685783" rtl="0" eaLnBrk="1" fontAlgn="ctr" latinLnBrk="0" hangingPunct="1">
              <a:lnSpc>
                <a:spcPct val="100000"/>
              </a:lnSpc>
              <a:spcBef>
                <a:spcPts val="375"/>
              </a:spcBef>
              <a:spcAft>
                <a:spcPts val="225"/>
              </a:spcAft>
              <a:buSzPct val="70000"/>
              <a:buFont typeface="Wingdings" panose="05000000000000000000" pitchFamily="2" charset="2"/>
              <a:buChar char="Ø"/>
              <a:defRPr sz="2400" kern="1200">
                <a:solidFill>
                  <a:srgbClr val="2F5597"/>
                </a:solidFill>
                <a:latin typeface="微软雅黑" panose="020B0503020204020204" pitchFamily="34" charset="-122"/>
                <a:ea typeface="微软雅黑" panose="020B0503020204020204" pitchFamily="34" charset="-122"/>
                <a:cs typeface="+mn-cs"/>
              </a:defRPr>
            </a:lvl3pPr>
            <a:lvl4pPr marL="324000" indent="-216000" algn="l" defTabSz="685783" rtl="0" eaLnBrk="1" fontAlgn="ctr" latinLnBrk="0" hangingPunct="1">
              <a:lnSpc>
                <a:spcPct val="100000"/>
              </a:lnSpc>
              <a:spcBef>
                <a:spcPts val="375"/>
              </a:spcBef>
              <a:spcAft>
                <a:spcPts val="225"/>
              </a:spcAft>
              <a:buSzPct val="80000"/>
              <a:buFont typeface="Wingdings" panose="05000000000000000000" pitchFamily="2" charset="2"/>
              <a:buChar char="Ø"/>
              <a:defRPr sz="2400" kern="1200">
                <a:solidFill>
                  <a:schemeClr val="accent1">
                    <a:lumMod val="75000"/>
                  </a:schemeClr>
                </a:solidFill>
                <a:latin typeface="微软雅黑" panose="020B0503020204020204" pitchFamily="34" charset="-122"/>
                <a:ea typeface="微软雅黑" panose="020B0503020204020204" pitchFamily="34" charset="-122"/>
                <a:cs typeface="+mn-cs"/>
              </a:defRPr>
            </a:lvl4pPr>
            <a:lvl5pPr marL="971976"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微软雅黑" panose="020B0503020204020204" pitchFamily="34" charset="-122"/>
                <a:ea typeface="微软雅黑" panose="020B0503020204020204" pitchFamily="34" charset="-122"/>
                <a:cs typeface="+mn-cs"/>
              </a:defRPr>
            </a:lvl5pPr>
            <a:lvl6pPr marL="1885904"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578"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a:lstStyle>
          <a:p>
            <a:pPr lvl="1" indent="895350">
              <a:lnSpc>
                <a:spcPct val="150000"/>
              </a:lnSpc>
              <a:spcBef>
                <a:spcPts val="1200"/>
              </a:spcBef>
              <a:spcAft>
                <a:spcPts val="0"/>
              </a:spcAft>
              <a:buNone/>
            </a:pPr>
            <a:r>
              <a:rPr lang="en-US" altLang="zh-CN" dirty="0">
                <a:solidFill>
                  <a:schemeClr val="tx1"/>
                </a:solidFill>
              </a:rPr>
              <a:t>|Z|=3.333&gt;Zα/2 =3.29</a:t>
            </a:r>
            <a:r>
              <a:rPr lang="zh-CN" altLang="en-US" dirty="0">
                <a:solidFill>
                  <a:schemeClr val="tx1"/>
                </a:solidFill>
              </a:rPr>
              <a:t>。这意味着，如果“</a:t>
            </a:r>
            <a:r>
              <a:rPr lang="en-US" altLang="zh-CN" dirty="0">
                <a:solidFill>
                  <a:schemeClr val="tx1"/>
                </a:solidFill>
              </a:rPr>
              <a:t>µ=4”</a:t>
            </a:r>
            <a:r>
              <a:rPr lang="zh-CN" altLang="en-US" dirty="0">
                <a:solidFill>
                  <a:schemeClr val="tx1"/>
                </a:solidFill>
              </a:rPr>
              <a:t>的假设成立，那么在这一次抽样中就发生了“</a:t>
            </a:r>
            <a:r>
              <a:rPr lang="en-US" altLang="zh-CN" dirty="0">
                <a:solidFill>
                  <a:schemeClr val="tx1"/>
                </a:solidFill>
              </a:rPr>
              <a:t>|Z|&gt; Zα/2”</a:t>
            </a:r>
            <a:r>
              <a:rPr lang="zh-CN" altLang="en-US" dirty="0">
                <a:solidFill>
                  <a:schemeClr val="tx1"/>
                </a:solidFill>
              </a:rPr>
              <a:t>这种小概率事件</a:t>
            </a:r>
            <a:r>
              <a:rPr lang="en-US" altLang="zh-CN" dirty="0">
                <a:solidFill>
                  <a:schemeClr val="tx1"/>
                </a:solidFill>
              </a:rPr>
              <a:t>.</a:t>
            </a:r>
            <a:r>
              <a:rPr lang="zh-CN" altLang="en-US" sz="2400" dirty="0">
                <a:solidFill>
                  <a:schemeClr val="tx1"/>
                </a:solidFill>
              </a:rPr>
              <a:t>或者说，</a:t>
            </a:r>
            <a:r>
              <a:rPr lang="en-US" altLang="zh-CN" sz="2400" dirty="0">
                <a:solidFill>
                  <a:schemeClr val="tx1"/>
                </a:solidFill>
              </a:rPr>
              <a:t>P{ |Z|≥3.333}=0.000858&lt;α=0.001</a:t>
            </a:r>
          </a:p>
          <a:p>
            <a:pPr lvl="1" indent="895350">
              <a:lnSpc>
                <a:spcPct val="150000"/>
              </a:lnSpc>
              <a:spcBef>
                <a:spcPts val="1200"/>
              </a:spcBef>
              <a:spcAft>
                <a:spcPts val="0"/>
              </a:spcAft>
              <a:buNone/>
            </a:pPr>
            <a:r>
              <a:rPr lang="zh-CN" altLang="en-US" dirty="0">
                <a:solidFill>
                  <a:schemeClr val="tx1"/>
                </a:solidFill>
              </a:rPr>
              <a:t>所以，应否定“</a:t>
            </a:r>
            <a:r>
              <a:rPr lang="en-US" altLang="zh-CN" dirty="0">
                <a:solidFill>
                  <a:schemeClr val="tx1"/>
                </a:solidFill>
              </a:rPr>
              <a:t>µ=4”</a:t>
            </a:r>
            <a:r>
              <a:rPr lang="zh-CN" altLang="en-US" dirty="0">
                <a:solidFill>
                  <a:schemeClr val="tx1"/>
                </a:solidFill>
              </a:rPr>
              <a:t>这一假设，推断工艺改革后零件的长度有了显著的变化（即</a:t>
            </a:r>
            <a:r>
              <a:rPr lang="en-US" altLang="zh-CN" dirty="0">
                <a:solidFill>
                  <a:schemeClr val="tx1"/>
                </a:solidFill>
              </a:rPr>
              <a:t>µ≠4</a:t>
            </a:r>
            <a:r>
              <a:rPr lang="zh-CN" altLang="en-US" dirty="0">
                <a:solidFill>
                  <a:schemeClr val="tx1"/>
                </a:solidFill>
              </a:rPr>
              <a:t>）。</a:t>
            </a:r>
            <a:endParaRPr lang="en-US" altLang="zh-CN" dirty="0"/>
          </a:p>
        </p:txBody>
      </p:sp>
    </p:spTree>
    <p:extLst>
      <p:ext uri="{BB962C8B-B14F-4D97-AF65-F5344CB8AC3E}">
        <p14:creationId xmlns:p14="http://schemas.microsoft.com/office/powerpoint/2010/main" val="22468318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1"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wipe(left)">
                                      <p:cBhvr>
                                        <p:cTn id="7" dur="500"/>
                                        <p:tgtEl>
                                          <p:spTgt spid="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1" nodeType="clickEffect">
                                  <p:stCondLst>
                                    <p:cond delay="0"/>
                                  </p:stCondLst>
                                  <p:childTnLst>
                                    <p:set>
                                      <p:cBhvr>
                                        <p:cTn id="11" dur="1" fill="hold">
                                          <p:stCondLst>
                                            <p:cond delay="0"/>
                                          </p:stCondLst>
                                        </p:cTn>
                                        <p:tgtEl>
                                          <p:spTgt spid="9">
                                            <p:txEl>
                                              <p:pRg st="1" end="1"/>
                                            </p:txEl>
                                          </p:spTgt>
                                        </p:tgtEl>
                                        <p:attrNameLst>
                                          <p:attrName>style.visibility</p:attrName>
                                        </p:attrNameLst>
                                      </p:cBhvr>
                                      <p:to>
                                        <p:strVal val="visible"/>
                                      </p:to>
                                    </p:set>
                                    <p:animEffect transition="in" filter="wipe(left)">
                                      <p:cBhvr>
                                        <p:cTn id="12" dur="500"/>
                                        <p:tgtEl>
                                          <p:spTgt spid="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1" uiExpand="1" build="allAtOnce"/>
    </p:bldLst>
  </p:timing>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3490" name="灯片编号占位符 5"/>
          <p:cNvSpPr>
            <a:spLocks noGrp="1"/>
          </p:cNvSpPr>
          <p:nvPr>
            <p:ph type="sldNum" sz="quarter" idx="4294967295"/>
          </p:nvPr>
        </p:nvSpPr>
        <p:spPr>
          <a:noFill/>
        </p:spPr>
        <p:txBody>
          <a:bodyPr/>
          <a:lstStyle/>
          <a:p>
            <a:r>
              <a:rPr lang="en-US" altLang="zh-CN">
                <a:ea typeface="宋体" pitchFamily="2" charset="-122"/>
              </a:rPr>
              <a:t>8--</a:t>
            </a:r>
            <a:fld id="{5ACBFB47-711E-4683-8D4B-64A3277ECBAB}" type="slidenum">
              <a:rPr lang="en-US" altLang="zh-CN" smtClean="0">
                <a:ea typeface="宋体" pitchFamily="2" charset="-122"/>
              </a:rPr>
              <a:pPr/>
              <a:t>12</a:t>
            </a:fld>
            <a:endParaRPr lang="en-US" altLang="zh-CN">
              <a:ea typeface="宋体" pitchFamily="2" charset="-122"/>
            </a:endParaRPr>
          </a:p>
        </p:txBody>
      </p:sp>
      <p:sp>
        <p:nvSpPr>
          <p:cNvPr id="63491" name="Rectangle 2"/>
          <p:cNvSpPr>
            <a:spLocks noGrp="1" noChangeArrowheads="1"/>
          </p:cNvSpPr>
          <p:nvPr>
            <p:ph type="title"/>
          </p:nvPr>
        </p:nvSpPr>
        <p:spPr>
          <a:xfrm>
            <a:off x="1803400" y="388938"/>
            <a:ext cx="7772400" cy="990600"/>
          </a:xfrm>
          <a:noFill/>
        </p:spPr>
        <p:txBody>
          <a:bodyPr vert="horz" lIns="90488" tIns="44450" rIns="90488" bIns="44450" rtlCol="0" anchor="ctr" anchorCtr="1">
            <a:normAutofit/>
          </a:bodyPr>
          <a:lstStyle/>
          <a:p>
            <a:pPr eaLnBrk="1" hangingPunct="1"/>
            <a:r>
              <a:rPr lang="zh-CN" altLang="en-US" sz="4000" b="1" dirty="0">
                <a:effectLst/>
              </a:rPr>
              <a:t>假设检验的特点</a:t>
            </a:r>
            <a:endParaRPr lang="zh-CN" altLang="en-US" b="1" dirty="0">
              <a:effectLst/>
            </a:endParaRPr>
          </a:p>
        </p:txBody>
      </p:sp>
      <p:sp>
        <p:nvSpPr>
          <p:cNvPr id="12291" name="Rectangle 3"/>
          <p:cNvSpPr>
            <a:spLocks noGrp="1" noChangeArrowheads="1"/>
          </p:cNvSpPr>
          <p:nvPr>
            <p:ph type="body" idx="1"/>
          </p:nvPr>
        </p:nvSpPr>
        <p:spPr>
          <a:xfrm>
            <a:off x="1960563" y="1379538"/>
            <a:ext cx="8821737" cy="4552950"/>
          </a:xfrm>
          <a:noFill/>
        </p:spPr>
        <p:txBody>
          <a:bodyPr vert="horz" lIns="90488" tIns="44450" rIns="90488" bIns="44450" rtlCol="0">
            <a:noAutofit/>
          </a:bodyPr>
          <a:lstStyle/>
          <a:p>
            <a:pPr algn="just" eaLnBrk="1" hangingPunct="1">
              <a:lnSpc>
                <a:spcPct val="150000"/>
              </a:lnSpc>
              <a:spcBef>
                <a:spcPct val="24000"/>
              </a:spcBef>
            </a:pPr>
            <a:r>
              <a:rPr lang="zh-CN" altLang="en-US" sz="3600" b="1" dirty="0">
                <a:solidFill>
                  <a:srgbClr val="CC0099"/>
                </a:solidFill>
              </a:rPr>
              <a:t>采用逻辑上的反证法</a:t>
            </a:r>
          </a:p>
          <a:p>
            <a:pPr marL="457200" lvl="1" indent="0" algn="just">
              <a:lnSpc>
                <a:spcPct val="150000"/>
              </a:lnSpc>
              <a:spcBef>
                <a:spcPct val="24000"/>
              </a:spcBef>
              <a:buNone/>
            </a:pPr>
            <a:r>
              <a:rPr lang="zh-CN" altLang="en-US" sz="3200" b="1" dirty="0"/>
              <a:t>     先承认要检验的假设为真，观察在此前提下样本的出现是否合理。若不合理，则判断假设不真，应予以拒绝；反之则不能拒绝。</a:t>
            </a:r>
          </a:p>
          <a:p>
            <a:pPr algn="just" eaLnBrk="1" hangingPunct="1">
              <a:lnSpc>
                <a:spcPct val="150000"/>
              </a:lnSpc>
              <a:spcBef>
                <a:spcPct val="24000"/>
              </a:spcBef>
            </a:pPr>
            <a:r>
              <a:rPr lang="zh-CN" altLang="en-US" sz="3600" b="1" dirty="0">
                <a:solidFill>
                  <a:srgbClr val="CC0099"/>
                </a:solidFill>
              </a:rPr>
              <a:t>判断是否合理依据的是小概率原理</a:t>
            </a:r>
            <a:endParaRPr lang="zh-CN" altLang="en-US" sz="3600" b="1" dirty="0"/>
          </a:p>
          <a:p>
            <a:pPr marL="457200" lvl="1" indent="0" algn="just">
              <a:lnSpc>
                <a:spcPct val="150000"/>
              </a:lnSpc>
              <a:spcBef>
                <a:spcPct val="24000"/>
              </a:spcBef>
              <a:buNone/>
            </a:pPr>
            <a:r>
              <a:rPr lang="zh-CN" altLang="en-US" sz="3200" b="1" dirty="0"/>
              <a:t>   即这里的反证法是具有概率性质的反证法。 </a:t>
            </a:r>
          </a:p>
        </p:txBody>
      </p:sp>
    </p:spTree>
    <p:extLst>
      <p:ext uri="{BB962C8B-B14F-4D97-AF65-F5344CB8AC3E}">
        <p14:creationId xmlns:p14="http://schemas.microsoft.com/office/powerpoint/2010/main" val="16661310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12291">
                                            <p:txEl>
                                              <p:pRg st="1" end="1"/>
                                            </p:txEl>
                                          </p:spTgt>
                                        </p:tgtEl>
                                        <p:attrNameLst>
                                          <p:attrName>style.visibility</p:attrName>
                                        </p:attrNameLst>
                                      </p:cBhvr>
                                      <p:to>
                                        <p:strVal val="visible"/>
                                      </p:to>
                                    </p:set>
                                    <p:animEffect transition="in" filter="wipe(up)">
                                      <p:cBhvr>
                                        <p:cTn id="7" dur="5000"/>
                                        <p:tgtEl>
                                          <p:spTgt spid="12291">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2291">
                                            <p:txEl>
                                              <p:pRg st="2" end="2"/>
                                            </p:txEl>
                                          </p:spTgt>
                                        </p:tgtEl>
                                        <p:attrNameLst>
                                          <p:attrName>style.visibility</p:attrName>
                                        </p:attrNameLst>
                                      </p:cBhvr>
                                      <p:to>
                                        <p:strVal val="visible"/>
                                      </p:to>
                                    </p:set>
                                    <p:animEffect transition="in" filter="wipe(left)">
                                      <p:cBhvr>
                                        <p:cTn id="12" dur="500"/>
                                        <p:tgtEl>
                                          <p:spTgt spid="12291">
                                            <p:txEl>
                                              <p:pRg st="2" end="2"/>
                                            </p:txEl>
                                          </p:spTgt>
                                        </p:tgtEl>
                                      </p:cBhvr>
                                    </p:animEffect>
                                  </p:childTnLst>
                                </p:cTn>
                              </p:par>
                              <p:par>
                                <p:cTn id="13" presetID="22" presetClass="entr" presetSubtype="8" fill="hold" grpId="0" nodeType="withEffect">
                                  <p:stCondLst>
                                    <p:cond delay="0"/>
                                  </p:stCondLst>
                                  <p:childTnLst>
                                    <p:set>
                                      <p:cBhvr>
                                        <p:cTn id="14" dur="1" fill="hold">
                                          <p:stCondLst>
                                            <p:cond delay="0"/>
                                          </p:stCondLst>
                                        </p:cTn>
                                        <p:tgtEl>
                                          <p:spTgt spid="12291">
                                            <p:txEl>
                                              <p:pRg st="3" end="3"/>
                                            </p:txEl>
                                          </p:spTgt>
                                        </p:tgtEl>
                                        <p:attrNameLst>
                                          <p:attrName>style.visibility</p:attrName>
                                        </p:attrNameLst>
                                      </p:cBhvr>
                                      <p:to>
                                        <p:strVal val="visible"/>
                                      </p:to>
                                    </p:set>
                                    <p:animEffect transition="in" filter="wipe(left)">
                                      <p:cBhvr>
                                        <p:cTn id="15" dur="500"/>
                                        <p:tgtEl>
                                          <p:spTgt spid="1229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1" grpId="0" build="p"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灯片编号占位符 5"/>
          <p:cNvSpPr>
            <a:spLocks noGrp="1"/>
          </p:cNvSpPr>
          <p:nvPr>
            <p:ph type="sldNum" sz="quarter" idx="4294967295"/>
          </p:nvPr>
        </p:nvSpPr>
        <p:spPr>
          <a:noFill/>
        </p:spPr>
        <p:txBody>
          <a:bodyPr/>
          <a:lstStyle/>
          <a:p>
            <a:r>
              <a:rPr lang="en-US" altLang="zh-CN">
                <a:ea typeface="宋体" pitchFamily="2" charset="-122"/>
              </a:rPr>
              <a:t>8--</a:t>
            </a:r>
            <a:fld id="{4BC6A6B7-786A-4287-9FD9-AEBCAFB69098}" type="slidenum">
              <a:rPr lang="en-US" altLang="zh-CN" smtClean="0">
                <a:ea typeface="宋体" pitchFamily="2" charset="-122"/>
              </a:rPr>
              <a:pPr/>
              <a:t>13</a:t>
            </a:fld>
            <a:endParaRPr lang="en-US" altLang="zh-CN">
              <a:ea typeface="宋体" pitchFamily="2" charset="-122"/>
            </a:endParaRPr>
          </a:p>
        </p:txBody>
      </p:sp>
      <p:sp>
        <p:nvSpPr>
          <p:cNvPr id="64515" name="Rectangle 2"/>
          <p:cNvSpPr>
            <a:spLocks noGrp="1" noChangeArrowheads="1"/>
          </p:cNvSpPr>
          <p:nvPr>
            <p:ph type="title"/>
          </p:nvPr>
        </p:nvSpPr>
        <p:spPr>
          <a:xfrm>
            <a:off x="2309813" y="214313"/>
            <a:ext cx="7772400" cy="990600"/>
          </a:xfrm>
          <a:noFill/>
        </p:spPr>
        <p:txBody>
          <a:bodyPr vert="horz" lIns="90488" tIns="44450" rIns="90488" bIns="44450" rtlCol="0" anchor="ctr" anchorCtr="1">
            <a:normAutofit/>
          </a:bodyPr>
          <a:lstStyle/>
          <a:p>
            <a:pPr eaLnBrk="1" hangingPunct="1"/>
            <a:r>
              <a:rPr lang="zh-CN" altLang="en-US" sz="4000" dirty="0"/>
              <a:t>基本思想（续）</a:t>
            </a:r>
          </a:p>
        </p:txBody>
      </p:sp>
      <p:grpSp>
        <p:nvGrpSpPr>
          <p:cNvPr id="2" name="Group 3"/>
          <p:cNvGrpSpPr>
            <a:grpSpLocks/>
          </p:cNvGrpSpPr>
          <p:nvPr/>
        </p:nvGrpSpPr>
        <p:grpSpPr bwMode="auto">
          <a:xfrm>
            <a:off x="3148013" y="2363789"/>
            <a:ext cx="5683250" cy="2751137"/>
            <a:chOff x="1155" y="1477"/>
            <a:chExt cx="3580" cy="1733"/>
          </a:xfrm>
        </p:grpSpPr>
        <p:sp>
          <p:nvSpPr>
            <p:cNvPr id="16388" name="Freeform 4"/>
            <p:cNvSpPr>
              <a:spLocks/>
            </p:cNvSpPr>
            <p:nvPr/>
          </p:nvSpPr>
          <p:spPr bwMode="auto">
            <a:xfrm rot="-165692">
              <a:off x="3154" y="1477"/>
              <a:ext cx="1581" cy="1733"/>
            </a:xfrm>
            <a:custGeom>
              <a:avLst/>
              <a:gdLst/>
              <a:ahLst/>
              <a:cxnLst>
                <a:cxn ang="0">
                  <a:pos x="2127" y="2045"/>
                </a:cxn>
                <a:cxn ang="0">
                  <a:pos x="1903" y="2020"/>
                </a:cxn>
                <a:cxn ang="0">
                  <a:pos x="1792" y="1997"/>
                </a:cxn>
                <a:cxn ang="0">
                  <a:pos x="1679" y="1963"/>
                </a:cxn>
                <a:cxn ang="0">
                  <a:pos x="1568" y="1918"/>
                </a:cxn>
                <a:cxn ang="0">
                  <a:pos x="1455" y="1855"/>
                </a:cxn>
                <a:cxn ang="0">
                  <a:pos x="1344" y="1770"/>
                </a:cxn>
                <a:cxn ang="0">
                  <a:pos x="1120" y="1532"/>
                </a:cxn>
                <a:cxn ang="0">
                  <a:pos x="896" y="1198"/>
                </a:cxn>
                <a:cxn ang="0">
                  <a:pos x="672" y="799"/>
                </a:cxn>
                <a:cxn ang="0">
                  <a:pos x="561" y="595"/>
                </a:cxn>
                <a:cxn ang="0">
                  <a:pos x="448" y="402"/>
                </a:cxn>
                <a:cxn ang="0">
                  <a:pos x="337" y="238"/>
                </a:cxn>
                <a:cxn ang="0">
                  <a:pos x="224" y="111"/>
                </a:cxn>
                <a:cxn ang="0">
                  <a:pos x="113" y="28"/>
                </a:cxn>
                <a:cxn ang="0">
                  <a:pos x="0" y="0"/>
                </a:cxn>
              </a:cxnLst>
              <a:rect l="0" t="0" r="r" b="b"/>
              <a:pathLst>
                <a:path w="2127" h="2045">
                  <a:moveTo>
                    <a:pt x="2127" y="2045"/>
                  </a:moveTo>
                  <a:lnTo>
                    <a:pt x="1903" y="2020"/>
                  </a:lnTo>
                  <a:lnTo>
                    <a:pt x="1792" y="1997"/>
                  </a:lnTo>
                  <a:lnTo>
                    <a:pt x="1679" y="1963"/>
                  </a:lnTo>
                  <a:lnTo>
                    <a:pt x="1568" y="1918"/>
                  </a:lnTo>
                  <a:lnTo>
                    <a:pt x="1455" y="1855"/>
                  </a:lnTo>
                  <a:lnTo>
                    <a:pt x="1344" y="1770"/>
                  </a:lnTo>
                  <a:lnTo>
                    <a:pt x="1120" y="1532"/>
                  </a:lnTo>
                  <a:lnTo>
                    <a:pt x="896" y="1198"/>
                  </a:lnTo>
                  <a:lnTo>
                    <a:pt x="672" y="799"/>
                  </a:lnTo>
                  <a:lnTo>
                    <a:pt x="561" y="595"/>
                  </a:lnTo>
                  <a:lnTo>
                    <a:pt x="448" y="402"/>
                  </a:lnTo>
                  <a:lnTo>
                    <a:pt x="337" y="238"/>
                  </a:lnTo>
                  <a:lnTo>
                    <a:pt x="224" y="111"/>
                  </a:lnTo>
                  <a:lnTo>
                    <a:pt x="113" y="28"/>
                  </a:lnTo>
                  <a:lnTo>
                    <a:pt x="0" y="0"/>
                  </a:lnTo>
                </a:path>
              </a:pathLst>
            </a:custGeom>
            <a:noFill/>
            <a:ln w="58738">
              <a:solidFill>
                <a:schemeClr val="hlink"/>
              </a:solidFill>
              <a:prstDash val="solid"/>
              <a:round/>
              <a:headEnd/>
              <a:tailEnd/>
            </a:ln>
            <a:effectLst>
              <a:outerShdw dist="28398" dir="3806097" algn="ctr" rotWithShape="0">
                <a:schemeClr val="bg2"/>
              </a:outerShdw>
            </a:effectLst>
          </p:spPr>
          <p:txBody>
            <a:bodyPr/>
            <a:lstStyle/>
            <a:p>
              <a:pPr>
                <a:defRPr/>
              </a:pPr>
              <a:endParaRPr lang="zh-CN" altLang="en-US">
                <a:latin typeface="Arial" charset="0"/>
                <a:ea typeface="宋体" charset="-122"/>
              </a:endParaRPr>
            </a:p>
          </p:txBody>
        </p:sp>
        <p:sp>
          <p:nvSpPr>
            <p:cNvPr id="16389" name="Freeform 5"/>
            <p:cNvSpPr>
              <a:spLocks/>
            </p:cNvSpPr>
            <p:nvPr/>
          </p:nvSpPr>
          <p:spPr bwMode="auto">
            <a:xfrm>
              <a:off x="1155" y="1514"/>
              <a:ext cx="1954" cy="1649"/>
            </a:xfrm>
            <a:custGeom>
              <a:avLst/>
              <a:gdLst/>
              <a:ahLst/>
              <a:cxnLst>
                <a:cxn ang="0">
                  <a:pos x="0" y="2045"/>
                </a:cxn>
                <a:cxn ang="0">
                  <a:pos x="224" y="2020"/>
                </a:cxn>
                <a:cxn ang="0">
                  <a:pos x="338" y="1997"/>
                </a:cxn>
                <a:cxn ang="0">
                  <a:pos x="448" y="1963"/>
                </a:cxn>
                <a:cxn ang="0">
                  <a:pos x="559" y="1918"/>
                </a:cxn>
                <a:cxn ang="0">
                  <a:pos x="672" y="1855"/>
                </a:cxn>
                <a:cxn ang="0">
                  <a:pos x="783" y="1770"/>
                </a:cxn>
                <a:cxn ang="0">
                  <a:pos x="1010" y="1532"/>
                </a:cxn>
                <a:cxn ang="0">
                  <a:pos x="1231" y="1198"/>
                </a:cxn>
                <a:cxn ang="0">
                  <a:pos x="1455" y="799"/>
                </a:cxn>
                <a:cxn ang="0">
                  <a:pos x="1569" y="595"/>
                </a:cxn>
                <a:cxn ang="0">
                  <a:pos x="1679" y="402"/>
                </a:cxn>
                <a:cxn ang="0">
                  <a:pos x="1793" y="238"/>
                </a:cxn>
                <a:cxn ang="0">
                  <a:pos x="1904" y="111"/>
                </a:cxn>
                <a:cxn ang="0">
                  <a:pos x="2017" y="28"/>
                </a:cxn>
                <a:cxn ang="0">
                  <a:pos x="2128" y="0"/>
                </a:cxn>
              </a:cxnLst>
              <a:rect l="0" t="0" r="r" b="b"/>
              <a:pathLst>
                <a:path w="2128" h="2045">
                  <a:moveTo>
                    <a:pt x="0" y="2045"/>
                  </a:moveTo>
                  <a:lnTo>
                    <a:pt x="224" y="2020"/>
                  </a:lnTo>
                  <a:lnTo>
                    <a:pt x="338" y="1997"/>
                  </a:lnTo>
                  <a:lnTo>
                    <a:pt x="448" y="1963"/>
                  </a:lnTo>
                  <a:lnTo>
                    <a:pt x="559" y="1918"/>
                  </a:lnTo>
                  <a:lnTo>
                    <a:pt x="672" y="1855"/>
                  </a:lnTo>
                  <a:lnTo>
                    <a:pt x="783" y="1770"/>
                  </a:lnTo>
                  <a:lnTo>
                    <a:pt x="1010" y="1532"/>
                  </a:lnTo>
                  <a:lnTo>
                    <a:pt x="1231" y="1198"/>
                  </a:lnTo>
                  <a:lnTo>
                    <a:pt x="1455" y="799"/>
                  </a:lnTo>
                  <a:lnTo>
                    <a:pt x="1569" y="595"/>
                  </a:lnTo>
                  <a:lnTo>
                    <a:pt x="1679" y="402"/>
                  </a:lnTo>
                  <a:lnTo>
                    <a:pt x="1793" y="238"/>
                  </a:lnTo>
                  <a:lnTo>
                    <a:pt x="1904" y="111"/>
                  </a:lnTo>
                  <a:lnTo>
                    <a:pt x="2017" y="28"/>
                  </a:lnTo>
                  <a:lnTo>
                    <a:pt x="2128" y="0"/>
                  </a:lnTo>
                </a:path>
              </a:pathLst>
            </a:custGeom>
            <a:noFill/>
            <a:ln w="58738">
              <a:solidFill>
                <a:schemeClr val="hlink"/>
              </a:solidFill>
              <a:prstDash val="solid"/>
              <a:round/>
              <a:headEnd/>
              <a:tailEnd/>
            </a:ln>
            <a:effectLst>
              <a:outerShdw dist="28398" dir="1593903" algn="ctr" rotWithShape="0">
                <a:schemeClr val="bg2"/>
              </a:outerShdw>
            </a:effectLst>
          </p:spPr>
          <p:txBody>
            <a:bodyPr/>
            <a:lstStyle/>
            <a:p>
              <a:pPr>
                <a:defRPr/>
              </a:pPr>
              <a:endParaRPr lang="zh-CN" altLang="en-US">
                <a:latin typeface="Arial" charset="0"/>
                <a:ea typeface="宋体" charset="-122"/>
              </a:endParaRPr>
            </a:p>
          </p:txBody>
        </p:sp>
      </p:grpSp>
      <p:grpSp>
        <p:nvGrpSpPr>
          <p:cNvPr id="64517" name="Group 7"/>
          <p:cNvGrpSpPr>
            <a:grpSpLocks/>
          </p:cNvGrpSpPr>
          <p:nvPr/>
        </p:nvGrpSpPr>
        <p:grpSpPr bwMode="auto">
          <a:xfrm>
            <a:off x="2495550" y="3573463"/>
            <a:ext cx="7524750" cy="2451100"/>
            <a:chOff x="612" y="2239"/>
            <a:chExt cx="4740" cy="1544"/>
          </a:xfrm>
        </p:grpSpPr>
        <p:sp>
          <p:nvSpPr>
            <p:cNvPr id="64536" name="Line 8"/>
            <p:cNvSpPr>
              <a:spLocks noChangeShapeType="1"/>
            </p:cNvSpPr>
            <p:nvPr/>
          </p:nvSpPr>
          <p:spPr bwMode="auto">
            <a:xfrm>
              <a:off x="5202" y="3575"/>
              <a:ext cx="1" cy="11"/>
            </a:xfrm>
            <a:prstGeom prst="line">
              <a:avLst/>
            </a:prstGeom>
            <a:noFill/>
            <a:ln w="41275">
              <a:solidFill>
                <a:srgbClr val="CDCDCD"/>
              </a:solidFill>
              <a:round/>
              <a:headEnd/>
              <a:tailEnd/>
            </a:ln>
          </p:spPr>
          <p:txBody>
            <a:bodyPr/>
            <a:lstStyle/>
            <a:p>
              <a:endParaRPr lang="zh-CN" altLang="en-US"/>
            </a:p>
          </p:txBody>
        </p:sp>
        <p:sp>
          <p:nvSpPr>
            <p:cNvPr id="64537" name="Line 9"/>
            <p:cNvSpPr>
              <a:spLocks noChangeShapeType="1"/>
            </p:cNvSpPr>
            <p:nvPr/>
          </p:nvSpPr>
          <p:spPr bwMode="auto">
            <a:xfrm>
              <a:off x="4770" y="3575"/>
              <a:ext cx="1" cy="11"/>
            </a:xfrm>
            <a:prstGeom prst="line">
              <a:avLst/>
            </a:prstGeom>
            <a:noFill/>
            <a:ln w="41275">
              <a:solidFill>
                <a:srgbClr val="CDCDCD"/>
              </a:solidFill>
              <a:round/>
              <a:headEnd/>
              <a:tailEnd/>
            </a:ln>
          </p:spPr>
          <p:txBody>
            <a:bodyPr/>
            <a:lstStyle/>
            <a:p>
              <a:endParaRPr lang="zh-CN" altLang="en-US"/>
            </a:p>
          </p:txBody>
        </p:sp>
        <p:sp>
          <p:nvSpPr>
            <p:cNvPr id="64538" name="Line 10"/>
            <p:cNvSpPr>
              <a:spLocks noChangeShapeType="1"/>
            </p:cNvSpPr>
            <p:nvPr/>
          </p:nvSpPr>
          <p:spPr bwMode="auto">
            <a:xfrm>
              <a:off x="4336" y="3575"/>
              <a:ext cx="1" cy="11"/>
            </a:xfrm>
            <a:prstGeom prst="line">
              <a:avLst/>
            </a:prstGeom>
            <a:noFill/>
            <a:ln w="41275">
              <a:solidFill>
                <a:srgbClr val="CDCDCD"/>
              </a:solidFill>
              <a:round/>
              <a:headEnd/>
              <a:tailEnd/>
            </a:ln>
          </p:spPr>
          <p:txBody>
            <a:bodyPr/>
            <a:lstStyle/>
            <a:p>
              <a:endParaRPr lang="zh-CN" altLang="en-US"/>
            </a:p>
          </p:txBody>
        </p:sp>
        <p:sp>
          <p:nvSpPr>
            <p:cNvPr id="64539" name="Line 11"/>
            <p:cNvSpPr>
              <a:spLocks noChangeShapeType="1"/>
            </p:cNvSpPr>
            <p:nvPr/>
          </p:nvSpPr>
          <p:spPr bwMode="auto">
            <a:xfrm>
              <a:off x="3902" y="3575"/>
              <a:ext cx="1" cy="11"/>
            </a:xfrm>
            <a:prstGeom prst="line">
              <a:avLst/>
            </a:prstGeom>
            <a:noFill/>
            <a:ln w="41275">
              <a:solidFill>
                <a:srgbClr val="CDCDCD"/>
              </a:solidFill>
              <a:round/>
              <a:headEnd/>
              <a:tailEnd/>
            </a:ln>
          </p:spPr>
          <p:txBody>
            <a:bodyPr/>
            <a:lstStyle/>
            <a:p>
              <a:endParaRPr lang="zh-CN" altLang="en-US"/>
            </a:p>
          </p:txBody>
        </p:sp>
        <p:sp>
          <p:nvSpPr>
            <p:cNvPr id="64540" name="Line 12"/>
            <p:cNvSpPr>
              <a:spLocks noChangeShapeType="1"/>
            </p:cNvSpPr>
            <p:nvPr/>
          </p:nvSpPr>
          <p:spPr bwMode="auto">
            <a:xfrm>
              <a:off x="3468" y="3575"/>
              <a:ext cx="1" cy="11"/>
            </a:xfrm>
            <a:prstGeom prst="line">
              <a:avLst/>
            </a:prstGeom>
            <a:noFill/>
            <a:ln w="41275">
              <a:solidFill>
                <a:srgbClr val="CDCDCD"/>
              </a:solidFill>
              <a:round/>
              <a:headEnd/>
              <a:tailEnd/>
            </a:ln>
          </p:spPr>
          <p:txBody>
            <a:bodyPr/>
            <a:lstStyle/>
            <a:p>
              <a:endParaRPr lang="zh-CN" altLang="en-US"/>
            </a:p>
          </p:txBody>
        </p:sp>
        <p:sp>
          <p:nvSpPr>
            <p:cNvPr id="64541" name="Line 13"/>
            <p:cNvSpPr>
              <a:spLocks noChangeShapeType="1"/>
            </p:cNvSpPr>
            <p:nvPr/>
          </p:nvSpPr>
          <p:spPr bwMode="auto">
            <a:xfrm>
              <a:off x="3034" y="3575"/>
              <a:ext cx="1" cy="11"/>
            </a:xfrm>
            <a:prstGeom prst="line">
              <a:avLst/>
            </a:prstGeom>
            <a:noFill/>
            <a:ln w="41275">
              <a:solidFill>
                <a:srgbClr val="CDCDCD"/>
              </a:solidFill>
              <a:round/>
              <a:headEnd/>
              <a:tailEnd/>
            </a:ln>
          </p:spPr>
          <p:txBody>
            <a:bodyPr/>
            <a:lstStyle/>
            <a:p>
              <a:endParaRPr lang="zh-CN" altLang="en-US"/>
            </a:p>
          </p:txBody>
        </p:sp>
        <p:sp>
          <p:nvSpPr>
            <p:cNvPr id="64542" name="Line 14"/>
            <p:cNvSpPr>
              <a:spLocks noChangeShapeType="1"/>
            </p:cNvSpPr>
            <p:nvPr/>
          </p:nvSpPr>
          <p:spPr bwMode="auto">
            <a:xfrm>
              <a:off x="2600" y="3575"/>
              <a:ext cx="1" cy="11"/>
            </a:xfrm>
            <a:prstGeom prst="line">
              <a:avLst/>
            </a:prstGeom>
            <a:noFill/>
            <a:ln w="41275">
              <a:solidFill>
                <a:srgbClr val="CDCDCD"/>
              </a:solidFill>
              <a:round/>
              <a:headEnd/>
              <a:tailEnd/>
            </a:ln>
          </p:spPr>
          <p:txBody>
            <a:bodyPr/>
            <a:lstStyle/>
            <a:p>
              <a:endParaRPr lang="zh-CN" altLang="en-US"/>
            </a:p>
          </p:txBody>
        </p:sp>
        <p:sp>
          <p:nvSpPr>
            <p:cNvPr id="64543" name="Line 15"/>
            <p:cNvSpPr>
              <a:spLocks noChangeShapeType="1"/>
            </p:cNvSpPr>
            <p:nvPr/>
          </p:nvSpPr>
          <p:spPr bwMode="auto">
            <a:xfrm>
              <a:off x="2169" y="3575"/>
              <a:ext cx="1" cy="11"/>
            </a:xfrm>
            <a:prstGeom prst="line">
              <a:avLst/>
            </a:prstGeom>
            <a:noFill/>
            <a:ln w="41275">
              <a:solidFill>
                <a:srgbClr val="CDCDCD"/>
              </a:solidFill>
              <a:round/>
              <a:headEnd/>
              <a:tailEnd/>
            </a:ln>
          </p:spPr>
          <p:txBody>
            <a:bodyPr/>
            <a:lstStyle/>
            <a:p>
              <a:endParaRPr lang="zh-CN" altLang="en-US"/>
            </a:p>
          </p:txBody>
        </p:sp>
        <p:sp>
          <p:nvSpPr>
            <p:cNvPr id="64544" name="Line 16"/>
            <p:cNvSpPr>
              <a:spLocks noChangeShapeType="1"/>
            </p:cNvSpPr>
            <p:nvPr/>
          </p:nvSpPr>
          <p:spPr bwMode="auto">
            <a:xfrm>
              <a:off x="1735" y="3575"/>
              <a:ext cx="1" cy="11"/>
            </a:xfrm>
            <a:prstGeom prst="line">
              <a:avLst/>
            </a:prstGeom>
            <a:noFill/>
            <a:ln w="41275">
              <a:solidFill>
                <a:srgbClr val="CDCDCD"/>
              </a:solidFill>
              <a:round/>
              <a:headEnd/>
              <a:tailEnd/>
            </a:ln>
          </p:spPr>
          <p:txBody>
            <a:bodyPr/>
            <a:lstStyle/>
            <a:p>
              <a:endParaRPr lang="zh-CN" altLang="en-US"/>
            </a:p>
          </p:txBody>
        </p:sp>
        <p:sp>
          <p:nvSpPr>
            <p:cNvPr id="64545" name="Line 17"/>
            <p:cNvSpPr>
              <a:spLocks noChangeShapeType="1"/>
            </p:cNvSpPr>
            <p:nvPr/>
          </p:nvSpPr>
          <p:spPr bwMode="auto">
            <a:xfrm>
              <a:off x="1301" y="3575"/>
              <a:ext cx="1" cy="11"/>
            </a:xfrm>
            <a:prstGeom prst="line">
              <a:avLst/>
            </a:prstGeom>
            <a:noFill/>
            <a:ln w="41275">
              <a:solidFill>
                <a:srgbClr val="CDCDCD"/>
              </a:solidFill>
              <a:round/>
              <a:headEnd/>
              <a:tailEnd/>
            </a:ln>
          </p:spPr>
          <p:txBody>
            <a:bodyPr/>
            <a:lstStyle/>
            <a:p>
              <a:endParaRPr lang="zh-CN" altLang="en-US"/>
            </a:p>
          </p:txBody>
        </p:sp>
        <p:sp>
          <p:nvSpPr>
            <p:cNvPr id="64546" name="Rectangle 18"/>
            <p:cNvSpPr>
              <a:spLocks noChangeArrowheads="1"/>
            </p:cNvSpPr>
            <p:nvPr/>
          </p:nvSpPr>
          <p:spPr bwMode="auto">
            <a:xfrm>
              <a:off x="2336" y="2239"/>
              <a:ext cx="1215" cy="448"/>
            </a:xfrm>
            <a:prstGeom prst="rect">
              <a:avLst/>
            </a:prstGeom>
            <a:noFill/>
            <a:ln w="12700">
              <a:solidFill>
                <a:schemeClr val="tx1"/>
              </a:solidFill>
              <a:miter lim="800000"/>
              <a:headEnd/>
              <a:tailEnd/>
            </a:ln>
          </p:spPr>
          <p:txBody>
            <a:bodyPr lIns="90488" tIns="44450" rIns="90488" bIns="44450">
              <a:spAutoFit/>
            </a:bodyPr>
            <a:lstStyle/>
            <a:p>
              <a:pPr eaLnBrk="0" hangingPunct="0">
                <a:spcBef>
                  <a:spcPct val="50000"/>
                </a:spcBef>
              </a:pPr>
              <a:r>
                <a:rPr kumimoji="1" lang="zh-CN" altLang="en-US" sz="2000" b="1">
                  <a:solidFill>
                    <a:srgbClr val="000000"/>
                  </a:solidFill>
                </a:rPr>
                <a:t>如果这个值是总体参数真值</a:t>
              </a:r>
            </a:p>
          </p:txBody>
        </p:sp>
        <p:sp>
          <p:nvSpPr>
            <p:cNvPr id="64547" name="Line 19"/>
            <p:cNvSpPr>
              <a:spLocks noChangeShapeType="1"/>
            </p:cNvSpPr>
            <p:nvPr/>
          </p:nvSpPr>
          <p:spPr bwMode="auto">
            <a:xfrm>
              <a:off x="2971" y="2692"/>
              <a:ext cx="0" cy="454"/>
            </a:xfrm>
            <a:prstGeom prst="line">
              <a:avLst/>
            </a:prstGeom>
            <a:noFill/>
            <a:ln w="38100">
              <a:solidFill>
                <a:srgbClr val="C00000"/>
              </a:solidFill>
              <a:round/>
              <a:headEnd/>
              <a:tailEnd type="triangle" w="med" len="med"/>
            </a:ln>
          </p:spPr>
          <p:txBody>
            <a:bodyPr wrap="none" anchor="ctr"/>
            <a:lstStyle/>
            <a:p>
              <a:endParaRPr lang="zh-CN" altLang="en-US"/>
            </a:p>
          </p:txBody>
        </p:sp>
        <p:sp>
          <p:nvSpPr>
            <p:cNvPr id="16404" name="Rectangle 20"/>
            <p:cNvSpPr>
              <a:spLocks noChangeArrowheads="1"/>
            </p:cNvSpPr>
            <p:nvPr/>
          </p:nvSpPr>
          <p:spPr bwMode="auto">
            <a:xfrm>
              <a:off x="4308" y="3264"/>
              <a:ext cx="956" cy="233"/>
            </a:xfrm>
            <a:prstGeom prst="rect">
              <a:avLst/>
            </a:prstGeom>
            <a:noFill/>
            <a:ln w="9525">
              <a:noFill/>
              <a:miter lim="800000"/>
              <a:headEnd/>
              <a:tailEnd/>
            </a:ln>
            <a:effectLst/>
          </p:spPr>
          <p:txBody>
            <a:bodyPr wrap="none" lIns="0" tIns="0" rIns="0" bIns="0">
              <a:spAutoFit/>
            </a:bodyPr>
            <a:lstStyle/>
            <a:p>
              <a:pPr eaLnBrk="0" hangingPunct="0">
                <a:defRPr/>
              </a:pPr>
              <a:r>
                <a:rPr kumimoji="1" lang="en-US" altLang="zh-CN" sz="2400">
                  <a:solidFill>
                    <a:srgbClr val="3333FF"/>
                  </a:solidFill>
                  <a:effectLst>
                    <a:outerShdw blurRad="38100" dist="38100" dir="2700000" algn="tl">
                      <a:srgbClr val="C0C0C0"/>
                    </a:outerShdw>
                  </a:effectLst>
                  <a:latin typeface="Arial" charset="0"/>
                  <a:ea typeface="宋体" charset="-122"/>
                </a:rPr>
                <a:t>       </a:t>
              </a:r>
              <a:r>
                <a:rPr kumimoji="1" lang="zh-CN" altLang="en-US" sz="2400">
                  <a:solidFill>
                    <a:srgbClr val="3333FF"/>
                  </a:solidFill>
                  <a:effectLst>
                    <a:outerShdw blurRad="38100" dist="38100" dir="2700000" algn="tl">
                      <a:srgbClr val="C0C0C0"/>
                    </a:outerShdw>
                  </a:effectLst>
                  <a:latin typeface="Arial" charset="0"/>
                  <a:ea typeface="宋体" charset="-122"/>
                </a:rPr>
                <a:t>统计量</a:t>
              </a:r>
              <a:endParaRPr kumimoji="1" lang="zh-CN" altLang="en-US" sz="2400">
                <a:solidFill>
                  <a:srgbClr val="3333FF"/>
                </a:solidFill>
                <a:latin typeface="Arial" charset="0"/>
                <a:ea typeface="宋体" charset="-122"/>
              </a:endParaRPr>
            </a:p>
          </p:txBody>
        </p:sp>
        <p:sp>
          <p:nvSpPr>
            <p:cNvPr id="64549" name="Rectangle 21"/>
            <p:cNvSpPr>
              <a:spLocks noChangeArrowheads="1"/>
            </p:cNvSpPr>
            <p:nvPr/>
          </p:nvSpPr>
          <p:spPr bwMode="auto">
            <a:xfrm>
              <a:off x="2565" y="3395"/>
              <a:ext cx="836" cy="388"/>
            </a:xfrm>
            <a:prstGeom prst="rect">
              <a:avLst/>
            </a:prstGeom>
            <a:solidFill>
              <a:schemeClr val="accent3">
                <a:lumMod val="20000"/>
                <a:lumOff val="80000"/>
              </a:schemeClr>
            </a:solidFill>
            <a:ln w="9525">
              <a:solidFill>
                <a:schemeClr val="tx1"/>
              </a:solidFill>
              <a:miter lim="800000"/>
              <a:headEnd/>
              <a:tailEnd/>
            </a:ln>
          </p:spPr>
          <p:txBody>
            <a:bodyPr lIns="0" tIns="0" rIns="0" bIns="0">
              <a:spAutoFit/>
            </a:bodyPr>
            <a:lstStyle/>
            <a:p>
              <a:pPr algn="ctr" eaLnBrk="0" hangingPunct="0"/>
              <a:r>
                <a:rPr kumimoji="1" lang="en-US" altLang="zh-CN" sz="2000" b="1" dirty="0">
                  <a:solidFill>
                    <a:srgbClr val="CC0099"/>
                  </a:solidFill>
                </a:rPr>
                <a:t> </a:t>
              </a:r>
              <a:r>
                <a:rPr kumimoji="1" lang="zh-CN" altLang="en-US" sz="2000" b="1" dirty="0">
                  <a:solidFill>
                    <a:srgbClr val="CC0099"/>
                  </a:solidFill>
                </a:rPr>
                <a:t>总体参数的假设值</a:t>
              </a:r>
              <a:r>
                <a:rPr kumimoji="1" lang="el-GR" altLang="zh-CN" sz="2000" b="1" i="1" dirty="0">
                  <a:solidFill>
                    <a:srgbClr val="FF33CC"/>
                  </a:solidFill>
                </a:rPr>
                <a:t>θ</a:t>
              </a:r>
              <a:r>
                <a:rPr kumimoji="1" lang="en-US" altLang="zh-CN" sz="2000" b="1" baseline="-25000" dirty="0">
                  <a:solidFill>
                    <a:srgbClr val="FF33CC"/>
                  </a:solidFill>
                  <a:latin typeface="Times New Roman" pitchFamily="18" charset="0"/>
                </a:rPr>
                <a:t>0</a:t>
              </a:r>
            </a:p>
          </p:txBody>
        </p:sp>
        <p:sp>
          <p:nvSpPr>
            <p:cNvPr id="64550" name="Line 22"/>
            <p:cNvSpPr>
              <a:spLocks noChangeShapeType="1"/>
            </p:cNvSpPr>
            <p:nvPr/>
          </p:nvSpPr>
          <p:spPr bwMode="auto">
            <a:xfrm>
              <a:off x="612" y="3240"/>
              <a:ext cx="4740" cy="0"/>
            </a:xfrm>
            <a:prstGeom prst="line">
              <a:avLst/>
            </a:prstGeom>
            <a:noFill/>
            <a:ln w="38100">
              <a:solidFill>
                <a:schemeClr val="tx1"/>
              </a:solidFill>
              <a:round/>
              <a:headEnd/>
              <a:tailEnd type="triangle" w="med" len="med"/>
            </a:ln>
          </p:spPr>
          <p:txBody>
            <a:bodyPr/>
            <a:lstStyle/>
            <a:p>
              <a:endParaRPr lang="zh-CN" altLang="en-US"/>
            </a:p>
          </p:txBody>
        </p:sp>
        <p:sp>
          <p:nvSpPr>
            <p:cNvPr id="64551" name="Oval 23"/>
            <p:cNvSpPr>
              <a:spLocks noChangeArrowheads="1"/>
            </p:cNvSpPr>
            <p:nvPr/>
          </p:nvSpPr>
          <p:spPr bwMode="auto">
            <a:xfrm>
              <a:off x="2880" y="3156"/>
              <a:ext cx="204" cy="144"/>
            </a:xfrm>
            <a:prstGeom prst="ellipse">
              <a:avLst/>
            </a:prstGeom>
            <a:solidFill>
              <a:srgbClr val="FF0066"/>
            </a:solidFill>
            <a:ln w="12700">
              <a:solidFill>
                <a:schemeClr val="tx1"/>
              </a:solidFill>
              <a:round/>
              <a:headEnd/>
              <a:tailEnd/>
            </a:ln>
          </p:spPr>
          <p:txBody>
            <a:bodyPr wrap="none" anchor="ctr"/>
            <a:lstStyle/>
            <a:p>
              <a:pPr algn="ctr"/>
              <a:endParaRPr lang="zh-CN" altLang="zh-CN">
                <a:solidFill>
                  <a:srgbClr val="FF0066"/>
                </a:solidFill>
              </a:endParaRPr>
            </a:p>
          </p:txBody>
        </p:sp>
      </p:grpSp>
      <p:grpSp>
        <p:nvGrpSpPr>
          <p:cNvPr id="4" name="Group 24"/>
          <p:cNvGrpSpPr>
            <a:grpSpLocks/>
          </p:cNvGrpSpPr>
          <p:nvPr/>
        </p:nvGrpSpPr>
        <p:grpSpPr bwMode="auto">
          <a:xfrm>
            <a:off x="2424113" y="2636839"/>
            <a:ext cx="2239962" cy="2998787"/>
            <a:chOff x="552" y="1656"/>
            <a:chExt cx="1411" cy="1889"/>
          </a:xfrm>
        </p:grpSpPr>
        <p:sp>
          <p:nvSpPr>
            <p:cNvPr id="64531" name="Rectangle 25"/>
            <p:cNvSpPr>
              <a:spLocks noChangeArrowheads="1"/>
            </p:cNvSpPr>
            <p:nvPr/>
          </p:nvSpPr>
          <p:spPr bwMode="auto">
            <a:xfrm>
              <a:off x="552" y="1656"/>
              <a:ext cx="1411" cy="640"/>
            </a:xfrm>
            <a:prstGeom prst="rect">
              <a:avLst/>
            </a:prstGeom>
            <a:noFill/>
            <a:ln w="12700">
              <a:solidFill>
                <a:schemeClr val="tx1"/>
              </a:solidFill>
              <a:miter lim="800000"/>
              <a:headEnd/>
              <a:tailEnd/>
            </a:ln>
          </p:spPr>
          <p:txBody>
            <a:bodyPr lIns="90488" tIns="44450" rIns="90488" bIns="44450">
              <a:spAutoFit/>
            </a:bodyPr>
            <a:lstStyle/>
            <a:p>
              <a:pPr eaLnBrk="0" hangingPunct="0">
                <a:spcBef>
                  <a:spcPct val="50000"/>
                </a:spcBef>
              </a:pPr>
              <a:r>
                <a:rPr kumimoji="1" lang="zh-CN" altLang="en-US" sz="2000" b="1" dirty="0">
                  <a:solidFill>
                    <a:srgbClr val="000000"/>
                  </a:solidFill>
                </a:rPr>
                <a:t>这样的值在一次观察中出现的可能性很小，</a:t>
              </a:r>
              <a:r>
                <a:rPr kumimoji="1" lang="en-US" altLang="zh-CN" sz="2000" b="1" dirty="0">
                  <a:solidFill>
                    <a:srgbClr val="000000"/>
                  </a:solidFill>
                </a:rPr>
                <a:t>...</a:t>
              </a:r>
            </a:p>
          </p:txBody>
        </p:sp>
        <p:sp>
          <p:nvSpPr>
            <p:cNvPr id="64532" name="Line 26"/>
            <p:cNvSpPr>
              <a:spLocks noChangeShapeType="1"/>
            </p:cNvSpPr>
            <p:nvPr/>
          </p:nvSpPr>
          <p:spPr bwMode="auto">
            <a:xfrm>
              <a:off x="1232" y="2382"/>
              <a:ext cx="180" cy="738"/>
            </a:xfrm>
            <a:prstGeom prst="line">
              <a:avLst/>
            </a:prstGeom>
            <a:noFill/>
            <a:ln w="38100">
              <a:solidFill>
                <a:srgbClr val="336600"/>
              </a:solidFill>
              <a:round/>
              <a:headEnd/>
              <a:tailEnd type="triangle" w="med" len="med"/>
            </a:ln>
          </p:spPr>
          <p:txBody>
            <a:bodyPr wrap="none" anchor="ctr"/>
            <a:lstStyle/>
            <a:p>
              <a:endParaRPr lang="zh-CN" altLang="en-US"/>
            </a:p>
          </p:txBody>
        </p:sp>
        <p:sp>
          <p:nvSpPr>
            <p:cNvPr id="64533" name="Rectangle 27"/>
            <p:cNvSpPr>
              <a:spLocks noChangeArrowheads="1"/>
            </p:cNvSpPr>
            <p:nvPr/>
          </p:nvSpPr>
          <p:spPr bwMode="auto">
            <a:xfrm>
              <a:off x="1356" y="3156"/>
              <a:ext cx="192" cy="144"/>
            </a:xfrm>
            <a:prstGeom prst="rect">
              <a:avLst/>
            </a:prstGeom>
            <a:solidFill>
              <a:srgbClr val="FFFF9B"/>
            </a:solidFill>
            <a:ln w="12700">
              <a:solidFill>
                <a:schemeClr val="tx1"/>
              </a:solidFill>
              <a:miter lim="800000"/>
              <a:headEnd/>
              <a:tailEnd/>
            </a:ln>
          </p:spPr>
          <p:txBody>
            <a:bodyPr wrap="none" anchor="ctr"/>
            <a:lstStyle/>
            <a:p>
              <a:endParaRPr lang="zh-CN" altLang="en-US"/>
            </a:p>
          </p:txBody>
        </p:sp>
        <p:sp>
          <p:nvSpPr>
            <p:cNvPr id="64534" name="Rectangle 28"/>
            <p:cNvSpPr>
              <a:spLocks noChangeArrowheads="1"/>
            </p:cNvSpPr>
            <p:nvPr/>
          </p:nvSpPr>
          <p:spPr bwMode="auto">
            <a:xfrm>
              <a:off x="1183" y="3347"/>
              <a:ext cx="524" cy="198"/>
            </a:xfrm>
            <a:prstGeom prst="rect">
              <a:avLst/>
            </a:prstGeom>
            <a:solidFill>
              <a:srgbClr val="FFFF9B"/>
            </a:solidFill>
            <a:ln w="9525">
              <a:solidFill>
                <a:schemeClr val="tx1"/>
              </a:solidFill>
              <a:miter lim="800000"/>
              <a:headEnd/>
              <a:tailEnd/>
            </a:ln>
          </p:spPr>
          <p:txBody>
            <a:bodyPr lIns="0" tIns="0" rIns="0" bIns="0">
              <a:spAutoFit/>
            </a:bodyPr>
            <a:lstStyle/>
            <a:p>
              <a:pPr eaLnBrk="0" hangingPunct="0"/>
              <a:r>
                <a:rPr kumimoji="1" lang="zh-CN" altLang="en-US" sz="2000">
                  <a:solidFill>
                    <a:srgbClr val="3333FF"/>
                  </a:solidFill>
                </a:rPr>
                <a:t>观察值</a:t>
              </a:r>
            </a:p>
          </p:txBody>
        </p:sp>
        <p:sp>
          <p:nvSpPr>
            <p:cNvPr id="64535" name="Line 26"/>
            <p:cNvSpPr>
              <a:spLocks noChangeShapeType="1"/>
            </p:cNvSpPr>
            <p:nvPr/>
          </p:nvSpPr>
          <p:spPr bwMode="auto">
            <a:xfrm flipH="1">
              <a:off x="908" y="2382"/>
              <a:ext cx="188" cy="793"/>
            </a:xfrm>
            <a:prstGeom prst="line">
              <a:avLst/>
            </a:prstGeom>
            <a:noFill/>
            <a:ln w="38100">
              <a:solidFill>
                <a:srgbClr val="336600"/>
              </a:solidFill>
              <a:round/>
              <a:headEnd/>
              <a:tailEnd type="triangle" w="med" len="med"/>
            </a:ln>
          </p:spPr>
          <p:txBody>
            <a:bodyPr wrap="none" anchor="ctr"/>
            <a:lstStyle/>
            <a:p>
              <a:endParaRPr lang="zh-CN" altLang="en-US"/>
            </a:p>
          </p:txBody>
        </p:sp>
      </p:grpSp>
      <p:grpSp>
        <p:nvGrpSpPr>
          <p:cNvPr id="5" name="Group 29"/>
          <p:cNvGrpSpPr>
            <a:grpSpLocks/>
          </p:cNvGrpSpPr>
          <p:nvPr/>
        </p:nvGrpSpPr>
        <p:grpSpPr bwMode="auto">
          <a:xfrm>
            <a:off x="6769101" y="2852741"/>
            <a:ext cx="2765426" cy="2384425"/>
            <a:chOff x="3456" y="1798"/>
            <a:chExt cx="1742" cy="1502"/>
          </a:xfrm>
        </p:grpSpPr>
        <p:sp>
          <p:nvSpPr>
            <p:cNvPr id="64528" name="Rectangle 30"/>
            <p:cNvSpPr>
              <a:spLocks noChangeArrowheads="1"/>
            </p:cNvSpPr>
            <p:nvPr/>
          </p:nvSpPr>
          <p:spPr bwMode="auto">
            <a:xfrm>
              <a:off x="3456" y="3144"/>
              <a:ext cx="192" cy="156"/>
            </a:xfrm>
            <a:prstGeom prst="rect">
              <a:avLst/>
            </a:prstGeom>
            <a:solidFill>
              <a:srgbClr val="008000"/>
            </a:solidFill>
            <a:ln w="12700">
              <a:solidFill>
                <a:schemeClr val="tx1"/>
              </a:solidFill>
              <a:miter lim="800000"/>
              <a:headEnd/>
              <a:tailEnd/>
            </a:ln>
          </p:spPr>
          <p:txBody>
            <a:bodyPr wrap="none" anchor="ctr"/>
            <a:lstStyle/>
            <a:p>
              <a:endParaRPr lang="zh-CN" altLang="en-US"/>
            </a:p>
          </p:txBody>
        </p:sp>
        <p:sp>
          <p:nvSpPr>
            <p:cNvPr id="64529" name="Rectangle 31"/>
            <p:cNvSpPr>
              <a:spLocks noChangeArrowheads="1"/>
            </p:cNvSpPr>
            <p:nvPr/>
          </p:nvSpPr>
          <p:spPr bwMode="auto">
            <a:xfrm>
              <a:off x="3962" y="1798"/>
              <a:ext cx="1236" cy="638"/>
            </a:xfrm>
            <a:prstGeom prst="rect">
              <a:avLst/>
            </a:prstGeom>
            <a:noFill/>
            <a:ln w="12700">
              <a:solidFill>
                <a:schemeClr val="tx1"/>
              </a:solidFill>
              <a:miter lim="800000"/>
              <a:headEnd/>
              <a:tailEnd/>
            </a:ln>
          </p:spPr>
          <p:txBody>
            <a:bodyPr wrap="square" lIns="90488" tIns="44450" rIns="90488" bIns="44450">
              <a:spAutoFit/>
            </a:bodyPr>
            <a:lstStyle/>
            <a:p>
              <a:pPr eaLnBrk="0" hangingPunct="0">
                <a:spcBef>
                  <a:spcPct val="50000"/>
                </a:spcBef>
              </a:pPr>
              <a:r>
                <a:rPr kumimoji="1" lang="zh-CN" altLang="en-US" sz="2000" b="1" dirty="0">
                  <a:solidFill>
                    <a:srgbClr val="000000"/>
                  </a:solidFill>
                </a:rPr>
                <a:t>在抽样观察中统计量出现这样的值是很正常</a:t>
              </a:r>
              <a:r>
                <a:rPr kumimoji="1" lang="en-US" altLang="zh-CN" sz="2000" b="1" dirty="0">
                  <a:solidFill>
                    <a:srgbClr val="000000"/>
                  </a:solidFill>
                </a:rPr>
                <a:t>...</a:t>
              </a:r>
            </a:p>
          </p:txBody>
        </p:sp>
        <p:sp>
          <p:nvSpPr>
            <p:cNvPr id="16416" name="Line 32"/>
            <p:cNvSpPr>
              <a:spLocks noChangeShapeType="1"/>
            </p:cNvSpPr>
            <p:nvPr/>
          </p:nvSpPr>
          <p:spPr bwMode="auto">
            <a:xfrm flipH="1">
              <a:off x="3680" y="2420"/>
              <a:ext cx="564" cy="640"/>
            </a:xfrm>
            <a:prstGeom prst="line">
              <a:avLst/>
            </a:prstGeom>
            <a:noFill/>
            <a:ln w="38100">
              <a:solidFill>
                <a:srgbClr val="336600"/>
              </a:solidFill>
              <a:round/>
              <a:headEnd/>
              <a:tailEnd type="triangle" w="med" len="med"/>
            </a:ln>
            <a:effectLst>
              <a:outerShdw dist="17961" dir="2700000" algn="ctr" rotWithShape="0">
                <a:schemeClr val="bg2"/>
              </a:outerShdw>
            </a:effectLst>
          </p:spPr>
          <p:txBody>
            <a:bodyPr wrap="none" anchor="ctr"/>
            <a:lstStyle/>
            <a:p>
              <a:pPr>
                <a:defRPr/>
              </a:pPr>
              <a:endParaRPr lang="zh-CN" altLang="en-US">
                <a:latin typeface="Arial" charset="0"/>
                <a:ea typeface="宋体" charset="-122"/>
              </a:endParaRPr>
            </a:p>
          </p:txBody>
        </p:sp>
      </p:grpSp>
      <p:sp>
        <p:nvSpPr>
          <p:cNvPr id="35" name="Rectangle 30"/>
          <p:cNvSpPr>
            <a:spLocks noChangeArrowheads="1"/>
          </p:cNvSpPr>
          <p:nvPr/>
        </p:nvSpPr>
        <p:spPr bwMode="auto">
          <a:xfrm>
            <a:off x="5505450" y="5000625"/>
            <a:ext cx="304800" cy="247650"/>
          </a:xfrm>
          <a:prstGeom prst="rect">
            <a:avLst/>
          </a:prstGeom>
          <a:solidFill>
            <a:srgbClr val="008000"/>
          </a:solidFill>
          <a:ln w="12700">
            <a:solidFill>
              <a:schemeClr val="tx1"/>
            </a:solidFill>
            <a:miter lim="800000"/>
            <a:headEnd/>
            <a:tailEnd/>
          </a:ln>
        </p:spPr>
        <p:txBody>
          <a:bodyPr wrap="none" anchor="ctr"/>
          <a:lstStyle/>
          <a:p>
            <a:endParaRPr lang="zh-CN" altLang="en-US"/>
          </a:p>
        </p:txBody>
      </p:sp>
      <p:sp>
        <p:nvSpPr>
          <p:cNvPr id="36" name="Rectangle 27"/>
          <p:cNvSpPr>
            <a:spLocks noChangeArrowheads="1"/>
          </p:cNvSpPr>
          <p:nvPr/>
        </p:nvSpPr>
        <p:spPr bwMode="auto">
          <a:xfrm>
            <a:off x="3167063" y="5072064"/>
            <a:ext cx="214312" cy="142875"/>
          </a:xfrm>
          <a:prstGeom prst="rect">
            <a:avLst/>
          </a:prstGeom>
          <a:solidFill>
            <a:srgbClr val="FFFF9B"/>
          </a:solidFill>
          <a:ln w="12700">
            <a:solidFill>
              <a:schemeClr val="tx1"/>
            </a:solidFill>
            <a:miter lim="800000"/>
            <a:headEnd/>
            <a:tailEnd/>
          </a:ln>
        </p:spPr>
        <p:txBody>
          <a:bodyPr wrap="none" anchor="ctr"/>
          <a:lstStyle/>
          <a:p>
            <a:endParaRPr lang="zh-CN" altLang="en-US"/>
          </a:p>
        </p:txBody>
      </p:sp>
      <p:grpSp>
        <p:nvGrpSpPr>
          <p:cNvPr id="6" name="组合 38"/>
          <p:cNvGrpSpPr>
            <a:grpSpLocks/>
          </p:cNvGrpSpPr>
          <p:nvPr/>
        </p:nvGrpSpPr>
        <p:grpSpPr bwMode="auto">
          <a:xfrm>
            <a:off x="6453188" y="1785939"/>
            <a:ext cx="1733550" cy="763587"/>
            <a:chOff x="4929190" y="1785926"/>
            <a:chExt cx="1733167" cy="763590"/>
          </a:xfrm>
        </p:grpSpPr>
        <p:sp>
          <p:nvSpPr>
            <p:cNvPr id="64526" name="矩形 36"/>
            <p:cNvSpPr>
              <a:spLocks noChangeArrowheads="1"/>
            </p:cNvSpPr>
            <p:nvPr/>
          </p:nvSpPr>
          <p:spPr bwMode="auto">
            <a:xfrm>
              <a:off x="4929190" y="1785926"/>
              <a:ext cx="1733167" cy="400110"/>
            </a:xfrm>
            <a:prstGeom prst="rect">
              <a:avLst/>
            </a:prstGeom>
            <a:noFill/>
            <a:ln w="9525">
              <a:noFill/>
              <a:miter lim="800000"/>
              <a:headEnd/>
              <a:tailEnd/>
            </a:ln>
          </p:spPr>
          <p:txBody>
            <a:bodyPr wrap="none">
              <a:spAutoFit/>
            </a:bodyPr>
            <a:lstStyle/>
            <a:p>
              <a:r>
                <a:rPr kumimoji="1" lang="zh-CN" altLang="en-US" sz="2000" b="1">
                  <a:solidFill>
                    <a:srgbClr val="6600FF"/>
                  </a:solidFill>
                </a:rPr>
                <a:t>统计量的分布</a:t>
              </a:r>
              <a:endParaRPr lang="zh-CN" altLang="en-US" sz="2000">
                <a:solidFill>
                  <a:srgbClr val="6600FF"/>
                </a:solidFill>
              </a:endParaRPr>
            </a:p>
          </p:txBody>
        </p:sp>
        <p:sp>
          <p:nvSpPr>
            <p:cNvPr id="64527" name="Line 19"/>
            <p:cNvSpPr>
              <a:spLocks noChangeShapeType="1"/>
            </p:cNvSpPr>
            <p:nvPr/>
          </p:nvSpPr>
          <p:spPr bwMode="auto">
            <a:xfrm flipH="1">
              <a:off x="5214942" y="2214554"/>
              <a:ext cx="357190" cy="334962"/>
            </a:xfrm>
            <a:prstGeom prst="line">
              <a:avLst/>
            </a:prstGeom>
            <a:noFill/>
            <a:ln w="38100">
              <a:solidFill>
                <a:srgbClr val="6600FF"/>
              </a:solidFill>
              <a:round/>
              <a:headEnd/>
              <a:tailEnd type="triangle" w="med" len="med"/>
            </a:ln>
          </p:spPr>
          <p:txBody>
            <a:bodyPr wrap="none" anchor="ctr"/>
            <a:lstStyle/>
            <a:p>
              <a:endParaRPr lang="zh-CN" altLang="en-US"/>
            </a:p>
          </p:txBody>
        </p:sp>
      </p:grpSp>
      <p:sp>
        <p:nvSpPr>
          <p:cNvPr id="16417" name="AutoShape 33"/>
          <p:cNvSpPr>
            <a:spLocks noChangeArrowheads="1"/>
          </p:cNvSpPr>
          <p:nvPr/>
        </p:nvSpPr>
        <p:spPr bwMode="auto">
          <a:xfrm>
            <a:off x="6381750" y="1357313"/>
            <a:ext cx="3352800" cy="914400"/>
          </a:xfrm>
          <a:prstGeom prst="wedgeRectCallout">
            <a:avLst>
              <a:gd name="adj1" fmla="val -43241"/>
              <a:gd name="adj2" fmla="val 83412"/>
            </a:avLst>
          </a:prstGeom>
          <a:solidFill>
            <a:schemeClr val="accent3">
              <a:lumMod val="20000"/>
              <a:lumOff val="80000"/>
            </a:schemeClr>
          </a:solidFill>
          <a:ln w="9525">
            <a:solidFill>
              <a:srgbClr val="FF0066"/>
            </a:solidFill>
            <a:miter lim="800000"/>
            <a:headEnd/>
            <a:tailEnd/>
          </a:ln>
        </p:spPr>
        <p:txBody>
          <a:bodyPr/>
          <a:lstStyle/>
          <a:p>
            <a:pPr eaLnBrk="0" hangingPunct="0">
              <a:spcBef>
                <a:spcPct val="50000"/>
              </a:spcBef>
            </a:pPr>
            <a:r>
              <a:rPr kumimoji="1" lang="zh-CN" altLang="en-US" sz="2400" b="1">
                <a:solidFill>
                  <a:srgbClr val="CC0099"/>
                </a:solidFill>
              </a:rPr>
              <a:t>假设检验必须以有关的抽样分布理论为依据。</a:t>
            </a:r>
            <a:endParaRPr lang="zh-CN" altLang="en-US"/>
          </a:p>
        </p:txBody>
      </p:sp>
      <p:sp>
        <p:nvSpPr>
          <p:cNvPr id="40" name="Rectangle 27"/>
          <p:cNvSpPr>
            <a:spLocks noChangeArrowheads="1"/>
          </p:cNvSpPr>
          <p:nvPr/>
        </p:nvSpPr>
        <p:spPr bwMode="auto">
          <a:xfrm>
            <a:off x="2711451" y="5084764"/>
            <a:ext cx="214313" cy="142875"/>
          </a:xfrm>
          <a:prstGeom prst="rect">
            <a:avLst/>
          </a:prstGeom>
          <a:solidFill>
            <a:srgbClr val="FFFF9B"/>
          </a:solidFill>
          <a:ln w="12700">
            <a:solidFill>
              <a:schemeClr val="tx1"/>
            </a:solidFill>
            <a:miter lim="800000"/>
            <a:headEnd/>
            <a:tailEnd/>
          </a:ln>
        </p:spPr>
        <p:txBody>
          <a:bodyPr wrap="none" anchor="ctr"/>
          <a:lstStyle/>
          <a:p>
            <a:endParaRPr lang="zh-CN" altLang="en-US"/>
          </a:p>
        </p:txBody>
      </p:sp>
    </p:spTree>
    <p:extLst>
      <p:ext uri="{BB962C8B-B14F-4D97-AF65-F5344CB8AC3E}">
        <p14:creationId xmlns:p14="http://schemas.microsoft.com/office/powerpoint/2010/main" val="26694916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par>
                          <p:cTn id="8" fill="hold">
                            <p:stCondLst>
                              <p:cond delay="500"/>
                            </p:stCondLst>
                            <p:childTnLst>
                              <p:par>
                                <p:cTn id="9" presetID="22" presetClass="entr" presetSubtype="4" fill="hold"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wipe(down)">
                                      <p:cBhvr>
                                        <p:cTn id="11" dur="1000"/>
                                        <p:tgtEl>
                                          <p:spTgt spid="6"/>
                                        </p:tgtEl>
                                      </p:cBhvr>
                                    </p:animEffect>
                                  </p:childTnLst>
                                </p:cTn>
                              </p:par>
                            </p:childTnLst>
                          </p:cTn>
                        </p:par>
                      </p:childTnLst>
                    </p:cTn>
                  </p:par>
                  <p:par>
                    <p:cTn id="12" fill="hold">
                      <p:stCondLst>
                        <p:cond delay="indefinite"/>
                      </p:stCondLst>
                      <p:childTnLst>
                        <p:par>
                          <p:cTn id="13" fill="hold">
                            <p:stCondLst>
                              <p:cond delay="0"/>
                            </p:stCondLst>
                            <p:childTnLst>
                              <p:par>
                                <p:cTn id="14" presetID="2" presetClass="entr" presetSubtype="4" fill="hold" grpId="0" nodeType="clickEffect">
                                  <p:stCondLst>
                                    <p:cond delay="0"/>
                                  </p:stCondLst>
                                  <p:childTnLst>
                                    <p:set>
                                      <p:cBhvr>
                                        <p:cTn id="15" dur="1" fill="hold">
                                          <p:stCondLst>
                                            <p:cond delay="0"/>
                                          </p:stCondLst>
                                        </p:cTn>
                                        <p:tgtEl>
                                          <p:spTgt spid="35"/>
                                        </p:tgtEl>
                                        <p:attrNameLst>
                                          <p:attrName>style.visibility</p:attrName>
                                        </p:attrNameLst>
                                      </p:cBhvr>
                                      <p:to>
                                        <p:strVal val="visible"/>
                                      </p:to>
                                    </p:set>
                                    <p:anim calcmode="lin" valueType="num">
                                      <p:cBhvr additive="base">
                                        <p:cTn id="16" dur="500" fill="hold"/>
                                        <p:tgtEl>
                                          <p:spTgt spid="35"/>
                                        </p:tgtEl>
                                        <p:attrNameLst>
                                          <p:attrName>ppt_x</p:attrName>
                                        </p:attrNameLst>
                                      </p:cBhvr>
                                      <p:tavLst>
                                        <p:tav tm="0">
                                          <p:val>
                                            <p:strVal val="#ppt_x"/>
                                          </p:val>
                                        </p:tav>
                                        <p:tav tm="100000">
                                          <p:val>
                                            <p:strVal val="#ppt_x"/>
                                          </p:val>
                                        </p:tav>
                                      </p:tavLst>
                                    </p:anim>
                                    <p:anim calcmode="lin" valueType="num">
                                      <p:cBhvr additive="base">
                                        <p:cTn id="17" dur="500" fill="hold"/>
                                        <p:tgtEl>
                                          <p:spTgt spid="35"/>
                                        </p:tgtEl>
                                        <p:attrNameLst>
                                          <p:attrName>ppt_y</p:attrName>
                                        </p:attrNameLst>
                                      </p:cBhvr>
                                      <p:tavLst>
                                        <p:tav tm="0">
                                          <p:val>
                                            <p:strVal val="1+#ppt_h/2"/>
                                          </p:val>
                                        </p:tav>
                                        <p:tav tm="100000">
                                          <p:val>
                                            <p:strVal val="#ppt_y"/>
                                          </p:val>
                                        </p:tav>
                                      </p:tavLst>
                                    </p:anim>
                                  </p:childTnLst>
                                </p:cTn>
                              </p:par>
                            </p:childTnLst>
                          </p:cTn>
                        </p:par>
                        <p:par>
                          <p:cTn id="18" fill="hold">
                            <p:stCondLst>
                              <p:cond delay="500"/>
                            </p:stCondLst>
                            <p:childTnLst>
                              <p:par>
                                <p:cTn id="19" presetID="12" presetClass="entr" presetSubtype="2" fill="hold" nodeType="after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slide(fromRight)">
                                      <p:cBhvr>
                                        <p:cTn id="21" dur="500"/>
                                        <p:tgtEl>
                                          <p:spTgt spid="5"/>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8" fill="hold" nodeType="clickEffect">
                                  <p:stCondLst>
                                    <p:cond delay="0"/>
                                  </p:stCondLst>
                                  <p:childTnLst>
                                    <p:set>
                                      <p:cBhvr>
                                        <p:cTn id="25" dur="1" fill="hold">
                                          <p:stCondLst>
                                            <p:cond delay="0"/>
                                          </p:stCondLst>
                                        </p:cTn>
                                        <p:tgtEl>
                                          <p:spTgt spid="4"/>
                                        </p:tgtEl>
                                        <p:attrNameLst>
                                          <p:attrName>style.visibility</p:attrName>
                                        </p:attrNameLst>
                                      </p:cBhvr>
                                      <p:to>
                                        <p:strVal val="visible"/>
                                      </p:to>
                                    </p:set>
                                    <p:animEffect transition="in" filter="slide(fromLeft)">
                                      <p:cBhvr>
                                        <p:cTn id="26" dur="500"/>
                                        <p:tgtEl>
                                          <p:spTgt spid="4"/>
                                        </p:tgtEl>
                                      </p:cBhvr>
                                    </p:animEffect>
                                  </p:childTnLst>
                                </p:cTn>
                              </p:par>
                            </p:childTnLst>
                          </p:cTn>
                        </p:par>
                        <p:par>
                          <p:cTn id="27" fill="hold">
                            <p:stCondLst>
                              <p:cond delay="500"/>
                            </p:stCondLst>
                            <p:childTnLst>
                              <p:par>
                                <p:cTn id="28" presetID="22" presetClass="entr" presetSubtype="2" fill="hold" grpId="0" nodeType="afterEffect">
                                  <p:stCondLst>
                                    <p:cond delay="0"/>
                                  </p:stCondLst>
                                  <p:childTnLst>
                                    <p:set>
                                      <p:cBhvr>
                                        <p:cTn id="29" dur="1" fill="hold">
                                          <p:stCondLst>
                                            <p:cond delay="0"/>
                                          </p:stCondLst>
                                        </p:cTn>
                                        <p:tgtEl>
                                          <p:spTgt spid="36"/>
                                        </p:tgtEl>
                                        <p:attrNameLst>
                                          <p:attrName>style.visibility</p:attrName>
                                        </p:attrNameLst>
                                      </p:cBhvr>
                                      <p:to>
                                        <p:strVal val="visible"/>
                                      </p:to>
                                    </p:set>
                                    <p:animEffect transition="in" filter="wipe(right)">
                                      <p:cBhvr>
                                        <p:cTn id="30" dur="500"/>
                                        <p:tgtEl>
                                          <p:spTgt spid="36"/>
                                        </p:tgtEl>
                                      </p:cBhvr>
                                    </p:animEffect>
                                  </p:childTnLst>
                                </p:cTn>
                              </p:par>
                            </p:childTnLst>
                          </p:cTn>
                        </p:par>
                        <p:par>
                          <p:cTn id="31" fill="hold">
                            <p:stCondLst>
                              <p:cond delay="1000"/>
                            </p:stCondLst>
                            <p:childTnLst>
                              <p:par>
                                <p:cTn id="32" presetID="22" presetClass="entr" presetSubtype="2" fill="hold" grpId="0" nodeType="afterEffect">
                                  <p:stCondLst>
                                    <p:cond delay="0"/>
                                  </p:stCondLst>
                                  <p:childTnLst>
                                    <p:set>
                                      <p:cBhvr>
                                        <p:cTn id="33" dur="1" fill="hold">
                                          <p:stCondLst>
                                            <p:cond delay="0"/>
                                          </p:stCondLst>
                                        </p:cTn>
                                        <p:tgtEl>
                                          <p:spTgt spid="40"/>
                                        </p:tgtEl>
                                        <p:attrNameLst>
                                          <p:attrName>style.visibility</p:attrName>
                                        </p:attrNameLst>
                                      </p:cBhvr>
                                      <p:to>
                                        <p:strVal val="visible"/>
                                      </p:to>
                                    </p:set>
                                    <p:animEffect transition="in" filter="wipe(right)">
                                      <p:cBhvr>
                                        <p:cTn id="34" dur="500"/>
                                        <p:tgtEl>
                                          <p:spTgt spid="40"/>
                                        </p:tgtEl>
                                      </p:cBhvr>
                                    </p:animEffect>
                                  </p:childTnLst>
                                </p:cTn>
                              </p:par>
                            </p:childTnLst>
                          </p:cTn>
                        </p:par>
                      </p:childTnLst>
                    </p:cTn>
                  </p:par>
                  <p:par>
                    <p:cTn id="35" fill="hold">
                      <p:stCondLst>
                        <p:cond delay="indefinite"/>
                      </p:stCondLst>
                      <p:childTnLst>
                        <p:par>
                          <p:cTn id="36" fill="hold">
                            <p:stCondLst>
                              <p:cond delay="0"/>
                            </p:stCondLst>
                            <p:childTnLst>
                              <p:par>
                                <p:cTn id="37" presetID="2" presetClass="entr" presetSubtype="2" fill="hold" grpId="0" nodeType="clickEffect">
                                  <p:stCondLst>
                                    <p:cond delay="0"/>
                                  </p:stCondLst>
                                  <p:childTnLst>
                                    <p:set>
                                      <p:cBhvr>
                                        <p:cTn id="38" dur="1" fill="hold">
                                          <p:stCondLst>
                                            <p:cond delay="0"/>
                                          </p:stCondLst>
                                        </p:cTn>
                                        <p:tgtEl>
                                          <p:spTgt spid="16417"/>
                                        </p:tgtEl>
                                        <p:attrNameLst>
                                          <p:attrName>style.visibility</p:attrName>
                                        </p:attrNameLst>
                                      </p:cBhvr>
                                      <p:to>
                                        <p:strVal val="visible"/>
                                      </p:to>
                                    </p:set>
                                    <p:anim calcmode="lin" valueType="num">
                                      <p:cBhvr additive="base">
                                        <p:cTn id="39" dur="500" fill="hold"/>
                                        <p:tgtEl>
                                          <p:spTgt spid="16417"/>
                                        </p:tgtEl>
                                        <p:attrNameLst>
                                          <p:attrName>ppt_x</p:attrName>
                                        </p:attrNameLst>
                                      </p:cBhvr>
                                      <p:tavLst>
                                        <p:tav tm="0">
                                          <p:val>
                                            <p:strVal val="1+#ppt_w/2"/>
                                          </p:val>
                                        </p:tav>
                                        <p:tav tm="100000">
                                          <p:val>
                                            <p:strVal val="#ppt_x"/>
                                          </p:val>
                                        </p:tav>
                                      </p:tavLst>
                                    </p:anim>
                                    <p:anim calcmode="lin" valueType="num">
                                      <p:cBhvr additive="base">
                                        <p:cTn id="40" dur="500" fill="hold"/>
                                        <p:tgtEl>
                                          <p:spTgt spid="1641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animBg="1"/>
      <p:bldP spid="36" grpId="0" animBg="1"/>
      <p:bldP spid="16417" grpId="0" animBg="1" autoUpdateAnimBg="0"/>
      <p:bldP spid="40"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1057"/>
          <p:cNvSpPr>
            <a:spLocks noGrp="1" noChangeArrowheads="1"/>
          </p:cNvSpPr>
          <p:nvPr>
            <p:ph type="sldNum" sz="quarter" idx="4294967295"/>
          </p:nvPr>
        </p:nvSpPr>
        <p:spPr>
          <a:noFill/>
        </p:spPr>
        <p:txBody>
          <a:bodyPr/>
          <a:lstStyle/>
          <a:p>
            <a:r>
              <a:rPr lang="en-US" altLang="zh-CN">
                <a:ea typeface="宋体" pitchFamily="2" charset="-122"/>
              </a:rPr>
              <a:t>8--</a:t>
            </a:r>
            <a:fld id="{D168BFF2-71AF-46E4-9352-387D293E0079}" type="slidenum">
              <a:rPr lang="en-US" altLang="zh-CN" smtClean="0">
                <a:ea typeface="宋体" pitchFamily="2" charset="-122"/>
              </a:rPr>
              <a:pPr/>
              <a:t>14</a:t>
            </a:fld>
            <a:endParaRPr lang="en-US" altLang="zh-CN">
              <a:ea typeface="宋体" pitchFamily="2" charset="-122"/>
            </a:endParaRPr>
          </a:p>
        </p:txBody>
      </p:sp>
      <p:sp>
        <p:nvSpPr>
          <p:cNvPr id="18434" name="Rectangle 2"/>
          <p:cNvSpPr>
            <a:spLocks noGrp="1" noChangeArrowheads="1"/>
          </p:cNvSpPr>
          <p:nvPr>
            <p:ph type="ctrTitle"/>
          </p:nvPr>
        </p:nvSpPr>
        <p:spPr>
          <a:xfrm>
            <a:off x="2292350" y="628650"/>
            <a:ext cx="7772400" cy="1600200"/>
          </a:xfrm>
        </p:spPr>
        <p:txBody>
          <a:bodyPr>
            <a:normAutofit/>
          </a:bodyPr>
          <a:lstStyle/>
          <a:p>
            <a:pPr algn="l">
              <a:spcBef>
                <a:spcPct val="50000"/>
              </a:spcBef>
              <a:defRPr/>
            </a:pPr>
            <a:r>
              <a:rPr kumimoji="1" lang="zh-CN" altLang="en-US" sz="4800" dirty="0">
                <a:effectLst>
                  <a:outerShdw blurRad="38100" dist="38100" dir="2700000" algn="tl">
                    <a:srgbClr val="C0C0C0"/>
                  </a:outerShdw>
                </a:effectLst>
              </a:rPr>
              <a:t>二、假设检验的步骤</a:t>
            </a:r>
          </a:p>
        </p:txBody>
      </p:sp>
      <p:sp>
        <p:nvSpPr>
          <p:cNvPr id="65540" name="Text Box 3"/>
          <p:cNvSpPr>
            <a:spLocks noGrp="1" noChangeArrowheads="1"/>
          </p:cNvSpPr>
          <p:nvPr>
            <p:ph type="subTitle" idx="1"/>
          </p:nvPr>
        </p:nvSpPr>
        <p:spPr>
          <a:xfrm>
            <a:off x="2292350" y="1997076"/>
            <a:ext cx="7210425" cy="3211513"/>
          </a:xfrm>
          <a:noFill/>
        </p:spPr>
        <p:txBody>
          <a:bodyPr>
            <a:noAutofit/>
          </a:bodyPr>
          <a:lstStyle/>
          <a:p>
            <a:pPr marL="1066800" lvl="1" indent="-609600" algn="l">
              <a:lnSpc>
                <a:spcPct val="120000"/>
              </a:lnSpc>
            </a:pPr>
            <a:r>
              <a:rPr kumimoji="1" lang="zh-CN" altLang="en-US" sz="3600" b="1" dirty="0"/>
              <a:t>（一）提出原假设和备择假设</a:t>
            </a:r>
          </a:p>
          <a:p>
            <a:pPr marL="1066800" lvl="1" indent="-609600" algn="l">
              <a:lnSpc>
                <a:spcPct val="120000"/>
              </a:lnSpc>
            </a:pPr>
            <a:r>
              <a:rPr kumimoji="1" lang="zh-CN" altLang="en-US" sz="3600" b="1" dirty="0"/>
              <a:t>（二）确定检验统计量及其分布</a:t>
            </a:r>
          </a:p>
          <a:p>
            <a:pPr marL="1066800" lvl="1" indent="-609600" algn="l">
              <a:lnSpc>
                <a:spcPct val="120000"/>
              </a:lnSpc>
            </a:pPr>
            <a:r>
              <a:rPr kumimoji="1" lang="zh-CN" altLang="en-US" sz="3600" b="1" dirty="0"/>
              <a:t>（三）规定显著性水平</a:t>
            </a:r>
            <a:r>
              <a:rPr kumimoji="1" lang="el-GR" altLang="zh-CN" sz="3600" b="1" i="1" dirty="0"/>
              <a:t>α</a:t>
            </a:r>
            <a:endParaRPr kumimoji="1" lang="zh-CN" altLang="en-US" sz="3600" b="1" i="1" dirty="0"/>
          </a:p>
          <a:p>
            <a:pPr marL="1066800" lvl="1" indent="-609600" algn="l">
              <a:lnSpc>
                <a:spcPct val="120000"/>
              </a:lnSpc>
            </a:pPr>
            <a:r>
              <a:rPr kumimoji="1" lang="zh-CN" altLang="en-US" sz="3600" b="1" dirty="0"/>
              <a:t>（四）计算检验统计量的值</a:t>
            </a:r>
          </a:p>
          <a:p>
            <a:pPr marL="1066800" lvl="1" indent="-609600" algn="l">
              <a:lnSpc>
                <a:spcPct val="120000"/>
              </a:lnSpc>
            </a:pPr>
            <a:r>
              <a:rPr kumimoji="1" lang="zh-CN" altLang="en-US" sz="3600" b="1" dirty="0"/>
              <a:t>（五）作出检验结论</a:t>
            </a:r>
          </a:p>
        </p:txBody>
      </p:sp>
    </p:spTree>
    <p:extLst>
      <p:ext uri="{BB962C8B-B14F-4D97-AF65-F5344CB8AC3E}">
        <p14:creationId xmlns:p14="http://schemas.microsoft.com/office/powerpoint/2010/main" val="42361629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6562" name="灯片编号占位符 5"/>
          <p:cNvSpPr>
            <a:spLocks noGrp="1"/>
          </p:cNvSpPr>
          <p:nvPr>
            <p:ph type="sldNum" sz="quarter" idx="4294967295"/>
          </p:nvPr>
        </p:nvSpPr>
        <p:spPr>
          <a:noFill/>
        </p:spPr>
        <p:txBody>
          <a:bodyPr/>
          <a:lstStyle/>
          <a:p>
            <a:r>
              <a:rPr lang="en-US" altLang="zh-CN">
                <a:ea typeface="宋体" pitchFamily="2" charset="-122"/>
              </a:rPr>
              <a:t>8--</a:t>
            </a:r>
            <a:fld id="{59FB8A82-88D0-487D-BC70-EB3D77F67844}" type="slidenum">
              <a:rPr lang="en-US" altLang="zh-CN" smtClean="0">
                <a:ea typeface="宋体" pitchFamily="2" charset="-122"/>
              </a:rPr>
              <a:pPr/>
              <a:t>15</a:t>
            </a:fld>
            <a:endParaRPr lang="en-US" altLang="zh-CN">
              <a:ea typeface="宋体" pitchFamily="2" charset="-122"/>
            </a:endParaRPr>
          </a:p>
        </p:txBody>
      </p:sp>
      <p:sp>
        <p:nvSpPr>
          <p:cNvPr id="66563" name="Rectangle 2"/>
          <p:cNvSpPr>
            <a:spLocks noGrp="1" noChangeArrowheads="1"/>
          </p:cNvSpPr>
          <p:nvPr>
            <p:ph type="title"/>
          </p:nvPr>
        </p:nvSpPr>
        <p:spPr>
          <a:xfrm>
            <a:off x="768350" y="165100"/>
            <a:ext cx="5619750" cy="723900"/>
          </a:xfrm>
          <a:noFill/>
        </p:spPr>
        <p:txBody>
          <a:bodyPr vert="horz" lIns="90488" tIns="44450" rIns="90488" bIns="44450" rtlCol="0" anchor="ctr" anchorCtr="1">
            <a:normAutofit/>
          </a:bodyPr>
          <a:lstStyle/>
          <a:p>
            <a:r>
              <a:rPr lang="zh-CN" altLang="en-US" sz="4000" b="1" dirty="0">
                <a:effectLst/>
              </a:rPr>
              <a:t>（一）提出假设</a:t>
            </a:r>
          </a:p>
        </p:txBody>
      </p:sp>
      <p:sp>
        <p:nvSpPr>
          <p:cNvPr id="19459" name="Rectangle 3"/>
          <p:cNvSpPr>
            <a:spLocks noGrp="1" noChangeArrowheads="1"/>
          </p:cNvSpPr>
          <p:nvPr>
            <p:ph type="body" idx="1"/>
          </p:nvPr>
        </p:nvSpPr>
        <p:spPr>
          <a:xfrm>
            <a:off x="1987550" y="1112281"/>
            <a:ext cx="8305800" cy="5199062"/>
          </a:xfrm>
          <a:noFill/>
        </p:spPr>
        <p:txBody>
          <a:bodyPr vert="horz" lIns="90488" tIns="44450" rIns="90488" bIns="44450" rtlCol="0">
            <a:normAutofit fontScale="92500"/>
          </a:bodyPr>
          <a:lstStyle/>
          <a:p>
            <a:pPr eaLnBrk="1" hangingPunct="1">
              <a:buFontTx/>
              <a:buNone/>
            </a:pPr>
            <a:r>
              <a:rPr lang="zh-CN" altLang="en-US" sz="3600" b="1" dirty="0">
                <a:solidFill>
                  <a:srgbClr val="000000"/>
                </a:solidFill>
                <a:sym typeface="Wingdings 3" pitchFamily="18" charset="2"/>
              </a:rPr>
              <a:t>包括原假设和备择假设。</a:t>
            </a:r>
          </a:p>
          <a:p>
            <a:pPr eaLnBrk="1" hangingPunct="1"/>
            <a:r>
              <a:rPr lang="zh-CN" altLang="en-US" sz="3400" b="1" dirty="0">
                <a:solidFill>
                  <a:srgbClr val="C00000"/>
                </a:solidFill>
              </a:rPr>
              <a:t>原假设</a:t>
            </a:r>
            <a:r>
              <a:rPr lang="en-US" altLang="zh-CN" sz="3400" b="1" dirty="0">
                <a:solidFill>
                  <a:srgbClr val="000000"/>
                </a:solidFill>
              </a:rPr>
              <a:t>(Null Hypothesis</a:t>
            </a:r>
            <a:r>
              <a:rPr lang="en-US" altLang="zh-CN" b="1" dirty="0">
                <a:solidFill>
                  <a:srgbClr val="000000"/>
                </a:solidFill>
              </a:rPr>
              <a:t>)</a:t>
            </a:r>
            <a:r>
              <a:rPr lang="en-US" altLang="zh-CN" b="1" dirty="0">
                <a:solidFill>
                  <a:srgbClr val="000000"/>
                </a:solidFill>
                <a:latin typeface="Arial" pitchFamily="34" charset="0"/>
              </a:rPr>
              <a:t>——</a:t>
            </a:r>
            <a:r>
              <a:rPr lang="zh-CN" altLang="en-US" b="1" dirty="0">
                <a:solidFill>
                  <a:srgbClr val="000000"/>
                </a:solidFill>
              </a:rPr>
              <a:t>待检验的假设，也称为零假设，用 </a:t>
            </a:r>
            <a:r>
              <a:rPr lang="en-US" altLang="zh-CN" b="1" i="1" dirty="0">
                <a:solidFill>
                  <a:srgbClr val="000000"/>
                </a:solidFill>
                <a:latin typeface="Times New Roman" pitchFamily="18" charset="0"/>
                <a:cs typeface="Times New Roman" pitchFamily="18" charset="0"/>
              </a:rPr>
              <a:t>H</a:t>
            </a:r>
            <a:r>
              <a:rPr lang="en-US" altLang="zh-CN" b="1" baseline="-25000" dirty="0">
                <a:solidFill>
                  <a:srgbClr val="000000"/>
                </a:solidFill>
              </a:rPr>
              <a:t>0</a:t>
            </a:r>
            <a:r>
              <a:rPr lang="zh-CN" altLang="en-US" b="1" dirty="0">
                <a:solidFill>
                  <a:srgbClr val="000000"/>
                </a:solidFill>
              </a:rPr>
              <a:t>表示。</a:t>
            </a:r>
          </a:p>
          <a:p>
            <a:pPr eaLnBrk="1" hangingPunct="1"/>
            <a:r>
              <a:rPr lang="zh-CN" altLang="en-US" sz="3400" b="1" dirty="0">
                <a:solidFill>
                  <a:srgbClr val="C00000"/>
                </a:solidFill>
                <a:latin typeface="Times New Roman" pitchFamily="18" charset="0"/>
              </a:rPr>
              <a:t>备择假设</a:t>
            </a:r>
            <a:r>
              <a:rPr lang="en-US" altLang="zh-CN" sz="3400" b="1" dirty="0">
                <a:solidFill>
                  <a:srgbClr val="000000"/>
                </a:solidFill>
              </a:rPr>
              <a:t>(</a:t>
            </a:r>
            <a:r>
              <a:rPr lang="en-US" altLang="zh-CN" sz="3000" b="1" dirty="0">
                <a:solidFill>
                  <a:srgbClr val="000000"/>
                </a:solidFill>
              </a:rPr>
              <a:t>Alternative Hypothesis</a:t>
            </a:r>
            <a:r>
              <a:rPr lang="en-US" altLang="zh-CN" sz="3600" b="1" dirty="0">
                <a:solidFill>
                  <a:srgbClr val="000000"/>
                </a:solidFill>
              </a:rPr>
              <a:t>)</a:t>
            </a:r>
            <a:r>
              <a:rPr lang="en-US" altLang="zh-CN" b="1" dirty="0">
                <a:solidFill>
                  <a:srgbClr val="000000"/>
                </a:solidFill>
                <a:latin typeface="Times New Roman" pitchFamily="18" charset="0"/>
              </a:rPr>
              <a:t>——</a:t>
            </a:r>
            <a:r>
              <a:rPr lang="zh-CN" altLang="en-US" b="1" dirty="0">
                <a:solidFill>
                  <a:srgbClr val="000000"/>
                </a:solidFill>
                <a:latin typeface="Times New Roman" pitchFamily="18" charset="0"/>
              </a:rPr>
              <a:t>也称对立假设，与原假设内容完全相反，准备在拒绝原假设后应接受的假设。</a:t>
            </a:r>
            <a:r>
              <a:rPr lang="zh-CN" altLang="en-US" b="1" dirty="0">
                <a:solidFill>
                  <a:srgbClr val="000000"/>
                </a:solidFill>
              </a:rPr>
              <a:t>用 </a:t>
            </a:r>
            <a:r>
              <a:rPr lang="en-US" altLang="zh-CN" b="1" i="1" dirty="0">
                <a:solidFill>
                  <a:srgbClr val="000000"/>
                </a:solidFill>
                <a:latin typeface="Times New Roman" pitchFamily="18" charset="0"/>
                <a:cs typeface="Times New Roman" pitchFamily="18" charset="0"/>
              </a:rPr>
              <a:t>H</a:t>
            </a:r>
            <a:r>
              <a:rPr lang="en-US" altLang="zh-CN" b="1" baseline="-25000" dirty="0">
                <a:solidFill>
                  <a:srgbClr val="000000"/>
                </a:solidFill>
              </a:rPr>
              <a:t>1</a:t>
            </a:r>
            <a:r>
              <a:rPr lang="zh-CN" altLang="en-US" b="1" dirty="0">
                <a:solidFill>
                  <a:srgbClr val="000000"/>
                </a:solidFill>
              </a:rPr>
              <a:t>表示。</a:t>
            </a:r>
          </a:p>
          <a:p>
            <a:pPr eaLnBrk="1" hangingPunct="1">
              <a:buFontTx/>
              <a:buNone/>
            </a:pPr>
            <a:r>
              <a:rPr lang="zh-CN" altLang="en-US" sz="3400" b="1" dirty="0">
                <a:solidFill>
                  <a:srgbClr val="000000"/>
                </a:solidFill>
                <a:latin typeface="Times New Roman" pitchFamily="18" charset="0"/>
              </a:rPr>
              <a:t>事实上，提出了</a:t>
            </a:r>
            <a:r>
              <a:rPr lang="en-US" altLang="zh-CN" sz="3600" b="1" i="1" dirty="0">
                <a:solidFill>
                  <a:srgbClr val="000000"/>
                </a:solidFill>
                <a:latin typeface="Times New Roman" pitchFamily="18" charset="0"/>
                <a:cs typeface="Times New Roman" pitchFamily="18" charset="0"/>
              </a:rPr>
              <a:t>H</a:t>
            </a:r>
            <a:r>
              <a:rPr lang="en-US" altLang="zh-CN" sz="3600" b="1" baseline="-25000" dirty="0">
                <a:solidFill>
                  <a:srgbClr val="000000"/>
                </a:solidFill>
              </a:rPr>
              <a:t>0</a:t>
            </a:r>
            <a:r>
              <a:rPr lang="zh-CN" altLang="en-US" sz="3400" b="1" dirty="0">
                <a:solidFill>
                  <a:srgbClr val="000000"/>
                </a:solidFill>
                <a:latin typeface="Times New Roman" pitchFamily="18" charset="0"/>
              </a:rPr>
              <a:t>，也就同时给出</a:t>
            </a:r>
            <a:r>
              <a:rPr lang="en-US" altLang="zh-CN" sz="3600" b="1" i="1" dirty="0">
                <a:solidFill>
                  <a:srgbClr val="000000"/>
                </a:solidFill>
                <a:latin typeface="Times New Roman" pitchFamily="18" charset="0"/>
                <a:cs typeface="Times New Roman" pitchFamily="18" charset="0"/>
              </a:rPr>
              <a:t>H</a:t>
            </a:r>
            <a:r>
              <a:rPr lang="en-US" altLang="zh-CN" sz="3600" b="1" baseline="-25000" dirty="0">
                <a:solidFill>
                  <a:srgbClr val="000000"/>
                </a:solidFill>
              </a:rPr>
              <a:t>1</a:t>
            </a:r>
            <a:r>
              <a:rPr lang="zh-CN" altLang="en-US" sz="3400" b="1" dirty="0">
                <a:solidFill>
                  <a:srgbClr val="000000"/>
                </a:solidFill>
                <a:latin typeface="Times New Roman" pitchFamily="18" charset="0"/>
              </a:rPr>
              <a:t>。</a:t>
            </a:r>
            <a:endParaRPr lang="en-US" altLang="zh-CN" sz="3400" b="1" dirty="0">
              <a:solidFill>
                <a:srgbClr val="000000"/>
              </a:solidFill>
              <a:latin typeface="Times New Roman" pitchFamily="18" charset="0"/>
            </a:endParaRPr>
          </a:p>
          <a:p>
            <a:pPr lvl="1" eaLnBrk="1" hangingPunct="1">
              <a:lnSpc>
                <a:spcPct val="120000"/>
              </a:lnSpc>
              <a:buFont typeface="Wingdings" pitchFamily="2" charset="2"/>
              <a:buChar char="Ø"/>
            </a:pPr>
            <a:r>
              <a:rPr lang="zh-CN" altLang="en-US" sz="3000" b="1" dirty="0">
                <a:solidFill>
                  <a:srgbClr val="7030A0"/>
                </a:solidFill>
                <a:latin typeface="Times New Roman" pitchFamily="18" charset="0"/>
              </a:rPr>
              <a:t>引例</a:t>
            </a:r>
            <a:r>
              <a:rPr lang="en-US" altLang="zh-CN" sz="3000" b="1" dirty="0">
                <a:solidFill>
                  <a:srgbClr val="7030A0"/>
                </a:solidFill>
                <a:latin typeface="Times New Roman" pitchFamily="18" charset="0"/>
              </a:rPr>
              <a:t>1</a:t>
            </a:r>
            <a:r>
              <a:rPr lang="zh-CN" altLang="en-US" sz="3000" b="1" dirty="0">
                <a:solidFill>
                  <a:srgbClr val="7030A0"/>
                </a:solidFill>
                <a:latin typeface="Times New Roman" pitchFamily="18" charset="0"/>
              </a:rPr>
              <a:t>中，</a:t>
            </a:r>
            <a:r>
              <a:rPr lang="en-US" altLang="zh-CN" sz="3000" b="1" i="1" dirty="0">
                <a:solidFill>
                  <a:srgbClr val="7030A0"/>
                </a:solidFill>
                <a:latin typeface="Times New Roman" pitchFamily="18" charset="0"/>
                <a:cs typeface="Times New Roman" pitchFamily="18" charset="0"/>
              </a:rPr>
              <a:t>H</a:t>
            </a:r>
            <a:r>
              <a:rPr lang="en-US" altLang="zh-CN" sz="3000" b="1" baseline="-25000" dirty="0">
                <a:solidFill>
                  <a:srgbClr val="7030A0"/>
                </a:solidFill>
              </a:rPr>
              <a:t>0</a:t>
            </a:r>
            <a:r>
              <a:rPr lang="zh-CN" altLang="en-US" sz="3000" b="1" dirty="0">
                <a:solidFill>
                  <a:srgbClr val="7030A0"/>
                </a:solidFill>
              </a:rPr>
              <a:t>：</a:t>
            </a:r>
            <a:r>
              <a:rPr lang="en-US" altLang="zh-CN" sz="3000" b="1" i="1" dirty="0">
                <a:solidFill>
                  <a:srgbClr val="7030A0"/>
                </a:solidFill>
                <a:latin typeface="Times New Roman" pitchFamily="18" charset="0"/>
              </a:rPr>
              <a:t>P</a:t>
            </a:r>
            <a:r>
              <a:rPr lang="en-US" altLang="zh-CN" sz="3000" b="1" dirty="0">
                <a:solidFill>
                  <a:srgbClr val="7030A0"/>
                </a:solidFill>
              </a:rPr>
              <a:t>≤5%</a:t>
            </a:r>
            <a:r>
              <a:rPr lang="zh-CN" altLang="en-US" sz="3000" b="1" dirty="0">
                <a:solidFill>
                  <a:srgbClr val="7030A0"/>
                </a:solidFill>
              </a:rPr>
              <a:t>，</a:t>
            </a:r>
            <a:r>
              <a:rPr lang="en-US" altLang="zh-CN" sz="3000" b="1" i="1" dirty="0">
                <a:solidFill>
                  <a:srgbClr val="7030A0"/>
                </a:solidFill>
                <a:latin typeface="Times New Roman" pitchFamily="18" charset="0"/>
                <a:cs typeface="Times New Roman" pitchFamily="18" charset="0"/>
              </a:rPr>
              <a:t>H</a:t>
            </a:r>
            <a:r>
              <a:rPr lang="en-US" altLang="zh-CN" sz="3000" b="1" baseline="-25000" dirty="0">
                <a:solidFill>
                  <a:srgbClr val="7030A0"/>
                </a:solidFill>
              </a:rPr>
              <a:t>1</a:t>
            </a:r>
            <a:r>
              <a:rPr lang="zh-CN" altLang="en-US" sz="3000" b="1" dirty="0">
                <a:solidFill>
                  <a:srgbClr val="7030A0"/>
                </a:solidFill>
                <a:latin typeface="Times New Roman" pitchFamily="18" charset="0"/>
              </a:rPr>
              <a:t>：</a:t>
            </a:r>
            <a:r>
              <a:rPr lang="en-US" altLang="zh-CN" sz="3000" b="1" i="1" dirty="0">
                <a:solidFill>
                  <a:srgbClr val="7030A0"/>
                </a:solidFill>
                <a:latin typeface="Times New Roman" pitchFamily="18" charset="0"/>
              </a:rPr>
              <a:t>P </a:t>
            </a:r>
            <a:r>
              <a:rPr lang="en-US" altLang="zh-CN" sz="3000" b="1" dirty="0">
                <a:solidFill>
                  <a:srgbClr val="7030A0"/>
                </a:solidFill>
              </a:rPr>
              <a:t>&gt;5%</a:t>
            </a:r>
          </a:p>
          <a:p>
            <a:pPr lvl="1">
              <a:lnSpc>
                <a:spcPct val="120000"/>
              </a:lnSpc>
              <a:buFont typeface="Wingdings" pitchFamily="2" charset="2"/>
              <a:buChar char="Ø"/>
            </a:pPr>
            <a:r>
              <a:rPr lang="zh-CN" altLang="en-US" sz="3000" b="1" dirty="0">
                <a:solidFill>
                  <a:srgbClr val="7030A0"/>
                </a:solidFill>
                <a:latin typeface="Times New Roman" pitchFamily="18" charset="0"/>
              </a:rPr>
              <a:t>例</a:t>
            </a:r>
            <a:r>
              <a:rPr lang="en-US" altLang="zh-CN" sz="3000" b="1" dirty="0">
                <a:solidFill>
                  <a:srgbClr val="7030A0"/>
                </a:solidFill>
                <a:latin typeface="Times New Roman" pitchFamily="18" charset="0"/>
              </a:rPr>
              <a:t>8-1</a:t>
            </a:r>
            <a:r>
              <a:rPr lang="zh-CN" altLang="en-US" sz="3000" b="1" dirty="0">
                <a:solidFill>
                  <a:srgbClr val="7030A0"/>
                </a:solidFill>
                <a:latin typeface="Times New Roman" pitchFamily="18" charset="0"/>
              </a:rPr>
              <a:t>中，</a:t>
            </a:r>
            <a:r>
              <a:rPr lang="en-US" altLang="zh-CN" sz="3000" b="1" i="1" dirty="0">
                <a:solidFill>
                  <a:srgbClr val="7030A0"/>
                </a:solidFill>
                <a:latin typeface="Times New Roman" pitchFamily="18" charset="0"/>
                <a:cs typeface="Times New Roman" pitchFamily="18" charset="0"/>
              </a:rPr>
              <a:t>H</a:t>
            </a:r>
            <a:r>
              <a:rPr lang="en-US" altLang="zh-CN" sz="3000" b="1" baseline="-25000" dirty="0">
                <a:solidFill>
                  <a:srgbClr val="7030A0"/>
                </a:solidFill>
              </a:rPr>
              <a:t>0</a:t>
            </a:r>
            <a:r>
              <a:rPr lang="zh-CN" altLang="en-US" sz="3000" b="1" dirty="0">
                <a:solidFill>
                  <a:srgbClr val="7030A0"/>
                </a:solidFill>
                <a:latin typeface="Times New Roman" pitchFamily="18" charset="0"/>
              </a:rPr>
              <a:t>：</a:t>
            </a:r>
            <a:r>
              <a:rPr lang="el-GR" altLang="zh-CN" sz="3000" b="1" i="1" dirty="0">
                <a:solidFill>
                  <a:srgbClr val="7030A0"/>
                </a:solidFill>
                <a:latin typeface="Times New Roman" pitchFamily="18" charset="0"/>
                <a:ea typeface="华文中宋" pitchFamily="2" charset="-122"/>
                <a:sym typeface="Wingdings 3" pitchFamily="18" charset="2"/>
              </a:rPr>
              <a:t>μ</a:t>
            </a:r>
            <a:r>
              <a:rPr lang="en-US" altLang="zh-CN" sz="3000" b="1" dirty="0">
                <a:solidFill>
                  <a:srgbClr val="7030A0"/>
                </a:solidFill>
                <a:sym typeface="Wingdings 3" pitchFamily="18" charset="2"/>
              </a:rPr>
              <a:t>=4 </a:t>
            </a:r>
            <a:r>
              <a:rPr lang="zh-CN" altLang="en-US" sz="3000" b="1" dirty="0">
                <a:solidFill>
                  <a:srgbClr val="7030A0"/>
                </a:solidFill>
              </a:rPr>
              <a:t>，</a:t>
            </a:r>
            <a:r>
              <a:rPr lang="en-US" altLang="zh-CN" sz="3000" b="1" i="1" dirty="0">
                <a:solidFill>
                  <a:srgbClr val="7030A0"/>
                </a:solidFill>
                <a:latin typeface="Times New Roman" pitchFamily="18" charset="0"/>
                <a:cs typeface="Times New Roman" pitchFamily="18" charset="0"/>
              </a:rPr>
              <a:t>H</a:t>
            </a:r>
            <a:r>
              <a:rPr lang="en-US" altLang="zh-CN" sz="3000" b="1" baseline="-25000" dirty="0">
                <a:solidFill>
                  <a:srgbClr val="7030A0"/>
                </a:solidFill>
              </a:rPr>
              <a:t>1</a:t>
            </a:r>
            <a:r>
              <a:rPr lang="zh-CN" altLang="en-US" sz="3000" b="1" dirty="0">
                <a:solidFill>
                  <a:srgbClr val="7030A0"/>
                </a:solidFill>
                <a:latin typeface="Times New Roman" pitchFamily="18" charset="0"/>
              </a:rPr>
              <a:t>：</a:t>
            </a:r>
            <a:r>
              <a:rPr lang="el-GR" altLang="zh-CN" sz="3000" b="1" i="1" dirty="0">
                <a:solidFill>
                  <a:srgbClr val="7030A0"/>
                </a:solidFill>
                <a:latin typeface="Times New Roman" pitchFamily="18" charset="0"/>
                <a:ea typeface="华文中宋" pitchFamily="2" charset="-122"/>
                <a:sym typeface="Wingdings 3" pitchFamily="18" charset="2"/>
              </a:rPr>
              <a:t> μ ≠ </a:t>
            </a:r>
            <a:r>
              <a:rPr lang="en-US" altLang="zh-CN" sz="3000" b="1" dirty="0">
                <a:solidFill>
                  <a:srgbClr val="7030A0"/>
                </a:solidFill>
                <a:sym typeface="Wingdings 3" pitchFamily="18" charset="2"/>
              </a:rPr>
              <a:t>4</a:t>
            </a:r>
            <a:endParaRPr lang="en-US" altLang="zh-CN" sz="3000" b="1" dirty="0">
              <a:solidFill>
                <a:srgbClr val="7030A0"/>
              </a:solidFill>
            </a:endParaRPr>
          </a:p>
        </p:txBody>
      </p:sp>
    </p:spTree>
    <p:extLst>
      <p:ext uri="{BB962C8B-B14F-4D97-AF65-F5344CB8AC3E}">
        <p14:creationId xmlns:p14="http://schemas.microsoft.com/office/powerpoint/2010/main" val="29022969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9459">
                                            <p:txEl>
                                              <p:pRg st="1" end="1"/>
                                            </p:txEl>
                                          </p:spTgt>
                                        </p:tgtEl>
                                        <p:attrNameLst>
                                          <p:attrName>style.visibility</p:attrName>
                                        </p:attrNameLst>
                                      </p:cBhvr>
                                      <p:to>
                                        <p:strVal val="visible"/>
                                      </p:to>
                                    </p:set>
                                    <p:animEffect transition="in" filter="wipe(left)">
                                      <p:cBhvr>
                                        <p:cTn id="7" dur="500"/>
                                        <p:tgtEl>
                                          <p:spTgt spid="19459">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9459">
                                            <p:txEl>
                                              <p:pRg st="2" end="2"/>
                                            </p:txEl>
                                          </p:spTgt>
                                        </p:tgtEl>
                                        <p:attrNameLst>
                                          <p:attrName>style.visibility</p:attrName>
                                        </p:attrNameLst>
                                      </p:cBhvr>
                                      <p:to>
                                        <p:strVal val="visible"/>
                                      </p:to>
                                    </p:set>
                                    <p:animEffect transition="in" filter="wipe(left)">
                                      <p:cBhvr>
                                        <p:cTn id="12" dur="500"/>
                                        <p:tgtEl>
                                          <p:spTgt spid="19459">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9459">
                                            <p:txEl>
                                              <p:pRg st="3" end="3"/>
                                            </p:txEl>
                                          </p:spTgt>
                                        </p:tgtEl>
                                        <p:attrNameLst>
                                          <p:attrName>style.visibility</p:attrName>
                                        </p:attrNameLst>
                                      </p:cBhvr>
                                      <p:to>
                                        <p:strVal val="visible"/>
                                      </p:to>
                                    </p:set>
                                    <p:animEffect transition="in" filter="wipe(left)">
                                      <p:cBhvr>
                                        <p:cTn id="17" dur="500"/>
                                        <p:tgtEl>
                                          <p:spTgt spid="19459">
                                            <p:txEl>
                                              <p:pRg st="3" end="3"/>
                                            </p:txEl>
                                          </p:spTgt>
                                        </p:tgtEl>
                                      </p:cBhvr>
                                    </p:animEffect>
                                  </p:childTnLst>
                                </p:cTn>
                              </p:par>
                              <p:par>
                                <p:cTn id="18" presetID="22" presetClass="entr" presetSubtype="8" fill="hold" grpId="0" nodeType="withEffect">
                                  <p:stCondLst>
                                    <p:cond delay="0"/>
                                  </p:stCondLst>
                                  <p:childTnLst>
                                    <p:set>
                                      <p:cBhvr>
                                        <p:cTn id="19" dur="1" fill="hold">
                                          <p:stCondLst>
                                            <p:cond delay="0"/>
                                          </p:stCondLst>
                                        </p:cTn>
                                        <p:tgtEl>
                                          <p:spTgt spid="19459">
                                            <p:txEl>
                                              <p:pRg st="4" end="4"/>
                                            </p:txEl>
                                          </p:spTgt>
                                        </p:tgtEl>
                                        <p:attrNameLst>
                                          <p:attrName>style.visibility</p:attrName>
                                        </p:attrNameLst>
                                      </p:cBhvr>
                                      <p:to>
                                        <p:strVal val="visible"/>
                                      </p:to>
                                    </p:set>
                                    <p:animEffect transition="in" filter="wipe(left)">
                                      <p:cBhvr>
                                        <p:cTn id="20" dur="500"/>
                                        <p:tgtEl>
                                          <p:spTgt spid="19459">
                                            <p:txEl>
                                              <p:pRg st="4" end="4"/>
                                            </p:txEl>
                                          </p:spTgt>
                                        </p:tgtEl>
                                      </p:cBhvr>
                                    </p:animEffect>
                                  </p:childTnLst>
                                </p:cTn>
                              </p:par>
                              <p:par>
                                <p:cTn id="21" presetID="22" presetClass="entr" presetSubtype="8" fill="hold" grpId="0" nodeType="withEffect">
                                  <p:stCondLst>
                                    <p:cond delay="0"/>
                                  </p:stCondLst>
                                  <p:childTnLst>
                                    <p:set>
                                      <p:cBhvr>
                                        <p:cTn id="22" dur="1" fill="hold">
                                          <p:stCondLst>
                                            <p:cond delay="0"/>
                                          </p:stCondLst>
                                        </p:cTn>
                                        <p:tgtEl>
                                          <p:spTgt spid="19459">
                                            <p:txEl>
                                              <p:pRg st="5" end="5"/>
                                            </p:txEl>
                                          </p:spTgt>
                                        </p:tgtEl>
                                        <p:attrNameLst>
                                          <p:attrName>style.visibility</p:attrName>
                                        </p:attrNameLst>
                                      </p:cBhvr>
                                      <p:to>
                                        <p:strVal val="visible"/>
                                      </p:to>
                                    </p:set>
                                    <p:animEffect transition="in" filter="wipe(left)">
                                      <p:cBhvr>
                                        <p:cTn id="23" dur="500"/>
                                        <p:tgtEl>
                                          <p:spTgt spid="19459">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59" grpId="0" build="p"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0" name="灯片编号占位符 5"/>
          <p:cNvSpPr>
            <a:spLocks noGrp="1"/>
          </p:cNvSpPr>
          <p:nvPr>
            <p:ph type="sldNum" sz="quarter" idx="4294967295"/>
          </p:nvPr>
        </p:nvSpPr>
        <p:spPr>
          <a:noFill/>
        </p:spPr>
        <p:txBody>
          <a:bodyPr/>
          <a:lstStyle/>
          <a:p>
            <a:r>
              <a:rPr lang="en-US" altLang="zh-CN">
                <a:ea typeface="宋体" pitchFamily="2" charset="-122"/>
              </a:rPr>
              <a:t>8--</a:t>
            </a:r>
            <a:fld id="{F5C5D34D-BA80-4125-A1A4-51FA180B5DB4}" type="slidenum">
              <a:rPr lang="en-US" altLang="zh-CN" smtClean="0">
                <a:ea typeface="宋体" pitchFamily="2" charset="-122"/>
              </a:rPr>
              <a:pPr/>
              <a:t>16</a:t>
            </a:fld>
            <a:endParaRPr lang="en-US" altLang="zh-CN">
              <a:ea typeface="宋体" pitchFamily="2" charset="-122"/>
            </a:endParaRPr>
          </a:p>
        </p:txBody>
      </p:sp>
      <p:sp>
        <p:nvSpPr>
          <p:cNvPr id="4101" name="Rectangle 2"/>
          <p:cNvSpPr>
            <a:spLocks noGrp="1" noChangeArrowheads="1"/>
          </p:cNvSpPr>
          <p:nvPr>
            <p:ph type="title"/>
          </p:nvPr>
        </p:nvSpPr>
        <p:spPr>
          <a:xfrm>
            <a:off x="2309813" y="133352"/>
            <a:ext cx="7772400" cy="990600"/>
          </a:xfrm>
        </p:spPr>
        <p:txBody>
          <a:bodyPr/>
          <a:lstStyle/>
          <a:p>
            <a:pPr eaLnBrk="1" hangingPunct="1"/>
            <a:r>
              <a:rPr lang="zh-CN" altLang="en-US" sz="4700" b="1" dirty="0">
                <a:latin typeface="Times New Roman" pitchFamily="18" charset="0"/>
              </a:rPr>
              <a:t>假设的三种形式：</a:t>
            </a:r>
          </a:p>
        </p:txBody>
      </p:sp>
      <p:sp>
        <p:nvSpPr>
          <p:cNvPr id="4102" name="Rectangle 3"/>
          <p:cNvSpPr>
            <a:spLocks noGrp="1" noChangeArrowheads="1"/>
          </p:cNvSpPr>
          <p:nvPr>
            <p:ph type="body" idx="1"/>
          </p:nvPr>
        </p:nvSpPr>
        <p:spPr>
          <a:xfrm>
            <a:off x="1706562" y="3315072"/>
            <a:ext cx="8859838" cy="2844427"/>
          </a:xfrm>
        </p:spPr>
        <p:txBody>
          <a:bodyPr>
            <a:noAutofit/>
          </a:bodyPr>
          <a:lstStyle/>
          <a:p>
            <a:pPr algn="just">
              <a:lnSpc>
                <a:spcPct val="110000"/>
              </a:lnSpc>
              <a:spcBef>
                <a:spcPts val="600"/>
              </a:spcBef>
              <a:spcAft>
                <a:spcPts val="0"/>
              </a:spcAft>
            </a:pPr>
            <a:r>
              <a:rPr lang="el-GR" altLang="zh-CN" b="1" i="1" dirty="0">
                <a:solidFill>
                  <a:srgbClr val="000000"/>
                </a:solidFill>
                <a:latin typeface="Times New Roman" pitchFamily="18" charset="0"/>
              </a:rPr>
              <a:t>θ</a:t>
            </a:r>
            <a:r>
              <a:rPr lang="en-US" altLang="zh-CN" b="1" dirty="0">
                <a:solidFill>
                  <a:srgbClr val="000000"/>
                </a:solidFill>
                <a:latin typeface="Times New Roman" pitchFamily="18" charset="0"/>
              </a:rPr>
              <a:t>~</a:t>
            </a:r>
            <a:r>
              <a:rPr lang="zh-CN" altLang="en-US" b="1" dirty="0">
                <a:solidFill>
                  <a:srgbClr val="000000"/>
                </a:solidFill>
                <a:latin typeface="Times New Roman" pitchFamily="18" charset="0"/>
              </a:rPr>
              <a:t>待检验的总体参数，</a:t>
            </a:r>
            <a:r>
              <a:rPr lang="el-GR" altLang="zh-CN" b="1" i="1" dirty="0">
                <a:solidFill>
                  <a:srgbClr val="000000"/>
                </a:solidFill>
                <a:latin typeface="Times New Roman" pitchFamily="18" charset="0"/>
              </a:rPr>
              <a:t>θ</a:t>
            </a:r>
            <a:r>
              <a:rPr lang="en-US" altLang="zh-CN" b="1" baseline="-25000" dirty="0">
                <a:solidFill>
                  <a:srgbClr val="000000"/>
                </a:solidFill>
                <a:latin typeface="Times New Roman" pitchFamily="18" charset="0"/>
              </a:rPr>
              <a:t>0</a:t>
            </a:r>
            <a:r>
              <a:rPr lang="en-US" altLang="zh-CN" b="1" dirty="0">
                <a:solidFill>
                  <a:srgbClr val="000000"/>
                </a:solidFill>
                <a:latin typeface="Times New Roman" pitchFamily="18" charset="0"/>
              </a:rPr>
              <a:t>~</a:t>
            </a:r>
            <a:r>
              <a:rPr lang="zh-CN" altLang="en-US" b="1" dirty="0">
                <a:solidFill>
                  <a:srgbClr val="000000"/>
                </a:solidFill>
                <a:latin typeface="Times New Roman" pitchFamily="18" charset="0"/>
              </a:rPr>
              <a:t>具体的数值；</a:t>
            </a:r>
            <a:endParaRPr lang="en-US" altLang="zh-CN" b="1" dirty="0">
              <a:solidFill>
                <a:srgbClr val="000000"/>
              </a:solidFill>
              <a:latin typeface="Times New Roman" pitchFamily="18" charset="0"/>
            </a:endParaRPr>
          </a:p>
          <a:p>
            <a:pPr algn="just">
              <a:lnSpc>
                <a:spcPct val="110000"/>
              </a:lnSpc>
              <a:spcBef>
                <a:spcPts val="600"/>
              </a:spcBef>
              <a:spcAft>
                <a:spcPts val="0"/>
              </a:spcAft>
            </a:pPr>
            <a:r>
              <a:rPr lang="zh-CN" altLang="en-US" b="1" dirty="0">
                <a:solidFill>
                  <a:srgbClr val="000000"/>
                </a:solidFill>
                <a:latin typeface="Times New Roman" pitchFamily="18" charset="0"/>
              </a:rPr>
              <a:t>原假设必须包括“</a:t>
            </a:r>
            <a:r>
              <a:rPr lang="zh-CN" altLang="en-US" b="1" dirty="0">
                <a:solidFill>
                  <a:srgbClr val="000000"/>
                </a:solidFill>
                <a:latin typeface="Times New Roman" pitchFamily="18" charset="0"/>
                <a:cs typeface="Times New Roman" pitchFamily="18" charset="0"/>
              </a:rPr>
              <a:t>＝</a:t>
            </a:r>
            <a:r>
              <a:rPr lang="zh-CN" altLang="en-US" b="1" dirty="0">
                <a:solidFill>
                  <a:srgbClr val="000000"/>
                </a:solidFill>
                <a:latin typeface="Times New Roman" pitchFamily="18" charset="0"/>
              </a:rPr>
              <a:t>”；</a:t>
            </a:r>
            <a:endParaRPr lang="en-US" altLang="zh-CN" b="1" dirty="0">
              <a:solidFill>
                <a:srgbClr val="000000"/>
              </a:solidFill>
              <a:latin typeface="Times New Roman" pitchFamily="18" charset="0"/>
            </a:endParaRPr>
          </a:p>
          <a:p>
            <a:pPr algn="just">
              <a:lnSpc>
                <a:spcPct val="110000"/>
              </a:lnSpc>
              <a:spcBef>
                <a:spcPts val="600"/>
              </a:spcBef>
              <a:spcAft>
                <a:spcPts val="0"/>
              </a:spcAft>
            </a:pPr>
            <a:r>
              <a:rPr lang="zh-CN" altLang="en-US" b="1" dirty="0">
                <a:solidFill>
                  <a:srgbClr val="000000"/>
                </a:solidFill>
                <a:latin typeface="Times New Roman" pitchFamily="18" charset="0"/>
              </a:rPr>
              <a:t>单侧检验的原假设也常常简写为</a:t>
            </a:r>
            <a:r>
              <a:rPr lang="en-US" altLang="zh-CN" b="1" dirty="0">
                <a:solidFill>
                  <a:srgbClr val="000000"/>
                </a:solidFill>
                <a:latin typeface="Times New Roman" pitchFamily="18" charset="0"/>
              </a:rPr>
              <a:t>                  </a:t>
            </a:r>
          </a:p>
          <a:p>
            <a:pPr algn="just">
              <a:lnSpc>
                <a:spcPct val="110000"/>
              </a:lnSpc>
              <a:spcBef>
                <a:spcPts val="600"/>
              </a:spcBef>
              <a:spcAft>
                <a:spcPts val="0"/>
              </a:spcAft>
              <a:buNone/>
            </a:pPr>
            <a:r>
              <a:rPr lang="zh-CN" altLang="en-US" sz="2800" b="1" dirty="0">
                <a:solidFill>
                  <a:srgbClr val="000000"/>
                </a:solidFill>
                <a:latin typeface="Times New Roman" pitchFamily="18" charset="0"/>
              </a:rPr>
              <a:t>实际中往往只对其边界值</a:t>
            </a:r>
            <a:r>
              <a:rPr lang="el-GR" altLang="zh-CN" sz="2800" b="1" i="1" dirty="0">
                <a:solidFill>
                  <a:srgbClr val="000000"/>
                </a:solidFill>
                <a:latin typeface="Times New Roman" pitchFamily="18" charset="0"/>
              </a:rPr>
              <a:t>θ</a:t>
            </a:r>
            <a:r>
              <a:rPr lang="en-US" altLang="zh-CN" sz="2800" b="1" baseline="-25000" dirty="0">
                <a:solidFill>
                  <a:srgbClr val="000000"/>
                </a:solidFill>
                <a:latin typeface="Times New Roman" pitchFamily="18" charset="0"/>
              </a:rPr>
              <a:t>0</a:t>
            </a:r>
            <a:r>
              <a:rPr lang="zh-CN" altLang="en-US" sz="2800" b="1" dirty="0">
                <a:solidFill>
                  <a:srgbClr val="000000"/>
                </a:solidFill>
                <a:latin typeface="Times New Roman" pitchFamily="18" charset="0"/>
              </a:rPr>
              <a:t>进行检验，该值能够拒绝，其它值更有理由拒绝。</a:t>
            </a:r>
          </a:p>
        </p:txBody>
      </p:sp>
      <p:graphicFrame>
        <p:nvGraphicFramePr>
          <p:cNvPr id="4098" name="Object 1026"/>
          <p:cNvGraphicFramePr>
            <a:graphicFrameLocks noChangeAspect="1"/>
          </p:cNvGraphicFramePr>
          <p:nvPr>
            <p:extLst>
              <p:ext uri="{D42A27DB-BD31-4B8C-83A1-F6EECF244321}">
                <p14:modId xmlns:p14="http://schemas.microsoft.com/office/powerpoint/2010/main" val="2074685713"/>
              </p:ext>
            </p:extLst>
          </p:nvPr>
        </p:nvGraphicFramePr>
        <p:xfrm>
          <a:off x="2142593" y="1258889"/>
          <a:ext cx="5929312" cy="1936750"/>
        </p:xfrm>
        <a:graphic>
          <a:graphicData uri="http://schemas.openxmlformats.org/presentationml/2006/ole">
            <mc:AlternateContent xmlns:mc="http://schemas.openxmlformats.org/markup-compatibility/2006">
              <mc:Choice xmlns:v="urn:schemas-microsoft-com:vml" Requires="v">
                <p:oleObj name="公式" r:id="rId2" imgW="2311200" imgH="711000" progId="Equation.3">
                  <p:embed/>
                </p:oleObj>
              </mc:Choice>
              <mc:Fallback>
                <p:oleObj name="公式" r:id="rId2" imgW="2311200" imgH="711000" progId="Equation.3">
                  <p:embed/>
                  <p:pic>
                    <p:nvPicPr>
                      <p:cNvPr id="4098" name="Object 102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42593" y="1258889"/>
                        <a:ext cx="5929312" cy="1936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4103" name="Group 5"/>
          <p:cNvGrpSpPr>
            <a:grpSpLocks/>
          </p:cNvGrpSpPr>
          <p:nvPr/>
        </p:nvGrpSpPr>
        <p:grpSpPr bwMode="auto">
          <a:xfrm>
            <a:off x="8114602" y="2053677"/>
            <a:ext cx="2085782" cy="839095"/>
            <a:chOff x="4461" y="1644"/>
            <a:chExt cx="983" cy="336"/>
          </a:xfrm>
        </p:grpSpPr>
        <p:sp>
          <p:nvSpPr>
            <p:cNvPr id="21510" name="Rectangle 6"/>
            <p:cNvSpPr>
              <a:spLocks noChangeArrowheads="1"/>
            </p:cNvSpPr>
            <p:nvPr/>
          </p:nvSpPr>
          <p:spPr bwMode="auto">
            <a:xfrm>
              <a:off x="4677" y="1711"/>
              <a:ext cx="767" cy="210"/>
            </a:xfrm>
            <a:prstGeom prst="rect">
              <a:avLst/>
            </a:prstGeom>
            <a:noFill/>
            <a:ln w="12700">
              <a:noFill/>
              <a:miter lim="800000"/>
              <a:headEnd/>
              <a:tailEnd/>
            </a:ln>
            <a:effectLst/>
          </p:spPr>
          <p:txBody>
            <a:bodyPr wrap="none">
              <a:spAutoFit/>
            </a:bodyPr>
            <a:lstStyle/>
            <a:p>
              <a:pPr eaLnBrk="0" hangingPunct="0">
                <a:defRPr/>
              </a:pPr>
              <a:r>
                <a:rPr kumimoji="1" lang="zh-CN" altLang="en-US" sz="2800" b="1" dirty="0">
                  <a:solidFill>
                    <a:srgbClr val="000000"/>
                  </a:solidFill>
                  <a:effectLst>
                    <a:outerShdw blurRad="38100" dist="38100" dir="2700000" algn="tl">
                      <a:srgbClr val="C0C0C0"/>
                    </a:outerShdw>
                  </a:effectLst>
                  <a:latin typeface="Times New Roman" pitchFamily="18" charset="0"/>
                  <a:ea typeface="宋体" charset="-122"/>
                </a:rPr>
                <a:t>单侧检验</a:t>
              </a:r>
            </a:p>
          </p:txBody>
        </p:sp>
        <p:sp>
          <p:nvSpPr>
            <p:cNvPr id="4105" name="Line 7"/>
            <p:cNvSpPr>
              <a:spLocks noChangeShapeType="1"/>
            </p:cNvSpPr>
            <p:nvPr/>
          </p:nvSpPr>
          <p:spPr bwMode="auto">
            <a:xfrm>
              <a:off x="4470" y="1644"/>
              <a:ext cx="228" cy="144"/>
            </a:xfrm>
            <a:prstGeom prst="line">
              <a:avLst/>
            </a:prstGeom>
            <a:noFill/>
            <a:ln w="38100">
              <a:solidFill>
                <a:schemeClr val="tx1"/>
              </a:solidFill>
              <a:round/>
              <a:headEnd/>
              <a:tailEnd/>
            </a:ln>
          </p:spPr>
          <p:txBody>
            <a:bodyPr/>
            <a:lstStyle/>
            <a:p>
              <a:endParaRPr lang="zh-CN" altLang="en-US"/>
            </a:p>
          </p:txBody>
        </p:sp>
        <p:sp>
          <p:nvSpPr>
            <p:cNvPr id="4106" name="Line 8"/>
            <p:cNvSpPr>
              <a:spLocks noChangeShapeType="1"/>
            </p:cNvSpPr>
            <p:nvPr/>
          </p:nvSpPr>
          <p:spPr bwMode="auto">
            <a:xfrm flipV="1">
              <a:off x="4461" y="1824"/>
              <a:ext cx="216" cy="156"/>
            </a:xfrm>
            <a:prstGeom prst="line">
              <a:avLst/>
            </a:prstGeom>
            <a:noFill/>
            <a:ln w="38100">
              <a:solidFill>
                <a:schemeClr val="tx1"/>
              </a:solidFill>
              <a:round/>
              <a:headEnd/>
              <a:tailEnd/>
            </a:ln>
          </p:spPr>
          <p:txBody>
            <a:bodyPr/>
            <a:lstStyle/>
            <a:p>
              <a:endParaRPr lang="zh-CN" altLang="en-US"/>
            </a:p>
          </p:txBody>
        </p:sp>
      </p:grpSp>
      <p:graphicFrame>
        <p:nvGraphicFramePr>
          <p:cNvPr id="4099" name="Object 10"/>
          <p:cNvGraphicFramePr>
            <a:graphicFrameLocks noChangeAspect="1"/>
          </p:cNvGraphicFramePr>
          <p:nvPr>
            <p:extLst>
              <p:ext uri="{D42A27DB-BD31-4B8C-83A1-F6EECF244321}">
                <p14:modId xmlns:p14="http://schemas.microsoft.com/office/powerpoint/2010/main" val="2375783824"/>
              </p:ext>
            </p:extLst>
          </p:nvPr>
        </p:nvGraphicFramePr>
        <p:xfrm>
          <a:off x="8017296" y="4537160"/>
          <a:ext cx="1836737" cy="622300"/>
        </p:xfrm>
        <a:graphic>
          <a:graphicData uri="http://schemas.openxmlformats.org/presentationml/2006/ole">
            <mc:AlternateContent xmlns:mc="http://schemas.openxmlformats.org/markup-compatibility/2006">
              <mc:Choice xmlns:v="urn:schemas-microsoft-com:vml" Requires="v">
                <p:oleObj name="公式" r:id="rId4" imgW="685800" imgH="228600" progId="Equation.3">
                  <p:embed/>
                </p:oleObj>
              </mc:Choice>
              <mc:Fallback>
                <p:oleObj name="公式" r:id="rId4" imgW="685800" imgH="228600" progId="Equation.3">
                  <p:embed/>
                  <p:pic>
                    <p:nvPicPr>
                      <p:cNvPr id="4099" name="Object 1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017296" y="4537160"/>
                        <a:ext cx="1836737" cy="6223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5088475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7586" name="灯片编号占位符 5"/>
          <p:cNvSpPr>
            <a:spLocks noGrp="1"/>
          </p:cNvSpPr>
          <p:nvPr>
            <p:ph type="sldNum" sz="quarter" idx="4294967295"/>
          </p:nvPr>
        </p:nvSpPr>
        <p:spPr>
          <a:noFill/>
        </p:spPr>
        <p:txBody>
          <a:bodyPr/>
          <a:lstStyle/>
          <a:p>
            <a:r>
              <a:rPr lang="en-US" altLang="zh-CN">
                <a:ea typeface="宋体" pitchFamily="2" charset="-122"/>
              </a:rPr>
              <a:t>8--</a:t>
            </a:r>
            <a:fld id="{24769D2F-E0A3-42B1-84D7-98AAB6980B0F}" type="slidenum">
              <a:rPr lang="en-US" altLang="zh-CN" smtClean="0">
                <a:ea typeface="宋体" pitchFamily="2" charset="-122"/>
              </a:rPr>
              <a:pPr/>
              <a:t>17</a:t>
            </a:fld>
            <a:endParaRPr lang="en-US" altLang="zh-CN">
              <a:ea typeface="宋体" pitchFamily="2" charset="-122"/>
            </a:endParaRPr>
          </a:p>
        </p:txBody>
      </p:sp>
      <p:sp>
        <p:nvSpPr>
          <p:cNvPr id="67587" name="Rectangle 2"/>
          <p:cNvSpPr>
            <a:spLocks noGrp="1" noChangeArrowheads="1"/>
          </p:cNvSpPr>
          <p:nvPr>
            <p:ph type="body" idx="1"/>
          </p:nvPr>
        </p:nvSpPr>
        <p:spPr>
          <a:xfrm>
            <a:off x="1714500" y="1484314"/>
            <a:ext cx="8826500" cy="4529137"/>
          </a:xfrm>
          <a:noFill/>
        </p:spPr>
        <p:txBody>
          <a:bodyPr vert="horz" lIns="90488" tIns="44450" rIns="90488" bIns="44450" rtlCol="0">
            <a:noAutofit/>
          </a:bodyPr>
          <a:lstStyle/>
          <a:p>
            <a:pPr marL="609600" indent="-609600">
              <a:lnSpc>
                <a:spcPct val="110000"/>
              </a:lnSpc>
              <a:spcBef>
                <a:spcPts val="600"/>
              </a:spcBef>
              <a:spcAft>
                <a:spcPts val="0"/>
              </a:spcAft>
              <a:buNone/>
            </a:pPr>
            <a:r>
              <a:rPr kumimoji="1" lang="zh-CN" altLang="en-US" b="1" dirty="0">
                <a:solidFill>
                  <a:schemeClr val="tx1"/>
                </a:solidFill>
              </a:rPr>
              <a:t>检验统计量及其分布是假设检验的具体理论依据</a:t>
            </a:r>
            <a:endParaRPr kumimoji="1" lang="zh-CN" altLang="en-US" sz="3000" b="1" dirty="0">
              <a:solidFill>
                <a:schemeClr val="tx1"/>
              </a:solidFill>
            </a:endParaRPr>
          </a:p>
          <a:p>
            <a:pPr marL="609600" indent="-609600">
              <a:lnSpc>
                <a:spcPct val="110000"/>
              </a:lnSpc>
              <a:spcBef>
                <a:spcPts val="600"/>
              </a:spcBef>
              <a:spcAft>
                <a:spcPts val="0"/>
              </a:spcAft>
            </a:pPr>
            <a:r>
              <a:rPr lang="zh-CN" altLang="en-US" sz="3000" b="1" dirty="0">
                <a:solidFill>
                  <a:srgbClr val="C00000"/>
                </a:solidFill>
              </a:rPr>
              <a:t>检验统计量</a:t>
            </a:r>
            <a:r>
              <a:rPr lang="zh-CN" altLang="en-US" sz="3000" b="1" dirty="0">
                <a:solidFill>
                  <a:schemeClr val="tx2"/>
                </a:solidFill>
              </a:rPr>
              <a:t>指用于检验原假设是否成立的统计量</a:t>
            </a:r>
          </a:p>
          <a:p>
            <a:pPr marL="1219200" lvl="1" indent="-762000">
              <a:lnSpc>
                <a:spcPct val="110000"/>
              </a:lnSpc>
              <a:spcBef>
                <a:spcPts val="600"/>
              </a:spcBef>
              <a:spcAft>
                <a:spcPts val="0"/>
              </a:spcAft>
            </a:pPr>
            <a:r>
              <a:rPr lang="zh-CN" altLang="en-US" sz="3000" b="1" dirty="0"/>
              <a:t>它是一个随机变量，其数值随样本不同而不同；</a:t>
            </a:r>
          </a:p>
          <a:p>
            <a:pPr marL="1219200" lvl="1" indent="-762000">
              <a:lnSpc>
                <a:spcPct val="110000"/>
              </a:lnSpc>
              <a:spcBef>
                <a:spcPts val="600"/>
              </a:spcBef>
              <a:spcAft>
                <a:spcPts val="0"/>
              </a:spcAft>
            </a:pPr>
            <a:r>
              <a:rPr lang="zh-CN" altLang="en-US" sz="3000" b="1" dirty="0"/>
              <a:t>不包含未知总体参数但要包含原假设中总体参数的假设值</a:t>
            </a:r>
            <a:r>
              <a:rPr lang="el-GR" altLang="zh-CN" sz="3000" b="1" i="1" dirty="0">
                <a:latin typeface="Times New Roman" pitchFamily="18" charset="0"/>
              </a:rPr>
              <a:t>θ</a:t>
            </a:r>
            <a:r>
              <a:rPr lang="en-US" altLang="zh-CN" sz="3000" b="1" baseline="-25000" dirty="0">
                <a:latin typeface="Times New Roman" pitchFamily="18" charset="0"/>
              </a:rPr>
              <a:t>0 </a:t>
            </a:r>
            <a:r>
              <a:rPr lang="zh-CN" altLang="en-US" sz="3000" b="1" dirty="0"/>
              <a:t>；</a:t>
            </a:r>
          </a:p>
          <a:p>
            <a:pPr marL="1219200" lvl="1" indent="-762000">
              <a:lnSpc>
                <a:spcPct val="110000"/>
              </a:lnSpc>
              <a:spcBef>
                <a:spcPts val="600"/>
              </a:spcBef>
              <a:spcAft>
                <a:spcPts val="0"/>
              </a:spcAft>
            </a:pPr>
            <a:r>
              <a:rPr lang="zh-CN" altLang="en-US" sz="3000" b="1" dirty="0"/>
              <a:t>在原假设成立的前提下，检验统计量的抽样分布应该是明确的。 </a:t>
            </a:r>
          </a:p>
        </p:txBody>
      </p:sp>
      <p:sp>
        <p:nvSpPr>
          <p:cNvPr id="67588" name="Rectangle 4"/>
          <p:cNvSpPr>
            <a:spLocks noGrp="1" noChangeArrowheads="1"/>
          </p:cNvSpPr>
          <p:nvPr>
            <p:ph type="title"/>
          </p:nvPr>
        </p:nvSpPr>
        <p:spPr>
          <a:xfrm>
            <a:off x="1549400" y="598768"/>
            <a:ext cx="7823200" cy="723900"/>
          </a:xfrm>
        </p:spPr>
        <p:txBody>
          <a:bodyPr>
            <a:noAutofit/>
          </a:bodyPr>
          <a:lstStyle/>
          <a:p>
            <a:pPr eaLnBrk="1" hangingPunct="1"/>
            <a:r>
              <a:rPr lang="zh-CN" altLang="en-US" sz="4000" b="1" dirty="0">
                <a:effectLst/>
              </a:rPr>
              <a:t>（二）确定检验统计量及其分布</a:t>
            </a:r>
          </a:p>
        </p:txBody>
      </p:sp>
    </p:spTree>
    <p:extLst>
      <p:ext uri="{BB962C8B-B14F-4D97-AF65-F5344CB8AC3E}">
        <p14:creationId xmlns:p14="http://schemas.microsoft.com/office/powerpoint/2010/main" val="31512271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123" name="灯片编号占位符 5"/>
          <p:cNvSpPr>
            <a:spLocks noGrp="1"/>
          </p:cNvSpPr>
          <p:nvPr>
            <p:ph type="sldNum" sz="quarter" idx="4294967295"/>
          </p:nvPr>
        </p:nvSpPr>
        <p:spPr>
          <a:noFill/>
        </p:spPr>
        <p:txBody>
          <a:bodyPr/>
          <a:lstStyle/>
          <a:p>
            <a:r>
              <a:rPr lang="en-US" altLang="zh-CN">
                <a:ea typeface="宋体" pitchFamily="2" charset="-122"/>
              </a:rPr>
              <a:t>8--</a:t>
            </a:r>
            <a:fld id="{52DF1F09-5F67-4E2C-8EB5-BCCA5C2A1BE0}" type="slidenum">
              <a:rPr lang="en-US" altLang="zh-CN" smtClean="0">
                <a:ea typeface="宋体" pitchFamily="2" charset="-122"/>
              </a:rPr>
              <a:pPr/>
              <a:t>18</a:t>
            </a:fld>
            <a:endParaRPr lang="en-US" altLang="zh-CN">
              <a:ea typeface="宋体" pitchFamily="2" charset="-122"/>
            </a:endParaRPr>
          </a:p>
        </p:txBody>
      </p:sp>
      <p:sp>
        <p:nvSpPr>
          <p:cNvPr id="510978" name="Rectangle 2"/>
          <p:cNvSpPr>
            <a:spLocks noGrp="1" noChangeArrowheads="1"/>
          </p:cNvSpPr>
          <p:nvPr>
            <p:ph type="body" idx="1"/>
          </p:nvPr>
        </p:nvSpPr>
        <p:spPr>
          <a:xfrm>
            <a:off x="1792289" y="993775"/>
            <a:ext cx="8124825" cy="4529138"/>
          </a:xfrm>
          <a:noFill/>
        </p:spPr>
        <p:txBody>
          <a:bodyPr vert="horz" lIns="90488" tIns="44450" rIns="90488" bIns="44450" rtlCol="0">
            <a:noAutofit/>
          </a:bodyPr>
          <a:lstStyle/>
          <a:p>
            <a:pPr marL="609600" indent="-609600">
              <a:spcBef>
                <a:spcPct val="30000"/>
              </a:spcBef>
              <a:buNone/>
            </a:pPr>
            <a:r>
              <a:rPr lang="zh-CN" altLang="en-US" b="1" dirty="0">
                <a:solidFill>
                  <a:schemeClr val="tx1"/>
                </a:solidFill>
              </a:rPr>
              <a:t>检验统计量及其分布通常可由被检验参数的点估计量经过标准化来导出。</a:t>
            </a:r>
            <a:r>
              <a:rPr lang="zh-CN" altLang="en-US" sz="3600" b="1" dirty="0"/>
              <a:t> </a:t>
            </a:r>
          </a:p>
          <a:p>
            <a:pPr marL="609600" indent="-609600">
              <a:spcBef>
                <a:spcPct val="30000"/>
              </a:spcBef>
            </a:pPr>
            <a:r>
              <a:rPr lang="zh-CN" altLang="en-US" sz="3600" b="1" dirty="0"/>
              <a:t>选择统计量的方法</a:t>
            </a:r>
            <a:r>
              <a:rPr lang="zh-CN" altLang="en-US" sz="3600" b="1" dirty="0">
                <a:solidFill>
                  <a:schemeClr val="tx2"/>
                </a:solidFill>
              </a:rPr>
              <a:t>与参数估计相同：</a:t>
            </a:r>
          </a:p>
          <a:p>
            <a:pPr marL="1219200" lvl="1" indent="-762000">
              <a:spcBef>
                <a:spcPts val="600"/>
              </a:spcBef>
              <a:spcAft>
                <a:spcPts val="0"/>
              </a:spcAft>
            </a:pPr>
            <a:r>
              <a:rPr lang="zh-CN" altLang="en-US" b="1" dirty="0"/>
              <a:t>是大样本还是小样本</a:t>
            </a:r>
          </a:p>
          <a:p>
            <a:pPr marL="1219200" lvl="1" indent="-762000">
              <a:spcBef>
                <a:spcPts val="600"/>
              </a:spcBef>
              <a:spcAft>
                <a:spcPts val="0"/>
              </a:spcAft>
            </a:pPr>
            <a:r>
              <a:rPr lang="zh-CN" altLang="en-US" b="1" dirty="0"/>
              <a:t>其他总体参数（</a:t>
            </a:r>
            <a:r>
              <a:rPr lang="zh-CN" altLang="en-US" sz="2400" b="1" dirty="0"/>
              <a:t>如总体方差</a:t>
            </a:r>
            <a:r>
              <a:rPr lang="zh-CN" altLang="en-US" b="1" dirty="0"/>
              <a:t>）已知还是未知</a:t>
            </a:r>
          </a:p>
          <a:p>
            <a:pPr marL="609600" indent="-609600">
              <a:spcBef>
                <a:spcPct val="30000"/>
              </a:spcBef>
            </a:pPr>
            <a:r>
              <a:rPr lang="zh-CN" altLang="en-US" sz="3600" b="1" dirty="0"/>
              <a:t>常用的检验统计量</a:t>
            </a:r>
            <a:r>
              <a:rPr lang="zh-CN" altLang="en-US" b="1" dirty="0">
                <a:solidFill>
                  <a:schemeClr val="tx2"/>
                </a:solidFill>
              </a:rPr>
              <a:t>有：</a:t>
            </a:r>
            <a:r>
              <a:rPr lang="en-US" altLang="zh-CN" sz="2800" b="1" dirty="0">
                <a:solidFill>
                  <a:schemeClr val="tx2"/>
                </a:solidFill>
              </a:rPr>
              <a:t>Z</a:t>
            </a:r>
            <a:r>
              <a:rPr lang="zh-CN" altLang="en-US" sz="2800" b="1" dirty="0">
                <a:solidFill>
                  <a:schemeClr val="tx2"/>
                </a:solidFill>
              </a:rPr>
              <a:t>、</a:t>
            </a:r>
            <a:r>
              <a:rPr lang="en-US" altLang="zh-CN" sz="2800" b="1" dirty="0">
                <a:solidFill>
                  <a:schemeClr val="tx2"/>
                </a:solidFill>
              </a:rPr>
              <a:t>t</a:t>
            </a:r>
            <a:r>
              <a:rPr lang="zh-CN" altLang="en-US" sz="2800" b="1" dirty="0">
                <a:solidFill>
                  <a:schemeClr val="tx2"/>
                </a:solidFill>
              </a:rPr>
              <a:t>、卡方、</a:t>
            </a:r>
            <a:r>
              <a:rPr lang="en-US" altLang="zh-CN" sz="2800" b="1" dirty="0">
                <a:solidFill>
                  <a:schemeClr val="tx2"/>
                </a:solidFill>
              </a:rPr>
              <a:t>F</a:t>
            </a:r>
            <a:r>
              <a:rPr lang="zh-CN" altLang="en-US" sz="2800" b="1" dirty="0">
                <a:solidFill>
                  <a:schemeClr val="tx2"/>
                </a:solidFill>
              </a:rPr>
              <a:t>统计量等，</a:t>
            </a:r>
            <a:r>
              <a:rPr lang="zh-CN" altLang="en-US" sz="2800" b="1" dirty="0">
                <a:solidFill>
                  <a:schemeClr val="tx1"/>
                </a:solidFill>
              </a:rPr>
              <a:t>假设检验的具体方法通常以检验统计量服从的分布来命名 。</a:t>
            </a:r>
            <a:r>
              <a:rPr lang="zh-CN" altLang="en-US" sz="2800" b="1" dirty="0">
                <a:solidFill>
                  <a:schemeClr val="tx2"/>
                </a:solidFill>
              </a:rPr>
              <a:t>如：</a:t>
            </a:r>
          </a:p>
        </p:txBody>
      </p:sp>
      <p:sp>
        <p:nvSpPr>
          <p:cNvPr id="5125" name="Rectangle 3"/>
          <p:cNvSpPr>
            <a:spLocks noGrp="1" noChangeArrowheads="1"/>
          </p:cNvSpPr>
          <p:nvPr>
            <p:ph type="title"/>
          </p:nvPr>
        </p:nvSpPr>
        <p:spPr>
          <a:xfrm>
            <a:off x="1562100" y="0"/>
            <a:ext cx="7124700" cy="723900"/>
          </a:xfrm>
        </p:spPr>
        <p:txBody>
          <a:bodyPr>
            <a:normAutofit fontScale="90000"/>
          </a:bodyPr>
          <a:lstStyle/>
          <a:p>
            <a:pPr eaLnBrk="1" hangingPunct="1"/>
            <a:r>
              <a:rPr lang="zh-CN" altLang="en-US" sz="3600" dirty="0"/>
              <a:t>（二）确定检验统计量及其分布</a:t>
            </a:r>
            <a:r>
              <a:rPr lang="en-US" altLang="zh-CN" sz="3600" dirty="0"/>
              <a:t>(</a:t>
            </a:r>
            <a:r>
              <a:rPr lang="zh-CN" altLang="en-US" sz="3600" dirty="0"/>
              <a:t>续</a:t>
            </a:r>
            <a:r>
              <a:rPr lang="en-US" altLang="zh-CN" sz="3600" dirty="0"/>
              <a:t>)</a:t>
            </a:r>
            <a:endParaRPr lang="zh-CN" altLang="en-US" sz="3600" dirty="0"/>
          </a:p>
        </p:txBody>
      </p:sp>
      <p:graphicFrame>
        <p:nvGraphicFramePr>
          <p:cNvPr id="510980" name="Object 4"/>
          <p:cNvGraphicFramePr>
            <a:graphicFrameLocks noChangeAspect="1"/>
          </p:cNvGraphicFramePr>
          <p:nvPr>
            <p:extLst>
              <p:ext uri="{D42A27DB-BD31-4B8C-83A1-F6EECF244321}">
                <p14:modId xmlns:p14="http://schemas.microsoft.com/office/powerpoint/2010/main" val="176166804"/>
              </p:ext>
            </p:extLst>
          </p:nvPr>
        </p:nvGraphicFramePr>
        <p:xfrm>
          <a:off x="6626225" y="4982091"/>
          <a:ext cx="2949575" cy="1157844"/>
        </p:xfrm>
        <a:graphic>
          <a:graphicData uri="http://schemas.openxmlformats.org/presentationml/2006/ole">
            <mc:AlternateContent xmlns:mc="http://schemas.openxmlformats.org/markup-compatibility/2006">
              <mc:Choice xmlns:v="urn:schemas-microsoft-com:vml" Requires="v">
                <p:oleObj name="公式" r:id="rId3" imgW="1333440" imgH="431640" progId="Equation.3">
                  <p:embed/>
                </p:oleObj>
              </mc:Choice>
              <mc:Fallback>
                <p:oleObj name="公式" r:id="rId3" imgW="1333440" imgH="431640" progId="Equation.3">
                  <p:embed/>
                  <p:pic>
                    <p:nvPicPr>
                      <p:cNvPr id="51098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26225" y="4982091"/>
                        <a:ext cx="2949575" cy="1157844"/>
                      </a:xfrm>
                      <a:prstGeom prst="rect">
                        <a:avLst/>
                      </a:prstGeom>
                      <a:noFill/>
                      <a:ln w="19050">
                        <a:solidFill>
                          <a:srgbClr val="C00000"/>
                        </a:solidFill>
                      </a:ln>
                    </p:spPr>
                  </p:pic>
                </p:oleObj>
              </mc:Fallback>
            </mc:AlternateContent>
          </a:graphicData>
        </a:graphic>
      </p:graphicFrame>
    </p:spTree>
    <p:extLst>
      <p:ext uri="{BB962C8B-B14F-4D97-AF65-F5344CB8AC3E}">
        <p14:creationId xmlns:p14="http://schemas.microsoft.com/office/powerpoint/2010/main" val="15023134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10978">
                                            <p:txEl>
                                              <p:pRg st="1" end="1"/>
                                            </p:txEl>
                                          </p:spTgt>
                                        </p:tgtEl>
                                        <p:attrNameLst>
                                          <p:attrName>style.visibility</p:attrName>
                                        </p:attrNameLst>
                                      </p:cBhvr>
                                      <p:to>
                                        <p:strVal val="visible"/>
                                      </p:to>
                                    </p:set>
                                    <p:anim calcmode="lin" valueType="num">
                                      <p:cBhvr additive="base">
                                        <p:cTn id="7" dur="500" fill="hold"/>
                                        <p:tgtEl>
                                          <p:spTgt spid="510978">
                                            <p:txEl>
                                              <p:pRg st="1" end="1"/>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510978">
                                            <p:txEl>
                                              <p:pRg st="1" end="1"/>
                                            </p:txEl>
                                          </p:spTgt>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510978">
                                            <p:txEl>
                                              <p:pRg st="2" end="2"/>
                                            </p:txEl>
                                          </p:spTgt>
                                        </p:tgtEl>
                                        <p:attrNameLst>
                                          <p:attrName>style.visibility</p:attrName>
                                        </p:attrNameLst>
                                      </p:cBhvr>
                                      <p:to>
                                        <p:strVal val="visible"/>
                                      </p:to>
                                    </p:set>
                                    <p:anim calcmode="lin" valueType="num">
                                      <p:cBhvr additive="base">
                                        <p:cTn id="11" dur="500" fill="hold"/>
                                        <p:tgtEl>
                                          <p:spTgt spid="510978">
                                            <p:txEl>
                                              <p:pRg st="2" end="2"/>
                                            </p:tx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510978">
                                            <p:txEl>
                                              <p:pRg st="2" end="2"/>
                                            </p:txEl>
                                          </p:spTgt>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510978">
                                            <p:txEl>
                                              <p:pRg st="3" end="3"/>
                                            </p:txEl>
                                          </p:spTgt>
                                        </p:tgtEl>
                                        <p:attrNameLst>
                                          <p:attrName>style.visibility</p:attrName>
                                        </p:attrNameLst>
                                      </p:cBhvr>
                                      <p:to>
                                        <p:strVal val="visible"/>
                                      </p:to>
                                    </p:set>
                                    <p:anim calcmode="lin" valueType="num">
                                      <p:cBhvr additive="base">
                                        <p:cTn id="15" dur="500" fill="hold"/>
                                        <p:tgtEl>
                                          <p:spTgt spid="510978">
                                            <p:txEl>
                                              <p:pRg st="3" end="3"/>
                                            </p:txEl>
                                          </p:spTgt>
                                        </p:tgtEl>
                                        <p:attrNameLst>
                                          <p:attrName>ppt_x</p:attrName>
                                        </p:attrNameLst>
                                      </p:cBhvr>
                                      <p:tavLst>
                                        <p:tav tm="0">
                                          <p:val>
                                            <p:strVal val="0-#ppt_w/2"/>
                                          </p:val>
                                        </p:tav>
                                        <p:tav tm="100000">
                                          <p:val>
                                            <p:strVal val="#ppt_x"/>
                                          </p:val>
                                        </p:tav>
                                      </p:tavLst>
                                    </p:anim>
                                    <p:anim calcmode="lin" valueType="num">
                                      <p:cBhvr additive="base">
                                        <p:cTn id="16" dur="500" fill="hold"/>
                                        <p:tgtEl>
                                          <p:spTgt spid="510978">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8" fill="hold" grpId="0" nodeType="clickEffect">
                                  <p:stCondLst>
                                    <p:cond delay="0"/>
                                  </p:stCondLst>
                                  <p:childTnLst>
                                    <p:set>
                                      <p:cBhvr>
                                        <p:cTn id="20" dur="1" fill="hold">
                                          <p:stCondLst>
                                            <p:cond delay="0"/>
                                          </p:stCondLst>
                                        </p:cTn>
                                        <p:tgtEl>
                                          <p:spTgt spid="510978">
                                            <p:txEl>
                                              <p:pRg st="4" end="4"/>
                                            </p:txEl>
                                          </p:spTgt>
                                        </p:tgtEl>
                                        <p:attrNameLst>
                                          <p:attrName>style.visibility</p:attrName>
                                        </p:attrNameLst>
                                      </p:cBhvr>
                                      <p:to>
                                        <p:strVal val="visible"/>
                                      </p:to>
                                    </p:set>
                                    <p:anim calcmode="lin" valueType="num">
                                      <p:cBhvr additive="base">
                                        <p:cTn id="21" dur="500" fill="hold"/>
                                        <p:tgtEl>
                                          <p:spTgt spid="510978">
                                            <p:txEl>
                                              <p:pRg st="4" end="4"/>
                                            </p:txEl>
                                          </p:spTgt>
                                        </p:tgtEl>
                                        <p:attrNameLst>
                                          <p:attrName>ppt_x</p:attrName>
                                        </p:attrNameLst>
                                      </p:cBhvr>
                                      <p:tavLst>
                                        <p:tav tm="0">
                                          <p:val>
                                            <p:strVal val="0-#ppt_w/2"/>
                                          </p:val>
                                        </p:tav>
                                        <p:tav tm="100000">
                                          <p:val>
                                            <p:strVal val="#ppt_x"/>
                                          </p:val>
                                        </p:tav>
                                      </p:tavLst>
                                    </p:anim>
                                    <p:anim calcmode="lin" valueType="num">
                                      <p:cBhvr additive="base">
                                        <p:cTn id="22" dur="500" fill="hold"/>
                                        <p:tgtEl>
                                          <p:spTgt spid="510978">
                                            <p:txEl>
                                              <p:pRg st="4" end="4"/>
                                            </p:txEl>
                                          </p:spTgt>
                                        </p:tgtEl>
                                        <p:attrNameLst>
                                          <p:attrName>ppt_y</p:attrName>
                                        </p:attrNameLst>
                                      </p:cBhvr>
                                      <p:tavLst>
                                        <p:tav tm="0">
                                          <p:val>
                                            <p:strVal val="#ppt_y"/>
                                          </p:val>
                                        </p:tav>
                                        <p:tav tm="100000">
                                          <p:val>
                                            <p:strVal val="#ppt_y"/>
                                          </p:val>
                                        </p:tav>
                                      </p:tavLst>
                                    </p:anim>
                                  </p:childTnLst>
                                </p:cTn>
                              </p:par>
                            </p:childTnLst>
                          </p:cTn>
                        </p:par>
                        <p:par>
                          <p:cTn id="23" fill="hold">
                            <p:stCondLst>
                              <p:cond delay="500"/>
                            </p:stCondLst>
                            <p:childTnLst>
                              <p:par>
                                <p:cTn id="24" presetID="3" presetClass="entr" presetSubtype="10" fill="hold" nodeType="afterEffect">
                                  <p:stCondLst>
                                    <p:cond delay="0"/>
                                  </p:stCondLst>
                                  <p:childTnLst>
                                    <p:set>
                                      <p:cBhvr>
                                        <p:cTn id="25" dur="1" fill="hold">
                                          <p:stCondLst>
                                            <p:cond delay="0"/>
                                          </p:stCondLst>
                                        </p:cTn>
                                        <p:tgtEl>
                                          <p:spTgt spid="510980"/>
                                        </p:tgtEl>
                                        <p:attrNameLst>
                                          <p:attrName>style.visibility</p:attrName>
                                        </p:attrNameLst>
                                      </p:cBhvr>
                                      <p:to>
                                        <p:strVal val="visible"/>
                                      </p:to>
                                    </p:set>
                                    <p:animEffect transition="in" filter="blinds(horizontal)">
                                      <p:cBhvr>
                                        <p:cTn id="26" dur="2000"/>
                                        <p:tgtEl>
                                          <p:spTgt spid="5109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0978" grpId="0" build="p"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8610" name="灯片编号占位符 5"/>
          <p:cNvSpPr>
            <a:spLocks noGrp="1"/>
          </p:cNvSpPr>
          <p:nvPr>
            <p:ph type="sldNum" sz="quarter" idx="4294967295"/>
          </p:nvPr>
        </p:nvSpPr>
        <p:spPr>
          <a:noFill/>
        </p:spPr>
        <p:txBody>
          <a:bodyPr/>
          <a:lstStyle/>
          <a:p>
            <a:r>
              <a:rPr lang="en-US" altLang="zh-CN">
                <a:ea typeface="宋体" pitchFamily="2" charset="-122"/>
              </a:rPr>
              <a:t>8--</a:t>
            </a:r>
            <a:fld id="{2F224CE9-D32B-4F6E-ADC4-587619BACD9C}" type="slidenum">
              <a:rPr lang="en-US" altLang="zh-CN" smtClean="0">
                <a:ea typeface="宋体" pitchFamily="2" charset="-122"/>
              </a:rPr>
              <a:pPr/>
              <a:t>19</a:t>
            </a:fld>
            <a:endParaRPr lang="en-US" altLang="zh-CN">
              <a:ea typeface="宋体" pitchFamily="2" charset="-122"/>
            </a:endParaRPr>
          </a:p>
        </p:txBody>
      </p:sp>
      <p:sp>
        <p:nvSpPr>
          <p:cNvPr id="68611" name="Rectangle 2"/>
          <p:cNvSpPr>
            <a:spLocks noGrp="1" noChangeArrowheads="1"/>
          </p:cNvSpPr>
          <p:nvPr>
            <p:ph type="title"/>
          </p:nvPr>
        </p:nvSpPr>
        <p:spPr>
          <a:xfrm>
            <a:off x="1130300" y="591026"/>
            <a:ext cx="6350000" cy="662782"/>
          </a:xfrm>
          <a:noFill/>
        </p:spPr>
        <p:txBody>
          <a:bodyPr vert="horz" lIns="90488" tIns="44450" rIns="90488" bIns="44450" rtlCol="0" anchor="ctr" anchorCtr="1">
            <a:normAutofit/>
          </a:bodyPr>
          <a:lstStyle/>
          <a:p>
            <a:pPr eaLnBrk="1" hangingPunct="1"/>
            <a:r>
              <a:rPr lang="zh-CN" altLang="en-US" sz="4000" b="1" dirty="0"/>
              <a:t>（三）规定显著性水平</a:t>
            </a:r>
            <a:r>
              <a:rPr lang="zh-CN" altLang="en-US" b="1" i="1" dirty="0">
                <a:latin typeface="Symbol" pitchFamily="18" charset="2"/>
              </a:rPr>
              <a:t></a:t>
            </a:r>
          </a:p>
        </p:txBody>
      </p:sp>
      <p:sp>
        <p:nvSpPr>
          <p:cNvPr id="24579" name="Rectangle 3"/>
          <p:cNvSpPr>
            <a:spLocks noGrp="1" noChangeArrowheads="1"/>
          </p:cNvSpPr>
          <p:nvPr>
            <p:ph type="body" idx="1"/>
          </p:nvPr>
        </p:nvSpPr>
        <p:spPr>
          <a:xfrm>
            <a:off x="2000250" y="1176338"/>
            <a:ext cx="8439150" cy="4957762"/>
          </a:xfrm>
          <a:noFill/>
        </p:spPr>
        <p:txBody>
          <a:bodyPr vert="horz" lIns="90488" tIns="44450" rIns="90488" bIns="44450" rtlCol="0">
            <a:normAutofit/>
          </a:bodyPr>
          <a:lstStyle/>
          <a:p>
            <a:pPr marL="0" indent="0">
              <a:lnSpc>
                <a:spcPct val="110000"/>
              </a:lnSpc>
              <a:spcBef>
                <a:spcPts val="600"/>
              </a:spcBef>
              <a:spcAft>
                <a:spcPts val="0"/>
              </a:spcAft>
              <a:buNone/>
            </a:pPr>
            <a:r>
              <a:rPr lang="zh-CN" altLang="en-US" b="1" dirty="0">
                <a:solidFill>
                  <a:srgbClr val="C00000"/>
                </a:solidFill>
              </a:rPr>
              <a:t>      显著性水平</a:t>
            </a:r>
            <a:r>
              <a:rPr lang="zh-CN" altLang="en-US" b="1" i="1" dirty="0">
                <a:solidFill>
                  <a:srgbClr val="C00000"/>
                </a:solidFill>
                <a:latin typeface="Symbol" pitchFamily="18" charset="2"/>
              </a:rPr>
              <a:t></a:t>
            </a:r>
            <a:r>
              <a:rPr lang="en-US" altLang="zh-CN" sz="2800" b="1" dirty="0">
                <a:solidFill>
                  <a:schemeClr val="tx1"/>
                </a:solidFill>
                <a:latin typeface="Arial" pitchFamily="34" charset="0"/>
              </a:rPr>
              <a:t>——</a:t>
            </a:r>
            <a:r>
              <a:rPr lang="zh-CN" altLang="en-US" sz="2800" b="1" dirty="0">
                <a:solidFill>
                  <a:schemeClr val="tx1"/>
                </a:solidFill>
              </a:rPr>
              <a:t>小概率的标准</a:t>
            </a:r>
            <a:r>
              <a:rPr lang="en-US" altLang="zh-CN" sz="2800" b="1" dirty="0">
                <a:solidFill>
                  <a:schemeClr val="tx1"/>
                </a:solidFill>
              </a:rPr>
              <a:t>,</a:t>
            </a:r>
            <a:r>
              <a:rPr lang="zh-CN" altLang="en-US" sz="2400" b="1" dirty="0">
                <a:solidFill>
                  <a:schemeClr val="tx1"/>
                </a:solidFill>
              </a:rPr>
              <a:t>如 </a:t>
            </a:r>
            <a:r>
              <a:rPr lang="en-US" altLang="zh-CN" sz="2400" b="1" dirty="0">
                <a:solidFill>
                  <a:schemeClr val="tx1"/>
                </a:solidFill>
                <a:latin typeface="Times New Roman" pitchFamily="18" charset="0"/>
              </a:rPr>
              <a:t>0.01,  </a:t>
            </a:r>
            <a:r>
              <a:rPr lang="en-US" altLang="zh-CN" sz="2400" b="1" dirty="0">
                <a:latin typeface="Times New Roman" pitchFamily="18" charset="0"/>
              </a:rPr>
              <a:t>0.05</a:t>
            </a:r>
            <a:r>
              <a:rPr lang="en-US" altLang="zh-CN" sz="2400" b="1" dirty="0">
                <a:solidFill>
                  <a:schemeClr val="tx1"/>
                </a:solidFill>
                <a:latin typeface="Times New Roman" pitchFamily="18" charset="0"/>
              </a:rPr>
              <a:t>, 0.1</a:t>
            </a:r>
          </a:p>
          <a:p>
            <a:pPr marL="0" indent="0">
              <a:lnSpc>
                <a:spcPct val="110000"/>
              </a:lnSpc>
              <a:spcBef>
                <a:spcPts val="600"/>
              </a:spcBef>
              <a:spcAft>
                <a:spcPts val="0"/>
              </a:spcAft>
              <a:buNone/>
            </a:pPr>
            <a:r>
              <a:rPr lang="zh-CN" altLang="en-US" b="1" dirty="0">
                <a:solidFill>
                  <a:schemeClr val="tx1"/>
                </a:solidFill>
                <a:latin typeface="Times New Roman" pitchFamily="18" charset="0"/>
              </a:rPr>
              <a:t>       给定 了</a:t>
            </a:r>
            <a:r>
              <a:rPr lang="zh-CN" altLang="en-US" b="1" dirty="0">
                <a:solidFill>
                  <a:schemeClr val="tx1"/>
                </a:solidFill>
                <a:latin typeface="Times New Roman" pitchFamily="18" charset="0"/>
                <a:sym typeface="Symbol" pitchFamily="18" charset="2"/>
              </a:rPr>
              <a:t></a:t>
            </a:r>
            <a:r>
              <a:rPr lang="zh-CN" altLang="en-US" b="1" dirty="0">
                <a:solidFill>
                  <a:schemeClr val="tx1"/>
                </a:solidFill>
                <a:latin typeface="Times New Roman" pitchFamily="18" charset="0"/>
              </a:rPr>
              <a:t>，也就确定了临界值，也就等于建立了检验的具体规则。</a:t>
            </a:r>
          </a:p>
          <a:p>
            <a:pPr lvl="1" indent="0">
              <a:lnSpc>
                <a:spcPct val="110000"/>
              </a:lnSpc>
              <a:spcBef>
                <a:spcPts val="600"/>
              </a:spcBef>
              <a:spcAft>
                <a:spcPts val="0"/>
              </a:spcAft>
              <a:buNone/>
            </a:pPr>
            <a:r>
              <a:rPr lang="zh-CN" altLang="en-US" sz="3200" b="1" dirty="0">
                <a:solidFill>
                  <a:srgbClr val="C00000"/>
                </a:solidFill>
                <a:latin typeface="Times New Roman" pitchFamily="18" charset="0"/>
              </a:rPr>
              <a:t>     临界值</a:t>
            </a:r>
            <a:r>
              <a:rPr lang="en-US" altLang="zh-CN" sz="3200" b="1" dirty="0">
                <a:solidFill>
                  <a:srgbClr val="CC0099"/>
                </a:solidFill>
                <a:latin typeface="Times New Roman" pitchFamily="18" charset="0"/>
              </a:rPr>
              <a:t>——</a:t>
            </a:r>
            <a:r>
              <a:rPr lang="zh-CN" altLang="en-US" sz="3200" b="1" dirty="0">
                <a:solidFill>
                  <a:schemeClr val="tx1"/>
                </a:solidFill>
                <a:latin typeface="Times New Roman" pitchFamily="18" charset="0"/>
              </a:rPr>
              <a:t>原假设的</a:t>
            </a:r>
            <a:r>
              <a:rPr lang="zh-CN" altLang="en-US" sz="3200" b="1" dirty="0">
                <a:solidFill>
                  <a:srgbClr val="7030A0"/>
                </a:solidFill>
                <a:latin typeface="Times New Roman" pitchFamily="18" charset="0"/>
              </a:rPr>
              <a:t>拒绝区域</a:t>
            </a:r>
            <a:r>
              <a:rPr lang="zh-CN" altLang="en-US" sz="3200" b="1" dirty="0">
                <a:solidFill>
                  <a:schemeClr val="tx1"/>
                </a:solidFill>
                <a:latin typeface="Times New Roman" pitchFamily="18" charset="0"/>
              </a:rPr>
              <a:t>与不能拒绝区域的分界点。</a:t>
            </a:r>
          </a:p>
          <a:p>
            <a:pPr marL="1543050" lvl="2" indent="-628650">
              <a:lnSpc>
                <a:spcPct val="110000"/>
              </a:lnSpc>
              <a:spcBef>
                <a:spcPts val="600"/>
              </a:spcBef>
              <a:spcAft>
                <a:spcPts val="0"/>
              </a:spcAft>
            </a:pPr>
            <a:r>
              <a:rPr lang="zh-CN" altLang="en-US" sz="2800" b="1" dirty="0"/>
              <a:t>根据</a:t>
            </a:r>
            <a:r>
              <a:rPr lang="zh-CN" altLang="en-US" sz="2800" b="1" dirty="0">
                <a:solidFill>
                  <a:srgbClr val="008000"/>
                </a:solidFill>
                <a:latin typeface="Symbol" pitchFamily="18" charset="2"/>
              </a:rPr>
              <a:t>检验统计量的分布</a:t>
            </a:r>
            <a:r>
              <a:rPr lang="zh-CN" altLang="en-US" sz="2800" b="1" dirty="0">
                <a:latin typeface="Symbol" pitchFamily="18" charset="2"/>
              </a:rPr>
              <a:t>，</a:t>
            </a:r>
            <a:r>
              <a:rPr lang="zh-CN" altLang="en-US" sz="2800" b="1" dirty="0"/>
              <a:t>给定的</a:t>
            </a:r>
            <a:r>
              <a:rPr lang="zh-CN" altLang="en-US" sz="2800" b="1" i="1" dirty="0">
                <a:solidFill>
                  <a:srgbClr val="008000"/>
                </a:solidFill>
                <a:latin typeface="Symbol" pitchFamily="18" charset="2"/>
              </a:rPr>
              <a:t></a:t>
            </a:r>
            <a:r>
              <a:rPr lang="zh-CN" altLang="en-US" sz="2800" b="1" i="1" dirty="0">
                <a:latin typeface="Symbol" pitchFamily="18" charset="2"/>
              </a:rPr>
              <a:t> </a:t>
            </a:r>
            <a:r>
              <a:rPr lang="zh-CN" altLang="en-US" sz="2800" b="1" dirty="0">
                <a:latin typeface="Symbol" pitchFamily="18" charset="2"/>
              </a:rPr>
              <a:t>查相应的概率分布表，即得临界值。</a:t>
            </a:r>
          </a:p>
          <a:p>
            <a:pPr marL="1543050" lvl="2" indent="-628650">
              <a:lnSpc>
                <a:spcPct val="110000"/>
              </a:lnSpc>
              <a:spcBef>
                <a:spcPts val="600"/>
              </a:spcBef>
              <a:spcAft>
                <a:spcPts val="0"/>
              </a:spcAft>
            </a:pPr>
            <a:r>
              <a:rPr lang="zh-CN" altLang="en-US" sz="2800" b="1" dirty="0">
                <a:latin typeface="Times New Roman" pitchFamily="18" charset="0"/>
                <a:sym typeface="Symbol" pitchFamily="18" charset="2"/>
              </a:rPr>
              <a:t>临界值还与</a:t>
            </a:r>
            <a:r>
              <a:rPr lang="zh-CN" altLang="en-US" sz="2800" b="1" dirty="0">
                <a:solidFill>
                  <a:srgbClr val="008000"/>
                </a:solidFill>
                <a:latin typeface="Times New Roman" pitchFamily="18" charset="0"/>
                <a:sym typeface="Symbol" pitchFamily="18" charset="2"/>
              </a:rPr>
              <a:t>检验形式</a:t>
            </a:r>
            <a:r>
              <a:rPr lang="zh-CN" altLang="en-US" sz="2800" b="1" dirty="0">
                <a:latin typeface="Times New Roman" pitchFamily="18" charset="0"/>
                <a:sym typeface="Symbol" pitchFamily="18" charset="2"/>
              </a:rPr>
              <a:t>（单双侧）有关</a:t>
            </a:r>
            <a:endParaRPr lang="zh-CN" altLang="en-US" sz="2000" b="1" dirty="0">
              <a:solidFill>
                <a:srgbClr val="008000"/>
              </a:solidFill>
              <a:latin typeface="Times New Roman" pitchFamily="18" charset="0"/>
              <a:sym typeface="Symbol" pitchFamily="18" charset="2"/>
            </a:endParaRPr>
          </a:p>
        </p:txBody>
      </p:sp>
    </p:spTree>
    <p:extLst>
      <p:ext uri="{BB962C8B-B14F-4D97-AF65-F5344CB8AC3E}">
        <p14:creationId xmlns:p14="http://schemas.microsoft.com/office/powerpoint/2010/main" val="19016950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24579">
                                            <p:txEl>
                                              <p:pRg st="1" end="1"/>
                                            </p:txEl>
                                          </p:spTgt>
                                        </p:tgtEl>
                                        <p:attrNameLst>
                                          <p:attrName>style.visibility</p:attrName>
                                        </p:attrNameLst>
                                      </p:cBhvr>
                                      <p:to>
                                        <p:strVal val="visible"/>
                                      </p:to>
                                    </p:set>
                                    <p:animEffect transition="in" filter="wipe(left)">
                                      <p:cBhvr>
                                        <p:cTn id="7" dur="500"/>
                                        <p:tgtEl>
                                          <p:spTgt spid="24579">
                                            <p:txEl>
                                              <p:pRg st="1" end="1"/>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4579">
                                            <p:txEl>
                                              <p:pRg st="2" end="2"/>
                                            </p:txEl>
                                          </p:spTgt>
                                        </p:tgtEl>
                                        <p:attrNameLst>
                                          <p:attrName>style.visibility</p:attrName>
                                        </p:attrNameLst>
                                      </p:cBhvr>
                                      <p:to>
                                        <p:strVal val="visible"/>
                                      </p:to>
                                    </p:set>
                                    <p:animEffect transition="in" filter="wipe(left)">
                                      <p:cBhvr>
                                        <p:cTn id="10" dur="500"/>
                                        <p:tgtEl>
                                          <p:spTgt spid="24579">
                                            <p:txEl>
                                              <p:pRg st="2" end="2"/>
                                            </p:txEl>
                                          </p:spTgt>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24579">
                                            <p:txEl>
                                              <p:pRg st="3" end="3"/>
                                            </p:txEl>
                                          </p:spTgt>
                                        </p:tgtEl>
                                        <p:attrNameLst>
                                          <p:attrName>style.visibility</p:attrName>
                                        </p:attrNameLst>
                                      </p:cBhvr>
                                      <p:to>
                                        <p:strVal val="visible"/>
                                      </p:to>
                                    </p:set>
                                    <p:animEffect transition="in" filter="wipe(left)">
                                      <p:cBhvr>
                                        <p:cTn id="13" dur="500"/>
                                        <p:tgtEl>
                                          <p:spTgt spid="24579">
                                            <p:txEl>
                                              <p:pRg st="3" end="3"/>
                                            </p:txEl>
                                          </p:spTgt>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24579">
                                            <p:txEl>
                                              <p:pRg st="4" end="4"/>
                                            </p:txEl>
                                          </p:spTgt>
                                        </p:tgtEl>
                                        <p:attrNameLst>
                                          <p:attrName>style.visibility</p:attrName>
                                        </p:attrNameLst>
                                      </p:cBhvr>
                                      <p:to>
                                        <p:strVal val="visible"/>
                                      </p:to>
                                    </p:set>
                                    <p:animEffect transition="in" filter="wipe(left)">
                                      <p:cBhvr>
                                        <p:cTn id="16" dur="500"/>
                                        <p:tgtEl>
                                          <p:spTgt spid="2457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79" grpId="0" build="p" autoUpdateAnimBg="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灯片编号占位符 5"/>
          <p:cNvSpPr>
            <a:spLocks noGrp="1"/>
          </p:cNvSpPr>
          <p:nvPr>
            <p:ph type="sldNum" sz="quarter" idx="4294967295"/>
          </p:nvPr>
        </p:nvSpPr>
        <p:spPr>
          <a:xfrm>
            <a:off x="8763000" y="6543675"/>
            <a:ext cx="1905000" cy="457200"/>
          </a:xfrm>
          <a:noFill/>
        </p:spPr>
        <p:txBody>
          <a:bodyPr/>
          <a:lstStyle/>
          <a:p>
            <a:r>
              <a:rPr lang="en-US" altLang="zh-CN">
                <a:ea typeface="宋体" pitchFamily="2" charset="-122"/>
              </a:rPr>
              <a:t>8--</a:t>
            </a:r>
            <a:fld id="{E9A4196E-9FF9-4F6B-86D6-E1252E242C99}" type="slidenum">
              <a:rPr lang="en-US" altLang="zh-CN" smtClean="0">
                <a:ea typeface="宋体" pitchFamily="2" charset="-122"/>
              </a:rPr>
              <a:pPr/>
              <a:t>20</a:t>
            </a:fld>
            <a:endParaRPr lang="en-US" altLang="zh-CN">
              <a:ea typeface="宋体" pitchFamily="2" charset="-122"/>
            </a:endParaRPr>
          </a:p>
        </p:txBody>
      </p:sp>
      <p:sp>
        <p:nvSpPr>
          <p:cNvPr id="6148" name="Rectangle 2"/>
          <p:cNvSpPr>
            <a:spLocks noGrp="1" noChangeArrowheads="1"/>
          </p:cNvSpPr>
          <p:nvPr>
            <p:ph type="title"/>
          </p:nvPr>
        </p:nvSpPr>
        <p:spPr>
          <a:xfrm>
            <a:off x="2208213" y="142875"/>
            <a:ext cx="7772400" cy="1143000"/>
          </a:xfrm>
        </p:spPr>
        <p:txBody>
          <a:bodyPr/>
          <a:lstStyle/>
          <a:p>
            <a:pPr eaLnBrk="1" hangingPunct="1"/>
            <a:r>
              <a:rPr lang="zh-CN" altLang="en-US" sz="4000" b="1" dirty="0">
                <a:effectLst/>
              </a:rPr>
              <a:t>双侧检验的显著性水平与拒绝域</a:t>
            </a:r>
          </a:p>
        </p:txBody>
      </p:sp>
      <p:grpSp>
        <p:nvGrpSpPr>
          <p:cNvPr id="6149" name="Group 3"/>
          <p:cNvGrpSpPr>
            <a:grpSpLocks/>
          </p:cNvGrpSpPr>
          <p:nvPr/>
        </p:nvGrpSpPr>
        <p:grpSpPr bwMode="auto">
          <a:xfrm>
            <a:off x="3405189" y="1765300"/>
            <a:ext cx="6156325" cy="3378200"/>
            <a:chOff x="1027" y="1012"/>
            <a:chExt cx="3878" cy="2128"/>
          </a:xfrm>
        </p:grpSpPr>
        <p:sp>
          <p:nvSpPr>
            <p:cNvPr id="6161" name="Rectangle 4"/>
            <p:cNvSpPr>
              <a:spLocks noChangeArrowheads="1"/>
            </p:cNvSpPr>
            <p:nvPr/>
          </p:nvSpPr>
          <p:spPr bwMode="auto">
            <a:xfrm>
              <a:off x="3605" y="1012"/>
              <a:ext cx="1300" cy="602"/>
            </a:xfrm>
            <a:prstGeom prst="rect">
              <a:avLst/>
            </a:prstGeom>
            <a:noFill/>
            <a:ln w="12700">
              <a:solidFill>
                <a:srgbClr val="CC0099"/>
              </a:solidFill>
              <a:miter lim="800000"/>
              <a:headEnd/>
              <a:tailEnd/>
            </a:ln>
          </p:spPr>
          <p:txBody>
            <a:bodyPr lIns="90488" tIns="44450" rIns="90488" bIns="44450">
              <a:spAutoFit/>
            </a:bodyPr>
            <a:lstStyle/>
            <a:p>
              <a:pPr algn="ctr" eaLnBrk="0" hangingPunct="0">
                <a:spcBef>
                  <a:spcPct val="50000"/>
                </a:spcBef>
              </a:pPr>
              <a:r>
                <a:rPr kumimoji="1" lang="zh-CN" altLang="en-US" sz="2800" b="1">
                  <a:solidFill>
                    <a:srgbClr val="FF00FF"/>
                  </a:solidFill>
                </a:rPr>
                <a:t>检验统计量的分布</a:t>
              </a:r>
            </a:p>
          </p:txBody>
        </p:sp>
        <p:sp>
          <p:nvSpPr>
            <p:cNvPr id="26629" name="Rectangle 5"/>
            <p:cNvSpPr>
              <a:spLocks noChangeArrowheads="1"/>
            </p:cNvSpPr>
            <p:nvPr/>
          </p:nvSpPr>
          <p:spPr bwMode="auto">
            <a:xfrm>
              <a:off x="4149" y="1976"/>
              <a:ext cx="337" cy="233"/>
            </a:xfrm>
            <a:prstGeom prst="rect">
              <a:avLst/>
            </a:prstGeom>
            <a:solidFill>
              <a:schemeClr val="accent1">
                <a:lumMod val="40000"/>
                <a:lumOff val="60000"/>
              </a:schemeClr>
            </a:solidFill>
            <a:ln w="9525">
              <a:noFill/>
              <a:miter lim="800000"/>
              <a:headEnd/>
              <a:tailEnd/>
            </a:ln>
            <a:effectLst>
              <a:outerShdw dist="17961" dir="2700000" algn="ctr" rotWithShape="0">
                <a:schemeClr val="bg2"/>
              </a:outerShdw>
            </a:effectLst>
          </p:spPr>
          <p:txBody>
            <a:bodyPr wrap="none" lIns="0" tIns="0" rIns="0" bIns="0">
              <a:spAutoFit/>
            </a:bodyPr>
            <a:lstStyle/>
            <a:p>
              <a:pPr eaLnBrk="0" hangingPunct="0">
                <a:defRPr/>
              </a:pPr>
              <a:r>
                <a:rPr kumimoji="1" lang="en-US" altLang="zh-CN" sz="2400" b="1" dirty="0">
                  <a:latin typeface="Symbol" pitchFamily="18" charset="2"/>
                  <a:ea typeface="宋体" charset="-122"/>
                </a:rPr>
                <a:t>a</a:t>
              </a:r>
              <a:r>
                <a:rPr kumimoji="1" lang="en-US" altLang="zh-CN" sz="2400" b="1" dirty="0">
                  <a:latin typeface="Arial" charset="0"/>
                  <a:ea typeface="宋体" charset="-122"/>
                </a:rPr>
                <a:t>/2 </a:t>
              </a:r>
            </a:p>
          </p:txBody>
        </p:sp>
        <p:sp>
          <p:nvSpPr>
            <p:cNvPr id="26630" name="Rectangle 6"/>
            <p:cNvSpPr>
              <a:spLocks noChangeArrowheads="1"/>
            </p:cNvSpPr>
            <p:nvPr/>
          </p:nvSpPr>
          <p:spPr bwMode="auto">
            <a:xfrm>
              <a:off x="1283" y="1934"/>
              <a:ext cx="337" cy="233"/>
            </a:xfrm>
            <a:prstGeom prst="rect">
              <a:avLst/>
            </a:prstGeom>
            <a:solidFill>
              <a:schemeClr val="accent1">
                <a:lumMod val="40000"/>
                <a:lumOff val="60000"/>
              </a:schemeClr>
            </a:solidFill>
            <a:ln w="9525">
              <a:noFill/>
              <a:miter lim="800000"/>
              <a:headEnd/>
              <a:tailEnd/>
            </a:ln>
            <a:effectLst>
              <a:outerShdw dist="17961" dir="2700000" algn="ctr" rotWithShape="0">
                <a:schemeClr val="bg2"/>
              </a:outerShdw>
            </a:effectLst>
          </p:spPr>
          <p:txBody>
            <a:bodyPr wrap="none" lIns="0" tIns="0" rIns="0" bIns="0">
              <a:spAutoFit/>
            </a:bodyPr>
            <a:lstStyle/>
            <a:p>
              <a:pPr eaLnBrk="0" hangingPunct="0">
                <a:defRPr/>
              </a:pPr>
              <a:r>
                <a:rPr kumimoji="1" lang="en-US" altLang="zh-CN" sz="2400" b="1" dirty="0">
                  <a:latin typeface="Symbol" pitchFamily="18" charset="2"/>
                  <a:ea typeface="宋体" charset="-122"/>
                </a:rPr>
                <a:t>a</a:t>
              </a:r>
              <a:r>
                <a:rPr kumimoji="1" lang="en-US" altLang="zh-CN" sz="2400" b="1" dirty="0">
                  <a:latin typeface="Arial" charset="0"/>
                  <a:ea typeface="宋体" charset="-122"/>
                </a:rPr>
                <a:t>/2</a:t>
              </a:r>
              <a:r>
                <a:rPr kumimoji="1" lang="en-US" altLang="zh-CN" sz="2400" b="1" dirty="0">
                  <a:solidFill>
                    <a:srgbClr val="CDCDCD"/>
                  </a:solidFill>
                  <a:latin typeface="Arial" charset="0"/>
                  <a:ea typeface="宋体" charset="-122"/>
                </a:rPr>
                <a:t> </a:t>
              </a:r>
            </a:p>
          </p:txBody>
        </p:sp>
        <p:sp>
          <p:nvSpPr>
            <p:cNvPr id="26631" name="Rectangle 7"/>
            <p:cNvSpPr>
              <a:spLocks noChangeArrowheads="1"/>
            </p:cNvSpPr>
            <p:nvPr/>
          </p:nvSpPr>
          <p:spPr bwMode="auto">
            <a:xfrm>
              <a:off x="2396" y="1934"/>
              <a:ext cx="911" cy="289"/>
            </a:xfrm>
            <a:prstGeom prst="rect">
              <a:avLst/>
            </a:prstGeom>
            <a:noFill/>
            <a:ln w="12700">
              <a:noFill/>
              <a:miter lim="800000"/>
              <a:headEnd/>
              <a:tailEnd/>
            </a:ln>
            <a:effectLst>
              <a:outerShdw dist="12700" dir="5400000" algn="ctr" rotWithShape="0">
                <a:schemeClr val="bg2"/>
              </a:outerShdw>
            </a:effectLst>
          </p:spPr>
          <p:txBody>
            <a:bodyPr lIns="90488" tIns="44450" rIns="90488" bIns="44450">
              <a:spAutoFit/>
            </a:bodyPr>
            <a:lstStyle/>
            <a:p>
              <a:pPr algn="ctr" eaLnBrk="0" hangingPunct="0">
                <a:spcBef>
                  <a:spcPct val="50000"/>
                </a:spcBef>
                <a:defRPr/>
              </a:pPr>
              <a:r>
                <a:rPr kumimoji="1" lang="en-US" altLang="zh-CN" sz="2400" b="1">
                  <a:solidFill>
                    <a:schemeClr val="tx2"/>
                  </a:solidFill>
                  <a:effectLst>
                    <a:outerShdw blurRad="38100" dist="38100" dir="2700000" algn="tl">
                      <a:srgbClr val="C0C0C0"/>
                    </a:outerShdw>
                  </a:effectLst>
                  <a:latin typeface="Arial" charset="0"/>
                  <a:ea typeface="宋体" charset="-122"/>
                </a:rPr>
                <a:t>(1 </a:t>
              </a:r>
              <a:r>
                <a:rPr kumimoji="1" lang="zh-CN" altLang="en-US" sz="2400" b="1">
                  <a:solidFill>
                    <a:schemeClr val="tx2"/>
                  </a:solidFill>
                  <a:effectLst>
                    <a:outerShdw blurRad="38100" dist="38100" dir="2700000" algn="tl">
                      <a:srgbClr val="C0C0C0"/>
                    </a:outerShdw>
                  </a:effectLst>
                  <a:latin typeface="Arial" charset="0"/>
                  <a:ea typeface="宋体" charset="-122"/>
                </a:rPr>
                <a:t>－ </a:t>
              </a:r>
              <a:r>
                <a:rPr kumimoji="1" lang="zh-CN" altLang="en-US" sz="2400" b="1">
                  <a:solidFill>
                    <a:schemeClr val="tx2"/>
                  </a:solidFill>
                  <a:effectLst>
                    <a:outerShdw blurRad="38100" dist="38100" dir="2700000" algn="tl">
                      <a:srgbClr val="C0C0C0"/>
                    </a:outerShdw>
                  </a:effectLst>
                  <a:latin typeface="Symbol" pitchFamily="18" charset="2"/>
                  <a:ea typeface="宋体" charset="-122"/>
                </a:rPr>
                <a:t></a:t>
              </a:r>
              <a:r>
                <a:rPr kumimoji="1" lang="en-US" altLang="zh-CN" sz="2400" b="1">
                  <a:solidFill>
                    <a:schemeClr val="tx2"/>
                  </a:solidFill>
                  <a:effectLst>
                    <a:outerShdw blurRad="38100" dist="38100" dir="2700000" algn="tl">
                      <a:srgbClr val="C0C0C0"/>
                    </a:outerShdw>
                  </a:effectLst>
                  <a:latin typeface="Symbol" pitchFamily="18" charset="2"/>
                  <a:ea typeface="宋体" charset="-122"/>
                </a:rPr>
                <a:t>)</a:t>
              </a:r>
              <a:endParaRPr kumimoji="1" lang="en-US" altLang="zh-CN" sz="2400" b="1">
                <a:solidFill>
                  <a:schemeClr val="tx2"/>
                </a:solidFill>
                <a:latin typeface="Symbol" pitchFamily="18" charset="2"/>
                <a:ea typeface="宋体" charset="-122"/>
              </a:endParaRPr>
            </a:p>
          </p:txBody>
        </p:sp>
        <p:sp>
          <p:nvSpPr>
            <p:cNvPr id="26632" name="Line 8"/>
            <p:cNvSpPr>
              <a:spLocks noChangeShapeType="1"/>
            </p:cNvSpPr>
            <p:nvPr/>
          </p:nvSpPr>
          <p:spPr bwMode="auto">
            <a:xfrm>
              <a:off x="3678" y="2183"/>
              <a:ext cx="0" cy="456"/>
            </a:xfrm>
            <a:prstGeom prst="line">
              <a:avLst/>
            </a:prstGeom>
            <a:noFill/>
            <a:ln w="38100">
              <a:solidFill>
                <a:srgbClr val="CC0066"/>
              </a:solidFill>
              <a:round/>
              <a:headEnd/>
              <a:tailEnd/>
            </a:ln>
            <a:effectLst>
              <a:outerShdw dist="28398" dir="20006097" algn="ctr" rotWithShape="0">
                <a:schemeClr val="bg2"/>
              </a:outerShdw>
            </a:effectLst>
          </p:spPr>
          <p:txBody>
            <a:bodyPr wrap="none" anchor="ctr"/>
            <a:lstStyle/>
            <a:p>
              <a:pPr>
                <a:defRPr/>
              </a:pPr>
              <a:endParaRPr lang="zh-CN" altLang="en-US">
                <a:latin typeface="Arial" charset="0"/>
                <a:ea typeface="宋体" charset="-122"/>
              </a:endParaRPr>
            </a:p>
          </p:txBody>
        </p:sp>
        <p:sp>
          <p:nvSpPr>
            <p:cNvPr id="26633" name="Line 9"/>
            <p:cNvSpPr>
              <a:spLocks noChangeShapeType="1"/>
            </p:cNvSpPr>
            <p:nvPr/>
          </p:nvSpPr>
          <p:spPr bwMode="auto">
            <a:xfrm>
              <a:off x="2010" y="2639"/>
              <a:ext cx="0" cy="175"/>
            </a:xfrm>
            <a:prstGeom prst="line">
              <a:avLst/>
            </a:prstGeom>
            <a:noFill/>
            <a:ln w="28575">
              <a:solidFill>
                <a:srgbClr val="CC3399"/>
              </a:solidFill>
              <a:round/>
              <a:headEnd type="triangle" w="med" len="med"/>
              <a:tailEnd/>
            </a:ln>
            <a:effectLst>
              <a:outerShdw dist="12700" algn="ctr" rotWithShape="0">
                <a:schemeClr val="bg2"/>
              </a:outerShdw>
            </a:effectLst>
          </p:spPr>
          <p:txBody>
            <a:bodyPr wrap="none" anchor="ctr"/>
            <a:lstStyle/>
            <a:p>
              <a:pPr>
                <a:defRPr/>
              </a:pPr>
              <a:endParaRPr lang="zh-CN" altLang="en-US">
                <a:latin typeface="Arial" charset="0"/>
                <a:ea typeface="宋体" charset="-122"/>
              </a:endParaRPr>
            </a:p>
          </p:txBody>
        </p:sp>
        <p:sp>
          <p:nvSpPr>
            <p:cNvPr id="26634" name="Line 10"/>
            <p:cNvSpPr>
              <a:spLocks noChangeShapeType="1"/>
            </p:cNvSpPr>
            <p:nvPr/>
          </p:nvSpPr>
          <p:spPr bwMode="auto">
            <a:xfrm>
              <a:off x="3678" y="2639"/>
              <a:ext cx="0" cy="175"/>
            </a:xfrm>
            <a:prstGeom prst="line">
              <a:avLst/>
            </a:prstGeom>
            <a:noFill/>
            <a:ln w="28575">
              <a:solidFill>
                <a:srgbClr val="CC3399"/>
              </a:solidFill>
              <a:round/>
              <a:headEnd type="triangle" w="med" len="med"/>
              <a:tailEnd/>
            </a:ln>
            <a:effectLst>
              <a:outerShdw dist="12700" algn="ctr" rotWithShape="0">
                <a:schemeClr val="bg2"/>
              </a:outerShdw>
            </a:effectLst>
          </p:spPr>
          <p:txBody>
            <a:bodyPr wrap="none" anchor="ctr"/>
            <a:lstStyle/>
            <a:p>
              <a:pPr>
                <a:defRPr/>
              </a:pPr>
              <a:endParaRPr lang="zh-CN" altLang="en-US">
                <a:latin typeface="Arial" charset="0"/>
                <a:ea typeface="宋体" charset="-122"/>
              </a:endParaRPr>
            </a:p>
          </p:txBody>
        </p:sp>
        <p:sp>
          <p:nvSpPr>
            <p:cNvPr id="26635" name="Freeform 11"/>
            <p:cNvSpPr>
              <a:spLocks/>
            </p:cNvSpPr>
            <p:nvPr/>
          </p:nvSpPr>
          <p:spPr bwMode="auto">
            <a:xfrm>
              <a:off x="2781" y="1271"/>
              <a:ext cx="1831" cy="1307"/>
            </a:xfrm>
            <a:custGeom>
              <a:avLst/>
              <a:gdLst/>
              <a:ahLst/>
              <a:cxnLst>
                <a:cxn ang="0">
                  <a:pos x="1942" y="1430"/>
                </a:cxn>
                <a:cxn ang="0">
                  <a:pos x="1737" y="1412"/>
                </a:cxn>
                <a:cxn ang="0">
                  <a:pos x="1636" y="1396"/>
                </a:cxn>
                <a:cxn ang="0">
                  <a:pos x="1532" y="1373"/>
                </a:cxn>
                <a:cxn ang="0">
                  <a:pos x="1431" y="1342"/>
                </a:cxn>
                <a:cxn ang="0">
                  <a:pos x="1328" y="1298"/>
                </a:cxn>
                <a:cxn ang="0">
                  <a:pos x="1227" y="1238"/>
                </a:cxn>
                <a:cxn ang="0">
                  <a:pos x="1022" y="1073"/>
                </a:cxn>
                <a:cxn ang="0">
                  <a:pos x="818" y="838"/>
                </a:cxn>
                <a:cxn ang="0">
                  <a:pos x="613" y="559"/>
                </a:cxn>
                <a:cxn ang="0">
                  <a:pos x="512" y="416"/>
                </a:cxn>
                <a:cxn ang="0">
                  <a:pos x="409" y="282"/>
                </a:cxn>
                <a:cxn ang="0">
                  <a:pos x="308" y="166"/>
                </a:cxn>
                <a:cxn ang="0">
                  <a:pos x="204" y="78"/>
                </a:cxn>
                <a:cxn ang="0">
                  <a:pos x="103" y="21"/>
                </a:cxn>
                <a:cxn ang="0">
                  <a:pos x="0" y="0"/>
                </a:cxn>
              </a:cxnLst>
              <a:rect l="0" t="0" r="r" b="b"/>
              <a:pathLst>
                <a:path w="1942" h="1430">
                  <a:moveTo>
                    <a:pt x="1942" y="1430"/>
                  </a:moveTo>
                  <a:lnTo>
                    <a:pt x="1737" y="1412"/>
                  </a:lnTo>
                  <a:lnTo>
                    <a:pt x="1636" y="1396"/>
                  </a:lnTo>
                  <a:lnTo>
                    <a:pt x="1532" y="1373"/>
                  </a:lnTo>
                  <a:lnTo>
                    <a:pt x="1431" y="1342"/>
                  </a:lnTo>
                  <a:lnTo>
                    <a:pt x="1328" y="1298"/>
                  </a:lnTo>
                  <a:lnTo>
                    <a:pt x="1227" y="1238"/>
                  </a:lnTo>
                  <a:lnTo>
                    <a:pt x="1022" y="1073"/>
                  </a:lnTo>
                  <a:lnTo>
                    <a:pt x="818" y="838"/>
                  </a:lnTo>
                  <a:lnTo>
                    <a:pt x="613" y="559"/>
                  </a:lnTo>
                  <a:lnTo>
                    <a:pt x="512" y="416"/>
                  </a:lnTo>
                  <a:lnTo>
                    <a:pt x="409" y="282"/>
                  </a:lnTo>
                  <a:lnTo>
                    <a:pt x="308" y="166"/>
                  </a:lnTo>
                  <a:lnTo>
                    <a:pt x="204" y="78"/>
                  </a:lnTo>
                  <a:lnTo>
                    <a:pt x="103" y="21"/>
                  </a:lnTo>
                  <a:lnTo>
                    <a:pt x="0" y="0"/>
                  </a:lnTo>
                </a:path>
              </a:pathLst>
            </a:custGeom>
            <a:noFill/>
            <a:ln w="76200" cmpd="sng">
              <a:solidFill>
                <a:srgbClr val="FF00FF"/>
              </a:solidFill>
              <a:prstDash val="solid"/>
              <a:round/>
              <a:headEnd/>
              <a:tailEnd/>
            </a:ln>
            <a:effectLst>
              <a:outerShdw dist="38100" dir="5400000" algn="ctr" rotWithShape="0">
                <a:schemeClr val="bg2"/>
              </a:outerShdw>
            </a:effectLst>
          </p:spPr>
          <p:txBody>
            <a:bodyPr/>
            <a:lstStyle/>
            <a:p>
              <a:pPr>
                <a:defRPr/>
              </a:pPr>
              <a:endParaRPr lang="zh-CN" altLang="en-US">
                <a:latin typeface="Arial" charset="0"/>
                <a:ea typeface="宋体" charset="-122"/>
              </a:endParaRPr>
            </a:p>
          </p:txBody>
        </p:sp>
        <p:sp>
          <p:nvSpPr>
            <p:cNvPr id="26636" name="Freeform 12"/>
            <p:cNvSpPr>
              <a:spLocks/>
            </p:cNvSpPr>
            <p:nvPr/>
          </p:nvSpPr>
          <p:spPr bwMode="auto">
            <a:xfrm>
              <a:off x="1113" y="1271"/>
              <a:ext cx="1746" cy="1327"/>
            </a:xfrm>
            <a:custGeom>
              <a:avLst/>
              <a:gdLst/>
              <a:ahLst/>
              <a:cxnLst>
                <a:cxn ang="0">
                  <a:pos x="0" y="1430"/>
                </a:cxn>
                <a:cxn ang="0">
                  <a:pos x="205" y="1412"/>
                </a:cxn>
                <a:cxn ang="0">
                  <a:pos x="309" y="1396"/>
                </a:cxn>
                <a:cxn ang="0">
                  <a:pos x="410" y="1373"/>
                </a:cxn>
                <a:cxn ang="0">
                  <a:pos x="511" y="1342"/>
                </a:cxn>
                <a:cxn ang="0">
                  <a:pos x="614" y="1298"/>
                </a:cxn>
                <a:cxn ang="0">
                  <a:pos x="715" y="1238"/>
                </a:cxn>
                <a:cxn ang="0">
                  <a:pos x="922" y="1073"/>
                </a:cxn>
                <a:cxn ang="0">
                  <a:pos x="1124" y="838"/>
                </a:cxn>
                <a:cxn ang="0">
                  <a:pos x="1329" y="559"/>
                </a:cxn>
                <a:cxn ang="0">
                  <a:pos x="1432" y="416"/>
                </a:cxn>
                <a:cxn ang="0">
                  <a:pos x="1533" y="282"/>
                </a:cxn>
                <a:cxn ang="0">
                  <a:pos x="1637" y="166"/>
                </a:cxn>
                <a:cxn ang="0">
                  <a:pos x="1738" y="78"/>
                </a:cxn>
                <a:cxn ang="0">
                  <a:pos x="1842" y="21"/>
                </a:cxn>
                <a:cxn ang="0">
                  <a:pos x="1943" y="0"/>
                </a:cxn>
              </a:cxnLst>
              <a:rect l="0" t="0" r="r" b="b"/>
              <a:pathLst>
                <a:path w="1943" h="1430">
                  <a:moveTo>
                    <a:pt x="0" y="1430"/>
                  </a:moveTo>
                  <a:lnTo>
                    <a:pt x="205" y="1412"/>
                  </a:lnTo>
                  <a:lnTo>
                    <a:pt x="309" y="1396"/>
                  </a:lnTo>
                  <a:lnTo>
                    <a:pt x="410" y="1373"/>
                  </a:lnTo>
                  <a:lnTo>
                    <a:pt x="511" y="1342"/>
                  </a:lnTo>
                  <a:lnTo>
                    <a:pt x="614" y="1298"/>
                  </a:lnTo>
                  <a:lnTo>
                    <a:pt x="715" y="1238"/>
                  </a:lnTo>
                  <a:lnTo>
                    <a:pt x="922" y="1073"/>
                  </a:lnTo>
                  <a:lnTo>
                    <a:pt x="1124" y="838"/>
                  </a:lnTo>
                  <a:lnTo>
                    <a:pt x="1329" y="559"/>
                  </a:lnTo>
                  <a:lnTo>
                    <a:pt x="1432" y="416"/>
                  </a:lnTo>
                  <a:lnTo>
                    <a:pt x="1533" y="282"/>
                  </a:lnTo>
                  <a:lnTo>
                    <a:pt x="1637" y="166"/>
                  </a:lnTo>
                  <a:lnTo>
                    <a:pt x="1738" y="78"/>
                  </a:lnTo>
                  <a:lnTo>
                    <a:pt x="1842" y="21"/>
                  </a:lnTo>
                  <a:lnTo>
                    <a:pt x="1943" y="0"/>
                  </a:lnTo>
                </a:path>
              </a:pathLst>
            </a:custGeom>
            <a:noFill/>
            <a:ln w="76200" cmpd="sng">
              <a:solidFill>
                <a:srgbClr val="FF00FF"/>
              </a:solidFill>
              <a:prstDash val="solid"/>
              <a:round/>
              <a:headEnd/>
              <a:tailEnd/>
            </a:ln>
            <a:effectLst>
              <a:outerShdw dist="38100" dir="5400000" algn="ctr" rotWithShape="0">
                <a:schemeClr val="bg2"/>
              </a:outerShdw>
            </a:effectLst>
          </p:spPr>
          <p:txBody>
            <a:bodyPr/>
            <a:lstStyle/>
            <a:p>
              <a:pPr>
                <a:defRPr/>
              </a:pPr>
              <a:endParaRPr lang="zh-CN" altLang="en-US">
                <a:latin typeface="Arial" charset="0"/>
                <a:ea typeface="宋体" charset="-122"/>
              </a:endParaRPr>
            </a:p>
          </p:txBody>
        </p:sp>
        <p:sp>
          <p:nvSpPr>
            <p:cNvPr id="6170" name="Line 13"/>
            <p:cNvSpPr>
              <a:spLocks noChangeShapeType="1"/>
            </p:cNvSpPr>
            <p:nvPr/>
          </p:nvSpPr>
          <p:spPr bwMode="auto">
            <a:xfrm flipV="1">
              <a:off x="1027" y="1230"/>
              <a:ext cx="0" cy="1409"/>
            </a:xfrm>
            <a:prstGeom prst="line">
              <a:avLst/>
            </a:prstGeom>
            <a:noFill/>
            <a:ln w="38100">
              <a:solidFill>
                <a:schemeClr val="tx1"/>
              </a:solidFill>
              <a:miter lim="800000"/>
              <a:headEnd/>
              <a:tailEnd type="triangle" w="med" len="med"/>
            </a:ln>
          </p:spPr>
          <p:txBody>
            <a:bodyPr wrap="none"/>
            <a:lstStyle/>
            <a:p>
              <a:endParaRPr lang="zh-CN" altLang="en-US"/>
            </a:p>
          </p:txBody>
        </p:sp>
        <p:sp>
          <p:nvSpPr>
            <p:cNvPr id="6171" name="Line 14"/>
            <p:cNvSpPr>
              <a:spLocks noChangeShapeType="1"/>
            </p:cNvSpPr>
            <p:nvPr/>
          </p:nvSpPr>
          <p:spPr bwMode="auto">
            <a:xfrm>
              <a:off x="1027" y="2639"/>
              <a:ext cx="3764" cy="0"/>
            </a:xfrm>
            <a:prstGeom prst="line">
              <a:avLst/>
            </a:prstGeom>
            <a:noFill/>
            <a:ln w="38100">
              <a:solidFill>
                <a:schemeClr val="tx1"/>
              </a:solidFill>
              <a:miter lim="800000"/>
              <a:headEnd/>
              <a:tailEnd type="triangle" w="med" len="med"/>
            </a:ln>
          </p:spPr>
          <p:txBody>
            <a:bodyPr wrap="none"/>
            <a:lstStyle/>
            <a:p>
              <a:endParaRPr lang="zh-CN" altLang="en-US"/>
            </a:p>
          </p:txBody>
        </p:sp>
        <p:sp>
          <p:nvSpPr>
            <p:cNvPr id="26639" name="Line 15"/>
            <p:cNvSpPr>
              <a:spLocks noChangeShapeType="1"/>
            </p:cNvSpPr>
            <p:nvPr/>
          </p:nvSpPr>
          <p:spPr bwMode="auto">
            <a:xfrm>
              <a:off x="2010" y="2183"/>
              <a:ext cx="0" cy="456"/>
            </a:xfrm>
            <a:prstGeom prst="line">
              <a:avLst/>
            </a:prstGeom>
            <a:noFill/>
            <a:ln w="38100">
              <a:solidFill>
                <a:srgbClr val="CC0066"/>
              </a:solidFill>
              <a:round/>
              <a:headEnd/>
              <a:tailEnd/>
            </a:ln>
            <a:effectLst>
              <a:outerShdw dist="28398" dir="20006097" algn="ctr" rotWithShape="0">
                <a:schemeClr val="bg2"/>
              </a:outerShdw>
            </a:effectLst>
          </p:spPr>
          <p:txBody>
            <a:bodyPr wrap="none" anchor="ctr"/>
            <a:lstStyle/>
            <a:p>
              <a:pPr>
                <a:defRPr/>
              </a:pPr>
              <a:endParaRPr lang="zh-CN" altLang="en-US">
                <a:latin typeface="Arial" charset="0"/>
                <a:ea typeface="宋体" charset="-122"/>
              </a:endParaRPr>
            </a:p>
          </p:txBody>
        </p:sp>
        <p:sp>
          <p:nvSpPr>
            <p:cNvPr id="6173" name="Line 16"/>
            <p:cNvSpPr>
              <a:spLocks noChangeShapeType="1"/>
            </p:cNvSpPr>
            <p:nvPr/>
          </p:nvSpPr>
          <p:spPr bwMode="auto">
            <a:xfrm>
              <a:off x="3037" y="2307"/>
              <a:ext cx="599" cy="0"/>
            </a:xfrm>
            <a:prstGeom prst="line">
              <a:avLst/>
            </a:prstGeom>
            <a:noFill/>
            <a:ln w="38100">
              <a:solidFill>
                <a:schemeClr val="tx2"/>
              </a:solidFill>
              <a:miter lim="800000"/>
              <a:headEnd/>
              <a:tailEnd type="triangle" w="med" len="med"/>
            </a:ln>
          </p:spPr>
          <p:txBody>
            <a:bodyPr wrap="none"/>
            <a:lstStyle/>
            <a:p>
              <a:endParaRPr lang="zh-CN" altLang="en-US"/>
            </a:p>
          </p:txBody>
        </p:sp>
        <p:sp>
          <p:nvSpPr>
            <p:cNvPr id="6174" name="Line 17"/>
            <p:cNvSpPr>
              <a:spLocks noChangeShapeType="1"/>
            </p:cNvSpPr>
            <p:nvPr/>
          </p:nvSpPr>
          <p:spPr bwMode="auto">
            <a:xfrm flipH="1">
              <a:off x="2054" y="2307"/>
              <a:ext cx="1026" cy="0"/>
            </a:xfrm>
            <a:prstGeom prst="line">
              <a:avLst/>
            </a:prstGeom>
            <a:noFill/>
            <a:ln w="38100">
              <a:solidFill>
                <a:schemeClr val="tx2"/>
              </a:solidFill>
              <a:miter lim="800000"/>
              <a:headEnd/>
              <a:tailEnd type="triangle" w="med" len="med"/>
            </a:ln>
          </p:spPr>
          <p:txBody>
            <a:bodyPr wrap="none"/>
            <a:lstStyle/>
            <a:p>
              <a:endParaRPr lang="zh-CN" altLang="en-US"/>
            </a:p>
          </p:txBody>
        </p:sp>
        <p:sp>
          <p:nvSpPr>
            <p:cNvPr id="26642" name="Freeform 18"/>
            <p:cNvSpPr>
              <a:spLocks/>
            </p:cNvSpPr>
            <p:nvPr/>
          </p:nvSpPr>
          <p:spPr bwMode="auto">
            <a:xfrm>
              <a:off x="1155" y="2225"/>
              <a:ext cx="855" cy="414"/>
            </a:xfrm>
            <a:custGeom>
              <a:avLst/>
              <a:gdLst/>
              <a:ahLst/>
              <a:cxnLst>
                <a:cxn ang="0">
                  <a:pos x="1129" y="0"/>
                </a:cxn>
                <a:cxn ang="0">
                  <a:pos x="1129" y="735"/>
                </a:cxn>
                <a:cxn ang="0">
                  <a:pos x="0" y="735"/>
                </a:cxn>
                <a:cxn ang="0">
                  <a:pos x="124" y="698"/>
                </a:cxn>
                <a:cxn ang="0">
                  <a:pos x="246" y="657"/>
                </a:cxn>
                <a:cxn ang="0">
                  <a:pos x="362" y="610"/>
                </a:cxn>
                <a:cxn ang="0">
                  <a:pos x="474" y="559"/>
                </a:cxn>
                <a:cxn ang="0">
                  <a:pos x="580" y="504"/>
                </a:cxn>
                <a:cxn ang="0">
                  <a:pos x="681" y="442"/>
                </a:cxn>
                <a:cxn ang="0">
                  <a:pos x="774" y="378"/>
                </a:cxn>
                <a:cxn ang="0">
                  <a:pos x="860" y="308"/>
                </a:cxn>
                <a:cxn ang="0">
                  <a:pos x="940" y="236"/>
                </a:cxn>
                <a:cxn ang="0">
                  <a:pos x="1010" y="161"/>
                </a:cxn>
                <a:cxn ang="0">
                  <a:pos x="1074" y="81"/>
                </a:cxn>
                <a:cxn ang="0">
                  <a:pos x="1129" y="0"/>
                </a:cxn>
              </a:cxnLst>
              <a:rect l="0" t="0" r="r" b="b"/>
              <a:pathLst>
                <a:path w="1129" h="735">
                  <a:moveTo>
                    <a:pt x="1129" y="0"/>
                  </a:moveTo>
                  <a:lnTo>
                    <a:pt x="1129" y="735"/>
                  </a:lnTo>
                  <a:lnTo>
                    <a:pt x="0" y="735"/>
                  </a:lnTo>
                  <a:lnTo>
                    <a:pt x="124" y="698"/>
                  </a:lnTo>
                  <a:lnTo>
                    <a:pt x="246" y="657"/>
                  </a:lnTo>
                  <a:lnTo>
                    <a:pt x="362" y="610"/>
                  </a:lnTo>
                  <a:lnTo>
                    <a:pt x="474" y="559"/>
                  </a:lnTo>
                  <a:lnTo>
                    <a:pt x="580" y="504"/>
                  </a:lnTo>
                  <a:lnTo>
                    <a:pt x="681" y="442"/>
                  </a:lnTo>
                  <a:lnTo>
                    <a:pt x="774" y="378"/>
                  </a:lnTo>
                  <a:lnTo>
                    <a:pt x="860" y="308"/>
                  </a:lnTo>
                  <a:lnTo>
                    <a:pt x="940" y="236"/>
                  </a:lnTo>
                  <a:lnTo>
                    <a:pt x="1010" y="161"/>
                  </a:lnTo>
                  <a:lnTo>
                    <a:pt x="1074" y="81"/>
                  </a:lnTo>
                  <a:lnTo>
                    <a:pt x="1129" y="0"/>
                  </a:lnTo>
                  <a:close/>
                </a:path>
              </a:pathLst>
            </a:custGeom>
            <a:solidFill>
              <a:schemeClr val="accent1">
                <a:lumMod val="60000"/>
                <a:lumOff val="40000"/>
              </a:schemeClr>
            </a:solidFill>
            <a:ln w="9525">
              <a:noFill/>
              <a:round/>
              <a:headEnd/>
              <a:tailEnd/>
            </a:ln>
            <a:effectLst>
              <a:outerShdw algn="ctr" rotWithShape="0">
                <a:srgbClr val="808080"/>
              </a:outerShdw>
            </a:effectLst>
          </p:spPr>
          <p:txBody>
            <a:bodyPr/>
            <a:lstStyle/>
            <a:p>
              <a:pPr>
                <a:defRPr/>
              </a:pPr>
              <a:endParaRPr lang="zh-CN" altLang="en-US">
                <a:latin typeface="Arial" charset="0"/>
                <a:ea typeface="宋体" charset="-122"/>
              </a:endParaRPr>
            </a:p>
          </p:txBody>
        </p:sp>
        <p:sp>
          <p:nvSpPr>
            <p:cNvPr id="26643" name="Freeform 19"/>
            <p:cNvSpPr>
              <a:spLocks/>
            </p:cNvSpPr>
            <p:nvPr/>
          </p:nvSpPr>
          <p:spPr bwMode="auto">
            <a:xfrm>
              <a:off x="3678" y="2225"/>
              <a:ext cx="899" cy="414"/>
            </a:xfrm>
            <a:custGeom>
              <a:avLst/>
              <a:gdLst/>
              <a:ahLst/>
              <a:cxnLst>
                <a:cxn ang="0">
                  <a:pos x="0" y="0"/>
                </a:cxn>
                <a:cxn ang="0">
                  <a:pos x="0" y="734"/>
                </a:cxn>
                <a:cxn ang="0">
                  <a:pos x="1129" y="734"/>
                </a:cxn>
                <a:cxn ang="0">
                  <a:pos x="1002" y="700"/>
                </a:cxn>
                <a:cxn ang="0">
                  <a:pos x="880" y="659"/>
                </a:cxn>
                <a:cxn ang="0">
                  <a:pos x="764" y="612"/>
                </a:cxn>
                <a:cxn ang="0">
                  <a:pos x="652" y="561"/>
                </a:cxn>
                <a:cxn ang="0">
                  <a:pos x="546" y="504"/>
                </a:cxn>
                <a:cxn ang="0">
                  <a:pos x="445" y="444"/>
                </a:cxn>
                <a:cxn ang="0">
                  <a:pos x="352" y="380"/>
                </a:cxn>
                <a:cxn ang="0">
                  <a:pos x="267" y="310"/>
                </a:cxn>
                <a:cxn ang="0">
                  <a:pos x="189" y="237"/>
                </a:cxn>
                <a:cxn ang="0">
                  <a:pos x="116" y="162"/>
                </a:cxn>
                <a:cxn ang="0">
                  <a:pos x="54" y="82"/>
                </a:cxn>
                <a:cxn ang="0">
                  <a:pos x="0" y="0"/>
                </a:cxn>
              </a:cxnLst>
              <a:rect l="0" t="0" r="r" b="b"/>
              <a:pathLst>
                <a:path w="1129" h="734">
                  <a:moveTo>
                    <a:pt x="0" y="0"/>
                  </a:moveTo>
                  <a:lnTo>
                    <a:pt x="0" y="734"/>
                  </a:lnTo>
                  <a:lnTo>
                    <a:pt x="1129" y="734"/>
                  </a:lnTo>
                  <a:lnTo>
                    <a:pt x="1002" y="700"/>
                  </a:lnTo>
                  <a:lnTo>
                    <a:pt x="880" y="659"/>
                  </a:lnTo>
                  <a:lnTo>
                    <a:pt x="764" y="612"/>
                  </a:lnTo>
                  <a:lnTo>
                    <a:pt x="652" y="561"/>
                  </a:lnTo>
                  <a:lnTo>
                    <a:pt x="546" y="504"/>
                  </a:lnTo>
                  <a:lnTo>
                    <a:pt x="445" y="444"/>
                  </a:lnTo>
                  <a:lnTo>
                    <a:pt x="352" y="380"/>
                  </a:lnTo>
                  <a:lnTo>
                    <a:pt x="267" y="310"/>
                  </a:lnTo>
                  <a:lnTo>
                    <a:pt x="189" y="237"/>
                  </a:lnTo>
                  <a:lnTo>
                    <a:pt x="116" y="162"/>
                  </a:lnTo>
                  <a:lnTo>
                    <a:pt x="54" y="82"/>
                  </a:lnTo>
                  <a:lnTo>
                    <a:pt x="0" y="0"/>
                  </a:lnTo>
                  <a:close/>
                </a:path>
              </a:pathLst>
            </a:custGeom>
            <a:solidFill>
              <a:schemeClr val="accent1">
                <a:lumMod val="60000"/>
                <a:lumOff val="40000"/>
              </a:schemeClr>
            </a:solidFill>
            <a:ln w="9525">
              <a:noFill/>
              <a:round/>
              <a:headEnd/>
              <a:tailEnd/>
            </a:ln>
            <a:effectLst>
              <a:outerShdw algn="ctr" rotWithShape="0">
                <a:srgbClr val="808080"/>
              </a:outerShdw>
            </a:effectLst>
          </p:spPr>
          <p:txBody>
            <a:bodyPr/>
            <a:lstStyle/>
            <a:p>
              <a:pPr>
                <a:defRPr/>
              </a:pPr>
              <a:endParaRPr lang="zh-CN" altLang="en-US">
                <a:latin typeface="Arial" charset="0"/>
                <a:ea typeface="宋体" charset="-122"/>
              </a:endParaRPr>
            </a:p>
          </p:txBody>
        </p:sp>
        <p:sp>
          <p:nvSpPr>
            <p:cNvPr id="26644" name="Line 20"/>
            <p:cNvSpPr>
              <a:spLocks noChangeShapeType="1"/>
            </p:cNvSpPr>
            <p:nvPr/>
          </p:nvSpPr>
          <p:spPr bwMode="auto">
            <a:xfrm>
              <a:off x="2823" y="2639"/>
              <a:ext cx="0" cy="175"/>
            </a:xfrm>
            <a:prstGeom prst="line">
              <a:avLst/>
            </a:prstGeom>
            <a:noFill/>
            <a:ln w="28575">
              <a:solidFill>
                <a:srgbClr val="CC3399"/>
              </a:solidFill>
              <a:round/>
              <a:headEnd type="triangle" w="med" len="med"/>
              <a:tailEnd/>
            </a:ln>
            <a:effectLst>
              <a:outerShdw dist="12700" algn="ctr" rotWithShape="0">
                <a:schemeClr val="bg2"/>
              </a:outerShdw>
            </a:effectLst>
          </p:spPr>
          <p:txBody>
            <a:bodyPr wrap="none" anchor="ctr"/>
            <a:lstStyle/>
            <a:p>
              <a:pPr>
                <a:defRPr/>
              </a:pPr>
              <a:endParaRPr lang="zh-CN" altLang="en-US">
                <a:latin typeface="Arial" charset="0"/>
                <a:ea typeface="宋体" charset="-122"/>
              </a:endParaRPr>
            </a:p>
          </p:txBody>
        </p:sp>
        <p:sp>
          <p:nvSpPr>
            <p:cNvPr id="26645" name="Line 21"/>
            <p:cNvSpPr>
              <a:spLocks noChangeShapeType="1"/>
            </p:cNvSpPr>
            <p:nvPr/>
          </p:nvSpPr>
          <p:spPr bwMode="auto">
            <a:xfrm flipH="1">
              <a:off x="3936" y="2225"/>
              <a:ext cx="342" cy="312"/>
            </a:xfrm>
            <a:prstGeom prst="line">
              <a:avLst/>
            </a:prstGeom>
            <a:noFill/>
            <a:ln w="25400">
              <a:solidFill>
                <a:schemeClr val="tx2"/>
              </a:solidFill>
              <a:round/>
              <a:headEnd/>
              <a:tailEnd type="triangle" w="med" len="med"/>
            </a:ln>
            <a:effectLst>
              <a:outerShdw algn="ctr" rotWithShape="0">
                <a:schemeClr val="bg2"/>
              </a:outerShdw>
            </a:effectLst>
          </p:spPr>
          <p:txBody>
            <a:bodyPr wrap="none" anchor="ctr"/>
            <a:lstStyle/>
            <a:p>
              <a:pPr>
                <a:defRPr/>
              </a:pPr>
              <a:endParaRPr lang="zh-CN" altLang="en-US">
                <a:latin typeface="Arial" charset="0"/>
                <a:ea typeface="宋体" charset="-122"/>
              </a:endParaRPr>
            </a:p>
          </p:txBody>
        </p:sp>
        <p:sp>
          <p:nvSpPr>
            <p:cNvPr id="26646" name="Line 22"/>
            <p:cNvSpPr>
              <a:spLocks noChangeShapeType="1"/>
            </p:cNvSpPr>
            <p:nvPr/>
          </p:nvSpPr>
          <p:spPr bwMode="auto">
            <a:xfrm>
              <a:off x="1541" y="2225"/>
              <a:ext cx="300" cy="291"/>
            </a:xfrm>
            <a:prstGeom prst="line">
              <a:avLst/>
            </a:prstGeom>
            <a:noFill/>
            <a:ln w="25400">
              <a:solidFill>
                <a:schemeClr val="tx2"/>
              </a:solidFill>
              <a:round/>
              <a:headEnd/>
              <a:tailEnd type="triangle" w="med" len="med"/>
            </a:ln>
            <a:effectLst>
              <a:outerShdw algn="ctr" rotWithShape="0">
                <a:schemeClr val="bg2"/>
              </a:outerShdw>
            </a:effectLst>
          </p:spPr>
          <p:txBody>
            <a:bodyPr wrap="none" anchor="ctr"/>
            <a:lstStyle/>
            <a:p>
              <a:pPr>
                <a:defRPr/>
              </a:pPr>
              <a:endParaRPr lang="zh-CN" altLang="en-US">
                <a:latin typeface="Arial" charset="0"/>
                <a:ea typeface="宋体" charset="-122"/>
              </a:endParaRPr>
            </a:p>
          </p:txBody>
        </p:sp>
        <p:sp>
          <p:nvSpPr>
            <p:cNvPr id="6180" name="Line 23"/>
            <p:cNvSpPr>
              <a:spLocks noChangeShapeType="1"/>
            </p:cNvSpPr>
            <p:nvPr/>
          </p:nvSpPr>
          <p:spPr bwMode="auto">
            <a:xfrm flipH="1">
              <a:off x="3180" y="1273"/>
              <a:ext cx="425" cy="184"/>
            </a:xfrm>
            <a:prstGeom prst="line">
              <a:avLst/>
            </a:prstGeom>
            <a:noFill/>
            <a:ln w="28575">
              <a:solidFill>
                <a:schemeClr val="tx2"/>
              </a:solidFill>
              <a:miter lim="800000"/>
              <a:headEnd/>
              <a:tailEnd type="triangle" w="med" len="med"/>
            </a:ln>
          </p:spPr>
          <p:txBody>
            <a:bodyPr wrap="none"/>
            <a:lstStyle/>
            <a:p>
              <a:endParaRPr lang="zh-CN" altLang="en-US"/>
            </a:p>
          </p:txBody>
        </p:sp>
        <p:sp>
          <p:nvSpPr>
            <p:cNvPr id="26648" name="Text Box 24"/>
            <p:cNvSpPr txBox="1">
              <a:spLocks noChangeArrowheads="1"/>
            </p:cNvSpPr>
            <p:nvPr/>
          </p:nvSpPr>
          <p:spPr bwMode="auto">
            <a:xfrm>
              <a:off x="2589" y="2844"/>
              <a:ext cx="426" cy="296"/>
            </a:xfrm>
            <a:prstGeom prst="rect">
              <a:avLst/>
            </a:prstGeom>
            <a:noFill/>
            <a:ln w="12700">
              <a:solidFill>
                <a:srgbClr val="008000"/>
              </a:solidFill>
              <a:miter lim="800000"/>
              <a:headEnd/>
              <a:tailEnd/>
            </a:ln>
            <a:effectLst/>
          </p:spPr>
          <p:txBody>
            <a:bodyPr>
              <a:spAutoFit/>
            </a:bodyPr>
            <a:lstStyle/>
            <a:p>
              <a:pPr eaLnBrk="0" hangingPunct="0">
                <a:spcBef>
                  <a:spcPct val="50000"/>
                </a:spcBef>
                <a:defRPr/>
              </a:pPr>
              <a:r>
                <a:rPr kumimoji="1" lang="en-US" altLang="zh-CN" sz="2000" b="1" dirty="0">
                  <a:solidFill>
                    <a:srgbClr val="FF33CC"/>
                  </a:solidFill>
                  <a:effectLst>
                    <a:outerShdw blurRad="38100" dist="38100" dir="2700000" algn="tl">
                      <a:srgbClr val="000000"/>
                    </a:outerShdw>
                  </a:effectLst>
                  <a:latin typeface="Times New Roman" pitchFamily="18" charset="0"/>
                  <a:ea typeface="宋体" charset="-122"/>
                </a:rPr>
                <a:t>   </a:t>
              </a:r>
              <a:r>
                <a:rPr kumimoji="1" lang="el-GR" altLang="zh-CN" sz="2400" b="1" i="1" dirty="0">
                  <a:solidFill>
                    <a:srgbClr val="FF33CC"/>
                  </a:solidFill>
                  <a:effectLst>
                    <a:outerShdw blurRad="38100" dist="38100" dir="2700000" algn="tl">
                      <a:srgbClr val="000000"/>
                    </a:outerShdw>
                  </a:effectLst>
                  <a:latin typeface="Times New Roman" pitchFamily="18" charset="0"/>
                  <a:ea typeface="宋体" charset="-122"/>
                  <a:cs typeface="Times New Roman" pitchFamily="18" charset="0"/>
                </a:rPr>
                <a:t>θ</a:t>
              </a:r>
              <a:r>
                <a:rPr kumimoji="1" lang="en-US" altLang="zh-CN" sz="2000" b="1" baseline="-25000" dirty="0">
                  <a:solidFill>
                    <a:srgbClr val="FF33CC"/>
                  </a:solidFill>
                  <a:latin typeface="Times New Roman" pitchFamily="18" charset="0"/>
                  <a:ea typeface="宋体" charset="-122"/>
                </a:rPr>
                <a:t>0</a:t>
              </a:r>
              <a:endParaRPr kumimoji="1" lang="en-US" altLang="zh-CN" sz="2000" b="1" dirty="0">
                <a:solidFill>
                  <a:srgbClr val="FF33CC"/>
                </a:solidFill>
                <a:effectLst>
                  <a:outerShdw blurRad="38100" dist="38100" dir="2700000" algn="tl">
                    <a:srgbClr val="000000"/>
                  </a:outerShdw>
                </a:effectLst>
                <a:latin typeface="Times New Roman" pitchFamily="18" charset="0"/>
                <a:ea typeface="宋体" charset="-122"/>
              </a:endParaRPr>
            </a:p>
          </p:txBody>
        </p:sp>
        <p:sp>
          <p:nvSpPr>
            <p:cNvPr id="6182" name="Text Box 25"/>
            <p:cNvSpPr txBox="1">
              <a:spLocks noChangeArrowheads="1"/>
            </p:cNvSpPr>
            <p:nvPr/>
          </p:nvSpPr>
          <p:spPr bwMode="auto">
            <a:xfrm>
              <a:off x="1668" y="2796"/>
              <a:ext cx="612" cy="239"/>
            </a:xfrm>
            <a:prstGeom prst="rect">
              <a:avLst/>
            </a:prstGeom>
            <a:solidFill>
              <a:srgbClr val="FFFF9B"/>
            </a:solidFill>
            <a:ln w="12700">
              <a:solidFill>
                <a:srgbClr val="FF33CC"/>
              </a:solidFill>
              <a:miter lim="800000"/>
              <a:headEnd/>
              <a:tailEnd/>
            </a:ln>
          </p:spPr>
          <p:txBody>
            <a:bodyPr>
              <a:spAutoFit/>
            </a:bodyPr>
            <a:lstStyle/>
            <a:p>
              <a:pPr algn="ctr" eaLnBrk="0" hangingPunct="0">
                <a:spcBef>
                  <a:spcPct val="50000"/>
                </a:spcBef>
              </a:pPr>
              <a:r>
                <a:rPr kumimoji="1" lang="zh-CN" altLang="en-US" b="1">
                  <a:solidFill>
                    <a:srgbClr val="000000"/>
                  </a:solidFill>
                </a:rPr>
                <a:t>临界值</a:t>
              </a:r>
            </a:p>
          </p:txBody>
        </p:sp>
        <p:sp>
          <p:nvSpPr>
            <p:cNvPr id="6183" name="Text Box 26"/>
            <p:cNvSpPr txBox="1">
              <a:spLocks noChangeArrowheads="1"/>
            </p:cNvSpPr>
            <p:nvPr/>
          </p:nvSpPr>
          <p:spPr bwMode="auto">
            <a:xfrm>
              <a:off x="3444" y="2820"/>
              <a:ext cx="612" cy="239"/>
            </a:xfrm>
            <a:prstGeom prst="rect">
              <a:avLst/>
            </a:prstGeom>
            <a:solidFill>
              <a:srgbClr val="FFFF9B"/>
            </a:solidFill>
            <a:ln w="12700" algn="ctr">
              <a:solidFill>
                <a:srgbClr val="FF33CC"/>
              </a:solidFill>
              <a:miter lim="800000"/>
              <a:headEnd/>
              <a:tailEnd/>
            </a:ln>
          </p:spPr>
          <p:txBody>
            <a:bodyPr>
              <a:spAutoFit/>
            </a:bodyPr>
            <a:lstStyle/>
            <a:p>
              <a:pPr algn="ctr" eaLnBrk="0" hangingPunct="0">
                <a:spcBef>
                  <a:spcPct val="50000"/>
                </a:spcBef>
              </a:pPr>
              <a:r>
                <a:rPr kumimoji="1" lang="zh-CN" altLang="en-US" b="1">
                  <a:solidFill>
                    <a:srgbClr val="000000"/>
                  </a:solidFill>
                </a:rPr>
                <a:t>临界值</a:t>
              </a:r>
            </a:p>
          </p:txBody>
        </p:sp>
      </p:grpSp>
      <p:sp>
        <p:nvSpPr>
          <p:cNvPr id="6150" name="Text Box 37"/>
          <p:cNvSpPr txBox="1">
            <a:spLocks noChangeArrowheads="1"/>
          </p:cNvSpPr>
          <p:nvPr/>
        </p:nvSpPr>
        <p:spPr bwMode="auto">
          <a:xfrm>
            <a:off x="9083675" y="4384676"/>
            <a:ext cx="1562100" cy="396875"/>
          </a:xfrm>
          <a:prstGeom prst="rect">
            <a:avLst/>
          </a:prstGeom>
          <a:noFill/>
          <a:ln w="12700">
            <a:noFill/>
            <a:miter lim="800000"/>
            <a:headEnd/>
            <a:tailEnd/>
          </a:ln>
        </p:spPr>
        <p:txBody>
          <a:bodyPr>
            <a:spAutoFit/>
          </a:bodyPr>
          <a:lstStyle/>
          <a:p>
            <a:pPr eaLnBrk="0" hangingPunct="0">
              <a:spcBef>
                <a:spcPct val="50000"/>
              </a:spcBef>
            </a:pPr>
            <a:r>
              <a:rPr kumimoji="1" lang="zh-CN" altLang="en-US" sz="2000" b="1">
                <a:solidFill>
                  <a:srgbClr val="3333FF"/>
                </a:solidFill>
              </a:rPr>
              <a:t>检验统计量</a:t>
            </a:r>
          </a:p>
        </p:txBody>
      </p:sp>
      <p:grpSp>
        <p:nvGrpSpPr>
          <p:cNvPr id="6151" name="Group 40"/>
          <p:cNvGrpSpPr>
            <a:grpSpLocks/>
          </p:cNvGrpSpPr>
          <p:nvPr/>
        </p:nvGrpSpPr>
        <p:grpSpPr bwMode="auto">
          <a:xfrm>
            <a:off x="2962275" y="5103813"/>
            <a:ext cx="6610350" cy="827087"/>
            <a:chOff x="748" y="3067"/>
            <a:chExt cx="4164" cy="521"/>
          </a:xfrm>
        </p:grpSpPr>
        <p:sp>
          <p:nvSpPr>
            <p:cNvPr id="6152" name="Line 28"/>
            <p:cNvSpPr>
              <a:spLocks noChangeShapeType="1"/>
            </p:cNvSpPr>
            <p:nvPr/>
          </p:nvSpPr>
          <p:spPr bwMode="auto">
            <a:xfrm>
              <a:off x="1996" y="3067"/>
              <a:ext cx="0" cy="444"/>
            </a:xfrm>
            <a:prstGeom prst="line">
              <a:avLst/>
            </a:prstGeom>
            <a:noFill/>
            <a:ln w="38100">
              <a:solidFill>
                <a:srgbClr val="CC0099"/>
              </a:solidFill>
              <a:round/>
              <a:headEnd/>
              <a:tailEnd/>
            </a:ln>
          </p:spPr>
          <p:txBody>
            <a:bodyPr/>
            <a:lstStyle/>
            <a:p>
              <a:endParaRPr lang="zh-CN" altLang="en-US"/>
            </a:p>
          </p:txBody>
        </p:sp>
        <p:sp>
          <p:nvSpPr>
            <p:cNvPr id="6153" name="Line 29"/>
            <p:cNvSpPr>
              <a:spLocks noChangeShapeType="1"/>
            </p:cNvSpPr>
            <p:nvPr/>
          </p:nvSpPr>
          <p:spPr bwMode="auto">
            <a:xfrm>
              <a:off x="3676" y="3103"/>
              <a:ext cx="0" cy="444"/>
            </a:xfrm>
            <a:prstGeom prst="line">
              <a:avLst/>
            </a:prstGeom>
            <a:noFill/>
            <a:ln w="38100">
              <a:solidFill>
                <a:srgbClr val="CC0099"/>
              </a:solidFill>
              <a:round/>
              <a:headEnd/>
              <a:tailEnd/>
            </a:ln>
          </p:spPr>
          <p:txBody>
            <a:bodyPr/>
            <a:lstStyle/>
            <a:p>
              <a:endParaRPr lang="zh-CN" altLang="en-US"/>
            </a:p>
          </p:txBody>
        </p:sp>
        <p:sp>
          <p:nvSpPr>
            <p:cNvPr id="6154" name="Line 30"/>
            <p:cNvSpPr>
              <a:spLocks noChangeShapeType="1"/>
            </p:cNvSpPr>
            <p:nvPr/>
          </p:nvSpPr>
          <p:spPr bwMode="auto">
            <a:xfrm flipV="1">
              <a:off x="2824" y="3295"/>
              <a:ext cx="840" cy="0"/>
            </a:xfrm>
            <a:prstGeom prst="line">
              <a:avLst/>
            </a:prstGeom>
            <a:noFill/>
            <a:ln w="38100">
              <a:solidFill>
                <a:srgbClr val="336600"/>
              </a:solidFill>
              <a:round/>
              <a:headEnd/>
              <a:tailEnd type="triangle" w="med" len="med"/>
            </a:ln>
          </p:spPr>
          <p:txBody>
            <a:bodyPr/>
            <a:lstStyle/>
            <a:p>
              <a:endParaRPr lang="zh-CN" altLang="en-US"/>
            </a:p>
          </p:txBody>
        </p:sp>
        <p:sp>
          <p:nvSpPr>
            <p:cNvPr id="6155" name="Line 31"/>
            <p:cNvSpPr>
              <a:spLocks noChangeShapeType="1"/>
            </p:cNvSpPr>
            <p:nvPr/>
          </p:nvSpPr>
          <p:spPr bwMode="auto">
            <a:xfrm flipH="1">
              <a:off x="2032" y="3295"/>
              <a:ext cx="780" cy="0"/>
            </a:xfrm>
            <a:prstGeom prst="line">
              <a:avLst/>
            </a:prstGeom>
            <a:noFill/>
            <a:ln w="38100">
              <a:solidFill>
                <a:srgbClr val="336600"/>
              </a:solidFill>
              <a:round/>
              <a:headEnd/>
              <a:tailEnd type="triangle" w="med" len="med"/>
            </a:ln>
          </p:spPr>
          <p:txBody>
            <a:bodyPr/>
            <a:lstStyle/>
            <a:p>
              <a:endParaRPr lang="zh-CN" altLang="en-US"/>
            </a:p>
          </p:txBody>
        </p:sp>
        <p:sp>
          <p:nvSpPr>
            <p:cNvPr id="6156" name="Line 33"/>
            <p:cNvSpPr>
              <a:spLocks noChangeShapeType="1"/>
            </p:cNvSpPr>
            <p:nvPr/>
          </p:nvSpPr>
          <p:spPr bwMode="auto">
            <a:xfrm flipH="1">
              <a:off x="1156" y="3451"/>
              <a:ext cx="816" cy="0"/>
            </a:xfrm>
            <a:prstGeom prst="line">
              <a:avLst/>
            </a:prstGeom>
            <a:noFill/>
            <a:ln w="38100">
              <a:solidFill>
                <a:schemeClr val="tx1"/>
              </a:solidFill>
              <a:round/>
              <a:headEnd/>
              <a:tailEnd type="triangle" w="med" len="med"/>
            </a:ln>
          </p:spPr>
          <p:txBody>
            <a:bodyPr/>
            <a:lstStyle/>
            <a:p>
              <a:endParaRPr lang="zh-CN" altLang="en-US"/>
            </a:p>
          </p:txBody>
        </p:sp>
        <p:sp>
          <p:nvSpPr>
            <p:cNvPr id="6157" name="Line 34"/>
            <p:cNvSpPr>
              <a:spLocks noChangeShapeType="1"/>
            </p:cNvSpPr>
            <p:nvPr/>
          </p:nvSpPr>
          <p:spPr bwMode="auto">
            <a:xfrm flipV="1">
              <a:off x="3664" y="3439"/>
              <a:ext cx="912" cy="0"/>
            </a:xfrm>
            <a:prstGeom prst="line">
              <a:avLst/>
            </a:prstGeom>
            <a:noFill/>
            <a:ln w="38100">
              <a:solidFill>
                <a:schemeClr val="tx1"/>
              </a:solidFill>
              <a:round/>
              <a:headEnd/>
              <a:tailEnd type="triangle" w="med" len="med"/>
            </a:ln>
          </p:spPr>
          <p:txBody>
            <a:bodyPr/>
            <a:lstStyle/>
            <a:p>
              <a:endParaRPr lang="zh-CN" altLang="en-US"/>
            </a:p>
          </p:txBody>
        </p:sp>
        <p:sp>
          <p:nvSpPr>
            <p:cNvPr id="6158" name="Text Box 35"/>
            <p:cNvSpPr txBox="1">
              <a:spLocks noChangeArrowheads="1"/>
            </p:cNvSpPr>
            <p:nvPr/>
          </p:nvSpPr>
          <p:spPr bwMode="auto">
            <a:xfrm>
              <a:off x="748" y="3151"/>
              <a:ext cx="1188" cy="258"/>
            </a:xfrm>
            <a:prstGeom prst="rect">
              <a:avLst/>
            </a:prstGeom>
            <a:solidFill>
              <a:schemeClr val="accent1">
                <a:lumMod val="40000"/>
                <a:lumOff val="60000"/>
              </a:schemeClr>
            </a:solidFill>
            <a:ln w="12700">
              <a:solidFill>
                <a:srgbClr val="CC0099"/>
              </a:solidFill>
              <a:miter lim="800000"/>
              <a:headEnd/>
              <a:tailEnd/>
            </a:ln>
          </p:spPr>
          <p:txBody>
            <a:bodyPr>
              <a:spAutoFit/>
            </a:bodyPr>
            <a:lstStyle/>
            <a:p>
              <a:pPr algn="ctr" eaLnBrk="0" hangingPunct="0">
                <a:spcBef>
                  <a:spcPct val="50000"/>
                </a:spcBef>
              </a:pPr>
              <a:r>
                <a:rPr kumimoji="1" lang="en-US" altLang="zh-CN" sz="2000" b="1">
                  <a:solidFill>
                    <a:schemeClr val="tx2"/>
                  </a:solidFill>
                </a:rPr>
                <a:t>H</a:t>
              </a:r>
              <a:r>
                <a:rPr kumimoji="1" lang="en-US" altLang="zh-CN" sz="2000" b="1" baseline="-20000">
                  <a:solidFill>
                    <a:schemeClr val="tx2"/>
                  </a:solidFill>
                </a:rPr>
                <a:t>O</a:t>
              </a:r>
              <a:r>
                <a:rPr kumimoji="1" lang="zh-CN" altLang="en-US" sz="2000" b="1">
                  <a:solidFill>
                    <a:schemeClr val="tx2"/>
                  </a:solidFill>
                </a:rPr>
                <a:t>的拒绝区域</a:t>
              </a:r>
            </a:p>
          </p:txBody>
        </p:sp>
        <p:sp>
          <p:nvSpPr>
            <p:cNvPr id="6159" name="Text Box 36"/>
            <p:cNvSpPr txBox="1">
              <a:spLocks noChangeArrowheads="1"/>
            </p:cNvSpPr>
            <p:nvPr/>
          </p:nvSpPr>
          <p:spPr bwMode="auto">
            <a:xfrm>
              <a:off x="3724" y="3139"/>
              <a:ext cx="1188" cy="258"/>
            </a:xfrm>
            <a:prstGeom prst="rect">
              <a:avLst/>
            </a:prstGeom>
            <a:solidFill>
              <a:schemeClr val="accent1">
                <a:lumMod val="40000"/>
                <a:lumOff val="60000"/>
              </a:schemeClr>
            </a:solidFill>
            <a:ln w="12700">
              <a:solidFill>
                <a:srgbClr val="CC0099"/>
              </a:solidFill>
              <a:miter lim="800000"/>
              <a:headEnd/>
              <a:tailEnd/>
            </a:ln>
          </p:spPr>
          <p:txBody>
            <a:bodyPr>
              <a:spAutoFit/>
            </a:bodyPr>
            <a:lstStyle/>
            <a:p>
              <a:pPr algn="ctr" eaLnBrk="0" hangingPunct="0">
                <a:spcBef>
                  <a:spcPct val="50000"/>
                </a:spcBef>
              </a:pPr>
              <a:r>
                <a:rPr kumimoji="1" lang="en-US" altLang="zh-CN" sz="2000" b="1" dirty="0">
                  <a:solidFill>
                    <a:schemeClr val="tx2"/>
                  </a:solidFill>
                </a:rPr>
                <a:t>H</a:t>
              </a:r>
              <a:r>
                <a:rPr kumimoji="1" lang="en-US" altLang="zh-CN" sz="2000" b="1" baseline="-20000" dirty="0">
                  <a:solidFill>
                    <a:schemeClr val="tx2"/>
                  </a:solidFill>
                </a:rPr>
                <a:t>O</a:t>
              </a:r>
              <a:r>
                <a:rPr kumimoji="1" lang="zh-CN" altLang="en-US" sz="2000" b="1" dirty="0">
                  <a:solidFill>
                    <a:schemeClr val="tx2"/>
                  </a:solidFill>
                </a:rPr>
                <a:t>的拒绝区域</a:t>
              </a:r>
            </a:p>
          </p:txBody>
        </p:sp>
        <p:sp>
          <p:nvSpPr>
            <p:cNvPr id="6160" name="Text Box 38"/>
            <p:cNvSpPr txBox="1">
              <a:spLocks noChangeArrowheads="1"/>
            </p:cNvSpPr>
            <p:nvPr/>
          </p:nvSpPr>
          <p:spPr bwMode="auto">
            <a:xfrm>
              <a:off x="2074" y="3351"/>
              <a:ext cx="1542" cy="237"/>
            </a:xfrm>
            <a:prstGeom prst="rect">
              <a:avLst/>
            </a:prstGeom>
            <a:noFill/>
            <a:ln w="9525">
              <a:solidFill>
                <a:srgbClr val="008000"/>
              </a:solidFill>
              <a:miter lim="800000"/>
              <a:headEnd/>
              <a:tailEnd/>
            </a:ln>
          </p:spPr>
          <p:txBody>
            <a:bodyPr>
              <a:spAutoFit/>
            </a:bodyPr>
            <a:lstStyle/>
            <a:p>
              <a:pPr algn="ctr" eaLnBrk="0" hangingPunct="0">
                <a:spcBef>
                  <a:spcPct val="50000"/>
                </a:spcBef>
              </a:pPr>
              <a:r>
                <a:rPr kumimoji="1" lang="en-US" altLang="zh-CN" b="1" dirty="0">
                  <a:solidFill>
                    <a:schemeClr val="tx2"/>
                  </a:solidFill>
                </a:rPr>
                <a:t>(</a:t>
              </a:r>
              <a:r>
                <a:rPr kumimoji="1" lang="zh-CN" altLang="en-US" b="1" dirty="0">
                  <a:solidFill>
                    <a:schemeClr val="tx2"/>
                  </a:solidFill>
                </a:rPr>
                <a:t>不能拒绝</a:t>
              </a:r>
              <a:r>
                <a:rPr kumimoji="1" lang="en-US" altLang="zh-CN" b="1" dirty="0">
                  <a:solidFill>
                    <a:schemeClr val="tx2"/>
                  </a:solidFill>
                </a:rPr>
                <a:t>H</a:t>
              </a:r>
              <a:r>
                <a:rPr kumimoji="1" lang="en-US" altLang="zh-CN" b="1" baseline="-25000" dirty="0">
                  <a:solidFill>
                    <a:schemeClr val="tx2"/>
                  </a:solidFill>
                </a:rPr>
                <a:t>O</a:t>
              </a:r>
              <a:r>
                <a:rPr kumimoji="1" lang="zh-CN" altLang="en-US" b="1" dirty="0">
                  <a:solidFill>
                    <a:schemeClr val="tx2"/>
                  </a:solidFill>
                </a:rPr>
                <a:t>的区域</a:t>
              </a:r>
              <a:r>
                <a:rPr kumimoji="1" lang="en-US" altLang="zh-CN" b="1" dirty="0">
                  <a:solidFill>
                    <a:schemeClr val="tx2"/>
                  </a:solidFill>
                </a:rPr>
                <a:t>)</a:t>
              </a:r>
              <a:endParaRPr lang="en-US" altLang="zh-CN" b="1" dirty="0"/>
            </a:p>
          </p:txBody>
        </p:sp>
      </p:grpSp>
      <p:graphicFrame>
        <p:nvGraphicFramePr>
          <p:cNvPr id="6146" name="Object 1026"/>
          <p:cNvGraphicFramePr>
            <a:graphicFrameLocks noChangeAspect="1"/>
          </p:cNvGraphicFramePr>
          <p:nvPr>
            <p:extLst>
              <p:ext uri="{D42A27DB-BD31-4B8C-83A1-F6EECF244321}">
                <p14:modId xmlns:p14="http://schemas.microsoft.com/office/powerpoint/2010/main" val="1851911462"/>
              </p:ext>
            </p:extLst>
          </p:nvPr>
        </p:nvGraphicFramePr>
        <p:xfrm>
          <a:off x="2420939" y="1273969"/>
          <a:ext cx="3429000" cy="622300"/>
        </p:xfrm>
        <a:graphic>
          <a:graphicData uri="http://schemas.openxmlformats.org/presentationml/2006/ole">
            <mc:AlternateContent xmlns:mc="http://schemas.openxmlformats.org/markup-compatibility/2006">
              <mc:Choice xmlns:v="urn:schemas-microsoft-com:vml" Requires="v">
                <p:oleObj name="公式" r:id="rId2" imgW="1536480" imgH="228600" progId="Equation.3">
                  <p:embed/>
                </p:oleObj>
              </mc:Choice>
              <mc:Fallback>
                <p:oleObj name="公式" r:id="rId2" imgW="1536480" imgH="228600" progId="Equation.3">
                  <p:embed/>
                  <p:pic>
                    <p:nvPicPr>
                      <p:cNvPr id="6146" name="Object 102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20939" y="1273969"/>
                        <a:ext cx="3429000" cy="622300"/>
                      </a:xfrm>
                      <a:prstGeom prst="rect">
                        <a:avLst/>
                      </a:prstGeom>
                      <a:noFill/>
                      <a:ln>
                        <a:solidFill>
                          <a:srgbClr val="C00000"/>
                        </a:solidFill>
                      </a:ln>
                    </p:spPr>
                  </p:pic>
                </p:oleObj>
              </mc:Fallback>
            </mc:AlternateContent>
          </a:graphicData>
        </a:graphic>
      </p:graphicFrame>
    </p:spTree>
    <p:extLst>
      <p:ext uri="{BB962C8B-B14F-4D97-AF65-F5344CB8AC3E}">
        <p14:creationId xmlns:p14="http://schemas.microsoft.com/office/powerpoint/2010/main" val="34722436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灯片编号占位符 5"/>
          <p:cNvSpPr>
            <a:spLocks noGrp="1"/>
          </p:cNvSpPr>
          <p:nvPr>
            <p:ph type="sldNum" sz="quarter" idx="4294967295"/>
          </p:nvPr>
        </p:nvSpPr>
        <p:spPr>
          <a:noFill/>
        </p:spPr>
        <p:txBody>
          <a:bodyPr/>
          <a:lstStyle/>
          <a:p>
            <a:r>
              <a:rPr lang="en-US" altLang="zh-CN">
                <a:ea typeface="宋体" pitchFamily="2" charset="-122"/>
              </a:rPr>
              <a:t>8--</a:t>
            </a:r>
            <a:fld id="{212C056A-339B-42AD-A6D0-2CB3E1FA52E5}" type="slidenum">
              <a:rPr lang="en-US" altLang="zh-CN" smtClean="0">
                <a:ea typeface="宋体" pitchFamily="2" charset="-122"/>
              </a:rPr>
              <a:pPr/>
              <a:t>21</a:t>
            </a:fld>
            <a:endParaRPr lang="en-US" altLang="zh-CN">
              <a:ea typeface="宋体" pitchFamily="2" charset="-122"/>
            </a:endParaRPr>
          </a:p>
        </p:txBody>
      </p:sp>
      <p:sp>
        <p:nvSpPr>
          <p:cNvPr id="7172" name="Rectangle 2"/>
          <p:cNvSpPr>
            <a:spLocks noGrp="1" noChangeArrowheads="1"/>
          </p:cNvSpPr>
          <p:nvPr>
            <p:ph type="title"/>
          </p:nvPr>
        </p:nvSpPr>
        <p:spPr>
          <a:xfrm>
            <a:off x="2166938" y="142875"/>
            <a:ext cx="7772400" cy="1143000"/>
          </a:xfrm>
        </p:spPr>
        <p:txBody>
          <a:bodyPr/>
          <a:lstStyle/>
          <a:p>
            <a:pPr eaLnBrk="1" hangingPunct="1"/>
            <a:r>
              <a:rPr lang="zh-CN" altLang="en-US" sz="3600" dirty="0"/>
              <a:t>右侧检验中的显著性水平与拒绝域</a:t>
            </a:r>
          </a:p>
        </p:txBody>
      </p:sp>
      <p:sp>
        <p:nvSpPr>
          <p:cNvPr id="7173" name="Rectangle 3"/>
          <p:cNvSpPr>
            <a:spLocks noChangeArrowheads="1"/>
          </p:cNvSpPr>
          <p:nvPr/>
        </p:nvSpPr>
        <p:spPr bwMode="auto">
          <a:xfrm>
            <a:off x="7358064" y="1885951"/>
            <a:ext cx="1920875" cy="951543"/>
          </a:xfrm>
          <a:prstGeom prst="rect">
            <a:avLst/>
          </a:prstGeom>
          <a:noFill/>
          <a:ln w="12700">
            <a:solidFill>
              <a:srgbClr val="CC0099"/>
            </a:solidFill>
            <a:miter lim="800000"/>
            <a:headEnd/>
            <a:tailEnd/>
          </a:ln>
        </p:spPr>
        <p:txBody>
          <a:bodyPr lIns="90488" tIns="44450" rIns="90488" bIns="44450">
            <a:spAutoFit/>
          </a:bodyPr>
          <a:lstStyle/>
          <a:p>
            <a:pPr algn="ctr" eaLnBrk="0" hangingPunct="0">
              <a:spcBef>
                <a:spcPct val="50000"/>
              </a:spcBef>
            </a:pPr>
            <a:r>
              <a:rPr kumimoji="1" lang="zh-CN" altLang="en-US">
                <a:solidFill>
                  <a:srgbClr val="FF00FF"/>
                </a:solidFill>
              </a:rPr>
              <a:t>检验统计量的</a:t>
            </a:r>
            <a:r>
              <a:rPr kumimoji="1" lang="zh-CN" altLang="en-US" sz="2800">
                <a:solidFill>
                  <a:srgbClr val="FF00FF"/>
                </a:solidFill>
              </a:rPr>
              <a:t>分布</a:t>
            </a:r>
          </a:p>
        </p:txBody>
      </p:sp>
      <p:sp>
        <p:nvSpPr>
          <p:cNvPr id="27652" name="Rectangle 4"/>
          <p:cNvSpPr>
            <a:spLocks noChangeArrowheads="1"/>
          </p:cNvSpPr>
          <p:nvPr/>
        </p:nvSpPr>
        <p:spPr bwMode="auto">
          <a:xfrm>
            <a:off x="8259764" y="3340100"/>
            <a:ext cx="515937" cy="369332"/>
          </a:xfrm>
          <a:prstGeom prst="rect">
            <a:avLst/>
          </a:prstGeom>
          <a:solidFill>
            <a:schemeClr val="accent1">
              <a:lumMod val="60000"/>
              <a:lumOff val="40000"/>
            </a:schemeClr>
          </a:solidFill>
          <a:ln w="9525">
            <a:noFill/>
            <a:miter lim="800000"/>
            <a:headEnd/>
            <a:tailEnd/>
          </a:ln>
          <a:effectLst>
            <a:outerShdw dist="17961" dir="2700000" algn="ctr" rotWithShape="0">
              <a:schemeClr val="bg2"/>
            </a:outerShdw>
          </a:effectLst>
        </p:spPr>
        <p:txBody>
          <a:bodyPr lIns="0" tIns="0" rIns="0" bIns="0">
            <a:spAutoFit/>
          </a:bodyPr>
          <a:lstStyle/>
          <a:p>
            <a:pPr algn="ctr" eaLnBrk="0" hangingPunct="0">
              <a:defRPr/>
            </a:pPr>
            <a:r>
              <a:rPr kumimoji="1" lang="en-US" altLang="zh-CN" sz="2400" b="1" dirty="0">
                <a:latin typeface="Symbol" pitchFamily="18" charset="2"/>
                <a:ea typeface="宋体" charset="-122"/>
              </a:rPr>
              <a:t>a</a:t>
            </a:r>
            <a:endParaRPr kumimoji="1" lang="en-US" altLang="zh-CN" sz="2400" b="1" dirty="0">
              <a:latin typeface="Arial" charset="0"/>
              <a:ea typeface="宋体" charset="-122"/>
            </a:endParaRPr>
          </a:p>
        </p:txBody>
      </p:sp>
      <p:sp>
        <p:nvSpPr>
          <p:cNvPr id="27653" name="Rectangle 5"/>
          <p:cNvSpPr>
            <a:spLocks noChangeArrowheads="1"/>
          </p:cNvSpPr>
          <p:nvPr/>
        </p:nvSpPr>
        <p:spPr bwMode="auto">
          <a:xfrm>
            <a:off x="5438776" y="3349625"/>
            <a:ext cx="1446213" cy="459100"/>
          </a:xfrm>
          <a:prstGeom prst="rect">
            <a:avLst/>
          </a:prstGeom>
          <a:noFill/>
          <a:ln w="12700">
            <a:noFill/>
            <a:miter lim="800000"/>
            <a:headEnd/>
            <a:tailEnd/>
          </a:ln>
          <a:effectLst>
            <a:outerShdw dist="12700" dir="5400000" algn="ctr" rotWithShape="0">
              <a:schemeClr val="bg2"/>
            </a:outerShdw>
          </a:effectLst>
        </p:spPr>
        <p:txBody>
          <a:bodyPr lIns="90488" tIns="44450" rIns="90488" bIns="44450">
            <a:spAutoFit/>
          </a:bodyPr>
          <a:lstStyle/>
          <a:p>
            <a:pPr algn="ctr" eaLnBrk="0" hangingPunct="0">
              <a:spcBef>
                <a:spcPct val="50000"/>
              </a:spcBef>
              <a:defRPr/>
            </a:pPr>
            <a:r>
              <a:rPr kumimoji="1" lang="en-US" altLang="zh-CN" sz="2400" b="1">
                <a:solidFill>
                  <a:schemeClr val="tx2"/>
                </a:solidFill>
                <a:effectLst>
                  <a:outerShdw blurRad="38100" dist="38100" dir="2700000" algn="tl">
                    <a:srgbClr val="C0C0C0"/>
                  </a:outerShdw>
                </a:effectLst>
                <a:latin typeface="Arial" charset="0"/>
                <a:ea typeface="宋体" charset="-122"/>
              </a:rPr>
              <a:t>(1 </a:t>
            </a:r>
            <a:r>
              <a:rPr kumimoji="1" lang="zh-CN" altLang="en-US" sz="2400" b="1">
                <a:solidFill>
                  <a:schemeClr val="tx2"/>
                </a:solidFill>
                <a:effectLst>
                  <a:outerShdw blurRad="38100" dist="38100" dir="2700000" algn="tl">
                    <a:srgbClr val="C0C0C0"/>
                  </a:outerShdw>
                </a:effectLst>
                <a:latin typeface="Arial" charset="0"/>
                <a:ea typeface="宋体" charset="-122"/>
              </a:rPr>
              <a:t>－ </a:t>
            </a:r>
            <a:r>
              <a:rPr kumimoji="1" lang="zh-CN" altLang="en-US" sz="2400" b="1">
                <a:solidFill>
                  <a:schemeClr val="tx2"/>
                </a:solidFill>
                <a:effectLst>
                  <a:outerShdw blurRad="38100" dist="38100" dir="2700000" algn="tl">
                    <a:srgbClr val="C0C0C0"/>
                  </a:outerShdw>
                </a:effectLst>
                <a:latin typeface="Symbol" pitchFamily="18" charset="2"/>
                <a:ea typeface="宋体" charset="-122"/>
              </a:rPr>
              <a:t></a:t>
            </a:r>
            <a:r>
              <a:rPr kumimoji="1" lang="en-US" altLang="zh-CN" sz="2400" b="1">
                <a:solidFill>
                  <a:schemeClr val="tx2"/>
                </a:solidFill>
                <a:effectLst>
                  <a:outerShdw blurRad="38100" dist="38100" dir="2700000" algn="tl">
                    <a:srgbClr val="C0C0C0"/>
                  </a:outerShdw>
                </a:effectLst>
                <a:latin typeface="Symbol" pitchFamily="18" charset="2"/>
                <a:ea typeface="宋体" charset="-122"/>
              </a:rPr>
              <a:t>)</a:t>
            </a:r>
            <a:endParaRPr kumimoji="1" lang="en-US" altLang="zh-CN" sz="2400" b="1">
              <a:solidFill>
                <a:schemeClr val="tx2"/>
              </a:solidFill>
              <a:latin typeface="Symbol" pitchFamily="18" charset="2"/>
              <a:ea typeface="宋体" charset="-122"/>
            </a:endParaRPr>
          </a:p>
        </p:txBody>
      </p:sp>
      <p:sp>
        <p:nvSpPr>
          <p:cNvPr id="27654" name="Line 6"/>
          <p:cNvSpPr>
            <a:spLocks noChangeShapeType="1"/>
          </p:cNvSpPr>
          <p:nvPr/>
        </p:nvSpPr>
        <p:spPr bwMode="auto">
          <a:xfrm>
            <a:off x="7073900" y="3268663"/>
            <a:ext cx="19050" cy="1200150"/>
          </a:xfrm>
          <a:prstGeom prst="line">
            <a:avLst/>
          </a:prstGeom>
          <a:noFill/>
          <a:ln w="38100">
            <a:solidFill>
              <a:srgbClr val="CC0066"/>
            </a:solidFill>
            <a:round/>
            <a:headEnd/>
            <a:tailEnd/>
          </a:ln>
          <a:effectLst>
            <a:outerShdw dist="28398" dir="20006097" algn="ctr" rotWithShape="0">
              <a:schemeClr val="bg2"/>
            </a:outerShdw>
          </a:effectLst>
        </p:spPr>
        <p:txBody>
          <a:bodyPr wrap="none" anchor="ctr"/>
          <a:lstStyle/>
          <a:p>
            <a:pPr>
              <a:defRPr/>
            </a:pPr>
            <a:endParaRPr lang="zh-CN" altLang="en-US">
              <a:latin typeface="Arial" charset="0"/>
              <a:ea typeface="宋体" charset="-122"/>
            </a:endParaRPr>
          </a:p>
        </p:txBody>
      </p:sp>
      <p:sp>
        <p:nvSpPr>
          <p:cNvPr id="27655" name="Line 7"/>
          <p:cNvSpPr>
            <a:spLocks noChangeShapeType="1"/>
          </p:cNvSpPr>
          <p:nvPr/>
        </p:nvSpPr>
        <p:spPr bwMode="auto">
          <a:xfrm>
            <a:off x="7112000" y="4468813"/>
            <a:ext cx="0" cy="277812"/>
          </a:xfrm>
          <a:prstGeom prst="line">
            <a:avLst/>
          </a:prstGeom>
          <a:noFill/>
          <a:ln w="28575">
            <a:solidFill>
              <a:srgbClr val="CC3399"/>
            </a:solidFill>
            <a:round/>
            <a:headEnd type="triangle" w="med" len="med"/>
            <a:tailEnd/>
          </a:ln>
          <a:effectLst>
            <a:outerShdw dist="12700" algn="ctr" rotWithShape="0">
              <a:schemeClr val="bg2"/>
            </a:outerShdw>
          </a:effectLst>
        </p:spPr>
        <p:txBody>
          <a:bodyPr wrap="none" anchor="ctr"/>
          <a:lstStyle/>
          <a:p>
            <a:pPr>
              <a:defRPr/>
            </a:pPr>
            <a:endParaRPr lang="zh-CN" altLang="en-US">
              <a:latin typeface="Arial" charset="0"/>
              <a:ea typeface="宋体" charset="-122"/>
            </a:endParaRPr>
          </a:p>
        </p:txBody>
      </p:sp>
      <p:sp>
        <p:nvSpPr>
          <p:cNvPr id="27656" name="Freeform 8"/>
          <p:cNvSpPr>
            <a:spLocks/>
          </p:cNvSpPr>
          <p:nvPr/>
        </p:nvSpPr>
        <p:spPr bwMode="auto">
          <a:xfrm>
            <a:off x="6049963" y="2297113"/>
            <a:ext cx="2906712" cy="2074862"/>
          </a:xfrm>
          <a:custGeom>
            <a:avLst/>
            <a:gdLst/>
            <a:ahLst/>
            <a:cxnLst>
              <a:cxn ang="0">
                <a:pos x="1942" y="1430"/>
              </a:cxn>
              <a:cxn ang="0">
                <a:pos x="1737" y="1412"/>
              </a:cxn>
              <a:cxn ang="0">
                <a:pos x="1636" y="1396"/>
              </a:cxn>
              <a:cxn ang="0">
                <a:pos x="1532" y="1373"/>
              </a:cxn>
              <a:cxn ang="0">
                <a:pos x="1431" y="1342"/>
              </a:cxn>
              <a:cxn ang="0">
                <a:pos x="1328" y="1298"/>
              </a:cxn>
              <a:cxn ang="0">
                <a:pos x="1227" y="1238"/>
              </a:cxn>
              <a:cxn ang="0">
                <a:pos x="1022" y="1073"/>
              </a:cxn>
              <a:cxn ang="0">
                <a:pos x="818" y="838"/>
              </a:cxn>
              <a:cxn ang="0">
                <a:pos x="613" y="559"/>
              </a:cxn>
              <a:cxn ang="0">
                <a:pos x="512" y="416"/>
              </a:cxn>
              <a:cxn ang="0">
                <a:pos x="409" y="282"/>
              </a:cxn>
              <a:cxn ang="0">
                <a:pos x="308" y="166"/>
              </a:cxn>
              <a:cxn ang="0">
                <a:pos x="204" y="78"/>
              </a:cxn>
              <a:cxn ang="0">
                <a:pos x="103" y="21"/>
              </a:cxn>
              <a:cxn ang="0">
                <a:pos x="0" y="0"/>
              </a:cxn>
            </a:cxnLst>
            <a:rect l="0" t="0" r="r" b="b"/>
            <a:pathLst>
              <a:path w="1942" h="1430">
                <a:moveTo>
                  <a:pt x="1942" y="1430"/>
                </a:moveTo>
                <a:lnTo>
                  <a:pt x="1737" y="1412"/>
                </a:lnTo>
                <a:lnTo>
                  <a:pt x="1636" y="1396"/>
                </a:lnTo>
                <a:lnTo>
                  <a:pt x="1532" y="1373"/>
                </a:lnTo>
                <a:lnTo>
                  <a:pt x="1431" y="1342"/>
                </a:lnTo>
                <a:lnTo>
                  <a:pt x="1328" y="1298"/>
                </a:lnTo>
                <a:lnTo>
                  <a:pt x="1227" y="1238"/>
                </a:lnTo>
                <a:lnTo>
                  <a:pt x="1022" y="1073"/>
                </a:lnTo>
                <a:lnTo>
                  <a:pt x="818" y="838"/>
                </a:lnTo>
                <a:lnTo>
                  <a:pt x="613" y="559"/>
                </a:lnTo>
                <a:lnTo>
                  <a:pt x="512" y="416"/>
                </a:lnTo>
                <a:lnTo>
                  <a:pt x="409" y="282"/>
                </a:lnTo>
                <a:lnTo>
                  <a:pt x="308" y="166"/>
                </a:lnTo>
                <a:lnTo>
                  <a:pt x="204" y="78"/>
                </a:lnTo>
                <a:lnTo>
                  <a:pt x="103" y="21"/>
                </a:lnTo>
                <a:lnTo>
                  <a:pt x="0" y="0"/>
                </a:lnTo>
              </a:path>
            </a:pathLst>
          </a:custGeom>
          <a:noFill/>
          <a:ln w="76200" cmpd="sng">
            <a:solidFill>
              <a:srgbClr val="FF00FF"/>
            </a:solidFill>
            <a:prstDash val="solid"/>
            <a:round/>
            <a:headEnd/>
            <a:tailEnd/>
          </a:ln>
          <a:effectLst>
            <a:outerShdw dist="38100" dir="5400000" algn="ctr" rotWithShape="0">
              <a:schemeClr val="bg2"/>
            </a:outerShdw>
          </a:effectLst>
        </p:spPr>
        <p:txBody>
          <a:bodyPr/>
          <a:lstStyle/>
          <a:p>
            <a:pPr>
              <a:defRPr/>
            </a:pPr>
            <a:endParaRPr lang="zh-CN" altLang="en-US">
              <a:latin typeface="Arial" charset="0"/>
              <a:ea typeface="宋体" charset="-122"/>
            </a:endParaRPr>
          </a:p>
        </p:txBody>
      </p:sp>
      <p:sp>
        <p:nvSpPr>
          <p:cNvPr id="27657" name="Freeform 9"/>
          <p:cNvSpPr>
            <a:spLocks/>
          </p:cNvSpPr>
          <p:nvPr/>
        </p:nvSpPr>
        <p:spPr bwMode="auto">
          <a:xfrm>
            <a:off x="3402014" y="2297113"/>
            <a:ext cx="2771775" cy="2106612"/>
          </a:xfrm>
          <a:custGeom>
            <a:avLst/>
            <a:gdLst/>
            <a:ahLst/>
            <a:cxnLst>
              <a:cxn ang="0">
                <a:pos x="0" y="1430"/>
              </a:cxn>
              <a:cxn ang="0">
                <a:pos x="205" y="1412"/>
              </a:cxn>
              <a:cxn ang="0">
                <a:pos x="309" y="1396"/>
              </a:cxn>
              <a:cxn ang="0">
                <a:pos x="410" y="1373"/>
              </a:cxn>
              <a:cxn ang="0">
                <a:pos x="511" y="1342"/>
              </a:cxn>
              <a:cxn ang="0">
                <a:pos x="614" y="1298"/>
              </a:cxn>
              <a:cxn ang="0">
                <a:pos x="715" y="1238"/>
              </a:cxn>
              <a:cxn ang="0">
                <a:pos x="922" y="1073"/>
              </a:cxn>
              <a:cxn ang="0">
                <a:pos x="1124" y="838"/>
              </a:cxn>
              <a:cxn ang="0">
                <a:pos x="1329" y="559"/>
              </a:cxn>
              <a:cxn ang="0">
                <a:pos x="1432" y="416"/>
              </a:cxn>
              <a:cxn ang="0">
                <a:pos x="1533" y="282"/>
              </a:cxn>
              <a:cxn ang="0">
                <a:pos x="1637" y="166"/>
              </a:cxn>
              <a:cxn ang="0">
                <a:pos x="1738" y="78"/>
              </a:cxn>
              <a:cxn ang="0">
                <a:pos x="1842" y="21"/>
              </a:cxn>
              <a:cxn ang="0">
                <a:pos x="1943" y="0"/>
              </a:cxn>
            </a:cxnLst>
            <a:rect l="0" t="0" r="r" b="b"/>
            <a:pathLst>
              <a:path w="1943" h="1430">
                <a:moveTo>
                  <a:pt x="0" y="1430"/>
                </a:moveTo>
                <a:lnTo>
                  <a:pt x="205" y="1412"/>
                </a:lnTo>
                <a:lnTo>
                  <a:pt x="309" y="1396"/>
                </a:lnTo>
                <a:lnTo>
                  <a:pt x="410" y="1373"/>
                </a:lnTo>
                <a:lnTo>
                  <a:pt x="511" y="1342"/>
                </a:lnTo>
                <a:lnTo>
                  <a:pt x="614" y="1298"/>
                </a:lnTo>
                <a:lnTo>
                  <a:pt x="715" y="1238"/>
                </a:lnTo>
                <a:lnTo>
                  <a:pt x="922" y="1073"/>
                </a:lnTo>
                <a:lnTo>
                  <a:pt x="1124" y="838"/>
                </a:lnTo>
                <a:lnTo>
                  <a:pt x="1329" y="559"/>
                </a:lnTo>
                <a:lnTo>
                  <a:pt x="1432" y="416"/>
                </a:lnTo>
                <a:lnTo>
                  <a:pt x="1533" y="282"/>
                </a:lnTo>
                <a:lnTo>
                  <a:pt x="1637" y="166"/>
                </a:lnTo>
                <a:lnTo>
                  <a:pt x="1738" y="78"/>
                </a:lnTo>
                <a:lnTo>
                  <a:pt x="1842" y="21"/>
                </a:lnTo>
                <a:lnTo>
                  <a:pt x="1943" y="0"/>
                </a:lnTo>
              </a:path>
            </a:pathLst>
          </a:custGeom>
          <a:noFill/>
          <a:ln w="76200" cmpd="sng">
            <a:solidFill>
              <a:srgbClr val="FF00FF"/>
            </a:solidFill>
            <a:prstDash val="solid"/>
            <a:round/>
            <a:headEnd/>
            <a:tailEnd/>
          </a:ln>
          <a:effectLst>
            <a:outerShdw dist="38100" dir="5400000" algn="ctr" rotWithShape="0">
              <a:schemeClr val="bg2"/>
            </a:outerShdw>
          </a:effectLst>
        </p:spPr>
        <p:txBody>
          <a:bodyPr/>
          <a:lstStyle/>
          <a:p>
            <a:pPr>
              <a:defRPr/>
            </a:pPr>
            <a:endParaRPr lang="zh-CN" altLang="en-US">
              <a:latin typeface="Arial" charset="0"/>
              <a:ea typeface="宋体" charset="-122"/>
            </a:endParaRPr>
          </a:p>
        </p:txBody>
      </p:sp>
      <p:sp>
        <p:nvSpPr>
          <p:cNvPr id="7180" name="Line 10"/>
          <p:cNvSpPr>
            <a:spLocks noChangeShapeType="1"/>
          </p:cNvSpPr>
          <p:nvPr/>
        </p:nvSpPr>
        <p:spPr bwMode="auto">
          <a:xfrm flipV="1">
            <a:off x="3265488" y="2232025"/>
            <a:ext cx="0" cy="2236788"/>
          </a:xfrm>
          <a:prstGeom prst="line">
            <a:avLst/>
          </a:prstGeom>
          <a:noFill/>
          <a:ln w="38100">
            <a:solidFill>
              <a:schemeClr val="tx1"/>
            </a:solidFill>
            <a:miter lim="800000"/>
            <a:headEnd/>
            <a:tailEnd type="triangle" w="med" len="med"/>
          </a:ln>
        </p:spPr>
        <p:txBody>
          <a:bodyPr wrap="none"/>
          <a:lstStyle/>
          <a:p>
            <a:endParaRPr lang="zh-CN" altLang="en-US"/>
          </a:p>
        </p:txBody>
      </p:sp>
      <p:sp>
        <p:nvSpPr>
          <p:cNvPr id="7181" name="Line 11"/>
          <p:cNvSpPr>
            <a:spLocks noChangeShapeType="1"/>
          </p:cNvSpPr>
          <p:nvPr/>
        </p:nvSpPr>
        <p:spPr bwMode="auto">
          <a:xfrm>
            <a:off x="3265488" y="4468813"/>
            <a:ext cx="5975350" cy="0"/>
          </a:xfrm>
          <a:prstGeom prst="line">
            <a:avLst/>
          </a:prstGeom>
          <a:noFill/>
          <a:ln w="38100">
            <a:solidFill>
              <a:schemeClr val="tx1"/>
            </a:solidFill>
            <a:miter lim="800000"/>
            <a:headEnd/>
            <a:tailEnd type="triangle" w="med" len="med"/>
          </a:ln>
        </p:spPr>
        <p:txBody>
          <a:bodyPr wrap="none"/>
          <a:lstStyle/>
          <a:p>
            <a:endParaRPr lang="zh-CN" altLang="en-US"/>
          </a:p>
        </p:txBody>
      </p:sp>
      <p:sp>
        <p:nvSpPr>
          <p:cNvPr id="7182" name="Line 12"/>
          <p:cNvSpPr>
            <a:spLocks noChangeShapeType="1"/>
          </p:cNvSpPr>
          <p:nvPr/>
        </p:nvSpPr>
        <p:spPr bwMode="auto">
          <a:xfrm>
            <a:off x="6075363" y="4075113"/>
            <a:ext cx="950912" cy="0"/>
          </a:xfrm>
          <a:prstGeom prst="line">
            <a:avLst/>
          </a:prstGeom>
          <a:noFill/>
          <a:ln w="38100">
            <a:solidFill>
              <a:schemeClr val="tx2"/>
            </a:solidFill>
            <a:miter lim="800000"/>
            <a:headEnd/>
            <a:tailEnd type="triangle" w="med" len="med"/>
          </a:ln>
        </p:spPr>
        <p:txBody>
          <a:bodyPr wrap="none"/>
          <a:lstStyle/>
          <a:p>
            <a:endParaRPr lang="zh-CN" altLang="en-US"/>
          </a:p>
        </p:txBody>
      </p:sp>
      <p:sp>
        <p:nvSpPr>
          <p:cNvPr id="7183" name="Line 13"/>
          <p:cNvSpPr>
            <a:spLocks noChangeShapeType="1"/>
          </p:cNvSpPr>
          <p:nvPr/>
        </p:nvSpPr>
        <p:spPr bwMode="auto">
          <a:xfrm flipH="1">
            <a:off x="4610101" y="4075113"/>
            <a:ext cx="1514475" cy="0"/>
          </a:xfrm>
          <a:prstGeom prst="line">
            <a:avLst/>
          </a:prstGeom>
          <a:noFill/>
          <a:ln w="38100">
            <a:solidFill>
              <a:schemeClr val="tx2"/>
            </a:solidFill>
            <a:miter lim="800000"/>
            <a:headEnd/>
            <a:tailEnd type="triangle" w="med" len="med"/>
          </a:ln>
        </p:spPr>
        <p:txBody>
          <a:bodyPr wrap="none"/>
          <a:lstStyle/>
          <a:p>
            <a:endParaRPr lang="zh-CN" altLang="en-US"/>
          </a:p>
        </p:txBody>
      </p:sp>
      <p:sp>
        <p:nvSpPr>
          <p:cNvPr id="27662" name="Freeform 14"/>
          <p:cNvSpPr>
            <a:spLocks/>
          </p:cNvSpPr>
          <p:nvPr/>
        </p:nvSpPr>
        <p:spPr bwMode="auto">
          <a:xfrm>
            <a:off x="7131051" y="3411539"/>
            <a:ext cx="1598613" cy="1038225"/>
          </a:xfrm>
          <a:custGeom>
            <a:avLst/>
            <a:gdLst/>
            <a:ahLst/>
            <a:cxnLst>
              <a:cxn ang="0">
                <a:pos x="0" y="0"/>
              </a:cxn>
              <a:cxn ang="0">
                <a:pos x="0" y="734"/>
              </a:cxn>
              <a:cxn ang="0">
                <a:pos x="1129" y="734"/>
              </a:cxn>
              <a:cxn ang="0">
                <a:pos x="1002" y="700"/>
              </a:cxn>
              <a:cxn ang="0">
                <a:pos x="880" y="659"/>
              </a:cxn>
              <a:cxn ang="0">
                <a:pos x="764" y="612"/>
              </a:cxn>
              <a:cxn ang="0">
                <a:pos x="652" y="561"/>
              </a:cxn>
              <a:cxn ang="0">
                <a:pos x="546" y="504"/>
              </a:cxn>
              <a:cxn ang="0">
                <a:pos x="445" y="444"/>
              </a:cxn>
              <a:cxn ang="0">
                <a:pos x="352" y="380"/>
              </a:cxn>
              <a:cxn ang="0">
                <a:pos x="267" y="310"/>
              </a:cxn>
              <a:cxn ang="0">
                <a:pos x="189" y="237"/>
              </a:cxn>
              <a:cxn ang="0">
                <a:pos x="116" y="162"/>
              </a:cxn>
              <a:cxn ang="0">
                <a:pos x="54" y="82"/>
              </a:cxn>
              <a:cxn ang="0">
                <a:pos x="0" y="0"/>
              </a:cxn>
            </a:cxnLst>
            <a:rect l="0" t="0" r="r" b="b"/>
            <a:pathLst>
              <a:path w="1129" h="734">
                <a:moveTo>
                  <a:pt x="0" y="0"/>
                </a:moveTo>
                <a:lnTo>
                  <a:pt x="0" y="734"/>
                </a:lnTo>
                <a:lnTo>
                  <a:pt x="1129" y="734"/>
                </a:lnTo>
                <a:lnTo>
                  <a:pt x="1002" y="700"/>
                </a:lnTo>
                <a:lnTo>
                  <a:pt x="880" y="659"/>
                </a:lnTo>
                <a:lnTo>
                  <a:pt x="764" y="612"/>
                </a:lnTo>
                <a:lnTo>
                  <a:pt x="652" y="561"/>
                </a:lnTo>
                <a:lnTo>
                  <a:pt x="546" y="504"/>
                </a:lnTo>
                <a:lnTo>
                  <a:pt x="445" y="444"/>
                </a:lnTo>
                <a:lnTo>
                  <a:pt x="352" y="380"/>
                </a:lnTo>
                <a:lnTo>
                  <a:pt x="267" y="310"/>
                </a:lnTo>
                <a:lnTo>
                  <a:pt x="189" y="237"/>
                </a:lnTo>
                <a:lnTo>
                  <a:pt x="116" y="162"/>
                </a:lnTo>
                <a:lnTo>
                  <a:pt x="54" y="82"/>
                </a:lnTo>
                <a:lnTo>
                  <a:pt x="0" y="0"/>
                </a:lnTo>
                <a:close/>
              </a:path>
            </a:pathLst>
          </a:custGeom>
          <a:solidFill>
            <a:schemeClr val="accent1">
              <a:lumMod val="60000"/>
              <a:lumOff val="40000"/>
            </a:schemeClr>
          </a:solidFill>
          <a:ln w="9525">
            <a:noFill/>
            <a:round/>
            <a:headEnd/>
            <a:tailEnd/>
          </a:ln>
          <a:effectLst>
            <a:outerShdw algn="ctr" rotWithShape="0">
              <a:srgbClr val="808080"/>
            </a:outerShdw>
          </a:effectLst>
        </p:spPr>
        <p:txBody>
          <a:bodyPr/>
          <a:lstStyle/>
          <a:p>
            <a:pPr>
              <a:defRPr/>
            </a:pPr>
            <a:endParaRPr lang="zh-CN" altLang="en-US">
              <a:latin typeface="Arial" charset="0"/>
              <a:ea typeface="宋体" charset="-122"/>
            </a:endParaRPr>
          </a:p>
        </p:txBody>
      </p:sp>
      <p:sp>
        <p:nvSpPr>
          <p:cNvPr id="27663" name="Line 15"/>
          <p:cNvSpPr>
            <a:spLocks noChangeShapeType="1"/>
          </p:cNvSpPr>
          <p:nvPr/>
        </p:nvSpPr>
        <p:spPr bwMode="auto">
          <a:xfrm>
            <a:off x="6116638" y="4468813"/>
            <a:ext cx="0" cy="277812"/>
          </a:xfrm>
          <a:prstGeom prst="line">
            <a:avLst/>
          </a:prstGeom>
          <a:noFill/>
          <a:ln w="28575">
            <a:solidFill>
              <a:srgbClr val="CC3399"/>
            </a:solidFill>
            <a:round/>
            <a:headEnd type="triangle" w="med" len="med"/>
            <a:tailEnd/>
          </a:ln>
          <a:effectLst>
            <a:outerShdw dist="12700" algn="ctr" rotWithShape="0">
              <a:schemeClr val="bg2"/>
            </a:outerShdw>
          </a:effectLst>
        </p:spPr>
        <p:txBody>
          <a:bodyPr wrap="none" anchor="ctr"/>
          <a:lstStyle/>
          <a:p>
            <a:pPr>
              <a:defRPr/>
            </a:pPr>
            <a:endParaRPr lang="zh-CN" altLang="en-US">
              <a:latin typeface="Arial" charset="0"/>
              <a:ea typeface="宋体" charset="-122"/>
            </a:endParaRPr>
          </a:p>
        </p:txBody>
      </p:sp>
      <p:sp>
        <p:nvSpPr>
          <p:cNvPr id="27664" name="Line 16"/>
          <p:cNvSpPr>
            <a:spLocks noChangeShapeType="1"/>
          </p:cNvSpPr>
          <p:nvPr/>
        </p:nvSpPr>
        <p:spPr bwMode="auto">
          <a:xfrm flipH="1">
            <a:off x="7673976" y="3640138"/>
            <a:ext cx="542925" cy="495300"/>
          </a:xfrm>
          <a:prstGeom prst="line">
            <a:avLst/>
          </a:prstGeom>
          <a:noFill/>
          <a:ln w="25400">
            <a:solidFill>
              <a:schemeClr val="tx2"/>
            </a:solidFill>
            <a:round/>
            <a:headEnd/>
            <a:tailEnd type="triangle" w="med" len="med"/>
          </a:ln>
          <a:effectLst>
            <a:outerShdw algn="ctr" rotWithShape="0">
              <a:schemeClr val="bg2"/>
            </a:outerShdw>
          </a:effectLst>
        </p:spPr>
        <p:txBody>
          <a:bodyPr wrap="none" anchor="ctr"/>
          <a:lstStyle/>
          <a:p>
            <a:pPr>
              <a:defRPr/>
            </a:pPr>
            <a:endParaRPr lang="zh-CN" altLang="en-US">
              <a:latin typeface="Arial" charset="0"/>
              <a:ea typeface="宋体" charset="-122"/>
            </a:endParaRPr>
          </a:p>
        </p:txBody>
      </p:sp>
      <p:sp>
        <p:nvSpPr>
          <p:cNvPr id="7187" name="Line 17"/>
          <p:cNvSpPr>
            <a:spLocks noChangeShapeType="1"/>
          </p:cNvSpPr>
          <p:nvPr/>
        </p:nvSpPr>
        <p:spPr bwMode="auto">
          <a:xfrm flipH="1">
            <a:off x="6683375" y="2300288"/>
            <a:ext cx="674688" cy="292100"/>
          </a:xfrm>
          <a:prstGeom prst="line">
            <a:avLst/>
          </a:prstGeom>
          <a:noFill/>
          <a:ln w="28575">
            <a:solidFill>
              <a:schemeClr val="tx2"/>
            </a:solidFill>
            <a:miter lim="800000"/>
            <a:headEnd/>
            <a:tailEnd type="triangle" w="med" len="med"/>
          </a:ln>
        </p:spPr>
        <p:txBody>
          <a:bodyPr wrap="none"/>
          <a:lstStyle/>
          <a:p>
            <a:endParaRPr lang="zh-CN" altLang="en-US"/>
          </a:p>
        </p:txBody>
      </p:sp>
      <p:sp>
        <p:nvSpPr>
          <p:cNvPr id="27666" name="Text Box 18"/>
          <p:cNvSpPr txBox="1">
            <a:spLocks noChangeArrowheads="1"/>
          </p:cNvSpPr>
          <p:nvPr/>
        </p:nvSpPr>
        <p:spPr bwMode="auto">
          <a:xfrm>
            <a:off x="5846764" y="4721225"/>
            <a:ext cx="574675" cy="329588"/>
          </a:xfrm>
          <a:prstGeom prst="rect">
            <a:avLst/>
          </a:prstGeom>
          <a:noFill/>
          <a:ln w="12700">
            <a:solidFill>
              <a:srgbClr val="008000"/>
            </a:solidFill>
            <a:miter lim="800000"/>
            <a:headEnd/>
            <a:tailEnd/>
          </a:ln>
          <a:effectLst/>
        </p:spPr>
        <p:txBody>
          <a:bodyPr lIns="0" tIns="10800" rIns="0" bIns="10800">
            <a:spAutoFit/>
          </a:bodyPr>
          <a:lstStyle/>
          <a:p>
            <a:pPr algn="ctr" eaLnBrk="0" hangingPunct="0">
              <a:spcBef>
                <a:spcPct val="50000"/>
              </a:spcBef>
              <a:defRPr/>
            </a:pPr>
            <a:r>
              <a:rPr kumimoji="1" lang="en-US" altLang="zh-CN" sz="2000" b="1" dirty="0">
                <a:solidFill>
                  <a:srgbClr val="FF33CC"/>
                </a:solidFill>
                <a:effectLst>
                  <a:outerShdw blurRad="38100" dist="38100" dir="2700000" algn="tl">
                    <a:srgbClr val="000000"/>
                  </a:outerShdw>
                </a:effectLst>
                <a:latin typeface="Times New Roman" pitchFamily="18" charset="0"/>
                <a:ea typeface="宋体" charset="-122"/>
              </a:rPr>
              <a:t> </a:t>
            </a:r>
            <a:r>
              <a:rPr kumimoji="1" lang="el-GR" altLang="zh-CN" b="1" i="1" dirty="0">
                <a:solidFill>
                  <a:srgbClr val="FF33CC"/>
                </a:solidFill>
                <a:effectLst>
                  <a:outerShdw blurRad="38100" dist="38100" dir="2700000" algn="tl">
                    <a:srgbClr val="000000"/>
                  </a:outerShdw>
                </a:effectLst>
                <a:latin typeface="Arial" charset="0"/>
                <a:ea typeface="宋体" charset="-122"/>
              </a:rPr>
              <a:t>θ</a:t>
            </a:r>
            <a:r>
              <a:rPr kumimoji="1" lang="en-US" altLang="zh-CN" sz="2000" b="1" baseline="-25000" dirty="0">
                <a:solidFill>
                  <a:srgbClr val="FF33CC"/>
                </a:solidFill>
                <a:latin typeface="Times New Roman" pitchFamily="18" charset="0"/>
                <a:ea typeface="宋体" charset="-122"/>
              </a:rPr>
              <a:t>0</a:t>
            </a:r>
          </a:p>
        </p:txBody>
      </p:sp>
      <p:sp>
        <p:nvSpPr>
          <p:cNvPr id="7189" name="Text Box 19"/>
          <p:cNvSpPr txBox="1">
            <a:spLocks noChangeArrowheads="1"/>
          </p:cNvSpPr>
          <p:nvPr/>
        </p:nvSpPr>
        <p:spPr bwMode="auto">
          <a:xfrm>
            <a:off x="6626225" y="4756151"/>
            <a:ext cx="971550" cy="379413"/>
          </a:xfrm>
          <a:prstGeom prst="rect">
            <a:avLst/>
          </a:prstGeom>
          <a:solidFill>
            <a:srgbClr val="FFFF9B"/>
          </a:solidFill>
          <a:ln w="12700">
            <a:solidFill>
              <a:srgbClr val="FF33CC"/>
            </a:solidFill>
            <a:miter lim="800000"/>
            <a:headEnd/>
            <a:tailEnd/>
          </a:ln>
        </p:spPr>
        <p:txBody>
          <a:bodyPr>
            <a:spAutoFit/>
          </a:bodyPr>
          <a:lstStyle/>
          <a:p>
            <a:pPr algn="ctr" eaLnBrk="0" hangingPunct="0">
              <a:spcBef>
                <a:spcPct val="50000"/>
              </a:spcBef>
            </a:pPr>
            <a:r>
              <a:rPr kumimoji="1" lang="zh-CN" altLang="en-US" b="1"/>
              <a:t>临界值</a:t>
            </a:r>
          </a:p>
        </p:txBody>
      </p:sp>
      <p:sp>
        <p:nvSpPr>
          <p:cNvPr id="7190" name="Line 21"/>
          <p:cNvSpPr>
            <a:spLocks noChangeShapeType="1"/>
          </p:cNvSpPr>
          <p:nvPr/>
        </p:nvSpPr>
        <p:spPr bwMode="auto">
          <a:xfrm>
            <a:off x="7116763" y="5224463"/>
            <a:ext cx="0" cy="704850"/>
          </a:xfrm>
          <a:prstGeom prst="line">
            <a:avLst/>
          </a:prstGeom>
          <a:noFill/>
          <a:ln w="57150">
            <a:solidFill>
              <a:srgbClr val="CC0099"/>
            </a:solidFill>
            <a:round/>
            <a:headEnd/>
            <a:tailEnd/>
          </a:ln>
        </p:spPr>
        <p:txBody>
          <a:bodyPr/>
          <a:lstStyle/>
          <a:p>
            <a:endParaRPr lang="zh-CN" altLang="en-US"/>
          </a:p>
        </p:txBody>
      </p:sp>
      <p:sp>
        <p:nvSpPr>
          <p:cNvPr id="7191" name="Line 22"/>
          <p:cNvSpPr>
            <a:spLocks noChangeShapeType="1"/>
          </p:cNvSpPr>
          <p:nvPr/>
        </p:nvSpPr>
        <p:spPr bwMode="auto">
          <a:xfrm flipH="1">
            <a:off x="4983163" y="5815013"/>
            <a:ext cx="2057400" cy="0"/>
          </a:xfrm>
          <a:prstGeom prst="line">
            <a:avLst/>
          </a:prstGeom>
          <a:noFill/>
          <a:ln w="38100">
            <a:solidFill>
              <a:srgbClr val="336600"/>
            </a:solidFill>
            <a:round/>
            <a:headEnd/>
            <a:tailEnd type="triangle" w="med" len="med"/>
          </a:ln>
        </p:spPr>
        <p:txBody>
          <a:bodyPr/>
          <a:lstStyle/>
          <a:p>
            <a:endParaRPr lang="zh-CN" altLang="en-US"/>
          </a:p>
        </p:txBody>
      </p:sp>
      <p:sp>
        <p:nvSpPr>
          <p:cNvPr id="7192" name="Text Box 23"/>
          <p:cNvSpPr txBox="1">
            <a:spLocks noChangeArrowheads="1"/>
          </p:cNvSpPr>
          <p:nvPr/>
        </p:nvSpPr>
        <p:spPr bwMode="auto">
          <a:xfrm>
            <a:off x="4335464" y="5368926"/>
            <a:ext cx="2447925" cy="400110"/>
          </a:xfrm>
          <a:prstGeom prst="rect">
            <a:avLst/>
          </a:prstGeom>
          <a:noFill/>
          <a:ln w="12700">
            <a:solidFill>
              <a:srgbClr val="336600"/>
            </a:solidFill>
            <a:miter lim="800000"/>
            <a:headEnd/>
            <a:tailEnd/>
          </a:ln>
        </p:spPr>
        <p:txBody>
          <a:bodyPr>
            <a:spAutoFit/>
          </a:bodyPr>
          <a:lstStyle/>
          <a:p>
            <a:pPr eaLnBrk="0" hangingPunct="0">
              <a:spcBef>
                <a:spcPct val="50000"/>
              </a:spcBef>
            </a:pPr>
            <a:r>
              <a:rPr kumimoji="1" lang="en-US" altLang="zh-CN" sz="2000" b="1" dirty="0">
                <a:solidFill>
                  <a:schemeClr val="tx2"/>
                </a:solidFill>
              </a:rPr>
              <a:t>(</a:t>
            </a:r>
            <a:r>
              <a:rPr kumimoji="1" lang="zh-CN" altLang="en-US" sz="2000" b="1" dirty="0">
                <a:solidFill>
                  <a:schemeClr val="tx2"/>
                </a:solidFill>
              </a:rPr>
              <a:t>不能拒绝</a:t>
            </a:r>
            <a:r>
              <a:rPr kumimoji="1" lang="en-US" altLang="zh-CN" sz="2000" b="1" dirty="0">
                <a:solidFill>
                  <a:schemeClr val="tx2"/>
                </a:solidFill>
              </a:rPr>
              <a:t>H</a:t>
            </a:r>
            <a:r>
              <a:rPr kumimoji="1" lang="en-US" altLang="zh-CN" sz="2000" b="1" baseline="-25000" dirty="0">
                <a:solidFill>
                  <a:schemeClr val="tx2"/>
                </a:solidFill>
              </a:rPr>
              <a:t>O</a:t>
            </a:r>
            <a:r>
              <a:rPr kumimoji="1" lang="zh-CN" altLang="en-US" sz="2000" b="1" dirty="0">
                <a:solidFill>
                  <a:schemeClr val="tx2"/>
                </a:solidFill>
              </a:rPr>
              <a:t>的区域</a:t>
            </a:r>
            <a:r>
              <a:rPr kumimoji="1" lang="en-US" altLang="zh-CN" sz="2000" b="1" dirty="0">
                <a:solidFill>
                  <a:schemeClr val="tx2"/>
                </a:solidFill>
              </a:rPr>
              <a:t>)</a:t>
            </a:r>
          </a:p>
        </p:txBody>
      </p:sp>
      <p:sp>
        <p:nvSpPr>
          <p:cNvPr id="7193" name="Line 24"/>
          <p:cNvSpPr>
            <a:spLocks noChangeShapeType="1"/>
          </p:cNvSpPr>
          <p:nvPr/>
        </p:nvSpPr>
        <p:spPr bwMode="auto">
          <a:xfrm flipV="1">
            <a:off x="7173913" y="5815013"/>
            <a:ext cx="2133600" cy="19050"/>
          </a:xfrm>
          <a:prstGeom prst="line">
            <a:avLst/>
          </a:prstGeom>
          <a:noFill/>
          <a:ln w="38100">
            <a:solidFill>
              <a:schemeClr val="tx1"/>
            </a:solidFill>
            <a:round/>
            <a:headEnd/>
            <a:tailEnd type="triangle" w="med" len="med"/>
          </a:ln>
        </p:spPr>
        <p:txBody>
          <a:bodyPr/>
          <a:lstStyle/>
          <a:p>
            <a:endParaRPr lang="zh-CN" altLang="en-US"/>
          </a:p>
        </p:txBody>
      </p:sp>
      <p:sp>
        <p:nvSpPr>
          <p:cNvPr id="7194" name="Text Box 25"/>
          <p:cNvSpPr txBox="1">
            <a:spLocks noChangeArrowheads="1"/>
          </p:cNvSpPr>
          <p:nvPr/>
        </p:nvSpPr>
        <p:spPr bwMode="auto">
          <a:xfrm>
            <a:off x="7273925" y="5319714"/>
            <a:ext cx="1885950" cy="409575"/>
          </a:xfrm>
          <a:prstGeom prst="rect">
            <a:avLst/>
          </a:prstGeom>
          <a:solidFill>
            <a:schemeClr val="accent1">
              <a:lumMod val="60000"/>
              <a:lumOff val="40000"/>
            </a:schemeClr>
          </a:solidFill>
          <a:ln w="12700">
            <a:solidFill>
              <a:srgbClr val="CC0099"/>
            </a:solidFill>
            <a:miter lim="800000"/>
            <a:headEnd/>
            <a:tailEnd/>
          </a:ln>
        </p:spPr>
        <p:txBody>
          <a:bodyPr>
            <a:spAutoFit/>
          </a:bodyPr>
          <a:lstStyle/>
          <a:p>
            <a:pPr algn="ctr" eaLnBrk="0" hangingPunct="0">
              <a:spcBef>
                <a:spcPct val="50000"/>
              </a:spcBef>
            </a:pPr>
            <a:r>
              <a:rPr kumimoji="1" lang="en-US" altLang="zh-CN" sz="2000" b="1" dirty="0">
                <a:solidFill>
                  <a:schemeClr val="tx2"/>
                </a:solidFill>
              </a:rPr>
              <a:t>H</a:t>
            </a:r>
            <a:r>
              <a:rPr kumimoji="1" lang="en-US" altLang="zh-CN" sz="2000" b="1" baseline="-20000" dirty="0">
                <a:solidFill>
                  <a:schemeClr val="tx2"/>
                </a:solidFill>
              </a:rPr>
              <a:t>0</a:t>
            </a:r>
            <a:r>
              <a:rPr kumimoji="1" lang="zh-CN" altLang="en-US" sz="2000" b="1" dirty="0">
                <a:solidFill>
                  <a:schemeClr val="tx2"/>
                </a:solidFill>
              </a:rPr>
              <a:t>的拒绝区域</a:t>
            </a:r>
          </a:p>
        </p:txBody>
      </p:sp>
      <p:sp>
        <p:nvSpPr>
          <p:cNvPr id="7195" name="Text Box 26"/>
          <p:cNvSpPr txBox="1">
            <a:spLocks noChangeArrowheads="1"/>
          </p:cNvSpPr>
          <p:nvPr/>
        </p:nvSpPr>
        <p:spPr bwMode="auto">
          <a:xfrm>
            <a:off x="8607425" y="4584701"/>
            <a:ext cx="1703388" cy="396875"/>
          </a:xfrm>
          <a:prstGeom prst="rect">
            <a:avLst/>
          </a:prstGeom>
          <a:noFill/>
          <a:ln w="12700">
            <a:noFill/>
            <a:miter lim="800000"/>
            <a:headEnd/>
            <a:tailEnd/>
          </a:ln>
        </p:spPr>
        <p:txBody>
          <a:bodyPr>
            <a:spAutoFit/>
          </a:bodyPr>
          <a:lstStyle/>
          <a:p>
            <a:pPr eaLnBrk="0" hangingPunct="0">
              <a:spcBef>
                <a:spcPct val="50000"/>
              </a:spcBef>
            </a:pPr>
            <a:r>
              <a:rPr kumimoji="1" lang="en-US" altLang="zh-CN" sz="2000" b="1">
                <a:solidFill>
                  <a:srgbClr val="3333FF"/>
                </a:solidFill>
              </a:rPr>
              <a:t>  </a:t>
            </a:r>
            <a:r>
              <a:rPr kumimoji="1" lang="zh-CN" altLang="en-US" sz="2000" b="1">
                <a:solidFill>
                  <a:srgbClr val="3333FF"/>
                </a:solidFill>
              </a:rPr>
              <a:t>检验统计量</a:t>
            </a:r>
          </a:p>
        </p:txBody>
      </p:sp>
      <p:graphicFrame>
        <p:nvGraphicFramePr>
          <p:cNvPr id="7170" name="Object 1026"/>
          <p:cNvGraphicFramePr>
            <a:graphicFrameLocks noChangeAspect="1"/>
          </p:cNvGraphicFramePr>
          <p:nvPr>
            <p:extLst>
              <p:ext uri="{D42A27DB-BD31-4B8C-83A1-F6EECF244321}">
                <p14:modId xmlns:p14="http://schemas.microsoft.com/office/powerpoint/2010/main" val="2223240103"/>
              </p:ext>
            </p:extLst>
          </p:nvPr>
        </p:nvGraphicFramePr>
        <p:xfrm>
          <a:off x="2365579" y="1366837"/>
          <a:ext cx="3697084" cy="676275"/>
        </p:xfrm>
        <a:graphic>
          <a:graphicData uri="http://schemas.openxmlformats.org/presentationml/2006/ole">
            <mc:AlternateContent xmlns:mc="http://schemas.openxmlformats.org/markup-compatibility/2006">
              <mc:Choice xmlns:v="urn:schemas-microsoft-com:vml" Requires="v">
                <p:oleObj name="公式" r:id="rId2" imgW="1523880" imgH="228600" progId="Equation.3">
                  <p:embed/>
                </p:oleObj>
              </mc:Choice>
              <mc:Fallback>
                <p:oleObj name="公式" r:id="rId2" imgW="1523880" imgH="228600" progId="Equation.3">
                  <p:embed/>
                  <p:pic>
                    <p:nvPicPr>
                      <p:cNvPr id="7170" name="Object 102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65579" y="1366837"/>
                        <a:ext cx="3697084" cy="676275"/>
                      </a:xfrm>
                      <a:prstGeom prst="rect">
                        <a:avLst/>
                      </a:prstGeom>
                      <a:noFill/>
                      <a:ln>
                        <a:solidFill>
                          <a:srgbClr val="C00000"/>
                        </a:solidFill>
                      </a:ln>
                    </p:spPr>
                  </p:pic>
                </p:oleObj>
              </mc:Fallback>
            </mc:AlternateContent>
          </a:graphicData>
        </a:graphic>
      </p:graphicFrame>
    </p:spTree>
    <p:extLst>
      <p:ext uri="{BB962C8B-B14F-4D97-AF65-F5344CB8AC3E}">
        <p14:creationId xmlns:p14="http://schemas.microsoft.com/office/powerpoint/2010/main" val="337701322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stretch>
            <a:fillRect/>
          </a:stretch>
        </p:blipFill>
        <p:spPr>
          <a:xfrm>
            <a:off x="4867220" y="4831792"/>
            <a:ext cx="4311071" cy="1339849"/>
          </a:xfrm>
          <a:prstGeom prst="rect">
            <a:avLst/>
          </a:prstGeom>
          <a:noFill/>
          <a:ln>
            <a:noFill/>
          </a:ln>
        </p:spPr>
      </p:pic>
      <p:sp>
        <p:nvSpPr>
          <p:cNvPr id="8195" name="灯片编号占位符 5"/>
          <p:cNvSpPr>
            <a:spLocks noGrp="1"/>
          </p:cNvSpPr>
          <p:nvPr>
            <p:ph type="sldNum" sz="quarter" idx="4294967295"/>
          </p:nvPr>
        </p:nvSpPr>
        <p:spPr>
          <a:noFill/>
        </p:spPr>
        <p:txBody>
          <a:bodyPr/>
          <a:lstStyle/>
          <a:p>
            <a:r>
              <a:rPr lang="en-US" altLang="zh-CN">
                <a:ea typeface="宋体" pitchFamily="2" charset="-122"/>
              </a:rPr>
              <a:t>8--</a:t>
            </a:r>
            <a:fld id="{41E9AE13-EBE3-42C7-9D45-8AC5E7DA498B}" type="slidenum">
              <a:rPr lang="en-US" altLang="zh-CN" smtClean="0">
                <a:ea typeface="宋体" pitchFamily="2" charset="-122"/>
              </a:rPr>
              <a:pPr/>
              <a:t>22</a:t>
            </a:fld>
            <a:endParaRPr lang="en-US" altLang="zh-CN">
              <a:ea typeface="宋体" pitchFamily="2" charset="-122"/>
            </a:endParaRPr>
          </a:p>
        </p:txBody>
      </p:sp>
      <p:sp>
        <p:nvSpPr>
          <p:cNvPr id="8196" name="Rectangle 2"/>
          <p:cNvSpPr>
            <a:spLocks noGrp="1" noChangeArrowheads="1"/>
          </p:cNvSpPr>
          <p:nvPr>
            <p:ph type="body" idx="1"/>
          </p:nvPr>
        </p:nvSpPr>
        <p:spPr>
          <a:xfrm>
            <a:off x="1992312" y="2276475"/>
            <a:ext cx="8336111" cy="1079500"/>
          </a:xfrm>
          <a:noFill/>
        </p:spPr>
        <p:txBody>
          <a:bodyPr vert="horz" lIns="90488" tIns="44450" rIns="90488" bIns="44450" rtlCol="0">
            <a:normAutofit fontScale="70000" lnSpcReduction="20000"/>
          </a:bodyPr>
          <a:lstStyle/>
          <a:p>
            <a:pPr marL="0" indent="0">
              <a:lnSpc>
                <a:spcPct val="150000"/>
              </a:lnSpc>
              <a:buNone/>
            </a:pPr>
            <a:r>
              <a:rPr lang="zh-CN" altLang="en-US" sz="3600" dirty="0">
                <a:solidFill>
                  <a:srgbClr val="000000"/>
                </a:solidFill>
              </a:rPr>
              <a:t>     将样本资料代入检验统计量的公式，计算出检验统计量的观测值。</a:t>
            </a:r>
          </a:p>
        </p:txBody>
      </p:sp>
      <p:sp>
        <p:nvSpPr>
          <p:cNvPr id="28675" name="Text Box 3"/>
          <p:cNvSpPr txBox="1">
            <a:spLocks noChangeArrowheads="1"/>
          </p:cNvSpPr>
          <p:nvPr/>
        </p:nvSpPr>
        <p:spPr bwMode="auto">
          <a:xfrm>
            <a:off x="2705100" y="4362451"/>
            <a:ext cx="2514600" cy="366713"/>
          </a:xfrm>
          <a:prstGeom prst="rect">
            <a:avLst/>
          </a:prstGeom>
          <a:noFill/>
          <a:ln w="12700">
            <a:noFill/>
            <a:miter lim="800000"/>
            <a:headEnd/>
            <a:tailEnd/>
          </a:ln>
          <a:effectLst/>
        </p:spPr>
        <p:txBody>
          <a:bodyPr>
            <a:spAutoFit/>
          </a:bodyPr>
          <a:lstStyle/>
          <a:p>
            <a:pPr eaLnBrk="0" hangingPunct="0">
              <a:spcBef>
                <a:spcPct val="50000"/>
              </a:spcBef>
              <a:defRPr/>
            </a:pPr>
            <a:endParaRPr kumimoji="1" lang="zh-CN" altLang="zh-CN">
              <a:effectLst>
                <a:outerShdw blurRad="38100" dist="38100" dir="2700000" algn="tl">
                  <a:srgbClr val="C0C0C0"/>
                </a:outerShdw>
              </a:effectLst>
              <a:latin typeface="Arial" charset="0"/>
              <a:ea typeface="宋体" charset="-122"/>
            </a:endParaRPr>
          </a:p>
        </p:txBody>
      </p:sp>
      <p:sp>
        <p:nvSpPr>
          <p:cNvPr id="8198" name="Rectangle 1026"/>
          <p:cNvSpPr>
            <a:spLocks noGrp="1" noChangeArrowheads="1"/>
          </p:cNvSpPr>
          <p:nvPr>
            <p:ph type="title"/>
          </p:nvPr>
        </p:nvSpPr>
        <p:spPr>
          <a:xfrm>
            <a:off x="2063751" y="549276"/>
            <a:ext cx="7991475" cy="1566863"/>
          </a:xfrm>
        </p:spPr>
        <p:txBody>
          <a:bodyPr>
            <a:normAutofit fontScale="90000"/>
          </a:bodyPr>
          <a:lstStyle/>
          <a:p>
            <a:pPr eaLnBrk="1" hangingPunct="1">
              <a:lnSpc>
                <a:spcPct val="150000"/>
              </a:lnSpc>
            </a:pPr>
            <a:r>
              <a:rPr lang="zh-CN" altLang="en-US" sz="4000" b="1" dirty="0"/>
              <a:t>（四）计算检验统计量的值</a:t>
            </a:r>
            <a:br>
              <a:rPr lang="zh-CN" altLang="en-US" sz="4000" b="1" dirty="0"/>
            </a:br>
            <a:r>
              <a:rPr lang="zh-CN" altLang="en-US" sz="4000" b="1" dirty="0"/>
              <a:t>及其对应的</a:t>
            </a:r>
            <a:r>
              <a:rPr lang="en-US" altLang="zh-CN" sz="4000" b="1" dirty="0"/>
              <a:t>P </a:t>
            </a:r>
            <a:r>
              <a:rPr lang="zh-CN" altLang="en-US" sz="4000" b="1" dirty="0"/>
              <a:t>值</a:t>
            </a:r>
          </a:p>
        </p:txBody>
      </p:sp>
      <p:sp>
        <p:nvSpPr>
          <p:cNvPr id="314371" name="Rectangle 1027"/>
          <p:cNvSpPr>
            <a:spLocks noChangeArrowheads="1"/>
          </p:cNvSpPr>
          <p:nvPr/>
        </p:nvSpPr>
        <p:spPr bwMode="auto">
          <a:xfrm>
            <a:off x="1847056" y="3561792"/>
            <a:ext cx="5671344" cy="1645208"/>
          </a:xfrm>
          <a:prstGeom prst="rect">
            <a:avLst/>
          </a:prstGeom>
          <a:noFill/>
          <a:ln w="12700">
            <a:noFill/>
            <a:miter lim="800000"/>
            <a:headEnd/>
            <a:tailEnd/>
          </a:ln>
        </p:spPr>
        <p:txBody>
          <a:bodyPr lIns="90488" tIns="44450" rIns="90488" bIns="44450"/>
          <a:lstStyle/>
          <a:p>
            <a:pPr marL="342900" indent="-342900" algn="just">
              <a:spcBef>
                <a:spcPts val="600"/>
              </a:spcBef>
              <a:buSzPct val="90000"/>
            </a:pPr>
            <a:r>
              <a:rPr lang="zh-CN" altLang="en-US" sz="3000" b="1" dirty="0">
                <a:latin typeface="Tahoma" pitchFamily="34" charset="0"/>
                <a:sym typeface="Wingdings 3" pitchFamily="18" charset="2"/>
              </a:rPr>
              <a:t>如例</a:t>
            </a:r>
            <a:r>
              <a:rPr lang="en-US" altLang="zh-CN" sz="3000" b="1" dirty="0">
                <a:latin typeface="Tahoma" pitchFamily="34" charset="0"/>
                <a:sym typeface="Wingdings 3" pitchFamily="18" charset="2"/>
              </a:rPr>
              <a:t>8-1</a:t>
            </a:r>
            <a:r>
              <a:rPr lang="zh-CN" altLang="en-US" sz="3000" b="1" dirty="0">
                <a:latin typeface="Tahoma" pitchFamily="34" charset="0"/>
                <a:sym typeface="Wingdings 3" pitchFamily="18" charset="2"/>
              </a:rPr>
              <a:t>中，</a:t>
            </a:r>
            <a:r>
              <a:rPr lang="el-GR" altLang="zh-CN" sz="3000" i="1" dirty="0">
                <a:latin typeface="Tahoma" pitchFamily="34" charset="0"/>
                <a:sym typeface="Wingdings 3" pitchFamily="18" charset="2"/>
              </a:rPr>
              <a:t>σ</a:t>
            </a:r>
            <a:r>
              <a:rPr lang="en-US" altLang="zh-CN" sz="3000" i="1" dirty="0">
                <a:latin typeface="Tahoma" pitchFamily="34" charset="0"/>
                <a:sym typeface="Wingdings 3" pitchFamily="18" charset="2"/>
              </a:rPr>
              <a:t> </a:t>
            </a:r>
            <a:r>
              <a:rPr lang="el-GR" altLang="zh-CN" sz="3000" dirty="0">
                <a:latin typeface="Tahoma" pitchFamily="34" charset="0"/>
                <a:sym typeface="Wingdings 3" pitchFamily="18" charset="2"/>
              </a:rPr>
              <a:t>=0.15</a:t>
            </a:r>
            <a:r>
              <a:rPr lang="zh-CN" altLang="el-GR" sz="3000" dirty="0">
                <a:latin typeface="Tahoma" pitchFamily="34" charset="0"/>
                <a:sym typeface="Wingdings 3" pitchFamily="18" charset="2"/>
              </a:rPr>
              <a:t>，</a:t>
            </a:r>
            <a:r>
              <a:rPr lang="en-US" altLang="zh-CN" sz="3000" i="1" dirty="0">
                <a:latin typeface="Tahoma" pitchFamily="34" charset="0"/>
                <a:sym typeface="Wingdings 3" pitchFamily="18" charset="2"/>
              </a:rPr>
              <a:t>n</a:t>
            </a:r>
            <a:r>
              <a:rPr lang="en-US" altLang="zh-CN" sz="3000" dirty="0">
                <a:latin typeface="Tahoma" pitchFamily="34" charset="0"/>
                <a:sym typeface="Wingdings 3" pitchFamily="18" charset="2"/>
              </a:rPr>
              <a:t>=100</a:t>
            </a:r>
          </a:p>
          <a:p>
            <a:pPr marL="342900" indent="-342900" algn="just">
              <a:spcBef>
                <a:spcPts val="600"/>
              </a:spcBef>
              <a:buSzPct val="90000"/>
            </a:pPr>
            <a:r>
              <a:rPr lang="en-US" altLang="zh-CN" sz="3200" b="1" i="1" dirty="0">
                <a:latin typeface="仿宋" panose="02010609060101010101" pitchFamily="49" charset="-122"/>
                <a:ea typeface="仿宋" panose="02010609060101010101" pitchFamily="49" charset="-122"/>
                <a:sym typeface="Wingdings 3" pitchFamily="18" charset="2"/>
              </a:rPr>
              <a:t>H</a:t>
            </a:r>
            <a:r>
              <a:rPr lang="en-US" altLang="zh-CN" sz="3200" b="1" baseline="-25000" dirty="0">
                <a:latin typeface="仿宋" panose="02010609060101010101" pitchFamily="49" charset="-122"/>
                <a:ea typeface="仿宋" panose="02010609060101010101" pitchFamily="49" charset="-122"/>
                <a:sym typeface="Wingdings 3" pitchFamily="18" charset="2"/>
              </a:rPr>
              <a:t>0</a:t>
            </a:r>
            <a:r>
              <a:rPr lang="en-US" altLang="zh-CN" sz="3200" b="1" dirty="0">
                <a:latin typeface="仿宋" panose="02010609060101010101" pitchFamily="49" charset="-122"/>
                <a:ea typeface="仿宋" panose="02010609060101010101" pitchFamily="49" charset="-122"/>
                <a:sym typeface="Wingdings 3" pitchFamily="18" charset="2"/>
              </a:rPr>
              <a:t>:</a:t>
            </a:r>
            <a:r>
              <a:rPr lang="el-GR" altLang="zh-CN" sz="4800" i="1" dirty="0">
                <a:latin typeface="Times New Roman" panose="02020603050405020304" pitchFamily="18" charset="0"/>
                <a:ea typeface="仿宋" panose="02010609060101010101" pitchFamily="49" charset="-122"/>
                <a:cs typeface="Times New Roman" panose="02020603050405020304" pitchFamily="18" charset="0"/>
                <a:sym typeface="Wingdings 3" pitchFamily="18" charset="2"/>
              </a:rPr>
              <a:t>μ</a:t>
            </a:r>
            <a:r>
              <a:rPr lang="en-US" altLang="zh-CN" sz="3200" dirty="0">
                <a:solidFill>
                  <a:srgbClr val="000000"/>
                </a:solidFill>
                <a:latin typeface="Times New Roman" pitchFamily="18" charset="0"/>
                <a:sym typeface="Wingdings 3" pitchFamily="18" charset="2"/>
              </a:rPr>
              <a:t>=250   </a:t>
            </a:r>
            <a:r>
              <a:rPr lang="zh-CN" altLang="en-US" sz="3200" b="1" dirty="0">
                <a:solidFill>
                  <a:srgbClr val="000000"/>
                </a:solidFill>
                <a:latin typeface="Times New Roman" pitchFamily="18" charset="0"/>
                <a:sym typeface="Wingdings 3" pitchFamily="18" charset="2"/>
              </a:rPr>
              <a:t>检验统计量：</a:t>
            </a:r>
            <a:endParaRPr lang="en-US" altLang="zh-CN" sz="3200" b="1" dirty="0">
              <a:solidFill>
                <a:srgbClr val="000000"/>
              </a:solidFill>
              <a:latin typeface="Times New Roman" pitchFamily="18" charset="0"/>
              <a:sym typeface="Wingdings 3" pitchFamily="18" charset="2"/>
            </a:endParaRPr>
          </a:p>
          <a:p>
            <a:pPr marL="342900" indent="-342900" algn="just">
              <a:spcBef>
                <a:spcPts val="600"/>
              </a:spcBef>
              <a:buSzPct val="90000"/>
            </a:pPr>
            <a:endParaRPr lang="zh-CN" altLang="en-US" sz="3000" b="1" dirty="0">
              <a:latin typeface="Tahoma" pitchFamily="34" charset="0"/>
              <a:sym typeface="Wingdings 3" pitchFamily="18" charset="2"/>
            </a:endParaRPr>
          </a:p>
        </p:txBody>
      </p:sp>
    </p:spTree>
    <p:extLst>
      <p:ext uri="{BB962C8B-B14F-4D97-AF65-F5344CB8AC3E}">
        <p14:creationId xmlns:p14="http://schemas.microsoft.com/office/powerpoint/2010/main" val="11758723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1" nodeType="clickEffect">
                                  <p:stCondLst>
                                    <p:cond delay="0"/>
                                  </p:stCondLst>
                                  <p:childTnLst>
                                    <p:set>
                                      <p:cBhvr>
                                        <p:cTn id="6" dur="1" fill="hold">
                                          <p:stCondLst>
                                            <p:cond delay="0"/>
                                          </p:stCondLst>
                                        </p:cTn>
                                        <p:tgtEl>
                                          <p:spTgt spid="314371"/>
                                        </p:tgtEl>
                                        <p:attrNameLst>
                                          <p:attrName>style.visibility</p:attrName>
                                        </p:attrNameLst>
                                      </p:cBhvr>
                                      <p:to>
                                        <p:strVal val="visible"/>
                                      </p:to>
                                    </p:set>
                                    <p:animEffect transition="in" filter="wipe(left)">
                                      <p:cBhvr>
                                        <p:cTn id="7" dur="500"/>
                                        <p:tgtEl>
                                          <p:spTgt spid="314371"/>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wipe(left)">
                                      <p:cBhvr>
                                        <p:cTn id="11"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4371" grpId="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灯片编号占位符 5"/>
          <p:cNvSpPr>
            <a:spLocks noGrp="1"/>
          </p:cNvSpPr>
          <p:nvPr>
            <p:ph type="sldNum" sz="quarter" idx="4294967295"/>
          </p:nvPr>
        </p:nvSpPr>
        <p:spPr>
          <a:noFill/>
        </p:spPr>
        <p:txBody>
          <a:bodyPr/>
          <a:lstStyle/>
          <a:p>
            <a:r>
              <a:rPr lang="en-US" altLang="zh-CN">
                <a:ea typeface="宋体" pitchFamily="2" charset="-122"/>
              </a:rPr>
              <a:t>8--</a:t>
            </a:r>
            <a:fld id="{E7EDB70C-01E9-4F51-94E4-EF65D544FB7E}" type="slidenum">
              <a:rPr lang="en-US" altLang="zh-CN" smtClean="0">
                <a:ea typeface="宋体" pitchFamily="2" charset="-122"/>
              </a:rPr>
              <a:pPr/>
              <a:t>23</a:t>
            </a:fld>
            <a:endParaRPr lang="en-US" altLang="zh-CN">
              <a:ea typeface="宋体" pitchFamily="2" charset="-122"/>
            </a:endParaRPr>
          </a:p>
        </p:txBody>
      </p:sp>
      <p:sp>
        <p:nvSpPr>
          <p:cNvPr id="9220" name="Rectangle 2"/>
          <p:cNvSpPr>
            <a:spLocks noGrp="1" noChangeArrowheads="1"/>
          </p:cNvSpPr>
          <p:nvPr>
            <p:ph type="title"/>
          </p:nvPr>
        </p:nvSpPr>
        <p:spPr>
          <a:xfrm>
            <a:off x="1543051" y="465652"/>
            <a:ext cx="7000875" cy="990600"/>
          </a:xfrm>
        </p:spPr>
        <p:txBody>
          <a:bodyPr>
            <a:normAutofit/>
          </a:bodyPr>
          <a:lstStyle/>
          <a:p>
            <a:pPr eaLnBrk="1" hangingPunct="1"/>
            <a:r>
              <a:rPr lang="zh-CN" altLang="en-US" sz="3600" dirty="0"/>
              <a:t>假设检验的</a:t>
            </a:r>
            <a:r>
              <a:rPr lang="en-US" altLang="zh-CN" sz="3600" dirty="0">
                <a:latin typeface="Times New Roman" pitchFamily="18" charset="0"/>
              </a:rPr>
              <a:t>P</a:t>
            </a:r>
            <a:r>
              <a:rPr lang="zh-CN" altLang="en-US" sz="3600" dirty="0"/>
              <a:t>值</a:t>
            </a:r>
            <a:r>
              <a:rPr lang="en-US" altLang="zh-CN" sz="3600" dirty="0">
                <a:latin typeface="Times New Roman" pitchFamily="18" charset="0"/>
                <a:cs typeface="Times New Roman" pitchFamily="18" charset="0"/>
              </a:rPr>
              <a:t>(P-value)</a:t>
            </a:r>
            <a:endParaRPr lang="zh-CN" altLang="en-US" sz="3600" dirty="0">
              <a:latin typeface="Times New Roman" pitchFamily="18" charset="0"/>
              <a:cs typeface="Times New Roman" pitchFamily="18" charset="0"/>
            </a:endParaRPr>
          </a:p>
        </p:txBody>
      </p:sp>
      <p:sp>
        <p:nvSpPr>
          <p:cNvPr id="413699" name="Rectangle 3"/>
          <p:cNvSpPr>
            <a:spLocks noGrp="1" noChangeArrowheads="1"/>
          </p:cNvSpPr>
          <p:nvPr>
            <p:ph type="body" idx="1"/>
          </p:nvPr>
        </p:nvSpPr>
        <p:spPr>
          <a:xfrm>
            <a:off x="672709" y="1481174"/>
            <a:ext cx="5761038" cy="4821575"/>
          </a:xfrm>
        </p:spPr>
        <p:txBody>
          <a:bodyPr>
            <a:normAutofit/>
          </a:bodyPr>
          <a:lstStyle/>
          <a:p>
            <a:pPr marL="0" indent="0" algn="just">
              <a:lnSpc>
                <a:spcPct val="120000"/>
              </a:lnSpc>
              <a:buNone/>
            </a:pPr>
            <a:r>
              <a:rPr lang="zh-CN" altLang="en-US" dirty="0">
                <a:solidFill>
                  <a:srgbClr val="0066FF"/>
                </a:solidFill>
                <a:latin typeface="Times New Roman" pitchFamily="18" charset="0"/>
                <a:ea typeface="楷体_GB2312" pitchFamily="49" charset="-122"/>
              </a:rPr>
              <a:t>什么是 </a:t>
            </a:r>
            <a:r>
              <a:rPr lang="en-US" altLang="zh-CN" dirty="0">
                <a:solidFill>
                  <a:srgbClr val="0066FF"/>
                </a:solidFill>
                <a:latin typeface="Times New Roman" pitchFamily="18" charset="0"/>
                <a:ea typeface="楷体_GB2312" pitchFamily="49" charset="-122"/>
              </a:rPr>
              <a:t>P </a:t>
            </a:r>
            <a:r>
              <a:rPr lang="zh-CN" altLang="en-US" dirty="0">
                <a:solidFill>
                  <a:srgbClr val="0066FF"/>
                </a:solidFill>
                <a:latin typeface="Times New Roman" pitchFamily="18" charset="0"/>
                <a:ea typeface="楷体_GB2312" pitchFamily="49" charset="-122"/>
              </a:rPr>
              <a:t>值？</a:t>
            </a:r>
          </a:p>
          <a:p>
            <a:pPr marL="971550" lvl="1" algn="just">
              <a:lnSpc>
                <a:spcPct val="120000"/>
              </a:lnSpc>
            </a:pPr>
            <a:r>
              <a:rPr lang="zh-CN" altLang="en-US" sz="2600" b="1" dirty="0">
                <a:solidFill>
                  <a:srgbClr val="0070C0"/>
                </a:solidFill>
                <a:latin typeface="Times New Roman" pitchFamily="18" charset="0"/>
                <a:ea typeface="楷体_GB2312" pitchFamily="49" charset="-122"/>
              </a:rPr>
              <a:t>在原假设为真的假定前提下，出现观察到的样本以及更极端（偏离原假设）样本的概率</a:t>
            </a:r>
            <a:r>
              <a:rPr lang="zh-CN" altLang="en-US" sz="2600" dirty="0">
                <a:latin typeface="Times New Roman" pitchFamily="18" charset="0"/>
                <a:ea typeface="楷体_GB2312" pitchFamily="49" charset="-122"/>
              </a:rPr>
              <a:t>。</a:t>
            </a:r>
          </a:p>
          <a:p>
            <a:pPr marL="971550" lvl="1" algn="just"/>
            <a:r>
              <a:rPr lang="en-US" altLang="zh-CN" sz="2600" b="1" dirty="0">
                <a:ea typeface="楷体_GB2312" pitchFamily="49" charset="-122"/>
              </a:rPr>
              <a:t>P</a:t>
            </a:r>
            <a:r>
              <a:rPr lang="zh-CN" altLang="en-US" sz="2600" b="1" dirty="0">
                <a:ea typeface="楷体_GB2312" pitchFamily="49" charset="-122"/>
              </a:rPr>
              <a:t>值表示所观察到的样本对原假设的支持程度。</a:t>
            </a:r>
          </a:p>
          <a:p>
            <a:pPr marL="857250" lvl="2" indent="0" algn="just">
              <a:buNone/>
            </a:pPr>
            <a:r>
              <a:rPr lang="en-US" altLang="zh-CN" b="1" dirty="0">
                <a:ea typeface="楷体_GB2312" pitchFamily="49" charset="-122"/>
              </a:rPr>
              <a:t>   P</a:t>
            </a:r>
            <a:r>
              <a:rPr lang="zh-CN" altLang="en-US" b="1" dirty="0">
                <a:ea typeface="楷体_GB2312" pitchFamily="49" charset="-122"/>
              </a:rPr>
              <a:t>值越小，说明拒绝原假设的证据越强</a:t>
            </a:r>
            <a:endParaRPr lang="zh-CN" altLang="en-US" b="1" dirty="0">
              <a:latin typeface="Times New Roman" pitchFamily="18" charset="0"/>
              <a:ea typeface="楷体_GB2312" pitchFamily="49" charset="-122"/>
            </a:endParaRPr>
          </a:p>
        </p:txBody>
      </p:sp>
      <p:grpSp>
        <p:nvGrpSpPr>
          <p:cNvPr id="2" name="Group 5"/>
          <p:cNvGrpSpPr>
            <a:grpSpLocks/>
          </p:cNvGrpSpPr>
          <p:nvPr/>
        </p:nvGrpSpPr>
        <p:grpSpPr bwMode="auto">
          <a:xfrm>
            <a:off x="5321300" y="3882782"/>
            <a:ext cx="4641850" cy="2419967"/>
            <a:chOff x="1156" y="838"/>
            <a:chExt cx="2450" cy="1605"/>
          </a:xfrm>
        </p:grpSpPr>
        <p:sp>
          <p:nvSpPr>
            <p:cNvPr id="413702" name="Freeform 6"/>
            <p:cNvSpPr>
              <a:spLocks/>
            </p:cNvSpPr>
            <p:nvPr/>
          </p:nvSpPr>
          <p:spPr bwMode="auto">
            <a:xfrm>
              <a:off x="2608" y="1298"/>
              <a:ext cx="635" cy="635"/>
            </a:xfrm>
            <a:custGeom>
              <a:avLst/>
              <a:gdLst/>
              <a:ahLst/>
              <a:cxnLst>
                <a:cxn ang="0">
                  <a:pos x="0" y="0"/>
                </a:cxn>
                <a:cxn ang="0">
                  <a:pos x="0" y="734"/>
                </a:cxn>
                <a:cxn ang="0">
                  <a:pos x="1129" y="734"/>
                </a:cxn>
                <a:cxn ang="0">
                  <a:pos x="1002" y="700"/>
                </a:cxn>
                <a:cxn ang="0">
                  <a:pos x="880" y="659"/>
                </a:cxn>
                <a:cxn ang="0">
                  <a:pos x="764" y="612"/>
                </a:cxn>
                <a:cxn ang="0">
                  <a:pos x="652" y="561"/>
                </a:cxn>
                <a:cxn ang="0">
                  <a:pos x="546" y="504"/>
                </a:cxn>
                <a:cxn ang="0">
                  <a:pos x="445" y="444"/>
                </a:cxn>
                <a:cxn ang="0">
                  <a:pos x="352" y="380"/>
                </a:cxn>
                <a:cxn ang="0">
                  <a:pos x="267" y="310"/>
                </a:cxn>
                <a:cxn ang="0">
                  <a:pos x="189" y="237"/>
                </a:cxn>
                <a:cxn ang="0">
                  <a:pos x="116" y="162"/>
                </a:cxn>
                <a:cxn ang="0">
                  <a:pos x="54" y="82"/>
                </a:cxn>
                <a:cxn ang="0">
                  <a:pos x="0" y="0"/>
                </a:cxn>
              </a:cxnLst>
              <a:rect l="0" t="0" r="r" b="b"/>
              <a:pathLst>
                <a:path w="1129" h="734">
                  <a:moveTo>
                    <a:pt x="0" y="0"/>
                  </a:moveTo>
                  <a:lnTo>
                    <a:pt x="0" y="734"/>
                  </a:lnTo>
                  <a:lnTo>
                    <a:pt x="1129" y="734"/>
                  </a:lnTo>
                  <a:lnTo>
                    <a:pt x="1002" y="700"/>
                  </a:lnTo>
                  <a:lnTo>
                    <a:pt x="880" y="659"/>
                  </a:lnTo>
                  <a:lnTo>
                    <a:pt x="764" y="612"/>
                  </a:lnTo>
                  <a:lnTo>
                    <a:pt x="652" y="561"/>
                  </a:lnTo>
                  <a:lnTo>
                    <a:pt x="546" y="504"/>
                  </a:lnTo>
                  <a:lnTo>
                    <a:pt x="445" y="444"/>
                  </a:lnTo>
                  <a:lnTo>
                    <a:pt x="352" y="380"/>
                  </a:lnTo>
                  <a:lnTo>
                    <a:pt x="267" y="310"/>
                  </a:lnTo>
                  <a:lnTo>
                    <a:pt x="189" y="237"/>
                  </a:lnTo>
                  <a:lnTo>
                    <a:pt x="116" y="162"/>
                  </a:lnTo>
                  <a:lnTo>
                    <a:pt x="54" y="82"/>
                  </a:lnTo>
                  <a:lnTo>
                    <a:pt x="0" y="0"/>
                  </a:lnTo>
                  <a:close/>
                </a:path>
              </a:pathLst>
            </a:custGeom>
            <a:solidFill>
              <a:srgbClr val="66FF66"/>
            </a:solidFill>
            <a:ln w="9525">
              <a:noFill/>
              <a:round/>
              <a:headEnd/>
              <a:tailEnd/>
            </a:ln>
            <a:effectLst>
              <a:outerShdw algn="ctr" rotWithShape="0">
                <a:srgbClr val="808080"/>
              </a:outerShdw>
            </a:effectLst>
          </p:spPr>
          <p:txBody>
            <a:bodyPr/>
            <a:lstStyle/>
            <a:p>
              <a:pPr>
                <a:defRPr/>
              </a:pPr>
              <a:endParaRPr lang="zh-CN" altLang="en-US">
                <a:latin typeface="Arial" charset="0"/>
                <a:ea typeface="宋体" charset="-122"/>
              </a:endParaRPr>
            </a:p>
          </p:txBody>
        </p:sp>
        <p:sp>
          <p:nvSpPr>
            <p:cNvPr id="413703" name="Line 7"/>
            <p:cNvSpPr>
              <a:spLocks noChangeShapeType="1"/>
            </p:cNvSpPr>
            <p:nvPr/>
          </p:nvSpPr>
          <p:spPr bwMode="auto">
            <a:xfrm>
              <a:off x="1156" y="1933"/>
              <a:ext cx="2450" cy="0"/>
            </a:xfrm>
            <a:prstGeom prst="line">
              <a:avLst/>
            </a:prstGeom>
            <a:noFill/>
            <a:ln w="57150">
              <a:solidFill>
                <a:schemeClr val="tx1"/>
              </a:solidFill>
              <a:miter lim="800000"/>
              <a:headEnd/>
              <a:tailEnd type="triangle" w="med" len="med"/>
            </a:ln>
            <a:effectLst>
              <a:outerShdw dist="35921" dir="2700000" algn="ctr" rotWithShape="0">
                <a:srgbClr val="808080"/>
              </a:outerShdw>
            </a:effectLst>
          </p:spPr>
          <p:txBody>
            <a:bodyPr wrap="none"/>
            <a:lstStyle/>
            <a:p>
              <a:pPr>
                <a:defRPr/>
              </a:pPr>
              <a:endParaRPr lang="zh-CN" altLang="en-US">
                <a:latin typeface="Arial" charset="0"/>
                <a:ea typeface="宋体" charset="-122"/>
              </a:endParaRPr>
            </a:p>
          </p:txBody>
        </p:sp>
        <p:sp>
          <p:nvSpPr>
            <p:cNvPr id="9229" name="Freeform 8"/>
            <p:cNvSpPr>
              <a:spLocks/>
            </p:cNvSpPr>
            <p:nvPr/>
          </p:nvSpPr>
          <p:spPr bwMode="auto">
            <a:xfrm>
              <a:off x="1201" y="845"/>
              <a:ext cx="1052" cy="1066"/>
            </a:xfrm>
            <a:custGeom>
              <a:avLst/>
              <a:gdLst>
                <a:gd name="T0" fmla="*/ 0 w 1943"/>
                <a:gd name="T1" fmla="*/ 7 h 1430"/>
                <a:gd name="T2" fmla="*/ 1 w 1943"/>
                <a:gd name="T3" fmla="*/ 7 h 1430"/>
                <a:gd name="T4" fmla="*/ 1 w 1943"/>
                <a:gd name="T5" fmla="*/ 7 h 1430"/>
                <a:gd name="T6" fmla="*/ 1 w 1943"/>
                <a:gd name="T7" fmla="*/ 7 h 1430"/>
                <a:gd name="T8" fmla="*/ 1 w 1943"/>
                <a:gd name="T9" fmla="*/ 7 h 1430"/>
                <a:gd name="T10" fmla="*/ 1 w 1943"/>
                <a:gd name="T11" fmla="*/ 7 h 1430"/>
                <a:gd name="T12" fmla="*/ 1 w 1943"/>
                <a:gd name="T13" fmla="*/ 7 h 1430"/>
                <a:gd name="T14" fmla="*/ 1 w 1943"/>
                <a:gd name="T15" fmla="*/ 5 h 1430"/>
                <a:gd name="T16" fmla="*/ 1 w 1943"/>
                <a:gd name="T17" fmla="*/ 4 h 1430"/>
                <a:gd name="T18" fmla="*/ 1 w 1943"/>
                <a:gd name="T19" fmla="*/ 3 h 1430"/>
                <a:gd name="T20" fmla="*/ 1 w 1943"/>
                <a:gd name="T21" fmla="*/ 2 h 1430"/>
                <a:gd name="T22" fmla="*/ 1 w 1943"/>
                <a:gd name="T23" fmla="*/ 1 h 1430"/>
                <a:gd name="T24" fmla="*/ 1 w 1943"/>
                <a:gd name="T25" fmla="*/ 1 h 1430"/>
                <a:gd name="T26" fmla="*/ 1 w 1943"/>
                <a:gd name="T27" fmla="*/ 1 h 1430"/>
                <a:gd name="T28" fmla="*/ 1 w 1943"/>
                <a:gd name="T29" fmla="*/ 1 h 1430"/>
                <a:gd name="T30" fmla="*/ 1 w 1943"/>
                <a:gd name="T31" fmla="*/ 0 h 1430"/>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943"/>
                <a:gd name="T49" fmla="*/ 0 h 1430"/>
                <a:gd name="T50" fmla="*/ 1943 w 1943"/>
                <a:gd name="T51" fmla="*/ 1430 h 1430"/>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943" h="1430">
                  <a:moveTo>
                    <a:pt x="0" y="1430"/>
                  </a:moveTo>
                  <a:lnTo>
                    <a:pt x="205" y="1412"/>
                  </a:lnTo>
                  <a:lnTo>
                    <a:pt x="309" y="1396"/>
                  </a:lnTo>
                  <a:lnTo>
                    <a:pt x="410" y="1373"/>
                  </a:lnTo>
                  <a:lnTo>
                    <a:pt x="511" y="1342"/>
                  </a:lnTo>
                  <a:lnTo>
                    <a:pt x="614" y="1298"/>
                  </a:lnTo>
                  <a:lnTo>
                    <a:pt x="715" y="1238"/>
                  </a:lnTo>
                  <a:lnTo>
                    <a:pt x="922" y="1073"/>
                  </a:lnTo>
                  <a:lnTo>
                    <a:pt x="1124" y="838"/>
                  </a:lnTo>
                  <a:lnTo>
                    <a:pt x="1329" y="559"/>
                  </a:lnTo>
                  <a:lnTo>
                    <a:pt x="1432" y="416"/>
                  </a:lnTo>
                  <a:lnTo>
                    <a:pt x="1533" y="282"/>
                  </a:lnTo>
                  <a:lnTo>
                    <a:pt x="1637" y="166"/>
                  </a:lnTo>
                  <a:lnTo>
                    <a:pt x="1738" y="78"/>
                  </a:lnTo>
                  <a:lnTo>
                    <a:pt x="1842" y="21"/>
                  </a:lnTo>
                  <a:lnTo>
                    <a:pt x="1943" y="0"/>
                  </a:lnTo>
                </a:path>
              </a:pathLst>
            </a:custGeom>
            <a:noFill/>
            <a:ln w="76200">
              <a:solidFill>
                <a:srgbClr val="FF00FF"/>
              </a:solidFill>
              <a:round/>
              <a:headEnd/>
              <a:tailEnd/>
            </a:ln>
          </p:spPr>
          <p:txBody>
            <a:bodyPr/>
            <a:lstStyle/>
            <a:p>
              <a:endParaRPr lang="zh-CN" altLang="en-US"/>
            </a:p>
          </p:txBody>
        </p:sp>
        <p:sp>
          <p:nvSpPr>
            <p:cNvPr id="9230" name="Freeform 9"/>
            <p:cNvSpPr>
              <a:spLocks/>
            </p:cNvSpPr>
            <p:nvPr/>
          </p:nvSpPr>
          <p:spPr bwMode="auto">
            <a:xfrm>
              <a:off x="2231" y="838"/>
              <a:ext cx="1103" cy="1050"/>
            </a:xfrm>
            <a:custGeom>
              <a:avLst/>
              <a:gdLst>
                <a:gd name="T0" fmla="*/ 1 w 1942"/>
                <a:gd name="T1" fmla="*/ 5 h 1430"/>
                <a:gd name="T2" fmla="*/ 1 w 1942"/>
                <a:gd name="T3" fmla="*/ 5 h 1430"/>
                <a:gd name="T4" fmla="*/ 1 w 1942"/>
                <a:gd name="T5" fmla="*/ 5 h 1430"/>
                <a:gd name="T6" fmla="*/ 1 w 1942"/>
                <a:gd name="T7" fmla="*/ 5 h 1430"/>
                <a:gd name="T8" fmla="*/ 1 w 1942"/>
                <a:gd name="T9" fmla="*/ 5 h 1430"/>
                <a:gd name="T10" fmla="*/ 1 w 1942"/>
                <a:gd name="T11" fmla="*/ 5 h 1430"/>
                <a:gd name="T12" fmla="*/ 1 w 1942"/>
                <a:gd name="T13" fmla="*/ 5 h 1430"/>
                <a:gd name="T14" fmla="*/ 1 w 1942"/>
                <a:gd name="T15" fmla="*/ 4 h 1430"/>
                <a:gd name="T16" fmla="*/ 1 w 1942"/>
                <a:gd name="T17" fmla="*/ 3 h 1430"/>
                <a:gd name="T18" fmla="*/ 1 w 1942"/>
                <a:gd name="T19" fmla="*/ 2 h 1430"/>
                <a:gd name="T20" fmla="*/ 1 w 1942"/>
                <a:gd name="T21" fmla="*/ 1 h 1430"/>
                <a:gd name="T22" fmla="*/ 1 w 1942"/>
                <a:gd name="T23" fmla="*/ 1 h 1430"/>
                <a:gd name="T24" fmla="*/ 1 w 1942"/>
                <a:gd name="T25" fmla="*/ 1 h 1430"/>
                <a:gd name="T26" fmla="*/ 1 w 1942"/>
                <a:gd name="T27" fmla="*/ 1 h 1430"/>
                <a:gd name="T28" fmla="*/ 1 w 1942"/>
                <a:gd name="T29" fmla="*/ 1 h 1430"/>
                <a:gd name="T30" fmla="*/ 0 w 1942"/>
                <a:gd name="T31" fmla="*/ 0 h 1430"/>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942"/>
                <a:gd name="T49" fmla="*/ 0 h 1430"/>
                <a:gd name="T50" fmla="*/ 1942 w 1942"/>
                <a:gd name="T51" fmla="*/ 1430 h 1430"/>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942" h="1430">
                  <a:moveTo>
                    <a:pt x="1942" y="1430"/>
                  </a:moveTo>
                  <a:lnTo>
                    <a:pt x="1737" y="1412"/>
                  </a:lnTo>
                  <a:lnTo>
                    <a:pt x="1636" y="1396"/>
                  </a:lnTo>
                  <a:lnTo>
                    <a:pt x="1532" y="1373"/>
                  </a:lnTo>
                  <a:lnTo>
                    <a:pt x="1431" y="1342"/>
                  </a:lnTo>
                  <a:lnTo>
                    <a:pt x="1328" y="1298"/>
                  </a:lnTo>
                  <a:lnTo>
                    <a:pt x="1227" y="1238"/>
                  </a:lnTo>
                  <a:lnTo>
                    <a:pt x="1022" y="1073"/>
                  </a:lnTo>
                  <a:lnTo>
                    <a:pt x="818" y="838"/>
                  </a:lnTo>
                  <a:lnTo>
                    <a:pt x="613" y="559"/>
                  </a:lnTo>
                  <a:lnTo>
                    <a:pt x="512" y="416"/>
                  </a:lnTo>
                  <a:lnTo>
                    <a:pt x="409" y="282"/>
                  </a:lnTo>
                  <a:lnTo>
                    <a:pt x="308" y="166"/>
                  </a:lnTo>
                  <a:lnTo>
                    <a:pt x="204" y="78"/>
                  </a:lnTo>
                  <a:lnTo>
                    <a:pt x="103" y="21"/>
                  </a:lnTo>
                  <a:lnTo>
                    <a:pt x="0" y="0"/>
                  </a:lnTo>
                </a:path>
              </a:pathLst>
            </a:custGeom>
            <a:noFill/>
            <a:ln w="76200">
              <a:solidFill>
                <a:srgbClr val="FF00FF"/>
              </a:solidFill>
              <a:round/>
              <a:headEnd/>
              <a:tailEnd/>
            </a:ln>
          </p:spPr>
          <p:txBody>
            <a:bodyPr/>
            <a:lstStyle/>
            <a:p>
              <a:endParaRPr lang="zh-CN" altLang="en-US"/>
            </a:p>
          </p:txBody>
        </p:sp>
        <p:sp>
          <p:nvSpPr>
            <p:cNvPr id="9231" name="AutoShape 10"/>
            <p:cNvSpPr>
              <a:spLocks noChangeArrowheads="1"/>
            </p:cNvSpPr>
            <p:nvPr/>
          </p:nvSpPr>
          <p:spPr bwMode="auto">
            <a:xfrm>
              <a:off x="2524" y="2009"/>
              <a:ext cx="836" cy="434"/>
            </a:xfrm>
            <a:prstGeom prst="wedgeRoundRectCallout">
              <a:avLst>
                <a:gd name="adj1" fmla="val -39569"/>
                <a:gd name="adj2" fmla="val -69407"/>
                <a:gd name="adj3" fmla="val 16667"/>
              </a:avLst>
            </a:prstGeom>
            <a:solidFill>
              <a:schemeClr val="accent1">
                <a:lumMod val="20000"/>
                <a:lumOff val="80000"/>
              </a:schemeClr>
            </a:solidFill>
            <a:ln w="9525">
              <a:solidFill>
                <a:srgbClr val="FF0066"/>
              </a:solidFill>
              <a:miter lim="800000"/>
              <a:headEnd/>
              <a:tailEnd/>
            </a:ln>
          </p:spPr>
          <p:txBody>
            <a:bodyPr/>
            <a:lstStyle/>
            <a:p>
              <a:pPr algn="ctr"/>
              <a:r>
                <a:rPr lang="zh-CN" altLang="en-US" dirty="0">
                  <a:solidFill>
                    <a:srgbClr val="CC0099"/>
                  </a:solidFill>
                </a:rPr>
                <a:t>检验统计量的观察值</a:t>
              </a:r>
            </a:p>
          </p:txBody>
        </p:sp>
        <p:sp>
          <p:nvSpPr>
            <p:cNvPr id="413707" name="Line 11"/>
            <p:cNvSpPr>
              <a:spLocks noChangeShapeType="1"/>
            </p:cNvSpPr>
            <p:nvPr/>
          </p:nvSpPr>
          <p:spPr bwMode="auto">
            <a:xfrm>
              <a:off x="2608" y="1344"/>
              <a:ext cx="0" cy="583"/>
            </a:xfrm>
            <a:prstGeom prst="line">
              <a:avLst/>
            </a:prstGeom>
            <a:noFill/>
            <a:ln w="38100">
              <a:solidFill>
                <a:srgbClr val="CC0066"/>
              </a:solidFill>
              <a:round/>
              <a:headEnd/>
              <a:tailEnd/>
            </a:ln>
            <a:effectLst>
              <a:outerShdw dist="28398" dir="20006097" algn="ctr" rotWithShape="0">
                <a:schemeClr val="bg2"/>
              </a:outerShdw>
            </a:effectLst>
          </p:spPr>
          <p:txBody>
            <a:bodyPr wrap="none" anchor="ctr"/>
            <a:lstStyle/>
            <a:p>
              <a:pPr>
                <a:defRPr/>
              </a:pPr>
              <a:endParaRPr lang="zh-CN" altLang="en-US">
                <a:latin typeface="Arial" charset="0"/>
                <a:ea typeface="宋体" charset="-122"/>
              </a:endParaRPr>
            </a:p>
          </p:txBody>
        </p:sp>
        <p:sp>
          <p:nvSpPr>
            <p:cNvPr id="9233" name="Text Box 12"/>
            <p:cNvSpPr txBox="1">
              <a:spLocks noChangeArrowheads="1"/>
            </p:cNvSpPr>
            <p:nvPr/>
          </p:nvSpPr>
          <p:spPr bwMode="auto">
            <a:xfrm>
              <a:off x="3152" y="1253"/>
              <a:ext cx="454" cy="249"/>
            </a:xfrm>
            <a:prstGeom prst="rect">
              <a:avLst/>
            </a:prstGeom>
            <a:noFill/>
            <a:ln w="9525">
              <a:solidFill>
                <a:srgbClr val="33CC33"/>
              </a:solidFill>
              <a:miter lim="800000"/>
              <a:headEnd/>
              <a:tailEnd/>
            </a:ln>
          </p:spPr>
          <p:txBody>
            <a:bodyPr>
              <a:spAutoFit/>
            </a:bodyPr>
            <a:lstStyle/>
            <a:p>
              <a:pPr>
                <a:spcBef>
                  <a:spcPct val="50000"/>
                </a:spcBef>
              </a:pPr>
              <a:r>
                <a:rPr lang="zh-CN" altLang="en-US" b="1">
                  <a:solidFill>
                    <a:srgbClr val="0000FF"/>
                  </a:solidFill>
                  <a:latin typeface="Times New Roman" pitchFamily="18" charset="0"/>
                </a:rPr>
                <a:t>Ｐ</a:t>
              </a:r>
              <a:r>
                <a:rPr lang="zh-CN" altLang="en-US" b="1">
                  <a:solidFill>
                    <a:srgbClr val="0000FF"/>
                  </a:solidFill>
                </a:rPr>
                <a:t>值</a:t>
              </a:r>
            </a:p>
          </p:txBody>
        </p:sp>
        <p:sp>
          <p:nvSpPr>
            <p:cNvPr id="9234" name="Line 13"/>
            <p:cNvSpPr>
              <a:spLocks noChangeShapeType="1"/>
            </p:cNvSpPr>
            <p:nvPr/>
          </p:nvSpPr>
          <p:spPr bwMode="auto">
            <a:xfrm flipH="1">
              <a:off x="2835" y="1480"/>
              <a:ext cx="317" cy="317"/>
            </a:xfrm>
            <a:prstGeom prst="line">
              <a:avLst/>
            </a:prstGeom>
            <a:noFill/>
            <a:ln w="38100">
              <a:solidFill>
                <a:srgbClr val="CC0099"/>
              </a:solidFill>
              <a:round/>
              <a:headEnd/>
              <a:tailEnd type="triangle" w="med" len="med"/>
            </a:ln>
          </p:spPr>
          <p:txBody>
            <a:bodyPr/>
            <a:lstStyle/>
            <a:p>
              <a:endParaRPr lang="zh-CN" altLang="en-US"/>
            </a:p>
          </p:txBody>
        </p:sp>
        <p:sp>
          <p:nvSpPr>
            <p:cNvPr id="9235" name="Text Box 14"/>
            <p:cNvSpPr txBox="1">
              <a:spLocks noChangeArrowheads="1"/>
            </p:cNvSpPr>
            <p:nvPr/>
          </p:nvSpPr>
          <p:spPr bwMode="auto">
            <a:xfrm>
              <a:off x="2144" y="2009"/>
              <a:ext cx="479" cy="263"/>
            </a:xfrm>
            <a:prstGeom prst="rect">
              <a:avLst/>
            </a:prstGeom>
            <a:noFill/>
            <a:ln w="9525">
              <a:noFill/>
              <a:miter lim="800000"/>
              <a:headEnd/>
              <a:tailEnd/>
            </a:ln>
          </p:spPr>
          <p:txBody>
            <a:bodyPr>
              <a:spAutoFit/>
            </a:bodyPr>
            <a:lstStyle/>
            <a:p>
              <a:pPr>
                <a:spcBef>
                  <a:spcPct val="50000"/>
                </a:spcBef>
              </a:pPr>
              <a:r>
                <a:rPr lang="el-GR" altLang="zh-CN" sz="2000" b="1" i="1">
                  <a:solidFill>
                    <a:srgbClr val="CC66FF"/>
                  </a:solidFill>
                  <a:cs typeface="Arial" pitchFamily="34" charset="0"/>
                </a:rPr>
                <a:t>θ</a:t>
              </a:r>
              <a:r>
                <a:rPr lang="en-US" altLang="zh-CN" sz="2000" b="1" baseline="-25000">
                  <a:solidFill>
                    <a:srgbClr val="CC66FF"/>
                  </a:solidFill>
                </a:rPr>
                <a:t>0</a:t>
              </a:r>
            </a:p>
          </p:txBody>
        </p:sp>
        <p:sp>
          <p:nvSpPr>
            <p:cNvPr id="9236" name="Oval 15"/>
            <p:cNvSpPr>
              <a:spLocks noChangeArrowheads="1"/>
            </p:cNvSpPr>
            <p:nvPr/>
          </p:nvSpPr>
          <p:spPr bwMode="auto">
            <a:xfrm>
              <a:off x="2200" y="1888"/>
              <a:ext cx="136" cy="91"/>
            </a:xfrm>
            <a:prstGeom prst="ellipse">
              <a:avLst/>
            </a:prstGeom>
            <a:solidFill>
              <a:srgbClr val="CC66FF"/>
            </a:solidFill>
            <a:ln w="9525">
              <a:solidFill>
                <a:schemeClr val="tx1"/>
              </a:solidFill>
              <a:round/>
              <a:headEnd/>
              <a:tailEnd/>
            </a:ln>
          </p:spPr>
          <p:txBody>
            <a:bodyPr wrap="none" anchor="ctr"/>
            <a:lstStyle/>
            <a:p>
              <a:endParaRPr lang="zh-CN" altLang="en-US"/>
            </a:p>
          </p:txBody>
        </p:sp>
      </p:grpSp>
      <p:sp>
        <p:nvSpPr>
          <p:cNvPr id="61447" name="Text Box 17"/>
          <p:cNvSpPr txBox="1">
            <a:spLocks noChangeArrowheads="1"/>
          </p:cNvSpPr>
          <p:nvPr/>
        </p:nvSpPr>
        <p:spPr bwMode="auto">
          <a:xfrm>
            <a:off x="7556966" y="3714293"/>
            <a:ext cx="2482850" cy="522287"/>
          </a:xfrm>
          <a:prstGeom prst="rect">
            <a:avLst/>
          </a:prstGeom>
          <a:noFill/>
          <a:ln w="9525">
            <a:noFill/>
            <a:miter lim="800000"/>
            <a:headEnd/>
            <a:tailEnd/>
          </a:ln>
        </p:spPr>
        <p:txBody>
          <a:bodyPr>
            <a:spAutoFit/>
          </a:bodyPr>
          <a:lstStyle/>
          <a:p>
            <a:pPr>
              <a:spcBef>
                <a:spcPct val="50000"/>
              </a:spcBef>
            </a:pPr>
            <a:r>
              <a:rPr lang="en-US" altLang="zh-CN" sz="2800" dirty="0">
                <a:solidFill>
                  <a:srgbClr val="000000"/>
                </a:solidFill>
              </a:rPr>
              <a:t>【</a:t>
            </a:r>
            <a:r>
              <a:rPr lang="zh-CN" altLang="en-US" sz="2800" dirty="0">
                <a:solidFill>
                  <a:srgbClr val="000000"/>
                </a:solidFill>
              </a:rPr>
              <a:t>右侧检验中</a:t>
            </a:r>
            <a:r>
              <a:rPr lang="en-US" altLang="zh-CN" sz="2800" dirty="0">
                <a:solidFill>
                  <a:srgbClr val="000000"/>
                </a:solidFill>
              </a:rPr>
              <a:t>】</a:t>
            </a:r>
          </a:p>
        </p:txBody>
      </p:sp>
      <p:graphicFrame>
        <p:nvGraphicFramePr>
          <p:cNvPr id="369680" name="Object 2064"/>
          <p:cNvGraphicFramePr>
            <a:graphicFrameLocks noChangeAspect="1"/>
          </p:cNvGraphicFramePr>
          <p:nvPr>
            <p:extLst>
              <p:ext uri="{D42A27DB-BD31-4B8C-83A1-F6EECF244321}">
                <p14:modId xmlns:p14="http://schemas.microsoft.com/office/powerpoint/2010/main" val="681008365"/>
              </p:ext>
            </p:extLst>
          </p:nvPr>
        </p:nvGraphicFramePr>
        <p:xfrm>
          <a:off x="6670675" y="2288005"/>
          <a:ext cx="3292475" cy="1050925"/>
        </p:xfrm>
        <a:graphic>
          <a:graphicData uri="http://schemas.openxmlformats.org/presentationml/2006/ole">
            <mc:AlternateContent xmlns:mc="http://schemas.openxmlformats.org/markup-compatibility/2006">
              <mc:Choice xmlns:v="urn:schemas-microsoft-com:vml" Requires="v">
                <p:oleObj name="公式" r:id="rId3" imgW="1511280" imgH="431640" progId="Equation.3">
                  <p:embed/>
                </p:oleObj>
              </mc:Choice>
              <mc:Fallback>
                <p:oleObj name="公式" r:id="rId3" imgW="1511280" imgH="431640" progId="Equation.3">
                  <p:embed/>
                  <p:pic>
                    <p:nvPicPr>
                      <p:cNvPr id="369680" name="Object 206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70675" y="2288005"/>
                        <a:ext cx="3292475" cy="1050925"/>
                      </a:xfrm>
                      <a:prstGeom prst="rect">
                        <a:avLst/>
                      </a:prstGeom>
                      <a:solidFill>
                        <a:schemeClr val="bg1"/>
                      </a:solidFill>
                      <a:ln>
                        <a:noFill/>
                      </a:ln>
                      <a:extLst>
                        <a:ext uri="{91240B29-F687-4F45-9708-019B960494DF}">
                          <a14:hiddenLine xmlns:a14="http://schemas.microsoft.com/office/drawing/2010/main" w="9525">
                            <a:solidFill>
                              <a:schemeClr val="hlink"/>
                            </a:solidFill>
                            <a:miter lim="800000"/>
                            <a:headEnd/>
                            <a:tailEnd/>
                          </a14:hiddenLine>
                        </a:ext>
                      </a:extLst>
                    </p:spPr>
                  </p:pic>
                </p:oleObj>
              </mc:Fallback>
            </mc:AlternateContent>
          </a:graphicData>
        </a:graphic>
      </p:graphicFrame>
      <p:sp>
        <p:nvSpPr>
          <p:cNvPr id="9225" name="TextBox 18"/>
          <p:cNvSpPr txBox="1">
            <a:spLocks noChangeArrowheads="1"/>
          </p:cNvSpPr>
          <p:nvPr/>
        </p:nvSpPr>
        <p:spPr bwMode="auto">
          <a:xfrm>
            <a:off x="6458932" y="1658617"/>
            <a:ext cx="2519363" cy="523220"/>
          </a:xfrm>
          <a:prstGeom prst="rect">
            <a:avLst/>
          </a:prstGeom>
          <a:noFill/>
          <a:ln w="9525">
            <a:noFill/>
            <a:miter lim="800000"/>
            <a:headEnd/>
            <a:tailEnd/>
          </a:ln>
        </p:spPr>
        <p:txBody>
          <a:bodyPr>
            <a:spAutoFit/>
          </a:bodyPr>
          <a:lstStyle/>
          <a:p>
            <a:r>
              <a:rPr lang="zh-CN" altLang="en-US" sz="2800" b="1" dirty="0">
                <a:solidFill>
                  <a:srgbClr val="000000"/>
                </a:solidFill>
              </a:rPr>
              <a:t>引例中的</a:t>
            </a:r>
            <a:r>
              <a:rPr lang="en-US" altLang="zh-CN" sz="2800" b="1" dirty="0">
                <a:solidFill>
                  <a:srgbClr val="000000"/>
                </a:solidFill>
              </a:rPr>
              <a:t> P</a:t>
            </a:r>
            <a:r>
              <a:rPr lang="zh-CN" altLang="en-US" sz="2800" b="1" dirty="0">
                <a:solidFill>
                  <a:srgbClr val="000000"/>
                </a:solidFill>
              </a:rPr>
              <a:t>值</a:t>
            </a:r>
            <a:r>
              <a:rPr lang="en-US" altLang="zh-CN" sz="2800" b="1" dirty="0">
                <a:solidFill>
                  <a:srgbClr val="000000"/>
                </a:solidFill>
              </a:rPr>
              <a:t>=</a:t>
            </a:r>
            <a:endParaRPr lang="zh-CN" altLang="en-US" sz="2800" b="1" dirty="0">
              <a:solidFill>
                <a:srgbClr val="000000"/>
              </a:solidFill>
            </a:endParaRPr>
          </a:p>
        </p:txBody>
      </p:sp>
    </p:spTree>
    <p:extLst>
      <p:ext uri="{BB962C8B-B14F-4D97-AF65-F5344CB8AC3E}">
        <p14:creationId xmlns:p14="http://schemas.microsoft.com/office/powerpoint/2010/main" val="21852575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13699">
                                            <p:txEl>
                                              <p:pRg st="0" end="0"/>
                                            </p:txEl>
                                          </p:spTgt>
                                        </p:tgtEl>
                                        <p:attrNameLst>
                                          <p:attrName>style.visibility</p:attrName>
                                        </p:attrNameLst>
                                      </p:cBhvr>
                                      <p:to>
                                        <p:strVal val="visible"/>
                                      </p:to>
                                    </p:set>
                                    <p:animEffect transition="in" filter="wipe(left)">
                                      <p:cBhvr>
                                        <p:cTn id="7" dur="500"/>
                                        <p:tgtEl>
                                          <p:spTgt spid="413699">
                                            <p:txEl>
                                              <p:pRg st="0" end="0"/>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413699">
                                            <p:txEl>
                                              <p:pRg st="1" end="1"/>
                                            </p:txEl>
                                          </p:spTgt>
                                        </p:tgtEl>
                                        <p:attrNameLst>
                                          <p:attrName>style.visibility</p:attrName>
                                        </p:attrNameLst>
                                      </p:cBhvr>
                                      <p:to>
                                        <p:strVal val="visible"/>
                                      </p:to>
                                    </p:set>
                                    <p:animEffect transition="in" filter="wipe(left)">
                                      <p:cBhvr>
                                        <p:cTn id="10" dur="500"/>
                                        <p:tgtEl>
                                          <p:spTgt spid="413699">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9225"/>
                                        </p:tgtEl>
                                        <p:attrNameLst>
                                          <p:attrName>style.visibility</p:attrName>
                                        </p:attrNameLst>
                                      </p:cBhvr>
                                      <p:to>
                                        <p:strVal val="visible"/>
                                      </p:to>
                                    </p:set>
                                    <p:animEffect transition="in" filter="blinds(horizontal)">
                                      <p:cBhvr>
                                        <p:cTn id="15" dur="500"/>
                                        <p:tgtEl>
                                          <p:spTgt spid="9225"/>
                                        </p:tgtEl>
                                      </p:cBhvr>
                                    </p:animEffect>
                                  </p:childTnLst>
                                </p:cTn>
                              </p:par>
                            </p:childTnLst>
                          </p:cTn>
                        </p:par>
                        <p:par>
                          <p:cTn id="16" fill="hold">
                            <p:stCondLst>
                              <p:cond delay="500"/>
                            </p:stCondLst>
                            <p:childTnLst>
                              <p:par>
                                <p:cTn id="17" presetID="22" presetClass="entr" presetSubtype="8" fill="hold" nodeType="afterEffect">
                                  <p:stCondLst>
                                    <p:cond delay="0"/>
                                  </p:stCondLst>
                                  <p:childTnLst>
                                    <p:set>
                                      <p:cBhvr>
                                        <p:cTn id="18" dur="1" fill="hold">
                                          <p:stCondLst>
                                            <p:cond delay="0"/>
                                          </p:stCondLst>
                                        </p:cTn>
                                        <p:tgtEl>
                                          <p:spTgt spid="369680"/>
                                        </p:tgtEl>
                                        <p:attrNameLst>
                                          <p:attrName>style.visibility</p:attrName>
                                        </p:attrNameLst>
                                      </p:cBhvr>
                                      <p:to>
                                        <p:strVal val="visible"/>
                                      </p:to>
                                    </p:set>
                                    <p:animEffect transition="in" filter="wipe(left)">
                                      <p:cBhvr>
                                        <p:cTn id="19" dur="500"/>
                                        <p:tgtEl>
                                          <p:spTgt spid="369680"/>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4" fill="hold" grpId="0" nodeType="clickEffect">
                                  <p:stCondLst>
                                    <p:cond delay="0"/>
                                  </p:stCondLst>
                                  <p:childTnLst>
                                    <p:set>
                                      <p:cBhvr>
                                        <p:cTn id="23" dur="1" fill="hold">
                                          <p:stCondLst>
                                            <p:cond delay="0"/>
                                          </p:stCondLst>
                                        </p:cTn>
                                        <p:tgtEl>
                                          <p:spTgt spid="61447"/>
                                        </p:tgtEl>
                                        <p:attrNameLst>
                                          <p:attrName>style.visibility</p:attrName>
                                        </p:attrNameLst>
                                      </p:cBhvr>
                                      <p:to>
                                        <p:strVal val="visible"/>
                                      </p:to>
                                    </p:set>
                                    <p:animEffect transition="in" filter="wipe(down)">
                                      <p:cBhvr>
                                        <p:cTn id="24" dur="500"/>
                                        <p:tgtEl>
                                          <p:spTgt spid="61447"/>
                                        </p:tgtEl>
                                      </p:cBhvr>
                                    </p:animEffect>
                                  </p:childTnLst>
                                </p:cTn>
                              </p:par>
                            </p:childTnLst>
                          </p:cTn>
                        </p:par>
                        <p:par>
                          <p:cTn id="25" fill="hold">
                            <p:stCondLst>
                              <p:cond delay="500"/>
                            </p:stCondLst>
                            <p:childTnLst>
                              <p:par>
                                <p:cTn id="26" presetID="22" presetClass="entr" presetSubtype="8" fill="hold" nodeType="afterEffect">
                                  <p:stCondLst>
                                    <p:cond delay="0"/>
                                  </p:stCondLst>
                                  <p:childTnLst>
                                    <p:set>
                                      <p:cBhvr>
                                        <p:cTn id="27" dur="1" fill="hold">
                                          <p:stCondLst>
                                            <p:cond delay="0"/>
                                          </p:stCondLst>
                                        </p:cTn>
                                        <p:tgtEl>
                                          <p:spTgt spid="2"/>
                                        </p:tgtEl>
                                        <p:attrNameLst>
                                          <p:attrName>style.visibility</p:attrName>
                                        </p:attrNameLst>
                                      </p:cBhvr>
                                      <p:to>
                                        <p:strVal val="visible"/>
                                      </p:to>
                                    </p:set>
                                    <p:animEffect transition="in" filter="wipe(left)">
                                      <p:cBhvr>
                                        <p:cTn id="28" dur="1000"/>
                                        <p:tgtEl>
                                          <p:spTgt spid="2"/>
                                        </p:tgtEl>
                                      </p:cBhvr>
                                    </p:animEffect>
                                  </p:childTnLst>
                                </p:cTn>
                              </p:par>
                              <p:par>
                                <p:cTn id="29" presetID="22" presetClass="entr" presetSubtype="8" fill="hold" grpId="0" nodeType="withEffect">
                                  <p:stCondLst>
                                    <p:cond delay="0"/>
                                  </p:stCondLst>
                                  <p:childTnLst>
                                    <p:set>
                                      <p:cBhvr>
                                        <p:cTn id="30" dur="1" fill="hold">
                                          <p:stCondLst>
                                            <p:cond delay="0"/>
                                          </p:stCondLst>
                                        </p:cTn>
                                        <p:tgtEl>
                                          <p:spTgt spid="413699">
                                            <p:txEl>
                                              <p:pRg st="2" end="2"/>
                                            </p:txEl>
                                          </p:spTgt>
                                        </p:tgtEl>
                                        <p:attrNameLst>
                                          <p:attrName>style.visibility</p:attrName>
                                        </p:attrNameLst>
                                      </p:cBhvr>
                                      <p:to>
                                        <p:strVal val="visible"/>
                                      </p:to>
                                    </p:set>
                                    <p:animEffect transition="in" filter="wipe(left)">
                                      <p:cBhvr>
                                        <p:cTn id="31" dur="500"/>
                                        <p:tgtEl>
                                          <p:spTgt spid="413699">
                                            <p:txEl>
                                              <p:pRg st="2" end="2"/>
                                            </p:txEl>
                                          </p:spTgt>
                                        </p:tgtEl>
                                      </p:cBhvr>
                                    </p:animEffect>
                                  </p:childTnLst>
                                </p:cTn>
                              </p:par>
                              <p:par>
                                <p:cTn id="32" presetID="22" presetClass="entr" presetSubtype="8" fill="hold" grpId="0" nodeType="withEffect">
                                  <p:stCondLst>
                                    <p:cond delay="0"/>
                                  </p:stCondLst>
                                  <p:childTnLst>
                                    <p:set>
                                      <p:cBhvr>
                                        <p:cTn id="33" dur="1" fill="hold">
                                          <p:stCondLst>
                                            <p:cond delay="0"/>
                                          </p:stCondLst>
                                        </p:cTn>
                                        <p:tgtEl>
                                          <p:spTgt spid="413699">
                                            <p:txEl>
                                              <p:pRg st="3" end="3"/>
                                            </p:txEl>
                                          </p:spTgt>
                                        </p:tgtEl>
                                        <p:attrNameLst>
                                          <p:attrName>style.visibility</p:attrName>
                                        </p:attrNameLst>
                                      </p:cBhvr>
                                      <p:to>
                                        <p:strVal val="visible"/>
                                      </p:to>
                                    </p:set>
                                    <p:animEffect transition="in" filter="wipe(left)">
                                      <p:cBhvr>
                                        <p:cTn id="34" dur="500"/>
                                        <p:tgtEl>
                                          <p:spTgt spid="41369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3699" grpId="0" build="p"/>
      <p:bldP spid="61447" grpId="0"/>
      <p:bldP spid="9225"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灯片编号占位符 5"/>
          <p:cNvSpPr>
            <a:spLocks noGrp="1"/>
          </p:cNvSpPr>
          <p:nvPr>
            <p:ph type="sldNum" sz="quarter" idx="4294967295"/>
          </p:nvPr>
        </p:nvSpPr>
        <p:spPr>
          <a:noFill/>
        </p:spPr>
        <p:txBody>
          <a:bodyPr/>
          <a:lstStyle/>
          <a:p>
            <a:r>
              <a:rPr lang="en-US" altLang="zh-CN">
                <a:ea typeface="宋体" pitchFamily="2" charset="-122"/>
              </a:rPr>
              <a:t>8--</a:t>
            </a:r>
            <a:fld id="{C861AEB8-EEDF-4B78-B6F9-4C21DE0DC5F7}" type="slidenum">
              <a:rPr lang="en-US" altLang="zh-CN" smtClean="0">
                <a:ea typeface="宋体" pitchFamily="2" charset="-122"/>
              </a:rPr>
              <a:pPr/>
              <a:t>24</a:t>
            </a:fld>
            <a:endParaRPr lang="en-US" altLang="zh-CN">
              <a:ea typeface="宋体" pitchFamily="2" charset="-122"/>
            </a:endParaRPr>
          </a:p>
        </p:txBody>
      </p:sp>
      <p:sp>
        <p:nvSpPr>
          <p:cNvPr id="69635" name="Rectangle 2"/>
          <p:cNvSpPr>
            <a:spLocks noGrp="1" noChangeArrowheads="1"/>
          </p:cNvSpPr>
          <p:nvPr>
            <p:ph type="title"/>
          </p:nvPr>
        </p:nvSpPr>
        <p:spPr>
          <a:xfrm>
            <a:off x="1677988" y="422276"/>
            <a:ext cx="7772400" cy="990600"/>
          </a:xfrm>
        </p:spPr>
        <p:txBody>
          <a:bodyPr>
            <a:normAutofit/>
          </a:bodyPr>
          <a:lstStyle/>
          <a:p>
            <a:pPr eaLnBrk="1" hangingPunct="1"/>
            <a:r>
              <a:rPr lang="en-US" altLang="zh-CN" sz="3600" b="1" dirty="0">
                <a:effectLst/>
                <a:latin typeface="Times New Roman" pitchFamily="18" charset="0"/>
              </a:rPr>
              <a:t>P</a:t>
            </a:r>
            <a:r>
              <a:rPr lang="zh-CN" altLang="en-US" sz="3600" b="1" dirty="0">
                <a:effectLst/>
              </a:rPr>
              <a:t>值的计算</a:t>
            </a:r>
          </a:p>
        </p:txBody>
      </p:sp>
      <p:sp>
        <p:nvSpPr>
          <p:cNvPr id="416771" name="Rectangle 3"/>
          <p:cNvSpPr>
            <a:spLocks noGrp="1" noChangeArrowheads="1"/>
          </p:cNvSpPr>
          <p:nvPr>
            <p:ph type="body" idx="1"/>
          </p:nvPr>
        </p:nvSpPr>
        <p:spPr>
          <a:xfrm>
            <a:off x="1771650" y="1342190"/>
            <a:ext cx="8134350" cy="5111750"/>
          </a:xfrm>
        </p:spPr>
        <p:txBody>
          <a:bodyPr>
            <a:normAutofit lnSpcReduction="10000"/>
          </a:bodyPr>
          <a:lstStyle/>
          <a:p>
            <a:pPr marL="571500" indent="-571500">
              <a:lnSpc>
                <a:spcPct val="115000"/>
              </a:lnSpc>
              <a:buNone/>
            </a:pPr>
            <a:r>
              <a:rPr lang="en-US" altLang="zh-CN" sz="2800" b="1" i="1" dirty="0">
                <a:solidFill>
                  <a:srgbClr val="000000"/>
                </a:solidFill>
                <a:latin typeface="Times New Roman" pitchFamily="18" charset="0"/>
              </a:rPr>
              <a:t>P </a:t>
            </a:r>
            <a:r>
              <a:rPr lang="zh-CN" altLang="en-US" sz="2800" b="1" dirty="0">
                <a:solidFill>
                  <a:srgbClr val="000000"/>
                </a:solidFill>
              </a:rPr>
              <a:t>值的大小与检验统计量的分布、检验统计量的观测值、检验类型等因素都有关</a:t>
            </a:r>
            <a:r>
              <a:rPr lang="zh-CN" altLang="en-US" sz="2800" dirty="0">
                <a:solidFill>
                  <a:srgbClr val="000000"/>
                </a:solidFill>
              </a:rPr>
              <a:t>。</a:t>
            </a:r>
          </a:p>
          <a:p>
            <a:pPr marL="571500" indent="-571500">
              <a:lnSpc>
                <a:spcPct val="115000"/>
              </a:lnSpc>
              <a:buNone/>
            </a:pPr>
            <a:r>
              <a:rPr lang="zh-CN" altLang="en-US" sz="2400" dirty="0">
                <a:latin typeface="Times New Roman" pitchFamily="18" charset="0"/>
              </a:rPr>
              <a:t> </a:t>
            </a:r>
            <a:r>
              <a:rPr lang="zh-CN" altLang="en-US" sz="2400" dirty="0">
                <a:solidFill>
                  <a:srgbClr val="000000"/>
                </a:solidFill>
                <a:latin typeface="Times New Roman" pitchFamily="18" charset="0"/>
                <a:ea typeface="楷体_GB2312" pitchFamily="49" charset="-122"/>
              </a:rPr>
              <a:t>设检验的统计量为</a:t>
            </a:r>
            <a:r>
              <a:rPr lang="en-US" altLang="zh-CN" sz="2400" dirty="0">
                <a:solidFill>
                  <a:srgbClr val="000000"/>
                </a:solidFill>
                <a:latin typeface="Times New Roman" pitchFamily="18" charset="0"/>
              </a:rPr>
              <a:t>ξ</a:t>
            </a:r>
            <a:r>
              <a:rPr lang="zh-CN" altLang="en-US" sz="2400" dirty="0">
                <a:solidFill>
                  <a:srgbClr val="000000"/>
                </a:solidFill>
                <a:latin typeface="Times New Roman" pitchFamily="18" charset="0"/>
                <a:ea typeface="楷体_GB2312" pitchFamily="49" charset="-122"/>
              </a:rPr>
              <a:t>，</a:t>
            </a:r>
            <a:r>
              <a:rPr lang="en-US" altLang="zh-CN" sz="2400" dirty="0">
                <a:solidFill>
                  <a:srgbClr val="000000"/>
                </a:solidFill>
                <a:latin typeface="Times New Roman" pitchFamily="18" charset="0"/>
                <a:ea typeface="楷体_GB2312" pitchFamily="49" charset="-122"/>
              </a:rPr>
              <a:t>c</a:t>
            </a:r>
            <a:r>
              <a:rPr lang="zh-CN" altLang="en-US" sz="2400" dirty="0">
                <a:solidFill>
                  <a:srgbClr val="000000"/>
                </a:solidFill>
                <a:latin typeface="Times New Roman" pitchFamily="18" charset="0"/>
                <a:ea typeface="楷体_GB2312" pitchFamily="49" charset="-122"/>
              </a:rPr>
              <a:t>是计算得统计量的值。</a:t>
            </a:r>
            <a:endParaRPr lang="zh-CN" altLang="en-US" sz="2400" dirty="0">
              <a:solidFill>
                <a:srgbClr val="000000"/>
              </a:solidFill>
              <a:latin typeface="Times New Roman" pitchFamily="18" charset="0"/>
            </a:endParaRPr>
          </a:p>
          <a:p>
            <a:pPr marL="571500" indent="-571500">
              <a:lnSpc>
                <a:spcPct val="115000"/>
              </a:lnSpc>
              <a:buNone/>
            </a:pPr>
            <a:r>
              <a:rPr lang="zh-CN" altLang="en-US" sz="2400" b="1" dirty="0">
                <a:solidFill>
                  <a:srgbClr val="0070C0"/>
                </a:solidFill>
                <a:latin typeface="Times New Roman" pitchFamily="18" charset="0"/>
              </a:rPr>
              <a:t>单侧检验中</a:t>
            </a:r>
            <a:r>
              <a:rPr lang="zh-CN" altLang="en-US" sz="2400" dirty="0">
                <a:solidFill>
                  <a:srgbClr val="0070C0"/>
                </a:solidFill>
                <a:latin typeface="Times New Roman" pitchFamily="18" charset="0"/>
              </a:rPr>
              <a:t>，</a:t>
            </a:r>
            <a:r>
              <a:rPr lang="en-US" altLang="zh-CN" sz="2400" dirty="0">
                <a:latin typeface="Times New Roman" pitchFamily="18" charset="0"/>
                <a:cs typeface="Times New Roman" pitchFamily="18" charset="0"/>
              </a:rPr>
              <a:t>P</a:t>
            </a:r>
            <a:r>
              <a:rPr lang="zh-CN" altLang="en-US" sz="2400" dirty="0">
                <a:latin typeface="Times New Roman" pitchFamily="18" charset="0"/>
              </a:rPr>
              <a:t>值通常为统计量分布曲线从检验统计量的观察值到拒绝区域这一侧的面积。</a:t>
            </a:r>
          </a:p>
          <a:p>
            <a:pPr marL="971550" lvl="1">
              <a:lnSpc>
                <a:spcPct val="115000"/>
              </a:lnSpc>
            </a:pPr>
            <a:r>
              <a:rPr lang="zh-CN" altLang="en-US" sz="2400" dirty="0"/>
              <a:t>左侧检验时，</a:t>
            </a:r>
            <a:r>
              <a:rPr lang="en-US" altLang="zh-CN" sz="2400" dirty="0">
                <a:latin typeface="宋体" pitchFamily="2" charset="-122"/>
              </a:rPr>
              <a:t>P</a:t>
            </a:r>
            <a:r>
              <a:rPr lang="zh-CN" altLang="en-US" sz="2400" dirty="0">
                <a:latin typeface="宋体" pitchFamily="2" charset="-122"/>
              </a:rPr>
              <a:t>值</a:t>
            </a:r>
            <a:r>
              <a:rPr lang="en-US" altLang="zh-CN" sz="2400" dirty="0">
                <a:latin typeface="宋体" pitchFamily="2" charset="-122"/>
              </a:rPr>
              <a:t>=P{</a:t>
            </a:r>
            <a:r>
              <a:rPr lang="en-US" altLang="zh-CN" sz="2400" dirty="0" err="1">
                <a:latin typeface="宋体" pitchFamily="2" charset="-122"/>
              </a:rPr>
              <a:t>ξ</a:t>
            </a:r>
            <a:r>
              <a:rPr lang="en-US" altLang="zh-CN" sz="2400" dirty="0" err="1">
                <a:latin typeface="宋体" pitchFamily="2" charset="-122"/>
                <a:sym typeface="Symbol" pitchFamily="18" charset="2"/>
              </a:rPr>
              <a:t></a:t>
            </a:r>
            <a:r>
              <a:rPr lang="en-US" altLang="zh-CN" sz="2400" dirty="0" err="1">
                <a:latin typeface="宋体" pitchFamily="2" charset="-122"/>
              </a:rPr>
              <a:t>c</a:t>
            </a:r>
            <a:r>
              <a:rPr lang="en-US" altLang="zh-CN" sz="2400" dirty="0">
                <a:latin typeface="宋体" pitchFamily="2" charset="-122"/>
              </a:rPr>
              <a:t>}</a:t>
            </a:r>
          </a:p>
          <a:p>
            <a:pPr marL="971550" lvl="1">
              <a:lnSpc>
                <a:spcPct val="115000"/>
              </a:lnSpc>
            </a:pPr>
            <a:r>
              <a:rPr lang="zh-CN" altLang="en-US" sz="2400" dirty="0"/>
              <a:t>右侧检验时，</a:t>
            </a:r>
            <a:r>
              <a:rPr lang="en-US" altLang="zh-CN" sz="2400" dirty="0">
                <a:latin typeface="宋体" pitchFamily="2" charset="-122"/>
              </a:rPr>
              <a:t>P</a:t>
            </a:r>
            <a:r>
              <a:rPr lang="zh-CN" altLang="en-US" sz="2400" dirty="0">
                <a:latin typeface="宋体" pitchFamily="2" charset="-122"/>
              </a:rPr>
              <a:t>值</a:t>
            </a:r>
            <a:r>
              <a:rPr lang="en-US" altLang="zh-CN" sz="2400" dirty="0">
                <a:latin typeface="宋体" pitchFamily="2" charset="-122"/>
              </a:rPr>
              <a:t>=P{</a:t>
            </a:r>
            <a:r>
              <a:rPr lang="en-US" altLang="zh-CN" sz="2400" dirty="0" err="1">
                <a:latin typeface="宋体" pitchFamily="2" charset="-122"/>
              </a:rPr>
              <a:t>ξ</a:t>
            </a:r>
            <a:r>
              <a:rPr lang="en-US" altLang="zh-CN" sz="2400" dirty="0" err="1">
                <a:latin typeface="宋体" pitchFamily="2" charset="-122"/>
                <a:sym typeface="Symbol" pitchFamily="18" charset="2"/>
              </a:rPr>
              <a:t></a:t>
            </a:r>
            <a:r>
              <a:rPr lang="en-US" altLang="zh-CN" sz="2400" dirty="0" err="1">
                <a:latin typeface="宋体" pitchFamily="2" charset="-122"/>
              </a:rPr>
              <a:t>c</a:t>
            </a:r>
            <a:r>
              <a:rPr lang="en-US" altLang="zh-CN" sz="2400" dirty="0">
                <a:latin typeface="宋体" pitchFamily="2" charset="-122"/>
              </a:rPr>
              <a:t>}</a:t>
            </a:r>
          </a:p>
          <a:p>
            <a:pPr marL="571500" indent="-571500">
              <a:lnSpc>
                <a:spcPct val="115000"/>
              </a:lnSpc>
              <a:buNone/>
            </a:pPr>
            <a:r>
              <a:rPr lang="zh-CN" altLang="en-US" sz="2400" b="1" dirty="0">
                <a:solidFill>
                  <a:srgbClr val="0070C0"/>
                </a:solidFill>
                <a:latin typeface="Times New Roman" pitchFamily="18" charset="0"/>
              </a:rPr>
              <a:t>双侧检验中</a:t>
            </a:r>
            <a:r>
              <a:rPr lang="zh-CN" altLang="en-US" sz="2400" dirty="0">
                <a:latin typeface="Times New Roman" pitchFamily="18" charset="0"/>
              </a:rPr>
              <a:t>，</a:t>
            </a:r>
            <a:r>
              <a:rPr lang="en-US" altLang="zh-CN" sz="2400" dirty="0">
                <a:latin typeface="Times New Roman" pitchFamily="18" charset="0"/>
                <a:cs typeface="Times New Roman" pitchFamily="18" charset="0"/>
              </a:rPr>
              <a:t>P</a:t>
            </a:r>
            <a:r>
              <a:rPr lang="zh-CN" altLang="en-US" sz="2400" dirty="0">
                <a:latin typeface="Times New Roman" pitchFamily="18" charset="0"/>
              </a:rPr>
              <a:t>值</a:t>
            </a:r>
            <a:r>
              <a:rPr lang="en-US" altLang="zh-CN" sz="2400" dirty="0">
                <a:latin typeface="Times New Roman" pitchFamily="18" charset="0"/>
                <a:cs typeface="Times New Roman" pitchFamily="18" charset="0"/>
              </a:rPr>
              <a:t>=</a:t>
            </a:r>
            <a:r>
              <a:rPr lang="zh-CN" altLang="en-US" sz="2400" dirty="0">
                <a:latin typeface="Times New Roman" pitchFamily="18" charset="0"/>
              </a:rPr>
              <a:t>单侧</a:t>
            </a:r>
            <a:r>
              <a:rPr lang="en-US" altLang="zh-CN" sz="2400" dirty="0">
                <a:latin typeface="Times New Roman" pitchFamily="18" charset="0"/>
                <a:cs typeface="Times New Roman" pitchFamily="18" charset="0"/>
              </a:rPr>
              <a:t>P</a:t>
            </a:r>
            <a:r>
              <a:rPr lang="zh-CN" altLang="en-US" sz="2400" dirty="0">
                <a:latin typeface="Times New Roman" pitchFamily="18" charset="0"/>
              </a:rPr>
              <a:t>值的</a:t>
            </a:r>
            <a:r>
              <a:rPr lang="en-US" altLang="zh-CN" sz="2400" dirty="0">
                <a:latin typeface="Times New Roman" pitchFamily="18" charset="0"/>
                <a:cs typeface="Times New Roman" pitchFamily="18" charset="0"/>
              </a:rPr>
              <a:t>2</a:t>
            </a:r>
            <a:r>
              <a:rPr lang="zh-CN" altLang="en-US" sz="2400" dirty="0">
                <a:latin typeface="Times New Roman" pitchFamily="18" charset="0"/>
              </a:rPr>
              <a:t>倍。即：</a:t>
            </a:r>
            <a:endParaRPr lang="zh-CN" altLang="en-US" sz="2400" dirty="0">
              <a:latin typeface="Times New Roman" pitchFamily="18" charset="0"/>
              <a:cs typeface="Times New Roman" pitchFamily="18" charset="0"/>
            </a:endParaRPr>
          </a:p>
          <a:p>
            <a:pPr marL="0" indent="0" algn="just">
              <a:lnSpc>
                <a:spcPct val="115000"/>
              </a:lnSpc>
              <a:buNone/>
            </a:pPr>
            <a:r>
              <a:rPr lang="zh-CN" altLang="en-US" sz="2400" dirty="0">
                <a:latin typeface="宋体" pitchFamily="2" charset="-122"/>
              </a:rPr>
              <a:t>     </a:t>
            </a:r>
            <a:r>
              <a:rPr lang="en-US" altLang="zh-CN" sz="2400" dirty="0">
                <a:solidFill>
                  <a:srgbClr val="000000"/>
                </a:solidFill>
                <a:latin typeface="宋体" pitchFamily="2" charset="-122"/>
              </a:rPr>
              <a:t>P</a:t>
            </a:r>
            <a:r>
              <a:rPr lang="zh-CN" altLang="en-US" sz="2400" dirty="0">
                <a:solidFill>
                  <a:srgbClr val="000000"/>
                </a:solidFill>
                <a:latin typeface="宋体" pitchFamily="2" charset="-122"/>
              </a:rPr>
              <a:t>值</a:t>
            </a:r>
            <a:r>
              <a:rPr lang="en-US" altLang="zh-CN" sz="2400" dirty="0">
                <a:solidFill>
                  <a:srgbClr val="000000"/>
                </a:solidFill>
                <a:latin typeface="宋体" pitchFamily="2" charset="-122"/>
              </a:rPr>
              <a:t>=2P{</a:t>
            </a:r>
            <a:r>
              <a:rPr lang="en-US" altLang="zh-CN" sz="2400" dirty="0" err="1">
                <a:solidFill>
                  <a:srgbClr val="000000"/>
                </a:solidFill>
                <a:latin typeface="宋体" pitchFamily="2" charset="-122"/>
              </a:rPr>
              <a:t>ξ≥c</a:t>
            </a:r>
            <a:r>
              <a:rPr lang="en-US" altLang="zh-CN" sz="2400" dirty="0">
                <a:solidFill>
                  <a:srgbClr val="000000"/>
                </a:solidFill>
                <a:latin typeface="宋体" pitchFamily="2" charset="-122"/>
              </a:rPr>
              <a:t>}</a:t>
            </a:r>
            <a:r>
              <a:rPr lang="zh-CN" altLang="en-US" sz="2400" dirty="0">
                <a:solidFill>
                  <a:srgbClr val="000000"/>
                </a:solidFill>
                <a:latin typeface="宋体" pitchFamily="2" charset="-122"/>
              </a:rPr>
              <a:t>，当 </a:t>
            </a:r>
            <a:r>
              <a:rPr lang="en-US" altLang="zh-CN" sz="2400" dirty="0">
                <a:solidFill>
                  <a:srgbClr val="000000"/>
                </a:solidFill>
                <a:latin typeface="宋体" pitchFamily="2" charset="-122"/>
              </a:rPr>
              <a:t>c </a:t>
            </a:r>
            <a:r>
              <a:rPr lang="zh-CN" altLang="en-US" sz="2400" dirty="0">
                <a:solidFill>
                  <a:srgbClr val="000000"/>
                </a:solidFill>
                <a:latin typeface="宋体" pitchFamily="2" charset="-122"/>
              </a:rPr>
              <a:t>在右侧时</a:t>
            </a:r>
            <a:r>
              <a:rPr lang="en-US" altLang="zh-CN" sz="2400" dirty="0">
                <a:solidFill>
                  <a:srgbClr val="000000"/>
                </a:solidFill>
                <a:latin typeface="宋体" pitchFamily="2" charset="-122"/>
              </a:rPr>
              <a:t>;</a:t>
            </a:r>
          </a:p>
          <a:p>
            <a:pPr marL="0" indent="0" algn="just">
              <a:lnSpc>
                <a:spcPct val="115000"/>
              </a:lnSpc>
              <a:buNone/>
            </a:pPr>
            <a:r>
              <a:rPr lang="zh-CN" altLang="en-US" sz="2400" dirty="0">
                <a:solidFill>
                  <a:srgbClr val="000000"/>
                </a:solidFill>
                <a:latin typeface="宋体" pitchFamily="2" charset="-122"/>
              </a:rPr>
              <a:t>或： </a:t>
            </a:r>
            <a:r>
              <a:rPr lang="en-US" altLang="zh-CN" sz="2400" dirty="0">
                <a:solidFill>
                  <a:srgbClr val="000000"/>
                </a:solidFill>
                <a:latin typeface="宋体" pitchFamily="2" charset="-122"/>
              </a:rPr>
              <a:t>P</a:t>
            </a:r>
            <a:r>
              <a:rPr lang="zh-CN" altLang="en-US" sz="2400" dirty="0">
                <a:solidFill>
                  <a:srgbClr val="000000"/>
                </a:solidFill>
                <a:latin typeface="宋体" pitchFamily="2" charset="-122"/>
              </a:rPr>
              <a:t>值</a:t>
            </a:r>
            <a:r>
              <a:rPr lang="en-US" altLang="zh-CN" sz="2400" dirty="0">
                <a:solidFill>
                  <a:srgbClr val="000000"/>
                </a:solidFill>
                <a:latin typeface="宋体" pitchFamily="2" charset="-122"/>
              </a:rPr>
              <a:t>=2P{</a:t>
            </a:r>
            <a:r>
              <a:rPr lang="en-US" altLang="zh-CN" sz="2400" dirty="0" err="1">
                <a:solidFill>
                  <a:srgbClr val="000000"/>
                </a:solidFill>
                <a:latin typeface="宋体" pitchFamily="2" charset="-122"/>
              </a:rPr>
              <a:t>ξ≤c</a:t>
            </a:r>
            <a:r>
              <a:rPr lang="en-US" altLang="zh-CN" sz="2400" dirty="0">
                <a:solidFill>
                  <a:srgbClr val="000000"/>
                </a:solidFill>
                <a:latin typeface="宋体" pitchFamily="2" charset="-122"/>
              </a:rPr>
              <a:t>}</a:t>
            </a:r>
            <a:r>
              <a:rPr lang="zh-CN" altLang="en-US" sz="2400" dirty="0">
                <a:solidFill>
                  <a:srgbClr val="000000"/>
                </a:solidFill>
                <a:latin typeface="宋体" pitchFamily="2" charset="-122"/>
              </a:rPr>
              <a:t>，当 </a:t>
            </a:r>
            <a:r>
              <a:rPr lang="en-US" altLang="zh-CN" sz="2400" dirty="0">
                <a:solidFill>
                  <a:srgbClr val="000000"/>
                </a:solidFill>
                <a:latin typeface="宋体" pitchFamily="2" charset="-122"/>
              </a:rPr>
              <a:t>c </a:t>
            </a:r>
            <a:r>
              <a:rPr lang="zh-CN" altLang="en-US" sz="2400" dirty="0">
                <a:solidFill>
                  <a:srgbClr val="000000"/>
                </a:solidFill>
                <a:latin typeface="宋体" pitchFamily="2" charset="-122"/>
              </a:rPr>
              <a:t>在左侧时。</a:t>
            </a:r>
          </a:p>
        </p:txBody>
      </p:sp>
    </p:spTree>
    <p:extLst>
      <p:ext uri="{BB962C8B-B14F-4D97-AF65-F5344CB8AC3E}">
        <p14:creationId xmlns:p14="http://schemas.microsoft.com/office/powerpoint/2010/main" val="11968579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1" nodeType="clickEffect">
                                  <p:stCondLst>
                                    <p:cond delay="0"/>
                                  </p:stCondLst>
                                  <p:childTnLst>
                                    <p:set>
                                      <p:cBhvr>
                                        <p:cTn id="6" dur="1" fill="hold">
                                          <p:stCondLst>
                                            <p:cond delay="0"/>
                                          </p:stCondLst>
                                        </p:cTn>
                                        <p:tgtEl>
                                          <p:spTgt spid="416771">
                                            <p:txEl>
                                              <p:pRg st="2" end="2"/>
                                            </p:txEl>
                                          </p:spTgt>
                                        </p:tgtEl>
                                        <p:attrNameLst>
                                          <p:attrName>style.visibility</p:attrName>
                                        </p:attrNameLst>
                                      </p:cBhvr>
                                      <p:to>
                                        <p:strVal val="visible"/>
                                      </p:to>
                                    </p:set>
                                    <p:animEffect transition="in" filter="diamond(in)">
                                      <p:cBhvr>
                                        <p:cTn id="7" dur="2000"/>
                                        <p:tgtEl>
                                          <p:spTgt spid="416771">
                                            <p:txEl>
                                              <p:pRg st="2" end="2"/>
                                            </p:txEl>
                                          </p:spTgt>
                                        </p:tgtEl>
                                      </p:cBhvr>
                                    </p:animEffect>
                                  </p:childTnLst>
                                </p:cTn>
                              </p:par>
                            </p:childTnLst>
                          </p:cTn>
                        </p:par>
                        <p:par>
                          <p:cTn id="8" fill="hold">
                            <p:stCondLst>
                              <p:cond delay="2000"/>
                            </p:stCondLst>
                            <p:childTnLst>
                              <p:par>
                                <p:cTn id="9" presetID="3" presetClass="entr" presetSubtype="10" fill="hold" grpId="0" nodeType="afterEffect">
                                  <p:stCondLst>
                                    <p:cond delay="0"/>
                                  </p:stCondLst>
                                  <p:childTnLst>
                                    <p:set>
                                      <p:cBhvr>
                                        <p:cTn id="10" dur="1" fill="hold">
                                          <p:stCondLst>
                                            <p:cond delay="0"/>
                                          </p:stCondLst>
                                        </p:cTn>
                                        <p:tgtEl>
                                          <p:spTgt spid="416771">
                                            <p:txEl>
                                              <p:pRg st="3" end="3"/>
                                            </p:txEl>
                                          </p:spTgt>
                                        </p:tgtEl>
                                        <p:attrNameLst>
                                          <p:attrName>style.visibility</p:attrName>
                                        </p:attrNameLst>
                                      </p:cBhvr>
                                      <p:to>
                                        <p:strVal val="visible"/>
                                      </p:to>
                                    </p:set>
                                    <p:animEffect transition="in" filter="blinds(horizontal)">
                                      <p:cBhvr>
                                        <p:cTn id="11" dur="500"/>
                                        <p:tgtEl>
                                          <p:spTgt spid="416771">
                                            <p:txEl>
                                              <p:pRg st="3" end="3"/>
                                            </p:txEl>
                                          </p:spTgt>
                                        </p:tgtEl>
                                      </p:cBhvr>
                                    </p:animEffect>
                                  </p:childTnLst>
                                </p:cTn>
                              </p:par>
                              <p:par>
                                <p:cTn id="12" presetID="3" presetClass="entr" presetSubtype="10" fill="hold" grpId="0" nodeType="withEffect">
                                  <p:stCondLst>
                                    <p:cond delay="0"/>
                                  </p:stCondLst>
                                  <p:childTnLst>
                                    <p:set>
                                      <p:cBhvr>
                                        <p:cTn id="13" dur="1" fill="hold">
                                          <p:stCondLst>
                                            <p:cond delay="0"/>
                                          </p:stCondLst>
                                        </p:cTn>
                                        <p:tgtEl>
                                          <p:spTgt spid="416771">
                                            <p:txEl>
                                              <p:pRg st="4" end="4"/>
                                            </p:txEl>
                                          </p:spTgt>
                                        </p:tgtEl>
                                        <p:attrNameLst>
                                          <p:attrName>style.visibility</p:attrName>
                                        </p:attrNameLst>
                                      </p:cBhvr>
                                      <p:to>
                                        <p:strVal val="visible"/>
                                      </p:to>
                                    </p:set>
                                    <p:animEffect transition="in" filter="blinds(horizontal)">
                                      <p:cBhvr>
                                        <p:cTn id="14" dur="500"/>
                                        <p:tgtEl>
                                          <p:spTgt spid="416771">
                                            <p:txEl>
                                              <p:pRg st="4" end="4"/>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3" presetClass="entr" presetSubtype="10" fill="hold" grpId="0" nodeType="clickEffect">
                                  <p:stCondLst>
                                    <p:cond delay="0"/>
                                  </p:stCondLst>
                                  <p:childTnLst>
                                    <p:set>
                                      <p:cBhvr>
                                        <p:cTn id="18" dur="1" fill="hold">
                                          <p:stCondLst>
                                            <p:cond delay="0"/>
                                          </p:stCondLst>
                                        </p:cTn>
                                        <p:tgtEl>
                                          <p:spTgt spid="416771">
                                            <p:txEl>
                                              <p:pRg st="5" end="5"/>
                                            </p:txEl>
                                          </p:spTgt>
                                        </p:tgtEl>
                                        <p:attrNameLst>
                                          <p:attrName>style.visibility</p:attrName>
                                        </p:attrNameLst>
                                      </p:cBhvr>
                                      <p:to>
                                        <p:strVal val="visible"/>
                                      </p:to>
                                    </p:set>
                                    <p:animEffect transition="in" filter="blinds(horizontal)">
                                      <p:cBhvr>
                                        <p:cTn id="19" dur="500"/>
                                        <p:tgtEl>
                                          <p:spTgt spid="416771">
                                            <p:txEl>
                                              <p:pRg st="5" end="5"/>
                                            </p:txEl>
                                          </p:spTgt>
                                        </p:tgtEl>
                                      </p:cBhvr>
                                    </p:animEffect>
                                  </p:childTnLst>
                                </p:cTn>
                              </p:par>
                            </p:childTnLst>
                          </p:cTn>
                        </p:par>
                        <p:par>
                          <p:cTn id="20" fill="hold">
                            <p:stCondLst>
                              <p:cond delay="500"/>
                            </p:stCondLst>
                            <p:childTnLst>
                              <p:par>
                                <p:cTn id="21" presetID="22" presetClass="entr" presetSubtype="8" fill="hold" grpId="0" nodeType="afterEffect">
                                  <p:stCondLst>
                                    <p:cond delay="0"/>
                                  </p:stCondLst>
                                  <p:childTnLst>
                                    <p:set>
                                      <p:cBhvr>
                                        <p:cTn id="22" dur="1" fill="hold">
                                          <p:stCondLst>
                                            <p:cond delay="0"/>
                                          </p:stCondLst>
                                        </p:cTn>
                                        <p:tgtEl>
                                          <p:spTgt spid="416771">
                                            <p:txEl>
                                              <p:pRg st="6" end="6"/>
                                            </p:txEl>
                                          </p:spTgt>
                                        </p:tgtEl>
                                        <p:attrNameLst>
                                          <p:attrName>style.visibility</p:attrName>
                                        </p:attrNameLst>
                                      </p:cBhvr>
                                      <p:to>
                                        <p:strVal val="visible"/>
                                      </p:to>
                                    </p:set>
                                    <p:animEffect transition="in" filter="wipe(left)">
                                      <p:cBhvr>
                                        <p:cTn id="23" dur="3000"/>
                                        <p:tgtEl>
                                          <p:spTgt spid="416771">
                                            <p:txEl>
                                              <p:pRg st="6" end="6"/>
                                            </p:txEl>
                                          </p:spTgt>
                                        </p:tgtEl>
                                      </p:cBhvr>
                                    </p:animEffect>
                                  </p:childTnLst>
                                </p:cTn>
                              </p:par>
                            </p:childTnLst>
                          </p:cTn>
                        </p:par>
                        <p:par>
                          <p:cTn id="24" fill="hold">
                            <p:stCondLst>
                              <p:cond delay="3500"/>
                            </p:stCondLst>
                            <p:childTnLst>
                              <p:par>
                                <p:cTn id="25" presetID="22" presetClass="entr" presetSubtype="8" fill="hold" grpId="0" nodeType="afterEffect">
                                  <p:stCondLst>
                                    <p:cond delay="0"/>
                                  </p:stCondLst>
                                  <p:childTnLst>
                                    <p:set>
                                      <p:cBhvr>
                                        <p:cTn id="26" dur="1" fill="hold">
                                          <p:stCondLst>
                                            <p:cond delay="0"/>
                                          </p:stCondLst>
                                        </p:cTn>
                                        <p:tgtEl>
                                          <p:spTgt spid="416771">
                                            <p:txEl>
                                              <p:pRg st="7" end="7"/>
                                            </p:txEl>
                                          </p:spTgt>
                                        </p:tgtEl>
                                        <p:attrNameLst>
                                          <p:attrName>style.visibility</p:attrName>
                                        </p:attrNameLst>
                                      </p:cBhvr>
                                      <p:to>
                                        <p:strVal val="visible"/>
                                      </p:to>
                                    </p:set>
                                    <p:animEffect transition="in" filter="wipe(left)">
                                      <p:cBhvr>
                                        <p:cTn id="27" dur="500"/>
                                        <p:tgtEl>
                                          <p:spTgt spid="416771">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6771" grpId="0" build="p"/>
      <p:bldP spid="416771" grpId="1"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灯片编号占位符 5"/>
          <p:cNvSpPr>
            <a:spLocks noGrp="1"/>
          </p:cNvSpPr>
          <p:nvPr>
            <p:ph type="sldNum" sz="quarter" idx="4294967295"/>
          </p:nvPr>
        </p:nvSpPr>
        <p:spPr>
          <a:noFill/>
        </p:spPr>
        <p:txBody>
          <a:bodyPr/>
          <a:lstStyle/>
          <a:p>
            <a:r>
              <a:rPr lang="en-US" altLang="zh-CN">
                <a:ea typeface="宋体" pitchFamily="2" charset="-122"/>
              </a:rPr>
              <a:t>8--</a:t>
            </a:r>
            <a:fld id="{FCEF04DA-ED18-4186-B56C-948FA22F8731}" type="slidenum">
              <a:rPr lang="en-US" altLang="zh-CN" smtClean="0">
                <a:ea typeface="宋体" pitchFamily="2" charset="-122"/>
              </a:rPr>
              <a:pPr/>
              <a:t>25</a:t>
            </a:fld>
            <a:endParaRPr lang="en-US" altLang="zh-CN">
              <a:ea typeface="宋体" pitchFamily="2" charset="-122"/>
            </a:endParaRPr>
          </a:p>
        </p:txBody>
      </p:sp>
      <p:sp>
        <p:nvSpPr>
          <p:cNvPr id="14340" name="Rectangle 2"/>
          <p:cNvSpPr>
            <a:spLocks noGrp="1" noChangeArrowheads="1"/>
          </p:cNvSpPr>
          <p:nvPr>
            <p:ph type="title"/>
          </p:nvPr>
        </p:nvSpPr>
        <p:spPr>
          <a:xfrm>
            <a:off x="893764" y="656522"/>
            <a:ext cx="6403975" cy="990600"/>
          </a:xfrm>
        </p:spPr>
        <p:txBody>
          <a:bodyPr/>
          <a:lstStyle/>
          <a:p>
            <a:r>
              <a:rPr lang="en-US" altLang="zh-CN" sz="3600" b="1" dirty="0">
                <a:effectLst/>
                <a:latin typeface="Times New Roman" pitchFamily="18" charset="0"/>
              </a:rPr>
              <a:t>P</a:t>
            </a:r>
            <a:r>
              <a:rPr lang="zh-CN" altLang="en-US" sz="3600" b="1" dirty="0">
                <a:effectLst/>
              </a:rPr>
              <a:t>值的计算</a:t>
            </a:r>
            <a:r>
              <a:rPr lang="zh-CN" altLang="en-US" sz="2800" dirty="0"/>
              <a:t>（续）</a:t>
            </a:r>
            <a:r>
              <a:rPr lang="en-US" altLang="zh-CN" sz="2800" dirty="0">
                <a:solidFill>
                  <a:srgbClr val="0070C0"/>
                </a:solidFill>
              </a:rPr>
              <a:t>—</a:t>
            </a:r>
            <a:r>
              <a:rPr lang="en-US" altLang="zh-CN" dirty="0">
                <a:solidFill>
                  <a:srgbClr val="0070C0"/>
                </a:solidFill>
              </a:rPr>
              <a:t>【</a:t>
            </a:r>
            <a:r>
              <a:rPr lang="zh-CN" altLang="en-US" dirty="0">
                <a:solidFill>
                  <a:srgbClr val="0070C0"/>
                </a:solidFill>
              </a:rPr>
              <a:t>例</a:t>
            </a:r>
            <a:r>
              <a:rPr lang="en-US" altLang="zh-CN" dirty="0">
                <a:solidFill>
                  <a:srgbClr val="0070C0"/>
                </a:solidFill>
              </a:rPr>
              <a:t>8-1】</a:t>
            </a:r>
            <a:endParaRPr lang="zh-CN" altLang="en-US" sz="3600" dirty="0">
              <a:solidFill>
                <a:srgbClr val="0070C0"/>
              </a:solidFill>
            </a:endParaRPr>
          </a:p>
        </p:txBody>
      </p:sp>
      <p:sp>
        <p:nvSpPr>
          <p:cNvPr id="463875" name="Rectangle 3"/>
          <p:cNvSpPr>
            <a:spLocks noGrp="1" noChangeArrowheads="1"/>
          </p:cNvSpPr>
          <p:nvPr>
            <p:ph type="body" idx="1"/>
          </p:nvPr>
        </p:nvSpPr>
        <p:spPr>
          <a:xfrm>
            <a:off x="1266826" y="1694170"/>
            <a:ext cx="9375774" cy="4376430"/>
          </a:xfrm>
        </p:spPr>
        <p:txBody>
          <a:bodyPr>
            <a:normAutofit lnSpcReduction="10000"/>
          </a:bodyPr>
          <a:lstStyle/>
          <a:p>
            <a:pPr marL="971550" lvl="1">
              <a:lnSpc>
                <a:spcPct val="150000"/>
              </a:lnSpc>
            </a:pPr>
            <a:r>
              <a:rPr lang="zh-CN" altLang="en-US" dirty="0">
                <a:solidFill>
                  <a:schemeClr val="tx1"/>
                </a:solidFill>
              </a:rPr>
              <a:t>检验统计量的值：</a:t>
            </a:r>
          </a:p>
          <a:p>
            <a:pPr marL="857250" lvl="2" indent="0">
              <a:lnSpc>
                <a:spcPct val="150000"/>
              </a:lnSpc>
              <a:buNone/>
            </a:pPr>
            <a:r>
              <a:rPr lang="zh-CN" altLang="en-US" sz="2800" dirty="0">
                <a:solidFill>
                  <a:schemeClr val="tx1"/>
                </a:solidFill>
              </a:rPr>
              <a:t> </a:t>
            </a:r>
          </a:p>
          <a:p>
            <a:pPr marL="1314450" lvl="2">
              <a:lnSpc>
                <a:spcPct val="150000"/>
              </a:lnSpc>
            </a:pPr>
            <a:endParaRPr lang="zh-CN" altLang="en-US" dirty="0">
              <a:solidFill>
                <a:schemeClr val="tx1"/>
              </a:solidFill>
            </a:endParaRPr>
          </a:p>
          <a:p>
            <a:pPr marL="533258" lvl="1" indent="0">
              <a:lnSpc>
                <a:spcPct val="150000"/>
              </a:lnSpc>
              <a:buNone/>
            </a:pPr>
            <a:r>
              <a:rPr lang="en-US" altLang="zh-CN" sz="3200" i="1" dirty="0">
                <a:solidFill>
                  <a:srgbClr val="FF0000"/>
                </a:solidFill>
                <a:latin typeface="Times New Roman" panose="02020603050405020304" pitchFamily="18" charset="0"/>
                <a:cs typeface="Times New Roman" panose="02020603050405020304" pitchFamily="18" charset="0"/>
              </a:rPr>
              <a:t>P </a:t>
            </a:r>
            <a:r>
              <a:rPr lang="zh-CN" altLang="en-US" sz="3200" dirty="0">
                <a:solidFill>
                  <a:srgbClr val="FF0000"/>
                </a:solidFill>
              </a:rPr>
              <a:t>值</a:t>
            </a:r>
            <a:r>
              <a:rPr lang="en-US" altLang="zh-CN" sz="3200" dirty="0"/>
              <a:t>=</a:t>
            </a:r>
            <a:r>
              <a:rPr lang="en-US" altLang="zh-CN" sz="3200" i="1" dirty="0"/>
              <a:t>P</a:t>
            </a:r>
            <a:r>
              <a:rPr lang="en-US" altLang="zh-CN" sz="3200" dirty="0"/>
              <a:t>(|Z|≥3.333) =2</a:t>
            </a:r>
            <a:r>
              <a:rPr lang="en-US" altLang="zh-CN" sz="3200" dirty="0">
                <a:cs typeface="Tahoma" pitchFamily="34" charset="0"/>
              </a:rPr>
              <a:t>×</a:t>
            </a:r>
            <a:r>
              <a:rPr lang="en-US" altLang="zh-CN" sz="3200" i="1" dirty="0"/>
              <a:t>P</a:t>
            </a:r>
            <a:r>
              <a:rPr lang="en-US" altLang="zh-CN" sz="3200" dirty="0"/>
              <a:t>(Z≤-3.333)</a:t>
            </a:r>
          </a:p>
          <a:p>
            <a:pPr marL="533258" lvl="1" indent="0">
              <a:lnSpc>
                <a:spcPct val="150000"/>
              </a:lnSpc>
              <a:buNone/>
            </a:pPr>
            <a:r>
              <a:rPr lang="en-US" altLang="zh-CN" sz="3200" dirty="0"/>
              <a:t>=2</a:t>
            </a:r>
            <a:r>
              <a:rPr lang="en-US" altLang="zh-CN" sz="3200" dirty="0">
                <a:cs typeface="Tahoma" pitchFamily="34" charset="0"/>
              </a:rPr>
              <a:t>×</a:t>
            </a:r>
            <a:r>
              <a:rPr lang="en-US" altLang="zh-CN" sz="3200" dirty="0"/>
              <a:t>0.000429=0.000858</a:t>
            </a:r>
          </a:p>
          <a:p>
            <a:pPr marL="990458" lvl="1">
              <a:lnSpc>
                <a:spcPct val="150000"/>
              </a:lnSpc>
              <a:buClr>
                <a:srgbClr val="0070C0"/>
              </a:buClr>
              <a:buFont typeface="Wingdings" panose="05000000000000000000" pitchFamily="2" charset="2"/>
              <a:buChar char="u"/>
            </a:pPr>
            <a:r>
              <a:rPr kumimoji="1" lang="en-US" altLang="zh-CN" b="1" i="1" dirty="0">
                <a:solidFill>
                  <a:srgbClr val="0070C0"/>
                </a:solidFill>
                <a:latin typeface="Times New Roman" pitchFamily="18" charset="0"/>
                <a:cs typeface="Times New Roman" pitchFamily="18" charset="0"/>
              </a:rPr>
              <a:t>P</a:t>
            </a:r>
            <a:r>
              <a:rPr kumimoji="1" lang="zh-CN" altLang="en-US" b="1" dirty="0">
                <a:solidFill>
                  <a:srgbClr val="0070C0"/>
                </a:solidFill>
              </a:rPr>
              <a:t>值</a:t>
            </a:r>
            <a:r>
              <a:rPr kumimoji="1" lang="zh-CN" altLang="en-US" b="1" dirty="0">
                <a:solidFill>
                  <a:srgbClr val="0070C0"/>
                </a:solidFill>
                <a:latin typeface="Times New Roman" pitchFamily="18" charset="0"/>
              </a:rPr>
              <a:t>一般</a:t>
            </a:r>
            <a:r>
              <a:rPr kumimoji="1" lang="zh-CN" altLang="en-US" b="1" dirty="0">
                <a:solidFill>
                  <a:srgbClr val="0070C0"/>
                </a:solidFill>
              </a:rPr>
              <a:t>不可能手工计算，可查表或有软件算出。</a:t>
            </a:r>
            <a:endParaRPr kumimoji="1" lang="en-US" altLang="zh-CN" b="1" dirty="0">
              <a:solidFill>
                <a:srgbClr val="0070C0"/>
              </a:solidFill>
              <a:latin typeface="Times New Roman" pitchFamily="18" charset="0"/>
            </a:endParaRPr>
          </a:p>
        </p:txBody>
      </p:sp>
      <p:graphicFrame>
        <p:nvGraphicFramePr>
          <p:cNvPr id="463878" name="Object 6"/>
          <p:cNvGraphicFramePr>
            <a:graphicFrameLocks noChangeAspect="1"/>
          </p:cNvGraphicFramePr>
          <p:nvPr>
            <p:extLst>
              <p:ext uri="{D42A27DB-BD31-4B8C-83A1-F6EECF244321}">
                <p14:modId xmlns:p14="http://schemas.microsoft.com/office/powerpoint/2010/main" val="2698320212"/>
              </p:ext>
            </p:extLst>
          </p:nvPr>
        </p:nvGraphicFramePr>
        <p:xfrm>
          <a:off x="1776464" y="2578160"/>
          <a:ext cx="3335190" cy="1092111"/>
        </p:xfrm>
        <a:graphic>
          <a:graphicData uri="http://schemas.openxmlformats.org/presentationml/2006/ole">
            <mc:AlternateContent xmlns:mc="http://schemas.openxmlformats.org/markup-compatibility/2006">
              <mc:Choice xmlns:v="urn:schemas-microsoft-com:vml" Requires="v">
                <p:oleObj name="公式" r:id="rId2" imgW="1562040" imgH="431640" progId="Equation.3">
                  <p:embed/>
                </p:oleObj>
              </mc:Choice>
              <mc:Fallback>
                <p:oleObj name="公式" r:id="rId2" imgW="1562040" imgH="431640" progId="Equation.3">
                  <p:embed/>
                  <p:pic>
                    <p:nvPicPr>
                      <p:cNvPr id="463878" name="Object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76464" y="2578160"/>
                        <a:ext cx="3335190" cy="1092111"/>
                      </a:xfrm>
                      <a:prstGeom prst="rect">
                        <a:avLst/>
                      </a:prstGeom>
                      <a:noFill/>
                    </p:spPr>
                  </p:pic>
                </p:oleObj>
              </mc:Fallback>
            </mc:AlternateContent>
          </a:graphicData>
        </a:graphic>
      </p:graphicFrame>
      <p:grpSp>
        <p:nvGrpSpPr>
          <p:cNvPr id="14343" name="Group 30"/>
          <p:cNvGrpSpPr>
            <a:grpSpLocks/>
          </p:cNvGrpSpPr>
          <p:nvPr/>
        </p:nvGrpSpPr>
        <p:grpSpPr bwMode="auto">
          <a:xfrm>
            <a:off x="6659872" y="656522"/>
            <a:ext cx="3492190" cy="2656282"/>
            <a:chOff x="3464" y="391"/>
            <a:chExt cx="2274" cy="1324"/>
          </a:xfrm>
        </p:grpSpPr>
        <p:sp>
          <p:nvSpPr>
            <p:cNvPr id="463881" name="Line 9"/>
            <p:cNvSpPr>
              <a:spLocks noChangeShapeType="1"/>
            </p:cNvSpPr>
            <p:nvPr/>
          </p:nvSpPr>
          <p:spPr bwMode="auto">
            <a:xfrm>
              <a:off x="3470" y="1480"/>
              <a:ext cx="2268" cy="0"/>
            </a:xfrm>
            <a:prstGeom prst="line">
              <a:avLst/>
            </a:prstGeom>
            <a:noFill/>
            <a:ln w="57150">
              <a:solidFill>
                <a:schemeClr val="tx1"/>
              </a:solidFill>
              <a:miter lim="800000"/>
              <a:headEnd/>
              <a:tailEnd type="triangle" w="med" len="med"/>
            </a:ln>
            <a:effectLst>
              <a:outerShdw dist="35921" dir="2700000" algn="ctr" rotWithShape="0">
                <a:srgbClr val="808080"/>
              </a:outerShdw>
            </a:effectLst>
          </p:spPr>
          <p:txBody>
            <a:bodyPr wrap="none"/>
            <a:lstStyle/>
            <a:p>
              <a:pPr>
                <a:defRPr/>
              </a:pPr>
              <a:endParaRPr lang="zh-CN" altLang="en-US">
                <a:latin typeface="Arial" charset="0"/>
                <a:ea typeface="宋体" charset="-122"/>
              </a:endParaRPr>
            </a:p>
          </p:txBody>
        </p:sp>
        <p:sp>
          <p:nvSpPr>
            <p:cNvPr id="463887" name="Freeform 15"/>
            <p:cNvSpPr>
              <a:spLocks/>
            </p:cNvSpPr>
            <p:nvPr/>
          </p:nvSpPr>
          <p:spPr bwMode="auto">
            <a:xfrm>
              <a:off x="4520" y="391"/>
              <a:ext cx="1103" cy="1050"/>
            </a:xfrm>
            <a:custGeom>
              <a:avLst/>
              <a:gdLst/>
              <a:ahLst/>
              <a:cxnLst>
                <a:cxn ang="0">
                  <a:pos x="1942" y="1430"/>
                </a:cxn>
                <a:cxn ang="0">
                  <a:pos x="1737" y="1412"/>
                </a:cxn>
                <a:cxn ang="0">
                  <a:pos x="1636" y="1396"/>
                </a:cxn>
                <a:cxn ang="0">
                  <a:pos x="1532" y="1373"/>
                </a:cxn>
                <a:cxn ang="0">
                  <a:pos x="1431" y="1342"/>
                </a:cxn>
                <a:cxn ang="0">
                  <a:pos x="1328" y="1298"/>
                </a:cxn>
                <a:cxn ang="0">
                  <a:pos x="1227" y="1238"/>
                </a:cxn>
                <a:cxn ang="0">
                  <a:pos x="1022" y="1073"/>
                </a:cxn>
                <a:cxn ang="0">
                  <a:pos x="818" y="838"/>
                </a:cxn>
                <a:cxn ang="0">
                  <a:pos x="613" y="559"/>
                </a:cxn>
                <a:cxn ang="0">
                  <a:pos x="512" y="416"/>
                </a:cxn>
                <a:cxn ang="0">
                  <a:pos x="409" y="282"/>
                </a:cxn>
                <a:cxn ang="0">
                  <a:pos x="308" y="166"/>
                </a:cxn>
                <a:cxn ang="0">
                  <a:pos x="204" y="78"/>
                </a:cxn>
                <a:cxn ang="0">
                  <a:pos x="103" y="21"/>
                </a:cxn>
                <a:cxn ang="0">
                  <a:pos x="0" y="0"/>
                </a:cxn>
              </a:cxnLst>
              <a:rect l="0" t="0" r="r" b="b"/>
              <a:pathLst>
                <a:path w="1942" h="1430">
                  <a:moveTo>
                    <a:pt x="1942" y="1430"/>
                  </a:moveTo>
                  <a:lnTo>
                    <a:pt x="1737" y="1412"/>
                  </a:lnTo>
                  <a:lnTo>
                    <a:pt x="1636" y="1396"/>
                  </a:lnTo>
                  <a:lnTo>
                    <a:pt x="1532" y="1373"/>
                  </a:lnTo>
                  <a:lnTo>
                    <a:pt x="1431" y="1342"/>
                  </a:lnTo>
                  <a:lnTo>
                    <a:pt x="1328" y="1298"/>
                  </a:lnTo>
                  <a:lnTo>
                    <a:pt x="1227" y="1238"/>
                  </a:lnTo>
                  <a:lnTo>
                    <a:pt x="1022" y="1073"/>
                  </a:lnTo>
                  <a:lnTo>
                    <a:pt x="818" y="838"/>
                  </a:lnTo>
                  <a:lnTo>
                    <a:pt x="613" y="559"/>
                  </a:lnTo>
                  <a:lnTo>
                    <a:pt x="512" y="416"/>
                  </a:lnTo>
                  <a:lnTo>
                    <a:pt x="409" y="282"/>
                  </a:lnTo>
                  <a:lnTo>
                    <a:pt x="308" y="166"/>
                  </a:lnTo>
                  <a:lnTo>
                    <a:pt x="204" y="78"/>
                  </a:lnTo>
                  <a:lnTo>
                    <a:pt x="103" y="21"/>
                  </a:lnTo>
                  <a:lnTo>
                    <a:pt x="0" y="0"/>
                  </a:lnTo>
                </a:path>
              </a:pathLst>
            </a:custGeom>
            <a:noFill/>
            <a:ln w="76200" cmpd="sng">
              <a:solidFill>
                <a:srgbClr val="FF00FF"/>
              </a:solidFill>
              <a:prstDash val="solid"/>
              <a:round/>
              <a:headEnd/>
              <a:tailEnd/>
            </a:ln>
            <a:effectLst>
              <a:outerShdw dist="38100" dir="5400000" algn="ctr" rotWithShape="0">
                <a:schemeClr val="bg2"/>
              </a:outerShdw>
            </a:effectLst>
          </p:spPr>
          <p:txBody>
            <a:bodyPr/>
            <a:lstStyle/>
            <a:p>
              <a:pPr>
                <a:defRPr/>
              </a:pPr>
              <a:endParaRPr lang="zh-CN" altLang="en-US">
                <a:latin typeface="Arial" charset="0"/>
                <a:ea typeface="宋体" charset="-122"/>
              </a:endParaRPr>
            </a:p>
          </p:txBody>
        </p:sp>
        <p:sp>
          <p:nvSpPr>
            <p:cNvPr id="463888" name="Freeform 16"/>
            <p:cNvSpPr>
              <a:spLocks/>
            </p:cNvSpPr>
            <p:nvPr/>
          </p:nvSpPr>
          <p:spPr bwMode="auto">
            <a:xfrm>
              <a:off x="3515" y="391"/>
              <a:ext cx="1052" cy="1066"/>
            </a:xfrm>
            <a:custGeom>
              <a:avLst/>
              <a:gdLst/>
              <a:ahLst/>
              <a:cxnLst>
                <a:cxn ang="0">
                  <a:pos x="0" y="1430"/>
                </a:cxn>
                <a:cxn ang="0">
                  <a:pos x="205" y="1412"/>
                </a:cxn>
                <a:cxn ang="0">
                  <a:pos x="309" y="1396"/>
                </a:cxn>
                <a:cxn ang="0">
                  <a:pos x="410" y="1373"/>
                </a:cxn>
                <a:cxn ang="0">
                  <a:pos x="511" y="1342"/>
                </a:cxn>
                <a:cxn ang="0">
                  <a:pos x="614" y="1298"/>
                </a:cxn>
                <a:cxn ang="0">
                  <a:pos x="715" y="1238"/>
                </a:cxn>
                <a:cxn ang="0">
                  <a:pos x="922" y="1073"/>
                </a:cxn>
                <a:cxn ang="0">
                  <a:pos x="1124" y="838"/>
                </a:cxn>
                <a:cxn ang="0">
                  <a:pos x="1329" y="559"/>
                </a:cxn>
                <a:cxn ang="0">
                  <a:pos x="1432" y="416"/>
                </a:cxn>
                <a:cxn ang="0">
                  <a:pos x="1533" y="282"/>
                </a:cxn>
                <a:cxn ang="0">
                  <a:pos x="1637" y="166"/>
                </a:cxn>
                <a:cxn ang="0">
                  <a:pos x="1738" y="78"/>
                </a:cxn>
                <a:cxn ang="0">
                  <a:pos x="1842" y="21"/>
                </a:cxn>
                <a:cxn ang="0">
                  <a:pos x="1943" y="0"/>
                </a:cxn>
              </a:cxnLst>
              <a:rect l="0" t="0" r="r" b="b"/>
              <a:pathLst>
                <a:path w="1943" h="1430">
                  <a:moveTo>
                    <a:pt x="0" y="1430"/>
                  </a:moveTo>
                  <a:lnTo>
                    <a:pt x="205" y="1412"/>
                  </a:lnTo>
                  <a:lnTo>
                    <a:pt x="309" y="1396"/>
                  </a:lnTo>
                  <a:lnTo>
                    <a:pt x="410" y="1373"/>
                  </a:lnTo>
                  <a:lnTo>
                    <a:pt x="511" y="1342"/>
                  </a:lnTo>
                  <a:lnTo>
                    <a:pt x="614" y="1298"/>
                  </a:lnTo>
                  <a:lnTo>
                    <a:pt x="715" y="1238"/>
                  </a:lnTo>
                  <a:lnTo>
                    <a:pt x="922" y="1073"/>
                  </a:lnTo>
                  <a:lnTo>
                    <a:pt x="1124" y="838"/>
                  </a:lnTo>
                  <a:lnTo>
                    <a:pt x="1329" y="559"/>
                  </a:lnTo>
                  <a:lnTo>
                    <a:pt x="1432" y="416"/>
                  </a:lnTo>
                  <a:lnTo>
                    <a:pt x="1533" y="282"/>
                  </a:lnTo>
                  <a:lnTo>
                    <a:pt x="1637" y="166"/>
                  </a:lnTo>
                  <a:lnTo>
                    <a:pt x="1738" y="78"/>
                  </a:lnTo>
                  <a:lnTo>
                    <a:pt x="1842" y="21"/>
                  </a:lnTo>
                  <a:lnTo>
                    <a:pt x="1943" y="0"/>
                  </a:lnTo>
                </a:path>
              </a:pathLst>
            </a:custGeom>
            <a:noFill/>
            <a:ln w="76200" cmpd="sng">
              <a:solidFill>
                <a:srgbClr val="FF00FF"/>
              </a:solidFill>
              <a:prstDash val="solid"/>
              <a:round/>
              <a:headEnd/>
              <a:tailEnd/>
            </a:ln>
            <a:effectLst>
              <a:outerShdw dist="38100" dir="5400000" algn="ctr" rotWithShape="0">
                <a:schemeClr val="bg2"/>
              </a:outerShdw>
            </a:effectLst>
          </p:spPr>
          <p:txBody>
            <a:bodyPr/>
            <a:lstStyle/>
            <a:p>
              <a:pPr>
                <a:defRPr/>
              </a:pPr>
              <a:endParaRPr lang="zh-CN" altLang="en-US">
                <a:latin typeface="Arial" charset="0"/>
                <a:ea typeface="宋体" charset="-122"/>
              </a:endParaRPr>
            </a:p>
          </p:txBody>
        </p:sp>
        <p:sp>
          <p:nvSpPr>
            <p:cNvPr id="463890" name="Freeform 18"/>
            <p:cNvSpPr>
              <a:spLocks/>
            </p:cNvSpPr>
            <p:nvPr/>
          </p:nvSpPr>
          <p:spPr bwMode="auto">
            <a:xfrm>
              <a:off x="3464" y="1326"/>
              <a:ext cx="385" cy="153"/>
            </a:xfrm>
            <a:custGeom>
              <a:avLst/>
              <a:gdLst/>
              <a:ahLst/>
              <a:cxnLst>
                <a:cxn ang="0">
                  <a:pos x="1129" y="0"/>
                </a:cxn>
                <a:cxn ang="0">
                  <a:pos x="1129" y="735"/>
                </a:cxn>
                <a:cxn ang="0">
                  <a:pos x="0" y="735"/>
                </a:cxn>
                <a:cxn ang="0">
                  <a:pos x="124" y="698"/>
                </a:cxn>
                <a:cxn ang="0">
                  <a:pos x="246" y="657"/>
                </a:cxn>
                <a:cxn ang="0">
                  <a:pos x="362" y="610"/>
                </a:cxn>
                <a:cxn ang="0">
                  <a:pos x="474" y="559"/>
                </a:cxn>
                <a:cxn ang="0">
                  <a:pos x="580" y="504"/>
                </a:cxn>
                <a:cxn ang="0">
                  <a:pos x="681" y="442"/>
                </a:cxn>
                <a:cxn ang="0">
                  <a:pos x="774" y="378"/>
                </a:cxn>
                <a:cxn ang="0">
                  <a:pos x="860" y="308"/>
                </a:cxn>
                <a:cxn ang="0">
                  <a:pos x="940" y="236"/>
                </a:cxn>
                <a:cxn ang="0">
                  <a:pos x="1010" y="161"/>
                </a:cxn>
                <a:cxn ang="0">
                  <a:pos x="1074" y="81"/>
                </a:cxn>
                <a:cxn ang="0">
                  <a:pos x="1129" y="0"/>
                </a:cxn>
              </a:cxnLst>
              <a:rect l="0" t="0" r="r" b="b"/>
              <a:pathLst>
                <a:path w="1129" h="735">
                  <a:moveTo>
                    <a:pt x="1129" y="0"/>
                  </a:moveTo>
                  <a:lnTo>
                    <a:pt x="1129" y="735"/>
                  </a:lnTo>
                  <a:lnTo>
                    <a:pt x="0" y="735"/>
                  </a:lnTo>
                  <a:lnTo>
                    <a:pt x="124" y="698"/>
                  </a:lnTo>
                  <a:lnTo>
                    <a:pt x="246" y="657"/>
                  </a:lnTo>
                  <a:lnTo>
                    <a:pt x="362" y="610"/>
                  </a:lnTo>
                  <a:lnTo>
                    <a:pt x="474" y="559"/>
                  </a:lnTo>
                  <a:lnTo>
                    <a:pt x="580" y="504"/>
                  </a:lnTo>
                  <a:lnTo>
                    <a:pt x="681" y="442"/>
                  </a:lnTo>
                  <a:lnTo>
                    <a:pt x="774" y="378"/>
                  </a:lnTo>
                  <a:lnTo>
                    <a:pt x="860" y="308"/>
                  </a:lnTo>
                  <a:lnTo>
                    <a:pt x="940" y="236"/>
                  </a:lnTo>
                  <a:lnTo>
                    <a:pt x="1010" y="161"/>
                  </a:lnTo>
                  <a:lnTo>
                    <a:pt x="1074" y="81"/>
                  </a:lnTo>
                  <a:lnTo>
                    <a:pt x="1129" y="0"/>
                  </a:lnTo>
                  <a:close/>
                </a:path>
              </a:pathLst>
            </a:custGeom>
            <a:solidFill>
              <a:srgbClr val="FF0000"/>
            </a:solidFill>
            <a:ln w="9525">
              <a:noFill/>
              <a:round/>
              <a:headEnd/>
              <a:tailEnd/>
            </a:ln>
            <a:effectLst>
              <a:outerShdw algn="ctr" rotWithShape="0">
                <a:srgbClr val="808080"/>
              </a:outerShdw>
            </a:effectLst>
          </p:spPr>
          <p:txBody>
            <a:bodyPr/>
            <a:lstStyle/>
            <a:p>
              <a:pPr>
                <a:defRPr/>
              </a:pPr>
              <a:endParaRPr lang="zh-CN" altLang="en-US">
                <a:latin typeface="Arial" charset="0"/>
                <a:ea typeface="宋体" charset="-122"/>
              </a:endParaRPr>
            </a:p>
          </p:txBody>
        </p:sp>
        <p:sp>
          <p:nvSpPr>
            <p:cNvPr id="463891" name="Freeform 19"/>
            <p:cNvSpPr>
              <a:spLocks/>
            </p:cNvSpPr>
            <p:nvPr/>
          </p:nvSpPr>
          <p:spPr bwMode="auto">
            <a:xfrm rot="21258189">
              <a:off x="5262" y="1311"/>
              <a:ext cx="391" cy="171"/>
            </a:xfrm>
            <a:custGeom>
              <a:avLst/>
              <a:gdLst/>
              <a:ahLst/>
              <a:cxnLst>
                <a:cxn ang="0">
                  <a:pos x="0" y="0"/>
                </a:cxn>
                <a:cxn ang="0">
                  <a:pos x="0" y="734"/>
                </a:cxn>
                <a:cxn ang="0">
                  <a:pos x="1129" y="734"/>
                </a:cxn>
                <a:cxn ang="0">
                  <a:pos x="1002" y="700"/>
                </a:cxn>
                <a:cxn ang="0">
                  <a:pos x="880" y="659"/>
                </a:cxn>
                <a:cxn ang="0">
                  <a:pos x="764" y="612"/>
                </a:cxn>
                <a:cxn ang="0">
                  <a:pos x="652" y="561"/>
                </a:cxn>
                <a:cxn ang="0">
                  <a:pos x="546" y="504"/>
                </a:cxn>
                <a:cxn ang="0">
                  <a:pos x="445" y="444"/>
                </a:cxn>
                <a:cxn ang="0">
                  <a:pos x="352" y="380"/>
                </a:cxn>
                <a:cxn ang="0">
                  <a:pos x="267" y="310"/>
                </a:cxn>
                <a:cxn ang="0">
                  <a:pos x="189" y="237"/>
                </a:cxn>
                <a:cxn ang="0">
                  <a:pos x="116" y="162"/>
                </a:cxn>
                <a:cxn ang="0">
                  <a:pos x="54" y="82"/>
                </a:cxn>
                <a:cxn ang="0">
                  <a:pos x="0" y="0"/>
                </a:cxn>
              </a:cxnLst>
              <a:rect l="0" t="0" r="r" b="b"/>
              <a:pathLst>
                <a:path w="1129" h="734">
                  <a:moveTo>
                    <a:pt x="0" y="0"/>
                  </a:moveTo>
                  <a:lnTo>
                    <a:pt x="0" y="734"/>
                  </a:lnTo>
                  <a:lnTo>
                    <a:pt x="1129" y="734"/>
                  </a:lnTo>
                  <a:lnTo>
                    <a:pt x="1002" y="700"/>
                  </a:lnTo>
                  <a:lnTo>
                    <a:pt x="880" y="659"/>
                  </a:lnTo>
                  <a:lnTo>
                    <a:pt x="764" y="612"/>
                  </a:lnTo>
                  <a:lnTo>
                    <a:pt x="652" y="561"/>
                  </a:lnTo>
                  <a:lnTo>
                    <a:pt x="546" y="504"/>
                  </a:lnTo>
                  <a:lnTo>
                    <a:pt x="445" y="444"/>
                  </a:lnTo>
                  <a:lnTo>
                    <a:pt x="352" y="380"/>
                  </a:lnTo>
                  <a:lnTo>
                    <a:pt x="267" y="310"/>
                  </a:lnTo>
                  <a:lnTo>
                    <a:pt x="189" y="237"/>
                  </a:lnTo>
                  <a:lnTo>
                    <a:pt x="116" y="162"/>
                  </a:lnTo>
                  <a:lnTo>
                    <a:pt x="54" y="82"/>
                  </a:lnTo>
                  <a:lnTo>
                    <a:pt x="0" y="0"/>
                  </a:lnTo>
                  <a:close/>
                </a:path>
              </a:pathLst>
            </a:custGeom>
            <a:solidFill>
              <a:srgbClr val="FF0000"/>
            </a:solidFill>
            <a:ln w="9525">
              <a:noFill/>
              <a:round/>
              <a:headEnd/>
              <a:tailEnd/>
            </a:ln>
            <a:effectLst>
              <a:outerShdw algn="ctr" rotWithShape="0">
                <a:srgbClr val="808080"/>
              </a:outerShdw>
            </a:effectLst>
          </p:spPr>
          <p:txBody>
            <a:bodyPr/>
            <a:lstStyle/>
            <a:p>
              <a:pPr>
                <a:defRPr/>
              </a:pPr>
              <a:endParaRPr lang="zh-CN" altLang="en-US">
                <a:latin typeface="Arial" charset="0"/>
                <a:ea typeface="宋体" charset="-122"/>
              </a:endParaRPr>
            </a:p>
          </p:txBody>
        </p:sp>
        <p:sp>
          <p:nvSpPr>
            <p:cNvPr id="463894" name="Text Box 22"/>
            <p:cNvSpPr txBox="1">
              <a:spLocks noChangeArrowheads="1"/>
            </p:cNvSpPr>
            <p:nvPr/>
          </p:nvSpPr>
          <p:spPr bwMode="auto">
            <a:xfrm>
              <a:off x="4419" y="1480"/>
              <a:ext cx="230" cy="228"/>
            </a:xfrm>
            <a:prstGeom prst="rect">
              <a:avLst/>
            </a:prstGeom>
            <a:noFill/>
            <a:ln w="12700">
              <a:noFill/>
              <a:miter lim="800000"/>
              <a:headEnd/>
              <a:tailEnd/>
            </a:ln>
            <a:effectLst/>
          </p:spPr>
          <p:txBody>
            <a:bodyPr>
              <a:spAutoFit/>
            </a:bodyPr>
            <a:lstStyle/>
            <a:p>
              <a:pPr algn="ctr" eaLnBrk="0" hangingPunct="0">
                <a:spcBef>
                  <a:spcPct val="50000"/>
                </a:spcBef>
                <a:defRPr/>
              </a:pPr>
              <a:r>
                <a:rPr kumimoji="1" lang="en-US" altLang="zh-CN" sz="2400" b="1" dirty="0">
                  <a:effectLst>
                    <a:outerShdw blurRad="38100" dist="38100" dir="2700000" algn="tl">
                      <a:srgbClr val="C0C0C0"/>
                    </a:outerShdw>
                  </a:effectLst>
                  <a:latin typeface="Arial" charset="0"/>
                  <a:ea typeface="宋体" charset="-122"/>
                </a:rPr>
                <a:t>0</a:t>
              </a:r>
            </a:p>
          </p:txBody>
        </p:sp>
        <p:sp>
          <p:nvSpPr>
            <p:cNvPr id="14361" name="Text Box 24"/>
            <p:cNvSpPr txBox="1">
              <a:spLocks noChangeArrowheads="1"/>
            </p:cNvSpPr>
            <p:nvPr/>
          </p:nvSpPr>
          <p:spPr bwMode="auto">
            <a:xfrm>
              <a:off x="5028" y="1529"/>
              <a:ext cx="667" cy="184"/>
            </a:xfrm>
            <a:prstGeom prst="rect">
              <a:avLst/>
            </a:prstGeom>
            <a:noFill/>
            <a:ln w="12700">
              <a:noFill/>
              <a:miter lim="800000"/>
              <a:headEnd/>
              <a:tailEnd/>
            </a:ln>
          </p:spPr>
          <p:txBody>
            <a:bodyPr wrap="square">
              <a:spAutoFit/>
            </a:bodyPr>
            <a:lstStyle/>
            <a:p>
              <a:pPr algn="ctr" eaLnBrk="0" hangingPunct="0">
                <a:spcBef>
                  <a:spcPct val="50000"/>
                </a:spcBef>
              </a:pPr>
              <a:r>
                <a:rPr kumimoji="1" lang="en-US" altLang="zh-CN" b="1" dirty="0">
                  <a:solidFill>
                    <a:srgbClr val="C00000"/>
                  </a:solidFill>
                </a:rPr>
                <a:t>3.333</a:t>
              </a:r>
            </a:p>
          </p:txBody>
        </p:sp>
        <p:sp>
          <p:nvSpPr>
            <p:cNvPr id="27" name="Text Box 24"/>
            <p:cNvSpPr txBox="1">
              <a:spLocks noChangeArrowheads="1"/>
            </p:cNvSpPr>
            <p:nvPr/>
          </p:nvSpPr>
          <p:spPr bwMode="auto">
            <a:xfrm>
              <a:off x="3571" y="1531"/>
              <a:ext cx="667" cy="184"/>
            </a:xfrm>
            <a:prstGeom prst="rect">
              <a:avLst/>
            </a:prstGeom>
            <a:noFill/>
            <a:ln w="12700">
              <a:noFill/>
              <a:miter lim="800000"/>
              <a:headEnd/>
              <a:tailEnd/>
            </a:ln>
          </p:spPr>
          <p:txBody>
            <a:bodyPr wrap="square">
              <a:spAutoFit/>
            </a:bodyPr>
            <a:lstStyle/>
            <a:p>
              <a:pPr eaLnBrk="0" hangingPunct="0">
                <a:spcBef>
                  <a:spcPct val="50000"/>
                </a:spcBef>
              </a:pPr>
              <a:r>
                <a:rPr kumimoji="1" lang="en-US" altLang="zh-CN" b="1" dirty="0">
                  <a:solidFill>
                    <a:srgbClr val="C00000"/>
                  </a:solidFill>
                </a:rPr>
                <a:t>-3.333</a:t>
              </a:r>
            </a:p>
          </p:txBody>
        </p:sp>
      </p:grpSp>
      <p:grpSp>
        <p:nvGrpSpPr>
          <p:cNvPr id="3" name="Group 33"/>
          <p:cNvGrpSpPr>
            <a:grpSpLocks/>
          </p:cNvGrpSpPr>
          <p:nvPr/>
        </p:nvGrpSpPr>
        <p:grpSpPr bwMode="auto">
          <a:xfrm>
            <a:off x="5392739" y="2753676"/>
            <a:ext cx="1898118" cy="871538"/>
            <a:chOff x="2691" y="1325"/>
            <a:chExt cx="1212" cy="549"/>
          </a:xfrm>
        </p:grpSpPr>
        <p:sp>
          <p:nvSpPr>
            <p:cNvPr id="14345" name="Oval 27"/>
            <p:cNvSpPr>
              <a:spLocks noChangeArrowheads="1"/>
            </p:cNvSpPr>
            <p:nvPr/>
          </p:nvSpPr>
          <p:spPr bwMode="auto">
            <a:xfrm>
              <a:off x="3767" y="1325"/>
              <a:ext cx="136" cy="136"/>
            </a:xfrm>
            <a:prstGeom prst="ellipse">
              <a:avLst/>
            </a:prstGeom>
            <a:solidFill>
              <a:srgbClr val="FF0066"/>
            </a:solidFill>
            <a:ln w="9525">
              <a:solidFill>
                <a:schemeClr val="tx1"/>
              </a:solidFill>
              <a:round/>
              <a:headEnd/>
              <a:tailEnd/>
            </a:ln>
          </p:spPr>
          <p:txBody>
            <a:bodyPr wrap="none" anchor="ctr"/>
            <a:lstStyle/>
            <a:p>
              <a:endParaRPr lang="zh-CN" altLang="en-US"/>
            </a:p>
          </p:txBody>
        </p:sp>
        <p:sp>
          <p:nvSpPr>
            <p:cNvPr id="14346" name="AutoShape 28"/>
            <p:cNvSpPr>
              <a:spLocks noChangeArrowheads="1"/>
            </p:cNvSpPr>
            <p:nvPr/>
          </p:nvSpPr>
          <p:spPr bwMode="auto">
            <a:xfrm>
              <a:off x="2691" y="1408"/>
              <a:ext cx="862" cy="466"/>
            </a:xfrm>
            <a:prstGeom prst="wedgeRoundRectCallout">
              <a:avLst>
                <a:gd name="adj1" fmla="val 86634"/>
                <a:gd name="adj2" fmla="val -50148"/>
                <a:gd name="adj3" fmla="val 16667"/>
              </a:avLst>
            </a:prstGeom>
            <a:noFill/>
            <a:ln w="9525">
              <a:solidFill>
                <a:srgbClr val="FF0066"/>
              </a:solidFill>
              <a:miter lim="800000"/>
              <a:headEnd/>
              <a:tailEnd/>
            </a:ln>
          </p:spPr>
          <p:txBody>
            <a:bodyPr lIns="0" tIns="36000" rIns="0" bIns="36000"/>
            <a:lstStyle/>
            <a:p>
              <a:pPr algn="ctr"/>
              <a:r>
                <a:rPr lang="zh-CN" altLang="en-US" sz="2000" dirty="0">
                  <a:solidFill>
                    <a:srgbClr val="C00000"/>
                  </a:solidFill>
                </a:rPr>
                <a:t>检验统计量的观察值</a:t>
              </a:r>
            </a:p>
          </p:txBody>
        </p:sp>
      </p:grpSp>
    </p:spTree>
    <p:extLst>
      <p:ext uri="{BB962C8B-B14F-4D97-AF65-F5344CB8AC3E}">
        <p14:creationId xmlns:p14="http://schemas.microsoft.com/office/powerpoint/2010/main" val="36763593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250" fill="hold"/>
                                        <p:tgtEl>
                                          <p:spTgt spid="3"/>
                                        </p:tgtEl>
                                        <p:attrNameLst>
                                          <p:attrName>ppt_x</p:attrName>
                                        </p:attrNameLst>
                                      </p:cBhvr>
                                      <p:tavLst>
                                        <p:tav tm="0">
                                          <p:val>
                                            <p:strVal val="#ppt_x"/>
                                          </p:val>
                                        </p:tav>
                                        <p:tav tm="100000">
                                          <p:val>
                                            <p:strVal val="#ppt_x"/>
                                          </p:val>
                                        </p:tav>
                                      </p:tavLst>
                                    </p:anim>
                                    <p:anim calcmode="lin" valueType="num">
                                      <p:cBhvr additive="base">
                                        <p:cTn id="8" dur="25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463875">
                                            <p:txEl>
                                              <p:pRg st="3" end="3"/>
                                            </p:txEl>
                                          </p:spTgt>
                                        </p:tgtEl>
                                        <p:attrNameLst>
                                          <p:attrName>style.visibility</p:attrName>
                                        </p:attrNameLst>
                                      </p:cBhvr>
                                      <p:to>
                                        <p:strVal val="visible"/>
                                      </p:to>
                                    </p:set>
                                    <p:animEffect transition="in" filter="wipe(left)">
                                      <p:cBhvr>
                                        <p:cTn id="13" dur="500"/>
                                        <p:tgtEl>
                                          <p:spTgt spid="463875">
                                            <p:txEl>
                                              <p:pRg st="3" end="3"/>
                                            </p:txEl>
                                          </p:spTgt>
                                        </p:tgtEl>
                                      </p:cBhvr>
                                    </p:animEffect>
                                  </p:childTnLst>
                                </p:cTn>
                              </p:par>
                            </p:childTnLst>
                          </p:cTn>
                        </p:par>
                        <p:par>
                          <p:cTn id="14" fill="hold">
                            <p:stCondLst>
                              <p:cond delay="500"/>
                            </p:stCondLst>
                            <p:childTnLst>
                              <p:par>
                                <p:cTn id="15" presetID="22" presetClass="entr" presetSubtype="8" fill="hold" grpId="0" nodeType="afterEffect">
                                  <p:stCondLst>
                                    <p:cond delay="0"/>
                                  </p:stCondLst>
                                  <p:childTnLst>
                                    <p:set>
                                      <p:cBhvr>
                                        <p:cTn id="16" dur="1" fill="hold">
                                          <p:stCondLst>
                                            <p:cond delay="0"/>
                                          </p:stCondLst>
                                        </p:cTn>
                                        <p:tgtEl>
                                          <p:spTgt spid="463875">
                                            <p:txEl>
                                              <p:pRg st="4" end="4"/>
                                            </p:txEl>
                                          </p:spTgt>
                                        </p:tgtEl>
                                        <p:attrNameLst>
                                          <p:attrName>style.visibility</p:attrName>
                                        </p:attrNameLst>
                                      </p:cBhvr>
                                      <p:to>
                                        <p:strVal val="visible"/>
                                      </p:to>
                                    </p:set>
                                    <p:animEffect transition="in" filter="wipe(left)">
                                      <p:cBhvr>
                                        <p:cTn id="17" dur="10"/>
                                        <p:tgtEl>
                                          <p:spTgt spid="463875">
                                            <p:txEl>
                                              <p:pRg st="4" end="4"/>
                                            </p:txEl>
                                          </p:spTgt>
                                        </p:tgtEl>
                                      </p:cBhvr>
                                    </p:animEffect>
                                  </p:childTnLst>
                                </p:cTn>
                              </p:par>
                              <p:par>
                                <p:cTn id="18" presetID="22" presetClass="entr" presetSubtype="8" fill="hold" grpId="0" nodeType="withEffect">
                                  <p:stCondLst>
                                    <p:cond delay="0"/>
                                  </p:stCondLst>
                                  <p:childTnLst>
                                    <p:set>
                                      <p:cBhvr>
                                        <p:cTn id="19" dur="1" fill="hold">
                                          <p:stCondLst>
                                            <p:cond delay="0"/>
                                          </p:stCondLst>
                                        </p:cTn>
                                        <p:tgtEl>
                                          <p:spTgt spid="463875">
                                            <p:txEl>
                                              <p:pRg st="5" end="5"/>
                                            </p:txEl>
                                          </p:spTgt>
                                        </p:tgtEl>
                                        <p:attrNameLst>
                                          <p:attrName>style.visibility</p:attrName>
                                        </p:attrNameLst>
                                      </p:cBhvr>
                                      <p:to>
                                        <p:strVal val="visible"/>
                                      </p:to>
                                    </p:set>
                                    <p:animEffect transition="in" filter="wipe(left)">
                                      <p:cBhvr>
                                        <p:cTn id="20" dur="10"/>
                                        <p:tgtEl>
                                          <p:spTgt spid="46387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3875" grpId="0" uiExpand="1" build="p"/>
    </p:bldLst>
  </p:timing>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0658" name="灯片编号占位符 5"/>
          <p:cNvSpPr>
            <a:spLocks noGrp="1"/>
          </p:cNvSpPr>
          <p:nvPr>
            <p:ph type="sldNum" sz="quarter" idx="4294967295"/>
          </p:nvPr>
        </p:nvSpPr>
        <p:spPr>
          <a:noFill/>
        </p:spPr>
        <p:txBody>
          <a:bodyPr/>
          <a:lstStyle/>
          <a:p>
            <a:r>
              <a:rPr lang="en-US" altLang="zh-CN">
                <a:ea typeface="宋体" pitchFamily="2" charset="-122"/>
              </a:rPr>
              <a:t>8--</a:t>
            </a:r>
            <a:fld id="{7C200DEF-0CD0-4E4F-9806-3F3E7B25897A}" type="slidenum">
              <a:rPr lang="en-US" altLang="zh-CN" smtClean="0">
                <a:ea typeface="宋体" pitchFamily="2" charset="-122"/>
              </a:rPr>
              <a:pPr/>
              <a:t>26</a:t>
            </a:fld>
            <a:endParaRPr lang="en-US" altLang="zh-CN">
              <a:ea typeface="宋体" pitchFamily="2" charset="-122"/>
            </a:endParaRPr>
          </a:p>
        </p:txBody>
      </p:sp>
      <p:sp>
        <p:nvSpPr>
          <p:cNvPr id="409603" name="Text Box 3"/>
          <p:cNvSpPr txBox="1">
            <a:spLocks noChangeArrowheads="1"/>
          </p:cNvSpPr>
          <p:nvPr/>
        </p:nvSpPr>
        <p:spPr bwMode="auto">
          <a:xfrm>
            <a:off x="2705100" y="4362451"/>
            <a:ext cx="2514600" cy="366713"/>
          </a:xfrm>
          <a:prstGeom prst="rect">
            <a:avLst/>
          </a:prstGeom>
          <a:noFill/>
          <a:ln w="12700">
            <a:noFill/>
            <a:miter lim="800000"/>
            <a:headEnd/>
            <a:tailEnd/>
          </a:ln>
          <a:effectLst/>
        </p:spPr>
        <p:txBody>
          <a:bodyPr>
            <a:spAutoFit/>
          </a:bodyPr>
          <a:lstStyle/>
          <a:p>
            <a:pPr eaLnBrk="0" hangingPunct="0">
              <a:spcBef>
                <a:spcPct val="50000"/>
              </a:spcBef>
              <a:defRPr/>
            </a:pPr>
            <a:endParaRPr kumimoji="1" lang="zh-CN" altLang="zh-CN">
              <a:effectLst>
                <a:outerShdw blurRad="38100" dist="38100" dir="2700000" algn="tl">
                  <a:srgbClr val="C0C0C0"/>
                </a:outerShdw>
              </a:effectLst>
              <a:latin typeface="Arial" charset="0"/>
              <a:ea typeface="宋体" charset="-122"/>
            </a:endParaRPr>
          </a:p>
        </p:txBody>
      </p:sp>
      <p:sp>
        <p:nvSpPr>
          <p:cNvPr id="70660" name="Rectangle 6"/>
          <p:cNvSpPr>
            <a:spLocks noGrp="1" noChangeArrowheads="1"/>
          </p:cNvSpPr>
          <p:nvPr>
            <p:ph type="title"/>
          </p:nvPr>
        </p:nvSpPr>
        <p:spPr>
          <a:xfrm>
            <a:off x="1509713" y="374137"/>
            <a:ext cx="7772400" cy="990600"/>
          </a:xfrm>
        </p:spPr>
        <p:txBody>
          <a:bodyPr>
            <a:normAutofit/>
          </a:bodyPr>
          <a:lstStyle/>
          <a:p>
            <a:r>
              <a:rPr lang="zh-CN" altLang="en-US" sz="4000" b="1" dirty="0">
                <a:effectLst/>
              </a:rPr>
              <a:t>（五）作出检验结论</a:t>
            </a:r>
          </a:p>
        </p:txBody>
      </p:sp>
      <p:sp>
        <p:nvSpPr>
          <p:cNvPr id="70661" name="Rectangle 7"/>
          <p:cNvSpPr>
            <a:spLocks noChangeArrowheads="1"/>
          </p:cNvSpPr>
          <p:nvPr/>
        </p:nvSpPr>
        <p:spPr bwMode="auto">
          <a:xfrm>
            <a:off x="1992313" y="1389321"/>
            <a:ext cx="8424862" cy="4897437"/>
          </a:xfrm>
          <a:prstGeom prst="rect">
            <a:avLst/>
          </a:prstGeom>
          <a:noFill/>
          <a:ln w="12700">
            <a:noFill/>
            <a:miter lim="800000"/>
            <a:headEnd/>
            <a:tailEnd/>
          </a:ln>
        </p:spPr>
        <p:txBody>
          <a:bodyPr lIns="90488" tIns="44450" rIns="90488" bIns="44450"/>
          <a:lstStyle/>
          <a:p>
            <a:pPr marL="266700" indent="-266700">
              <a:lnSpc>
                <a:spcPct val="115000"/>
              </a:lnSpc>
              <a:spcBef>
                <a:spcPct val="25000"/>
              </a:spcBef>
              <a:buSzPct val="90000"/>
              <a:buBlip>
                <a:blip r:embed="rId3"/>
              </a:buBlip>
            </a:pPr>
            <a:r>
              <a:rPr kumimoji="1" lang="zh-CN" altLang="en-US" sz="3200" b="1" dirty="0">
                <a:solidFill>
                  <a:srgbClr val="0070C0"/>
                </a:solidFill>
                <a:latin typeface="Tahoma" pitchFamily="34" charset="0"/>
              </a:rPr>
              <a:t>两种判断准则：</a:t>
            </a:r>
          </a:p>
          <a:p>
            <a:pPr marL="1219200" lvl="1" indent="-762000">
              <a:lnSpc>
                <a:spcPct val="115000"/>
              </a:lnSpc>
              <a:spcBef>
                <a:spcPct val="25000"/>
              </a:spcBef>
              <a:buSzPct val="80000"/>
              <a:buBlip>
                <a:blip r:embed="rId4"/>
              </a:buBlip>
            </a:pPr>
            <a:r>
              <a:rPr kumimoji="1" lang="zh-CN" altLang="en-US" sz="2800" b="1" dirty="0">
                <a:solidFill>
                  <a:srgbClr val="0066FF"/>
                </a:solidFill>
                <a:latin typeface="Tahoma" pitchFamily="34" charset="0"/>
              </a:rPr>
              <a:t>依据临界值来判断</a:t>
            </a:r>
            <a:r>
              <a:rPr kumimoji="1" lang="zh-CN" altLang="en-US" sz="2800" b="1" dirty="0">
                <a:latin typeface="Tahoma" pitchFamily="34" charset="0"/>
              </a:rPr>
              <a:t>（</a:t>
            </a:r>
            <a:r>
              <a:rPr lang="zh-CN" altLang="en-US" sz="2800" b="1" dirty="0">
                <a:solidFill>
                  <a:srgbClr val="000000"/>
                </a:solidFill>
                <a:latin typeface="Tahoma" pitchFamily="34" charset="0"/>
              </a:rPr>
              <a:t>以</a:t>
            </a:r>
            <a:r>
              <a:rPr lang="en-US" altLang="zh-CN" sz="2800" b="1" i="1" dirty="0">
                <a:solidFill>
                  <a:srgbClr val="000000"/>
                </a:solidFill>
                <a:latin typeface="Tahoma" pitchFamily="34" charset="0"/>
              </a:rPr>
              <a:t>Z </a:t>
            </a:r>
            <a:r>
              <a:rPr lang="zh-CN" altLang="en-US" sz="2800" b="1" dirty="0">
                <a:solidFill>
                  <a:srgbClr val="000000"/>
                </a:solidFill>
                <a:latin typeface="Tahoma" pitchFamily="34" charset="0"/>
              </a:rPr>
              <a:t>检验为例）：</a:t>
            </a:r>
          </a:p>
          <a:p>
            <a:pPr marL="1346200" lvl="2" indent="-431800">
              <a:lnSpc>
                <a:spcPct val="115000"/>
              </a:lnSpc>
              <a:spcBef>
                <a:spcPct val="25000"/>
              </a:spcBef>
              <a:buSzPct val="70000"/>
              <a:buBlip>
                <a:blip r:embed="rId5"/>
              </a:buBlip>
            </a:pPr>
            <a:r>
              <a:rPr lang="zh-CN" altLang="en-US" sz="2800" b="1" dirty="0">
                <a:solidFill>
                  <a:schemeClr val="tx2"/>
                </a:solidFill>
                <a:latin typeface="Tahoma" pitchFamily="34" charset="0"/>
              </a:rPr>
              <a:t>左侧检验时，若 </a:t>
            </a:r>
            <a:r>
              <a:rPr lang="en-US" altLang="zh-CN" sz="2800" b="1" dirty="0">
                <a:solidFill>
                  <a:schemeClr val="tx2"/>
                </a:solidFill>
                <a:latin typeface="Tahoma" pitchFamily="34" charset="0"/>
              </a:rPr>
              <a:t>Z≤-</a:t>
            </a:r>
            <a:r>
              <a:rPr lang="en-US" altLang="zh-CN" sz="2800" b="1" i="1" dirty="0">
                <a:solidFill>
                  <a:schemeClr val="tx2"/>
                </a:solidFill>
                <a:latin typeface="Times New Roman" pitchFamily="18" charset="0"/>
              </a:rPr>
              <a:t>Z</a:t>
            </a:r>
            <a:r>
              <a:rPr lang="en-US" altLang="zh-CN" sz="2800" b="1" i="1" baseline="-25000" dirty="0">
                <a:solidFill>
                  <a:schemeClr val="tx2"/>
                </a:solidFill>
                <a:latin typeface="Times New Roman" pitchFamily="18" charset="0"/>
                <a:ea typeface="华文行楷" pitchFamily="2" charset="-122"/>
              </a:rPr>
              <a:t>α</a:t>
            </a:r>
            <a:r>
              <a:rPr lang="zh-CN" altLang="en-US" sz="2800" b="1" dirty="0">
                <a:solidFill>
                  <a:schemeClr val="tx2"/>
                </a:solidFill>
                <a:latin typeface="Tahoma" pitchFamily="34" charset="0"/>
              </a:rPr>
              <a:t>，拒绝原假设；</a:t>
            </a:r>
          </a:p>
          <a:p>
            <a:pPr marL="1346200" lvl="2" indent="-431800">
              <a:lnSpc>
                <a:spcPct val="115000"/>
              </a:lnSpc>
              <a:spcBef>
                <a:spcPct val="25000"/>
              </a:spcBef>
              <a:buSzPct val="70000"/>
              <a:buBlip>
                <a:blip r:embed="rId5"/>
              </a:buBlip>
            </a:pPr>
            <a:r>
              <a:rPr lang="zh-CN" altLang="en-US" sz="2800" b="1" dirty="0">
                <a:solidFill>
                  <a:schemeClr val="tx2"/>
                </a:solidFill>
                <a:latin typeface="Tahoma" pitchFamily="34" charset="0"/>
              </a:rPr>
              <a:t>右侧检验时，若 </a:t>
            </a:r>
            <a:r>
              <a:rPr lang="en-US" altLang="zh-CN" sz="2800" b="1" dirty="0">
                <a:solidFill>
                  <a:schemeClr val="tx2"/>
                </a:solidFill>
                <a:latin typeface="Tahoma" pitchFamily="34" charset="0"/>
              </a:rPr>
              <a:t>Z≥+</a:t>
            </a:r>
            <a:r>
              <a:rPr lang="en-US" altLang="zh-CN" sz="2800" b="1" i="1" dirty="0">
                <a:solidFill>
                  <a:schemeClr val="tx2"/>
                </a:solidFill>
                <a:latin typeface="Times New Roman" pitchFamily="18" charset="0"/>
              </a:rPr>
              <a:t>Z</a:t>
            </a:r>
            <a:r>
              <a:rPr lang="en-US" altLang="zh-CN" sz="2800" b="1" i="1" baseline="-25000" dirty="0">
                <a:solidFill>
                  <a:schemeClr val="tx2"/>
                </a:solidFill>
                <a:latin typeface="Times New Roman" pitchFamily="18" charset="0"/>
              </a:rPr>
              <a:t>α</a:t>
            </a:r>
            <a:r>
              <a:rPr lang="zh-CN" altLang="en-US" sz="2800" b="1" dirty="0">
                <a:solidFill>
                  <a:schemeClr val="tx2"/>
                </a:solidFill>
                <a:latin typeface="Tahoma" pitchFamily="34" charset="0"/>
              </a:rPr>
              <a:t>时，拒绝原假设；</a:t>
            </a:r>
            <a:endParaRPr lang="zh-CN" altLang="en-US" sz="2800" b="1" dirty="0">
              <a:solidFill>
                <a:srgbClr val="000000"/>
              </a:solidFill>
              <a:latin typeface="Tahoma" pitchFamily="34" charset="0"/>
            </a:endParaRPr>
          </a:p>
          <a:p>
            <a:pPr marL="1346200" lvl="2" indent="-431800">
              <a:lnSpc>
                <a:spcPct val="115000"/>
              </a:lnSpc>
              <a:spcBef>
                <a:spcPct val="25000"/>
              </a:spcBef>
              <a:buSzPct val="70000"/>
              <a:buBlip>
                <a:blip r:embed="rId5"/>
              </a:buBlip>
            </a:pPr>
            <a:r>
              <a:rPr lang="zh-CN" altLang="en-US" sz="2800" b="1" dirty="0">
                <a:solidFill>
                  <a:schemeClr val="tx2"/>
                </a:solidFill>
                <a:latin typeface="Tahoma" pitchFamily="34" charset="0"/>
              </a:rPr>
              <a:t>双侧检验时，若</a:t>
            </a:r>
            <a:r>
              <a:rPr lang="en-US" altLang="zh-CN" sz="2800" b="1" dirty="0">
                <a:solidFill>
                  <a:schemeClr val="tx2"/>
                </a:solidFill>
                <a:latin typeface="Tahoma" pitchFamily="34" charset="0"/>
              </a:rPr>
              <a:t>|Z|≥</a:t>
            </a:r>
            <a:r>
              <a:rPr lang="en-US" altLang="zh-CN" sz="2800" b="1" i="1" dirty="0">
                <a:solidFill>
                  <a:schemeClr val="tx2"/>
                </a:solidFill>
                <a:latin typeface="Times New Roman" pitchFamily="18" charset="0"/>
                <a:cs typeface="Times New Roman" pitchFamily="18" charset="0"/>
              </a:rPr>
              <a:t>Z</a:t>
            </a:r>
            <a:r>
              <a:rPr lang="en-US" altLang="zh-CN" sz="2800" b="1" i="1" baseline="-25000" dirty="0">
                <a:solidFill>
                  <a:schemeClr val="tx2"/>
                </a:solidFill>
                <a:latin typeface="华文行楷" pitchFamily="2" charset="-122"/>
                <a:ea typeface="华文行楷" pitchFamily="2" charset="-122"/>
              </a:rPr>
              <a:t>α/ </a:t>
            </a:r>
            <a:r>
              <a:rPr lang="en-US" altLang="zh-CN" sz="2800" b="1" baseline="-25000" dirty="0">
                <a:solidFill>
                  <a:schemeClr val="tx2"/>
                </a:solidFill>
                <a:latin typeface="宋体" pitchFamily="2" charset="-122"/>
              </a:rPr>
              <a:t>2 </a:t>
            </a:r>
            <a:r>
              <a:rPr lang="zh-CN" altLang="en-US" sz="2800" b="1" dirty="0">
                <a:solidFill>
                  <a:schemeClr val="tx2"/>
                </a:solidFill>
                <a:latin typeface="Tahoma" pitchFamily="34" charset="0"/>
              </a:rPr>
              <a:t>时，拒绝原假设</a:t>
            </a:r>
            <a:r>
              <a:rPr lang="zh-CN" altLang="en-US" sz="2600" b="1" dirty="0">
                <a:solidFill>
                  <a:schemeClr val="tx2"/>
                </a:solidFill>
                <a:latin typeface="Tahoma" pitchFamily="34" charset="0"/>
              </a:rPr>
              <a:t>。</a:t>
            </a:r>
          </a:p>
          <a:p>
            <a:pPr marL="1219200" lvl="1" indent="-762000">
              <a:lnSpc>
                <a:spcPct val="115000"/>
              </a:lnSpc>
              <a:spcBef>
                <a:spcPct val="25000"/>
              </a:spcBef>
              <a:buSzPct val="80000"/>
              <a:buBlip>
                <a:blip r:embed="rId4"/>
              </a:buBlip>
            </a:pPr>
            <a:r>
              <a:rPr kumimoji="1" lang="zh-CN" altLang="en-US" sz="2800" b="1" dirty="0">
                <a:solidFill>
                  <a:srgbClr val="0066FF"/>
                </a:solidFill>
                <a:latin typeface="Tahoma" pitchFamily="34" charset="0"/>
              </a:rPr>
              <a:t>依据</a:t>
            </a:r>
            <a:r>
              <a:rPr kumimoji="1" lang="en-US" altLang="zh-CN" sz="2800" b="1" i="1" dirty="0">
                <a:solidFill>
                  <a:srgbClr val="0066FF"/>
                </a:solidFill>
                <a:latin typeface="Times New Roman" pitchFamily="18" charset="0"/>
                <a:cs typeface="Times New Roman" pitchFamily="18" charset="0"/>
              </a:rPr>
              <a:t>P</a:t>
            </a:r>
            <a:r>
              <a:rPr kumimoji="1" lang="en-US" altLang="zh-CN" sz="2800" b="1" dirty="0">
                <a:solidFill>
                  <a:srgbClr val="0066FF"/>
                </a:solidFill>
                <a:latin typeface="Tahoma" pitchFamily="34" charset="0"/>
              </a:rPr>
              <a:t> </a:t>
            </a:r>
            <a:r>
              <a:rPr kumimoji="1" lang="zh-CN" altLang="en-US" sz="2800" b="1" dirty="0">
                <a:solidFill>
                  <a:srgbClr val="0066FF"/>
                </a:solidFill>
                <a:latin typeface="Tahoma" pitchFamily="34" charset="0"/>
              </a:rPr>
              <a:t>值来判断：</a:t>
            </a:r>
          </a:p>
          <a:p>
            <a:pPr marL="1346200" lvl="2" indent="-431800">
              <a:lnSpc>
                <a:spcPct val="115000"/>
              </a:lnSpc>
              <a:spcBef>
                <a:spcPct val="25000"/>
              </a:spcBef>
              <a:buSzPct val="70000"/>
              <a:buBlip>
                <a:blip r:embed="rId5"/>
              </a:buBlip>
            </a:pPr>
            <a:r>
              <a:rPr lang="zh-CN" altLang="en-US" sz="2800" b="1" dirty="0">
                <a:solidFill>
                  <a:schemeClr val="tx2"/>
                </a:solidFill>
                <a:latin typeface="Tahoma" pitchFamily="34" charset="0"/>
              </a:rPr>
              <a:t>若</a:t>
            </a:r>
            <a:r>
              <a:rPr lang="en-US" altLang="zh-CN" sz="2800" b="1" i="1" dirty="0">
                <a:solidFill>
                  <a:srgbClr val="7030A0"/>
                </a:solidFill>
                <a:latin typeface="Times New Roman" panose="02020603050405020304" pitchFamily="18" charset="0"/>
                <a:cs typeface="Times New Roman" panose="02020603050405020304" pitchFamily="18" charset="0"/>
              </a:rPr>
              <a:t>P</a:t>
            </a:r>
            <a:r>
              <a:rPr lang="en-US" altLang="zh-CN" sz="2800" b="1" dirty="0">
                <a:solidFill>
                  <a:srgbClr val="7030A0"/>
                </a:solidFill>
                <a:latin typeface="Tahoma" pitchFamily="34" charset="0"/>
              </a:rPr>
              <a:t> </a:t>
            </a:r>
            <a:r>
              <a:rPr lang="zh-CN" altLang="en-US" sz="2800" b="1" dirty="0">
                <a:solidFill>
                  <a:srgbClr val="7030A0"/>
                </a:solidFill>
                <a:latin typeface="Tahoma" pitchFamily="34" charset="0"/>
              </a:rPr>
              <a:t>值</a:t>
            </a:r>
            <a:r>
              <a:rPr lang="en-US" altLang="zh-CN" sz="2800" b="1" dirty="0">
                <a:solidFill>
                  <a:srgbClr val="7030A0"/>
                </a:solidFill>
                <a:latin typeface="Tahoma" pitchFamily="34" charset="0"/>
              </a:rPr>
              <a:t>&lt;</a:t>
            </a:r>
            <a:r>
              <a:rPr lang="en-US" altLang="zh-CN" sz="2800" b="1" i="1" dirty="0">
                <a:solidFill>
                  <a:srgbClr val="7030A0"/>
                </a:solidFill>
                <a:latin typeface="Times New Roman" panose="02020603050405020304" pitchFamily="18" charset="0"/>
                <a:cs typeface="Times New Roman" panose="02020603050405020304" pitchFamily="18" charset="0"/>
              </a:rPr>
              <a:t>α</a:t>
            </a:r>
            <a:r>
              <a:rPr lang="zh-CN" altLang="en-US" sz="2800" b="1" dirty="0">
                <a:solidFill>
                  <a:schemeClr val="tx2"/>
                </a:solidFill>
                <a:latin typeface="Tahoma" pitchFamily="34" charset="0"/>
              </a:rPr>
              <a:t>，则拒绝原假设；</a:t>
            </a:r>
          </a:p>
          <a:p>
            <a:pPr marL="1346200" lvl="2" indent="-431800">
              <a:lnSpc>
                <a:spcPct val="115000"/>
              </a:lnSpc>
              <a:spcBef>
                <a:spcPct val="25000"/>
              </a:spcBef>
              <a:buSzPct val="70000"/>
              <a:buBlip>
                <a:blip r:embed="rId5"/>
              </a:buBlip>
            </a:pPr>
            <a:r>
              <a:rPr lang="zh-CN" altLang="en-US" sz="2800" b="1" dirty="0">
                <a:solidFill>
                  <a:schemeClr val="tx2"/>
                </a:solidFill>
                <a:latin typeface="Tahoma" pitchFamily="34" charset="0"/>
              </a:rPr>
              <a:t>反之，则不能拒绝原假设。 </a:t>
            </a:r>
          </a:p>
        </p:txBody>
      </p:sp>
    </p:spTree>
    <p:extLst>
      <p:ext uri="{BB962C8B-B14F-4D97-AF65-F5344CB8AC3E}">
        <p14:creationId xmlns:p14="http://schemas.microsoft.com/office/powerpoint/2010/main" val="365608888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灯片编号占位符 5"/>
          <p:cNvSpPr>
            <a:spLocks noGrp="1"/>
          </p:cNvSpPr>
          <p:nvPr>
            <p:ph type="sldNum" sz="quarter" idx="4294967295"/>
          </p:nvPr>
        </p:nvSpPr>
        <p:spPr>
          <a:noFill/>
        </p:spPr>
        <p:txBody>
          <a:bodyPr/>
          <a:lstStyle/>
          <a:p>
            <a:r>
              <a:rPr lang="en-US" altLang="zh-CN">
                <a:ea typeface="宋体" pitchFamily="2" charset="-122"/>
              </a:rPr>
              <a:t>8--</a:t>
            </a:r>
            <a:fld id="{182DD772-BEAC-4D93-A821-85BDB0D98A4B}" type="slidenum">
              <a:rPr lang="en-US" altLang="zh-CN" smtClean="0">
                <a:ea typeface="宋体" pitchFamily="2" charset="-122"/>
              </a:rPr>
              <a:pPr/>
              <a:t>27</a:t>
            </a:fld>
            <a:endParaRPr lang="en-US" altLang="zh-CN">
              <a:ea typeface="宋体" pitchFamily="2" charset="-122"/>
            </a:endParaRPr>
          </a:p>
        </p:txBody>
      </p:sp>
      <p:sp>
        <p:nvSpPr>
          <p:cNvPr id="71683" name="Rectangle 2"/>
          <p:cNvSpPr>
            <a:spLocks noGrp="1" noChangeArrowheads="1"/>
          </p:cNvSpPr>
          <p:nvPr>
            <p:ph type="title"/>
          </p:nvPr>
        </p:nvSpPr>
        <p:spPr>
          <a:xfrm>
            <a:off x="2208213" y="38100"/>
            <a:ext cx="7772400" cy="1143000"/>
          </a:xfrm>
        </p:spPr>
        <p:txBody>
          <a:bodyPr/>
          <a:lstStyle/>
          <a:p>
            <a:pPr eaLnBrk="1" hangingPunct="1"/>
            <a:r>
              <a:rPr lang="zh-CN" altLang="en-US" sz="4000" dirty="0"/>
              <a:t>双侧检验中的结论（</a:t>
            </a:r>
            <a:r>
              <a:rPr lang="en-US" altLang="zh-CN" sz="4000" dirty="0"/>
              <a:t>1</a:t>
            </a:r>
            <a:r>
              <a:rPr lang="zh-CN" altLang="en-US" sz="4000" dirty="0"/>
              <a:t>）</a:t>
            </a:r>
          </a:p>
        </p:txBody>
      </p:sp>
      <p:grpSp>
        <p:nvGrpSpPr>
          <p:cNvPr id="71684" name="Group 3"/>
          <p:cNvGrpSpPr>
            <a:grpSpLocks/>
          </p:cNvGrpSpPr>
          <p:nvPr/>
        </p:nvGrpSpPr>
        <p:grpSpPr bwMode="auto">
          <a:xfrm>
            <a:off x="3143250" y="1557338"/>
            <a:ext cx="5975350" cy="3378200"/>
            <a:chOff x="1027" y="1012"/>
            <a:chExt cx="3764" cy="2128"/>
          </a:xfrm>
        </p:grpSpPr>
        <p:sp>
          <p:nvSpPr>
            <p:cNvPr id="71695" name="Rectangle 4"/>
            <p:cNvSpPr>
              <a:spLocks noChangeArrowheads="1"/>
            </p:cNvSpPr>
            <p:nvPr/>
          </p:nvSpPr>
          <p:spPr bwMode="auto">
            <a:xfrm>
              <a:off x="3605" y="1012"/>
              <a:ext cx="1051" cy="325"/>
            </a:xfrm>
            <a:prstGeom prst="rect">
              <a:avLst/>
            </a:prstGeom>
            <a:noFill/>
            <a:ln w="12700">
              <a:noFill/>
              <a:miter lim="800000"/>
              <a:headEnd/>
              <a:tailEnd/>
            </a:ln>
          </p:spPr>
          <p:txBody>
            <a:bodyPr lIns="90488" tIns="44450" rIns="90488" bIns="44450">
              <a:spAutoFit/>
            </a:bodyPr>
            <a:lstStyle/>
            <a:p>
              <a:pPr eaLnBrk="0" hangingPunct="0">
                <a:spcBef>
                  <a:spcPct val="50000"/>
                </a:spcBef>
              </a:pPr>
              <a:endParaRPr kumimoji="1" lang="zh-CN" altLang="zh-CN" sz="2800">
                <a:solidFill>
                  <a:srgbClr val="FF00FF"/>
                </a:solidFill>
              </a:endParaRPr>
            </a:p>
          </p:txBody>
        </p:sp>
        <p:sp>
          <p:nvSpPr>
            <p:cNvPr id="30725" name="Rectangle 5"/>
            <p:cNvSpPr>
              <a:spLocks noChangeArrowheads="1"/>
            </p:cNvSpPr>
            <p:nvPr/>
          </p:nvSpPr>
          <p:spPr bwMode="auto">
            <a:xfrm>
              <a:off x="4149" y="1976"/>
              <a:ext cx="337" cy="233"/>
            </a:xfrm>
            <a:prstGeom prst="rect">
              <a:avLst/>
            </a:prstGeom>
            <a:solidFill>
              <a:schemeClr val="hlink"/>
            </a:solidFill>
            <a:ln w="9525">
              <a:noFill/>
              <a:miter lim="800000"/>
              <a:headEnd/>
              <a:tailEnd/>
            </a:ln>
            <a:effectLst>
              <a:outerShdw dist="17961" dir="2700000" algn="ctr" rotWithShape="0">
                <a:schemeClr val="bg2"/>
              </a:outerShdw>
            </a:effectLst>
          </p:spPr>
          <p:txBody>
            <a:bodyPr wrap="none" lIns="0" tIns="0" rIns="0" bIns="0">
              <a:spAutoFit/>
            </a:bodyPr>
            <a:lstStyle/>
            <a:p>
              <a:pPr eaLnBrk="0" hangingPunct="0">
                <a:defRPr/>
              </a:pPr>
              <a:r>
                <a:rPr kumimoji="1" lang="en-US" altLang="zh-CN" sz="2400" b="1">
                  <a:latin typeface="Symbol" pitchFamily="18" charset="2"/>
                  <a:ea typeface="宋体" charset="-122"/>
                </a:rPr>
                <a:t>a</a:t>
              </a:r>
              <a:r>
                <a:rPr kumimoji="1" lang="en-US" altLang="zh-CN" sz="2400" b="1">
                  <a:latin typeface="Arial" charset="0"/>
                  <a:ea typeface="宋体" charset="-122"/>
                </a:rPr>
                <a:t>/2 </a:t>
              </a:r>
            </a:p>
          </p:txBody>
        </p:sp>
        <p:sp>
          <p:nvSpPr>
            <p:cNvPr id="30726" name="Rectangle 6"/>
            <p:cNvSpPr>
              <a:spLocks noChangeArrowheads="1"/>
            </p:cNvSpPr>
            <p:nvPr/>
          </p:nvSpPr>
          <p:spPr bwMode="auto">
            <a:xfrm>
              <a:off x="1283" y="1934"/>
              <a:ext cx="337" cy="233"/>
            </a:xfrm>
            <a:prstGeom prst="rect">
              <a:avLst/>
            </a:prstGeom>
            <a:solidFill>
              <a:schemeClr val="hlink"/>
            </a:solidFill>
            <a:ln w="9525">
              <a:noFill/>
              <a:miter lim="800000"/>
              <a:headEnd/>
              <a:tailEnd/>
            </a:ln>
            <a:effectLst>
              <a:outerShdw dist="17961" dir="2700000" algn="ctr" rotWithShape="0">
                <a:schemeClr val="bg2"/>
              </a:outerShdw>
            </a:effectLst>
          </p:spPr>
          <p:txBody>
            <a:bodyPr wrap="none" lIns="0" tIns="0" rIns="0" bIns="0">
              <a:spAutoFit/>
            </a:bodyPr>
            <a:lstStyle/>
            <a:p>
              <a:pPr eaLnBrk="0" hangingPunct="0">
                <a:defRPr/>
              </a:pPr>
              <a:r>
                <a:rPr kumimoji="1" lang="en-US" altLang="zh-CN" sz="2400" b="1">
                  <a:latin typeface="Symbol" pitchFamily="18" charset="2"/>
                  <a:ea typeface="宋体" charset="-122"/>
                </a:rPr>
                <a:t>a</a:t>
              </a:r>
              <a:r>
                <a:rPr kumimoji="1" lang="en-US" altLang="zh-CN" sz="2400" b="1">
                  <a:latin typeface="Arial" charset="0"/>
                  <a:ea typeface="宋体" charset="-122"/>
                </a:rPr>
                <a:t>/2</a:t>
              </a:r>
              <a:r>
                <a:rPr kumimoji="1" lang="en-US" altLang="zh-CN" sz="2400" b="1">
                  <a:solidFill>
                    <a:srgbClr val="CDCDCD"/>
                  </a:solidFill>
                  <a:latin typeface="Arial" charset="0"/>
                  <a:ea typeface="宋体" charset="-122"/>
                </a:rPr>
                <a:t> </a:t>
              </a:r>
            </a:p>
          </p:txBody>
        </p:sp>
        <p:sp>
          <p:nvSpPr>
            <p:cNvPr id="30727" name="Rectangle 7"/>
            <p:cNvSpPr>
              <a:spLocks noChangeArrowheads="1"/>
            </p:cNvSpPr>
            <p:nvPr/>
          </p:nvSpPr>
          <p:spPr bwMode="auto">
            <a:xfrm>
              <a:off x="2396" y="1934"/>
              <a:ext cx="911" cy="289"/>
            </a:xfrm>
            <a:prstGeom prst="rect">
              <a:avLst/>
            </a:prstGeom>
            <a:noFill/>
            <a:ln w="12700">
              <a:noFill/>
              <a:miter lim="800000"/>
              <a:headEnd/>
              <a:tailEnd/>
            </a:ln>
            <a:effectLst>
              <a:outerShdw dist="12700" dir="5400000" algn="ctr" rotWithShape="0">
                <a:schemeClr val="bg2"/>
              </a:outerShdw>
            </a:effectLst>
          </p:spPr>
          <p:txBody>
            <a:bodyPr lIns="90488" tIns="44450" rIns="90488" bIns="44450">
              <a:spAutoFit/>
            </a:bodyPr>
            <a:lstStyle/>
            <a:p>
              <a:pPr algn="ctr" eaLnBrk="0" hangingPunct="0">
                <a:spcBef>
                  <a:spcPct val="50000"/>
                </a:spcBef>
                <a:defRPr/>
              </a:pPr>
              <a:r>
                <a:rPr kumimoji="1" lang="en-US" altLang="zh-CN" sz="2400" b="1">
                  <a:solidFill>
                    <a:schemeClr val="tx2"/>
                  </a:solidFill>
                  <a:effectLst>
                    <a:outerShdw blurRad="38100" dist="38100" dir="2700000" algn="tl">
                      <a:srgbClr val="C0C0C0"/>
                    </a:outerShdw>
                  </a:effectLst>
                  <a:latin typeface="Arial" charset="0"/>
                  <a:ea typeface="宋体" charset="-122"/>
                </a:rPr>
                <a:t>(1 </a:t>
              </a:r>
              <a:r>
                <a:rPr kumimoji="1" lang="zh-CN" altLang="en-US" sz="2400" b="1">
                  <a:solidFill>
                    <a:schemeClr val="tx2"/>
                  </a:solidFill>
                  <a:effectLst>
                    <a:outerShdw blurRad="38100" dist="38100" dir="2700000" algn="tl">
                      <a:srgbClr val="C0C0C0"/>
                    </a:outerShdw>
                  </a:effectLst>
                  <a:latin typeface="Arial" charset="0"/>
                  <a:ea typeface="宋体" charset="-122"/>
                </a:rPr>
                <a:t>－ </a:t>
              </a:r>
              <a:r>
                <a:rPr kumimoji="1" lang="zh-CN" altLang="en-US" sz="2400" b="1">
                  <a:solidFill>
                    <a:schemeClr val="tx2"/>
                  </a:solidFill>
                  <a:effectLst>
                    <a:outerShdw blurRad="38100" dist="38100" dir="2700000" algn="tl">
                      <a:srgbClr val="C0C0C0"/>
                    </a:outerShdw>
                  </a:effectLst>
                  <a:latin typeface="Symbol" pitchFamily="18" charset="2"/>
                  <a:ea typeface="宋体" charset="-122"/>
                </a:rPr>
                <a:t></a:t>
              </a:r>
              <a:r>
                <a:rPr kumimoji="1" lang="en-US" altLang="zh-CN" sz="2400" b="1">
                  <a:solidFill>
                    <a:schemeClr val="tx2"/>
                  </a:solidFill>
                  <a:effectLst>
                    <a:outerShdw blurRad="38100" dist="38100" dir="2700000" algn="tl">
                      <a:srgbClr val="C0C0C0"/>
                    </a:outerShdw>
                  </a:effectLst>
                  <a:latin typeface="Symbol" pitchFamily="18" charset="2"/>
                  <a:ea typeface="宋体" charset="-122"/>
                </a:rPr>
                <a:t>)</a:t>
              </a:r>
              <a:endParaRPr kumimoji="1" lang="en-US" altLang="zh-CN" sz="2400" b="1">
                <a:solidFill>
                  <a:schemeClr val="tx2"/>
                </a:solidFill>
                <a:latin typeface="Symbol" pitchFamily="18" charset="2"/>
                <a:ea typeface="宋体" charset="-122"/>
              </a:endParaRPr>
            </a:p>
          </p:txBody>
        </p:sp>
        <p:sp>
          <p:nvSpPr>
            <p:cNvPr id="30728" name="Line 8"/>
            <p:cNvSpPr>
              <a:spLocks noChangeShapeType="1"/>
            </p:cNvSpPr>
            <p:nvPr/>
          </p:nvSpPr>
          <p:spPr bwMode="auto">
            <a:xfrm>
              <a:off x="3678" y="2183"/>
              <a:ext cx="0" cy="456"/>
            </a:xfrm>
            <a:prstGeom prst="line">
              <a:avLst/>
            </a:prstGeom>
            <a:noFill/>
            <a:ln w="38100">
              <a:solidFill>
                <a:srgbClr val="CC0066"/>
              </a:solidFill>
              <a:round/>
              <a:headEnd/>
              <a:tailEnd/>
            </a:ln>
            <a:effectLst>
              <a:outerShdw dist="28398" dir="20006097" algn="ctr" rotWithShape="0">
                <a:schemeClr val="bg2"/>
              </a:outerShdw>
            </a:effectLst>
          </p:spPr>
          <p:txBody>
            <a:bodyPr wrap="none" anchor="ctr"/>
            <a:lstStyle/>
            <a:p>
              <a:pPr>
                <a:defRPr/>
              </a:pPr>
              <a:endParaRPr lang="zh-CN" altLang="en-US">
                <a:latin typeface="Arial" charset="0"/>
                <a:ea typeface="宋体" charset="-122"/>
              </a:endParaRPr>
            </a:p>
          </p:txBody>
        </p:sp>
        <p:sp>
          <p:nvSpPr>
            <p:cNvPr id="30729" name="Line 9"/>
            <p:cNvSpPr>
              <a:spLocks noChangeShapeType="1"/>
            </p:cNvSpPr>
            <p:nvPr/>
          </p:nvSpPr>
          <p:spPr bwMode="auto">
            <a:xfrm>
              <a:off x="2010" y="2639"/>
              <a:ext cx="0" cy="175"/>
            </a:xfrm>
            <a:prstGeom prst="line">
              <a:avLst/>
            </a:prstGeom>
            <a:noFill/>
            <a:ln w="28575">
              <a:solidFill>
                <a:srgbClr val="CC3399"/>
              </a:solidFill>
              <a:round/>
              <a:headEnd type="triangle" w="med" len="med"/>
              <a:tailEnd/>
            </a:ln>
            <a:effectLst>
              <a:outerShdw dist="12700" algn="ctr" rotWithShape="0">
                <a:schemeClr val="bg2"/>
              </a:outerShdw>
            </a:effectLst>
          </p:spPr>
          <p:txBody>
            <a:bodyPr wrap="none" anchor="ctr"/>
            <a:lstStyle/>
            <a:p>
              <a:pPr>
                <a:defRPr/>
              </a:pPr>
              <a:endParaRPr lang="zh-CN" altLang="en-US">
                <a:latin typeface="Arial" charset="0"/>
                <a:ea typeface="宋体" charset="-122"/>
              </a:endParaRPr>
            </a:p>
          </p:txBody>
        </p:sp>
        <p:sp>
          <p:nvSpPr>
            <p:cNvPr id="30730" name="Line 10"/>
            <p:cNvSpPr>
              <a:spLocks noChangeShapeType="1"/>
            </p:cNvSpPr>
            <p:nvPr/>
          </p:nvSpPr>
          <p:spPr bwMode="auto">
            <a:xfrm>
              <a:off x="3678" y="2639"/>
              <a:ext cx="0" cy="175"/>
            </a:xfrm>
            <a:prstGeom prst="line">
              <a:avLst/>
            </a:prstGeom>
            <a:noFill/>
            <a:ln w="28575">
              <a:solidFill>
                <a:srgbClr val="CC3399"/>
              </a:solidFill>
              <a:round/>
              <a:headEnd type="triangle" w="med" len="med"/>
              <a:tailEnd/>
            </a:ln>
            <a:effectLst>
              <a:outerShdw dist="12700" algn="ctr" rotWithShape="0">
                <a:schemeClr val="bg2"/>
              </a:outerShdw>
            </a:effectLst>
          </p:spPr>
          <p:txBody>
            <a:bodyPr wrap="none" anchor="ctr"/>
            <a:lstStyle/>
            <a:p>
              <a:pPr>
                <a:defRPr/>
              </a:pPr>
              <a:endParaRPr lang="zh-CN" altLang="en-US">
                <a:latin typeface="Arial" charset="0"/>
                <a:ea typeface="宋体" charset="-122"/>
              </a:endParaRPr>
            </a:p>
          </p:txBody>
        </p:sp>
        <p:sp>
          <p:nvSpPr>
            <p:cNvPr id="30731" name="Freeform 11"/>
            <p:cNvSpPr>
              <a:spLocks/>
            </p:cNvSpPr>
            <p:nvPr/>
          </p:nvSpPr>
          <p:spPr bwMode="auto">
            <a:xfrm>
              <a:off x="2781" y="1271"/>
              <a:ext cx="1831" cy="1307"/>
            </a:xfrm>
            <a:custGeom>
              <a:avLst/>
              <a:gdLst/>
              <a:ahLst/>
              <a:cxnLst>
                <a:cxn ang="0">
                  <a:pos x="1942" y="1430"/>
                </a:cxn>
                <a:cxn ang="0">
                  <a:pos x="1737" y="1412"/>
                </a:cxn>
                <a:cxn ang="0">
                  <a:pos x="1636" y="1396"/>
                </a:cxn>
                <a:cxn ang="0">
                  <a:pos x="1532" y="1373"/>
                </a:cxn>
                <a:cxn ang="0">
                  <a:pos x="1431" y="1342"/>
                </a:cxn>
                <a:cxn ang="0">
                  <a:pos x="1328" y="1298"/>
                </a:cxn>
                <a:cxn ang="0">
                  <a:pos x="1227" y="1238"/>
                </a:cxn>
                <a:cxn ang="0">
                  <a:pos x="1022" y="1073"/>
                </a:cxn>
                <a:cxn ang="0">
                  <a:pos x="818" y="838"/>
                </a:cxn>
                <a:cxn ang="0">
                  <a:pos x="613" y="559"/>
                </a:cxn>
                <a:cxn ang="0">
                  <a:pos x="512" y="416"/>
                </a:cxn>
                <a:cxn ang="0">
                  <a:pos x="409" y="282"/>
                </a:cxn>
                <a:cxn ang="0">
                  <a:pos x="308" y="166"/>
                </a:cxn>
                <a:cxn ang="0">
                  <a:pos x="204" y="78"/>
                </a:cxn>
                <a:cxn ang="0">
                  <a:pos x="103" y="21"/>
                </a:cxn>
                <a:cxn ang="0">
                  <a:pos x="0" y="0"/>
                </a:cxn>
              </a:cxnLst>
              <a:rect l="0" t="0" r="r" b="b"/>
              <a:pathLst>
                <a:path w="1942" h="1430">
                  <a:moveTo>
                    <a:pt x="1942" y="1430"/>
                  </a:moveTo>
                  <a:lnTo>
                    <a:pt x="1737" y="1412"/>
                  </a:lnTo>
                  <a:lnTo>
                    <a:pt x="1636" y="1396"/>
                  </a:lnTo>
                  <a:lnTo>
                    <a:pt x="1532" y="1373"/>
                  </a:lnTo>
                  <a:lnTo>
                    <a:pt x="1431" y="1342"/>
                  </a:lnTo>
                  <a:lnTo>
                    <a:pt x="1328" y="1298"/>
                  </a:lnTo>
                  <a:lnTo>
                    <a:pt x="1227" y="1238"/>
                  </a:lnTo>
                  <a:lnTo>
                    <a:pt x="1022" y="1073"/>
                  </a:lnTo>
                  <a:lnTo>
                    <a:pt x="818" y="838"/>
                  </a:lnTo>
                  <a:lnTo>
                    <a:pt x="613" y="559"/>
                  </a:lnTo>
                  <a:lnTo>
                    <a:pt x="512" y="416"/>
                  </a:lnTo>
                  <a:lnTo>
                    <a:pt x="409" y="282"/>
                  </a:lnTo>
                  <a:lnTo>
                    <a:pt x="308" y="166"/>
                  </a:lnTo>
                  <a:lnTo>
                    <a:pt x="204" y="78"/>
                  </a:lnTo>
                  <a:lnTo>
                    <a:pt x="103" y="21"/>
                  </a:lnTo>
                  <a:lnTo>
                    <a:pt x="0" y="0"/>
                  </a:lnTo>
                </a:path>
              </a:pathLst>
            </a:custGeom>
            <a:noFill/>
            <a:ln w="76200" cmpd="sng">
              <a:solidFill>
                <a:srgbClr val="FF00FF"/>
              </a:solidFill>
              <a:prstDash val="solid"/>
              <a:round/>
              <a:headEnd/>
              <a:tailEnd/>
            </a:ln>
            <a:effectLst>
              <a:outerShdw dist="38100" dir="5400000" algn="ctr" rotWithShape="0">
                <a:schemeClr val="bg2"/>
              </a:outerShdw>
            </a:effectLst>
          </p:spPr>
          <p:txBody>
            <a:bodyPr/>
            <a:lstStyle/>
            <a:p>
              <a:pPr>
                <a:defRPr/>
              </a:pPr>
              <a:endParaRPr lang="zh-CN" altLang="en-US">
                <a:latin typeface="Arial" charset="0"/>
                <a:ea typeface="宋体" charset="-122"/>
              </a:endParaRPr>
            </a:p>
          </p:txBody>
        </p:sp>
        <p:sp>
          <p:nvSpPr>
            <p:cNvPr id="30732" name="Freeform 12"/>
            <p:cNvSpPr>
              <a:spLocks/>
            </p:cNvSpPr>
            <p:nvPr/>
          </p:nvSpPr>
          <p:spPr bwMode="auto">
            <a:xfrm>
              <a:off x="1113" y="1271"/>
              <a:ext cx="1746" cy="1327"/>
            </a:xfrm>
            <a:custGeom>
              <a:avLst/>
              <a:gdLst/>
              <a:ahLst/>
              <a:cxnLst>
                <a:cxn ang="0">
                  <a:pos x="0" y="1430"/>
                </a:cxn>
                <a:cxn ang="0">
                  <a:pos x="205" y="1412"/>
                </a:cxn>
                <a:cxn ang="0">
                  <a:pos x="309" y="1396"/>
                </a:cxn>
                <a:cxn ang="0">
                  <a:pos x="410" y="1373"/>
                </a:cxn>
                <a:cxn ang="0">
                  <a:pos x="511" y="1342"/>
                </a:cxn>
                <a:cxn ang="0">
                  <a:pos x="614" y="1298"/>
                </a:cxn>
                <a:cxn ang="0">
                  <a:pos x="715" y="1238"/>
                </a:cxn>
                <a:cxn ang="0">
                  <a:pos x="922" y="1073"/>
                </a:cxn>
                <a:cxn ang="0">
                  <a:pos x="1124" y="838"/>
                </a:cxn>
                <a:cxn ang="0">
                  <a:pos x="1329" y="559"/>
                </a:cxn>
                <a:cxn ang="0">
                  <a:pos x="1432" y="416"/>
                </a:cxn>
                <a:cxn ang="0">
                  <a:pos x="1533" y="282"/>
                </a:cxn>
                <a:cxn ang="0">
                  <a:pos x="1637" y="166"/>
                </a:cxn>
                <a:cxn ang="0">
                  <a:pos x="1738" y="78"/>
                </a:cxn>
                <a:cxn ang="0">
                  <a:pos x="1842" y="21"/>
                </a:cxn>
                <a:cxn ang="0">
                  <a:pos x="1943" y="0"/>
                </a:cxn>
              </a:cxnLst>
              <a:rect l="0" t="0" r="r" b="b"/>
              <a:pathLst>
                <a:path w="1943" h="1430">
                  <a:moveTo>
                    <a:pt x="0" y="1430"/>
                  </a:moveTo>
                  <a:lnTo>
                    <a:pt x="205" y="1412"/>
                  </a:lnTo>
                  <a:lnTo>
                    <a:pt x="309" y="1396"/>
                  </a:lnTo>
                  <a:lnTo>
                    <a:pt x="410" y="1373"/>
                  </a:lnTo>
                  <a:lnTo>
                    <a:pt x="511" y="1342"/>
                  </a:lnTo>
                  <a:lnTo>
                    <a:pt x="614" y="1298"/>
                  </a:lnTo>
                  <a:lnTo>
                    <a:pt x="715" y="1238"/>
                  </a:lnTo>
                  <a:lnTo>
                    <a:pt x="922" y="1073"/>
                  </a:lnTo>
                  <a:lnTo>
                    <a:pt x="1124" y="838"/>
                  </a:lnTo>
                  <a:lnTo>
                    <a:pt x="1329" y="559"/>
                  </a:lnTo>
                  <a:lnTo>
                    <a:pt x="1432" y="416"/>
                  </a:lnTo>
                  <a:lnTo>
                    <a:pt x="1533" y="282"/>
                  </a:lnTo>
                  <a:lnTo>
                    <a:pt x="1637" y="166"/>
                  </a:lnTo>
                  <a:lnTo>
                    <a:pt x="1738" y="78"/>
                  </a:lnTo>
                  <a:lnTo>
                    <a:pt x="1842" y="21"/>
                  </a:lnTo>
                  <a:lnTo>
                    <a:pt x="1943" y="0"/>
                  </a:lnTo>
                </a:path>
              </a:pathLst>
            </a:custGeom>
            <a:noFill/>
            <a:ln w="76200" cmpd="sng">
              <a:solidFill>
                <a:srgbClr val="FF00FF"/>
              </a:solidFill>
              <a:prstDash val="solid"/>
              <a:round/>
              <a:headEnd/>
              <a:tailEnd/>
            </a:ln>
            <a:effectLst>
              <a:outerShdw dist="38100" dir="5400000" algn="ctr" rotWithShape="0">
                <a:schemeClr val="bg2"/>
              </a:outerShdw>
            </a:effectLst>
          </p:spPr>
          <p:txBody>
            <a:bodyPr/>
            <a:lstStyle/>
            <a:p>
              <a:pPr>
                <a:defRPr/>
              </a:pPr>
              <a:endParaRPr lang="zh-CN" altLang="en-US">
                <a:latin typeface="Arial" charset="0"/>
                <a:ea typeface="宋体" charset="-122"/>
              </a:endParaRPr>
            </a:p>
          </p:txBody>
        </p:sp>
        <p:sp>
          <p:nvSpPr>
            <p:cNvPr id="71704" name="Line 13"/>
            <p:cNvSpPr>
              <a:spLocks noChangeShapeType="1"/>
            </p:cNvSpPr>
            <p:nvPr/>
          </p:nvSpPr>
          <p:spPr bwMode="auto">
            <a:xfrm flipV="1">
              <a:off x="1027" y="1230"/>
              <a:ext cx="0" cy="1409"/>
            </a:xfrm>
            <a:prstGeom prst="line">
              <a:avLst/>
            </a:prstGeom>
            <a:noFill/>
            <a:ln w="38100">
              <a:solidFill>
                <a:schemeClr val="tx1"/>
              </a:solidFill>
              <a:miter lim="800000"/>
              <a:headEnd/>
              <a:tailEnd type="triangle" w="med" len="med"/>
            </a:ln>
          </p:spPr>
          <p:txBody>
            <a:bodyPr wrap="none"/>
            <a:lstStyle/>
            <a:p>
              <a:endParaRPr lang="zh-CN" altLang="en-US"/>
            </a:p>
          </p:txBody>
        </p:sp>
        <p:sp>
          <p:nvSpPr>
            <p:cNvPr id="71705" name="Line 14"/>
            <p:cNvSpPr>
              <a:spLocks noChangeShapeType="1"/>
            </p:cNvSpPr>
            <p:nvPr/>
          </p:nvSpPr>
          <p:spPr bwMode="auto">
            <a:xfrm>
              <a:off x="1027" y="2639"/>
              <a:ext cx="3764" cy="0"/>
            </a:xfrm>
            <a:prstGeom prst="line">
              <a:avLst/>
            </a:prstGeom>
            <a:noFill/>
            <a:ln w="38100">
              <a:solidFill>
                <a:schemeClr val="tx1"/>
              </a:solidFill>
              <a:miter lim="800000"/>
              <a:headEnd/>
              <a:tailEnd type="triangle" w="med" len="med"/>
            </a:ln>
          </p:spPr>
          <p:txBody>
            <a:bodyPr wrap="none"/>
            <a:lstStyle/>
            <a:p>
              <a:endParaRPr lang="zh-CN" altLang="en-US"/>
            </a:p>
          </p:txBody>
        </p:sp>
        <p:sp>
          <p:nvSpPr>
            <p:cNvPr id="30735" name="Line 15"/>
            <p:cNvSpPr>
              <a:spLocks noChangeShapeType="1"/>
            </p:cNvSpPr>
            <p:nvPr/>
          </p:nvSpPr>
          <p:spPr bwMode="auto">
            <a:xfrm>
              <a:off x="2010" y="2183"/>
              <a:ext cx="0" cy="456"/>
            </a:xfrm>
            <a:prstGeom prst="line">
              <a:avLst/>
            </a:prstGeom>
            <a:noFill/>
            <a:ln w="38100">
              <a:solidFill>
                <a:srgbClr val="CC0066"/>
              </a:solidFill>
              <a:round/>
              <a:headEnd/>
              <a:tailEnd/>
            </a:ln>
            <a:effectLst>
              <a:outerShdw dist="28398" dir="20006097" algn="ctr" rotWithShape="0">
                <a:schemeClr val="bg2"/>
              </a:outerShdw>
            </a:effectLst>
          </p:spPr>
          <p:txBody>
            <a:bodyPr wrap="none" anchor="ctr"/>
            <a:lstStyle/>
            <a:p>
              <a:pPr>
                <a:defRPr/>
              </a:pPr>
              <a:endParaRPr lang="zh-CN" altLang="en-US">
                <a:latin typeface="Arial" charset="0"/>
                <a:ea typeface="宋体" charset="-122"/>
              </a:endParaRPr>
            </a:p>
          </p:txBody>
        </p:sp>
        <p:sp>
          <p:nvSpPr>
            <p:cNvPr id="71707" name="Line 16"/>
            <p:cNvSpPr>
              <a:spLocks noChangeShapeType="1"/>
            </p:cNvSpPr>
            <p:nvPr/>
          </p:nvSpPr>
          <p:spPr bwMode="auto">
            <a:xfrm>
              <a:off x="3037" y="2307"/>
              <a:ext cx="599" cy="0"/>
            </a:xfrm>
            <a:prstGeom prst="line">
              <a:avLst/>
            </a:prstGeom>
            <a:noFill/>
            <a:ln w="38100">
              <a:solidFill>
                <a:schemeClr val="tx2"/>
              </a:solidFill>
              <a:miter lim="800000"/>
              <a:headEnd/>
              <a:tailEnd type="triangle" w="med" len="med"/>
            </a:ln>
          </p:spPr>
          <p:txBody>
            <a:bodyPr wrap="none"/>
            <a:lstStyle/>
            <a:p>
              <a:endParaRPr lang="zh-CN" altLang="en-US"/>
            </a:p>
          </p:txBody>
        </p:sp>
        <p:sp>
          <p:nvSpPr>
            <p:cNvPr id="71708" name="Line 17"/>
            <p:cNvSpPr>
              <a:spLocks noChangeShapeType="1"/>
            </p:cNvSpPr>
            <p:nvPr/>
          </p:nvSpPr>
          <p:spPr bwMode="auto">
            <a:xfrm flipH="1">
              <a:off x="2054" y="2307"/>
              <a:ext cx="1026" cy="0"/>
            </a:xfrm>
            <a:prstGeom prst="line">
              <a:avLst/>
            </a:prstGeom>
            <a:noFill/>
            <a:ln w="38100">
              <a:solidFill>
                <a:schemeClr val="tx2"/>
              </a:solidFill>
              <a:miter lim="800000"/>
              <a:headEnd/>
              <a:tailEnd type="triangle" w="med" len="med"/>
            </a:ln>
          </p:spPr>
          <p:txBody>
            <a:bodyPr wrap="none"/>
            <a:lstStyle/>
            <a:p>
              <a:endParaRPr lang="zh-CN" altLang="en-US"/>
            </a:p>
          </p:txBody>
        </p:sp>
        <p:sp>
          <p:nvSpPr>
            <p:cNvPr id="30738" name="Freeform 18"/>
            <p:cNvSpPr>
              <a:spLocks/>
            </p:cNvSpPr>
            <p:nvPr/>
          </p:nvSpPr>
          <p:spPr bwMode="auto">
            <a:xfrm>
              <a:off x="1155" y="2225"/>
              <a:ext cx="855" cy="414"/>
            </a:xfrm>
            <a:custGeom>
              <a:avLst/>
              <a:gdLst/>
              <a:ahLst/>
              <a:cxnLst>
                <a:cxn ang="0">
                  <a:pos x="1129" y="0"/>
                </a:cxn>
                <a:cxn ang="0">
                  <a:pos x="1129" y="735"/>
                </a:cxn>
                <a:cxn ang="0">
                  <a:pos x="0" y="735"/>
                </a:cxn>
                <a:cxn ang="0">
                  <a:pos x="124" y="698"/>
                </a:cxn>
                <a:cxn ang="0">
                  <a:pos x="246" y="657"/>
                </a:cxn>
                <a:cxn ang="0">
                  <a:pos x="362" y="610"/>
                </a:cxn>
                <a:cxn ang="0">
                  <a:pos x="474" y="559"/>
                </a:cxn>
                <a:cxn ang="0">
                  <a:pos x="580" y="504"/>
                </a:cxn>
                <a:cxn ang="0">
                  <a:pos x="681" y="442"/>
                </a:cxn>
                <a:cxn ang="0">
                  <a:pos x="774" y="378"/>
                </a:cxn>
                <a:cxn ang="0">
                  <a:pos x="860" y="308"/>
                </a:cxn>
                <a:cxn ang="0">
                  <a:pos x="940" y="236"/>
                </a:cxn>
                <a:cxn ang="0">
                  <a:pos x="1010" y="161"/>
                </a:cxn>
                <a:cxn ang="0">
                  <a:pos x="1074" y="81"/>
                </a:cxn>
                <a:cxn ang="0">
                  <a:pos x="1129" y="0"/>
                </a:cxn>
              </a:cxnLst>
              <a:rect l="0" t="0" r="r" b="b"/>
              <a:pathLst>
                <a:path w="1129" h="735">
                  <a:moveTo>
                    <a:pt x="1129" y="0"/>
                  </a:moveTo>
                  <a:lnTo>
                    <a:pt x="1129" y="735"/>
                  </a:lnTo>
                  <a:lnTo>
                    <a:pt x="0" y="735"/>
                  </a:lnTo>
                  <a:lnTo>
                    <a:pt x="124" y="698"/>
                  </a:lnTo>
                  <a:lnTo>
                    <a:pt x="246" y="657"/>
                  </a:lnTo>
                  <a:lnTo>
                    <a:pt x="362" y="610"/>
                  </a:lnTo>
                  <a:lnTo>
                    <a:pt x="474" y="559"/>
                  </a:lnTo>
                  <a:lnTo>
                    <a:pt x="580" y="504"/>
                  </a:lnTo>
                  <a:lnTo>
                    <a:pt x="681" y="442"/>
                  </a:lnTo>
                  <a:lnTo>
                    <a:pt x="774" y="378"/>
                  </a:lnTo>
                  <a:lnTo>
                    <a:pt x="860" y="308"/>
                  </a:lnTo>
                  <a:lnTo>
                    <a:pt x="940" y="236"/>
                  </a:lnTo>
                  <a:lnTo>
                    <a:pt x="1010" y="161"/>
                  </a:lnTo>
                  <a:lnTo>
                    <a:pt x="1074" y="81"/>
                  </a:lnTo>
                  <a:lnTo>
                    <a:pt x="1129" y="0"/>
                  </a:lnTo>
                  <a:close/>
                </a:path>
              </a:pathLst>
            </a:custGeom>
            <a:solidFill>
              <a:schemeClr val="hlink"/>
            </a:solidFill>
            <a:ln w="9525">
              <a:noFill/>
              <a:round/>
              <a:headEnd/>
              <a:tailEnd/>
            </a:ln>
            <a:effectLst>
              <a:outerShdw algn="ctr" rotWithShape="0">
                <a:srgbClr val="808080"/>
              </a:outerShdw>
            </a:effectLst>
          </p:spPr>
          <p:txBody>
            <a:bodyPr/>
            <a:lstStyle/>
            <a:p>
              <a:pPr>
                <a:defRPr/>
              </a:pPr>
              <a:endParaRPr lang="zh-CN" altLang="en-US">
                <a:latin typeface="Arial" charset="0"/>
                <a:ea typeface="宋体" charset="-122"/>
              </a:endParaRPr>
            </a:p>
          </p:txBody>
        </p:sp>
        <p:sp>
          <p:nvSpPr>
            <p:cNvPr id="30739" name="Freeform 19"/>
            <p:cNvSpPr>
              <a:spLocks/>
            </p:cNvSpPr>
            <p:nvPr/>
          </p:nvSpPr>
          <p:spPr bwMode="auto">
            <a:xfrm>
              <a:off x="3678" y="2225"/>
              <a:ext cx="899" cy="414"/>
            </a:xfrm>
            <a:custGeom>
              <a:avLst/>
              <a:gdLst/>
              <a:ahLst/>
              <a:cxnLst>
                <a:cxn ang="0">
                  <a:pos x="0" y="0"/>
                </a:cxn>
                <a:cxn ang="0">
                  <a:pos x="0" y="734"/>
                </a:cxn>
                <a:cxn ang="0">
                  <a:pos x="1129" y="734"/>
                </a:cxn>
                <a:cxn ang="0">
                  <a:pos x="1002" y="700"/>
                </a:cxn>
                <a:cxn ang="0">
                  <a:pos x="880" y="659"/>
                </a:cxn>
                <a:cxn ang="0">
                  <a:pos x="764" y="612"/>
                </a:cxn>
                <a:cxn ang="0">
                  <a:pos x="652" y="561"/>
                </a:cxn>
                <a:cxn ang="0">
                  <a:pos x="546" y="504"/>
                </a:cxn>
                <a:cxn ang="0">
                  <a:pos x="445" y="444"/>
                </a:cxn>
                <a:cxn ang="0">
                  <a:pos x="352" y="380"/>
                </a:cxn>
                <a:cxn ang="0">
                  <a:pos x="267" y="310"/>
                </a:cxn>
                <a:cxn ang="0">
                  <a:pos x="189" y="237"/>
                </a:cxn>
                <a:cxn ang="0">
                  <a:pos x="116" y="162"/>
                </a:cxn>
                <a:cxn ang="0">
                  <a:pos x="54" y="82"/>
                </a:cxn>
                <a:cxn ang="0">
                  <a:pos x="0" y="0"/>
                </a:cxn>
              </a:cxnLst>
              <a:rect l="0" t="0" r="r" b="b"/>
              <a:pathLst>
                <a:path w="1129" h="734">
                  <a:moveTo>
                    <a:pt x="0" y="0"/>
                  </a:moveTo>
                  <a:lnTo>
                    <a:pt x="0" y="734"/>
                  </a:lnTo>
                  <a:lnTo>
                    <a:pt x="1129" y="734"/>
                  </a:lnTo>
                  <a:lnTo>
                    <a:pt x="1002" y="700"/>
                  </a:lnTo>
                  <a:lnTo>
                    <a:pt x="880" y="659"/>
                  </a:lnTo>
                  <a:lnTo>
                    <a:pt x="764" y="612"/>
                  </a:lnTo>
                  <a:lnTo>
                    <a:pt x="652" y="561"/>
                  </a:lnTo>
                  <a:lnTo>
                    <a:pt x="546" y="504"/>
                  </a:lnTo>
                  <a:lnTo>
                    <a:pt x="445" y="444"/>
                  </a:lnTo>
                  <a:lnTo>
                    <a:pt x="352" y="380"/>
                  </a:lnTo>
                  <a:lnTo>
                    <a:pt x="267" y="310"/>
                  </a:lnTo>
                  <a:lnTo>
                    <a:pt x="189" y="237"/>
                  </a:lnTo>
                  <a:lnTo>
                    <a:pt x="116" y="162"/>
                  </a:lnTo>
                  <a:lnTo>
                    <a:pt x="54" y="82"/>
                  </a:lnTo>
                  <a:lnTo>
                    <a:pt x="0" y="0"/>
                  </a:lnTo>
                  <a:close/>
                </a:path>
              </a:pathLst>
            </a:custGeom>
            <a:solidFill>
              <a:schemeClr val="hlink"/>
            </a:solidFill>
            <a:ln w="9525">
              <a:noFill/>
              <a:round/>
              <a:headEnd/>
              <a:tailEnd/>
            </a:ln>
            <a:effectLst>
              <a:outerShdw algn="ctr" rotWithShape="0">
                <a:srgbClr val="808080"/>
              </a:outerShdw>
            </a:effectLst>
          </p:spPr>
          <p:txBody>
            <a:bodyPr/>
            <a:lstStyle/>
            <a:p>
              <a:pPr>
                <a:defRPr/>
              </a:pPr>
              <a:endParaRPr lang="zh-CN" altLang="en-US">
                <a:latin typeface="Arial" charset="0"/>
                <a:ea typeface="宋体" charset="-122"/>
              </a:endParaRPr>
            </a:p>
          </p:txBody>
        </p:sp>
        <p:sp>
          <p:nvSpPr>
            <p:cNvPr id="30740" name="Line 20"/>
            <p:cNvSpPr>
              <a:spLocks noChangeShapeType="1"/>
            </p:cNvSpPr>
            <p:nvPr/>
          </p:nvSpPr>
          <p:spPr bwMode="auto">
            <a:xfrm>
              <a:off x="2823" y="2639"/>
              <a:ext cx="0" cy="175"/>
            </a:xfrm>
            <a:prstGeom prst="line">
              <a:avLst/>
            </a:prstGeom>
            <a:noFill/>
            <a:ln w="28575">
              <a:solidFill>
                <a:srgbClr val="CC3399"/>
              </a:solidFill>
              <a:round/>
              <a:headEnd type="triangle" w="med" len="med"/>
              <a:tailEnd/>
            </a:ln>
            <a:effectLst>
              <a:outerShdw dist="12700" algn="ctr" rotWithShape="0">
                <a:schemeClr val="bg2"/>
              </a:outerShdw>
            </a:effectLst>
          </p:spPr>
          <p:txBody>
            <a:bodyPr wrap="none" anchor="ctr"/>
            <a:lstStyle/>
            <a:p>
              <a:pPr>
                <a:defRPr/>
              </a:pPr>
              <a:endParaRPr lang="zh-CN" altLang="en-US">
                <a:latin typeface="Arial" charset="0"/>
                <a:ea typeface="宋体" charset="-122"/>
              </a:endParaRPr>
            </a:p>
          </p:txBody>
        </p:sp>
        <p:sp>
          <p:nvSpPr>
            <p:cNvPr id="30741" name="Line 21"/>
            <p:cNvSpPr>
              <a:spLocks noChangeShapeType="1"/>
            </p:cNvSpPr>
            <p:nvPr/>
          </p:nvSpPr>
          <p:spPr bwMode="auto">
            <a:xfrm flipH="1">
              <a:off x="3936" y="2225"/>
              <a:ext cx="342" cy="312"/>
            </a:xfrm>
            <a:prstGeom prst="line">
              <a:avLst/>
            </a:prstGeom>
            <a:noFill/>
            <a:ln w="25400">
              <a:solidFill>
                <a:schemeClr val="tx2"/>
              </a:solidFill>
              <a:round/>
              <a:headEnd/>
              <a:tailEnd type="triangle" w="med" len="med"/>
            </a:ln>
            <a:effectLst>
              <a:outerShdw algn="ctr" rotWithShape="0">
                <a:schemeClr val="bg2"/>
              </a:outerShdw>
            </a:effectLst>
          </p:spPr>
          <p:txBody>
            <a:bodyPr wrap="none" anchor="ctr"/>
            <a:lstStyle/>
            <a:p>
              <a:pPr>
                <a:defRPr/>
              </a:pPr>
              <a:endParaRPr lang="zh-CN" altLang="en-US">
                <a:latin typeface="Arial" charset="0"/>
                <a:ea typeface="宋体" charset="-122"/>
              </a:endParaRPr>
            </a:p>
          </p:txBody>
        </p:sp>
        <p:sp>
          <p:nvSpPr>
            <p:cNvPr id="30742" name="Line 22"/>
            <p:cNvSpPr>
              <a:spLocks noChangeShapeType="1"/>
            </p:cNvSpPr>
            <p:nvPr/>
          </p:nvSpPr>
          <p:spPr bwMode="auto">
            <a:xfrm>
              <a:off x="1541" y="2225"/>
              <a:ext cx="300" cy="291"/>
            </a:xfrm>
            <a:prstGeom prst="line">
              <a:avLst/>
            </a:prstGeom>
            <a:noFill/>
            <a:ln w="25400">
              <a:solidFill>
                <a:schemeClr val="tx2"/>
              </a:solidFill>
              <a:round/>
              <a:headEnd/>
              <a:tailEnd type="triangle" w="med" len="med"/>
            </a:ln>
            <a:effectLst>
              <a:outerShdw algn="ctr" rotWithShape="0">
                <a:schemeClr val="bg2"/>
              </a:outerShdw>
            </a:effectLst>
          </p:spPr>
          <p:txBody>
            <a:bodyPr wrap="none" anchor="ctr"/>
            <a:lstStyle/>
            <a:p>
              <a:pPr>
                <a:defRPr/>
              </a:pPr>
              <a:endParaRPr lang="zh-CN" altLang="en-US">
                <a:latin typeface="Arial" charset="0"/>
                <a:ea typeface="宋体" charset="-122"/>
              </a:endParaRPr>
            </a:p>
          </p:txBody>
        </p:sp>
        <p:sp>
          <p:nvSpPr>
            <p:cNvPr id="71714" name="Line 23"/>
            <p:cNvSpPr>
              <a:spLocks noChangeShapeType="1"/>
            </p:cNvSpPr>
            <p:nvPr/>
          </p:nvSpPr>
          <p:spPr bwMode="auto">
            <a:xfrm flipH="1">
              <a:off x="3180" y="1273"/>
              <a:ext cx="425" cy="184"/>
            </a:xfrm>
            <a:prstGeom prst="line">
              <a:avLst/>
            </a:prstGeom>
            <a:noFill/>
            <a:ln w="28575">
              <a:noFill/>
              <a:miter lim="800000"/>
              <a:headEnd/>
              <a:tailEnd type="triangle" w="med" len="med"/>
            </a:ln>
          </p:spPr>
          <p:txBody>
            <a:bodyPr wrap="none"/>
            <a:lstStyle/>
            <a:p>
              <a:endParaRPr lang="zh-CN" altLang="en-US"/>
            </a:p>
          </p:txBody>
        </p:sp>
        <p:sp>
          <p:nvSpPr>
            <p:cNvPr id="30744" name="Text Box 24"/>
            <p:cNvSpPr txBox="1">
              <a:spLocks noChangeArrowheads="1"/>
            </p:cNvSpPr>
            <p:nvPr/>
          </p:nvSpPr>
          <p:spPr bwMode="auto">
            <a:xfrm>
              <a:off x="2634" y="2844"/>
              <a:ext cx="388" cy="296"/>
            </a:xfrm>
            <a:prstGeom prst="rect">
              <a:avLst/>
            </a:prstGeom>
            <a:noFill/>
            <a:ln w="12700">
              <a:solidFill>
                <a:srgbClr val="008000"/>
              </a:solidFill>
              <a:miter lim="800000"/>
              <a:headEnd/>
              <a:tailEnd/>
            </a:ln>
            <a:effectLst/>
          </p:spPr>
          <p:txBody>
            <a:bodyPr>
              <a:spAutoFit/>
            </a:bodyPr>
            <a:lstStyle/>
            <a:p>
              <a:pPr algn="ctr" eaLnBrk="0" hangingPunct="0">
                <a:spcBef>
                  <a:spcPct val="50000"/>
                </a:spcBef>
                <a:defRPr/>
              </a:pPr>
              <a:r>
                <a:rPr kumimoji="1" lang="el-GR" altLang="zh-CN" sz="2400" b="1" i="1" dirty="0">
                  <a:effectLst>
                    <a:outerShdw blurRad="38100" dist="38100" dir="2700000" algn="tl">
                      <a:srgbClr val="000000"/>
                    </a:outerShdw>
                  </a:effectLst>
                  <a:latin typeface="Times New Roman" pitchFamily="18" charset="0"/>
                  <a:ea typeface="宋体" charset="-122"/>
                  <a:cs typeface="Times New Roman" pitchFamily="18" charset="0"/>
                </a:rPr>
                <a:t>θ</a:t>
              </a:r>
              <a:r>
                <a:rPr kumimoji="1" lang="en-US" altLang="zh-CN" b="1" baseline="-25000" dirty="0">
                  <a:latin typeface="Arial" charset="0"/>
                  <a:ea typeface="宋体" charset="-122"/>
                </a:rPr>
                <a:t>0</a:t>
              </a:r>
              <a:endParaRPr kumimoji="1" lang="en-US" altLang="zh-CN" sz="2000" b="1" baseline="-25000" dirty="0">
                <a:latin typeface="Arial" charset="0"/>
                <a:ea typeface="宋体" charset="-122"/>
              </a:endParaRPr>
            </a:p>
          </p:txBody>
        </p:sp>
        <p:sp>
          <p:nvSpPr>
            <p:cNvPr id="71716" name="Text Box 25"/>
            <p:cNvSpPr txBox="1">
              <a:spLocks noChangeArrowheads="1"/>
            </p:cNvSpPr>
            <p:nvPr/>
          </p:nvSpPr>
          <p:spPr bwMode="auto">
            <a:xfrm>
              <a:off x="1668" y="2796"/>
              <a:ext cx="612" cy="239"/>
            </a:xfrm>
            <a:prstGeom prst="rect">
              <a:avLst/>
            </a:prstGeom>
            <a:solidFill>
              <a:srgbClr val="FFFF9B"/>
            </a:solidFill>
            <a:ln w="12700">
              <a:solidFill>
                <a:srgbClr val="FF33CC"/>
              </a:solidFill>
              <a:miter lim="800000"/>
              <a:headEnd/>
              <a:tailEnd/>
            </a:ln>
          </p:spPr>
          <p:txBody>
            <a:bodyPr>
              <a:spAutoFit/>
            </a:bodyPr>
            <a:lstStyle/>
            <a:p>
              <a:pPr algn="ctr" eaLnBrk="0" hangingPunct="0">
                <a:spcBef>
                  <a:spcPct val="50000"/>
                </a:spcBef>
              </a:pPr>
              <a:r>
                <a:rPr kumimoji="1" lang="zh-CN" altLang="en-US" b="1"/>
                <a:t>临界值</a:t>
              </a:r>
            </a:p>
          </p:txBody>
        </p:sp>
        <p:sp>
          <p:nvSpPr>
            <p:cNvPr id="71717" name="Text Box 26"/>
            <p:cNvSpPr txBox="1">
              <a:spLocks noChangeArrowheads="1"/>
            </p:cNvSpPr>
            <p:nvPr/>
          </p:nvSpPr>
          <p:spPr bwMode="auto">
            <a:xfrm>
              <a:off x="3444" y="2820"/>
              <a:ext cx="568" cy="233"/>
            </a:xfrm>
            <a:prstGeom prst="rect">
              <a:avLst/>
            </a:prstGeom>
            <a:solidFill>
              <a:srgbClr val="FFFF9B"/>
            </a:solidFill>
            <a:ln w="12700">
              <a:solidFill>
                <a:srgbClr val="FF33CC"/>
              </a:solidFill>
              <a:miter lim="800000"/>
              <a:headEnd/>
              <a:tailEnd/>
            </a:ln>
          </p:spPr>
          <p:txBody>
            <a:bodyPr>
              <a:spAutoFit/>
            </a:bodyPr>
            <a:lstStyle/>
            <a:p>
              <a:pPr algn="ctr" eaLnBrk="0" hangingPunct="0">
                <a:spcBef>
                  <a:spcPct val="50000"/>
                </a:spcBef>
              </a:pPr>
              <a:r>
                <a:rPr kumimoji="1" lang="zh-CN" altLang="en-US" b="1"/>
                <a:t>临界值</a:t>
              </a:r>
            </a:p>
          </p:txBody>
        </p:sp>
      </p:grpSp>
      <p:sp>
        <p:nvSpPr>
          <p:cNvPr id="71685" name="Text Box 27"/>
          <p:cNvSpPr txBox="1">
            <a:spLocks noChangeArrowheads="1"/>
          </p:cNvSpPr>
          <p:nvPr/>
        </p:nvSpPr>
        <p:spPr bwMode="auto">
          <a:xfrm>
            <a:off x="8496300" y="4191001"/>
            <a:ext cx="1562100" cy="396875"/>
          </a:xfrm>
          <a:prstGeom prst="rect">
            <a:avLst/>
          </a:prstGeom>
          <a:noFill/>
          <a:ln w="12700">
            <a:noFill/>
            <a:miter lim="800000"/>
            <a:headEnd/>
            <a:tailEnd/>
          </a:ln>
        </p:spPr>
        <p:txBody>
          <a:bodyPr>
            <a:spAutoFit/>
          </a:bodyPr>
          <a:lstStyle/>
          <a:p>
            <a:pPr eaLnBrk="0" hangingPunct="0">
              <a:spcBef>
                <a:spcPct val="50000"/>
              </a:spcBef>
            </a:pPr>
            <a:r>
              <a:rPr kumimoji="1" lang="zh-CN" altLang="en-US" sz="2000" b="1">
                <a:solidFill>
                  <a:srgbClr val="3333FF"/>
                </a:solidFill>
              </a:rPr>
              <a:t>检验统计量</a:t>
            </a:r>
          </a:p>
        </p:txBody>
      </p:sp>
      <p:grpSp>
        <p:nvGrpSpPr>
          <p:cNvPr id="3" name="Group 28"/>
          <p:cNvGrpSpPr>
            <a:grpSpLocks/>
          </p:cNvGrpSpPr>
          <p:nvPr/>
        </p:nvGrpSpPr>
        <p:grpSpPr bwMode="auto">
          <a:xfrm>
            <a:off x="4511675" y="4508500"/>
            <a:ext cx="1809750" cy="1492250"/>
            <a:chOff x="1872" y="2820"/>
            <a:chExt cx="1140" cy="873"/>
          </a:xfrm>
        </p:grpSpPr>
        <p:sp>
          <p:nvSpPr>
            <p:cNvPr id="71693" name="Text Box 29"/>
            <p:cNvSpPr txBox="1">
              <a:spLocks noChangeArrowheads="1"/>
            </p:cNvSpPr>
            <p:nvPr/>
          </p:nvSpPr>
          <p:spPr bwMode="auto">
            <a:xfrm>
              <a:off x="1872" y="3204"/>
              <a:ext cx="1140" cy="489"/>
            </a:xfrm>
            <a:prstGeom prst="rect">
              <a:avLst/>
            </a:prstGeom>
            <a:noFill/>
            <a:ln w="12700">
              <a:solidFill>
                <a:srgbClr val="336600"/>
              </a:solidFill>
              <a:miter lim="800000"/>
              <a:headEnd/>
              <a:tailEnd/>
            </a:ln>
          </p:spPr>
          <p:txBody>
            <a:bodyPr>
              <a:spAutoFit/>
            </a:bodyPr>
            <a:lstStyle/>
            <a:p>
              <a:pPr algn="ctr" eaLnBrk="0" hangingPunct="0">
                <a:spcBef>
                  <a:spcPct val="50000"/>
                </a:spcBef>
              </a:pPr>
              <a:r>
                <a:rPr kumimoji="1" lang="zh-CN" altLang="en-US" sz="2400" b="1">
                  <a:solidFill>
                    <a:srgbClr val="3333FF"/>
                  </a:solidFill>
                </a:rPr>
                <a:t>检验统计量的观察值</a:t>
              </a:r>
            </a:p>
          </p:txBody>
        </p:sp>
        <p:sp>
          <p:nvSpPr>
            <p:cNvPr id="71694" name="AutoShape 30"/>
            <p:cNvSpPr>
              <a:spLocks noChangeArrowheads="1"/>
            </p:cNvSpPr>
            <p:nvPr/>
          </p:nvSpPr>
          <p:spPr bwMode="auto">
            <a:xfrm>
              <a:off x="2304" y="2820"/>
              <a:ext cx="204" cy="384"/>
            </a:xfrm>
            <a:prstGeom prst="upArrow">
              <a:avLst>
                <a:gd name="adj1" fmla="val 50000"/>
                <a:gd name="adj2" fmla="val 47059"/>
              </a:avLst>
            </a:prstGeom>
            <a:solidFill>
              <a:srgbClr val="CC0099"/>
            </a:solidFill>
            <a:ln w="12700">
              <a:noFill/>
              <a:miter lim="800000"/>
              <a:headEnd/>
              <a:tailEnd/>
            </a:ln>
          </p:spPr>
          <p:txBody>
            <a:bodyPr vert="eaVert" wrap="none" anchor="ctr"/>
            <a:lstStyle/>
            <a:p>
              <a:endParaRPr lang="zh-CN" altLang="en-US"/>
            </a:p>
          </p:txBody>
        </p:sp>
      </p:grpSp>
      <p:grpSp>
        <p:nvGrpSpPr>
          <p:cNvPr id="4" name="Group 31"/>
          <p:cNvGrpSpPr>
            <a:grpSpLocks/>
          </p:cNvGrpSpPr>
          <p:nvPr/>
        </p:nvGrpSpPr>
        <p:grpSpPr bwMode="auto">
          <a:xfrm>
            <a:off x="6508751" y="5287170"/>
            <a:ext cx="3744912" cy="461962"/>
            <a:chOff x="3264" y="3348"/>
            <a:chExt cx="1956" cy="338"/>
          </a:xfrm>
          <a:noFill/>
        </p:grpSpPr>
        <p:sp>
          <p:nvSpPr>
            <p:cNvPr id="71691" name="Text Box 32"/>
            <p:cNvSpPr txBox="1">
              <a:spLocks noChangeArrowheads="1"/>
            </p:cNvSpPr>
            <p:nvPr/>
          </p:nvSpPr>
          <p:spPr bwMode="auto">
            <a:xfrm>
              <a:off x="3602" y="3348"/>
              <a:ext cx="1618" cy="338"/>
            </a:xfrm>
            <a:prstGeom prst="rect">
              <a:avLst/>
            </a:prstGeom>
            <a:grpFill/>
            <a:ln w="12700">
              <a:solidFill>
                <a:srgbClr val="336600"/>
              </a:solidFill>
              <a:miter lim="800000"/>
              <a:headEnd/>
              <a:tailEnd/>
            </a:ln>
          </p:spPr>
          <p:txBody>
            <a:bodyPr>
              <a:spAutoFit/>
            </a:bodyPr>
            <a:lstStyle/>
            <a:p>
              <a:pPr eaLnBrk="0" hangingPunct="0">
                <a:spcBef>
                  <a:spcPct val="50000"/>
                </a:spcBef>
              </a:pPr>
              <a:r>
                <a:rPr kumimoji="1" lang="zh-CN" altLang="en-US" sz="2400" b="1">
                  <a:solidFill>
                    <a:srgbClr val="008000"/>
                  </a:solidFill>
                </a:rPr>
                <a:t>结论：不能 拒绝</a:t>
              </a:r>
              <a:r>
                <a:rPr kumimoji="1" lang="en-US" altLang="zh-CN" sz="2400" b="1">
                  <a:solidFill>
                    <a:srgbClr val="008000"/>
                  </a:solidFill>
                </a:rPr>
                <a:t>H</a:t>
              </a:r>
              <a:r>
                <a:rPr kumimoji="1" lang="en-US" altLang="zh-CN" sz="2400" b="1" baseline="-20000">
                  <a:solidFill>
                    <a:srgbClr val="008000"/>
                  </a:solidFill>
                </a:rPr>
                <a:t>O</a:t>
              </a:r>
            </a:p>
          </p:txBody>
        </p:sp>
        <p:sp>
          <p:nvSpPr>
            <p:cNvPr id="71692" name="AutoShape 33"/>
            <p:cNvSpPr>
              <a:spLocks noChangeArrowheads="1"/>
            </p:cNvSpPr>
            <p:nvPr/>
          </p:nvSpPr>
          <p:spPr bwMode="auto">
            <a:xfrm>
              <a:off x="3264" y="3408"/>
              <a:ext cx="301" cy="150"/>
            </a:xfrm>
            <a:prstGeom prst="rightArrow">
              <a:avLst>
                <a:gd name="adj1" fmla="val 50000"/>
                <a:gd name="adj2" fmla="val 73438"/>
              </a:avLst>
            </a:prstGeom>
            <a:solidFill>
              <a:schemeClr val="tx2">
                <a:lumMod val="20000"/>
                <a:lumOff val="80000"/>
              </a:schemeClr>
            </a:solidFill>
            <a:ln w="12700">
              <a:solidFill>
                <a:schemeClr val="tx1"/>
              </a:solidFill>
              <a:miter lim="800000"/>
              <a:headEnd/>
              <a:tailEnd/>
            </a:ln>
          </p:spPr>
          <p:txBody>
            <a:bodyPr wrap="none" anchor="ctr"/>
            <a:lstStyle/>
            <a:p>
              <a:endParaRPr lang="zh-CN" altLang="en-US"/>
            </a:p>
          </p:txBody>
        </p:sp>
      </p:grpSp>
      <p:sp>
        <p:nvSpPr>
          <p:cNvPr id="35" name="椭圆 34"/>
          <p:cNvSpPr/>
          <p:nvPr/>
        </p:nvSpPr>
        <p:spPr>
          <a:xfrm>
            <a:off x="5232401" y="4076701"/>
            <a:ext cx="142875" cy="144463"/>
          </a:xfrm>
          <a:prstGeom prst="ellipse">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36" name="椭圆 35"/>
          <p:cNvSpPr/>
          <p:nvPr/>
        </p:nvSpPr>
        <p:spPr>
          <a:xfrm>
            <a:off x="7032626" y="4076701"/>
            <a:ext cx="142875" cy="144463"/>
          </a:xfrm>
          <a:prstGeom prst="ellipse">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37" name="椭圆 36"/>
          <p:cNvSpPr/>
          <p:nvPr/>
        </p:nvSpPr>
        <p:spPr>
          <a:xfrm>
            <a:off x="6383338" y="4076701"/>
            <a:ext cx="144462" cy="144463"/>
          </a:xfrm>
          <a:prstGeom prst="ellipse">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Tree>
    <p:extLst>
      <p:ext uri="{BB962C8B-B14F-4D97-AF65-F5344CB8AC3E}">
        <p14:creationId xmlns:p14="http://schemas.microsoft.com/office/powerpoint/2010/main" val="30793756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0-#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2" presetClass="entr" presetSubtype="8"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slide(fromLeft)">
                                      <p:cBhvr>
                                        <p:cTn id="13"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灯片编号占位符 5"/>
          <p:cNvSpPr>
            <a:spLocks noGrp="1"/>
          </p:cNvSpPr>
          <p:nvPr>
            <p:ph type="sldNum" sz="quarter" idx="4294967295"/>
          </p:nvPr>
        </p:nvSpPr>
        <p:spPr>
          <a:noFill/>
        </p:spPr>
        <p:txBody>
          <a:bodyPr/>
          <a:lstStyle/>
          <a:p>
            <a:r>
              <a:rPr lang="en-US" altLang="zh-CN">
                <a:ea typeface="宋体" pitchFamily="2" charset="-122"/>
              </a:rPr>
              <a:t>8--</a:t>
            </a:r>
            <a:fld id="{B259F9E2-9314-422B-B99A-7370C3DB8DA1}" type="slidenum">
              <a:rPr lang="en-US" altLang="zh-CN" smtClean="0">
                <a:ea typeface="宋体" pitchFamily="2" charset="-122"/>
              </a:rPr>
              <a:pPr/>
              <a:t>28</a:t>
            </a:fld>
            <a:endParaRPr lang="en-US" altLang="zh-CN">
              <a:ea typeface="宋体" pitchFamily="2" charset="-122"/>
            </a:endParaRPr>
          </a:p>
        </p:txBody>
      </p:sp>
      <p:sp>
        <p:nvSpPr>
          <p:cNvPr id="72707" name="Rectangle 2"/>
          <p:cNvSpPr>
            <a:spLocks noGrp="1" noChangeArrowheads="1"/>
          </p:cNvSpPr>
          <p:nvPr>
            <p:ph type="title"/>
          </p:nvPr>
        </p:nvSpPr>
        <p:spPr>
          <a:xfrm>
            <a:off x="2208213" y="38100"/>
            <a:ext cx="7772400" cy="1143000"/>
          </a:xfrm>
        </p:spPr>
        <p:txBody>
          <a:bodyPr/>
          <a:lstStyle/>
          <a:p>
            <a:pPr eaLnBrk="1" hangingPunct="1"/>
            <a:r>
              <a:rPr lang="zh-CN" altLang="en-US" sz="4000" dirty="0"/>
              <a:t>双侧检验中的结论（</a:t>
            </a:r>
            <a:r>
              <a:rPr lang="en-US" altLang="zh-CN" sz="4000" dirty="0"/>
              <a:t>2</a:t>
            </a:r>
            <a:r>
              <a:rPr lang="zh-CN" altLang="en-US" sz="4000" dirty="0"/>
              <a:t>）</a:t>
            </a:r>
          </a:p>
        </p:txBody>
      </p:sp>
      <p:grpSp>
        <p:nvGrpSpPr>
          <p:cNvPr id="72708" name="Group 3"/>
          <p:cNvGrpSpPr>
            <a:grpSpLocks/>
          </p:cNvGrpSpPr>
          <p:nvPr/>
        </p:nvGrpSpPr>
        <p:grpSpPr bwMode="auto">
          <a:xfrm>
            <a:off x="3143250" y="1557338"/>
            <a:ext cx="5975350" cy="3378200"/>
            <a:chOff x="1027" y="1012"/>
            <a:chExt cx="3764" cy="2128"/>
          </a:xfrm>
        </p:grpSpPr>
        <p:sp>
          <p:nvSpPr>
            <p:cNvPr id="72719" name="Rectangle 4"/>
            <p:cNvSpPr>
              <a:spLocks noChangeArrowheads="1"/>
            </p:cNvSpPr>
            <p:nvPr/>
          </p:nvSpPr>
          <p:spPr bwMode="auto">
            <a:xfrm>
              <a:off x="3605" y="1012"/>
              <a:ext cx="1051" cy="325"/>
            </a:xfrm>
            <a:prstGeom prst="rect">
              <a:avLst/>
            </a:prstGeom>
            <a:noFill/>
            <a:ln w="12700">
              <a:noFill/>
              <a:miter lim="800000"/>
              <a:headEnd/>
              <a:tailEnd/>
            </a:ln>
          </p:spPr>
          <p:txBody>
            <a:bodyPr lIns="90488" tIns="44450" rIns="90488" bIns="44450">
              <a:spAutoFit/>
            </a:bodyPr>
            <a:lstStyle/>
            <a:p>
              <a:pPr eaLnBrk="0" hangingPunct="0">
                <a:spcBef>
                  <a:spcPct val="50000"/>
                </a:spcBef>
              </a:pPr>
              <a:endParaRPr kumimoji="1" lang="zh-CN" altLang="zh-CN" sz="2800">
                <a:solidFill>
                  <a:srgbClr val="FF00FF"/>
                </a:solidFill>
              </a:endParaRPr>
            </a:p>
          </p:txBody>
        </p:sp>
        <p:sp>
          <p:nvSpPr>
            <p:cNvPr id="31749" name="Rectangle 5"/>
            <p:cNvSpPr>
              <a:spLocks noChangeArrowheads="1"/>
            </p:cNvSpPr>
            <p:nvPr/>
          </p:nvSpPr>
          <p:spPr bwMode="auto">
            <a:xfrm>
              <a:off x="4149" y="1976"/>
              <a:ext cx="337" cy="233"/>
            </a:xfrm>
            <a:prstGeom prst="rect">
              <a:avLst/>
            </a:prstGeom>
            <a:solidFill>
              <a:schemeClr val="hlink"/>
            </a:solidFill>
            <a:ln w="9525">
              <a:noFill/>
              <a:miter lim="800000"/>
              <a:headEnd/>
              <a:tailEnd/>
            </a:ln>
            <a:effectLst>
              <a:outerShdw dist="17961" dir="2700000" algn="ctr" rotWithShape="0">
                <a:schemeClr val="bg2"/>
              </a:outerShdw>
            </a:effectLst>
          </p:spPr>
          <p:txBody>
            <a:bodyPr wrap="none" lIns="0" tIns="0" rIns="0" bIns="0">
              <a:spAutoFit/>
            </a:bodyPr>
            <a:lstStyle/>
            <a:p>
              <a:pPr eaLnBrk="0" hangingPunct="0">
                <a:defRPr/>
              </a:pPr>
              <a:r>
                <a:rPr kumimoji="1" lang="en-US" altLang="zh-CN" sz="2400" b="1">
                  <a:latin typeface="Symbol" pitchFamily="18" charset="2"/>
                  <a:ea typeface="宋体" charset="-122"/>
                </a:rPr>
                <a:t>a</a:t>
              </a:r>
              <a:r>
                <a:rPr kumimoji="1" lang="en-US" altLang="zh-CN" sz="2400" b="1">
                  <a:latin typeface="Arial" charset="0"/>
                  <a:ea typeface="宋体" charset="-122"/>
                </a:rPr>
                <a:t>/2 </a:t>
              </a:r>
            </a:p>
          </p:txBody>
        </p:sp>
        <p:sp>
          <p:nvSpPr>
            <p:cNvPr id="31750" name="Rectangle 6"/>
            <p:cNvSpPr>
              <a:spLocks noChangeArrowheads="1"/>
            </p:cNvSpPr>
            <p:nvPr/>
          </p:nvSpPr>
          <p:spPr bwMode="auto">
            <a:xfrm>
              <a:off x="1283" y="1934"/>
              <a:ext cx="337" cy="233"/>
            </a:xfrm>
            <a:prstGeom prst="rect">
              <a:avLst/>
            </a:prstGeom>
            <a:solidFill>
              <a:schemeClr val="hlink"/>
            </a:solidFill>
            <a:ln w="9525">
              <a:noFill/>
              <a:miter lim="800000"/>
              <a:headEnd/>
              <a:tailEnd/>
            </a:ln>
            <a:effectLst>
              <a:outerShdw dist="17961" dir="2700000" algn="ctr" rotWithShape="0">
                <a:schemeClr val="bg2"/>
              </a:outerShdw>
            </a:effectLst>
          </p:spPr>
          <p:txBody>
            <a:bodyPr wrap="none" lIns="0" tIns="0" rIns="0" bIns="0">
              <a:spAutoFit/>
            </a:bodyPr>
            <a:lstStyle/>
            <a:p>
              <a:pPr eaLnBrk="0" hangingPunct="0">
                <a:defRPr/>
              </a:pPr>
              <a:r>
                <a:rPr kumimoji="1" lang="en-US" altLang="zh-CN" sz="2400" b="1">
                  <a:latin typeface="Symbol" pitchFamily="18" charset="2"/>
                  <a:ea typeface="宋体" charset="-122"/>
                </a:rPr>
                <a:t>a</a:t>
              </a:r>
              <a:r>
                <a:rPr kumimoji="1" lang="en-US" altLang="zh-CN" sz="2400" b="1">
                  <a:latin typeface="Arial" charset="0"/>
                  <a:ea typeface="宋体" charset="-122"/>
                </a:rPr>
                <a:t>/2</a:t>
              </a:r>
              <a:r>
                <a:rPr kumimoji="1" lang="en-US" altLang="zh-CN" sz="2400" b="1">
                  <a:solidFill>
                    <a:srgbClr val="CDCDCD"/>
                  </a:solidFill>
                  <a:latin typeface="Arial" charset="0"/>
                  <a:ea typeface="宋体" charset="-122"/>
                </a:rPr>
                <a:t> </a:t>
              </a:r>
            </a:p>
          </p:txBody>
        </p:sp>
        <p:sp>
          <p:nvSpPr>
            <p:cNvPr id="31751" name="Rectangle 7"/>
            <p:cNvSpPr>
              <a:spLocks noChangeArrowheads="1"/>
            </p:cNvSpPr>
            <p:nvPr/>
          </p:nvSpPr>
          <p:spPr bwMode="auto">
            <a:xfrm>
              <a:off x="2396" y="1934"/>
              <a:ext cx="911" cy="289"/>
            </a:xfrm>
            <a:prstGeom prst="rect">
              <a:avLst/>
            </a:prstGeom>
            <a:noFill/>
            <a:ln w="12700">
              <a:noFill/>
              <a:miter lim="800000"/>
              <a:headEnd/>
              <a:tailEnd/>
            </a:ln>
            <a:effectLst>
              <a:outerShdw dist="12700" dir="5400000" algn="ctr" rotWithShape="0">
                <a:schemeClr val="bg2"/>
              </a:outerShdw>
            </a:effectLst>
          </p:spPr>
          <p:txBody>
            <a:bodyPr lIns="90488" tIns="44450" rIns="90488" bIns="44450">
              <a:spAutoFit/>
            </a:bodyPr>
            <a:lstStyle/>
            <a:p>
              <a:pPr algn="ctr" eaLnBrk="0" hangingPunct="0">
                <a:spcBef>
                  <a:spcPct val="50000"/>
                </a:spcBef>
                <a:defRPr/>
              </a:pPr>
              <a:r>
                <a:rPr kumimoji="1" lang="en-US" altLang="zh-CN" sz="2400" b="1">
                  <a:solidFill>
                    <a:schemeClr val="tx2"/>
                  </a:solidFill>
                  <a:effectLst>
                    <a:outerShdw blurRad="38100" dist="38100" dir="2700000" algn="tl">
                      <a:srgbClr val="C0C0C0"/>
                    </a:outerShdw>
                  </a:effectLst>
                  <a:latin typeface="Arial" charset="0"/>
                  <a:ea typeface="宋体" charset="-122"/>
                </a:rPr>
                <a:t>(1 </a:t>
              </a:r>
              <a:r>
                <a:rPr kumimoji="1" lang="zh-CN" altLang="en-US" sz="2400" b="1">
                  <a:solidFill>
                    <a:schemeClr val="tx2"/>
                  </a:solidFill>
                  <a:effectLst>
                    <a:outerShdw blurRad="38100" dist="38100" dir="2700000" algn="tl">
                      <a:srgbClr val="C0C0C0"/>
                    </a:outerShdw>
                  </a:effectLst>
                  <a:latin typeface="Arial" charset="0"/>
                  <a:ea typeface="宋体" charset="-122"/>
                </a:rPr>
                <a:t>－ </a:t>
              </a:r>
              <a:r>
                <a:rPr kumimoji="1" lang="zh-CN" altLang="en-US" sz="2400" b="1">
                  <a:solidFill>
                    <a:schemeClr val="tx2"/>
                  </a:solidFill>
                  <a:effectLst>
                    <a:outerShdw blurRad="38100" dist="38100" dir="2700000" algn="tl">
                      <a:srgbClr val="C0C0C0"/>
                    </a:outerShdw>
                  </a:effectLst>
                  <a:latin typeface="Symbol" pitchFamily="18" charset="2"/>
                  <a:ea typeface="宋体" charset="-122"/>
                </a:rPr>
                <a:t></a:t>
              </a:r>
              <a:r>
                <a:rPr kumimoji="1" lang="en-US" altLang="zh-CN" sz="2400" b="1">
                  <a:solidFill>
                    <a:schemeClr val="tx2"/>
                  </a:solidFill>
                  <a:effectLst>
                    <a:outerShdw blurRad="38100" dist="38100" dir="2700000" algn="tl">
                      <a:srgbClr val="C0C0C0"/>
                    </a:outerShdw>
                  </a:effectLst>
                  <a:latin typeface="Symbol" pitchFamily="18" charset="2"/>
                  <a:ea typeface="宋体" charset="-122"/>
                </a:rPr>
                <a:t>)</a:t>
              </a:r>
              <a:endParaRPr kumimoji="1" lang="en-US" altLang="zh-CN" sz="2400" b="1">
                <a:solidFill>
                  <a:schemeClr val="tx2"/>
                </a:solidFill>
                <a:latin typeface="Symbol" pitchFamily="18" charset="2"/>
                <a:ea typeface="宋体" charset="-122"/>
              </a:endParaRPr>
            </a:p>
          </p:txBody>
        </p:sp>
        <p:sp>
          <p:nvSpPr>
            <p:cNvPr id="31752" name="Line 8"/>
            <p:cNvSpPr>
              <a:spLocks noChangeShapeType="1"/>
            </p:cNvSpPr>
            <p:nvPr/>
          </p:nvSpPr>
          <p:spPr bwMode="auto">
            <a:xfrm>
              <a:off x="3678" y="2183"/>
              <a:ext cx="0" cy="456"/>
            </a:xfrm>
            <a:prstGeom prst="line">
              <a:avLst/>
            </a:prstGeom>
            <a:noFill/>
            <a:ln w="38100">
              <a:solidFill>
                <a:srgbClr val="CC0066"/>
              </a:solidFill>
              <a:round/>
              <a:headEnd/>
              <a:tailEnd/>
            </a:ln>
            <a:effectLst>
              <a:outerShdw dist="28398" dir="20006097" algn="ctr" rotWithShape="0">
                <a:schemeClr val="bg2"/>
              </a:outerShdw>
            </a:effectLst>
          </p:spPr>
          <p:txBody>
            <a:bodyPr wrap="none" anchor="ctr"/>
            <a:lstStyle/>
            <a:p>
              <a:pPr>
                <a:defRPr/>
              </a:pPr>
              <a:endParaRPr lang="zh-CN" altLang="en-US">
                <a:latin typeface="Arial" charset="0"/>
                <a:ea typeface="宋体" charset="-122"/>
              </a:endParaRPr>
            </a:p>
          </p:txBody>
        </p:sp>
        <p:sp>
          <p:nvSpPr>
            <p:cNvPr id="31753" name="Line 9"/>
            <p:cNvSpPr>
              <a:spLocks noChangeShapeType="1"/>
            </p:cNvSpPr>
            <p:nvPr/>
          </p:nvSpPr>
          <p:spPr bwMode="auto">
            <a:xfrm>
              <a:off x="2010" y="2639"/>
              <a:ext cx="0" cy="175"/>
            </a:xfrm>
            <a:prstGeom prst="line">
              <a:avLst/>
            </a:prstGeom>
            <a:noFill/>
            <a:ln w="28575">
              <a:solidFill>
                <a:srgbClr val="CC3399"/>
              </a:solidFill>
              <a:round/>
              <a:headEnd type="triangle" w="med" len="med"/>
              <a:tailEnd/>
            </a:ln>
            <a:effectLst>
              <a:outerShdw dist="12700" algn="ctr" rotWithShape="0">
                <a:schemeClr val="bg2"/>
              </a:outerShdw>
            </a:effectLst>
          </p:spPr>
          <p:txBody>
            <a:bodyPr wrap="none" anchor="ctr"/>
            <a:lstStyle/>
            <a:p>
              <a:pPr>
                <a:defRPr/>
              </a:pPr>
              <a:endParaRPr lang="zh-CN" altLang="en-US">
                <a:latin typeface="Arial" charset="0"/>
                <a:ea typeface="宋体" charset="-122"/>
              </a:endParaRPr>
            </a:p>
          </p:txBody>
        </p:sp>
        <p:sp>
          <p:nvSpPr>
            <p:cNvPr id="31754" name="Line 10"/>
            <p:cNvSpPr>
              <a:spLocks noChangeShapeType="1"/>
            </p:cNvSpPr>
            <p:nvPr/>
          </p:nvSpPr>
          <p:spPr bwMode="auto">
            <a:xfrm>
              <a:off x="3678" y="2639"/>
              <a:ext cx="0" cy="175"/>
            </a:xfrm>
            <a:prstGeom prst="line">
              <a:avLst/>
            </a:prstGeom>
            <a:noFill/>
            <a:ln w="28575">
              <a:solidFill>
                <a:srgbClr val="CC3399"/>
              </a:solidFill>
              <a:round/>
              <a:headEnd type="triangle" w="med" len="med"/>
              <a:tailEnd/>
            </a:ln>
            <a:effectLst>
              <a:outerShdw dist="12700" algn="ctr" rotWithShape="0">
                <a:schemeClr val="bg2"/>
              </a:outerShdw>
            </a:effectLst>
          </p:spPr>
          <p:txBody>
            <a:bodyPr wrap="none" anchor="ctr"/>
            <a:lstStyle/>
            <a:p>
              <a:pPr>
                <a:defRPr/>
              </a:pPr>
              <a:endParaRPr lang="zh-CN" altLang="en-US">
                <a:latin typeface="Arial" charset="0"/>
                <a:ea typeface="宋体" charset="-122"/>
              </a:endParaRPr>
            </a:p>
          </p:txBody>
        </p:sp>
        <p:sp>
          <p:nvSpPr>
            <p:cNvPr id="31755" name="Freeform 11"/>
            <p:cNvSpPr>
              <a:spLocks/>
            </p:cNvSpPr>
            <p:nvPr/>
          </p:nvSpPr>
          <p:spPr bwMode="auto">
            <a:xfrm>
              <a:off x="2781" y="1271"/>
              <a:ext cx="1831" cy="1307"/>
            </a:xfrm>
            <a:custGeom>
              <a:avLst/>
              <a:gdLst/>
              <a:ahLst/>
              <a:cxnLst>
                <a:cxn ang="0">
                  <a:pos x="1942" y="1430"/>
                </a:cxn>
                <a:cxn ang="0">
                  <a:pos x="1737" y="1412"/>
                </a:cxn>
                <a:cxn ang="0">
                  <a:pos x="1636" y="1396"/>
                </a:cxn>
                <a:cxn ang="0">
                  <a:pos x="1532" y="1373"/>
                </a:cxn>
                <a:cxn ang="0">
                  <a:pos x="1431" y="1342"/>
                </a:cxn>
                <a:cxn ang="0">
                  <a:pos x="1328" y="1298"/>
                </a:cxn>
                <a:cxn ang="0">
                  <a:pos x="1227" y="1238"/>
                </a:cxn>
                <a:cxn ang="0">
                  <a:pos x="1022" y="1073"/>
                </a:cxn>
                <a:cxn ang="0">
                  <a:pos x="818" y="838"/>
                </a:cxn>
                <a:cxn ang="0">
                  <a:pos x="613" y="559"/>
                </a:cxn>
                <a:cxn ang="0">
                  <a:pos x="512" y="416"/>
                </a:cxn>
                <a:cxn ang="0">
                  <a:pos x="409" y="282"/>
                </a:cxn>
                <a:cxn ang="0">
                  <a:pos x="308" y="166"/>
                </a:cxn>
                <a:cxn ang="0">
                  <a:pos x="204" y="78"/>
                </a:cxn>
                <a:cxn ang="0">
                  <a:pos x="103" y="21"/>
                </a:cxn>
                <a:cxn ang="0">
                  <a:pos x="0" y="0"/>
                </a:cxn>
              </a:cxnLst>
              <a:rect l="0" t="0" r="r" b="b"/>
              <a:pathLst>
                <a:path w="1942" h="1430">
                  <a:moveTo>
                    <a:pt x="1942" y="1430"/>
                  </a:moveTo>
                  <a:lnTo>
                    <a:pt x="1737" y="1412"/>
                  </a:lnTo>
                  <a:lnTo>
                    <a:pt x="1636" y="1396"/>
                  </a:lnTo>
                  <a:lnTo>
                    <a:pt x="1532" y="1373"/>
                  </a:lnTo>
                  <a:lnTo>
                    <a:pt x="1431" y="1342"/>
                  </a:lnTo>
                  <a:lnTo>
                    <a:pt x="1328" y="1298"/>
                  </a:lnTo>
                  <a:lnTo>
                    <a:pt x="1227" y="1238"/>
                  </a:lnTo>
                  <a:lnTo>
                    <a:pt x="1022" y="1073"/>
                  </a:lnTo>
                  <a:lnTo>
                    <a:pt x="818" y="838"/>
                  </a:lnTo>
                  <a:lnTo>
                    <a:pt x="613" y="559"/>
                  </a:lnTo>
                  <a:lnTo>
                    <a:pt x="512" y="416"/>
                  </a:lnTo>
                  <a:lnTo>
                    <a:pt x="409" y="282"/>
                  </a:lnTo>
                  <a:lnTo>
                    <a:pt x="308" y="166"/>
                  </a:lnTo>
                  <a:lnTo>
                    <a:pt x="204" y="78"/>
                  </a:lnTo>
                  <a:lnTo>
                    <a:pt x="103" y="21"/>
                  </a:lnTo>
                  <a:lnTo>
                    <a:pt x="0" y="0"/>
                  </a:lnTo>
                </a:path>
              </a:pathLst>
            </a:custGeom>
            <a:noFill/>
            <a:ln w="76200" cmpd="sng">
              <a:solidFill>
                <a:srgbClr val="FF00FF"/>
              </a:solidFill>
              <a:prstDash val="solid"/>
              <a:round/>
              <a:headEnd/>
              <a:tailEnd/>
            </a:ln>
            <a:effectLst>
              <a:outerShdw dist="38100" dir="5400000" algn="ctr" rotWithShape="0">
                <a:schemeClr val="bg2"/>
              </a:outerShdw>
            </a:effectLst>
          </p:spPr>
          <p:txBody>
            <a:bodyPr/>
            <a:lstStyle/>
            <a:p>
              <a:pPr>
                <a:defRPr/>
              </a:pPr>
              <a:endParaRPr lang="zh-CN" altLang="en-US">
                <a:latin typeface="Arial" charset="0"/>
                <a:ea typeface="宋体" charset="-122"/>
              </a:endParaRPr>
            </a:p>
          </p:txBody>
        </p:sp>
        <p:sp>
          <p:nvSpPr>
            <p:cNvPr id="31756" name="Freeform 12"/>
            <p:cNvSpPr>
              <a:spLocks/>
            </p:cNvSpPr>
            <p:nvPr/>
          </p:nvSpPr>
          <p:spPr bwMode="auto">
            <a:xfrm>
              <a:off x="1113" y="1271"/>
              <a:ext cx="1746" cy="1327"/>
            </a:xfrm>
            <a:custGeom>
              <a:avLst/>
              <a:gdLst/>
              <a:ahLst/>
              <a:cxnLst>
                <a:cxn ang="0">
                  <a:pos x="0" y="1430"/>
                </a:cxn>
                <a:cxn ang="0">
                  <a:pos x="205" y="1412"/>
                </a:cxn>
                <a:cxn ang="0">
                  <a:pos x="309" y="1396"/>
                </a:cxn>
                <a:cxn ang="0">
                  <a:pos x="410" y="1373"/>
                </a:cxn>
                <a:cxn ang="0">
                  <a:pos x="511" y="1342"/>
                </a:cxn>
                <a:cxn ang="0">
                  <a:pos x="614" y="1298"/>
                </a:cxn>
                <a:cxn ang="0">
                  <a:pos x="715" y="1238"/>
                </a:cxn>
                <a:cxn ang="0">
                  <a:pos x="922" y="1073"/>
                </a:cxn>
                <a:cxn ang="0">
                  <a:pos x="1124" y="838"/>
                </a:cxn>
                <a:cxn ang="0">
                  <a:pos x="1329" y="559"/>
                </a:cxn>
                <a:cxn ang="0">
                  <a:pos x="1432" y="416"/>
                </a:cxn>
                <a:cxn ang="0">
                  <a:pos x="1533" y="282"/>
                </a:cxn>
                <a:cxn ang="0">
                  <a:pos x="1637" y="166"/>
                </a:cxn>
                <a:cxn ang="0">
                  <a:pos x="1738" y="78"/>
                </a:cxn>
                <a:cxn ang="0">
                  <a:pos x="1842" y="21"/>
                </a:cxn>
                <a:cxn ang="0">
                  <a:pos x="1943" y="0"/>
                </a:cxn>
              </a:cxnLst>
              <a:rect l="0" t="0" r="r" b="b"/>
              <a:pathLst>
                <a:path w="1943" h="1430">
                  <a:moveTo>
                    <a:pt x="0" y="1430"/>
                  </a:moveTo>
                  <a:lnTo>
                    <a:pt x="205" y="1412"/>
                  </a:lnTo>
                  <a:lnTo>
                    <a:pt x="309" y="1396"/>
                  </a:lnTo>
                  <a:lnTo>
                    <a:pt x="410" y="1373"/>
                  </a:lnTo>
                  <a:lnTo>
                    <a:pt x="511" y="1342"/>
                  </a:lnTo>
                  <a:lnTo>
                    <a:pt x="614" y="1298"/>
                  </a:lnTo>
                  <a:lnTo>
                    <a:pt x="715" y="1238"/>
                  </a:lnTo>
                  <a:lnTo>
                    <a:pt x="922" y="1073"/>
                  </a:lnTo>
                  <a:lnTo>
                    <a:pt x="1124" y="838"/>
                  </a:lnTo>
                  <a:lnTo>
                    <a:pt x="1329" y="559"/>
                  </a:lnTo>
                  <a:lnTo>
                    <a:pt x="1432" y="416"/>
                  </a:lnTo>
                  <a:lnTo>
                    <a:pt x="1533" y="282"/>
                  </a:lnTo>
                  <a:lnTo>
                    <a:pt x="1637" y="166"/>
                  </a:lnTo>
                  <a:lnTo>
                    <a:pt x="1738" y="78"/>
                  </a:lnTo>
                  <a:lnTo>
                    <a:pt x="1842" y="21"/>
                  </a:lnTo>
                  <a:lnTo>
                    <a:pt x="1943" y="0"/>
                  </a:lnTo>
                </a:path>
              </a:pathLst>
            </a:custGeom>
            <a:noFill/>
            <a:ln w="76200" cmpd="sng">
              <a:solidFill>
                <a:srgbClr val="FF00FF"/>
              </a:solidFill>
              <a:prstDash val="solid"/>
              <a:round/>
              <a:headEnd/>
              <a:tailEnd/>
            </a:ln>
            <a:effectLst>
              <a:outerShdw dist="38100" dir="5400000" algn="ctr" rotWithShape="0">
                <a:schemeClr val="bg2"/>
              </a:outerShdw>
            </a:effectLst>
          </p:spPr>
          <p:txBody>
            <a:bodyPr/>
            <a:lstStyle/>
            <a:p>
              <a:pPr>
                <a:defRPr/>
              </a:pPr>
              <a:endParaRPr lang="zh-CN" altLang="en-US">
                <a:latin typeface="Arial" charset="0"/>
                <a:ea typeface="宋体" charset="-122"/>
              </a:endParaRPr>
            </a:p>
          </p:txBody>
        </p:sp>
        <p:sp>
          <p:nvSpPr>
            <p:cNvPr id="72728" name="Line 13"/>
            <p:cNvSpPr>
              <a:spLocks noChangeShapeType="1"/>
            </p:cNvSpPr>
            <p:nvPr/>
          </p:nvSpPr>
          <p:spPr bwMode="auto">
            <a:xfrm flipV="1">
              <a:off x="1027" y="1230"/>
              <a:ext cx="0" cy="1409"/>
            </a:xfrm>
            <a:prstGeom prst="line">
              <a:avLst/>
            </a:prstGeom>
            <a:noFill/>
            <a:ln w="38100">
              <a:solidFill>
                <a:schemeClr val="tx1"/>
              </a:solidFill>
              <a:miter lim="800000"/>
              <a:headEnd/>
              <a:tailEnd type="triangle" w="med" len="med"/>
            </a:ln>
          </p:spPr>
          <p:txBody>
            <a:bodyPr wrap="none"/>
            <a:lstStyle/>
            <a:p>
              <a:endParaRPr lang="zh-CN" altLang="en-US"/>
            </a:p>
          </p:txBody>
        </p:sp>
        <p:sp>
          <p:nvSpPr>
            <p:cNvPr id="72729" name="Line 14"/>
            <p:cNvSpPr>
              <a:spLocks noChangeShapeType="1"/>
            </p:cNvSpPr>
            <p:nvPr/>
          </p:nvSpPr>
          <p:spPr bwMode="auto">
            <a:xfrm>
              <a:off x="1027" y="2639"/>
              <a:ext cx="3764" cy="0"/>
            </a:xfrm>
            <a:prstGeom prst="line">
              <a:avLst/>
            </a:prstGeom>
            <a:noFill/>
            <a:ln w="38100">
              <a:solidFill>
                <a:schemeClr val="tx1"/>
              </a:solidFill>
              <a:miter lim="800000"/>
              <a:headEnd/>
              <a:tailEnd type="triangle" w="med" len="med"/>
            </a:ln>
          </p:spPr>
          <p:txBody>
            <a:bodyPr wrap="none"/>
            <a:lstStyle/>
            <a:p>
              <a:endParaRPr lang="zh-CN" altLang="en-US"/>
            </a:p>
          </p:txBody>
        </p:sp>
        <p:sp>
          <p:nvSpPr>
            <p:cNvPr id="31759" name="Line 15"/>
            <p:cNvSpPr>
              <a:spLocks noChangeShapeType="1"/>
            </p:cNvSpPr>
            <p:nvPr/>
          </p:nvSpPr>
          <p:spPr bwMode="auto">
            <a:xfrm>
              <a:off x="2010" y="2183"/>
              <a:ext cx="0" cy="456"/>
            </a:xfrm>
            <a:prstGeom prst="line">
              <a:avLst/>
            </a:prstGeom>
            <a:noFill/>
            <a:ln w="38100">
              <a:solidFill>
                <a:srgbClr val="CC0066"/>
              </a:solidFill>
              <a:round/>
              <a:headEnd/>
              <a:tailEnd/>
            </a:ln>
            <a:effectLst>
              <a:outerShdw dist="28398" dir="20006097" algn="ctr" rotWithShape="0">
                <a:schemeClr val="bg2"/>
              </a:outerShdw>
            </a:effectLst>
          </p:spPr>
          <p:txBody>
            <a:bodyPr wrap="none" anchor="ctr"/>
            <a:lstStyle/>
            <a:p>
              <a:pPr>
                <a:defRPr/>
              </a:pPr>
              <a:endParaRPr lang="zh-CN" altLang="en-US">
                <a:latin typeface="Arial" charset="0"/>
                <a:ea typeface="宋体" charset="-122"/>
              </a:endParaRPr>
            </a:p>
          </p:txBody>
        </p:sp>
        <p:sp>
          <p:nvSpPr>
            <p:cNvPr id="72731" name="Line 16"/>
            <p:cNvSpPr>
              <a:spLocks noChangeShapeType="1"/>
            </p:cNvSpPr>
            <p:nvPr/>
          </p:nvSpPr>
          <p:spPr bwMode="auto">
            <a:xfrm>
              <a:off x="3037" y="2307"/>
              <a:ext cx="599" cy="0"/>
            </a:xfrm>
            <a:prstGeom prst="line">
              <a:avLst/>
            </a:prstGeom>
            <a:noFill/>
            <a:ln w="38100">
              <a:solidFill>
                <a:schemeClr val="tx2"/>
              </a:solidFill>
              <a:miter lim="800000"/>
              <a:headEnd/>
              <a:tailEnd type="triangle" w="med" len="med"/>
            </a:ln>
          </p:spPr>
          <p:txBody>
            <a:bodyPr wrap="none"/>
            <a:lstStyle/>
            <a:p>
              <a:endParaRPr lang="zh-CN" altLang="en-US"/>
            </a:p>
          </p:txBody>
        </p:sp>
        <p:sp>
          <p:nvSpPr>
            <p:cNvPr id="72732" name="Line 17"/>
            <p:cNvSpPr>
              <a:spLocks noChangeShapeType="1"/>
            </p:cNvSpPr>
            <p:nvPr/>
          </p:nvSpPr>
          <p:spPr bwMode="auto">
            <a:xfrm flipH="1">
              <a:off x="2054" y="2307"/>
              <a:ext cx="1026" cy="0"/>
            </a:xfrm>
            <a:prstGeom prst="line">
              <a:avLst/>
            </a:prstGeom>
            <a:noFill/>
            <a:ln w="38100">
              <a:solidFill>
                <a:schemeClr val="tx2"/>
              </a:solidFill>
              <a:miter lim="800000"/>
              <a:headEnd/>
              <a:tailEnd type="triangle" w="med" len="med"/>
            </a:ln>
          </p:spPr>
          <p:txBody>
            <a:bodyPr wrap="none"/>
            <a:lstStyle/>
            <a:p>
              <a:endParaRPr lang="zh-CN" altLang="en-US"/>
            </a:p>
          </p:txBody>
        </p:sp>
        <p:sp>
          <p:nvSpPr>
            <p:cNvPr id="31762" name="Freeform 18"/>
            <p:cNvSpPr>
              <a:spLocks/>
            </p:cNvSpPr>
            <p:nvPr/>
          </p:nvSpPr>
          <p:spPr bwMode="auto">
            <a:xfrm>
              <a:off x="1155" y="2225"/>
              <a:ext cx="855" cy="414"/>
            </a:xfrm>
            <a:custGeom>
              <a:avLst/>
              <a:gdLst/>
              <a:ahLst/>
              <a:cxnLst>
                <a:cxn ang="0">
                  <a:pos x="1129" y="0"/>
                </a:cxn>
                <a:cxn ang="0">
                  <a:pos x="1129" y="735"/>
                </a:cxn>
                <a:cxn ang="0">
                  <a:pos x="0" y="735"/>
                </a:cxn>
                <a:cxn ang="0">
                  <a:pos x="124" y="698"/>
                </a:cxn>
                <a:cxn ang="0">
                  <a:pos x="246" y="657"/>
                </a:cxn>
                <a:cxn ang="0">
                  <a:pos x="362" y="610"/>
                </a:cxn>
                <a:cxn ang="0">
                  <a:pos x="474" y="559"/>
                </a:cxn>
                <a:cxn ang="0">
                  <a:pos x="580" y="504"/>
                </a:cxn>
                <a:cxn ang="0">
                  <a:pos x="681" y="442"/>
                </a:cxn>
                <a:cxn ang="0">
                  <a:pos x="774" y="378"/>
                </a:cxn>
                <a:cxn ang="0">
                  <a:pos x="860" y="308"/>
                </a:cxn>
                <a:cxn ang="0">
                  <a:pos x="940" y="236"/>
                </a:cxn>
                <a:cxn ang="0">
                  <a:pos x="1010" y="161"/>
                </a:cxn>
                <a:cxn ang="0">
                  <a:pos x="1074" y="81"/>
                </a:cxn>
                <a:cxn ang="0">
                  <a:pos x="1129" y="0"/>
                </a:cxn>
              </a:cxnLst>
              <a:rect l="0" t="0" r="r" b="b"/>
              <a:pathLst>
                <a:path w="1129" h="735">
                  <a:moveTo>
                    <a:pt x="1129" y="0"/>
                  </a:moveTo>
                  <a:lnTo>
                    <a:pt x="1129" y="735"/>
                  </a:lnTo>
                  <a:lnTo>
                    <a:pt x="0" y="735"/>
                  </a:lnTo>
                  <a:lnTo>
                    <a:pt x="124" y="698"/>
                  </a:lnTo>
                  <a:lnTo>
                    <a:pt x="246" y="657"/>
                  </a:lnTo>
                  <a:lnTo>
                    <a:pt x="362" y="610"/>
                  </a:lnTo>
                  <a:lnTo>
                    <a:pt x="474" y="559"/>
                  </a:lnTo>
                  <a:lnTo>
                    <a:pt x="580" y="504"/>
                  </a:lnTo>
                  <a:lnTo>
                    <a:pt x="681" y="442"/>
                  </a:lnTo>
                  <a:lnTo>
                    <a:pt x="774" y="378"/>
                  </a:lnTo>
                  <a:lnTo>
                    <a:pt x="860" y="308"/>
                  </a:lnTo>
                  <a:lnTo>
                    <a:pt x="940" y="236"/>
                  </a:lnTo>
                  <a:lnTo>
                    <a:pt x="1010" y="161"/>
                  </a:lnTo>
                  <a:lnTo>
                    <a:pt x="1074" y="81"/>
                  </a:lnTo>
                  <a:lnTo>
                    <a:pt x="1129" y="0"/>
                  </a:lnTo>
                  <a:close/>
                </a:path>
              </a:pathLst>
            </a:custGeom>
            <a:solidFill>
              <a:schemeClr val="hlink"/>
            </a:solidFill>
            <a:ln w="9525">
              <a:noFill/>
              <a:round/>
              <a:headEnd/>
              <a:tailEnd/>
            </a:ln>
            <a:effectLst>
              <a:outerShdw algn="ctr" rotWithShape="0">
                <a:srgbClr val="808080"/>
              </a:outerShdw>
            </a:effectLst>
          </p:spPr>
          <p:txBody>
            <a:bodyPr/>
            <a:lstStyle/>
            <a:p>
              <a:pPr>
                <a:defRPr/>
              </a:pPr>
              <a:endParaRPr lang="zh-CN" altLang="en-US">
                <a:latin typeface="Arial" charset="0"/>
                <a:ea typeface="宋体" charset="-122"/>
              </a:endParaRPr>
            </a:p>
          </p:txBody>
        </p:sp>
        <p:sp>
          <p:nvSpPr>
            <p:cNvPr id="31763" name="Freeform 19"/>
            <p:cNvSpPr>
              <a:spLocks/>
            </p:cNvSpPr>
            <p:nvPr/>
          </p:nvSpPr>
          <p:spPr bwMode="auto">
            <a:xfrm>
              <a:off x="3678" y="2225"/>
              <a:ext cx="899" cy="414"/>
            </a:xfrm>
            <a:custGeom>
              <a:avLst/>
              <a:gdLst/>
              <a:ahLst/>
              <a:cxnLst>
                <a:cxn ang="0">
                  <a:pos x="0" y="0"/>
                </a:cxn>
                <a:cxn ang="0">
                  <a:pos x="0" y="734"/>
                </a:cxn>
                <a:cxn ang="0">
                  <a:pos x="1129" y="734"/>
                </a:cxn>
                <a:cxn ang="0">
                  <a:pos x="1002" y="700"/>
                </a:cxn>
                <a:cxn ang="0">
                  <a:pos x="880" y="659"/>
                </a:cxn>
                <a:cxn ang="0">
                  <a:pos x="764" y="612"/>
                </a:cxn>
                <a:cxn ang="0">
                  <a:pos x="652" y="561"/>
                </a:cxn>
                <a:cxn ang="0">
                  <a:pos x="546" y="504"/>
                </a:cxn>
                <a:cxn ang="0">
                  <a:pos x="445" y="444"/>
                </a:cxn>
                <a:cxn ang="0">
                  <a:pos x="352" y="380"/>
                </a:cxn>
                <a:cxn ang="0">
                  <a:pos x="267" y="310"/>
                </a:cxn>
                <a:cxn ang="0">
                  <a:pos x="189" y="237"/>
                </a:cxn>
                <a:cxn ang="0">
                  <a:pos x="116" y="162"/>
                </a:cxn>
                <a:cxn ang="0">
                  <a:pos x="54" y="82"/>
                </a:cxn>
                <a:cxn ang="0">
                  <a:pos x="0" y="0"/>
                </a:cxn>
              </a:cxnLst>
              <a:rect l="0" t="0" r="r" b="b"/>
              <a:pathLst>
                <a:path w="1129" h="734">
                  <a:moveTo>
                    <a:pt x="0" y="0"/>
                  </a:moveTo>
                  <a:lnTo>
                    <a:pt x="0" y="734"/>
                  </a:lnTo>
                  <a:lnTo>
                    <a:pt x="1129" y="734"/>
                  </a:lnTo>
                  <a:lnTo>
                    <a:pt x="1002" y="700"/>
                  </a:lnTo>
                  <a:lnTo>
                    <a:pt x="880" y="659"/>
                  </a:lnTo>
                  <a:lnTo>
                    <a:pt x="764" y="612"/>
                  </a:lnTo>
                  <a:lnTo>
                    <a:pt x="652" y="561"/>
                  </a:lnTo>
                  <a:lnTo>
                    <a:pt x="546" y="504"/>
                  </a:lnTo>
                  <a:lnTo>
                    <a:pt x="445" y="444"/>
                  </a:lnTo>
                  <a:lnTo>
                    <a:pt x="352" y="380"/>
                  </a:lnTo>
                  <a:lnTo>
                    <a:pt x="267" y="310"/>
                  </a:lnTo>
                  <a:lnTo>
                    <a:pt x="189" y="237"/>
                  </a:lnTo>
                  <a:lnTo>
                    <a:pt x="116" y="162"/>
                  </a:lnTo>
                  <a:lnTo>
                    <a:pt x="54" y="82"/>
                  </a:lnTo>
                  <a:lnTo>
                    <a:pt x="0" y="0"/>
                  </a:lnTo>
                  <a:close/>
                </a:path>
              </a:pathLst>
            </a:custGeom>
            <a:solidFill>
              <a:schemeClr val="hlink"/>
            </a:solidFill>
            <a:ln w="9525">
              <a:noFill/>
              <a:round/>
              <a:headEnd/>
              <a:tailEnd/>
            </a:ln>
            <a:effectLst>
              <a:outerShdw algn="ctr" rotWithShape="0">
                <a:srgbClr val="808080"/>
              </a:outerShdw>
            </a:effectLst>
          </p:spPr>
          <p:txBody>
            <a:bodyPr/>
            <a:lstStyle/>
            <a:p>
              <a:pPr>
                <a:defRPr/>
              </a:pPr>
              <a:endParaRPr lang="zh-CN" altLang="en-US">
                <a:latin typeface="Arial" charset="0"/>
                <a:ea typeface="宋体" charset="-122"/>
              </a:endParaRPr>
            </a:p>
          </p:txBody>
        </p:sp>
        <p:sp>
          <p:nvSpPr>
            <p:cNvPr id="31764" name="Line 20"/>
            <p:cNvSpPr>
              <a:spLocks noChangeShapeType="1"/>
            </p:cNvSpPr>
            <p:nvPr/>
          </p:nvSpPr>
          <p:spPr bwMode="auto">
            <a:xfrm>
              <a:off x="2823" y="2639"/>
              <a:ext cx="0" cy="175"/>
            </a:xfrm>
            <a:prstGeom prst="line">
              <a:avLst/>
            </a:prstGeom>
            <a:noFill/>
            <a:ln w="28575">
              <a:solidFill>
                <a:srgbClr val="CC3399"/>
              </a:solidFill>
              <a:round/>
              <a:headEnd type="triangle" w="med" len="med"/>
              <a:tailEnd/>
            </a:ln>
            <a:effectLst>
              <a:outerShdw dist="12700" algn="ctr" rotWithShape="0">
                <a:schemeClr val="bg2"/>
              </a:outerShdw>
            </a:effectLst>
          </p:spPr>
          <p:txBody>
            <a:bodyPr wrap="none" anchor="ctr"/>
            <a:lstStyle/>
            <a:p>
              <a:pPr>
                <a:defRPr/>
              </a:pPr>
              <a:endParaRPr lang="zh-CN" altLang="en-US">
                <a:latin typeface="Arial" charset="0"/>
                <a:ea typeface="宋体" charset="-122"/>
              </a:endParaRPr>
            </a:p>
          </p:txBody>
        </p:sp>
        <p:sp>
          <p:nvSpPr>
            <p:cNvPr id="31765" name="Line 21"/>
            <p:cNvSpPr>
              <a:spLocks noChangeShapeType="1"/>
            </p:cNvSpPr>
            <p:nvPr/>
          </p:nvSpPr>
          <p:spPr bwMode="auto">
            <a:xfrm flipH="1">
              <a:off x="3936" y="2225"/>
              <a:ext cx="342" cy="312"/>
            </a:xfrm>
            <a:prstGeom prst="line">
              <a:avLst/>
            </a:prstGeom>
            <a:noFill/>
            <a:ln w="25400">
              <a:solidFill>
                <a:schemeClr val="tx2"/>
              </a:solidFill>
              <a:round/>
              <a:headEnd/>
              <a:tailEnd type="triangle" w="med" len="med"/>
            </a:ln>
            <a:effectLst>
              <a:outerShdw algn="ctr" rotWithShape="0">
                <a:schemeClr val="bg2"/>
              </a:outerShdw>
            </a:effectLst>
          </p:spPr>
          <p:txBody>
            <a:bodyPr wrap="none" anchor="ctr"/>
            <a:lstStyle/>
            <a:p>
              <a:pPr>
                <a:defRPr/>
              </a:pPr>
              <a:endParaRPr lang="zh-CN" altLang="en-US">
                <a:latin typeface="Arial" charset="0"/>
                <a:ea typeface="宋体" charset="-122"/>
              </a:endParaRPr>
            </a:p>
          </p:txBody>
        </p:sp>
        <p:sp>
          <p:nvSpPr>
            <p:cNvPr id="31766" name="Line 22"/>
            <p:cNvSpPr>
              <a:spLocks noChangeShapeType="1"/>
            </p:cNvSpPr>
            <p:nvPr/>
          </p:nvSpPr>
          <p:spPr bwMode="auto">
            <a:xfrm>
              <a:off x="1541" y="2225"/>
              <a:ext cx="393" cy="284"/>
            </a:xfrm>
            <a:prstGeom prst="line">
              <a:avLst/>
            </a:prstGeom>
            <a:noFill/>
            <a:ln w="25400">
              <a:solidFill>
                <a:schemeClr val="tx2"/>
              </a:solidFill>
              <a:round/>
              <a:headEnd/>
              <a:tailEnd type="triangle" w="med" len="med"/>
            </a:ln>
            <a:effectLst>
              <a:outerShdw algn="ctr" rotWithShape="0">
                <a:schemeClr val="bg2"/>
              </a:outerShdw>
            </a:effectLst>
          </p:spPr>
          <p:txBody>
            <a:bodyPr wrap="none" anchor="ctr"/>
            <a:lstStyle/>
            <a:p>
              <a:pPr>
                <a:defRPr/>
              </a:pPr>
              <a:endParaRPr lang="zh-CN" altLang="en-US">
                <a:latin typeface="Arial" charset="0"/>
                <a:ea typeface="宋体" charset="-122"/>
              </a:endParaRPr>
            </a:p>
          </p:txBody>
        </p:sp>
        <p:sp>
          <p:nvSpPr>
            <p:cNvPr id="72738" name="Line 23"/>
            <p:cNvSpPr>
              <a:spLocks noChangeShapeType="1"/>
            </p:cNvSpPr>
            <p:nvPr/>
          </p:nvSpPr>
          <p:spPr bwMode="auto">
            <a:xfrm flipH="1">
              <a:off x="3180" y="1273"/>
              <a:ext cx="425" cy="184"/>
            </a:xfrm>
            <a:prstGeom prst="line">
              <a:avLst/>
            </a:prstGeom>
            <a:noFill/>
            <a:ln w="28575">
              <a:noFill/>
              <a:miter lim="800000"/>
              <a:headEnd/>
              <a:tailEnd type="triangle" w="med" len="med"/>
            </a:ln>
          </p:spPr>
          <p:txBody>
            <a:bodyPr wrap="none"/>
            <a:lstStyle/>
            <a:p>
              <a:endParaRPr lang="zh-CN" altLang="en-US"/>
            </a:p>
          </p:txBody>
        </p:sp>
        <p:sp>
          <p:nvSpPr>
            <p:cNvPr id="31768" name="Text Box 24"/>
            <p:cNvSpPr txBox="1">
              <a:spLocks noChangeArrowheads="1"/>
            </p:cNvSpPr>
            <p:nvPr/>
          </p:nvSpPr>
          <p:spPr bwMode="auto">
            <a:xfrm>
              <a:off x="2679" y="2844"/>
              <a:ext cx="343" cy="296"/>
            </a:xfrm>
            <a:prstGeom prst="rect">
              <a:avLst/>
            </a:prstGeom>
            <a:noFill/>
            <a:ln w="12700">
              <a:solidFill>
                <a:srgbClr val="008000"/>
              </a:solidFill>
              <a:miter lim="800000"/>
              <a:headEnd/>
              <a:tailEnd/>
            </a:ln>
            <a:effectLst/>
          </p:spPr>
          <p:txBody>
            <a:bodyPr>
              <a:spAutoFit/>
            </a:bodyPr>
            <a:lstStyle/>
            <a:p>
              <a:pPr algn="ctr" eaLnBrk="0" hangingPunct="0">
                <a:spcBef>
                  <a:spcPct val="50000"/>
                </a:spcBef>
                <a:defRPr/>
              </a:pPr>
              <a:r>
                <a:rPr kumimoji="1" lang="el-GR" altLang="zh-CN" sz="2400" b="1" i="1" dirty="0">
                  <a:solidFill>
                    <a:srgbClr val="FF33CC"/>
                  </a:solidFill>
                  <a:effectLst>
                    <a:outerShdw blurRad="38100" dist="38100" dir="2700000" algn="tl">
                      <a:srgbClr val="000000"/>
                    </a:outerShdw>
                  </a:effectLst>
                  <a:latin typeface="Times New Roman" pitchFamily="18" charset="0"/>
                  <a:ea typeface="宋体" charset="-122"/>
                  <a:cs typeface="Times New Roman" pitchFamily="18" charset="0"/>
                </a:rPr>
                <a:t>θ</a:t>
              </a:r>
              <a:r>
                <a:rPr kumimoji="1" lang="en-US" altLang="zh-CN" sz="2000" b="1" baseline="-25000" dirty="0">
                  <a:solidFill>
                    <a:srgbClr val="FF33CC"/>
                  </a:solidFill>
                  <a:latin typeface="Arial" charset="0"/>
                  <a:ea typeface="宋体" charset="-122"/>
                </a:rPr>
                <a:t>0</a:t>
              </a:r>
            </a:p>
          </p:txBody>
        </p:sp>
        <p:sp>
          <p:nvSpPr>
            <p:cNvPr id="72740" name="Text Box 25"/>
            <p:cNvSpPr txBox="1">
              <a:spLocks noChangeArrowheads="1"/>
            </p:cNvSpPr>
            <p:nvPr/>
          </p:nvSpPr>
          <p:spPr bwMode="auto">
            <a:xfrm>
              <a:off x="1668" y="2796"/>
              <a:ext cx="612" cy="239"/>
            </a:xfrm>
            <a:prstGeom prst="rect">
              <a:avLst/>
            </a:prstGeom>
            <a:solidFill>
              <a:srgbClr val="FFFF9B"/>
            </a:solidFill>
            <a:ln w="12700">
              <a:solidFill>
                <a:srgbClr val="FF33CC"/>
              </a:solidFill>
              <a:miter lim="800000"/>
              <a:headEnd/>
              <a:tailEnd/>
            </a:ln>
          </p:spPr>
          <p:txBody>
            <a:bodyPr>
              <a:spAutoFit/>
            </a:bodyPr>
            <a:lstStyle/>
            <a:p>
              <a:pPr algn="ctr" eaLnBrk="0" hangingPunct="0">
                <a:spcBef>
                  <a:spcPct val="50000"/>
                </a:spcBef>
              </a:pPr>
              <a:r>
                <a:rPr kumimoji="1" lang="zh-CN" altLang="en-US" b="1"/>
                <a:t>临界值</a:t>
              </a:r>
            </a:p>
          </p:txBody>
        </p:sp>
        <p:sp>
          <p:nvSpPr>
            <p:cNvPr id="72741" name="Text Box 26"/>
            <p:cNvSpPr txBox="1">
              <a:spLocks noChangeArrowheads="1"/>
            </p:cNvSpPr>
            <p:nvPr/>
          </p:nvSpPr>
          <p:spPr bwMode="auto">
            <a:xfrm>
              <a:off x="3444" y="2820"/>
              <a:ext cx="612" cy="239"/>
            </a:xfrm>
            <a:prstGeom prst="rect">
              <a:avLst/>
            </a:prstGeom>
            <a:solidFill>
              <a:srgbClr val="FFFF9B"/>
            </a:solidFill>
            <a:ln w="12700">
              <a:solidFill>
                <a:srgbClr val="FF33CC"/>
              </a:solidFill>
              <a:miter lim="800000"/>
              <a:headEnd/>
              <a:tailEnd/>
            </a:ln>
          </p:spPr>
          <p:txBody>
            <a:bodyPr>
              <a:spAutoFit/>
            </a:bodyPr>
            <a:lstStyle/>
            <a:p>
              <a:pPr algn="ctr" eaLnBrk="0" hangingPunct="0">
                <a:spcBef>
                  <a:spcPct val="50000"/>
                </a:spcBef>
              </a:pPr>
              <a:r>
                <a:rPr kumimoji="1" lang="zh-CN" altLang="en-US" b="1"/>
                <a:t>临界值</a:t>
              </a:r>
            </a:p>
          </p:txBody>
        </p:sp>
      </p:grpSp>
      <p:sp>
        <p:nvSpPr>
          <p:cNvPr id="72709" name="Text Box 27"/>
          <p:cNvSpPr txBox="1">
            <a:spLocks noChangeArrowheads="1"/>
          </p:cNvSpPr>
          <p:nvPr/>
        </p:nvSpPr>
        <p:spPr bwMode="auto">
          <a:xfrm>
            <a:off x="8496300" y="4191001"/>
            <a:ext cx="1562100" cy="396875"/>
          </a:xfrm>
          <a:prstGeom prst="rect">
            <a:avLst/>
          </a:prstGeom>
          <a:noFill/>
          <a:ln w="12700">
            <a:noFill/>
            <a:miter lim="800000"/>
            <a:headEnd/>
            <a:tailEnd/>
          </a:ln>
        </p:spPr>
        <p:txBody>
          <a:bodyPr>
            <a:spAutoFit/>
          </a:bodyPr>
          <a:lstStyle/>
          <a:p>
            <a:pPr eaLnBrk="0" hangingPunct="0">
              <a:spcBef>
                <a:spcPct val="50000"/>
              </a:spcBef>
            </a:pPr>
            <a:r>
              <a:rPr kumimoji="1" lang="zh-CN" altLang="en-US" sz="2000" b="1">
                <a:solidFill>
                  <a:srgbClr val="3333FF"/>
                </a:solidFill>
              </a:rPr>
              <a:t>检验统计量</a:t>
            </a:r>
          </a:p>
        </p:txBody>
      </p:sp>
      <p:grpSp>
        <p:nvGrpSpPr>
          <p:cNvPr id="3" name="Group 28"/>
          <p:cNvGrpSpPr>
            <a:grpSpLocks/>
          </p:cNvGrpSpPr>
          <p:nvPr/>
        </p:nvGrpSpPr>
        <p:grpSpPr bwMode="auto">
          <a:xfrm>
            <a:off x="3086100" y="4286251"/>
            <a:ext cx="1809750" cy="1444625"/>
            <a:chOff x="1872" y="2820"/>
            <a:chExt cx="1140" cy="910"/>
          </a:xfrm>
        </p:grpSpPr>
        <p:sp>
          <p:nvSpPr>
            <p:cNvPr id="72717" name="Text Box 29"/>
            <p:cNvSpPr txBox="1">
              <a:spLocks noChangeArrowheads="1"/>
            </p:cNvSpPr>
            <p:nvPr/>
          </p:nvSpPr>
          <p:spPr bwMode="auto">
            <a:xfrm>
              <a:off x="1872" y="3204"/>
              <a:ext cx="1140" cy="526"/>
            </a:xfrm>
            <a:prstGeom prst="rect">
              <a:avLst/>
            </a:prstGeom>
            <a:noFill/>
            <a:ln w="12700">
              <a:solidFill>
                <a:srgbClr val="336600"/>
              </a:solidFill>
              <a:miter lim="800000"/>
              <a:headEnd/>
              <a:tailEnd/>
            </a:ln>
          </p:spPr>
          <p:txBody>
            <a:bodyPr>
              <a:spAutoFit/>
            </a:bodyPr>
            <a:lstStyle/>
            <a:p>
              <a:pPr algn="ctr" eaLnBrk="0" hangingPunct="0">
                <a:spcBef>
                  <a:spcPct val="50000"/>
                </a:spcBef>
              </a:pPr>
              <a:r>
                <a:rPr kumimoji="1" lang="zh-CN" altLang="en-US" sz="2400" b="1">
                  <a:solidFill>
                    <a:srgbClr val="3333FF"/>
                  </a:solidFill>
                </a:rPr>
                <a:t>检验统计量的观察值</a:t>
              </a:r>
            </a:p>
          </p:txBody>
        </p:sp>
        <p:sp>
          <p:nvSpPr>
            <p:cNvPr id="72718" name="AutoShape 30"/>
            <p:cNvSpPr>
              <a:spLocks noChangeArrowheads="1"/>
            </p:cNvSpPr>
            <p:nvPr/>
          </p:nvSpPr>
          <p:spPr bwMode="auto">
            <a:xfrm>
              <a:off x="2304" y="2820"/>
              <a:ext cx="204" cy="384"/>
            </a:xfrm>
            <a:prstGeom prst="upArrow">
              <a:avLst>
                <a:gd name="adj1" fmla="val 50000"/>
                <a:gd name="adj2" fmla="val 47059"/>
              </a:avLst>
            </a:prstGeom>
            <a:solidFill>
              <a:srgbClr val="CC0099"/>
            </a:solidFill>
            <a:ln w="12700">
              <a:noFill/>
              <a:miter lim="800000"/>
              <a:headEnd/>
              <a:tailEnd/>
            </a:ln>
          </p:spPr>
          <p:txBody>
            <a:bodyPr vert="eaVert" wrap="none" anchor="ctr"/>
            <a:lstStyle/>
            <a:p>
              <a:endParaRPr lang="zh-CN" altLang="en-US"/>
            </a:p>
          </p:txBody>
        </p:sp>
      </p:grpSp>
      <p:grpSp>
        <p:nvGrpSpPr>
          <p:cNvPr id="4" name="Group 31"/>
          <p:cNvGrpSpPr>
            <a:grpSpLocks/>
          </p:cNvGrpSpPr>
          <p:nvPr/>
        </p:nvGrpSpPr>
        <p:grpSpPr bwMode="auto">
          <a:xfrm>
            <a:off x="5238750" y="5334000"/>
            <a:ext cx="3105150" cy="469900"/>
            <a:chOff x="3264" y="3348"/>
            <a:chExt cx="1956" cy="296"/>
          </a:xfrm>
          <a:noFill/>
        </p:grpSpPr>
        <p:sp>
          <p:nvSpPr>
            <p:cNvPr id="72715" name="Text Box 32"/>
            <p:cNvSpPr txBox="1">
              <a:spLocks noChangeArrowheads="1"/>
            </p:cNvSpPr>
            <p:nvPr/>
          </p:nvSpPr>
          <p:spPr bwMode="auto">
            <a:xfrm>
              <a:off x="3888" y="3348"/>
              <a:ext cx="1332" cy="296"/>
            </a:xfrm>
            <a:prstGeom prst="rect">
              <a:avLst/>
            </a:prstGeom>
            <a:grpFill/>
            <a:ln w="12700">
              <a:solidFill>
                <a:srgbClr val="336600"/>
              </a:solidFill>
              <a:miter lim="800000"/>
              <a:headEnd/>
              <a:tailEnd/>
            </a:ln>
          </p:spPr>
          <p:txBody>
            <a:bodyPr>
              <a:spAutoFit/>
            </a:bodyPr>
            <a:lstStyle/>
            <a:p>
              <a:pPr eaLnBrk="0" hangingPunct="0">
                <a:spcBef>
                  <a:spcPct val="50000"/>
                </a:spcBef>
              </a:pPr>
              <a:r>
                <a:rPr kumimoji="1" lang="zh-CN" altLang="en-US" sz="2400" b="1">
                  <a:solidFill>
                    <a:srgbClr val="FF33CC"/>
                  </a:solidFill>
                </a:rPr>
                <a:t>结论：拒绝</a:t>
              </a:r>
              <a:r>
                <a:rPr kumimoji="1" lang="en-US" altLang="zh-CN" sz="2400" b="1">
                  <a:solidFill>
                    <a:srgbClr val="FF33CC"/>
                  </a:solidFill>
                </a:rPr>
                <a:t>H</a:t>
              </a:r>
              <a:r>
                <a:rPr kumimoji="1" lang="en-US" altLang="zh-CN" sz="2400" b="1" baseline="-20000">
                  <a:solidFill>
                    <a:srgbClr val="FF33CC"/>
                  </a:solidFill>
                </a:rPr>
                <a:t>O</a:t>
              </a:r>
            </a:p>
          </p:txBody>
        </p:sp>
        <p:sp>
          <p:nvSpPr>
            <p:cNvPr id="72716" name="AutoShape 33"/>
            <p:cNvSpPr>
              <a:spLocks noChangeArrowheads="1"/>
            </p:cNvSpPr>
            <p:nvPr/>
          </p:nvSpPr>
          <p:spPr bwMode="auto">
            <a:xfrm>
              <a:off x="3264" y="3408"/>
              <a:ext cx="564" cy="192"/>
            </a:xfrm>
            <a:prstGeom prst="rightArrow">
              <a:avLst>
                <a:gd name="adj1" fmla="val 50000"/>
                <a:gd name="adj2" fmla="val 73438"/>
              </a:avLst>
            </a:prstGeom>
            <a:solidFill>
              <a:schemeClr val="tx2">
                <a:lumMod val="20000"/>
                <a:lumOff val="80000"/>
              </a:schemeClr>
            </a:solidFill>
            <a:ln w="12700">
              <a:solidFill>
                <a:schemeClr val="tx1"/>
              </a:solidFill>
              <a:miter lim="800000"/>
              <a:headEnd/>
              <a:tailEnd/>
            </a:ln>
          </p:spPr>
          <p:txBody>
            <a:bodyPr wrap="none" anchor="ctr"/>
            <a:lstStyle/>
            <a:p>
              <a:endParaRPr lang="zh-CN" altLang="en-US"/>
            </a:p>
          </p:txBody>
        </p:sp>
      </p:grpSp>
      <p:sp>
        <p:nvSpPr>
          <p:cNvPr id="35" name="椭圆 34"/>
          <p:cNvSpPr/>
          <p:nvPr/>
        </p:nvSpPr>
        <p:spPr>
          <a:xfrm>
            <a:off x="3792539" y="4076701"/>
            <a:ext cx="142875" cy="144463"/>
          </a:xfrm>
          <a:prstGeom prst="ellipse">
            <a:avLst/>
          </a:prstGeom>
          <a:solidFill>
            <a:srgbClr val="92D05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36" name="椭圆 35"/>
          <p:cNvSpPr/>
          <p:nvPr/>
        </p:nvSpPr>
        <p:spPr>
          <a:xfrm>
            <a:off x="4295776" y="4076701"/>
            <a:ext cx="144463" cy="144463"/>
          </a:xfrm>
          <a:prstGeom prst="ellipse">
            <a:avLst/>
          </a:prstGeom>
          <a:solidFill>
            <a:srgbClr val="92D05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37" name="椭圆 36"/>
          <p:cNvSpPr/>
          <p:nvPr/>
        </p:nvSpPr>
        <p:spPr>
          <a:xfrm>
            <a:off x="7967663" y="4076701"/>
            <a:ext cx="144462" cy="144463"/>
          </a:xfrm>
          <a:prstGeom prst="ellipse">
            <a:avLst/>
          </a:prstGeom>
          <a:solidFill>
            <a:srgbClr val="92D05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Tree>
    <p:extLst>
      <p:ext uri="{BB962C8B-B14F-4D97-AF65-F5344CB8AC3E}">
        <p14:creationId xmlns:p14="http://schemas.microsoft.com/office/powerpoint/2010/main" val="3192220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0-#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2" presetClass="entr" presetSubtype="8"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slide(fromLeft)">
                                      <p:cBhvr>
                                        <p:cTn id="13"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灯片编号占位符 5"/>
          <p:cNvSpPr>
            <a:spLocks noGrp="1"/>
          </p:cNvSpPr>
          <p:nvPr>
            <p:ph type="sldNum" sz="quarter" idx="4294967295"/>
          </p:nvPr>
        </p:nvSpPr>
        <p:spPr>
          <a:noFill/>
        </p:spPr>
        <p:txBody>
          <a:bodyPr/>
          <a:lstStyle/>
          <a:p>
            <a:r>
              <a:rPr lang="en-US" altLang="zh-CN">
                <a:ea typeface="宋体" pitchFamily="2" charset="-122"/>
              </a:rPr>
              <a:t>8--</a:t>
            </a:r>
            <a:fld id="{DF5A5114-473B-4E71-B0C5-08B797CB0307}" type="slidenum">
              <a:rPr lang="en-US" altLang="zh-CN" smtClean="0">
                <a:ea typeface="宋体" pitchFamily="2" charset="-122"/>
              </a:rPr>
              <a:pPr/>
              <a:t>29</a:t>
            </a:fld>
            <a:endParaRPr lang="en-US" altLang="zh-CN">
              <a:ea typeface="宋体" pitchFamily="2" charset="-122"/>
            </a:endParaRPr>
          </a:p>
        </p:txBody>
      </p:sp>
      <p:sp>
        <p:nvSpPr>
          <p:cNvPr id="73731" name="Rectangle 2"/>
          <p:cNvSpPr>
            <a:spLocks noGrp="1" noChangeArrowheads="1"/>
          </p:cNvSpPr>
          <p:nvPr>
            <p:ph type="title"/>
          </p:nvPr>
        </p:nvSpPr>
        <p:spPr>
          <a:xfrm>
            <a:off x="1931988" y="404019"/>
            <a:ext cx="7772400" cy="1143000"/>
          </a:xfrm>
        </p:spPr>
        <p:txBody>
          <a:bodyPr/>
          <a:lstStyle/>
          <a:p>
            <a:pPr eaLnBrk="1" hangingPunct="1"/>
            <a:r>
              <a:rPr lang="zh-CN" altLang="en-US" sz="4000" dirty="0"/>
              <a:t>右侧检验中的结论（</a:t>
            </a:r>
            <a:r>
              <a:rPr lang="en-US" altLang="zh-CN" sz="4000" dirty="0"/>
              <a:t>1</a:t>
            </a:r>
            <a:r>
              <a:rPr lang="zh-CN" altLang="en-US" sz="4000" dirty="0"/>
              <a:t>）</a:t>
            </a:r>
          </a:p>
        </p:txBody>
      </p:sp>
      <p:sp>
        <p:nvSpPr>
          <p:cNvPr id="73732" name="Rectangle 3"/>
          <p:cNvSpPr>
            <a:spLocks noChangeArrowheads="1"/>
          </p:cNvSpPr>
          <p:nvPr/>
        </p:nvSpPr>
        <p:spPr bwMode="auto">
          <a:xfrm>
            <a:off x="7246938" y="1530350"/>
            <a:ext cx="1668462" cy="515938"/>
          </a:xfrm>
          <a:prstGeom prst="rect">
            <a:avLst/>
          </a:prstGeom>
          <a:noFill/>
          <a:ln w="12700">
            <a:noFill/>
            <a:miter lim="800000"/>
            <a:headEnd/>
            <a:tailEnd/>
          </a:ln>
        </p:spPr>
        <p:txBody>
          <a:bodyPr lIns="90488" tIns="44450" rIns="90488" bIns="44450">
            <a:spAutoFit/>
          </a:bodyPr>
          <a:lstStyle/>
          <a:p>
            <a:pPr eaLnBrk="0" hangingPunct="0">
              <a:spcBef>
                <a:spcPct val="50000"/>
              </a:spcBef>
            </a:pPr>
            <a:endParaRPr kumimoji="1" lang="zh-CN" altLang="zh-CN" sz="2800">
              <a:solidFill>
                <a:srgbClr val="FF00FF"/>
              </a:solidFill>
            </a:endParaRPr>
          </a:p>
        </p:txBody>
      </p:sp>
      <p:sp>
        <p:nvSpPr>
          <p:cNvPr id="32772" name="Rectangle 4"/>
          <p:cNvSpPr>
            <a:spLocks noChangeArrowheads="1"/>
          </p:cNvSpPr>
          <p:nvPr/>
        </p:nvSpPr>
        <p:spPr bwMode="auto">
          <a:xfrm>
            <a:off x="8148639" y="2984500"/>
            <a:ext cx="515937" cy="369332"/>
          </a:xfrm>
          <a:prstGeom prst="rect">
            <a:avLst/>
          </a:prstGeom>
          <a:solidFill>
            <a:schemeClr val="hlink"/>
          </a:solidFill>
          <a:ln w="9525">
            <a:noFill/>
            <a:miter lim="800000"/>
            <a:headEnd/>
            <a:tailEnd/>
          </a:ln>
          <a:effectLst>
            <a:outerShdw dist="17961" dir="2700000" algn="ctr" rotWithShape="0">
              <a:schemeClr val="bg2"/>
            </a:outerShdw>
          </a:effectLst>
        </p:spPr>
        <p:txBody>
          <a:bodyPr lIns="0" tIns="0" rIns="0" bIns="0">
            <a:spAutoFit/>
          </a:bodyPr>
          <a:lstStyle/>
          <a:p>
            <a:pPr algn="ctr" eaLnBrk="0" hangingPunct="0">
              <a:defRPr/>
            </a:pPr>
            <a:r>
              <a:rPr kumimoji="1" lang="en-US" altLang="zh-CN" sz="2400" b="1">
                <a:latin typeface="Symbol" pitchFamily="18" charset="2"/>
                <a:ea typeface="宋体" charset="-122"/>
              </a:rPr>
              <a:t>a</a:t>
            </a:r>
            <a:endParaRPr kumimoji="1" lang="en-US" altLang="zh-CN" sz="2400" b="1">
              <a:latin typeface="Arial" charset="0"/>
              <a:ea typeface="宋体" charset="-122"/>
            </a:endParaRPr>
          </a:p>
        </p:txBody>
      </p:sp>
      <p:sp>
        <p:nvSpPr>
          <p:cNvPr id="32773" name="Rectangle 5"/>
          <p:cNvSpPr>
            <a:spLocks noChangeArrowheads="1"/>
          </p:cNvSpPr>
          <p:nvPr/>
        </p:nvSpPr>
        <p:spPr bwMode="auto">
          <a:xfrm>
            <a:off x="5327651" y="2994025"/>
            <a:ext cx="1446213" cy="459100"/>
          </a:xfrm>
          <a:prstGeom prst="rect">
            <a:avLst/>
          </a:prstGeom>
          <a:noFill/>
          <a:ln w="12700">
            <a:noFill/>
            <a:miter lim="800000"/>
            <a:headEnd/>
            <a:tailEnd/>
          </a:ln>
          <a:effectLst>
            <a:outerShdw dist="12700" dir="5400000" algn="ctr" rotWithShape="0">
              <a:schemeClr val="bg2"/>
            </a:outerShdw>
          </a:effectLst>
        </p:spPr>
        <p:txBody>
          <a:bodyPr lIns="90488" tIns="44450" rIns="90488" bIns="44450">
            <a:spAutoFit/>
          </a:bodyPr>
          <a:lstStyle/>
          <a:p>
            <a:pPr algn="ctr" eaLnBrk="0" hangingPunct="0">
              <a:spcBef>
                <a:spcPct val="50000"/>
              </a:spcBef>
              <a:defRPr/>
            </a:pPr>
            <a:r>
              <a:rPr kumimoji="1" lang="en-US" altLang="zh-CN" sz="2400" b="1">
                <a:solidFill>
                  <a:schemeClr val="tx2"/>
                </a:solidFill>
                <a:effectLst>
                  <a:outerShdw blurRad="38100" dist="38100" dir="2700000" algn="tl">
                    <a:srgbClr val="C0C0C0"/>
                  </a:outerShdw>
                </a:effectLst>
                <a:latin typeface="Arial" charset="0"/>
                <a:ea typeface="宋体" charset="-122"/>
              </a:rPr>
              <a:t>(1 </a:t>
            </a:r>
            <a:r>
              <a:rPr kumimoji="1" lang="zh-CN" altLang="en-US" sz="2400" b="1">
                <a:solidFill>
                  <a:schemeClr val="tx2"/>
                </a:solidFill>
                <a:effectLst>
                  <a:outerShdw blurRad="38100" dist="38100" dir="2700000" algn="tl">
                    <a:srgbClr val="C0C0C0"/>
                  </a:outerShdw>
                </a:effectLst>
                <a:latin typeface="Arial" charset="0"/>
                <a:ea typeface="宋体" charset="-122"/>
              </a:rPr>
              <a:t>－ </a:t>
            </a:r>
            <a:r>
              <a:rPr kumimoji="1" lang="zh-CN" altLang="en-US" sz="2400" b="1">
                <a:solidFill>
                  <a:schemeClr val="tx2"/>
                </a:solidFill>
                <a:effectLst>
                  <a:outerShdw blurRad="38100" dist="38100" dir="2700000" algn="tl">
                    <a:srgbClr val="C0C0C0"/>
                  </a:outerShdw>
                </a:effectLst>
                <a:latin typeface="Symbol" pitchFamily="18" charset="2"/>
                <a:ea typeface="宋体" charset="-122"/>
              </a:rPr>
              <a:t></a:t>
            </a:r>
            <a:r>
              <a:rPr kumimoji="1" lang="en-US" altLang="zh-CN" sz="2400" b="1">
                <a:solidFill>
                  <a:schemeClr val="tx2"/>
                </a:solidFill>
                <a:effectLst>
                  <a:outerShdw blurRad="38100" dist="38100" dir="2700000" algn="tl">
                    <a:srgbClr val="C0C0C0"/>
                  </a:outerShdw>
                </a:effectLst>
                <a:latin typeface="Symbol" pitchFamily="18" charset="2"/>
                <a:ea typeface="宋体" charset="-122"/>
              </a:rPr>
              <a:t>)</a:t>
            </a:r>
            <a:endParaRPr kumimoji="1" lang="en-US" altLang="zh-CN" sz="2400" b="1">
              <a:solidFill>
                <a:schemeClr val="tx2"/>
              </a:solidFill>
              <a:latin typeface="Symbol" pitchFamily="18" charset="2"/>
              <a:ea typeface="宋体" charset="-122"/>
            </a:endParaRPr>
          </a:p>
        </p:txBody>
      </p:sp>
      <p:sp>
        <p:nvSpPr>
          <p:cNvPr id="32774" name="Line 6"/>
          <p:cNvSpPr>
            <a:spLocks noChangeShapeType="1"/>
          </p:cNvSpPr>
          <p:nvPr/>
        </p:nvSpPr>
        <p:spPr bwMode="auto">
          <a:xfrm>
            <a:off x="6962775" y="2913063"/>
            <a:ext cx="19050" cy="1200150"/>
          </a:xfrm>
          <a:prstGeom prst="line">
            <a:avLst/>
          </a:prstGeom>
          <a:noFill/>
          <a:ln w="38100">
            <a:solidFill>
              <a:srgbClr val="CC0066"/>
            </a:solidFill>
            <a:round/>
            <a:headEnd/>
            <a:tailEnd/>
          </a:ln>
          <a:effectLst>
            <a:outerShdw dist="28398" dir="20006097" algn="ctr" rotWithShape="0">
              <a:schemeClr val="bg2"/>
            </a:outerShdw>
          </a:effectLst>
        </p:spPr>
        <p:txBody>
          <a:bodyPr wrap="none" anchor="ctr"/>
          <a:lstStyle/>
          <a:p>
            <a:pPr>
              <a:defRPr/>
            </a:pPr>
            <a:endParaRPr lang="zh-CN" altLang="en-US">
              <a:latin typeface="Arial" charset="0"/>
              <a:ea typeface="宋体" charset="-122"/>
            </a:endParaRPr>
          </a:p>
        </p:txBody>
      </p:sp>
      <p:sp>
        <p:nvSpPr>
          <p:cNvPr id="32775" name="Line 7"/>
          <p:cNvSpPr>
            <a:spLocks noChangeShapeType="1"/>
          </p:cNvSpPr>
          <p:nvPr/>
        </p:nvSpPr>
        <p:spPr bwMode="auto">
          <a:xfrm>
            <a:off x="6981825" y="4113213"/>
            <a:ext cx="0" cy="277812"/>
          </a:xfrm>
          <a:prstGeom prst="line">
            <a:avLst/>
          </a:prstGeom>
          <a:noFill/>
          <a:ln w="28575">
            <a:solidFill>
              <a:srgbClr val="CC3399"/>
            </a:solidFill>
            <a:round/>
            <a:headEnd type="triangle" w="med" len="med"/>
            <a:tailEnd/>
          </a:ln>
          <a:effectLst>
            <a:outerShdw dist="12700" algn="ctr" rotWithShape="0">
              <a:schemeClr val="bg2"/>
            </a:outerShdw>
          </a:effectLst>
        </p:spPr>
        <p:txBody>
          <a:bodyPr wrap="none" anchor="ctr"/>
          <a:lstStyle/>
          <a:p>
            <a:pPr>
              <a:defRPr/>
            </a:pPr>
            <a:endParaRPr lang="zh-CN" altLang="en-US">
              <a:latin typeface="Arial" charset="0"/>
              <a:ea typeface="宋体" charset="-122"/>
            </a:endParaRPr>
          </a:p>
        </p:txBody>
      </p:sp>
      <p:sp>
        <p:nvSpPr>
          <p:cNvPr id="32776" name="Freeform 8"/>
          <p:cNvSpPr>
            <a:spLocks/>
          </p:cNvSpPr>
          <p:nvPr/>
        </p:nvSpPr>
        <p:spPr bwMode="auto">
          <a:xfrm>
            <a:off x="5938838" y="1941513"/>
            <a:ext cx="2906712" cy="2074862"/>
          </a:xfrm>
          <a:custGeom>
            <a:avLst/>
            <a:gdLst/>
            <a:ahLst/>
            <a:cxnLst>
              <a:cxn ang="0">
                <a:pos x="1942" y="1430"/>
              </a:cxn>
              <a:cxn ang="0">
                <a:pos x="1737" y="1412"/>
              </a:cxn>
              <a:cxn ang="0">
                <a:pos x="1636" y="1396"/>
              </a:cxn>
              <a:cxn ang="0">
                <a:pos x="1532" y="1373"/>
              </a:cxn>
              <a:cxn ang="0">
                <a:pos x="1431" y="1342"/>
              </a:cxn>
              <a:cxn ang="0">
                <a:pos x="1328" y="1298"/>
              </a:cxn>
              <a:cxn ang="0">
                <a:pos x="1227" y="1238"/>
              </a:cxn>
              <a:cxn ang="0">
                <a:pos x="1022" y="1073"/>
              </a:cxn>
              <a:cxn ang="0">
                <a:pos x="818" y="838"/>
              </a:cxn>
              <a:cxn ang="0">
                <a:pos x="613" y="559"/>
              </a:cxn>
              <a:cxn ang="0">
                <a:pos x="512" y="416"/>
              </a:cxn>
              <a:cxn ang="0">
                <a:pos x="409" y="282"/>
              </a:cxn>
              <a:cxn ang="0">
                <a:pos x="308" y="166"/>
              </a:cxn>
              <a:cxn ang="0">
                <a:pos x="204" y="78"/>
              </a:cxn>
              <a:cxn ang="0">
                <a:pos x="103" y="21"/>
              </a:cxn>
              <a:cxn ang="0">
                <a:pos x="0" y="0"/>
              </a:cxn>
            </a:cxnLst>
            <a:rect l="0" t="0" r="r" b="b"/>
            <a:pathLst>
              <a:path w="1942" h="1430">
                <a:moveTo>
                  <a:pt x="1942" y="1430"/>
                </a:moveTo>
                <a:lnTo>
                  <a:pt x="1737" y="1412"/>
                </a:lnTo>
                <a:lnTo>
                  <a:pt x="1636" y="1396"/>
                </a:lnTo>
                <a:lnTo>
                  <a:pt x="1532" y="1373"/>
                </a:lnTo>
                <a:lnTo>
                  <a:pt x="1431" y="1342"/>
                </a:lnTo>
                <a:lnTo>
                  <a:pt x="1328" y="1298"/>
                </a:lnTo>
                <a:lnTo>
                  <a:pt x="1227" y="1238"/>
                </a:lnTo>
                <a:lnTo>
                  <a:pt x="1022" y="1073"/>
                </a:lnTo>
                <a:lnTo>
                  <a:pt x="818" y="838"/>
                </a:lnTo>
                <a:lnTo>
                  <a:pt x="613" y="559"/>
                </a:lnTo>
                <a:lnTo>
                  <a:pt x="512" y="416"/>
                </a:lnTo>
                <a:lnTo>
                  <a:pt x="409" y="282"/>
                </a:lnTo>
                <a:lnTo>
                  <a:pt x="308" y="166"/>
                </a:lnTo>
                <a:lnTo>
                  <a:pt x="204" y="78"/>
                </a:lnTo>
                <a:lnTo>
                  <a:pt x="103" y="21"/>
                </a:lnTo>
                <a:lnTo>
                  <a:pt x="0" y="0"/>
                </a:lnTo>
              </a:path>
            </a:pathLst>
          </a:custGeom>
          <a:noFill/>
          <a:ln w="76200" cmpd="sng">
            <a:solidFill>
              <a:srgbClr val="FF00FF"/>
            </a:solidFill>
            <a:prstDash val="solid"/>
            <a:round/>
            <a:headEnd/>
            <a:tailEnd/>
          </a:ln>
          <a:effectLst>
            <a:outerShdw dist="38100" dir="5400000" algn="ctr" rotWithShape="0">
              <a:schemeClr val="bg2"/>
            </a:outerShdw>
          </a:effectLst>
        </p:spPr>
        <p:txBody>
          <a:bodyPr/>
          <a:lstStyle/>
          <a:p>
            <a:pPr>
              <a:defRPr/>
            </a:pPr>
            <a:endParaRPr lang="zh-CN" altLang="en-US">
              <a:latin typeface="Arial" charset="0"/>
              <a:ea typeface="宋体" charset="-122"/>
            </a:endParaRPr>
          </a:p>
        </p:txBody>
      </p:sp>
      <p:sp>
        <p:nvSpPr>
          <p:cNvPr id="32777" name="Freeform 9"/>
          <p:cNvSpPr>
            <a:spLocks/>
          </p:cNvSpPr>
          <p:nvPr/>
        </p:nvSpPr>
        <p:spPr bwMode="auto">
          <a:xfrm>
            <a:off x="3290889" y="1941513"/>
            <a:ext cx="2771775" cy="2106612"/>
          </a:xfrm>
          <a:custGeom>
            <a:avLst/>
            <a:gdLst/>
            <a:ahLst/>
            <a:cxnLst>
              <a:cxn ang="0">
                <a:pos x="0" y="1430"/>
              </a:cxn>
              <a:cxn ang="0">
                <a:pos x="205" y="1412"/>
              </a:cxn>
              <a:cxn ang="0">
                <a:pos x="309" y="1396"/>
              </a:cxn>
              <a:cxn ang="0">
                <a:pos x="410" y="1373"/>
              </a:cxn>
              <a:cxn ang="0">
                <a:pos x="511" y="1342"/>
              </a:cxn>
              <a:cxn ang="0">
                <a:pos x="614" y="1298"/>
              </a:cxn>
              <a:cxn ang="0">
                <a:pos x="715" y="1238"/>
              </a:cxn>
              <a:cxn ang="0">
                <a:pos x="922" y="1073"/>
              </a:cxn>
              <a:cxn ang="0">
                <a:pos x="1124" y="838"/>
              </a:cxn>
              <a:cxn ang="0">
                <a:pos x="1329" y="559"/>
              </a:cxn>
              <a:cxn ang="0">
                <a:pos x="1432" y="416"/>
              </a:cxn>
              <a:cxn ang="0">
                <a:pos x="1533" y="282"/>
              </a:cxn>
              <a:cxn ang="0">
                <a:pos x="1637" y="166"/>
              </a:cxn>
              <a:cxn ang="0">
                <a:pos x="1738" y="78"/>
              </a:cxn>
              <a:cxn ang="0">
                <a:pos x="1842" y="21"/>
              </a:cxn>
              <a:cxn ang="0">
                <a:pos x="1943" y="0"/>
              </a:cxn>
            </a:cxnLst>
            <a:rect l="0" t="0" r="r" b="b"/>
            <a:pathLst>
              <a:path w="1943" h="1430">
                <a:moveTo>
                  <a:pt x="0" y="1430"/>
                </a:moveTo>
                <a:lnTo>
                  <a:pt x="205" y="1412"/>
                </a:lnTo>
                <a:lnTo>
                  <a:pt x="309" y="1396"/>
                </a:lnTo>
                <a:lnTo>
                  <a:pt x="410" y="1373"/>
                </a:lnTo>
                <a:lnTo>
                  <a:pt x="511" y="1342"/>
                </a:lnTo>
                <a:lnTo>
                  <a:pt x="614" y="1298"/>
                </a:lnTo>
                <a:lnTo>
                  <a:pt x="715" y="1238"/>
                </a:lnTo>
                <a:lnTo>
                  <a:pt x="922" y="1073"/>
                </a:lnTo>
                <a:lnTo>
                  <a:pt x="1124" y="838"/>
                </a:lnTo>
                <a:lnTo>
                  <a:pt x="1329" y="559"/>
                </a:lnTo>
                <a:lnTo>
                  <a:pt x="1432" y="416"/>
                </a:lnTo>
                <a:lnTo>
                  <a:pt x="1533" y="282"/>
                </a:lnTo>
                <a:lnTo>
                  <a:pt x="1637" y="166"/>
                </a:lnTo>
                <a:lnTo>
                  <a:pt x="1738" y="78"/>
                </a:lnTo>
                <a:lnTo>
                  <a:pt x="1842" y="21"/>
                </a:lnTo>
                <a:lnTo>
                  <a:pt x="1943" y="0"/>
                </a:lnTo>
              </a:path>
            </a:pathLst>
          </a:custGeom>
          <a:noFill/>
          <a:ln w="76200" cmpd="sng">
            <a:solidFill>
              <a:srgbClr val="FF00FF"/>
            </a:solidFill>
            <a:prstDash val="solid"/>
            <a:round/>
            <a:headEnd/>
            <a:tailEnd/>
          </a:ln>
          <a:effectLst>
            <a:outerShdw dist="38100" dir="5400000" algn="ctr" rotWithShape="0">
              <a:schemeClr val="bg2"/>
            </a:outerShdw>
          </a:effectLst>
        </p:spPr>
        <p:txBody>
          <a:bodyPr/>
          <a:lstStyle/>
          <a:p>
            <a:pPr>
              <a:defRPr/>
            </a:pPr>
            <a:endParaRPr lang="zh-CN" altLang="en-US">
              <a:latin typeface="Arial" charset="0"/>
              <a:ea typeface="宋体" charset="-122"/>
            </a:endParaRPr>
          </a:p>
        </p:txBody>
      </p:sp>
      <p:sp>
        <p:nvSpPr>
          <p:cNvPr id="73739" name="Line 10"/>
          <p:cNvSpPr>
            <a:spLocks noChangeShapeType="1"/>
          </p:cNvSpPr>
          <p:nvPr/>
        </p:nvSpPr>
        <p:spPr bwMode="auto">
          <a:xfrm flipV="1">
            <a:off x="3154363" y="1876425"/>
            <a:ext cx="0" cy="2236788"/>
          </a:xfrm>
          <a:prstGeom prst="line">
            <a:avLst/>
          </a:prstGeom>
          <a:noFill/>
          <a:ln w="38100">
            <a:solidFill>
              <a:schemeClr val="tx1"/>
            </a:solidFill>
            <a:miter lim="800000"/>
            <a:headEnd/>
            <a:tailEnd type="triangle" w="med" len="med"/>
          </a:ln>
        </p:spPr>
        <p:txBody>
          <a:bodyPr wrap="none"/>
          <a:lstStyle/>
          <a:p>
            <a:endParaRPr lang="zh-CN" altLang="en-US"/>
          </a:p>
        </p:txBody>
      </p:sp>
      <p:sp>
        <p:nvSpPr>
          <p:cNvPr id="73740" name="Line 11"/>
          <p:cNvSpPr>
            <a:spLocks noChangeShapeType="1"/>
          </p:cNvSpPr>
          <p:nvPr/>
        </p:nvSpPr>
        <p:spPr bwMode="auto">
          <a:xfrm>
            <a:off x="3154363" y="4113213"/>
            <a:ext cx="5975350" cy="0"/>
          </a:xfrm>
          <a:prstGeom prst="line">
            <a:avLst/>
          </a:prstGeom>
          <a:noFill/>
          <a:ln w="38100">
            <a:solidFill>
              <a:schemeClr val="tx1"/>
            </a:solidFill>
            <a:miter lim="800000"/>
            <a:headEnd/>
            <a:tailEnd type="triangle" w="med" len="med"/>
          </a:ln>
        </p:spPr>
        <p:txBody>
          <a:bodyPr wrap="none"/>
          <a:lstStyle/>
          <a:p>
            <a:endParaRPr lang="zh-CN" altLang="en-US"/>
          </a:p>
        </p:txBody>
      </p:sp>
      <p:sp>
        <p:nvSpPr>
          <p:cNvPr id="73741" name="Line 12"/>
          <p:cNvSpPr>
            <a:spLocks noChangeShapeType="1"/>
          </p:cNvSpPr>
          <p:nvPr/>
        </p:nvSpPr>
        <p:spPr bwMode="auto">
          <a:xfrm>
            <a:off x="5964238" y="3719513"/>
            <a:ext cx="950912" cy="0"/>
          </a:xfrm>
          <a:prstGeom prst="line">
            <a:avLst/>
          </a:prstGeom>
          <a:noFill/>
          <a:ln w="38100">
            <a:solidFill>
              <a:schemeClr val="tx2"/>
            </a:solidFill>
            <a:miter lim="800000"/>
            <a:headEnd/>
            <a:tailEnd type="triangle" w="med" len="med"/>
          </a:ln>
        </p:spPr>
        <p:txBody>
          <a:bodyPr wrap="none"/>
          <a:lstStyle/>
          <a:p>
            <a:endParaRPr lang="zh-CN" altLang="en-US"/>
          </a:p>
        </p:txBody>
      </p:sp>
      <p:sp>
        <p:nvSpPr>
          <p:cNvPr id="73742" name="Line 13"/>
          <p:cNvSpPr>
            <a:spLocks noChangeShapeType="1"/>
          </p:cNvSpPr>
          <p:nvPr/>
        </p:nvSpPr>
        <p:spPr bwMode="auto">
          <a:xfrm flipH="1">
            <a:off x="4498976" y="3719513"/>
            <a:ext cx="1514475" cy="0"/>
          </a:xfrm>
          <a:prstGeom prst="line">
            <a:avLst/>
          </a:prstGeom>
          <a:noFill/>
          <a:ln w="38100">
            <a:solidFill>
              <a:schemeClr val="tx2"/>
            </a:solidFill>
            <a:miter lim="800000"/>
            <a:headEnd/>
            <a:tailEnd type="triangle" w="med" len="med"/>
          </a:ln>
        </p:spPr>
        <p:txBody>
          <a:bodyPr wrap="none"/>
          <a:lstStyle/>
          <a:p>
            <a:endParaRPr lang="zh-CN" altLang="en-US"/>
          </a:p>
        </p:txBody>
      </p:sp>
      <p:sp>
        <p:nvSpPr>
          <p:cNvPr id="32782" name="Freeform 14"/>
          <p:cNvSpPr>
            <a:spLocks/>
          </p:cNvSpPr>
          <p:nvPr/>
        </p:nvSpPr>
        <p:spPr bwMode="auto">
          <a:xfrm>
            <a:off x="7018339" y="3070225"/>
            <a:ext cx="1741487" cy="1079500"/>
          </a:xfrm>
          <a:custGeom>
            <a:avLst/>
            <a:gdLst/>
            <a:ahLst/>
            <a:cxnLst>
              <a:cxn ang="0">
                <a:pos x="0" y="0"/>
              </a:cxn>
              <a:cxn ang="0">
                <a:pos x="0" y="734"/>
              </a:cxn>
              <a:cxn ang="0">
                <a:pos x="1129" y="734"/>
              </a:cxn>
              <a:cxn ang="0">
                <a:pos x="1002" y="700"/>
              </a:cxn>
              <a:cxn ang="0">
                <a:pos x="880" y="659"/>
              </a:cxn>
              <a:cxn ang="0">
                <a:pos x="764" y="612"/>
              </a:cxn>
              <a:cxn ang="0">
                <a:pos x="652" y="561"/>
              </a:cxn>
              <a:cxn ang="0">
                <a:pos x="546" y="504"/>
              </a:cxn>
              <a:cxn ang="0">
                <a:pos x="445" y="444"/>
              </a:cxn>
              <a:cxn ang="0">
                <a:pos x="352" y="380"/>
              </a:cxn>
              <a:cxn ang="0">
                <a:pos x="267" y="310"/>
              </a:cxn>
              <a:cxn ang="0">
                <a:pos x="189" y="237"/>
              </a:cxn>
              <a:cxn ang="0">
                <a:pos x="116" y="162"/>
              </a:cxn>
              <a:cxn ang="0">
                <a:pos x="54" y="82"/>
              </a:cxn>
              <a:cxn ang="0">
                <a:pos x="0" y="0"/>
              </a:cxn>
            </a:cxnLst>
            <a:rect l="0" t="0" r="r" b="b"/>
            <a:pathLst>
              <a:path w="1129" h="734">
                <a:moveTo>
                  <a:pt x="0" y="0"/>
                </a:moveTo>
                <a:lnTo>
                  <a:pt x="0" y="734"/>
                </a:lnTo>
                <a:lnTo>
                  <a:pt x="1129" y="734"/>
                </a:lnTo>
                <a:lnTo>
                  <a:pt x="1002" y="700"/>
                </a:lnTo>
                <a:lnTo>
                  <a:pt x="880" y="659"/>
                </a:lnTo>
                <a:lnTo>
                  <a:pt x="764" y="612"/>
                </a:lnTo>
                <a:lnTo>
                  <a:pt x="652" y="561"/>
                </a:lnTo>
                <a:lnTo>
                  <a:pt x="546" y="504"/>
                </a:lnTo>
                <a:lnTo>
                  <a:pt x="445" y="444"/>
                </a:lnTo>
                <a:lnTo>
                  <a:pt x="352" y="380"/>
                </a:lnTo>
                <a:lnTo>
                  <a:pt x="267" y="310"/>
                </a:lnTo>
                <a:lnTo>
                  <a:pt x="189" y="237"/>
                </a:lnTo>
                <a:lnTo>
                  <a:pt x="116" y="162"/>
                </a:lnTo>
                <a:lnTo>
                  <a:pt x="54" y="82"/>
                </a:lnTo>
                <a:lnTo>
                  <a:pt x="0" y="0"/>
                </a:lnTo>
                <a:close/>
              </a:path>
            </a:pathLst>
          </a:custGeom>
          <a:solidFill>
            <a:schemeClr val="hlink"/>
          </a:solidFill>
          <a:ln w="9525">
            <a:noFill/>
            <a:round/>
            <a:headEnd/>
            <a:tailEnd/>
          </a:ln>
          <a:effectLst>
            <a:outerShdw algn="ctr" rotWithShape="0">
              <a:srgbClr val="808080"/>
            </a:outerShdw>
          </a:effectLst>
        </p:spPr>
        <p:txBody>
          <a:bodyPr/>
          <a:lstStyle/>
          <a:p>
            <a:pPr>
              <a:defRPr/>
            </a:pPr>
            <a:endParaRPr lang="zh-CN" altLang="en-US">
              <a:latin typeface="Arial" charset="0"/>
              <a:ea typeface="宋体" charset="-122"/>
            </a:endParaRPr>
          </a:p>
        </p:txBody>
      </p:sp>
      <p:sp>
        <p:nvSpPr>
          <p:cNvPr id="32783" name="Line 15"/>
          <p:cNvSpPr>
            <a:spLocks noChangeShapeType="1"/>
          </p:cNvSpPr>
          <p:nvPr/>
        </p:nvSpPr>
        <p:spPr bwMode="auto">
          <a:xfrm>
            <a:off x="6005513" y="4113213"/>
            <a:ext cx="0" cy="277812"/>
          </a:xfrm>
          <a:prstGeom prst="line">
            <a:avLst/>
          </a:prstGeom>
          <a:noFill/>
          <a:ln w="28575">
            <a:solidFill>
              <a:srgbClr val="CC3399"/>
            </a:solidFill>
            <a:round/>
            <a:headEnd type="triangle" w="med" len="med"/>
            <a:tailEnd/>
          </a:ln>
          <a:effectLst>
            <a:outerShdw dist="12700" algn="ctr" rotWithShape="0">
              <a:schemeClr val="bg2"/>
            </a:outerShdw>
          </a:effectLst>
        </p:spPr>
        <p:txBody>
          <a:bodyPr wrap="none" anchor="ctr"/>
          <a:lstStyle/>
          <a:p>
            <a:pPr>
              <a:defRPr/>
            </a:pPr>
            <a:endParaRPr lang="zh-CN" altLang="en-US">
              <a:latin typeface="Arial" charset="0"/>
              <a:ea typeface="宋体" charset="-122"/>
            </a:endParaRPr>
          </a:p>
        </p:txBody>
      </p:sp>
      <p:sp>
        <p:nvSpPr>
          <p:cNvPr id="32784" name="Line 16"/>
          <p:cNvSpPr>
            <a:spLocks noChangeShapeType="1"/>
          </p:cNvSpPr>
          <p:nvPr/>
        </p:nvSpPr>
        <p:spPr bwMode="auto">
          <a:xfrm flipH="1">
            <a:off x="7562851" y="3284538"/>
            <a:ext cx="542925" cy="495300"/>
          </a:xfrm>
          <a:prstGeom prst="line">
            <a:avLst/>
          </a:prstGeom>
          <a:noFill/>
          <a:ln w="25400">
            <a:solidFill>
              <a:schemeClr val="tx2"/>
            </a:solidFill>
            <a:round/>
            <a:headEnd/>
            <a:tailEnd type="triangle" w="med" len="med"/>
          </a:ln>
          <a:effectLst>
            <a:outerShdw algn="ctr" rotWithShape="0">
              <a:schemeClr val="bg2"/>
            </a:outerShdw>
          </a:effectLst>
        </p:spPr>
        <p:txBody>
          <a:bodyPr wrap="none" anchor="ctr"/>
          <a:lstStyle/>
          <a:p>
            <a:pPr>
              <a:defRPr/>
            </a:pPr>
            <a:endParaRPr lang="zh-CN" altLang="en-US">
              <a:latin typeface="Arial" charset="0"/>
              <a:ea typeface="宋体" charset="-122"/>
            </a:endParaRPr>
          </a:p>
        </p:txBody>
      </p:sp>
      <p:sp>
        <p:nvSpPr>
          <p:cNvPr id="73746" name="Line 17"/>
          <p:cNvSpPr>
            <a:spLocks noChangeShapeType="1"/>
          </p:cNvSpPr>
          <p:nvPr/>
        </p:nvSpPr>
        <p:spPr bwMode="auto">
          <a:xfrm flipH="1">
            <a:off x="6572250" y="1944688"/>
            <a:ext cx="674688" cy="292100"/>
          </a:xfrm>
          <a:prstGeom prst="line">
            <a:avLst/>
          </a:prstGeom>
          <a:noFill/>
          <a:ln w="28575">
            <a:noFill/>
            <a:miter lim="800000"/>
            <a:headEnd/>
            <a:tailEnd type="triangle" w="med" len="med"/>
          </a:ln>
        </p:spPr>
        <p:txBody>
          <a:bodyPr wrap="none"/>
          <a:lstStyle/>
          <a:p>
            <a:endParaRPr lang="zh-CN" altLang="en-US"/>
          </a:p>
        </p:txBody>
      </p:sp>
      <p:sp>
        <p:nvSpPr>
          <p:cNvPr id="32786" name="Text Box 18"/>
          <p:cNvSpPr txBox="1">
            <a:spLocks noChangeArrowheads="1"/>
          </p:cNvSpPr>
          <p:nvPr/>
        </p:nvSpPr>
        <p:spPr bwMode="auto">
          <a:xfrm>
            <a:off x="5719763" y="4419600"/>
            <a:ext cx="590550" cy="469900"/>
          </a:xfrm>
          <a:prstGeom prst="rect">
            <a:avLst/>
          </a:prstGeom>
          <a:noFill/>
          <a:ln w="12700">
            <a:solidFill>
              <a:srgbClr val="008000"/>
            </a:solidFill>
            <a:miter lim="800000"/>
            <a:headEnd/>
            <a:tailEnd/>
          </a:ln>
          <a:effectLst/>
        </p:spPr>
        <p:txBody>
          <a:bodyPr>
            <a:spAutoFit/>
          </a:bodyPr>
          <a:lstStyle/>
          <a:p>
            <a:pPr algn="ctr" eaLnBrk="0" hangingPunct="0">
              <a:spcBef>
                <a:spcPct val="50000"/>
              </a:spcBef>
              <a:defRPr/>
            </a:pPr>
            <a:r>
              <a:rPr kumimoji="1" lang="el-GR" altLang="zh-CN" sz="2400" b="1" i="1">
                <a:solidFill>
                  <a:srgbClr val="FF33CC"/>
                </a:solidFill>
                <a:effectLst>
                  <a:outerShdw blurRad="38100" dist="38100" dir="2700000" algn="tl">
                    <a:srgbClr val="000000"/>
                  </a:outerShdw>
                </a:effectLst>
                <a:latin typeface="Times New Roman" pitchFamily="18" charset="0"/>
                <a:ea typeface="宋体" charset="-122"/>
                <a:cs typeface="Times New Roman" pitchFamily="18" charset="0"/>
              </a:rPr>
              <a:t>θ</a:t>
            </a:r>
            <a:r>
              <a:rPr kumimoji="1" lang="en-US" altLang="zh-CN" sz="2400" b="1" baseline="-25000">
                <a:solidFill>
                  <a:srgbClr val="FF33CC"/>
                </a:solidFill>
                <a:effectLst>
                  <a:outerShdw blurRad="38100" dist="38100" dir="2700000" algn="tl">
                    <a:srgbClr val="000000"/>
                  </a:outerShdw>
                </a:effectLst>
                <a:latin typeface="Times New Roman" pitchFamily="18" charset="0"/>
                <a:ea typeface="宋体" charset="-122"/>
                <a:cs typeface="Times New Roman" pitchFamily="18" charset="0"/>
              </a:rPr>
              <a:t>0</a:t>
            </a:r>
            <a:endParaRPr kumimoji="1" lang="en-US" altLang="zh-CN" sz="2000" baseline="-25000">
              <a:solidFill>
                <a:srgbClr val="FF33CC"/>
              </a:solidFill>
              <a:latin typeface="Arial" charset="0"/>
              <a:ea typeface="宋体" charset="-122"/>
            </a:endParaRPr>
          </a:p>
        </p:txBody>
      </p:sp>
      <p:sp>
        <p:nvSpPr>
          <p:cNvPr id="73748" name="Text Box 19"/>
          <p:cNvSpPr txBox="1">
            <a:spLocks noChangeArrowheads="1"/>
          </p:cNvSpPr>
          <p:nvPr/>
        </p:nvSpPr>
        <p:spPr bwMode="auto">
          <a:xfrm>
            <a:off x="6724650" y="4438651"/>
            <a:ext cx="971550" cy="379413"/>
          </a:xfrm>
          <a:prstGeom prst="rect">
            <a:avLst/>
          </a:prstGeom>
          <a:solidFill>
            <a:srgbClr val="FFFF9B"/>
          </a:solidFill>
          <a:ln w="12700">
            <a:solidFill>
              <a:srgbClr val="FF33CC"/>
            </a:solidFill>
            <a:miter lim="800000"/>
            <a:headEnd/>
            <a:tailEnd/>
          </a:ln>
        </p:spPr>
        <p:txBody>
          <a:bodyPr>
            <a:spAutoFit/>
          </a:bodyPr>
          <a:lstStyle/>
          <a:p>
            <a:pPr algn="ctr" eaLnBrk="0" hangingPunct="0">
              <a:spcBef>
                <a:spcPct val="50000"/>
              </a:spcBef>
            </a:pPr>
            <a:r>
              <a:rPr kumimoji="1" lang="zh-CN" altLang="en-US" b="1"/>
              <a:t>临界值</a:t>
            </a:r>
          </a:p>
        </p:txBody>
      </p:sp>
      <p:sp>
        <p:nvSpPr>
          <p:cNvPr id="73749" name="Text Box 20"/>
          <p:cNvSpPr txBox="1">
            <a:spLocks noChangeArrowheads="1"/>
          </p:cNvSpPr>
          <p:nvPr/>
        </p:nvSpPr>
        <p:spPr bwMode="auto">
          <a:xfrm>
            <a:off x="8496300" y="4229101"/>
            <a:ext cx="1562100" cy="396875"/>
          </a:xfrm>
          <a:prstGeom prst="rect">
            <a:avLst/>
          </a:prstGeom>
          <a:noFill/>
          <a:ln w="12700">
            <a:noFill/>
            <a:miter lim="800000"/>
            <a:headEnd/>
            <a:tailEnd/>
          </a:ln>
        </p:spPr>
        <p:txBody>
          <a:bodyPr>
            <a:spAutoFit/>
          </a:bodyPr>
          <a:lstStyle/>
          <a:p>
            <a:pPr eaLnBrk="0" hangingPunct="0">
              <a:spcBef>
                <a:spcPct val="50000"/>
              </a:spcBef>
            </a:pPr>
            <a:r>
              <a:rPr kumimoji="1" lang="zh-CN" altLang="en-US" sz="2000" b="1">
                <a:solidFill>
                  <a:srgbClr val="3333FF"/>
                </a:solidFill>
              </a:rPr>
              <a:t>检验统计量</a:t>
            </a:r>
          </a:p>
        </p:txBody>
      </p:sp>
      <p:grpSp>
        <p:nvGrpSpPr>
          <p:cNvPr id="2" name="Group 21"/>
          <p:cNvGrpSpPr>
            <a:grpSpLocks/>
          </p:cNvGrpSpPr>
          <p:nvPr/>
        </p:nvGrpSpPr>
        <p:grpSpPr bwMode="auto">
          <a:xfrm>
            <a:off x="4008438" y="4365626"/>
            <a:ext cx="1809750" cy="1444625"/>
            <a:chOff x="1872" y="2820"/>
            <a:chExt cx="1140" cy="910"/>
          </a:xfrm>
        </p:grpSpPr>
        <p:sp>
          <p:nvSpPr>
            <p:cNvPr id="73757" name="Text Box 22"/>
            <p:cNvSpPr txBox="1">
              <a:spLocks noChangeArrowheads="1"/>
            </p:cNvSpPr>
            <p:nvPr/>
          </p:nvSpPr>
          <p:spPr bwMode="auto">
            <a:xfrm>
              <a:off x="1872" y="3204"/>
              <a:ext cx="1140" cy="526"/>
            </a:xfrm>
            <a:prstGeom prst="rect">
              <a:avLst/>
            </a:prstGeom>
            <a:noFill/>
            <a:ln w="12700">
              <a:solidFill>
                <a:srgbClr val="336600"/>
              </a:solidFill>
              <a:miter lim="800000"/>
              <a:headEnd/>
              <a:tailEnd/>
            </a:ln>
          </p:spPr>
          <p:txBody>
            <a:bodyPr>
              <a:spAutoFit/>
            </a:bodyPr>
            <a:lstStyle/>
            <a:p>
              <a:pPr algn="ctr" eaLnBrk="0" hangingPunct="0">
                <a:spcBef>
                  <a:spcPct val="50000"/>
                </a:spcBef>
              </a:pPr>
              <a:r>
                <a:rPr kumimoji="1" lang="zh-CN" altLang="en-US" sz="2400" b="1">
                  <a:solidFill>
                    <a:srgbClr val="3333FF"/>
                  </a:solidFill>
                </a:rPr>
                <a:t>检验统计量的观察值</a:t>
              </a:r>
            </a:p>
          </p:txBody>
        </p:sp>
        <p:sp>
          <p:nvSpPr>
            <p:cNvPr id="73758" name="AutoShape 23"/>
            <p:cNvSpPr>
              <a:spLocks noChangeArrowheads="1"/>
            </p:cNvSpPr>
            <p:nvPr/>
          </p:nvSpPr>
          <p:spPr bwMode="auto">
            <a:xfrm>
              <a:off x="2304" y="2820"/>
              <a:ext cx="204" cy="384"/>
            </a:xfrm>
            <a:prstGeom prst="upArrow">
              <a:avLst>
                <a:gd name="adj1" fmla="val 50000"/>
                <a:gd name="adj2" fmla="val 47059"/>
              </a:avLst>
            </a:prstGeom>
            <a:solidFill>
              <a:srgbClr val="CC0099"/>
            </a:solidFill>
            <a:ln w="12700">
              <a:noFill/>
              <a:miter lim="800000"/>
              <a:headEnd/>
              <a:tailEnd/>
            </a:ln>
          </p:spPr>
          <p:txBody>
            <a:bodyPr vert="eaVert" wrap="none" anchor="ctr"/>
            <a:lstStyle/>
            <a:p>
              <a:endParaRPr lang="zh-CN" altLang="en-US"/>
            </a:p>
          </p:txBody>
        </p:sp>
      </p:grpSp>
      <p:grpSp>
        <p:nvGrpSpPr>
          <p:cNvPr id="3" name="Group 24"/>
          <p:cNvGrpSpPr>
            <a:grpSpLocks/>
          </p:cNvGrpSpPr>
          <p:nvPr/>
        </p:nvGrpSpPr>
        <p:grpSpPr bwMode="auto">
          <a:xfrm>
            <a:off x="5880100" y="5300663"/>
            <a:ext cx="3816350" cy="461962"/>
            <a:chOff x="3264" y="3348"/>
            <a:chExt cx="2495" cy="291"/>
          </a:xfrm>
        </p:grpSpPr>
        <p:sp>
          <p:nvSpPr>
            <p:cNvPr id="73755" name="Text Box 25"/>
            <p:cNvSpPr txBox="1">
              <a:spLocks noChangeArrowheads="1"/>
            </p:cNvSpPr>
            <p:nvPr/>
          </p:nvSpPr>
          <p:spPr bwMode="auto">
            <a:xfrm>
              <a:off x="3888" y="3348"/>
              <a:ext cx="1871" cy="291"/>
            </a:xfrm>
            <a:prstGeom prst="rect">
              <a:avLst/>
            </a:prstGeom>
            <a:noFill/>
            <a:ln w="12700">
              <a:solidFill>
                <a:srgbClr val="336600"/>
              </a:solidFill>
              <a:miter lim="800000"/>
              <a:headEnd/>
              <a:tailEnd/>
            </a:ln>
          </p:spPr>
          <p:txBody>
            <a:bodyPr>
              <a:spAutoFit/>
            </a:bodyPr>
            <a:lstStyle/>
            <a:p>
              <a:pPr eaLnBrk="0" hangingPunct="0">
                <a:spcBef>
                  <a:spcPct val="50000"/>
                </a:spcBef>
              </a:pPr>
              <a:r>
                <a:rPr kumimoji="1" lang="zh-CN" altLang="en-US" sz="2400" b="1" dirty="0">
                  <a:solidFill>
                    <a:srgbClr val="008000"/>
                  </a:solidFill>
                </a:rPr>
                <a:t>结论：不能拒绝</a:t>
              </a:r>
              <a:r>
                <a:rPr kumimoji="1" lang="en-US" altLang="zh-CN" sz="2400" b="1" dirty="0">
                  <a:solidFill>
                    <a:srgbClr val="008000"/>
                  </a:solidFill>
                </a:rPr>
                <a:t>H</a:t>
              </a:r>
              <a:r>
                <a:rPr kumimoji="1" lang="en-US" altLang="zh-CN" sz="2400" b="1" baseline="-20000" dirty="0">
                  <a:solidFill>
                    <a:srgbClr val="008000"/>
                  </a:solidFill>
                </a:rPr>
                <a:t>O</a:t>
              </a:r>
            </a:p>
          </p:txBody>
        </p:sp>
        <p:sp>
          <p:nvSpPr>
            <p:cNvPr id="73756" name="AutoShape 26"/>
            <p:cNvSpPr>
              <a:spLocks noChangeArrowheads="1"/>
            </p:cNvSpPr>
            <p:nvPr/>
          </p:nvSpPr>
          <p:spPr bwMode="auto">
            <a:xfrm>
              <a:off x="3264" y="3408"/>
              <a:ext cx="564" cy="192"/>
            </a:xfrm>
            <a:prstGeom prst="rightArrow">
              <a:avLst>
                <a:gd name="adj1" fmla="val 50000"/>
                <a:gd name="adj2" fmla="val 73438"/>
              </a:avLst>
            </a:prstGeom>
            <a:solidFill>
              <a:schemeClr val="tx2">
                <a:lumMod val="20000"/>
                <a:lumOff val="80000"/>
              </a:schemeClr>
            </a:solidFill>
            <a:ln w="12700">
              <a:solidFill>
                <a:schemeClr val="tx1"/>
              </a:solidFill>
              <a:miter lim="800000"/>
              <a:headEnd/>
              <a:tailEnd/>
            </a:ln>
          </p:spPr>
          <p:txBody>
            <a:bodyPr wrap="none" anchor="ctr"/>
            <a:lstStyle/>
            <a:p>
              <a:endParaRPr lang="zh-CN" altLang="en-US"/>
            </a:p>
          </p:txBody>
        </p:sp>
      </p:grpSp>
      <p:sp>
        <p:nvSpPr>
          <p:cNvPr id="28" name="椭圆 27"/>
          <p:cNvSpPr/>
          <p:nvPr/>
        </p:nvSpPr>
        <p:spPr>
          <a:xfrm>
            <a:off x="3792539" y="4076701"/>
            <a:ext cx="142875" cy="144463"/>
          </a:xfrm>
          <a:prstGeom prst="ellipse">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29" name="椭圆 28"/>
          <p:cNvSpPr/>
          <p:nvPr/>
        </p:nvSpPr>
        <p:spPr>
          <a:xfrm>
            <a:off x="4800601" y="4076701"/>
            <a:ext cx="142875" cy="144463"/>
          </a:xfrm>
          <a:prstGeom prst="ellipse">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30" name="椭圆 29"/>
          <p:cNvSpPr/>
          <p:nvPr/>
        </p:nvSpPr>
        <p:spPr>
          <a:xfrm>
            <a:off x="6527801" y="4076701"/>
            <a:ext cx="144463" cy="144463"/>
          </a:xfrm>
          <a:prstGeom prst="ellipse">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Tree>
    <p:extLst>
      <p:ext uri="{BB962C8B-B14F-4D97-AF65-F5344CB8AC3E}">
        <p14:creationId xmlns:p14="http://schemas.microsoft.com/office/powerpoint/2010/main" val="34038235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2" presetClass="entr" presetSubtype="8"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slide(fromLeft)">
                                      <p:cBhvr>
                                        <p:cTn id="1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灯片编号占位符 5"/>
          <p:cNvSpPr>
            <a:spLocks noGrp="1"/>
          </p:cNvSpPr>
          <p:nvPr>
            <p:ph type="sldNum" sz="quarter" idx="4294967295"/>
          </p:nvPr>
        </p:nvSpPr>
        <p:spPr>
          <a:noFill/>
        </p:spPr>
        <p:txBody>
          <a:bodyPr/>
          <a:lstStyle/>
          <a:p>
            <a:r>
              <a:rPr lang="en-US" altLang="zh-CN">
                <a:ea typeface="宋体" pitchFamily="2" charset="-122"/>
              </a:rPr>
              <a:t>8--</a:t>
            </a:r>
            <a:fld id="{233BE53D-3609-4752-B58C-40F29AAABB69}" type="slidenum">
              <a:rPr lang="en-US" altLang="zh-CN" smtClean="0">
                <a:ea typeface="宋体" pitchFamily="2" charset="-122"/>
              </a:rPr>
              <a:pPr/>
              <a:t>30</a:t>
            </a:fld>
            <a:endParaRPr lang="en-US" altLang="zh-CN">
              <a:ea typeface="宋体" pitchFamily="2" charset="-122"/>
            </a:endParaRPr>
          </a:p>
        </p:txBody>
      </p:sp>
      <p:sp>
        <p:nvSpPr>
          <p:cNvPr id="74755" name="Rectangle 2"/>
          <p:cNvSpPr>
            <a:spLocks noGrp="1" noChangeArrowheads="1"/>
          </p:cNvSpPr>
          <p:nvPr>
            <p:ph type="title"/>
          </p:nvPr>
        </p:nvSpPr>
        <p:spPr>
          <a:xfrm>
            <a:off x="2208213" y="0"/>
            <a:ext cx="7772400" cy="1143000"/>
          </a:xfrm>
        </p:spPr>
        <p:txBody>
          <a:bodyPr/>
          <a:lstStyle/>
          <a:p>
            <a:pPr eaLnBrk="1" hangingPunct="1"/>
            <a:r>
              <a:rPr lang="zh-CN" altLang="en-US" sz="4000" dirty="0"/>
              <a:t>右侧检验中的结论（</a:t>
            </a:r>
            <a:r>
              <a:rPr lang="en-US" altLang="zh-CN" sz="4000" dirty="0"/>
              <a:t>2</a:t>
            </a:r>
            <a:r>
              <a:rPr lang="zh-CN" altLang="en-US" sz="4000" dirty="0"/>
              <a:t>）</a:t>
            </a:r>
          </a:p>
        </p:txBody>
      </p:sp>
      <p:sp>
        <p:nvSpPr>
          <p:cNvPr id="74756" name="Rectangle 3"/>
          <p:cNvSpPr>
            <a:spLocks noChangeArrowheads="1"/>
          </p:cNvSpPr>
          <p:nvPr/>
        </p:nvSpPr>
        <p:spPr bwMode="auto">
          <a:xfrm>
            <a:off x="7246938" y="1530350"/>
            <a:ext cx="1668462" cy="515938"/>
          </a:xfrm>
          <a:prstGeom prst="rect">
            <a:avLst/>
          </a:prstGeom>
          <a:noFill/>
          <a:ln w="12700">
            <a:noFill/>
            <a:miter lim="800000"/>
            <a:headEnd/>
            <a:tailEnd/>
          </a:ln>
        </p:spPr>
        <p:txBody>
          <a:bodyPr lIns="90488" tIns="44450" rIns="90488" bIns="44450">
            <a:spAutoFit/>
          </a:bodyPr>
          <a:lstStyle/>
          <a:p>
            <a:pPr eaLnBrk="0" hangingPunct="0">
              <a:spcBef>
                <a:spcPct val="50000"/>
              </a:spcBef>
            </a:pPr>
            <a:endParaRPr kumimoji="1" lang="zh-CN" altLang="zh-CN" sz="2800">
              <a:solidFill>
                <a:srgbClr val="FF00FF"/>
              </a:solidFill>
            </a:endParaRPr>
          </a:p>
        </p:txBody>
      </p:sp>
      <p:sp>
        <p:nvSpPr>
          <p:cNvPr id="33796" name="Rectangle 4"/>
          <p:cNvSpPr>
            <a:spLocks noChangeArrowheads="1"/>
          </p:cNvSpPr>
          <p:nvPr/>
        </p:nvSpPr>
        <p:spPr bwMode="auto">
          <a:xfrm>
            <a:off x="8148639" y="2984500"/>
            <a:ext cx="515937" cy="369332"/>
          </a:xfrm>
          <a:prstGeom prst="rect">
            <a:avLst/>
          </a:prstGeom>
          <a:solidFill>
            <a:schemeClr val="hlink"/>
          </a:solidFill>
          <a:ln w="9525">
            <a:noFill/>
            <a:miter lim="800000"/>
            <a:headEnd/>
            <a:tailEnd/>
          </a:ln>
          <a:effectLst>
            <a:outerShdw dist="17961" dir="2700000" algn="ctr" rotWithShape="0">
              <a:schemeClr val="bg2"/>
            </a:outerShdw>
          </a:effectLst>
        </p:spPr>
        <p:txBody>
          <a:bodyPr lIns="0" tIns="0" rIns="0" bIns="0">
            <a:spAutoFit/>
          </a:bodyPr>
          <a:lstStyle/>
          <a:p>
            <a:pPr algn="ctr" eaLnBrk="0" hangingPunct="0">
              <a:defRPr/>
            </a:pPr>
            <a:r>
              <a:rPr kumimoji="1" lang="en-US" altLang="zh-CN" sz="2400" b="1">
                <a:latin typeface="Symbol" pitchFamily="18" charset="2"/>
                <a:ea typeface="宋体" charset="-122"/>
              </a:rPr>
              <a:t>a</a:t>
            </a:r>
            <a:endParaRPr kumimoji="1" lang="en-US" altLang="zh-CN" sz="2400" b="1">
              <a:latin typeface="Arial" charset="0"/>
              <a:ea typeface="宋体" charset="-122"/>
            </a:endParaRPr>
          </a:p>
        </p:txBody>
      </p:sp>
      <p:sp>
        <p:nvSpPr>
          <p:cNvPr id="33797" name="Rectangle 5"/>
          <p:cNvSpPr>
            <a:spLocks noChangeArrowheads="1"/>
          </p:cNvSpPr>
          <p:nvPr/>
        </p:nvSpPr>
        <p:spPr bwMode="auto">
          <a:xfrm>
            <a:off x="5327651" y="2994025"/>
            <a:ext cx="1446213" cy="459100"/>
          </a:xfrm>
          <a:prstGeom prst="rect">
            <a:avLst/>
          </a:prstGeom>
          <a:noFill/>
          <a:ln w="12700">
            <a:noFill/>
            <a:miter lim="800000"/>
            <a:headEnd/>
            <a:tailEnd/>
          </a:ln>
          <a:effectLst>
            <a:outerShdw dist="12700" dir="5400000" algn="ctr" rotWithShape="0">
              <a:schemeClr val="bg2"/>
            </a:outerShdw>
          </a:effectLst>
        </p:spPr>
        <p:txBody>
          <a:bodyPr lIns="90488" tIns="44450" rIns="90488" bIns="44450">
            <a:spAutoFit/>
          </a:bodyPr>
          <a:lstStyle/>
          <a:p>
            <a:pPr algn="ctr" eaLnBrk="0" hangingPunct="0">
              <a:spcBef>
                <a:spcPct val="50000"/>
              </a:spcBef>
              <a:defRPr/>
            </a:pPr>
            <a:r>
              <a:rPr kumimoji="1" lang="en-US" altLang="zh-CN" sz="2400" b="1">
                <a:solidFill>
                  <a:schemeClr val="tx2"/>
                </a:solidFill>
                <a:effectLst>
                  <a:outerShdw blurRad="38100" dist="38100" dir="2700000" algn="tl">
                    <a:srgbClr val="C0C0C0"/>
                  </a:outerShdw>
                </a:effectLst>
                <a:latin typeface="Arial" charset="0"/>
                <a:ea typeface="宋体" charset="-122"/>
              </a:rPr>
              <a:t>(1 </a:t>
            </a:r>
            <a:r>
              <a:rPr kumimoji="1" lang="zh-CN" altLang="en-US" sz="2400" b="1">
                <a:solidFill>
                  <a:schemeClr val="tx2"/>
                </a:solidFill>
                <a:effectLst>
                  <a:outerShdw blurRad="38100" dist="38100" dir="2700000" algn="tl">
                    <a:srgbClr val="C0C0C0"/>
                  </a:outerShdw>
                </a:effectLst>
                <a:latin typeface="Arial" charset="0"/>
                <a:ea typeface="宋体" charset="-122"/>
              </a:rPr>
              <a:t>－ </a:t>
            </a:r>
            <a:r>
              <a:rPr kumimoji="1" lang="zh-CN" altLang="en-US" sz="2400" b="1">
                <a:solidFill>
                  <a:schemeClr val="tx2"/>
                </a:solidFill>
                <a:effectLst>
                  <a:outerShdw blurRad="38100" dist="38100" dir="2700000" algn="tl">
                    <a:srgbClr val="C0C0C0"/>
                  </a:outerShdw>
                </a:effectLst>
                <a:latin typeface="Symbol" pitchFamily="18" charset="2"/>
                <a:ea typeface="宋体" charset="-122"/>
              </a:rPr>
              <a:t></a:t>
            </a:r>
            <a:r>
              <a:rPr kumimoji="1" lang="en-US" altLang="zh-CN" sz="2400" b="1">
                <a:solidFill>
                  <a:schemeClr val="tx2"/>
                </a:solidFill>
                <a:effectLst>
                  <a:outerShdw blurRad="38100" dist="38100" dir="2700000" algn="tl">
                    <a:srgbClr val="C0C0C0"/>
                  </a:outerShdw>
                </a:effectLst>
                <a:latin typeface="Symbol" pitchFamily="18" charset="2"/>
                <a:ea typeface="宋体" charset="-122"/>
              </a:rPr>
              <a:t>)</a:t>
            </a:r>
            <a:endParaRPr kumimoji="1" lang="en-US" altLang="zh-CN" sz="2400" b="1">
              <a:solidFill>
                <a:schemeClr val="tx2"/>
              </a:solidFill>
              <a:latin typeface="Symbol" pitchFamily="18" charset="2"/>
              <a:ea typeface="宋体" charset="-122"/>
            </a:endParaRPr>
          </a:p>
        </p:txBody>
      </p:sp>
      <p:sp>
        <p:nvSpPr>
          <p:cNvPr id="33798" name="Line 6"/>
          <p:cNvSpPr>
            <a:spLocks noChangeShapeType="1"/>
          </p:cNvSpPr>
          <p:nvPr/>
        </p:nvSpPr>
        <p:spPr bwMode="auto">
          <a:xfrm>
            <a:off x="6962775" y="2913063"/>
            <a:ext cx="19050" cy="1200150"/>
          </a:xfrm>
          <a:prstGeom prst="line">
            <a:avLst/>
          </a:prstGeom>
          <a:noFill/>
          <a:ln w="38100">
            <a:solidFill>
              <a:srgbClr val="CC0066"/>
            </a:solidFill>
            <a:round/>
            <a:headEnd/>
            <a:tailEnd/>
          </a:ln>
          <a:effectLst>
            <a:outerShdw dist="28398" dir="20006097" algn="ctr" rotWithShape="0">
              <a:schemeClr val="bg2"/>
            </a:outerShdw>
          </a:effectLst>
        </p:spPr>
        <p:txBody>
          <a:bodyPr wrap="none" anchor="ctr"/>
          <a:lstStyle/>
          <a:p>
            <a:pPr>
              <a:defRPr/>
            </a:pPr>
            <a:endParaRPr lang="zh-CN" altLang="en-US">
              <a:latin typeface="Arial" charset="0"/>
              <a:ea typeface="宋体" charset="-122"/>
            </a:endParaRPr>
          </a:p>
        </p:txBody>
      </p:sp>
      <p:sp>
        <p:nvSpPr>
          <p:cNvPr id="33799" name="Line 7"/>
          <p:cNvSpPr>
            <a:spLocks noChangeShapeType="1"/>
          </p:cNvSpPr>
          <p:nvPr/>
        </p:nvSpPr>
        <p:spPr bwMode="auto">
          <a:xfrm>
            <a:off x="7000875" y="4113213"/>
            <a:ext cx="0" cy="277812"/>
          </a:xfrm>
          <a:prstGeom prst="line">
            <a:avLst/>
          </a:prstGeom>
          <a:noFill/>
          <a:ln w="28575">
            <a:solidFill>
              <a:srgbClr val="CC3399"/>
            </a:solidFill>
            <a:round/>
            <a:headEnd type="triangle" w="med" len="med"/>
            <a:tailEnd/>
          </a:ln>
          <a:effectLst>
            <a:outerShdw dist="12700" algn="ctr" rotWithShape="0">
              <a:schemeClr val="bg2"/>
            </a:outerShdw>
          </a:effectLst>
        </p:spPr>
        <p:txBody>
          <a:bodyPr wrap="none" anchor="ctr"/>
          <a:lstStyle/>
          <a:p>
            <a:pPr>
              <a:defRPr/>
            </a:pPr>
            <a:endParaRPr lang="zh-CN" altLang="en-US">
              <a:latin typeface="Arial" charset="0"/>
              <a:ea typeface="宋体" charset="-122"/>
            </a:endParaRPr>
          </a:p>
        </p:txBody>
      </p:sp>
      <p:sp>
        <p:nvSpPr>
          <p:cNvPr id="33800" name="Freeform 8"/>
          <p:cNvSpPr>
            <a:spLocks/>
          </p:cNvSpPr>
          <p:nvPr/>
        </p:nvSpPr>
        <p:spPr bwMode="auto">
          <a:xfrm>
            <a:off x="5938838" y="1941513"/>
            <a:ext cx="2906712" cy="2074862"/>
          </a:xfrm>
          <a:custGeom>
            <a:avLst/>
            <a:gdLst/>
            <a:ahLst/>
            <a:cxnLst>
              <a:cxn ang="0">
                <a:pos x="1942" y="1430"/>
              </a:cxn>
              <a:cxn ang="0">
                <a:pos x="1737" y="1412"/>
              </a:cxn>
              <a:cxn ang="0">
                <a:pos x="1636" y="1396"/>
              </a:cxn>
              <a:cxn ang="0">
                <a:pos x="1532" y="1373"/>
              </a:cxn>
              <a:cxn ang="0">
                <a:pos x="1431" y="1342"/>
              </a:cxn>
              <a:cxn ang="0">
                <a:pos x="1328" y="1298"/>
              </a:cxn>
              <a:cxn ang="0">
                <a:pos x="1227" y="1238"/>
              </a:cxn>
              <a:cxn ang="0">
                <a:pos x="1022" y="1073"/>
              </a:cxn>
              <a:cxn ang="0">
                <a:pos x="818" y="838"/>
              </a:cxn>
              <a:cxn ang="0">
                <a:pos x="613" y="559"/>
              </a:cxn>
              <a:cxn ang="0">
                <a:pos x="512" y="416"/>
              </a:cxn>
              <a:cxn ang="0">
                <a:pos x="409" y="282"/>
              </a:cxn>
              <a:cxn ang="0">
                <a:pos x="308" y="166"/>
              </a:cxn>
              <a:cxn ang="0">
                <a:pos x="204" y="78"/>
              </a:cxn>
              <a:cxn ang="0">
                <a:pos x="103" y="21"/>
              </a:cxn>
              <a:cxn ang="0">
                <a:pos x="0" y="0"/>
              </a:cxn>
            </a:cxnLst>
            <a:rect l="0" t="0" r="r" b="b"/>
            <a:pathLst>
              <a:path w="1942" h="1430">
                <a:moveTo>
                  <a:pt x="1942" y="1430"/>
                </a:moveTo>
                <a:lnTo>
                  <a:pt x="1737" y="1412"/>
                </a:lnTo>
                <a:lnTo>
                  <a:pt x="1636" y="1396"/>
                </a:lnTo>
                <a:lnTo>
                  <a:pt x="1532" y="1373"/>
                </a:lnTo>
                <a:lnTo>
                  <a:pt x="1431" y="1342"/>
                </a:lnTo>
                <a:lnTo>
                  <a:pt x="1328" y="1298"/>
                </a:lnTo>
                <a:lnTo>
                  <a:pt x="1227" y="1238"/>
                </a:lnTo>
                <a:lnTo>
                  <a:pt x="1022" y="1073"/>
                </a:lnTo>
                <a:lnTo>
                  <a:pt x="818" y="838"/>
                </a:lnTo>
                <a:lnTo>
                  <a:pt x="613" y="559"/>
                </a:lnTo>
                <a:lnTo>
                  <a:pt x="512" y="416"/>
                </a:lnTo>
                <a:lnTo>
                  <a:pt x="409" y="282"/>
                </a:lnTo>
                <a:lnTo>
                  <a:pt x="308" y="166"/>
                </a:lnTo>
                <a:lnTo>
                  <a:pt x="204" y="78"/>
                </a:lnTo>
                <a:lnTo>
                  <a:pt x="103" y="21"/>
                </a:lnTo>
                <a:lnTo>
                  <a:pt x="0" y="0"/>
                </a:lnTo>
              </a:path>
            </a:pathLst>
          </a:custGeom>
          <a:noFill/>
          <a:ln w="76200" cmpd="sng">
            <a:solidFill>
              <a:srgbClr val="FF00FF"/>
            </a:solidFill>
            <a:prstDash val="solid"/>
            <a:round/>
            <a:headEnd/>
            <a:tailEnd/>
          </a:ln>
          <a:effectLst>
            <a:outerShdw dist="38100" dir="5400000" algn="ctr" rotWithShape="0">
              <a:schemeClr val="bg2"/>
            </a:outerShdw>
          </a:effectLst>
        </p:spPr>
        <p:txBody>
          <a:bodyPr/>
          <a:lstStyle/>
          <a:p>
            <a:pPr>
              <a:defRPr/>
            </a:pPr>
            <a:endParaRPr lang="zh-CN" altLang="en-US">
              <a:latin typeface="Arial" charset="0"/>
              <a:ea typeface="宋体" charset="-122"/>
            </a:endParaRPr>
          </a:p>
        </p:txBody>
      </p:sp>
      <p:sp>
        <p:nvSpPr>
          <p:cNvPr id="33801" name="Freeform 9"/>
          <p:cNvSpPr>
            <a:spLocks/>
          </p:cNvSpPr>
          <p:nvPr/>
        </p:nvSpPr>
        <p:spPr bwMode="auto">
          <a:xfrm>
            <a:off x="3290889" y="1941513"/>
            <a:ext cx="2771775" cy="2106612"/>
          </a:xfrm>
          <a:custGeom>
            <a:avLst/>
            <a:gdLst/>
            <a:ahLst/>
            <a:cxnLst>
              <a:cxn ang="0">
                <a:pos x="0" y="1430"/>
              </a:cxn>
              <a:cxn ang="0">
                <a:pos x="205" y="1412"/>
              </a:cxn>
              <a:cxn ang="0">
                <a:pos x="309" y="1396"/>
              </a:cxn>
              <a:cxn ang="0">
                <a:pos x="410" y="1373"/>
              </a:cxn>
              <a:cxn ang="0">
                <a:pos x="511" y="1342"/>
              </a:cxn>
              <a:cxn ang="0">
                <a:pos x="614" y="1298"/>
              </a:cxn>
              <a:cxn ang="0">
                <a:pos x="715" y="1238"/>
              </a:cxn>
              <a:cxn ang="0">
                <a:pos x="922" y="1073"/>
              </a:cxn>
              <a:cxn ang="0">
                <a:pos x="1124" y="838"/>
              </a:cxn>
              <a:cxn ang="0">
                <a:pos x="1329" y="559"/>
              </a:cxn>
              <a:cxn ang="0">
                <a:pos x="1432" y="416"/>
              </a:cxn>
              <a:cxn ang="0">
                <a:pos x="1533" y="282"/>
              </a:cxn>
              <a:cxn ang="0">
                <a:pos x="1637" y="166"/>
              </a:cxn>
              <a:cxn ang="0">
                <a:pos x="1738" y="78"/>
              </a:cxn>
              <a:cxn ang="0">
                <a:pos x="1842" y="21"/>
              </a:cxn>
              <a:cxn ang="0">
                <a:pos x="1943" y="0"/>
              </a:cxn>
            </a:cxnLst>
            <a:rect l="0" t="0" r="r" b="b"/>
            <a:pathLst>
              <a:path w="1943" h="1430">
                <a:moveTo>
                  <a:pt x="0" y="1430"/>
                </a:moveTo>
                <a:lnTo>
                  <a:pt x="205" y="1412"/>
                </a:lnTo>
                <a:lnTo>
                  <a:pt x="309" y="1396"/>
                </a:lnTo>
                <a:lnTo>
                  <a:pt x="410" y="1373"/>
                </a:lnTo>
                <a:lnTo>
                  <a:pt x="511" y="1342"/>
                </a:lnTo>
                <a:lnTo>
                  <a:pt x="614" y="1298"/>
                </a:lnTo>
                <a:lnTo>
                  <a:pt x="715" y="1238"/>
                </a:lnTo>
                <a:lnTo>
                  <a:pt x="922" y="1073"/>
                </a:lnTo>
                <a:lnTo>
                  <a:pt x="1124" y="838"/>
                </a:lnTo>
                <a:lnTo>
                  <a:pt x="1329" y="559"/>
                </a:lnTo>
                <a:lnTo>
                  <a:pt x="1432" y="416"/>
                </a:lnTo>
                <a:lnTo>
                  <a:pt x="1533" y="282"/>
                </a:lnTo>
                <a:lnTo>
                  <a:pt x="1637" y="166"/>
                </a:lnTo>
                <a:lnTo>
                  <a:pt x="1738" y="78"/>
                </a:lnTo>
                <a:lnTo>
                  <a:pt x="1842" y="21"/>
                </a:lnTo>
                <a:lnTo>
                  <a:pt x="1943" y="0"/>
                </a:lnTo>
              </a:path>
            </a:pathLst>
          </a:custGeom>
          <a:noFill/>
          <a:ln w="76200" cmpd="sng">
            <a:solidFill>
              <a:srgbClr val="FF00FF"/>
            </a:solidFill>
            <a:prstDash val="solid"/>
            <a:round/>
            <a:headEnd/>
            <a:tailEnd/>
          </a:ln>
          <a:effectLst>
            <a:outerShdw dist="38100" dir="5400000" algn="ctr" rotWithShape="0">
              <a:schemeClr val="bg2"/>
            </a:outerShdw>
          </a:effectLst>
        </p:spPr>
        <p:txBody>
          <a:bodyPr/>
          <a:lstStyle/>
          <a:p>
            <a:pPr>
              <a:defRPr/>
            </a:pPr>
            <a:endParaRPr lang="zh-CN" altLang="en-US">
              <a:latin typeface="Arial" charset="0"/>
              <a:ea typeface="宋体" charset="-122"/>
            </a:endParaRPr>
          </a:p>
        </p:txBody>
      </p:sp>
      <p:sp>
        <p:nvSpPr>
          <p:cNvPr id="74763" name="Line 10"/>
          <p:cNvSpPr>
            <a:spLocks noChangeShapeType="1"/>
          </p:cNvSpPr>
          <p:nvPr/>
        </p:nvSpPr>
        <p:spPr bwMode="auto">
          <a:xfrm flipV="1">
            <a:off x="3154363" y="1876425"/>
            <a:ext cx="0" cy="2236788"/>
          </a:xfrm>
          <a:prstGeom prst="line">
            <a:avLst/>
          </a:prstGeom>
          <a:noFill/>
          <a:ln w="38100">
            <a:solidFill>
              <a:schemeClr val="tx1"/>
            </a:solidFill>
            <a:miter lim="800000"/>
            <a:headEnd/>
            <a:tailEnd type="triangle" w="med" len="med"/>
          </a:ln>
        </p:spPr>
        <p:txBody>
          <a:bodyPr wrap="none"/>
          <a:lstStyle/>
          <a:p>
            <a:endParaRPr lang="zh-CN" altLang="en-US"/>
          </a:p>
        </p:txBody>
      </p:sp>
      <p:sp>
        <p:nvSpPr>
          <p:cNvPr id="74764" name="Line 11"/>
          <p:cNvSpPr>
            <a:spLocks noChangeShapeType="1"/>
          </p:cNvSpPr>
          <p:nvPr/>
        </p:nvSpPr>
        <p:spPr bwMode="auto">
          <a:xfrm>
            <a:off x="3154363" y="4113213"/>
            <a:ext cx="5975350" cy="0"/>
          </a:xfrm>
          <a:prstGeom prst="line">
            <a:avLst/>
          </a:prstGeom>
          <a:noFill/>
          <a:ln w="38100">
            <a:solidFill>
              <a:schemeClr val="tx1"/>
            </a:solidFill>
            <a:miter lim="800000"/>
            <a:headEnd/>
            <a:tailEnd type="triangle" w="med" len="med"/>
          </a:ln>
        </p:spPr>
        <p:txBody>
          <a:bodyPr wrap="none"/>
          <a:lstStyle/>
          <a:p>
            <a:endParaRPr lang="zh-CN" altLang="en-US"/>
          </a:p>
        </p:txBody>
      </p:sp>
      <p:sp>
        <p:nvSpPr>
          <p:cNvPr id="74765" name="Line 12"/>
          <p:cNvSpPr>
            <a:spLocks noChangeShapeType="1"/>
          </p:cNvSpPr>
          <p:nvPr/>
        </p:nvSpPr>
        <p:spPr bwMode="auto">
          <a:xfrm>
            <a:off x="5964238" y="3719513"/>
            <a:ext cx="950912" cy="0"/>
          </a:xfrm>
          <a:prstGeom prst="line">
            <a:avLst/>
          </a:prstGeom>
          <a:noFill/>
          <a:ln w="38100">
            <a:solidFill>
              <a:schemeClr val="tx2"/>
            </a:solidFill>
            <a:miter lim="800000"/>
            <a:headEnd/>
            <a:tailEnd type="triangle" w="med" len="med"/>
          </a:ln>
        </p:spPr>
        <p:txBody>
          <a:bodyPr wrap="none"/>
          <a:lstStyle/>
          <a:p>
            <a:endParaRPr lang="zh-CN" altLang="en-US"/>
          </a:p>
        </p:txBody>
      </p:sp>
      <p:sp>
        <p:nvSpPr>
          <p:cNvPr id="74766" name="Line 13"/>
          <p:cNvSpPr>
            <a:spLocks noChangeShapeType="1"/>
          </p:cNvSpPr>
          <p:nvPr/>
        </p:nvSpPr>
        <p:spPr bwMode="auto">
          <a:xfrm flipH="1">
            <a:off x="4498976" y="3719513"/>
            <a:ext cx="1514475" cy="0"/>
          </a:xfrm>
          <a:prstGeom prst="line">
            <a:avLst/>
          </a:prstGeom>
          <a:noFill/>
          <a:ln w="38100">
            <a:solidFill>
              <a:schemeClr val="tx2"/>
            </a:solidFill>
            <a:miter lim="800000"/>
            <a:headEnd/>
            <a:tailEnd type="triangle" w="med" len="med"/>
          </a:ln>
        </p:spPr>
        <p:txBody>
          <a:bodyPr wrap="none"/>
          <a:lstStyle/>
          <a:p>
            <a:endParaRPr lang="zh-CN" altLang="en-US"/>
          </a:p>
        </p:txBody>
      </p:sp>
      <p:sp>
        <p:nvSpPr>
          <p:cNvPr id="33806" name="Freeform 14"/>
          <p:cNvSpPr>
            <a:spLocks/>
          </p:cNvSpPr>
          <p:nvPr/>
        </p:nvSpPr>
        <p:spPr bwMode="auto">
          <a:xfrm>
            <a:off x="7019926" y="3055939"/>
            <a:ext cx="1598613" cy="1038225"/>
          </a:xfrm>
          <a:custGeom>
            <a:avLst/>
            <a:gdLst/>
            <a:ahLst/>
            <a:cxnLst>
              <a:cxn ang="0">
                <a:pos x="0" y="0"/>
              </a:cxn>
              <a:cxn ang="0">
                <a:pos x="0" y="734"/>
              </a:cxn>
              <a:cxn ang="0">
                <a:pos x="1129" y="734"/>
              </a:cxn>
              <a:cxn ang="0">
                <a:pos x="1002" y="700"/>
              </a:cxn>
              <a:cxn ang="0">
                <a:pos x="880" y="659"/>
              </a:cxn>
              <a:cxn ang="0">
                <a:pos x="764" y="612"/>
              </a:cxn>
              <a:cxn ang="0">
                <a:pos x="652" y="561"/>
              </a:cxn>
              <a:cxn ang="0">
                <a:pos x="546" y="504"/>
              </a:cxn>
              <a:cxn ang="0">
                <a:pos x="445" y="444"/>
              </a:cxn>
              <a:cxn ang="0">
                <a:pos x="352" y="380"/>
              </a:cxn>
              <a:cxn ang="0">
                <a:pos x="267" y="310"/>
              </a:cxn>
              <a:cxn ang="0">
                <a:pos x="189" y="237"/>
              </a:cxn>
              <a:cxn ang="0">
                <a:pos x="116" y="162"/>
              </a:cxn>
              <a:cxn ang="0">
                <a:pos x="54" y="82"/>
              </a:cxn>
              <a:cxn ang="0">
                <a:pos x="0" y="0"/>
              </a:cxn>
            </a:cxnLst>
            <a:rect l="0" t="0" r="r" b="b"/>
            <a:pathLst>
              <a:path w="1129" h="734">
                <a:moveTo>
                  <a:pt x="0" y="0"/>
                </a:moveTo>
                <a:lnTo>
                  <a:pt x="0" y="734"/>
                </a:lnTo>
                <a:lnTo>
                  <a:pt x="1129" y="734"/>
                </a:lnTo>
                <a:lnTo>
                  <a:pt x="1002" y="700"/>
                </a:lnTo>
                <a:lnTo>
                  <a:pt x="880" y="659"/>
                </a:lnTo>
                <a:lnTo>
                  <a:pt x="764" y="612"/>
                </a:lnTo>
                <a:lnTo>
                  <a:pt x="652" y="561"/>
                </a:lnTo>
                <a:lnTo>
                  <a:pt x="546" y="504"/>
                </a:lnTo>
                <a:lnTo>
                  <a:pt x="445" y="444"/>
                </a:lnTo>
                <a:lnTo>
                  <a:pt x="352" y="380"/>
                </a:lnTo>
                <a:lnTo>
                  <a:pt x="267" y="310"/>
                </a:lnTo>
                <a:lnTo>
                  <a:pt x="189" y="237"/>
                </a:lnTo>
                <a:lnTo>
                  <a:pt x="116" y="162"/>
                </a:lnTo>
                <a:lnTo>
                  <a:pt x="54" y="82"/>
                </a:lnTo>
                <a:lnTo>
                  <a:pt x="0" y="0"/>
                </a:lnTo>
                <a:close/>
              </a:path>
            </a:pathLst>
          </a:custGeom>
          <a:solidFill>
            <a:schemeClr val="hlink"/>
          </a:solidFill>
          <a:ln w="9525">
            <a:noFill/>
            <a:round/>
            <a:headEnd/>
            <a:tailEnd/>
          </a:ln>
          <a:effectLst>
            <a:outerShdw algn="ctr" rotWithShape="0">
              <a:srgbClr val="808080"/>
            </a:outerShdw>
          </a:effectLst>
        </p:spPr>
        <p:txBody>
          <a:bodyPr/>
          <a:lstStyle/>
          <a:p>
            <a:pPr>
              <a:defRPr/>
            </a:pPr>
            <a:endParaRPr lang="zh-CN" altLang="en-US">
              <a:latin typeface="Arial" charset="0"/>
              <a:ea typeface="宋体" charset="-122"/>
            </a:endParaRPr>
          </a:p>
        </p:txBody>
      </p:sp>
      <p:sp>
        <p:nvSpPr>
          <p:cNvPr id="33807" name="Line 15"/>
          <p:cNvSpPr>
            <a:spLocks noChangeShapeType="1"/>
          </p:cNvSpPr>
          <p:nvPr/>
        </p:nvSpPr>
        <p:spPr bwMode="auto">
          <a:xfrm>
            <a:off x="5986463" y="4113213"/>
            <a:ext cx="0" cy="277812"/>
          </a:xfrm>
          <a:prstGeom prst="line">
            <a:avLst/>
          </a:prstGeom>
          <a:noFill/>
          <a:ln w="28575">
            <a:solidFill>
              <a:srgbClr val="CC3399"/>
            </a:solidFill>
            <a:round/>
            <a:headEnd type="triangle" w="med" len="med"/>
            <a:tailEnd/>
          </a:ln>
          <a:effectLst>
            <a:outerShdw dist="12700" algn="ctr" rotWithShape="0">
              <a:schemeClr val="bg2"/>
            </a:outerShdw>
          </a:effectLst>
        </p:spPr>
        <p:txBody>
          <a:bodyPr wrap="none" anchor="ctr"/>
          <a:lstStyle/>
          <a:p>
            <a:pPr>
              <a:defRPr/>
            </a:pPr>
            <a:endParaRPr lang="zh-CN" altLang="en-US">
              <a:latin typeface="Arial" charset="0"/>
              <a:ea typeface="宋体" charset="-122"/>
            </a:endParaRPr>
          </a:p>
        </p:txBody>
      </p:sp>
      <p:sp>
        <p:nvSpPr>
          <p:cNvPr id="33808" name="Line 16"/>
          <p:cNvSpPr>
            <a:spLocks noChangeShapeType="1"/>
          </p:cNvSpPr>
          <p:nvPr/>
        </p:nvSpPr>
        <p:spPr bwMode="auto">
          <a:xfrm flipH="1">
            <a:off x="7562851" y="3284538"/>
            <a:ext cx="542925" cy="495300"/>
          </a:xfrm>
          <a:prstGeom prst="line">
            <a:avLst/>
          </a:prstGeom>
          <a:noFill/>
          <a:ln w="25400">
            <a:solidFill>
              <a:schemeClr val="tx2"/>
            </a:solidFill>
            <a:round/>
            <a:headEnd/>
            <a:tailEnd type="triangle" w="med" len="med"/>
          </a:ln>
          <a:effectLst>
            <a:outerShdw algn="ctr" rotWithShape="0">
              <a:schemeClr val="bg2"/>
            </a:outerShdw>
          </a:effectLst>
        </p:spPr>
        <p:txBody>
          <a:bodyPr wrap="none" anchor="ctr"/>
          <a:lstStyle/>
          <a:p>
            <a:pPr>
              <a:defRPr/>
            </a:pPr>
            <a:endParaRPr lang="zh-CN" altLang="en-US">
              <a:latin typeface="Arial" charset="0"/>
              <a:ea typeface="宋体" charset="-122"/>
            </a:endParaRPr>
          </a:p>
        </p:txBody>
      </p:sp>
      <p:sp>
        <p:nvSpPr>
          <p:cNvPr id="74770" name="Line 17"/>
          <p:cNvSpPr>
            <a:spLocks noChangeShapeType="1"/>
          </p:cNvSpPr>
          <p:nvPr/>
        </p:nvSpPr>
        <p:spPr bwMode="auto">
          <a:xfrm flipH="1">
            <a:off x="6572250" y="1944688"/>
            <a:ext cx="674688" cy="292100"/>
          </a:xfrm>
          <a:prstGeom prst="line">
            <a:avLst/>
          </a:prstGeom>
          <a:noFill/>
          <a:ln w="28575">
            <a:noFill/>
            <a:miter lim="800000"/>
            <a:headEnd/>
            <a:tailEnd type="triangle" w="med" len="med"/>
          </a:ln>
        </p:spPr>
        <p:txBody>
          <a:bodyPr wrap="none"/>
          <a:lstStyle/>
          <a:p>
            <a:endParaRPr lang="zh-CN" altLang="en-US"/>
          </a:p>
        </p:txBody>
      </p:sp>
      <p:sp>
        <p:nvSpPr>
          <p:cNvPr id="33810" name="Text Box 18"/>
          <p:cNvSpPr txBox="1">
            <a:spLocks noChangeArrowheads="1"/>
          </p:cNvSpPr>
          <p:nvPr/>
        </p:nvSpPr>
        <p:spPr bwMode="auto">
          <a:xfrm>
            <a:off x="5504658" y="4282764"/>
            <a:ext cx="952500" cy="469900"/>
          </a:xfrm>
          <a:prstGeom prst="rect">
            <a:avLst/>
          </a:prstGeom>
          <a:noFill/>
          <a:ln w="12700">
            <a:noFill/>
            <a:miter lim="800000"/>
            <a:headEnd/>
            <a:tailEnd/>
          </a:ln>
          <a:effectLst/>
        </p:spPr>
        <p:txBody>
          <a:bodyPr>
            <a:spAutoFit/>
          </a:bodyPr>
          <a:lstStyle/>
          <a:p>
            <a:pPr algn="ctr" eaLnBrk="0" hangingPunct="0">
              <a:spcBef>
                <a:spcPct val="50000"/>
              </a:spcBef>
              <a:defRPr/>
            </a:pPr>
            <a:r>
              <a:rPr kumimoji="1" lang="el-GR" altLang="zh-CN" sz="2400" b="1" i="1">
                <a:effectLst>
                  <a:outerShdw blurRad="38100" dist="38100" dir="2700000" algn="tl">
                    <a:srgbClr val="000000"/>
                  </a:outerShdw>
                </a:effectLst>
                <a:latin typeface="Times New Roman" pitchFamily="18" charset="0"/>
                <a:ea typeface="宋体" charset="-122"/>
                <a:cs typeface="Times New Roman" pitchFamily="18" charset="0"/>
              </a:rPr>
              <a:t>θ</a:t>
            </a:r>
            <a:r>
              <a:rPr kumimoji="1" lang="en-US" altLang="zh-CN" b="1" baseline="-25000">
                <a:latin typeface="Arial" charset="0"/>
                <a:ea typeface="宋体" charset="-122"/>
              </a:rPr>
              <a:t>0</a:t>
            </a:r>
            <a:endParaRPr kumimoji="1" lang="en-US" altLang="zh-CN" sz="2000" b="1" baseline="-25000">
              <a:latin typeface="Arial" charset="0"/>
              <a:ea typeface="宋体" charset="-122"/>
            </a:endParaRPr>
          </a:p>
        </p:txBody>
      </p:sp>
      <p:sp>
        <p:nvSpPr>
          <p:cNvPr id="74772" name="Text Box 19"/>
          <p:cNvSpPr txBox="1">
            <a:spLocks noChangeArrowheads="1"/>
          </p:cNvSpPr>
          <p:nvPr/>
        </p:nvSpPr>
        <p:spPr bwMode="auto">
          <a:xfrm>
            <a:off x="6496050" y="4400551"/>
            <a:ext cx="971550" cy="379413"/>
          </a:xfrm>
          <a:prstGeom prst="rect">
            <a:avLst/>
          </a:prstGeom>
          <a:solidFill>
            <a:srgbClr val="FFFF9B"/>
          </a:solidFill>
          <a:ln w="12700">
            <a:solidFill>
              <a:srgbClr val="FF33CC"/>
            </a:solidFill>
            <a:miter lim="800000"/>
            <a:headEnd/>
            <a:tailEnd/>
          </a:ln>
        </p:spPr>
        <p:txBody>
          <a:bodyPr>
            <a:spAutoFit/>
          </a:bodyPr>
          <a:lstStyle/>
          <a:p>
            <a:pPr algn="ctr" eaLnBrk="0" hangingPunct="0">
              <a:spcBef>
                <a:spcPct val="50000"/>
              </a:spcBef>
            </a:pPr>
            <a:r>
              <a:rPr kumimoji="1" lang="zh-CN" altLang="en-US" b="1"/>
              <a:t>临界值</a:t>
            </a:r>
          </a:p>
        </p:txBody>
      </p:sp>
      <p:sp>
        <p:nvSpPr>
          <p:cNvPr id="74773" name="Text Box 20"/>
          <p:cNvSpPr txBox="1">
            <a:spLocks noChangeArrowheads="1"/>
          </p:cNvSpPr>
          <p:nvPr/>
        </p:nvSpPr>
        <p:spPr bwMode="auto">
          <a:xfrm>
            <a:off x="8496300" y="4229101"/>
            <a:ext cx="1562100" cy="396875"/>
          </a:xfrm>
          <a:prstGeom prst="rect">
            <a:avLst/>
          </a:prstGeom>
          <a:noFill/>
          <a:ln w="12700">
            <a:noFill/>
            <a:miter lim="800000"/>
            <a:headEnd/>
            <a:tailEnd/>
          </a:ln>
        </p:spPr>
        <p:txBody>
          <a:bodyPr>
            <a:spAutoFit/>
          </a:bodyPr>
          <a:lstStyle/>
          <a:p>
            <a:pPr eaLnBrk="0" hangingPunct="0">
              <a:spcBef>
                <a:spcPct val="50000"/>
              </a:spcBef>
            </a:pPr>
            <a:r>
              <a:rPr kumimoji="1" lang="zh-CN" altLang="en-US" sz="2000">
                <a:solidFill>
                  <a:srgbClr val="3333FF"/>
                </a:solidFill>
              </a:rPr>
              <a:t>检验统计量</a:t>
            </a:r>
          </a:p>
        </p:txBody>
      </p:sp>
      <p:grpSp>
        <p:nvGrpSpPr>
          <p:cNvPr id="2" name="Group 21"/>
          <p:cNvGrpSpPr>
            <a:grpSpLocks/>
          </p:cNvGrpSpPr>
          <p:nvPr/>
        </p:nvGrpSpPr>
        <p:grpSpPr bwMode="auto">
          <a:xfrm>
            <a:off x="7048500" y="4324351"/>
            <a:ext cx="1809750" cy="1444625"/>
            <a:chOff x="1872" y="2820"/>
            <a:chExt cx="1140" cy="910"/>
          </a:xfrm>
        </p:grpSpPr>
        <p:sp>
          <p:nvSpPr>
            <p:cNvPr id="74781" name="Text Box 22"/>
            <p:cNvSpPr txBox="1">
              <a:spLocks noChangeArrowheads="1"/>
            </p:cNvSpPr>
            <p:nvPr/>
          </p:nvSpPr>
          <p:spPr bwMode="auto">
            <a:xfrm>
              <a:off x="1872" y="3204"/>
              <a:ext cx="1140" cy="526"/>
            </a:xfrm>
            <a:prstGeom prst="rect">
              <a:avLst/>
            </a:prstGeom>
            <a:noFill/>
            <a:ln w="12700">
              <a:solidFill>
                <a:srgbClr val="336600"/>
              </a:solidFill>
              <a:miter lim="800000"/>
              <a:headEnd/>
              <a:tailEnd/>
            </a:ln>
          </p:spPr>
          <p:txBody>
            <a:bodyPr>
              <a:spAutoFit/>
            </a:bodyPr>
            <a:lstStyle/>
            <a:p>
              <a:pPr algn="ctr" eaLnBrk="0" hangingPunct="0">
                <a:spcBef>
                  <a:spcPct val="50000"/>
                </a:spcBef>
              </a:pPr>
              <a:r>
                <a:rPr kumimoji="1" lang="zh-CN" altLang="en-US" sz="2400" b="1">
                  <a:solidFill>
                    <a:srgbClr val="3333FF"/>
                  </a:solidFill>
                </a:rPr>
                <a:t>检验统计量的观察值</a:t>
              </a:r>
            </a:p>
          </p:txBody>
        </p:sp>
        <p:sp>
          <p:nvSpPr>
            <p:cNvPr id="74782" name="AutoShape 23"/>
            <p:cNvSpPr>
              <a:spLocks noChangeArrowheads="1"/>
            </p:cNvSpPr>
            <p:nvPr/>
          </p:nvSpPr>
          <p:spPr bwMode="auto">
            <a:xfrm>
              <a:off x="2304" y="2820"/>
              <a:ext cx="204" cy="384"/>
            </a:xfrm>
            <a:prstGeom prst="upArrow">
              <a:avLst>
                <a:gd name="adj1" fmla="val 50000"/>
                <a:gd name="adj2" fmla="val 47059"/>
              </a:avLst>
            </a:prstGeom>
            <a:solidFill>
              <a:srgbClr val="CC0099"/>
            </a:solidFill>
            <a:ln w="12700">
              <a:noFill/>
              <a:miter lim="800000"/>
              <a:headEnd/>
              <a:tailEnd/>
            </a:ln>
          </p:spPr>
          <p:txBody>
            <a:bodyPr vert="eaVert" wrap="none" anchor="ctr"/>
            <a:lstStyle/>
            <a:p>
              <a:endParaRPr lang="zh-CN" altLang="en-US"/>
            </a:p>
          </p:txBody>
        </p:sp>
      </p:grpSp>
      <p:grpSp>
        <p:nvGrpSpPr>
          <p:cNvPr id="3" name="Group 26"/>
          <p:cNvGrpSpPr>
            <a:grpSpLocks/>
          </p:cNvGrpSpPr>
          <p:nvPr/>
        </p:nvGrpSpPr>
        <p:grpSpPr bwMode="auto">
          <a:xfrm>
            <a:off x="3219450" y="5162550"/>
            <a:ext cx="3409950" cy="469900"/>
            <a:chOff x="1068" y="3252"/>
            <a:chExt cx="2148" cy="296"/>
          </a:xfrm>
        </p:grpSpPr>
        <p:sp>
          <p:nvSpPr>
            <p:cNvPr id="74779" name="Text Box 24"/>
            <p:cNvSpPr txBox="1">
              <a:spLocks noChangeArrowheads="1"/>
            </p:cNvSpPr>
            <p:nvPr/>
          </p:nvSpPr>
          <p:spPr bwMode="auto">
            <a:xfrm>
              <a:off x="1068" y="3252"/>
              <a:ext cx="1332" cy="296"/>
            </a:xfrm>
            <a:prstGeom prst="rect">
              <a:avLst/>
            </a:prstGeom>
            <a:noFill/>
            <a:ln w="12700">
              <a:solidFill>
                <a:srgbClr val="336600"/>
              </a:solidFill>
              <a:miter lim="800000"/>
              <a:headEnd/>
              <a:tailEnd/>
            </a:ln>
          </p:spPr>
          <p:txBody>
            <a:bodyPr>
              <a:spAutoFit/>
            </a:bodyPr>
            <a:lstStyle/>
            <a:p>
              <a:pPr eaLnBrk="0" hangingPunct="0">
                <a:spcBef>
                  <a:spcPct val="50000"/>
                </a:spcBef>
              </a:pPr>
              <a:r>
                <a:rPr kumimoji="1" lang="zh-CN" altLang="en-US" sz="2400" b="1" dirty="0">
                  <a:solidFill>
                    <a:srgbClr val="FF33CC"/>
                  </a:solidFill>
                </a:rPr>
                <a:t>结论：拒绝</a:t>
              </a:r>
              <a:r>
                <a:rPr kumimoji="1" lang="en-US" altLang="zh-CN" sz="2400" b="1" dirty="0">
                  <a:solidFill>
                    <a:srgbClr val="FF33CC"/>
                  </a:solidFill>
                </a:rPr>
                <a:t>H</a:t>
              </a:r>
              <a:r>
                <a:rPr kumimoji="1" lang="en-US" altLang="zh-CN" sz="2400" b="1" baseline="-20000" dirty="0">
                  <a:solidFill>
                    <a:srgbClr val="FF33CC"/>
                  </a:solidFill>
                </a:rPr>
                <a:t>O</a:t>
              </a:r>
            </a:p>
          </p:txBody>
        </p:sp>
        <p:sp>
          <p:nvSpPr>
            <p:cNvPr id="74780" name="AutoShape 25"/>
            <p:cNvSpPr>
              <a:spLocks noChangeArrowheads="1"/>
            </p:cNvSpPr>
            <p:nvPr/>
          </p:nvSpPr>
          <p:spPr bwMode="auto">
            <a:xfrm rot="10800000">
              <a:off x="2652" y="3312"/>
              <a:ext cx="564" cy="192"/>
            </a:xfrm>
            <a:prstGeom prst="rightArrow">
              <a:avLst>
                <a:gd name="adj1" fmla="val 50000"/>
                <a:gd name="adj2" fmla="val 73438"/>
              </a:avLst>
            </a:prstGeom>
            <a:solidFill>
              <a:schemeClr val="tx2">
                <a:lumMod val="20000"/>
                <a:lumOff val="80000"/>
              </a:schemeClr>
            </a:solidFill>
            <a:ln w="12700">
              <a:solidFill>
                <a:schemeClr val="tx1"/>
              </a:solidFill>
              <a:miter lim="800000"/>
              <a:headEnd/>
              <a:tailEnd/>
            </a:ln>
          </p:spPr>
          <p:txBody>
            <a:bodyPr wrap="none" anchor="ctr"/>
            <a:lstStyle/>
            <a:p>
              <a:endParaRPr lang="zh-CN" altLang="en-US"/>
            </a:p>
          </p:txBody>
        </p:sp>
      </p:grpSp>
      <p:sp>
        <p:nvSpPr>
          <p:cNvPr id="28" name="椭圆 27"/>
          <p:cNvSpPr/>
          <p:nvPr/>
        </p:nvSpPr>
        <p:spPr>
          <a:xfrm>
            <a:off x="8616951" y="4076701"/>
            <a:ext cx="142875" cy="144463"/>
          </a:xfrm>
          <a:prstGeom prst="ellipse">
            <a:avLst/>
          </a:prstGeom>
          <a:solidFill>
            <a:srgbClr val="92D05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29" name="椭圆 28"/>
          <p:cNvSpPr/>
          <p:nvPr/>
        </p:nvSpPr>
        <p:spPr>
          <a:xfrm>
            <a:off x="7824789" y="4076701"/>
            <a:ext cx="142875" cy="144463"/>
          </a:xfrm>
          <a:prstGeom prst="ellipse">
            <a:avLst/>
          </a:prstGeom>
          <a:solidFill>
            <a:srgbClr val="92D05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30" name="椭圆 29"/>
          <p:cNvSpPr/>
          <p:nvPr/>
        </p:nvSpPr>
        <p:spPr>
          <a:xfrm>
            <a:off x="7248526" y="4076701"/>
            <a:ext cx="142875" cy="144463"/>
          </a:xfrm>
          <a:prstGeom prst="ellipse">
            <a:avLst/>
          </a:prstGeom>
          <a:solidFill>
            <a:srgbClr val="92D05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Tree>
    <p:extLst>
      <p:ext uri="{BB962C8B-B14F-4D97-AF65-F5344CB8AC3E}">
        <p14:creationId xmlns:p14="http://schemas.microsoft.com/office/powerpoint/2010/main" val="28025033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2" presetClass="entr" presetSubtype="2"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slide(fromRight)">
                                      <p:cBhvr>
                                        <p:cTn id="1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灯片编号占位符 5"/>
          <p:cNvSpPr>
            <a:spLocks noGrp="1"/>
          </p:cNvSpPr>
          <p:nvPr>
            <p:ph type="sldNum" sz="quarter" idx="4294967295"/>
          </p:nvPr>
        </p:nvSpPr>
        <p:spPr>
          <a:noFill/>
        </p:spPr>
        <p:txBody>
          <a:bodyPr/>
          <a:lstStyle/>
          <a:p>
            <a:r>
              <a:rPr lang="en-US" altLang="zh-CN">
                <a:ea typeface="宋体" pitchFamily="2" charset="-122"/>
              </a:rPr>
              <a:t>8--</a:t>
            </a:r>
            <a:fld id="{FCEF04DA-ED18-4186-B56C-948FA22F8731}" type="slidenum">
              <a:rPr lang="en-US" altLang="zh-CN" smtClean="0">
                <a:ea typeface="宋体" pitchFamily="2" charset="-122"/>
              </a:rPr>
              <a:pPr/>
              <a:t>31</a:t>
            </a:fld>
            <a:endParaRPr lang="en-US" altLang="zh-CN">
              <a:ea typeface="宋体" pitchFamily="2" charset="-122"/>
            </a:endParaRPr>
          </a:p>
        </p:txBody>
      </p:sp>
      <p:sp>
        <p:nvSpPr>
          <p:cNvPr id="14340" name="Rectangle 2"/>
          <p:cNvSpPr>
            <a:spLocks noGrp="1" noChangeArrowheads="1"/>
          </p:cNvSpPr>
          <p:nvPr>
            <p:ph type="title"/>
          </p:nvPr>
        </p:nvSpPr>
        <p:spPr>
          <a:xfrm>
            <a:off x="1304927" y="479992"/>
            <a:ext cx="6403975" cy="990600"/>
          </a:xfrm>
        </p:spPr>
        <p:txBody>
          <a:bodyPr>
            <a:normAutofit/>
          </a:bodyPr>
          <a:lstStyle/>
          <a:p>
            <a:r>
              <a:rPr lang="zh-CN" altLang="en-US" sz="3600" b="1" dirty="0">
                <a:effectLst/>
              </a:rPr>
              <a:t>（五）作出检验结论</a:t>
            </a:r>
            <a:r>
              <a:rPr lang="zh-CN" altLang="en-US" sz="3100" b="1" dirty="0">
                <a:effectLst/>
              </a:rPr>
              <a:t>（续）</a:t>
            </a:r>
            <a:endParaRPr lang="zh-CN" altLang="en-US" sz="3600" b="1" dirty="0">
              <a:solidFill>
                <a:srgbClr val="0070C0"/>
              </a:solidFill>
              <a:effectLst/>
            </a:endParaRPr>
          </a:p>
        </p:txBody>
      </p:sp>
      <p:sp>
        <p:nvSpPr>
          <p:cNvPr id="463875" name="Rectangle 3"/>
          <p:cNvSpPr>
            <a:spLocks noGrp="1" noChangeArrowheads="1"/>
          </p:cNvSpPr>
          <p:nvPr>
            <p:ph type="body" idx="1"/>
          </p:nvPr>
        </p:nvSpPr>
        <p:spPr>
          <a:xfrm>
            <a:off x="1043783" y="1288545"/>
            <a:ext cx="8139112" cy="5214937"/>
          </a:xfrm>
        </p:spPr>
        <p:txBody>
          <a:bodyPr/>
          <a:lstStyle/>
          <a:p>
            <a:pPr marL="514350" lvl="1" indent="0">
              <a:lnSpc>
                <a:spcPct val="150000"/>
              </a:lnSpc>
              <a:buNone/>
            </a:pPr>
            <a:r>
              <a:rPr lang="zh-CN" altLang="en-US" dirty="0">
                <a:solidFill>
                  <a:srgbClr val="0070C0"/>
                </a:solidFill>
              </a:rPr>
              <a:t>例</a:t>
            </a:r>
            <a:r>
              <a:rPr lang="en-US" altLang="zh-CN" dirty="0">
                <a:solidFill>
                  <a:srgbClr val="0070C0"/>
                </a:solidFill>
              </a:rPr>
              <a:t>8-1</a:t>
            </a:r>
            <a:r>
              <a:rPr lang="zh-CN" altLang="en-US" dirty="0">
                <a:solidFill>
                  <a:srgbClr val="0070C0"/>
                </a:solidFill>
              </a:rPr>
              <a:t>中，</a:t>
            </a:r>
            <a:endParaRPr lang="zh-CN" altLang="en-US" dirty="0">
              <a:solidFill>
                <a:schemeClr val="tx1"/>
              </a:solidFill>
            </a:endParaRPr>
          </a:p>
          <a:p>
            <a:pPr marL="857250" lvl="2" indent="0">
              <a:lnSpc>
                <a:spcPct val="150000"/>
              </a:lnSpc>
              <a:buNone/>
            </a:pPr>
            <a:r>
              <a:rPr lang="zh-CN" altLang="en-US" sz="2800" dirty="0">
                <a:solidFill>
                  <a:schemeClr val="tx1"/>
                </a:solidFill>
              </a:rPr>
              <a:t>                                   </a:t>
            </a:r>
            <a:r>
              <a:rPr lang="en-US" altLang="zh-CN" sz="2800" i="1" dirty="0"/>
              <a:t>P </a:t>
            </a:r>
            <a:r>
              <a:rPr lang="zh-CN" altLang="en-US" sz="2800" dirty="0"/>
              <a:t>值</a:t>
            </a:r>
            <a:r>
              <a:rPr lang="en-US" altLang="zh-CN" sz="2800" dirty="0"/>
              <a:t>=0.000858</a:t>
            </a:r>
          </a:p>
          <a:p>
            <a:pPr marL="1505234" lvl="4" indent="0">
              <a:lnSpc>
                <a:spcPct val="150000"/>
              </a:lnSpc>
              <a:buNone/>
            </a:pPr>
            <a:endParaRPr lang="en-US" altLang="zh-CN" sz="1600" dirty="0"/>
          </a:p>
          <a:p>
            <a:pPr marL="514350" lvl="1" indent="0">
              <a:lnSpc>
                <a:spcPct val="150000"/>
              </a:lnSpc>
              <a:buNone/>
            </a:pPr>
            <a:r>
              <a:rPr lang="zh-CN" altLang="en-US" b="1" dirty="0">
                <a:solidFill>
                  <a:schemeClr val="tx1"/>
                </a:solidFill>
              </a:rPr>
              <a:t>结论</a:t>
            </a:r>
            <a:r>
              <a:rPr lang="zh-CN" altLang="en-US" dirty="0">
                <a:solidFill>
                  <a:schemeClr val="tx1"/>
                </a:solidFill>
              </a:rPr>
              <a:t>：</a:t>
            </a:r>
          </a:p>
          <a:p>
            <a:pPr marL="1314450" lvl="2">
              <a:lnSpc>
                <a:spcPct val="150000"/>
              </a:lnSpc>
            </a:pPr>
            <a:r>
              <a:rPr lang="en-US" altLang="zh-CN" sz="2600" b="1" dirty="0"/>
              <a:t>|Z| =3.333 ≥</a:t>
            </a:r>
            <a:r>
              <a:rPr lang="en-US" altLang="zh-CN" sz="2600" b="1" i="1" dirty="0"/>
              <a:t>Z</a:t>
            </a:r>
            <a:r>
              <a:rPr lang="en-US" altLang="zh-CN" sz="2600" b="1" i="1" baseline="-25000" dirty="0"/>
              <a:t>α/2</a:t>
            </a:r>
            <a:r>
              <a:rPr lang="en-US" altLang="zh-CN" sz="2600" b="1" dirty="0"/>
              <a:t>=3.29</a:t>
            </a:r>
            <a:r>
              <a:rPr lang="zh-CN" altLang="en-US" sz="2600" b="1" dirty="0"/>
              <a:t>，拒绝原假设</a:t>
            </a:r>
          </a:p>
          <a:p>
            <a:pPr marL="1314450" lvl="2">
              <a:lnSpc>
                <a:spcPct val="150000"/>
              </a:lnSpc>
            </a:pPr>
            <a:r>
              <a:rPr lang="zh-CN" altLang="en-US" sz="2600" b="1" dirty="0">
                <a:solidFill>
                  <a:srgbClr val="3333FF"/>
                </a:solidFill>
              </a:rPr>
              <a:t>或 ：</a:t>
            </a:r>
            <a:r>
              <a:rPr lang="en-US" altLang="zh-CN" sz="2600" b="1" i="1" dirty="0"/>
              <a:t>P </a:t>
            </a:r>
            <a:r>
              <a:rPr lang="zh-CN" altLang="en-US" sz="2600" b="1" dirty="0"/>
              <a:t>值</a:t>
            </a:r>
            <a:r>
              <a:rPr lang="en-US" altLang="zh-CN" sz="2600" b="1" dirty="0"/>
              <a:t>&lt;</a:t>
            </a:r>
            <a:r>
              <a:rPr lang="en-US" altLang="zh-CN" sz="2600" b="1" i="1" dirty="0"/>
              <a:t>α</a:t>
            </a:r>
            <a:r>
              <a:rPr lang="en-US" altLang="zh-CN" sz="2600" b="1" dirty="0"/>
              <a:t>=0.001</a:t>
            </a:r>
            <a:r>
              <a:rPr lang="zh-CN" altLang="en-US" sz="2600" b="1" dirty="0"/>
              <a:t>，同样应拒绝原假设</a:t>
            </a:r>
            <a:r>
              <a:rPr lang="zh-CN" altLang="en-US" sz="2600" dirty="0"/>
              <a:t>。</a:t>
            </a:r>
            <a:endParaRPr lang="zh-CN" altLang="en-US" sz="2600" dirty="0">
              <a:solidFill>
                <a:schemeClr val="tx1"/>
              </a:solidFill>
            </a:endParaRPr>
          </a:p>
        </p:txBody>
      </p:sp>
      <p:graphicFrame>
        <p:nvGraphicFramePr>
          <p:cNvPr id="463878" name="Object 6"/>
          <p:cNvGraphicFramePr>
            <a:graphicFrameLocks noChangeAspect="1"/>
          </p:cNvGraphicFramePr>
          <p:nvPr>
            <p:extLst>
              <p:ext uri="{D42A27DB-BD31-4B8C-83A1-F6EECF244321}">
                <p14:modId xmlns:p14="http://schemas.microsoft.com/office/powerpoint/2010/main" val="1844305404"/>
              </p:ext>
            </p:extLst>
          </p:nvPr>
        </p:nvGraphicFramePr>
        <p:xfrm>
          <a:off x="2045097" y="2054226"/>
          <a:ext cx="3024982" cy="936625"/>
        </p:xfrm>
        <a:graphic>
          <a:graphicData uri="http://schemas.openxmlformats.org/presentationml/2006/ole">
            <mc:AlternateContent xmlns:mc="http://schemas.openxmlformats.org/markup-compatibility/2006">
              <mc:Choice xmlns:v="urn:schemas-microsoft-com:vml" Requires="v">
                <p:oleObj name="公式" r:id="rId2" imgW="1562040" imgH="431640" progId="Equation.3">
                  <p:embed/>
                </p:oleObj>
              </mc:Choice>
              <mc:Fallback>
                <p:oleObj name="公式" r:id="rId2" imgW="1562040" imgH="431640" progId="Equation.3">
                  <p:embed/>
                  <p:pic>
                    <p:nvPicPr>
                      <p:cNvPr id="463878" name="Object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45097" y="2054226"/>
                        <a:ext cx="3024982" cy="936625"/>
                      </a:xfrm>
                      <a:prstGeom prst="rect">
                        <a:avLst/>
                      </a:prstGeom>
                      <a:noFill/>
                    </p:spPr>
                  </p:pic>
                </p:oleObj>
              </mc:Fallback>
            </mc:AlternateContent>
          </a:graphicData>
        </a:graphic>
      </p:graphicFrame>
    </p:spTree>
    <p:extLst>
      <p:ext uri="{BB962C8B-B14F-4D97-AF65-F5344CB8AC3E}">
        <p14:creationId xmlns:p14="http://schemas.microsoft.com/office/powerpoint/2010/main" val="6269134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463875">
                                            <p:txEl>
                                              <p:pRg st="0" end="0"/>
                                            </p:txEl>
                                          </p:spTgt>
                                        </p:tgtEl>
                                        <p:attrNameLst>
                                          <p:attrName>style.visibility</p:attrName>
                                        </p:attrNameLst>
                                      </p:cBhvr>
                                      <p:to>
                                        <p:strVal val="visible"/>
                                      </p:to>
                                    </p:set>
                                    <p:animEffect transition="in" filter="wipe(down)">
                                      <p:cBhvr>
                                        <p:cTn id="7" dur="500"/>
                                        <p:tgtEl>
                                          <p:spTgt spid="46387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63878"/>
                                        </p:tgtEl>
                                        <p:attrNameLst>
                                          <p:attrName>style.visibility</p:attrName>
                                        </p:attrNameLst>
                                      </p:cBhvr>
                                      <p:to>
                                        <p:strVal val="visible"/>
                                      </p:to>
                                    </p:set>
                                    <p:animEffect transition="in" filter="wipe(left)">
                                      <p:cBhvr>
                                        <p:cTn id="12" dur="500"/>
                                        <p:tgtEl>
                                          <p:spTgt spid="463878"/>
                                        </p:tgtEl>
                                      </p:cBhvr>
                                    </p:animEffect>
                                  </p:childTnLst>
                                </p:cTn>
                              </p:par>
                              <p:par>
                                <p:cTn id="13" presetID="22" presetClass="entr" presetSubtype="8" fill="hold" grpId="0" nodeType="withEffect">
                                  <p:stCondLst>
                                    <p:cond delay="0"/>
                                  </p:stCondLst>
                                  <p:childTnLst>
                                    <p:set>
                                      <p:cBhvr>
                                        <p:cTn id="14" dur="1" fill="hold">
                                          <p:stCondLst>
                                            <p:cond delay="0"/>
                                          </p:stCondLst>
                                        </p:cTn>
                                        <p:tgtEl>
                                          <p:spTgt spid="463875">
                                            <p:txEl>
                                              <p:pRg st="3" end="3"/>
                                            </p:txEl>
                                          </p:spTgt>
                                        </p:tgtEl>
                                        <p:attrNameLst>
                                          <p:attrName>style.visibility</p:attrName>
                                        </p:attrNameLst>
                                      </p:cBhvr>
                                      <p:to>
                                        <p:strVal val="visible"/>
                                      </p:to>
                                    </p:set>
                                    <p:animEffect transition="in" filter="wipe(left)">
                                      <p:cBhvr>
                                        <p:cTn id="15" dur="500"/>
                                        <p:tgtEl>
                                          <p:spTgt spid="463875">
                                            <p:txEl>
                                              <p:pRg st="3" end="3"/>
                                            </p:txEl>
                                          </p:spTgt>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463875">
                                            <p:txEl>
                                              <p:pRg st="4" end="4"/>
                                            </p:txEl>
                                          </p:spTgt>
                                        </p:tgtEl>
                                        <p:attrNameLst>
                                          <p:attrName>style.visibility</p:attrName>
                                        </p:attrNameLst>
                                      </p:cBhvr>
                                      <p:to>
                                        <p:strVal val="visible"/>
                                      </p:to>
                                    </p:set>
                                    <p:animEffect transition="in" filter="wipe(left)">
                                      <p:cBhvr>
                                        <p:cTn id="18" dur="500"/>
                                        <p:tgtEl>
                                          <p:spTgt spid="463875">
                                            <p:txEl>
                                              <p:pRg st="4" end="4"/>
                                            </p:txEl>
                                          </p:spTgt>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463875">
                                            <p:txEl>
                                              <p:pRg st="5" end="5"/>
                                            </p:txEl>
                                          </p:spTgt>
                                        </p:tgtEl>
                                        <p:attrNameLst>
                                          <p:attrName>style.visibility</p:attrName>
                                        </p:attrNameLst>
                                      </p:cBhvr>
                                      <p:to>
                                        <p:strVal val="visible"/>
                                      </p:to>
                                    </p:set>
                                    <p:animEffect transition="in" filter="wipe(left)">
                                      <p:cBhvr>
                                        <p:cTn id="21" dur="500"/>
                                        <p:tgtEl>
                                          <p:spTgt spid="46387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3875" grpId="0" build="p"/>
    </p:bldLst>
  </p:timing>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5778" name="灯片编号占位符 5"/>
          <p:cNvSpPr>
            <a:spLocks noGrp="1"/>
          </p:cNvSpPr>
          <p:nvPr>
            <p:ph type="sldNum" sz="quarter" idx="4294967295"/>
          </p:nvPr>
        </p:nvSpPr>
        <p:spPr>
          <a:noFill/>
        </p:spPr>
        <p:txBody>
          <a:bodyPr/>
          <a:lstStyle/>
          <a:p>
            <a:r>
              <a:rPr lang="en-US" altLang="zh-CN">
                <a:ea typeface="宋体" pitchFamily="2" charset="-122"/>
              </a:rPr>
              <a:t>8--</a:t>
            </a:r>
            <a:fld id="{7A53A6DF-B545-48AB-B1AC-481EE5F4CB2A}" type="slidenum">
              <a:rPr lang="en-US" altLang="zh-CN" smtClean="0">
                <a:ea typeface="宋体" pitchFamily="2" charset="-122"/>
              </a:rPr>
              <a:pPr/>
              <a:t>32</a:t>
            </a:fld>
            <a:endParaRPr lang="en-US" altLang="zh-CN">
              <a:ea typeface="宋体" pitchFamily="2" charset="-122"/>
            </a:endParaRPr>
          </a:p>
        </p:txBody>
      </p:sp>
      <p:sp>
        <p:nvSpPr>
          <p:cNvPr id="75779" name="Rectangle 2"/>
          <p:cNvSpPr>
            <a:spLocks noGrp="1" noChangeArrowheads="1"/>
          </p:cNvSpPr>
          <p:nvPr>
            <p:ph type="title"/>
          </p:nvPr>
        </p:nvSpPr>
        <p:spPr>
          <a:xfrm>
            <a:off x="1405891" y="511175"/>
            <a:ext cx="7772400" cy="863600"/>
          </a:xfrm>
          <a:noFill/>
        </p:spPr>
        <p:txBody>
          <a:bodyPr vert="horz" lIns="90488" tIns="44450" rIns="90488" bIns="44450" rtlCol="0" anchor="ctr" anchorCtr="1">
            <a:normAutofit/>
          </a:bodyPr>
          <a:lstStyle/>
          <a:p>
            <a:pPr eaLnBrk="1" hangingPunct="1"/>
            <a:r>
              <a:rPr lang="en-US" altLang="zh-CN" sz="4000" dirty="0"/>
              <a:t>P </a:t>
            </a:r>
            <a:r>
              <a:rPr lang="zh-CN" altLang="en-US" sz="4000" dirty="0"/>
              <a:t>值</a:t>
            </a:r>
            <a:r>
              <a:rPr lang="zh-CN" altLang="en-US" sz="3600" dirty="0"/>
              <a:t>与 </a:t>
            </a:r>
            <a:r>
              <a:rPr lang="el-GR" altLang="zh-CN" sz="3600" i="1" dirty="0">
                <a:latin typeface="Times New Roman" pitchFamily="18" charset="0"/>
                <a:cs typeface="Tahoma" pitchFamily="34" charset="0"/>
              </a:rPr>
              <a:t>α</a:t>
            </a:r>
            <a:r>
              <a:rPr lang="en-US" altLang="zh-CN" sz="3600" i="1" dirty="0">
                <a:latin typeface="Times New Roman" pitchFamily="18" charset="0"/>
                <a:cs typeface="Tahoma" pitchFamily="34" charset="0"/>
              </a:rPr>
              <a:t> </a:t>
            </a:r>
            <a:r>
              <a:rPr lang="zh-CN" altLang="en-US" sz="3600" dirty="0"/>
              <a:t>的关系</a:t>
            </a:r>
          </a:p>
        </p:txBody>
      </p:sp>
      <p:sp>
        <p:nvSpPr>
          <p:cNvPr id="75780" name="Rectangle 4"/>
          <p:cNvSpPr>
            <a:spLocks noChangeArrowheads="1"/>
          </p:cNvSpPr>
          <p:nvPr/>
        </p:nvSpPr>
        <p:spPr bwMode="auto">
          <a:xfrm>
            <a:off x="1061686" y="1374775"/>
            <a:ext cx="9104664" cy="4540250"/>
          </a:xfrm>
          <a:prstGeom prst="rect">
            <a:avLst/>
          </a:prstGeom>
          <a:noFill/>
          <a:ln w="9525">
            <a:noFill/>
            <a:miter lim="800000"/>
            <a:headEnd/>
            <a:tailEnd/>
          </a:ln>
        </p:spPr>
        <p:txBody>
          <a:bodyPr/>
          <a:lstStyle/>
          <a:p>
            <a:pPr marL="685800" lvl="1" algn="just">
              <a:lnSpc>
                <a:spcPct val="150000"/>
              </a:lnSpc>
              <a:spcBef>
                <a:spcPct val="35000"/>
              </a:spcBef>
              <a:buSzPct val="80000"/>
            </a:pPr>
            <a:r>
              <a:rPr lang="zh-CN" altLang="en-US" sz="2800" b="1" dirty="0">
                <a:solidFill>
                  <a:srgbClr val="000000"/>
                </a:solidFill>
                <a:latin typeface="Times New Roman" pitchFamily="18" charset="0"/>
                <a:ea typeface="楷体_GB2312" pitchFamily="49" charset="-122"/>
              </a:rPr>
              <a:t>       检验的显著性水平</a:t>
            </a:r>
            <a:r>
              <a:rPr lang="el-GR" altLang="zh-CN" sz="2800" b="1" dirty="0">
                <a:solidFill>
                  <a:srgbClr val="0066FF"/>
                </a:solidFill>
                <a:latin typeface="Times New Roman" pitchFamily="18" charset="0"/>
                <a:ea typeface="楷体_GB2312" pitchFamily="49" charset="-122"/>
                <a:cs typeface="Times New Roman" pitchFamily="18" charset="0"/>
              </a:rPr>
              <a:t>α</a:t>
            </a:r>
            <a:r>
              <a:rPr lang="zh-CN" altLang="en-US" sz="2800" b="1" dirty="0">
                <a:solidFill>
                  <a:srgbClr val="000000"/>
                </a:solidFill>
                <a:latin typeface="Times New Roman" pitchFamily="18" charset="0"/>
                <a:ea typeface="楷体_GB2312" pitchFamily="49" charset="-122"/>
              </a:rPr>
              <a:t>是事先设定的拒绝原假设时所犯错误的概率的最大允许值。</a:t>
            </a:r>
          </a:p>
          <a:p>
            <a:pPr marL="685800" lvl="1" algn="just">
              <a:lnSpc>
                <a:spcPct val="150000"/>
              </a:lnSpc>
              <a:spcBef>
                <a:spcPct val="35000"/>
              </a:spcBef>
              <a:buSzPct val="80000"/>
            </a:pPr>
            <a:r>
              <a:rPr lang="en-US" altLang="zh-CN" sz="2800" b="1" dirty="0">
                <a:solidFill>
                  <a:srgbClr val="0066FF"/>
                </a:solidFill>
                <a:latin typeface="Times New Roman" pitchFamily="18" charset="0"/>
                <a:ea typeface="楷体_GB2312" pitchFamily="49" charset="-122"/>
              </a:rPr>
              <a:t>     P</a:t>
            </a:r>
            <a:r>
              <a:rPr lang="zh-CN" altLang="en-US" sz="2800" b="1" dirty="0">
                <a:solidFill>
                  <a:srgbClr val="0066FF"/>
                </a:solidFill>
                <a:latin typeface="Times New Roman" pitchFamily="18" charset="0"/>
                <a:ea typeface="楷体_GB2312" pitchFamily="49" charset="-122"/>
              </a:rPr>
              <a:t>值</a:t>
            </a:r>
            <a:r>
              <a:rPr lang="zh-CN" altLang="en-US" sz="2800" b="1" dirty="0">
                <a:solidFill>
                  <a:srgbClr val="000000"/>
                </a:solidFill>
                <a:latin typeface="Times New Roman" pitchFamily="18" charset="0"/>
                <a:ea typeface="楷体_GB2312" pitchFamily="49" charset="-122"/>
              </a:rPr>
              <a:t>是根据观察样本实际计算的拒绝原假设时所犯错误的概率值。</a:t>
            </a:r>
          </a:p>
          <a:p>
            <a:pPr marL="1314450" lvl="2" indent="-228600" algn="just">
              <a:lnSpc>
                <a:spcPct val="125000"/>
              </a:lnSpc>
              <a:spcBef>
                <a:spcPct val="35000"/>
              </a:spcBef>
              <a:buSzPct val="70000"/>
              <a:buBlip>
                <a:blip r:embed="rId3"/>
              </a:buBlip>
            </a:pPr>
            <a:r>
              <a:rPr lang="en-US" altLang="zh-CN" sz="2800" b="1" dirty="0">
                <a:solidFill>
                  <a:schemeClr val="tx2"/>
                </a:solidFill>
                <a:latin typeface="Times New Roman" pitchFamily="18" charset="0"/>
                <a:ea typeface="楷体_GB2312" pitchFamily="49" charset="-122"/>
              </a:rPr>
              <a:t>P</a:t>
            </a:r>
            <a:r>
              <a:rPr lang="zh-CN" altLang="en-US" sz="2800" b="1" dirty="0">
                <a:solidFill>
                  <a:schemeClr val="tx2"/>
                </a:solidFill>
                <a:latin typeface="Times New Roman" pitchFamily="18" charset="0"/>
                <a:ea typeface="楷体_GB2312" pitchFamily="49" charset="-122"/>
              </a:rPr>
              <a:t>值</a:t>
            </a:r>
            <a:r>
              <a:rPr lang="en-US" altLang="zh-CN" sz="2800" b="1" dirty="0">
                <a:solidFill>
                  <a:srgbClr val="000000"/>
                </a:solidFill>
                <a:ea typeface="楷体_GB2312" pitchFamily="49" charset="-122"/>
              </a:rPr>
              <a:t>——</a:t>
            </a:r>
            <a:r>
              <a:rPr lang="zh-CN" altLang="en-US" sz="2800" b="1" dirty="0">
                <a:solidFill>
                  <a:srgbClr val="000000"/>
                </a:solidFill>
                <a:latin typeface="Times New Roman" pitchFamily="18" charset="0"/>
                <a:ea typeface="楷体_GB2312" pitchFamily="49" charset="-122"/>
              </a:rPr>
              <a:t>观察到的显著性水平（实测的显著性水平（</a:t>
            </a:r>
            <a:r>
              <a:rPr lang="en-US" altLang="zh-CN" sz="2800" b="1" dirty="0">
                <a:solidFill>
                  <a:srgbClr val="000000"/>
                </a:solidFill>
                <a:latin typeface="Times New Roman" pitchFamily="18" charset="0"/>
                <a:ea typeface="楷体_GB2312" pitchFamily="49" charset="-122"/>
              </a:rPr>
              <a:t>observed significant level , </a:t>
            </a:r>
            <a:r>
              <a:rPr lang="en-US" altLang="en-US" sz="2800" b="1" dirty="0" err="1">
                <a:solidFill>
                  <a:srgbClr val="000000"/>
                </a:solidFill>
                <a:latin typeface="Times New Roman" pitchFamily="18" charset="0"/>
                <a:ea typeface="楷体_GB2312" pitchFamily="49" charset="-122"/>
              </a:rPr>
              <a:t>缩写</a:t>
            </a:r>
            <a:r>
              <a:rPr lang="en-US" altLang="en-US" sz="2800" b="1" dirty="0" err="1">
                <a:solidFill>
                  <a:srgbClr val="000000"/>
                </a:solidFill>
                <a:ea typeface="楷体_GB2312" pitchFamily="49" charset="-122"/>
              </a:rPr>
              <a:t>“</a:t>
            </a:r>
            <a:r>
              <a:rPr lang="en-US" altLang="en-US" sz="2800" b="1" dirty="0" err="1">
                <a:solidFill>
                  <a:srgbClr val="CC0099"/>
                </a:solidFill>
                <a:latin typeface="Times New Roman" pitchFamily="18" charset="0"/>
                <a:ea typeface="楷体_GB2312" pitchFamily="49" charset="-122"/>
              </a:rPr>
              <a:t>Sig</a:t>
            </a:r>
            <a:r>
              <a:rPr lang="en-US" altLang="en-US" sz="2800" b="1" dirty="0">
                <a:solidFill>
                  <a:srgbClr val="000000"/>
                </a:solidFill>
                <a:ea typeface="楷体_GB2312" pitchFamily="49" charset="-122"/>
              </a:rPr>
              <a:t>”</a:t>
            </a:r>
            <a:r>
              <a:rPr lang="en-US" altLang="zh-CN" sz="2800" b="1" dirty="0">
                <a:solidFill>
                  <a:srgbClr val="000000"/>
                </a:solidFill>
                <a:latin typeface="Times New Roman" pitchFamily="18" charset="0"/>
                <a:ea typeface="楷体_GB2312" pitchFamily="49" charset="-122"/>
              </a:rPr>
              <a:t>)</a:t>
            </a:r>
            <a:r>
              <a:rPr lang="zh-CN" altLang="en-US" sz="2800" b="1" dirty="0">
                <a:solidFill>
                  <a:srgbClr val="000000"/>
                </a:solidFill>
                <a:latin typeface="Times New Roman" pitchFamily="18" charset="0"/>
                <a:ea typeface="楷体_GB2312" pitchFamily="49" charset="-122"/>
              </a:rPr>
              <a:t>；</a:t>
            </a:r>
          </a:p>
          <a:p>
            <a:pPr marL="1314450" lvl="2" indent="-228600" algn="just">
              <a:lnSpc>
                <a:spcPct val="125000"/>
              </a:lnSpc>
              <a:spcBef>
                <a:spcPct val="35000"/>
              </a:spcBef>
              <a:buSzPct val="70000"/>
              <a:buBlip>
                <a:blip r:embed="rId3"/>
              </a:buBlip>
            </a:pPr>
            <a:r>
              <a:rPr lang="en-US" altLang="zh-CN" sz="2800" b="1" dirty="0">
                <a:solidFill>
                  <a:schemeClr val="tx2"/>
                </a:solidFill>
                <a:latin typeface="Times New Roman" pitchFamily="18" charset="0"/>
                <a:ea typeface="楷体_GB2312" pitchFamily="49" charset="-122"/>
              </a:rPr>
              <a:t>P</a:t>
            </a:r>
            <a:r>
              <a:rPr lang="zh-CN" altLang="en-US" sz="2800" b="1" dirty="0">
                <a:solidFill>
                  <a:schemeClr val="tx2"/>
                </a:solidFill>
                <a:latin typeface="Times New Roman" pitchFamily="18" charset="0"/>
                <a:ea typeface="楷体_GB2312" pitchFamily="49" charset="-122"/>
              </a:rPr>
              <a:t>值</a:t>
            </a:r>
            <a:r>
              <a:rPr lang="en-US" altLang="zh-CN" sz="2800" b="1" dirty="0">
                <a:solidFill>
                  <a:srgbClr val="000000"/>
                </a:solidFill>
                <a:ea typeface="楷体_GB2312" pitchFamily="49" charset="-122"/>
              </a:rPr>
              <a:t>——</a:t>
            </a:r>
            <a:r>
              <a:rPr lang="zh-CN" altLang="en-US" sz="2800" b="1" dirty="0">
                <a:solidFill>
                  <a:srgbClr val="000000"/>
                </a:solidFill>
                <a:ea typeface="楷体_GB2312" pitchFamily="49" charset="-122"/>
              </a:rPr>
              <a:t>也是</a:t>
            </a:r>
            <a:r>
              <a:rPr lang="zh-CN" altLang="en-US" sz="2800" b="1" dirty="0">
                <a:solidFill>
                  <a:srgbClr val="000000"/>
                </a:solidFill>
                <a:latin typeface="Times New Roman" pitchFamily="18" charset="0"/>
                <a:ea typeface="楷体_GB2312" pitchFamily="49" charset="-122"/>
              </a:rPr>
              <a:t>拒绝原假设的最小显著性水平。</a:t>
            </a:r>
            <a:endParaRPr lang="zh-CN" altLang="en-US" sz="2800" b="1" dirty="0">
              <a:solidFill>
                <a:srgbClr val="000000"/>
              </a:solidFill>
              <a:latin typeface="Times New Roman" pitchFamily="18" charset="0"/>
              <a:cs typeface="Times New Roman" pitchFamily="18" charset="0"/>
            </a:endParaRPr>
          </a:p>
        </p:txBody>
      </p:sp>
    </p:spTree>
    <p:extLst>
      <p:ext uri="{BB962C8B-B14F-4D97-AF65-F5344CB8AC3E}">
        <p14:creationId xmlns:p14="http://schemas.microsoft.com/office/powerpoint/2010/main" val="69703655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灯片编号占位符 5"/>
          <p:cNvSpPr>
            <a:spLocks noGrp="1"/>
          </p:cNvSpPr>
          <p:nvPr>
            <p:ph type="sldNum" sz="quarter" idx="4294967295"/>
          </p:nvPr>
        </p:nvSpPr>
        <p:spPr>
          <a:noFill/>
        </p:spPr>
        <p:txBody>
          <a:bodyPr/>
          <a:lstStyle/>
          <a:p>
            <a:r>
              <a:rPr lang="en-US" altLang="zh-CN">
                <a:ea typeface="宋体" pitchFamily="2" charset="-122"/>
              </a:rPr>
              <a:t>8--</a:t>
            </a:r>
            <a:fld id="{EE0FF1E2-D847-4E3D-993B-E85725E40594}" type="slidenum">
              <a:rPr lang="en-US" altLang="zh-CN" smtClean="0">
                <a:ea typeface="宋体" pitchFamily="2" charset="-122"/>
              </a:rPr>
              <a:pPr/>
              <a:t>33</a:t>
            </a:fld>
            <a:endParaRPr lang="en-US" altLang="zh-CN">
              <a:ea typeface="宋体" pitchFamily="2" charset="-122"/>
            </a:endParaRPr>
          </a:p>
        </p:txBody>
      </p:sp>
      <p:graphicFrame>
        <p:nvGraphicFramePr>
          <p:cNvPr id="11266" name="Object 3"/>
          <p:cNvGraphicFramePr>
            <a:graphicFrameLocks noGrp="1" noChangeAspect="1"/>
          </p:cNvGraphicFramePr>
          <p:nvPr>
            <p:ph idx="1"/>
            <p:extLst>
              <p:ext uri="{D42A27DB-BD31-4B8C-83A1-F6EECF244321}">
                <p14:modId xmlns:p14="http://schemas.microsoft.com/office/powerpoint/2010/main" val="2472305441"/>
              </p:ext>
            </p:extLst>
          </p:nvPr>
        </p:nvGraphicFramePr>
        <p:xfrm>
          <a:off x="2471058" y="642819"/>
          <a:ext cx="7105421" cy="5091231"/>
        </p:xfrm>
        <a:graphic>
          <a:graphicData uri="http://schemas.openxmlformats.org/presentationml/2006/ole">
            <mc:AlternateContent xmlns:mc="http://schemas.openxmlformats.org/markup-compatibility/2006">
              <mc:Choice xmlns:v="urn:schemas-microsoft-com:vml" Requires="v">
                <p:oleObj name="位图图像" r:id="rId2" imgW="3809524" imgH="4076190" progId="PBrush">
                  <p:embed/>
                </p:oleObj>
              </mc:Choice>
              <mc:Fallback>
                <p:oleObj name="位图图像" r:id="rId2" imgW="3809524" imgH="4076190" progId="PBrush">
                  <p:embed/>
                  <p:pic>
                    <p:nvPicPr>
                      <p:cNvPr id="11266"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71058" y="642819"/>
                        <a:ext cx="7105421" cy="5091231"/>
                      </a:xfrm>
                      <a:prstGeom prst="rect">
                        <a:avLst/>
                      </a:prstGeom>
                      <a:noFill/>
                      <a:ln>
                        <a:noFill/>
                      </a:ln>
                      <a:effectLst/>
                    </p:spPr>
                  </p:pic>
                </p:oleObj>
              </mc:Fallback>
            </mc:AlternateContent>
          </a:graphicData>
        </a:graphic>
      </p:graphicFrame>
      <p:sp>
        <p:nvSpPr>
          <p:cNvPr id="11269" name="Rectangle 4"/>
          <p:cNvSpPr>
            <a:spLocks noChangeArrowheads="1"/>
          </p:cNvSpPr>
          <p:nvPr/>
        </p:nvSpPr>
        <p:spPr bwMode="auto">
          <a:xfrm>
            <a:off x="1919288" y="5734050"/>
            <a:ext cx="8208962" cy="528638"/>
          </a:xfrm>
          <a:prstGeom prst="rect">
            <a:avLst/>
          </a:prstGeom>
          <a:solidFill>
            <a:schemeClr val="accent2">
              <a:lumMod val="20000"/>
              <a:lumOff val="80000"/>
            </a:schemeClr>
          </a:solidFill>
          <a:ln w="9525">
            <a:solidFill>
              <a:srgbClr val="FF00FF"/>
            </a:solidFill>
            <a:miter lim="800000"/>
            <a:headEnd/>
            <a:tailEnd/>
          </a:ln>
        </p:spPr>
        <p:txBody>
          <a:bodyPr>
            <a:spAutoFit/>
          </a:bodyPr>
          <a:lstStyle/>
          <a:p>
            <a:r>
              <a:rPr lang="en-US" altLang="zh-CN" sz="2800" b="1">
                <a:solidFill>
                  <a:srgbClr val="FF0066"/>
                </a:solidFill>
              </a:rPr>
              <a:t>“</a:t>
            </a:r>
            <a:r>
              <a:rPr lang="zh-CN" altLang="en-US" sz="2800" b="1">
                <a:solidFill>
                  <a:srgbClr val="FF0066"/>
                </a:solidFill>
              </a:rPr>
              <a:t>统计量的实现值比临界值更极端”＝“</a:t>
            </a:r>
            <a:r>
              <a:rPr lang="en-US" altLang="zh-CN" sz="2800" b="1" i="1">
                <a:solidFill>
                  <a:srgbClr val="FF0066"/>
                </a:solidFill>
              </a:rPr>
              <a:t>p</a:t>
            </a:r>
            <a:r>
              <a:rPr lang="zh-CN" altLang="en-US" sz="2800" b="1">
                <a:solidFill>
                  <a:srgbClr val="FF0066"/>
                </a:solidFill>
              </a:rPr>
              <a:t>值小于</a:t>
            </a:r>
            <a:r>
              <a:rPr lang="el-GR" altLang="zh-CN" sz="2800" b="1" i="1">
                <a:solidFill>
                  <a:srgbClr val="FF0066"/>
                </a:solidFill>
                <a:cs typeface="Arial" pitchFamily="34" charset="0"/>
              </a:rPr>
              <a:t>α</a:t>
            </a:r>
            <a:r>
              <a:rPr lang="en-US" altLang="zh-CN" sz="2800" b="1" i="1">
                <a:solidFill>
                  <a:srgbClr val="FF0066"/>
                </a:solidFill>
                <a:cs typeface="Arial" pitchFamily="34" charset="0"/>
              </a:rPr>
              <a:t>”</a:t>
            </a:r>
            <a:endParaRPr lang="en-US" altLang="el-GR" sz="2800" b="1" i="1">
              <a:solidFill>
                <a:srgbClr val="FF0066"/>
              </a:solidFill>
              <a:cs typeface="Arial" pitchFamily="34" charset="0"/>
            </a:endParaRPr>
          </a:p>
        </p:txBody>
      </p:sp>
      <p:sp>
        <p:nvSpPr>
          <p:cNvPr id="11268" name="Rectangle 2"/>
          <p:cNvSpPr>
            <a:spLocks noGrp="1" noChangeArrowheads="1"/>
          </p:cNvSpPr>
          <p:nvPr>
            <p:ph type="title"/>
          </p:nvPr>
        </p:nvSpPr>
        <p:spPr>
          <a:xfrm>
            <a:off x="1919287" y="286387"/>
            <a:ext cx="6410051" cy="662782"/>
          </a:xfrm>
        </p:spPr>
        <p:txBody>
          <a:bodyPr/>
          <a:lstStyle/>
          <a:p>
            <a:pPr eaLnBrk="1" hangingPunct="1"/>
            <a:r>
              <a:rPr lang="en-US" altLang="zh-CN" sz="4000" b="1" dirty="0">
                <a:effectLst/>
              </a:rPr>
              <a:t>P</a:t>
            </a:r>
            <a:r>
              <a:rPr lang="zh-CN" altLang="en-US" sz="4000" b="1" dirty="0">
                <a:effectLst/>
              </a:rPr>
              <a:t>值与</a:t>
            </a:r>
            <a:r>
              <a:rPr lang="el-GR" altLang="zh-CN" sz="4000" b="1" i="1" dirty="0">
                <a:effectLst/>
                <a:latin typeface="Times New Roman" pitchFamily="18" charset="0"/>
                <a:cs typeface="Tahoma" pitchFamily="34" charset="0"/>
              </a:rPr>
              <a:t>α</a:t>
            </a:r>
            <a:r>
              <a:rPr lang="zh-CN" altLang="en-US" sz="4000" b="1" dirty="0">
                <a:effectLst/>
              </a:rPr>
              <a:t>的关系（图）</a:t>
            </a:r>
          </a:p>
        </p:txBody>
      </p:sp>
    </p:spTree>
    <p:extLst>
      <p:ext uri="{BB962C8B-B14F-4D97-AF65-F5344CB8AC3E}">
        <p14:creationId xmlns:p14="http://schemas.microsoft.com/office/powerpoint/2010/main" val="415903356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08230" name="Group 6"/>
          <p:cNvGraphicFramePr>
            <a:graphicFrameLocks noGrp="1"/>
          </p:cNvGraphicFramePr>
          <p:nvPr>
            <p:extLst>
              <p:ext uri="{D42A27DB-BD31-4B8C-83A1-F6EECF244321}">
                <p14:modId xmlns:p14="http://schemas.microsoft.com/office/powerpoint/2010/main" val="459061747"/>
              </p:ext>
            </p:extLst>
          </p:nvPr>
        </p:nvGraphicFramePr>
        <p:xfrm>
          <a:off x="2166938" y="1616407"/>
          <a:ext cx="7500990" cy="4694936"/>
        </p:xfrm>
        <a:graphic>
          <a:graphicData uri="http://schemas.openxmlformats.org/drawingml/2006/table">
            <a:tbl>
              <a:tblPr/>
              <a:tblGrid>
                <a:gridCol w="2626008">
                  <a:extLst>
                    <a:ext uri="{9D8B030D-6E8A-4147-A177-3AD203B41FA5}">
                      <a16:colId xmlns:a16="http://schemas.microsoft.com/office/drawing/2014/main" val="20000"/>
                    </a:ext>
                  </a:extLst>
                </a:gridCol>
                <a:gridCol w="2549940">
                  <a:extLst>
                    <a:ext uri="{9D8B030D-6E8A-4147-A177-3AD203B41FA5}">
                      <a16:colId xmlns:a16="http://schemas.microsoft.com/office/drawing/2014/main" val="20001"/>
                    </a:ext>
                  </a:extLst>
                </a:gridCol>
                <a:gridCol w="2325042">
                  <a:extLst>
                    <a:ext uri="{9D8B030D-6E8A-4147-A177-3AD203B41FA5}">
                      <a16:colId xmlns:a16="http://schemas.microsoft.com/office/drawing/2014/main" val="20002"/>
                    </a:ext>
                  </a:extLst>
                </a:gridCol>
              </a:tblGrid>
              <a:tr h="492125">
                <a:tc gridSpan="3">
                  <a:txBody>
                    <a:bodyPr/>
                    <a:lstStyle/>
                    <a:p>
                      <a:pPr marL="0" marR="0" lvl="0" indent="0" algn="l" defTabSz="914400" rtl="0" eaLnBrk="1" fontAlgn="base" latinLnBrk="0" hangingPunct="1">
                        <a:lnSpc>
                          <a:spcPct val="100000"/>
                        </a:lnSpc>
                        <a:spcBef>
                          <a:spcPct val="20000"/>
                        </a:spcBef>
                        <a:spcAft>
                          <a:spcPct val="0"/>
                        </a:spcAft>
                        <a:buClrTx/>
                        <a:buSzPct val="90000"/>
                        <a:buFontTx/>
                        <a:buNone/>
                        <a:tabLst/>
                      </a:pPr>
                      <a:r>
                        <a:rPr kumimoji="0" lang="zh-CN" altLang="en-US" sz="2800" b="1" i="0" u="none" strike="noStrike" cap="none" normalizeH="0" baseline="0" dirty="0">
                          <a:ln>
                            <a:noFill/>
                          </a:ln>
                          <a:solidFill>
                            <a:schemeClr val="tx2"/>
                          </a:solidFill>
                          <a:effectLst/>
                          <a:latin typeface="宋体" charset="-122"/>
                          <a:ea typeface="宋体" charset="-122"/>
                        </a:rPr>
                        <a:t> 表</a:t>
                      </a:r>
                      <a:r>
                        <a:rPr kumimoji="0" lang="en-US" altLang="zh-CN" sz="2800" b="1" i="0" u="none" strike="noStrike" cap="none" normalizeH="0" baseline="0" dirty="0">
                          <a:ln>
                            <a:noFill/>
                          </a:ln>
                          <a:solidFill>
                            <a:schemeClr val="tx2"/>
                          </a:solidFill>
                          <a:effectLst/>
                          <a:latin typeface="宋体" charset="-122"/>
                          <a:ea typeface="宋体" charset="-122"/>
                        </a:rPr>
                        <a:t>8</a:t>
                      </a:r>
                      <a:r>
                        <a:rPr kumimoji="0" lang="zh-CN" altLang="en-US" sz="2800" b="1" i="0" u="none" strike="noStrike" cap="none" normalizeH="0" baseline="0" dirty="0">
                          <a:ln>
                            <a:noFill/>
                          </a:ln>
                          <a:solidFill>
                            <a:schemeClr val="tx2"/>
                          </a:solidFill>
                          <a:effectLst/>
                          <a:latin typeface="宋体" charset="-122"/>
                          <a:ea typeface="宋体" charset="-122"/>
                        </a:rPr>
                        <a:t>－</a:t>
                      </a:r>
                      <a:r>
                        <a:rPr kumimoji="0" lang="en-US" altLang="zh-CN" sz="2800" b="1" i="0" u="none" strike="noStrike" cap="none" normalizeH="0" baseline="0" dirty="0">
                          <a:ln>
                            <a:noFill/>
                          </a:ln>
                          <a:solidFill>
                            <a:schemeClr val="tx2"/>
                          </a:solidFill>
                          <a:effectLst/>
                          <a:latin typeface="宋体" charset="-122"/>
                          <a:ea typeface="宋体" charset="-122"/>
                        </a:rPr>
                        <a:t>1</a:t>
                      </a:r>
                      <a:endParaRPr kumimoji="0" lang="en-US" altLang="zh-CN" sz="2800" b="1" i="0" u="none" strike="noStrike" cap="none" normalizeH="0" baseline="-25000" dirty="0">
                        <a:ln>
                          <a:noFill/>
                        </a:ln>
                        <a:solidFill>
                          <a:schemeClr val="tx2"/>
                        </a:solidFill>
                        <a:effectLst/>
                        <a:latin typeface="Tahoma" pitchFamily="34" charset="0"/>
                        <a:ea typeface="宋体" charset="-122"/>
                      </a:endParaRPr>
                    </a:p>
                  </a:txBody>
                  <a:tcPr anchor="ctr" horzOverflow="overflow">
                    <a:lnL cap="flat">
                      <a:noFill/>
                    </a:lnL>
                    <a:lnR cap="flat">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0"/>
                  </a:ext>
                </a:extLst>
              </a:tr>
              <a:tr h="1092200">
                <a:tc>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zh-CN" sz="2800" b="1" i="0" u="none" strike="noStrike" cap="none" normalizeH="0" baseline="0" dirty="0">
                          <a:ln>
                            <a:noFill/>
                          </a:ln>
                          <a:solidFill>
                            <a:srgbClr val="FF0066"/>
                          </a:solidFill>
                          <a:effectLst/>
                          <a:latin typeface="宋体" charset="-122"/>
                          <a:ea typeface="宋体" charset="-122"/>
                        </a:rPr>
                        <a:t>     </a:t>
                      </a:r>
                      <a:r>
                        <a:rPr kumimoji="0" lang="zh-CN" altLang="en-US" sz="2800" b="1" i="0" u="none" strike="noStrike" cap="none" normalizeH="0" baseline="0" dirty="0">
                          <a:ln>
                            <a:noFill/>
                          </a:ln>
                          <a:solidFill>
                            <a:srgbClr val="FF0066"/>
                          </a:solidFill>
                          <a:effectLst/>
                          <a:latin typeface="宋体" charset="-122"/>
                          <a:ea typeface="宋体" charset="-122"/>
                        </a:rPr>
                        <a:t>实际情况</a:t>
                      </a:r>
                      <a:endParaRPr kumimoji="0" lang="en-US" altLang="zh-CN" sz="2800" b="1" i="0" u="none" strike="noStrike" cap="none" normalizeH="0" baseline="0" dirty="0">
                        <a:ln>
                          <a:noFill/>
                        </a:ln>
                        <a:solidFill>
                          <a:srgbClr val="FF0066"/>
                        </a:solidFill>
                        <a:effectLst/>
                        <a:latin typeface="宋体" charset="-122"/>
                        <a:ea typeface="宋体" charset="-122"/>
                      </a:endParaRPr>
                    </a:p>
                    <a:p>
                      <a:pPr marL="0" marR="0" lvl="0" indent="0" algn="l" defTabSz="914400" rtl="0" eaLnBrk="1" fontAlgn="base" latinLnBrk="0" hangingPunct="1">
                        <a:lnSpc>
                          <a:spcPct val="100000"/>
                        </a:lnSpc>
                        <a:spcBef>
                          <a:spcPct val="20000"/>
                        </a:spcBef>
                        <a:spcAft>
                          <a:spcPct val="0"/>
                        </a:spcAft>
                        <a:buClrTx/>
                        <a:buSzPct val="90000"/>
                        <a:buFontTx/>
                        <a:buNone/>
                        <a:tabLst/>
                      </a:pPr>
                      <a:r>
                        <a:rPr kumimoji="0" lang="zh-CN" altLang="en-US" sz="2800" b="1" i="0" u="none" strike="noStrike" cap="none" normalizeH="0" baseline="0" dirty="0">
                          <a:ln>
                            <a:noFill/>
                          </a:ln>
                          <a:solidFill>
                            <a:srgbClr val="CC0099"/>
                          </a:solidFill>
                          <a:effectLst/>
                          <a:latin typeface="Tahoma" pitchFamily="34" charset="0"/>
                          <a:ea typeface="宋体" charset="-122"/>
                        </a:rPr>
                        <a:t>决策</a:t>
                      </a:r>
                      <a:r>
                        <a:rPr kumimoji="0" lang="en-US" altLang="zh-CN" sz="2400" b="0" i="0" u="none" strike="noStrike" cap="none" normalizeH="0" baseline="0" dirty="0">
                          <a:ln>
                            <a:noFill/>
                          </a:ln>
                          <a:solidFill>
                            <a:srgbClr val="CC0099"/>
                          </a:solidFill>
                          <a:effectLst/>
                          <a:latin typeface="Tahoma" pitchFamily="34" charset="0"/>
                          <a:ea typeface="宋体" charset="-122"/>
                        </a:rPr>
                        <a:t>(</a:t>
                      </a:r>
                      <a:r>
                        <a:rPr kumimoji="0" lang="zh-CN" altLang="en-US" sz="2400" b="1" i="0" u="none" strike="noStrike" cap="none" normalizeH="0" baseline="0" dirty="0">
                          <a:ln>
                            <a:noFill/>
                          </a:ln>
                          <a:solidFill>
                            <a:srgbClr val="CC0099"/>
                          </a:solidFill>
                          <a:effectLst/>
                          <a:latin typeface="Tahoma" pitchFamily="34" charset="0"/>
                          <a:ea typeface="宋体" charset="-122"/>
                        </a:rPr>
                        <a:t>结论</a:t>
                      </a:r>
                      <a:r>
                        <a:rPr kumimoji="0" lang="en-US" altLang="zh-CN" sz="2400" b="0" i="0" u="none" strike="noStrike" cap="none" normalizeH="0" baseline="0" dirty="0">
                          <a:ln>
                            <a:noFill/>
                          </a:ln>
                          <a:solidFill>
                            <a:srgbClr val="CC0099"/>
                          </a:solidFill>
                          <a:effectLst/>
                          <a:latin typeface="Tahoma" pitchFamily="34" charset="0"/>
                          <a:ea typeface="宋体" charset="-122"/>
                        </a:rPr>
                        <a:t>)</a:t>
                      </a:r>
                      <a:endParaRPr kumimoji="0" lang="zh-CN" altLang="en-US" sz="2800" b="0" i="0" u="none" strike="noStrike" cap="none" normalizeH="0" baseline="0" dirty="0">
                        <a:ln>
                          <a:noFill/>
                        </a:ln>
                        <a:solidFill>
                          <a:srgbClr val="CC0099"/>
                        </a:solidFill>
                        <a:effectLst/>
                        <a:latin typeface="Tahoma" pitchFamily="34" charset="0"/>
                        <a:ea typeface="宋体" charset="-122"/>
                      </a:endParaRPr>
                    </a:p>
                  </a:txBody>
                  <a:tcPr marL="0"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solidFill>
                        <a:schemeClr val="tx1"/>
                      </a:solidFill>
                      <a:prstDash val="solid"/>
                      <a:round/>
                      <a:headEnd type="none" w="med" len="med"/>
                      <a:tailEnd type="none" w="med" len="med"/>
                    </a:lnTlToBr>
                    <a:lnBlToTr>
                      <a:noFill/>
                    </a:lnBlToTr>
                    <a:solidFill>
                      <a:schemeClr val="bg1">
                        <a:lumMod val="95000"/>
                      </a:schemeClr>
                    </a:solidFill>
                  </a:tcPr>
                </a:tc>
                <a:tc>
                  <a:txBody>
                    <a:bodyPr/>
                    <a:lstStyle/>
                    <a:p>
                      <a:pPr marL="0" marR="0" lvl="0" indent="0" algn="ctr" defTabSz="914400" rtl="0" eaLnBrk="1" fontAlgn="t" latinLnBrk="0" hangingPunct="1">
                        <a:lnSpc>
                          <a:spcPct val="100000"/>
                        </a:lnSpc>
                        <a:spcBef>
                          <a:spcPct val="20000"/>
                        </a:spcBef>
                        <a:spcAft>
                          <a:spcPct val="0"/>
                        </a:spcAft>
                        <a:buClrTx/>
                        <a:buSzPct val="90000"/>
                        <a:buFontTx/>
                        <a:buNone/>
                        <a:tabLst/>
                      </a:pPr>
                      <a:r>
                        <a:rPr kumimoji="0" lang="en-US" altLang="zh-CN" sz="3200" b="1" i="1" u="none" strike="noStrike" cap="none" normalizeH="0" baseline="0" dirty="0">
                          <a:ln>
                            <a:noFill/>
                          </a:ln>
                          <a:solidFill>
                            <a:srgbClr val="FF0066"/>
                          </a:solidFill>
                          <a:effectLst/>
                          <a:latin typeface="Times New Roman" pitchFamily="18" charset="0"/>
                          <a:ea typeface="宋体" charset="-122"/>
                          <a:cs typeface="Times New Roman" pitchFamily="18" charset="0"/>
                        </a:rPr>
                        <a:t>H</a:t>
                      </a:r>
                      <a:r>
                        <a:rPr kumimoji="0" lang="en-US" altLang="zh-CN" sz="3200" b="1" i="0" u="none" strike="noStrike" cap="none" normalizeH="0" baseline="-25000" dirty="0">
                          <a:ln>
                            <a:noFill/>
                          </a:ln>
                          <a:solidFill>
                            <a:srgbClr val="FF0066"/>
                          </a:solidFill>
                          <a:effectLst/>
                          <a:latin typeface="Tahoma" pitchFamily="34" charset="0"/>
                          <a:ea typeface="宋体" charset="-122"/>
                        </a:rPr>
                        <a:t>0</a:t>
                      </a:r>
                      <a:r>
                        <a:rPr kumimoji="0" lang="zh-CN" altLang="en-US" sz="3200" b="1" i="0" u="none" strike="noStrike" cap="none" normalizeH="0" baseline="0" dirty="0">
                          <a:ln>
                            <a:noFill/>
                          </a:ln>
                          <a:solidFill>
                            <a:srgbClr val="FF0066"/>
                          </a:solidFill>
                          <a:effectLst/>
                          <a:latin typeface="Tahoma" pitchFamily="34" charset="0"/>
                          <a:ea typeface="宋体" charset="-122"/>
                        </a:rPr>
                        <a:t>为真</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20000"/>
                        <a:lumOff val="80000"/>
                      </a:schemeClr>
                    </a:solidFill>
                  </a:tcPr>
                </a:tc>
                <a:tc>
                  <a:txBody>
                    <a:bodyPr/>
                    <a:lstStyle/>
                    <a:p>
                      <a:pPr marL="0" marR="0" lvl="0" indent="0" algn="ctr" defTabSz="914400" rtl="0" eaLnBrk="1" fontAlgn="t" latinLnBrk="0" hangingPunct="1">
                        <a:lnSpc>
                          <a:spcPct val="100000"/>
                        </a:lnSpc>
                        <a:spcBef>
                          <a:spcPct val="20000"/>
                        </a:spcBef>
                        <a:spcAft>
                          <a:spcPct val="0"/>
                        </a:spcAft>
                        <a:buClrTx/>
                        <a:buSzPct val="90000"/>
                        <a:buFontTx/>
                        <a:buNone/>
                        <a:tabLst/>
                      </a:pPr>
                      <a:r>
                        <a:rPr kumimoji="0" lang="en-US" altLang="zh-CN" sz="3200" b="1" i="1" u="none" strike="noStrike" kern="1200" cap="none" normalizeH="0" baseline="0" dirty="0">
                          <a:ln>
                            <a:noFill/>
                          </a:ln>
                          <a:solidFill>
                            <a:srgbClr val="FF0066"/>
                          </a:solidFill>
                          <a:effectLst/>
                          <a:latin typeface="Times New Roman" pitchFamily="18" charset="0"/>
                          <a:ea typeface="宋体" charset="-122"/>
                          <a:cs typeface="Times New Roman" pitchFamily="18" charset="0"/>
                        </a:rPr>
                        <a:t>H</a:t>
                      </a:r>
                      <a:r>
                        <a:rPr kumimoji="0" lang="en-US" altLang="zh-CN" sz="3200" b="1" i="0" u="none" strike="noStrike" cap="none" normalizeH="0" baseline="-25000" dirty="0">
                          <a:ln>
                            <a:noFill/>
                          </a:ln>
                          <a:solidFill>
                            <a:srgbClr val="FF0066"/>
                          </a:solidFill>
                          <a:effectLst/>
                          <a:latin typeface="Tahoma" pitchFamily="34" charset="0"/>
                          <a:ea typeface="宋体" charset="-122"/>
                        </a:rPr>
                        <a:t>0</a:t>
                      </a:r>
                      <a:r>
                        <a:rPr kumimoji="0" lang="zh-CN" altLang="en-US" sz="3200" b="1" i="0" u="none" strike="noStrike" cap="none" normalizeH="0" baseline="0" dirty="0">
                          <a:ln>
                            <a:noFill/>
                          </a:ln>
                          <a:solidFill>
                            <a:srgbClr val="FF0066"/>
                          </a:solidFill>
                          <a:effectLst/>
                          <a:latin typeface="Tahoma" pitchFamily="34" charset="0"/>
                          <a:ea typeface="宋体" charset="-122"/>
                        </a:rPr>
                        <a:t>为不真</a:t>
                      </a:r>
                    </a:p>
                  </a:txBody>
                  <a:tcPr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20000"/>
                        <a:lumOff val="80000"/>
                      </a:schemeClr>
                    </a:solidFill>
                  </a:tcPr>
                </a:tc>
                <a:extLst>
                  <a:ext uri="{0D108BD9-81ED-4DB2-BD59-A6C34878D82A}">
                    <a16:rowId xmlns:a16="http://schemas.microsoft.com/office/drawing/2014/main" val="10001"/>
                  </a:ext>
                </a:extLst>
              </a:tr>
              <a:tr h="1116013">
                <a:tc>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zh-CN" altLang="en-US" sz="2800" b="1" i="0" u="none" strike="noStrike" cap="none" normalizeH="0" baseline="0" dirty="0">
                          <a:ln>
                            <a:noFill/>
                          </a:ln>
                          <a:solidFill>
                            <a:srgbClr val="CC0099"/>
                          </a:solidFill>
                          <a:effectLst/>
                          <a:latin typeface="Tahoma" pitchFamily="34" charset="0"/>
                          <a:ea typeface="宋体" charset="-122"/>
                        </a:rPr>
                        <a:t>拒绝</a:t>
                      </a:r>
                      <a:r>
                        <a:rPr kumimoji="0" lang="en-US" altLang="zh-CN" sz="2800" b="1" i="1" u="none" strike="noStrike" cap="none" normalizeH="0" baseline="0" dirty="0">
                          <a:ln>
                            <a:noFill/>
                          </a:ln>
                          <a:solidFill>
                            <a:srgbClr val="CC0099"/>
                          </a:solidFill>
                          <a:effectLst/>
                          <a:latin typeface="Times New Roman" pitchFamily="18" charset="0"/>
                          <a:ea typeface="宋体" charset="-122"/>
                          <a:cs typeface="Times New Roman" pitchFamily="18" charset="0"/>
                        </a:rPr>
                        <a:t>H</a:t>
                      </a:r>
                      <a:r>
                        <a:rPr kumimoji="0" lang="en-US" altLang="zh-CN" sz="2800" b="1" i="0" u="none" strike="noStrike" cap="none" normalizeH="0" baseline="-25000" dirty="0">
                          <a:ln>
                            <a:noFill/>
                          </a:ln>
                          <a:solidFill>
                            <a:srgbClr val="CC0099"/>
                          </a:solidFill>
                          <a:effectLst/>
                          <a:latin typeface="Tahoma" pitchFamily="34" charset="0"/>
                          <a:ea typeface="宋体" charset="-122"/>
                        </a:rPr>
                        <a:t>0</a:t>
                      </a:r>
                    </a:p>
                  </a:txBody>
                  <a:tcPr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zh-CN" altLang="en-US" sz="2800" b="1" i="0" u="none" strike="noStrike" cap="none" normalizeH="0" baseline="0" dirty="0">
                          <a:ln>
                            <a:noFill/>
                          </a:ln>
                          <a:solidFill>
                            <a:srgbClr val="C00000"/>
                          </a:solidFill>
                          <a:effectLst/>
                          <a:latin typeface="宋体" charset="-122"/>
                          <a:ea typeface="宋体" charset="-122"/>
                        </a:rPr>
                        <a:t>第一类错误</a:t>
                      </a:r>
                    </a:p>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zh-CN" sz="2800" b="1" i="0" u="none" strike="noStrike" cap="none" normalizeH="0" baseline="0" dirty="0">
                          <a:ln>
                            <a:noFill/>
                          </a:ln>
                          <a:solidFill>
                            <a:srgbClr val="C00000"/>
                          </a:solidFill>
                          <a:effectLst/>
                          <a:latin typeface="宋体" charset="-122"/>
                          <a:ea typeface="宋体" charset="-122"/>
                        </a:rPr>
                        <a:t>(</a:t>
                      </a:r>
                      <a:r>
                        <a:rPr kumimoji="0" lang="zh-CN" altLang="en-US" sz="2800" b="1" i="0" u="none" strike="noStrike" cap="none" normalizeH="0" baseline="0" dirty="0">
                          <a:ln>
                            <a:noFill/>
                          </a:ln>
                          <a:solidFill>
                            <a:srgbClr val="C00000"/>
                          </a:solidFill>
                          <a:effectLst/>
                          <a:latin typeface="宋体" charset="-122"/>
                          <a:ea typeface="宋体" charset="-122"/>
                        </a:rPr>
                        <a:t>拒真）</a:t>
                      </a:r>
                    </a:p>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zh-CN" altLang="en-US" sz="2800" b="1" i="0" u="none" strike="noStrike" cap="none" normalizeH="0" baseline="0" dirty="0">
                          <a:ln>
                            <a:noFill/>
                          </a:ln>
                          <a:solidFill>
                            <a:schemeClr val="tx2"/>
                          </a:solidFill>
                          <a:effectLst/>
                          <a:latin typeface="宋体" charset="-122"/>
                          <a:ea typeface="宋体" charset="-122"/>
                        </a:rPr>
                        <a:t>（</a:t>
                      </a:r>
                      <a:r>
                        <a:rPr kumimoji="0" lang="zh-CN" altLang="en-US" sz="2800" b="1" i="0" u="none" strike="noStrike" cap="none" normalizeH="0" baseline="0" dirty="0">
                          <a:ln>
                            <a:noFill/>
                          </a:ln>
                          <a:solidFill>
                            <a:schemeClr val="tx1"/>
                          </a:solidFill>
                          <a:effectLst/>
                          <a:latin typeface="宋体" charset="-122"/>
                          <a:ea typeface="宋体" charset="-122"/>
                        </a:rPr>
                        <a:t>概率＝</a:t>
                      </a:r>
                      <a:r>
                        <a:rPr kumimoji="0" lang="en-US" altLang="zh-CN" sz="2800" b="1" i="1" u="none" strike="noStrike" cap="none" normalizeH="0" baseline="0" dirty="0">
                          <a:ln>
                            <a:noFill/>
                          </a:ln>
                          <a:solidFill>
                            <a:srgbClr val="C00000"/>
                          </a:solidFill>
                          <a:effectLst/>
                          <a:latin typeface="Symbol" pitchFamily="18" charset="2"/>
                          <a:ea typeface="宋体" charset="-122"/>
                        </a:rPr>
                        <a:t>a</a:t>
                      </a:r>
                      <a:r>
                        <a:rPr kumimoji="0" lang="en-US" altLang="zh-CN" sz="2800" b="1" i="0" u="none" strike="noStrike" cap="none" normalizeH="0" baseline="0" dirty="0">
                          <a:ln>
                            <a:noFill/>
                          </a:ln>
                          <a:solidFill>
                            <a:srgbClr val="FF0066"/>
                          </a:solidFill>
                          <a:effectLst/>
                          <a:latin typeface="Symbol" pitchFamily="18" charset="2"/>
                          <a:ea typeface="宋体" charset="-122"/>
                        </a:rPr>
                        <a:t> </a:t>
                      </a:r>
                      <a:r>
                        <a:rPr kumimoji="0" lang="en-US" altLang="zh-CN" sz="2800" b="1" i="0" u="none" strike="noStrike" cap="none" normalizeH="0" baseline="0" dirty="0">
                          <a:ln>
                            <a:noFill/>
                          </a:ln>
                          <a:solidFill>
                            <a:schemeClr val="tx2"/>
                          </a:solidFill>
                          <a:effectLst/>
                          <a:latin typeface="宋体" charset="-122"/>
                          <a:ea typeface="宋体" charset="-122"/>
                        </a:rPr>
                        <a:t>)</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zh-CN" altLang="en-US" sz="3600" b="1" i="0" u="none" strike="noStrike" cap="none" normalizeH="0" baseline="0" dirty="0">
                          <a:ln>
                            <a:noFill/>
                          </a:ln>
                          <a:solidFill>
                            <a:srgbClr val="00B050"/>
                          </a:solidFill>
                          <a:effectLst/>
                          <a:latin typeface="宋体" charset="-122"/>
                          <a:ea typeface="宋体" charset="-122"/>
                        </a:rPr>
                        <a:t>正 确</a:t>
                      </a:r>
                    </a:p>
                  </a:txBody>
                  <a:tcPr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20000"/>
                        <a:lumOff val="80000"/>
                      </a:schemeClr>
                    </a:solidFill>
                  </a:tcPr>
                </a:tc>
                <a:extLst>
                  <a:ext uri="{0D108BD9-81ED-4DB2-BD59-A6C34878D82A}">
                    <a16:rowId xmlns:a16="http://schemas.microsoft.com/office/drawing/2014/main" val="10002"/>
                  </a:ext>
                </a:extLst>
              </a:tr>
              <a:tr h="1093788">
                <a:tc>
                  <a:txBody>
                    <a:bodyPr/>
                    <a:lstStyle/>
                    <a:p>
                      <a:pPr marL="0" marR="0" lvl="0" indent="0" algn="ctr" defTabSz="914400" rtl="0" eaLnBrk="1" fontAlgn="base" latinLnBrk="0" hangingPunct="1">
                        <a:lnSpc>
                          <a:spcPct val="125000"/>
                        </a:lnSpc>
                        <a:spcBef>
                          <a:spcPts val="600"/>
                        </a:spcBef>
                        <a:spcAft>
                          <a:spcPct val="0"/>
                        </a:spcAft>
                        <a:buClrTx/>
                        <a:buSzPct val="90000"/>
                        <a:buFontTx/>
                        <a:buNone/>
                        <a:tabLst/>
                      </a:pPr>
                      <a:r>
                        <a:rPr kumimoji="0" lang="zh-CN" altLang="en-US" sz="2800" b="1" i="0" u="none" strike="noStrike" cap="none" normalizeH="0" baseline="0" dirty="0">
                          <a:ln>
                            <a:noFill/>
                          </a:ln>
                          <a:solidFill>
                            <a:srgbClr val="CC0099"/>
                          </a:solidFill>
                          <a:effectLst/>
                          <a:latin typeface="Tahoma" pitchFamily="34" charset="0"/>
                          <a:ea typeface="宋体" charset="-122"/>
                        </a:rPr>
                        <a:t>不能拒绝</a:t>
                      </a:r>
                      <a:r>
                        <a:rPr kumimoji="0" lang="en-US" altLang="zh-CN" sz="2800" b="1" i="1" u="none" strike="noStrike" kern="1200" cap="none" normalizeH="0" baseline="0" dirty="0">
                          <a:ln>
                            <a:noFill/>
                          </a:ln>
                          <a:solidFill>
                            <a:srgbClr val="CC0099"/>
                          </a:solidFill>
                          <a:effectLst/>
                          <a:latin typeface="Times New Roman" pitchFamily="18" charset="0"/>
                          <a:ea typeface="宋体" charset="-122"/>
                          <a:cs typeface="Times New Roman" pitchFamily="18" charset="0"/>
                        </a:rPr>
                        <a:t>H</a:t>
                      </a:r>
                      <a:r>
                        <a:rPr kumimoji="0" lang="en-US" altLang="zh-CN" sz="2800" b="1" i="0" u="none" strike="noStrike" cap="none" normalizeH="0" baseline="-25000" dirty="0">
                          <a:ln>
                            <a:noFill/>
                          </a:ln>
                          <a:solidFill>
                            <a:srgbClr val="CC0099"/>
                          </a:solidFill>
                          <a:effectLst/>
                          <a:latin typeface="Tahoma" pitchFamily="34" charset="0"/>
                          <a:ea typeface="宋体" charset="-122"/>
                        </a:rPr>
                        <a:t>0</a:t>
                      </a:r>
                      <a:endParaRPr kumimoji="0" lang="en-US" altLang="zh-CN" sz="3600" b="1" i="0" u="none" strike="noStrike" cap="none" normalizeH="0" baseline="-25000" dirty="0">
                        <a:ln>
                          <a:noFill/>
                        </a:ln>
                        <a:solidFill>
                          <a:srgbClr val="CC0099"/>
                        </a:solidFill>
                        <a:effectLst/>
                        <a:latin typeface="Tahoma" pitchFamily="34" charset="0"/>
                        <a:ea typeface="宋体" charset="-122"/>
                      </a:endParaRPr>
                    </a:p>
                    <a:p>
                      <a:pPr marL="0" marR="0" lvl="0" indent="0" algn="ctr" defTabSz="914400" rtl="0" eaLnBrk="1" fontAlgn="base" latinLnBrk="0" hangingPunct="1">
                        <a:lnSpc>
                          <a:spcPct val="125000"/>
                        </a:lnSpc>
                        <a:spcBef>
                          <a:spcPts val="600"/>
                        </a:spcBef>
                        <a:spcAft>
                          <a:spcPct val="0"/>
                        </a:spcAft>
                        <a:buClrTx/>
                        <a:buSzPct val="90000"/>
                        <a:buFontTx/>
                        <a:buNone/>
                        <a:tabLst/>
                      </a:pPr>
                      <a:r>
                        <a:rPr kumimoji="0" lang="en-US" altLang="zh-CN" sz="2800" b="0" i="0" u="none" strike="noStrike" kern="1200" cap="none" normalizeH="0" baseline="0" dirty="0">
                          <a:ln>
                            <a:noFill/>
                          </a:ln>
                          <a:solidFill>
                            <a:srgbClr val="CC00FF"/>
                          </a:solidFill>
                          <a:effectLst/>
                          <a:latin typeface="Tahoma" pitchFamily="34" charset="0"/>
                          <a:ea typeface="宋体" charset="-122"/>
                          <a:cs typeface="+mn-cs"/>
                        </a:rPr>
                        <a:t>(</a:t>
                      </a:r>
                      <a:r>
                        <a:rPr kumimoji="0" lang="zh-CN" altLang="en-US" sz="2800" b="0" i="0" u="none" strike="noStrike" kern="1200" cap="none" normalizeH="0" baseline="0" dirty="0">
                          <a:ln>
                            <a:noFill/>
                          </a:ln>
                          <a:solidFill>
                            <a:srgbClr val="CC00FF"/>
                          </a:solidFill>
                          <a:effectLst/>
                          <a:latin typeface="Tahoma" pitchFamily="34" charset="0"/>
                          <a:ea typeface="宋体" charset="-122"/>
                          <a:cs typeface="+mn-cs"/>
                        </a:rPr>
                        <a:t>接受</a:t>
                      </a:r>
                      <a:r>
                        <a:rPr kumimoji="0" lang="en-US" altLang="zh-CN" sz="2800" b="0" i="1" u="none" strike="noStrike" kern="1200" cap="none" normalizeH="0" baseline="0" dirty="0">
                          <a:ln>
                            <a:noFill/>
                          </a:ln>
                          <a:solidFill>
                            <a:srgbClr val="CC00FF"/>
                          </a:solidFill>
                          <a:effectLst/>
                          <a:latin typeface="Times New Roman" pitchFamily="18" charset="0"/>
                          <a:ea typeface="宋体" charset="-122"/>
                          <a:cs typeface="Times New Roman" pitchFamily="18" charset="0"/>
                        </a:rPr>
                        <a:t>H</a:t>
                      </a:r>
                      <a:r>
                        <a:rPr kumimoji="0" lang="en-US" altLang="zh-CN" sz="2800" b="0" i="0" u="none" strike="noStrike" kern="1200" cap="none" normalizeH="0" baseline="-25000" dirty="0">
                          <a:ln>
                            <a:noFill/>
                          </a:ln>
                          <a:solidFill>
                            <a:srgbClr val="CC00FF"/>
                          </a:solidFill>
                          <a:effectLst/>
                          <a:latin typeface="Tahoma" pitchFamily="34" charset="0"/>
                          <a:ea typeface="宋体" charset="-122"/>
                          <a:cs typeface="+mn-cs"/>
                        </a:rPr>
                        <a:t>0</a:t>
                      </a:r>
                      <a:r>
                        <a:rPr kumimoji="0" lang="en-US" altLang="zh-CN" sz="2800" b="0" i="0" u="none" strike="noStrike" kern="1200" cap="none" normalizeH="0" baseline="0" dirty="0">
                          <a:ln>
                            <a:noFill/>
                          </a:ln>
                          <a:solidFill>
                            <a:srgbClr val="CC00FF"/>
                          </a:solidFill>
                          <a:effectLst/>
                          <a:latin typeface="Tahoma" pitchFamily="34" charset="0"/>
                          <a:ea typeface="宋体" charset="-122"/>
                          <a:cs typeface="+mn-cs"/>
                        </a:rPr>
                        <a:t>)</a:t>
                      </a:r>
                    </a:p>
                  </a:txBody>
                  <a:tcPr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zh-CN" altLang="en-US" sz="3600" b="1" i="0" u="none" strike="noStrike" kern="1200" cap="none" normalizeH="0" baseline="0" dirty="0">
                          <a:ln>
                            <a:noFill/>
                          </a:ln>
                          <a:solidFill>
                            <a:srgbClr val="00B050"/>
                          </a:solidFill>
                          <a:effectLst/>
                          <a:latin typeface="宋体" charset="-122"/>
                          <a:ea typeface="宋体" charset="-122"/>
                          <a:cs typeface="+mn-cs"/>
                        </a:rPr>
                        <a:t>正 确</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zh-CN" altLang="en-US" sz="2800" b="1" i="0" u="none" strike="noStrike" cap="none" normalizeH="0" baseline="0" dirty="0">
                          <a:ln>
                            <a:noFill/>
                          </a:ln>
                          <a:solidFill>
                            <a:srgbClr val="C00000"/>
                          </a:solidFill>
                          <a:effectLst/>
                          <a:latin typeface="宋体" charset="-122"/>
                          <a:ea typeface="宋体" charset="-122"/>
                        </a:rPr>
                        <a:t>第二类错误</a:t>
                      </a:r>
                    </a:p>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zh-CN" altLang="en-US" sz="2800" b="1" i="0" u="none" strike="noStrike" cap="none" normalizeH="0" baseline="0" dirty="0">
                          <a:ln>
                            <a:noFill/>
                          </a:ln>
                          <a:solidFill>
                            <a:srgbClr val="C00000"/>
                          </a:solidFill>
                          <a:effectLst/>
                          <a:latin typeface="宋体" charset="-122"/>
                          <a:ea typeface="宋体" charset="-122"/>
                        </a:rPr>
                        <a:t>（采伪）</a:t>
                      </a:r>
                    </a:p>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zh-CN" sz="2800" b="1" i="0" u="none" strike="noStrike" cap="none" normalizeH="0" baseline="0" dirty="0">
                          <a:ln>
                            <a:noFill/>
                          </a:ln>
                          <a:solidFill>
                            <a:schemeClr val="tx2"/>
                          </a:solidFill>
                          <a:effectLst/>
                          <a:latin typeface="宋体" charset="-122"/>
                          <a:ea typeface="宋体" charset="-122"/>
                        </a:rPr>
                        <a:t>(</a:t>
                      </a:r>
                      <a:r>
                        <a:rPr kumimoji="0" lang="en-US" altLang="zh-CN" sz="2800" b="1" i="0" u="none" strike="noStrike" cap="none" normalizeH="0" baseline="0" dirty="0">
                          <a:ln>
                            <a:noFill/>
                          </a:ln>
                          <a:solidFill>
                            <a:srgbClr val="3333FF"/>
                          </a:solidFill>
                          <a:effectLst/>
                          <a:latin typeface="宋体" charset="-122"/>
                          <a:ea typeface="宋体" charset="-122"/>
                        </a:rPr>
                        <a:t> </a:t>
                      </a:r>
                      <a:r>
                        <a:rPr kumimoji="0" lang="zh-CN" altLang="en-US" sz="2800" b="1" i="0" u="none" strike="noStrike" cap="none" normalizeH="0" baseline="0" dirty="0">
                          <a:ln>
                            <a:noFill/>
                          </a:ln>
                          <a:solidFill>
                            <a:schemeClr val="tx1"/>
                          </a:solidFill>
                          <a:effectLst/>
                          <a:latin typeface="宋体" charset="-122"/>
                          <a:ea typeface="宋体" charset="-122"/>
                        </a:rPr>
                        <a:t>概率＝</a:t>
                      </a:r>
                      <a:r>
                        <a:rPr kumimoji="0" lang="en-US" altLang="zh-CN" sz="2800" b="1" i="1" u="none" strike="noStrike" cap="none" normalizeH="0" baseline="0" dirty="0">
                          <a:ln>
                            <a:noFill/>
                          </a:ln>
                          <a:solidFill>
                            <a:srgbClr val="C00000"/>
                          </a:solidFill>
                          <a:effectLst/>
                          <a:latin typeface="Symbol" pitchFamily="18" charset="2"/>
                          <a:ea typeface="宋体" charset="-122"/>
                        </a:rPr>
                        <a:t>b</a:t>
                      </a:r>
                      <a:r>
                        <a:rPr kumimoji="0" lang="en-US" altLang="zh-CN" sz="2800" b="1" i="1" u="none" strike="noStrike" cap="none" normalizeH="0" baseline="0" dirty="0">
                          <a:ln>
                            <a:noFill/>
                          </a:ln>
                          <a:solidFill>
                            <a:srgbClr val="FF0066"/>
                          </a:solidFill>
                          <a:effectLst/>
                          <a:latin typeface="Symbol" pitchFamily="18" charset="2"/>
                          <a:ea typeface="宋体" charset="-122"/>
                        </a:rPr>
                        <a:t> </a:t>
                      </a:r>
                      <a:r>
                        <a:rPr kumimoji="0" lang="en-US" altLang="zh-CN" sz="2800" b="1" i="0" u="none" strike="noStrike" cap="none" normalizeH="0" baseline="0" dirty="0">
                          <a:ln>
                            <a:noFill/>
                          </a:ln>
                          <a:solidFill>
                            <a:schemeClr val="tx2"/>
                          </a:solidFill>
                          <a:effectLst/>
                          <a:latin typeface="宋体" charset="-122"/>
                          <a:ea typeface="宋体" charset="-122"/>
                        </a:rPr>
                        <a:t>)</a:t>
                      </a:r>
                    </a:p>
                  </a:txBody>
                  <a:tcPr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20000"/>
                        <a:lumOff val="80000"/>
                      </a:schemeClr>
                    </a:solidFill>
                  </a:tcPr>
                </a:tc>
                <a:extLst>
                  <a:ext uri="{0D108BD9-81ED-4DB2-BD59-A6C34878D82A}">
                    <a16:rowId xmlns:a16="http://schemas.microsoft.com/office/drawing/2014/main" val="10003"/>
                  </a:ext>
                </a:extLst>
              </a:tr>
            </a:tbl>
          </a:graphicData>
        </a:graphic>
      </p:graphicFrame>
      <p:sp>
        <p:nvSpPr>
          <p:cNvPr id="77844" name="灯片编号占位符 5"/>
          <p:cNvSpPr>
            <a:spLocks noGrp="1"/>
          </p:cNvSpPr>
          <p:nvPr>
            <p:ph type="sldNum" sz="quarter" idx="12"/>
          </p:nvPr>
        </p:nvSpPr>
        <p:spPr>
          <a:noFill/>
        </p:spPr>
        <p:txBody>
          <a:bodyPr/>
          <a:lstStyle/>
          <a:p>
            <a:r>
              <a:rPr lang="en-US" altLang="zh-CN">
                <a:ea typeface="宋体" pitchFamily="2" charset="-122"/>
              </a:rPr>
              <a:t>8--</a:t>
            </a:r>
            <a:fld id="{801DC4A3-9EF5-4416-9EB9-477C0DC81300}" type="slidenum">
              <a:rPr lang="en-US" altLang="zh-CN" smtClean="0">
                <a:ea typeface="宋体" pitchFamily="2" charset="-122"/>
              </a:rPr>
              <a:pPr/>
              <a:t>34</a:t>
            </a:fld>
            <a:endParaRPr lang="en-US" altLang="zh-CN">
              <a:ea typeface="宋体" pitchFamily="2" charset="-122"/>
            </a:endParaRPr>
          </a:p>
        </p:txBody>
      </p:sp>
      <p:sp>
        <p:nvSpPr>
          <p:cNvPr id="77845" name="Rectangle 3"/>
          <p:cNvSpPr>
            <a:spLocks noChangeArrowheads="1"/>
          </p:cNvSpPr>
          <p:nvPr/>
        </p:nvSpPr>
        <p:spPr bwMode="auto">
          <a:xfrm>
            <a:off x="3419476" y="1404939"/>
            <a:ext cx="6048375" cy="928687"/>
          </a:xfrm>
          <a:prstGeom prst="rect">
            <a:avLst/>
          </a:prstGeom>
          <a:noFill/>
          <a:ln w="12700">
            <a:noFill/>
            <a:miter lim="800000"/>
            <a:headEnd/>
            <a:tailEnd/>
          </a:ln>
        </p:spPr>
        <p:txBody>
          <a:bodyPr lIns="90488" tIns="44450" rIns="90488" bIns="44450" anchor="ctr" anchorCtr="1"/>
          <a:lstStyle/>
          <a:p>
            <a:pPr algn="ctr" eaLnBrk="0" hangingPunct="0">
              <a:lnSpc>
                <a:spcPct val="95000"/>
              </a:lnSpc>
            </a:pPr>
            <a:r>
              <a:rPr kumimoji="1" lang="zh-CN" altLang="en-US" sz="3600" b="1" dirty="0">
                <a:solidFill>
                  <a:schemeClr val="tx2"/>
                </a:solidFill>
                <a:latin typeface="Book Antiqua" pitchFamily="18" charset="0"/>
              </a:rPr>
              <a:t>决策结果与两类错误</a:t>
            </a:r>
          </a:p>
        </p:txBody>
      </p:sp>
      <p:sp>
        <p:nvSpPr>
          <p:cNvPr id="77846" name="Rectangle 2"/>
          <p:cNvSpPr>
            <a:spLocks noGrp="1" noChangeArrowheads="1"/>
          </p:cNvSpPr>
          <p:nvPr>
            <p:ph type="title"/>
          </p:nvPr>
        </p:nvSpPr>
        <p:spPr>
          <a:xfrm>
            <a:off x="1535114" y="584202"/>
            <a:ext cx="7837487" cy="820737"/>
          </a:xfrm>
          <a:noFill/>
        </p:spPr>
        <p:txBody>
          <a:bodyPr vert="horz" lIns="90488" tIns="44450" rIns="90488" bIns="44450" rtlCol="0" anchor="ctr" anchorCtr="1">
            <a:normAutofit/>
          </a:bodyPr>
          <a:lstStyle/>
          <a:p>
            <a:pPr eaLnBrk="1" hangingPunct="1"/>
            <a:r>
              <a:rPr lang="zh-CN" altLang="en-US" sz="4000" b="1" dirty="0">
                <a:effectLst/>
              </a:rPr>
              <a:t>三、假设检验中的两类错误</a:t>
            </a:r>
            <a:endParaRPr lang="zh-CN" altLang="en-US" b="1" dirty="0">
              <a:effectLst/>
              <a:latin typeface="Arial" pitchFamily="34" charset="0"/>
            </a:endParaRPr>
          </a:p>
        </p:txBody>
      </p:sp>
    </p:spTree>
    <p:extLst>
      <p:ext uri="{BB962C8B-B14F-4D97-AF65-F5344CB8AC3E}">
        <p14:creationId xmlns:p14="http://schemas.microsoft.com/office/powerpoint/2010/main" val="601485262"/>
      </p:ext>
    </p:extLst>
  </p:cSld>
  <p:clrMapOvr>
    <a:masterClrMapping/>
  </p:clrMapOvr>
  <p:transition>
    <p:wipe dir="r"/>
  </p:transition>
</p:sld>
</file>

<file path=ppt/slides/slide3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8850" name="灯片编号占位符 5"/>
          <p:cNvSpPr>
            <a:spLocks noGrp="1"/>
          </p:cNvSpPr>
          <p:nvPr>
            <p:ph type="sldNum" sz="quarter" idx="4294967295"/>
          </p:nvPr>
        </p:nvSpPr>
        <p:spPr>
          <a:noFill/>
        </p:spPr>
        <p:txBody>
          <a:bodyPr/>
          <a:lstStyle/>
          <a:p>
            <a:r>
              <a:rPr lang="en-US" altLang="zh-CN">
                <a:ea typeface="宋体" pitchFamily="2" charset="-122"/>
              </a:rPr>
              <a:t>8--</a:t>
            </a:r>
            <a:fld id="{96C8872E-A443-4CB6-B68A-E6ABF51BE42E}" type="slidenum">
              <a:rPr lang="en-US" altLang="zh-CN" smtClean="0">
                <a:ea typeface="宋体" pitchFamily="2" charset="-122"/>
              </a:rPr>
              <a:pPr/>
              <a:t>35</a:t>
            </a:fld>
            <a:endParaRPr lang="en-US" altLang="zh-CN">
              <a:ea typeface="宋体" pitchFamily="2" charset="-122"/>
            </a:endParaRPr>
          </a:p>
        </p:txBody>
      </p:sp>
      <p:sp>
        <p:nvSpPr>
          <p:cNvPr id="78851" name="Rectangle 3"/>
          <p:cNvSpPr>
            <a:spLocks noGrp="1" noChangeArrowheads="1"/>
          </p:cNvSpPr>
          <p:nvPr>
            <p:ph type="body" idx="1"/>
          </p:nvPr>
        </p:nvSpPr>
        <p:spPr>
          <a:xfrm>
            <a:off x="1405891" y="1662113"/>
            <a:ext cx="9144000" cy="2303462"/>
          </a:xfrm>
          <a:noFill/>
        </p:spPr>
        <p:txBody>
          <a:bodyPr vert="horz" lIns="90488" tIns="44450" rIns="90488" bIns="44450" rtlCol="0">
            <a:normAutofit fontScale="92500" lnSpcReduction="10000"/>
          </a:bodyPr>
          <a:lstStyle/>
          <a:p>
            <a:pPr marL="0" indent="0">
              <a:lnSpc>
                <a:spcPct val="120000"/>
              </a:lnSpc>
              <a:buNone/>
            </a:pPr>
            <a:r>
              <a:rPr lang="en-US" altLang="zh-CN" b="1" dirty="0"/>
              <a:t>1.</a:t>
            </a:r>
            <a:r>
              <a:rPr lang="zh-CN" altLang="en-US" b="1" dirty="0">
                <a:solidFill>
                  <a:srgbClr val="C00000"/>
                </a:solidFill>
              </a:rPr>
              <a:t>第一类错误</a:t>
            </a:r>
            <a:r>
              <a:rPr lang="zh-CN" altLang="en-US" b="1" dirty="0"/>
              <a:t>（ </a:t>
            </a:r>
            <a:r>
              <a:rPr lang="zh-CN" altLang="en-US" b="1" dirty="0">
                <a:latin typeface="Arial" pitchFamily="34" charset="0"/>
              </a:rPr>
              <a:t>“</a:t>
            </a:r>
            <a:r>
              <a:rPr lang="zh-CN" altLang="en-US" b="1" dirty="0"/>
              <a:t>弃真</a:t>
            </a:r>
            <a:r>
              <a:rPr lang="zh-CN" altLang="en-US" b="1" dirty="0">
                <a:latin typeface="Arial" pitchFamily="34" charset="0"/>
              </a:rPr>
              <a:t>”</a:t>
            </a:r>
            <a:r>
              <a:rPr lang="zh-CN" altLang="en-US" b="1" dirty="0"/>
              <a:t>或</a:t>
            </a:r>
            <a:r>
              <a:rPr lang="zh-CN" altLang="en-US" b="1" dirty="0">
                <a:latin typeface="Arial" pitchFamily="34" charset="0"/>
              </a:rPr>
              <a:t>“</a:t>
            </a:r>
            <a:r>
              <a:rPr lang="zh-CN" altLang="en-US" b="1" dirty="0"/>
              <a:t>拒真</a:t>
            </a:r>
            <a:r>
              <a:rPr lang="zh-CN" altLang="en-US" b="1" dirty="0">
                <a:latin typeface="Arial" pitchFamily="34" charset="0"/>
              </a:rPr>
              <a:t>”</a:t>
            </a:r>
            <a:r>
              <a:rPr lang="zh-CN" altLang="en-US" b="1" dirty="0"/>
              <a:t> 错误）</a:t>
            </a:r>
          </a:p>
          <a:p>
            <a:pPr marL="971550" lvl="1">
              <a:lnSpc>
                <a:spcPct val="120000"/>
              </a:lnSpc>
            </a:pPr>
            <a:r>
              <a:rPr lang="zh-CN" altLang="en-US" b="1" dirty="0"/>
              <a:t>原假设为真时拒绝原假设</a:t>
            </a:r>
            <a:r>
              <a:rPr lang="zh-CN" altLang="en-US" sz="2400" b="1" dirty="0"/>
              <a:t>（例</a:t>
            </a:r>
            <a:r>
              <a:rPr lang="en-US" altLang="zh-CN" sz="2400" b="1" dirty="0"/>
              <a:t>1</a:t>
            </a:r>
            <a:r>
              <a:rPr lang="zh-CN" altLang="en-US" sz="2400" b="1" dirty="0"/>
              <a:t>，当产品本来合格时）</a:t>
            </a:r>
          </a:p>
          <a:p>
            <a:pPr marL="971550" lvl="1">
              <a:lnSpc>
                <a:spcPct val="120000"/>
              </a:lnSpc>
            </a:pPr>
            <a:r>
              <a:rPr lang="zh-CN" altLang="en-US" b="1" dirty="0"/>
              <a:t>犯第一类错误的概率为 </a:t>
            </a:r>
            <a:r>
              <a:rPr lang="zh-CN" altLang="en-US" b="1" dirty="0">
                <a:latin typeface="Symbol" pitchFamily="18" charset="2"/>
              </a:rPr>
              <a:t> </a:t>
            </a:r>
            <a:r>
              <a:rPr lang="en-US" altLang="zh-CN" b="1" dirty="0">
                <a:latin typeface="Symbol" pitchFamily="18" charset="2"/>
              </a:rPr>
              <a:t>(</a:t>
            </a:r>
            <a:r>
              <a:rPr lang="zh-CN" altLang="en-US" sz="2600" b="1" dirty="0"/>
              <a:t>即显著性水平</a:t>
            </a:r>
            <a:r>
              <a:rPr lang="en-US" altLang="zh-CN" b="1" dirty="0"/>
              <a:t>)</a:t>
            </a:r>
          </a:p>
          <a:p>
            <a:pPr marL="857250" lvl="2" indent="0">
              <a:lnSpc>
                <a:spcPct val="120000"/>
              </a:lnSpc>
              <a:buNone/>
            </a:pPr>
            <a:r>
              <a:rPr lang="en-US" altLang="zh-CN" sz="2800" b="1" i="1" dirty="0">
                <a:solidFill>
                  <a:srgbClr val="C00000"/>
                </a:solidFill>
                <a:latin typeface="Times New Roman" pitchFamily="18" charset="0"/>
                <a:cs typeface="Times New Roman" pitchFamily="18" charset="0"/>
                <a:sym typeface="Symbol" pitchFamily="18" charset="2"/>
              </a:rPr>
              <a:t></a:t>
            </a:r>
            <a:r>
              <a:rPr lang="en-US" altLang="zh-CN" sz="2800" b="1" dirty="0">
                <a:solidFill>
                  <a:srgbClr val="C00000"/>
                </a:solidFill>
              </a:rPr>
              <a:t> =</a:t>
            </a:r>
            <a:r>
              <a:rPr lang="en-US" altLang="zh-CN" sz="3200" b="1" dirty="0">
                <a:solidFill>
                  <a:srgbClr val="C00000"/>
                </a:solidFill>
                <a:latin typeface="Times New Roman" pitchFamily="18" charset="0"/>
              </a:rPr>
              <a:t>P(</a:t>
            </a:r>
            <a:r>
              <a:rPr lang="zh-CN" altLang="en-US" sz="2800" b="1" dirty="0">
                <a:solidFill>
                  <a:srgbClr val="C00000"/>
                </a:solidFill>
              </a:rPr>
              <a:t>拒绝</a:t>
            </a:r>
            <a:r>
              <a:rPr lang="en-US" altLang="zh-CN" sz="2800" b="1" dirty="0">
                <a:solidFill>
                  <a:srgbClr val="C00000"/>
                </a:solidFill>
              </a:rPr>
              <a:t>H</a:t>
            </a:r>
            <a:r>
              <a:rPr lang="en-US" altLang="zh-CN" sz="2800" b="1" baseline="-25000" dirty="0">
                <a:solidFill>
                  <a:srgbClr val="C00000"/>
                </a:solidFill>
              </a:rPr>
              <a:t>0 </a:t>
            </a:r>
            <a:r>
              <a:rPr lang="en-US" altLang="zh-CN" sz="2800" b="1" dirty="0">
                <a:solidFill>
                  <a:srgbClr val="C00000"/>
                </a:solidFill>
              </a:rPr>
              <a:t>/ H</a:t>
            </a:r>
            <a:r>
              <a:rPr lang="en-US" altLang="zh-CN" sz="2800" b="1" baseline="-25000" dirty="0">
                <a:solidFill>
                  <a:srgbClr val="C00000"/>
                </a:solidFill>
              </a:rPr>
              <a:t>0</a:t>
            </a:r>
            <a:r>
              <a:rPr lang="zh-CN" altLang="en-US" sz="2800" b="1" dirty="0">
                <a:solidFill>
                  <a:srgbClr val="C00000"/>
                </a:solidFill>
              </a:rPr>
              <a:t>为真</a:t>
            </a:r>
            <a:r>
              <a:rPr lang="en-US" altLang="zh-CN" sz="3200" b="1" dirty="0">
                <a:solidFill>
                  <a:srgbClr val="C00000"/>
                </a:solidFill>
                <a:latin typeface="Times New Roman" pitchFamily="18" charset="0"/>
              </a:rPr>
              <a:t>)</a:t>
            </a:r>
            <a:endParaRPr lang="en-US" altLang="zh-CN" sz="3200" b="1" i="1" dirty="0">
              <a:solidFill>
                <a:srgbClr val="C00000"/>
              </a:solidFill>
              <a:latin typeface="Times New Roman" pitchFamily="18" charset="0"/>
              <a:cs typeface="Times New Roman" pitchFamily="18" charset="0"/>
            </a:endParaRPr>
          </a:p>
        </p:txBody>
      </p:sp>
      <p:grpSp>
        <p:nvGrpSpPr>
          <p:cNvPr id="78852" name="Group 21"/>
          <p:cNvGrpSpPr>
            <a:grpSpLocks/>
          </p:cNvGrpSpPr>
          <p:nvPr/>
        </p:nvGrpSpPr>
        <p:grpSpPr bwMode="auto">
          <a:xfrm>
            <a:off x="3492501" y="3948113"/>
            <a:ext cx="5640388" cy="2552700"/>
            <a:chOff x="1020" y="2251"/>
            <a:chExt cx="3553" cy="1608"/>
          </a:xfrm>
        </p:grpSpPr>
        <p:sp>
          <p:nvSpPr>
            <p:cNvPr id="78855" name="Rectangle 5"/>
            <p:cNvSpPr>
              <a:spLocks noChangeArrowheads="1"/>
            </p:cNvSpPr>
            <p:nvPr/>
          </p:nvSpPr>
          <p:spPr bwMode="auto">
            <a:xfrm rot="-5400000">
              <a:off x="994" y="2525"/>
              <a:ext cx="237" cy="111"/>
            </a:xfrm>
            <a:prstGeom prst="rect">
              <a:avLst/>
            </a:prstGeom>
            <a:noFill/>
            <a:ln w="12700">
              <a:noFill/>
              <a:miter lim="800000"/>
              <a:headEnd/>
              <a:tailEnd/>
            </a:ln>
          </p:spPr>
          <p:txBody>
            <a:bodyPr anchor="ctr"/>
            <a:lstStyle/>
            <a:p>
              <a:endParaRPr lang="zh-CN" altLang="en-US"/>
            </a:p>
          </p:txBody>
        </p:sp>
        <p:sp>
          <p:nvSpPr>
            <p:cNvPr id="78856" name="Freeform 6"/>
            <p:cNvSpPr>
              <a:spLocks/>
            </p:cNvSpPr>
            <p:nvPr/>
          </p:nvSpPr>
          <p:spPr bwMode="auto">
            <a:xfrm>
              <a:off x="1131" y="2251"/>
              <a:ext cx="1108" cy="940"/>
            </a:xfrm>
            <a:custGeom>
              <a:avLst/>
              <a:gdLst>
                <a:gd name="T0" fmla="*/ 0 w 393"/>
                <a:gd name="T1" fmla="*/ 1928 h 901"/>
                <a:gd name="T2" fmla="*/ 2147483647 w 393"/>
                <a:gd name="T3" fmla="*/ 1913 h 901"/>
                <a:gd name="T4" fmla="*/ 2147483647 w 393"/>
                <a:gd name="T5" fmla="*/ 1884 h 901"/>
                <a:gd name="T6" fmla="*/ 2147483647 w 393"/>
                <a:gd name="T7" fmla="*/ 1856 h 901"/>
                <a:gd name="T8" fmla="*/ 2147483647 w 393"/>
                <a:gd name="T9" fmla="*/ 1810 h 901"/>
                <a:gd name="T10" fmla="*/ 2147483647 w 393"/>
                <a:gd name="T11" fmla="*/ 1752 h 901"/>
                <a:gd name="T12" fmla="*/ 2147483647 w 393"/>
                <a:gd name="T13" fmla="*/ 1671 h 901"/>
                <a:gd name="T14" fmla="*/ 2147483647 w 393"/>
                <a:gd name="T15" fmla="*/ 1451 h 901"/>
                <a:gd name="T16" fmla="*/ 2147483647 w 393"/>
                <a:gd name="T17" fmla="*/ 1131 h 901"/>
                <a:gd name="T18" fmla="*/ 2147483647 w 393"/>
                <a:gd name="T19" fmla="*/ 751 h 901"/>
                <a:gd name="T20" fmla="*/ 2147483647 w 393"/>
                <a:gd name="T21" fmla="*/ 559 h 901"/>
                <a:gd name="T22" fmla="*/ 2147483647 w 393"/>
                <a:gd name="T23" fmla="*/ 382 h 901"/>
                <a:gd name="T24" fmla="*/ 2147483647 w 393"/>
                <a:gd name="T25" fmla="*/ 226 h 901"/>
                <a:gd name="T26" fmla="*/ 2147483647 w 393"/>
                <a:gd name="T27" fmla="*/ 102 h 901"/>
                <a:gd name="T28" fmla="*/ 2147483647 w 393"/>
                <a:gd name="T29" fmla="*/ 11 h 901"/>
                <a:gd name="T30" fmla="*/ 2147483647 w 393"/>
                <a:gd name="T31" fmla="*/ 0 h 90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393"/>
                <a:gd name="T49" fmla="*/ 0 h 901"/>
                <a:gd name="T50" fmla="*/ 393 w 393"/>
                <a:gd name="T51" fmla="*/ 901 h 901"/>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393" h="901">
                  <a:moveTo>
                    <a:pt x="0" y="900"/>
                  </a:moveTo>
                  <a:lnTo>
                    <a:pt x="42" y="891"/>
                  </a:lnTo>
                  <a:lnTo>
                    <a:pt x="61" y="879"/>
                  </a:lnTo>
                  <a:lnTo>
                    <a:pt x="82" y="866"/>
                  </a:lnTo>
                  <a:lnTo>
                    <a:pt x="104" y="844"/>
                  </a:lnTo>
                  <a:lnTo>
                    <a:pt x="123" y="816"/>
                  </a:lnTo>
                  <a:lnTo>
                    <a:pt x="144" y="779"/>
                  </a:lnTo>
                  <a:lnTo>
                    <a:pt x="186" y="676"/>
                  </a:lnTo>
                  <a:lnTo>
                    <a:pt x="227" y="528"/>
                  </a:lnTo>
                  <a:lnTo>
                    <a:pt x="267" y="351"/>
                  </a:lnTo>
                  <a:lnTo>
                    <a:pt x="288" y="261"/>
                  </a:lnTo>
                  <a:lnTo>
                    <a:pt x="309" y="178"/>
                  </a:lnTo>
                  <a:lnTo>
                    <a:pt x="330" y="105"/>
                  </a:lnTo>
                  <a:lnTo>
                    <a:pt x="349" y="48"/>
                  </a:lnTo>
                  <a:lnTo>
                    <a:pt x="371" y="11"/>
                  </a:lnTo>
                  <a:lnTo>
                    <a:pt x="392" y="0"/>
                  </a:lnTo>
                </a:path>
              </a:pathLst>
            </a:custGeom>
            <a:noFill/>
            <a:ln w="57150" cap="rnd">
              <a:solidFill>
                <a:srgbClr val="FF33CC"/>
              </a:solidFill>
              <a:round/>
              <a:headEnd/>
              <a:tailEnd/>
            </a:ln>
          </p:spPr>
          <p:txBody>
            <a:bodyPr/>
            <a:lstStyle/>
            <a:p>
              <a:endParaRPr lang="zh-CN" altLang="en-US"/>
            </a:p>
          </p:txBody>
        </p:sp>
        <p:sp>
          <p:nvSpPr>
            <p:cNvPr id="78857" name="Rectangle 7"/>
            <p:cNvSpPr>
              <a:spLocks noChangeArrowheads="1"/>
            </p:cNvSpPr>
            <p:nvPr/>
          </p:nvSpPr>
          <p:spPr bwMode="auto">
            <a:xfrm>
              <a:off x="3782" y="3433"/>
              <a:ext cx="154" cy="75"/>
            </a:xfrm>
            <a:prstGeom prst="rect">
              <a:avLst/>
            </a:prstGeom>
            <a:noFill/>
            <a:ln w="12700">
              <a:noFill/>
              <a:miter lim="800000"/>
              <a:headEnd/>
              <a:tailEnd/>
            </a:ln>
          </p:spPr>
          <p:txBody>
            <a:bodyPr anchor="ctr"/>
            <a:lstStyle/>
            <a:p>
              <a:endParaRPr lang="zh-CN" altLang="en-US"/>
            </a:p>
          </p:txBody>
        </p:sp>
        <p:sp>
          <p:nvSpPr>
            <p:cNvPr id="78858" name="Rectangle 8"/>
            <p:cNvSpPr>
              <a:spLocks noChangeArrowheads="1"/>
            </p:cNvSpPr>
            <p:nvPr/>
          </p:nvSpPr>
          <p:spPr bwMode="auto">
            <a:xfrm>
              <a:off x="3811" y="2423"/>
              <a:ext cx="405" cy="370"/>
            </a:xfrm>
            <a:prstGeom prst="rect">
              <a:avLst/>
            </a:prstGeom>
            <a:noFill/>
            <a:ln w="12700">
              <a:solidFill>
                <a:srgbClr val="FFCC66"/>
              </a:solidFill>
              <a:miter lim="800000"/>
              <a:headEnd/>
              <a:tailEnd/>
            </a:ln>
          </p:spPr>
          <p:txBody>
            <a:bodyPr lIns="0" tIns="0" rIns="0" bIns="0"/>
            <a:lstStyle/>
            <a:p>
              <a:pPr algn="just"/>
              <a:r>
                <a:rPr lang="en-US" altLang="zh-CN" sz="4000" b="1" i="1">
                  <a:solidFill>
                    <a:srgbClr val="CC0099"/>
                  </a:solidFill>
                  <a:latin typeface="Symbol" pitchFamily="18" charset="2"/>
                </a:rPr>
                <a:t>a</a:t>
              </a:r>
              <a:r>
                <a:rPr lang="en-US" altLang="zh-CN" sz="4000" b="1" i="1">
                  <a:solidFill>
                    <a:srgbClr val="CC0099"/>
                  </a:solidFill>
                </a:rPr>
                <a:t> </a:t>
              </a:r>
              <a:endParaRPr lang="en-US" altLang="zh-CN" sz="4000" b="1">
                <a:solidFill>
                  <a:srgbClr val="CC0099"/>
                </a:solidFill>
              </a:endParaRPr>
            </a:p>
          </p:txBody>
        </p:sp>
        <p:sp>
          <p:nvSpPr>
            <p:cNvPr id="36873" name="Text Box 9"/>
            <p:cNvSpPr txBox="1">
              <a:spLocks noChangeArrowheads="1"/>
            </p:cNvSpPr>
            <p:nvPr/>
          </p:nvSpPr>
          <p:spPr bwMode="auto">
            <a:xfrm>
              <a:off x="2111" y="3188"/>
              <a:ext cx="377" cy="331"/>
            </a:xfrm>
            <a:prstGeom prst="rect">
              <a:avLst/>
            </a:prstGeom>
            <a:noFill/>
            <a:ln w="9525">
              <a:noFill/>
              <a:miter lim="800000"/>
              <a:headEnd/>
              <a:tailEnd/>
            </a:ln>
            <a:effectLst/>
          </p:spPr>
          <p:txBody>
            <a:bodyPr lIns="0" tIns="0" rIns="0" bIns="0"/>
            <a:lstStyle/>
            <a:p>
              <a:pPr algn="just">
                <a:defRPr/>
              </a:pPr>
              <a:endParaRPr kumimoji="1" lang="en-US" altLang="zh-CN" b="1" i="1" dirty="0">
                <a:solidFill>
                  <a:srgbClr val="FF33CC"/>
                </a:solidFill>
                <a:effectLst>
                  <a:outerShdw blurRad="38100" dist="38100" dir="2700000" algn="tl">
                    <a:srgbClr val="C0C0C0"/>
                  </a:outerShdw>
                </a:effectLst>
                <a:latin typeface="Arial" charset="0"/>
                <a:ea typeface="宋体" charset="-122"/>
              </a:endParaRPr>
            </a:p>
            <a:p>
              <a:pPr algn="just">
                <a:defRPr/>
              </a:pPr>
              <a:r>
                <a:rPr kumimoji="1" lang="en-US" altLang="zh-CN" b="1" i="1" dirty="0">
                  <a:solidFill>
                    <a:srgbClr val="FF33CC"/>
                  </a:solidFill>
                  <a:effectLst>
                    <a:outerShdw blurRad="38100" dist="38100" dir="2700000" algn="tl">
                      <a:srgbClr val="C0C0C0"/>
                    </a:outerShdw>
                  </a:effectLst>
                  <a:latin typeface="Arial" charset="0"/>
                  <a:ea typeface="宋体" charset="-122"/>
                </a:rPr>
                <a:t>  </a:t>
              </a:r>
              <a:r>
                <a:rPr kumimoji="1" lang="el-GR" altLang="zh-CN" sz="2000" b="1" i="1" dirty="0">
                  <a:solidFill>
                    <a:srgbClr val="FF33CC"/>
                  </a:solidFill>
                  <a:effectLst>
                    <a:outerShdw blurRad="38100" dist="38100" dir="2700000" algn="tl">
                      <a:srgbClr val="C0C0C0"/>
                    </a:outerShdw>
                  </a:effectLst>
                  <a:latin typeface="Arial" charset="0"/>
                  <a:ea typeface="宋体" charset="-122"/>
                </a:rPr>
                <a:t>θ</a:t>
              </a:r>
              <a:r>
                <a:rPr lang="en-US" altLang="zh-CN" sz="2000" b="1" baseline="-25000" dirty="0">
                  <a:solidFill>
                    <a:srgbClr val="FF0066"/>
                  </a:solidFill>
                  <a:latin typeface="Times New Roman" pitchFamily="18" charset="0"/>
                  <a:ea typeface="宋体" charset="-122"/>
                </a:rPr>
                <a:t>0</a:t>
              </a:r>
            </a:p>
          </p:txBody>
        </p:sp>
        <p:sp>
          <p:nvSpPr>
            <p:cNvPr id="78860" name="Freeform 10"/>
            <p:cNvSpPr>
              <a:spLocks/>
            </p:cNvSpPr>
            <p:nvPr/>
          </p:nvSpPr>
          <p:spPr bwMode="auto">
            <a:xfrm>
              <a:off x="2815" y="2767"/>
              <a:ext cx="695" cy="491"/>
            </a:xfrm>
            <a:custGeom>
              <a:avLst/>
              <a:gdLst>
                <a:gd name="T0" fmla="*/ 3085392 w 424"/>
                <a:gd name="T1" fmla="*/ 536134460 h 216"/>
                <a:gd name="T2" fmla="*/ 2034944 w 424"/>
                <a:gd name="T3" fmla="*/ 404423420 h 216"/>
                <a:gd name="T4" fmla="*/ 1781043 w 424"/>
                <a:gd name="T5" fmla="*/ 367336418 h 216"/>
                <a:gd name="T6" fmla="*/ 1547685 w 424"/>
                <a:gd name="T7" fmla="*/ 328190272 h 216"/>
                <a:gd name="T8" fmla="*/ 1322075 w 424"/>
                <a:gd name="T9" fmla="*/ 284145111 h 216"/>
                <a:gd name="T10" fmla="*/ 717697 w 424"/>
                <a:gd name="T11" fmla="*/ 185997512 h 216"/>
                <a:gd name="T12" fmla="*/ 396509 w 424"/>
                <a:gd name="T13" fmla="*/ 109769857 h 216"/>
                <a:gd name="T14" fmla="*/ 0 w 424"/>
                <a:gd name="T15" fmla="*/ 0 h 216"/>
                <a:gd name="T16" fmla="*/ 0 w 424"/>
                <a:gd name="T17" fmla="*/ 565231912 h 216"/>
                <a:gd name="T18" fmla="*/ 3085392 w 424"/>
                <a:gd name="T19" fmla="*/ 548887072 h 216"/>
                <a:gd name="T20" fmla="*/ 3085392 w 424"/>
                <a:gd name="T21" fmla="*/ 536134460 h 21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24"/>
                <a:gd name="T34" fmla="*/ 0 h 216"/>
                <a:gd name="T35" fmla="*/ 424 w 424"/>
                <a:gd name="T36" fmla="*/ 216 h 21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24" h="216">
                  <a:moveTo>
                    <a:pt x="423" y="204"/>
                  </a:moveTo>
                  <a:lnTo>
                    <a:pt x="279" y="154"/>
                  </a:lnTo>
                  <a:lnTo>
                    <a:pt x="244" y="140"/>
                  </a:lnTo>
                  <a:lnTo>
                    <a:pt x="212" y="125"/>
                  </a:lnTo>
                  <a:lnTo>
                    <a:pt x="181" y="108"/>
                  </a:lnTo>
                  <a:lnTo>
                    <a:pt x="98" y="71"/>
                  </a:lnTo>
                  <a:lnTo>
                    <a:pt x="54" y="42"/>
                  </a:lnTo>
                  <a:lnTo>
                    <a:pt x="0" y="0"/>
                  </a:lnTo>
                  <a:lnTo>
                    <a:pt x="0" y="215"/>
                  </a:lnTo>
                  <a:lnTo>
                    <a:pt x="423" y="209"/>
                  </a:lnTo>
                  <a:lnTo>
                    <a:pt x="423" y="204"/>
                  </a:lnTo>
                </a:path>
              </a:pathLst>
            </a:custGeom>
            <a:solidFill>
              <a:srgbClr val="FFCC66"/>
            </a:solidFill>
            <a:ln w="12700" cap="rnd">
              <a:noFill/>
              <a:round/>
              <a:headEnd/>
              <a:tailEnd/>
            </a:ln>
          </p:spPr>
          <p:txBody>
            <a:bodyPr/>
            <a:lstStyle/>
            <a:p>
              <a:endParaRPr lang="zh-CN" altLang="en-US"/>
            </a:p>
          </p:txBody>
        </p:sp>
        <p:sp>
          <p:nvSpPr>
            <p:cNvPr id="78861" name="Line 11"/>
            <p:cNvSpPr>
              <a:spLocks noChangeShapeType="1"/>
            </p:cNvSpPr>
            <p:nvPr/>
          </p:nvSpPr>
          <p:spPr bwMode="auto">
            <a:xfrm>
              <a:off x="2813" y="3339"/>
              <a:ext cx="2" cy="331"/>
            </a:xfrm>
            <a:prstGeom prst="line">
              <a:avLst/>
            </a:prstGeom>
            <a:noFill/>
            <a:ln w="38100" cap="rnd">
              <a:solidFill>
                <a:srgbClr val="000000"/>
              </a:solidFill>
              <a:round/>
              <a:headEnd/>
              <a:tailEnd/>
            </a:ln>
          </p:spPr>
          <p:txBody>
            <a:bodyPr/>
            <a:lstStyle/>
            <a:p>
              <a:endParaRPr lang="zh-CN" altLang="en-US"/>
            </a:p>
          </p:txBody>
        </p:sp>
        <p:sp>
          <p:nvSpPr>
            <p:cNvPr id="78862" name="Line 12"/>
            <p:cNvSpPr>
              <a:spLocks noChangeShapeType="1"/>
            </p:cNvSpPr>
            <p:nvPr/>
          </p:nvSpPr>
          <p:spPr bwMode="auto">
            <a:xfrm flipH="1">
              <a:off x="2857" y="3430"/>
              <a:ext cx="893" cy="0"/>
            </a:xfrm>
            <a:prstGeom prst="line">
              <a:avLst/>
            </a:prstGeom>
            <a:noFill/>
            <a:ln w="28575" cap="rnd">
              <a:solidFill>
                <a:srgbClr val="000000"/>
              </a:solidFill>
              <a:round/>
              <a:headEnd/>
              <a:tailEnd type="triangle" w="med" len="med"/>
            </a:ln>
          </p:spPr>
          <p:txBody>
            <a:bodyPr/>
            <a:lstStyle/>
            <a:p>
              <a:endParaRPr lang="zh-CN" altLang="en-US"/>
            </a:p>
          </p:txBody>
        </p:sp>
        <p:sp>
          <p:nvSpPr>
            <p:cNvPr id="78863" name="Text Box 13"/>
            <p:cNvSpPr txBox="1">
              <a:spLocks noChangeArrowheads="1"/>
            </p:cNvSpPr>
            <p:nvPr/>
          </p:nvSpPr>
          <p:spPr bwMode="auto">
            <a:xfrm>
              <a:off x="2925" y="3430"/>
              <a:ext cx="1119" cy="429"/>
            </a:xfrm>
            <a:prstGeom prst="rect">
              <a:avLst/>
            </a:prstGeom>
            <a:noFill/>
            <a:ln w="12700" cap="rnd" algn="ctr">
              <a:noFill/>
              <a:miter lim="800000"/>
              <a:headEnd/>
              <a:tailEnd/>
            </a:ln>
          </p:spPr>
          <p:txBody>
            <a:bodyPr lIns="0" tIns="0" rIns="0" bIns="0"/>
            <a:lstStyle/>
            <a:p>
              <a:pPr algn="just"/>
              <a:r>
                <a:rPr lang="zh-CN" altLang="en-US" b="1">
                  <a:solidFill>
                    <a:srgbClr val="FF0066"/>
                  </a:solidFill>
                  <a:latin typeface="Times New Roman" pitchFamily="18" charset="0"/>
                </a:rPr>
                <a:t>拒绝域</a:t>
              </a:r>
              <a:endParaRPr lang="zh-CN" altLang="en-US" b="1">
                <a:solidFill>
                  <a:srgbClr val="FF0066"/>
                </a:solidFill>
              </a:endParaRPr>
            </a:p>
          </p:txBody>
        </p:sp>
        <p:sp>
          <p:nvSpPr>
            <p:cNvPr id="78864" name="Line 14"/>
            <p:cNvSpPr>
              <a:spLocks noChangeShapeType="1"/>
            </p:cNvSpPr>
            <p:nvPr/>
          </p:nvSpPr>
          <p:spPr bwMode="auto">
            <a:xfrm>
              <a:off x="2254" y="2251"/>
              <a:ext cx="1" cy="992"/>
            </a:xfrm>
            <a:prstGeom prst="line">
              <a:avLst/>
            </a:prstGeom>
            <a:noFill/>
            <a:ln w="12700" cap="rnd">
              <a:solidFill>
                <a:schemeClr val="accent1"/>
              </a:solidFill>
              <a:round/>
              <a:headEnd/>
              <a:tailEnd/>
            </a:ln>
          </p:spPr>
          <p:txBody>
            <a:bodyPr/>
            <a:lstStyle/>
            <a:p>
              <a:endParaRPr lang="zh-CN" altLang="en-US"/>
            </a:p>
          </p:txBody>
        </p:sp>
        <p:sp>
          <p:nvSpPr>
            <p:cNvPr id="78865" name="Line 15"/>
            <p:cNvSpPr>
              <a:spLocks noChangeShapeType="1"/>
            </p:cNvSpPr>
            <p:nvPr/>
          </p:nvSpPr>
          <p:spPr bwMode="auto">
            <a:xfrm flipH="1">
              <a:off x="2815" y="2767"/>
              <a:ext cx="16" cy="446"/>
            </a:xfrm>
            <a:prstGeom prst="line">
              <a:avLst/>
            </a:prstGeom>
            <a:noFill/>
            <a:ln w="57150" cap="rnd">
              <a:solidFill>
                <a:srgbClr val="000000"/>
              </a:solidFill>
              <a:round/>
              <a:headEnd/>
              <a:tailEnd/>
            </a:ln>
          </p:spPr>
          <p:txBody>
            <a:bodyPr/>
            <a:lstStyle/>
            <a:p>
              <a:endParaRPr lang="zh-CN" altLang="en-US"/>
            </a:p>
          </p:txBody>
        </p:sp>
        <p:sp>
          <p:nvSpPr>
            <p:cNvPr id="78866" name="Freeform 16"/>
            <p:cNvSpPr>
              <a:spLocks/>
            </p:cNvSpPr>
            <p:nvPr/>
          </p:nvSpPr>
          <p:spPr bwMode="auto">
            <a:xfrm>
              <a:off x="2256" y="2251"/>
              <a:ext cx="1442" cy="963"/>
            </a:xfrm>
            <a:custGeom>
              <a:avLst/>
              <a:gdLst>
                <a:gd name="T0" fmla="*/ 916 w 1481"/>
                <a:gd name="T1" fmla="*/ 2982 h 901"/>
                <a:gd name="T2" fmla="*/ 820 w 1481"/>
                <a:gd name="T3" fmla="*/ 2953 h 901"/>
                <a:gd name="T4" fmla="*/ 771 w 1481"/>
                <a:gd name="T5" fmla="*/ 2911 h 901"/>
                <a:gd name="T6" fmla="*/ 722 w 1481"/>
                <a:gd name="T7" fmla="*/ 2874 h 901"/>
                <a:gd name="T8" fmla="*/ 675 w 1481"/>
                <a:gd name="T9" fmla="*/ 2799 h 901"/>
                <a:gd name="T10" fmla="*/ 627 w 1481"/>
                <a:gd name="T11" fmla="*/ 2703 h 901"/>
                <a:gd name="T12" fmla="*/ 578 w 1481"/>
                <a:gd name="T13" fmla="*/ 2578 h 901"/>
                <a:gd name="T14" fmla="*/ 482 w 1481"/>
                <a:gd name="T15" fmla="*/ 2241 h 901"/>
                <a:gd name="T16" fmla="*/ 386 w 1481"/>
                <a:gd name="T17" fmla="*/ 1746 h 901"/>
                <a:gd name="T18" fmla="*/ 289 w 1481"/>
                <a:gd name="T19" fmla="*/ 1167 h 901"/>
                <a:gd name="T20" fmla="*/ 240 w 1481"/>
                <a:gd name="T21" fmla="*/ 867 h 901"/>
                <a:gd name="T22" fmla="*/ 193 w 1481"/>
                <a:gd name="T23" fmla="*/ 587 h 901"/>
                <a:gd name="T24" fmla="*/ 145 w 1481"/>
                <a:gd name="T25" fmla="*/ 345 h 901"/>
                <a:gd name="T26" fmla="*/ 95 w 1481"/>
                <a:gd name="T27" fmla="*/ 159 h 901"/>
                <a:gd name="T28" fmla="*/ 48 w 1481"/>
                <a:gd name="T29" fmla="*/ 36 h 901"/>
                <a:gd name="T30" fmla="*/ 0 w 1481"/>
                <a:gd name="T31" fmla="*/ 0 h 90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481"/>
                <a:gd name="T49" fmla="*/ 0 h 901"/>
                <a:gd name="T50" fmla="*/ 1481 w 1481"/>
                <a:gd name="T51" fmla="*/ 901 h 901"/>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481" h="901">
                  <a:moveTo>
                    <a:pt x="1480" y="900"/>
                  </a:moveTo>
                  <a:lnTo>
                    <a:pt x="1325" y="891"/>
                  </a:lnTo>
                  <a:lnTo>
                    <a:pt x="1246" y="879"/>
                  </a:lnTo>
                  <a:lnTo>
                    <a:pt x="1169" y="866"/>
                  </a:lnTo>
                  <a:lnTo>
                    <a:pt x="1090" y="844"/>
                  </a:lnTo>
                  <a:lnTo>
                    <a:pt x="1013" y="816"/>
                  </a:lnTo>
                  <a:lnTo>
                    <a:pt x="935" y="779"/>
                  </a:lnTo>
                  <a:lnTo>
                    <a:pt x="779" y="676"/>
                  </a:lnTo>
                  <a:lnTo>
                    <a:pt x="624" y="528"/>
                  </a:lnTo>
                  <a:lnTo>
                    <a:pt x="466" y="351"/>
                  </a:lnTo>
                  <a:lnTo>
                    <a:pt x="389" y="261"/>
                  </a:lnTo>
                  <a:lnTo>
                    <a:pt x="311" y="178"/>
                  </a:lnTo>
                  <a:lnTo>
                    <a:pt x="234" y="105"/>
                  </a:lnTo>
                  <a:lnTo>
                    <a:pt x="155" y="48"/>
                  </a:lnTo>
                  <a:lnTo>
                    <a:pt x="76" y="11"/>
                  </a:lnTo>
                  <a:lnTo>
                    <a:pt x="0" y="0"/>
                  </a:lnTo>
                </a:path>
              </a:pathLst>
            </a:custGeom>
            <a:noFill/>
            <a:ln w="57150" cap="rnd">
              <a:solidFill>
                <a:srgbClr val="FF33CC"/>
              </a:solidFill>
              <a:round/>
              <a:headEnd/>
              <a:tailEnd/>
            </a:ln>
          </p:spPr>
          <p:txBody>
            <a:bodyPr/>
            <a:lstStyle/>
            <a:p>
              <a:endParaRPr lang="zh-CN" altLang="en-US"/>
            </a:p>
          </p:txBody>
        </p:sp>
        <p:sp>
          <p:nvSpPr>
            <p:cNvPr id="78868" name="Line 18"/>
            <p:cNvSpPr>
              <a:spLocks noChangeShapeType="1"/>
            </p:cNvSpPr>
            <p:nvPr/>
          </p:nvSpPr>
          <p:spPr bwMode="auto">
            <a:xfrm flipV="1">
              <a:off x="1020" y="3233"/>
              <a:ext cx="3553" cy="14"/>
            </a:xfrm>
            <a:prstGeom prst="line">
              <a:avLst/>
            </a:prstGeom>
            <a:noFill/>
            <a:ln w="57150" cap="rnd">
              <a:solidFill>
                <a:srgbClr val="000000"/>
              </a:solidFill>
              <a:round/>
              <a:headEnd/>
              <a:tailEnd type="triangle" w="med" len="med"/>
            </a:ln>
          </p:spPr>
          <p:txBody>
            <a:bodyPr/>
            <a:lstStyle/>
            <a:p>
              <a:endParaRPr lang="zh-CN" altLang="en-US"/>
            </a:p>
          </p:txBody>
        </p:sp>
        <p:sp>
          <p:nvSpPr>
            <p:cNvPr id="78869" name="Line 19"/>
            <p:cNvSpPr>
              <a:spLocks noChangeShapeType="1"/>
            </p:cNvSpPr>
            <p:nvPr/>
          </p:nvSpPr>
          <p:spPr bwMode="auto">
            <a:xfrm flipH="1">
              <a:off x="3095" y="2629"/>
              <a:ext cx="696" cy="508"/>
            </a:xfrm>
            <a:prstGeom prst="line">
              <a:avLst/>
            </a:prstGeom>
            <a:noFill/>
            <a:ln w="38100">
              <a:solidFill>
                <a:schemeClr val="folHlink"/>
              </a:solidFill>
              <a:round/>
              <a:headEnd/>
              <a:tailEnd type="triangle" w="med" len="med"/>
            </a:ln>
          </p:spPr>
          <p:txBody>
            <a:bodyPr anchor="ctr"/>
            <a:lstStyle/>
            <a:p>
              <a:endParaRPr lang="zh-CN" altLang="en-US"/>
            </a:p>
          </p:txBody>
        </p:sp>
        <p:sp>
          <p:nvSpPr>
            <p:cNvPr id="78870" name="Oval 20"/>
            <p:cNvSpPr>
              <a:spLocks noChangeArrowheads="1"/>
            </p:cNvSpPr>
            <p:nvPr/>
          </p:nvSpPr>
          <p:spPr bwMode="auto">
            <a:xfrm>
              <a:off x="2189" y="3213"/>
              <a:ext cx="114" cy="68"/>
            </a:xfrm>
            <a:prstGeom prst="ellipse">
              <a:avLst/>
            </a:prstGeom>
            <a:solidFill>
              <a:srgbClr val="FF33CC"/>
            </a:solidFill>
            <a:ln w="9525">
              <a:solidFill>
                <a:schemeClr val="tx1"/>
              </a:solidFill>
              <a:round/>
              <a:headEnd/>
              <a:tailEnd/>
            </a:ln>
          </p:spPr>
          <p:txBody>
            <a:bodyPr wrap="none" anchor="ctr"/>
            <a:lstStyle/>
            <a:p>
              <a:endParaRPr lang="zh-CN" altLang="en-US"/>
            </a:p>
          </p:txBody>
        </p:sp>
      </p:grpSp>
      <p:sp>
        <p:nvSpPr>
          <p:cNvPr id="78853" name="Text Box 2"/>
          <p:cNvSpPr txBox="1">
            <a:spLocks noChangeArrowheads="1"/>
          </p:cNvSpPr>
          <p:nvPr/>
        </p:nvSpPr>
        <p:spPr bwMode="auto">
          <a:xfrm>
            <a:off x="2369344" y="4240361"/>
            <a:ext cx="2303463" cy="461665"/>
          </a:xfrm>
          <a:prstGeom prst="rect">
            <a:avLst/>
          </a:prstGeom>
          <a:noFill/>
          <a:ln w="9525">
            <a:noFill/>
            <a:miter lim="800000"/>
            <a:headEnd/>
            <a:tailEnd/>
          </a:ln>
        </p:spPr>
        <p:txBody>
          <a:bodyPr>
            <a:spAutoFit/>
          </a:bodyPr>
          <a:lstStyle/>
          <a:p>
            <a:pPr>
              <a:spcBef>
                <a:spcPct val="50000"/>
              </a:spcBef>
            </a:pPr>
            <a:r>
              <a:rPr lang="zh-CN" altLang="en-US" sz="2400" dirty="0"/>
              <a:t>右侧检验中</a:t>
            </a:r>
          </a:p>
        </p:txBody>
      </p:sp>
      <p:sp>
        <p:nvSpPr>
          <p:cNvPr id="78854" name="Rectangle 2"/>
          <p:cNvSpPr>
            <a:spLocks noGrp="1" noChangeArrowheads="1"/>
          </p:cNvSpPr>
          <p:nvPr>
            <p:ph type="title"/>
          </p:nvPr>
        </p:nvSpPr>
        <p:spPr>
          <a:xfrm>
            <a:off x="1600200" y="546099"/>
            <a:ext cx="7591426" cy="887413"/>
          </a:xfrm>
          <a:noFill/>
        </p:spPr>
        <p:txBody>
          <a:bodyPr vert="horz" lIns="90488" tIns="44450" rIns="90488" bIns="44450" rtlCol="0" anchor="ctr" anchorCtr="1">
            <a:normAutofit/>
          </a:bodyPr>
          <a:lstStyle/>
          <a:p>
            <a:pPr eaLnBrk="1" hangingPunct="1"/>
            <a:r>
              <a:rPr lang="zh-CN" altLang="en-US" sz="4000" b="1" dirty="0">
                <a:effectLst/>
              </a:rPr>
              <a:t>三、假设检验中的两类错误（续）</a:t>
            </a:r>
            <a:endParaRPr lang="zh-CN" altLang="en-US" b="1" dirty="0">
              <a:effectLst/>
              <a:latin typeface="Arial" pitchFamily="34" charset="0"/>
            </a:endParaRPr>
          </a:p>
        </p:txBody>
      </p:sp>
    </p:spTree>
    <p:extLst>
      <p:ext uri="{BB962C8B-B14F-4D97-AF65-F5344CB8AC3E}">
        <p14:creationId xmlns:p14="http://schemas.microsoft.com/office/powerpoint/2010/main" val="278440277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9874" name="灯片编号占位符 5"/>
          <p:cNvSpPr>
            <a:spLocks noGrp="1"/>
          </p:cNvSpPr>
          <p:nvPr>
            <p:ph type="sldNum" sz="quarter" idx="4294967295"/>
          </p:nvPr>
        </p:nvSpPr>
        <p:spPr>
          <a:noFill/>
        </p:spPr>
        <p:txBody>
          <a:bodyPr/>
          <a:lstStyle/>
          <a:p>
            <a:r>
              <a:rPr lang="en-US" altLang="zh-CN">
                <a:ea typeface="宋体" pitchFamily="2" charset="-122"/>
              </a:rPr>
              <a:t>8--</a:t>
            </a:r>
            <a:fld id="{814EBBD7-4104-4544-BCCB-5FA5529BED1E}" type="slidenum">
              <a:rPr lang="en-US" altLang="zh-CN" smtClean="0">
                <a:ea typeface="宋体" pitchFamily="2" charset="-122"/>
              </a:rPr>
              <a:pPr/>
              <a:t>36</a:t>
            </a:fld>
            <a:endParaRPr lang="en-US" altLang="zh-CN">
              <a:ea typeface="宋体" pitchFamily="2" charset="-122"/>
            </a:endParaRPr>
          </a:p>
        </p:txBody>
      </p:sp>
      <p:sp>
        <p:nvSpPr>
          <p:cNvPr id="79875" name="Rectangle 2"/>
          <p:cNvSpPr>
            <a:spLocks noGrp="1" noChangeArrowheads="1"/>
          </p:cNvSpPr>
          <p:nvPr>
            <p:ph type="title"/>
          </p:nvPr>
        </p:nvSpPr>
        <p:spPr>
          <a:xfrm>
            <a:off x="2101849" y="298168"/>
            <a:ext cx="7837487" cy="820738"/>
          </a:xfrm>
          <a:noFill/>
        </p:spPr>
        <p:txBody>
          <a:bodyPr vert="horz" lIns="90488" tIns="44450" rIns="90488" bIns="44450" rtlCol="0" anchor="ctr" anchorCtr="1">
            <a:normAutofit/>
          </a:bodyPr>
          <a:lstStyle/>
          <a:p>
            <a:pPr eaLnBrk="1" hangingPunct="1"/>
            <a:r>
              <a:rPr lang="zh-CN" altLang="en-US" sz="4000" dirty="0"/>
              <a:t>三、假设检验中的两类错误（续）</a:t>
            </a:r>
            <a:endParaRPr lang="zh-CN" altLang="en-US" dirty="0">
              <a:latin typeface="Arial" pitchFamily="34" charset="0"/>
            </a:endParaRPr>
          </a:p>
        </p:txBody>
      </p:sp>
      <p:sp>
        <p:nvSpPr>
          <p:cNvPr id="254979" name="Rectangle 3"/>
          <p:cNvSpPr>
            <a:spLocks noGrp="1" noChangeArrowheads="1"/>
          </p:cNvSpPr>
          <p:nvPr>
            <p:ph type="body" idx="1"/>
          </p:nvPr>
        </p:nvSpPr>
        <p:spPr>
          <a:xfrm>
            <a:off x="1393428" y="1288862"/>
            <a:ext cx="8597900" cy="3455988"/>
          </a:xfrm>
          <a:noFill/>
        </p:spPr>
        <p:txBody>
          <a:bodyPr vert="horz" lIns="90488" tIns="44450" rIns="90488" bIns="44450" rtlCol="0">
            <a:normAutofit lnSpcReduction="10000"/>
          </a:bodyPr>
          <a:lstStyle/>
          <a:p>
            <a:pPr marL="0" indent="0">
              <a:buNone/>
            </a:pPr>
            <a:r>
              <a:rPr lang="en-US" altLang="zh-CN" b="1" dirty="0"/>
              <a:t>2. </a:t>
            </a:r>
            <a:r>
              <a:rPr lang="zh-CN" altLang="en-US" b="1" dirty="0">
                <a:solidFill>
                  <a:srgbClr val="C00000"/>
                </a:solidFill>
              </a:rPr>
              <a:t>第二类错误</a:t>
            </a:r>
            <a:r>
              <a:rPr lang="zh-CN" altLang="en-US" b="1" dirty="0"/>
              <a:t>（</a:t>
            </a:r>
            <a:r>
              <a:rPr lang="zh-CN" altLang="en-US" b="1" dirty="0">
                <a:latin typeface="Arial" pitchFamily="34" charset="0"/>
              </a:rPr>
              <a:t>“</a:t>
            </a:r>
            <a:r>
              <a:rPr lang="zh-CN" altLang="en-US" b="1" dirty="0"/>
              <a:t>取伪</a:t>
            </a:r>
            <a:r>
              <a:rPr lang="zh-CN" altLang="en-US" b="1" dirty="0">
                <a:latin typeface="Arial" pitchFamily="34" charset="0"/>
              </a:rPr>
              <a:t>”</a:t>
            </a:r>
            <a:r>
              <a:rPr lang="zh-CN" altLang="en-US" b="1" dirty="0"/>
              <a:t>或</a:t>
            </a:r>
            <a:r>
              <a:rPr lang="zh-CN" altLang="en-US" b="1" dirty="0">
                <a:latin typeface="Arial" pitchFamily="34" charset="0"/>
              </a:rPr>
              <a:t>“</a:t>
            </a:r>
            <a:r>
              <a:rPr lang="zh-CN" altLang="en-US" b="1" dirty="0"/>
              <a:t>采伪</a:t>
            </a:r>
            <a:r>
              <a:rPr lang="zh-CN" altLang="en-US" b="1" dirty="0">
                <a:latin typeface="Arial" pitchFamily="34" charset="0"/>
              </a:rPr>
              <a:t>”</a:t>
            </a:r>
            <a:r>
              <a:rPr lang="zh-CN" altLang="en-US" b="1" dirty="0"/>
              <a:t>错误）</a:t>
            </a:r>
          </a:p>
          <a:p>
            <a:pPr marL="514350" lvl="1" indent="0">
              <a:lnSpc>
                <a:spcPct val="150000"/>
              </a:lnSpc>
              <a:buNone/>
            </a:pPr>
            <a:r>
              <a:rPr lang="zh-CN" altLang="en-US" b="1" dirty="0"/>
              <a:t>原假设不真时未拒绝</a:t>
            </a:r>
            <a:r>
              <a:rPr lang="en-US" altLang="zh-CN" b="1" dirty="0"/>
              <a:t>(</a:t>
            </a:r>
            <a:r>
              <a:rPr lang="zh-CN" altLang="en-US" b="1" dirty="0"/>
              <a:t>接受</a:t>
            </a:r>
            <a:r>
              <a:rPr lang="en-US" altLang="zh-CN" b="1" dirty="0"/>
              <a:t>)</a:t>
            </a:r>
            <a:r>
              <a:rPr lang="zh-CN" altLang="en-US" b="1" dirty="0"/>
              <a:t>原假设</a:t>
            </a:r>
          </a:p>
          <a:p>
            <a:pPr marL="857250" lvl="2" indent="0">
              <a:lnSpc>
                <a:spcPct val="150000"/>
              </a:lnSpc>
              <a:buNone/>
            </a:pPr>
            <a:r>
              <a:rPr lang="zh-CN" altLang="en-US" b="1" dirty="0">
                <a:latin typeface="宋体" pitchFamily="2" charset="-122"/>
              </a:rPr>
              <a:t>例如，产品销售方承诺次品率</a:t>
            </a:r>
            <a:r>
              <a:rPr lang="en-US" altLang="zh-CN" b="1" dirty="0">
                <a:latin typeface="宋体" pitchFamily="2" charset="-122"/>
              </a:rPr>
              <a:t>&lt;5%</a:t>
            </a:r>
            <a:r>
              <a:rPr lang="zh-CN" altLang="en-US" b="1" dirty="0">
                <a:latin typeface="宋体" pitchFamily="2" charset="-122"/>
              </a:rPr>
              <a:t>，这是假的。但买方检验时作出了信任卖方的错误判断</a:t>
            </a:r>
          </a:p>
          <a:p>
            <a:pPr marL="514350" lvl="1" indent="0">
              <a:buNone/>
            </a:pPr>
            <a:r>
              <a:rPr lang="zh-CN" altLang="en-US" b="1" dirty="0"/>
              <a:t>第二类错误的概率为</a:t>
            </a:r>
            <a:r>
              <a:rPr lang="zh-CN" altLang="en-US" b="1" dirty="0">
                <a:latin typeface="Symbol" pitchFamily="18" charset="2"/>
              </a:rPr>
              <a:t> </a:t>
            </a:r>
            <a:r>
              <a:rPr lang="zh-CN" altLang="en-US" sz="3600" b="1" i="1" dirty="0">
                <a:solidFill>
                  <a:srgbClr val="FF0066"/>
                </a:solidFill>
                <a:latin typeface="Times New Roman" pitchFamily="18" charset="0"/>
                <a:sym typeface="Symbol" pitchFamily="18" charset="2"/>
              </a:rPr>
              <a:t></a:t>
            </a:r>
            <a:endParaRPr lang="zh-CN" altLang="en-US" b="1" i="1" dirty="0">
              <a:latin typeface="Symbol" pitchFamily="18" charset="2"/>
            </a:endParaRPr>
          </a:p>
          <a:p>
            <a:pPr marL="1314450" lvl="2">
              <a:buNone/>
            </a:pPr>
            <a:r>
              <a:rPr lang="en-US" altLang="zh-CN" sz="3200" b="1" dirty="0" err="1">
                <a:solidFill>
                  <a:srgbClr val="C00000"/>
                </a:solidFill>
                <a:latin typeface="Times New Roman" pitchFamily="18" charset="0"/>
              </a:rPr>
              <a:t>Prob</a:t>
            </a:r>
            <a:r>
              <a:rPr lang="en-US" altLang="zh-CN" sz="3200" b="1" dirty="0">
                <a:solidFill>
                  <a:srgbClr val="C00000"/>
                </a:solidFill>
                <a:latin typeface="Times New Roman" pitchFamily="18" charset="0"/>
              </a:rPr>
              <a:t>(</a:t>
            </a:r>
            <a:r>
              <a:rPr lang="zh-CN" altLang="en-US" sz="3200" b="1" dirty="0">
                <a:solidFill>
                  <a:srgbClr val="C00000"/>
                </a:solidFill>
                <a:latin typeface="Times New Roman" pitchFamily="18" charset="0"/>
              </a:rPr>
              <a:t>接受</a:t>
            </a:r>
            <a:r>
              <a:rPr lang="en-US" altLang="zh-CN" sz="3200" b="1" dirty="0">
                <a:solidFill>
                  <a:srgbClr val="C00000"/>
                </a:solidFill>
                <a:latin typeface="Times New Roman" pitchFamily="18" charset="0"/>
              </a:rPr>
              <a:t>H</a:t>
            </a:r>
            <a:r>
              <a:rPr lang="en-US" altLang="zh-CN" sz="3200" b="1" baseline="-25000" dirty="0">
                <a:solidFill>
                  <a:srgbClr val="C00000"/>
                </a:solidFill>
                <a:latin typeface="Times New Roman" pitchFamily="18" charset="0"/>
              </a:rPr>
              <a:t>0 </a:t>
            </a:r>
            <a:r>
              <a:rPr lang="en-US" altLang="zh-CN" sz="3200" b="1" dirty="0">
                <a:solidFill>
                  <a:srgbClr val="C00000"/>
                </a:solidFill>
                <a:latin typeface="Times New Roman" pitchFamily="18" charset="0"/>
              </a:rPr>
              <a:t>/ H</a:t>
            </a:r>
            <a:r>
              <a:rPr lang="en-US" altLang="zh-CN" sz="3200" b="1" baseline="-25000" dirty="0">
                <a:solidFill>
                  <a:srgbClr val="C00000"/>
                </a:solidFill>
                <a:latin typeface="Times New Roman" pitchFamily="18" charset="0"/>
              </a:rPr>
              <a:t>0</a:t>
            </a:r>
            <a:r>
              <a:rPr lang="zh-CN" altLang="en-US" sz="3200" b="1" dirty="0">
                <a:solidFill>
                  <a:srgbClr val="C00000"/>
                </a:solidFill>
                <a:latin typeface="Times New Roman" pitchFamily="18" charset="0"/>
              </a:rPr>
              <a:t>不真</a:t>
            </a:r>
            <a:r>
              <a:rPr lang="en-US" altLang="zh-CN" sz="3200" b="1" dirty="0">
                <a:solidFill>
                  <a:srgbClr val="C00000"/>
                </a:solidFill>
                <a:latin typeface="Times New Roman" pitchFamily="18" charset="0"/>
              </a:rPr>
              <a:t>)=</a:t>
            </a:r>
            <a:r>
              <a:rPr lang="zh-CN" altLang="en-US" sz="3200" b="1" dirty="0">
                <a:solidFill>
                  <a:srgbClr val="C00000"/>
                </a:solidFill>
                <a:latin typeface="Times New Roman" pitchFamily="18" charset="0"/>
                <a:sym typeface="Symbol" pitchFamily="18" charset="2"/>
              </a:rPr>
              <a:t></a:t>
            </a:r>
            <a:endParaRPr lang="zh-CN" altLang="en-US" sz="3200" b="1" dirty="0">
              <a:solidFill>
                <a:srgbClr val="C00000"/>
              </a:solidFill>
              <a:latin typeface="Times New Roman" pitchFamily="18" charset="0"/>
            </a:endParaRPr>
          </a:p>
        </p:txBody>
      </p:sp>
      <p:grpSp>
        <p:nvGrpSpPr>
          <p:cNvPr id="79877" name="Group 25"/>
          <p:cNvGrpSpPr>
            <a:grpSpLocks/>
          </p:cNvGrpSpPr>
          <p:nvPr/>
        </p:nvGrpSpPr>
        <p:grpSpPr bwMode="auto">
          <a:xfrm>
            <a:off x="5303838" y="4365625"/>
            <a:ext cx="5364162" cy="2376488"/>
            <a:chOff x="2381" y="2659"/>
            <a:chExt cx="3379" cy="1497"/>
          </a:xfrm>
        </p:grpSpPr>
        <p:sp>
          <p:nvSpPr>
            <p:cNvPr id="79879" name="Rectangle 5"/>
            <p:cNvSpPr>
              <a:spLocks noChangeArrowheads="1"/>
            </p:cNvSpPr>
            <p:nvPr/>
          </p:nvSpPr>
          <p:spPr bwMode="auto">
            <a:xfrm rot="-5400000">
              <a:off x="2330" y="2890"/>
              <a:ext cx="203" cy="102"/>
            </a:xfrm>
            <a:prstGeom prst="rect">
              <a:avLst/>
            </a:prstGeom>
            <a:noFill/>
            <a:ln w="12700">
              <a:noFill/>
              <a:miter lim="800000"/>
              <a:headEnd/>
              <a:tailEnd/>
            </a:ln>
          </p:spPr>
          <p:txBody>
            <a:bodyPr anchor="ctr"/>
            <a:lstStyle/>
            <a:p>
              <a:endParaRPr lang="zh-CN" altLang="en-US"/>
            </a:p>
          </p:txBody>
        </p:sp>
        <p:sp>
          <p:nvSpPr>
            <p:cNvPr id="79882" name="Freeform 8"/>
            <p:cNvSpPr>
              <a:spLocks/>
            </p:cNvSpPr>
            <p:nvPr/>
          </p:nvSpPr>
          <p:spPr bwMode="auto">
            <a:xfrm>
              <a:off x="2449" y="2659"/>
              <a:ext cx="1022" cy="803"/>
            </a:xfrm>
            <a:custGeom>
              <a:avLst/>
              <a:gdLst>
                <a:gd name="T0" fmla="*/ 0 w 393"/>
                <a:gd name="T1" fmla="*/ 113 h 901"/>
                <a:gd name="T2" fmla="*/ 1238023266 w 393"/>
                <a:gd name="T3" fmla="*/ 113 h 901"/>
                <a:gd name="T4" fmla="*/ 1806613669 w 393"/>
                <a:gd name="T5" fmla="*/ 111 h 901"/>
                <a:gd name="T6" fmla="*/ 2147483647 w 393"/>
                <a:gd name="T7" fmla="*/ 108 h 901"/>
                <a:gd name="T8" fmla="*/ 2147483647 w 393"/>
                <a:gd name="T9" fmla="*/ 106 h 901"/>
                <a:gd name="T10" fmla="*/ 2147483647 w 393"/>
                <a:gd name="T11" fmla="*/ 102 h 901"/>
                <a:gd name="T12" fmla="*/ 2147483647 w 393"/>
                <a:gd name="T13" fmla="*/ 98 h 901"/>
                <a:gd name="T14" fmla="*/ 2147483647 w 393"/>
                <a:gd name="T15" fmla="*/ 85 h 901"/>
                <a:gd name="T16" fmla="*/ 2147483647 w 393"/>
                <a:gd name="T17" fmla="*/ 67 h 901"/>
                <a:gd name="T18" fmla="*/ 2147483647 w 393"/>
                <a:gd name="T19" fmla="*/ 44 h 901"/>
                <a:gd name="T20" fmla="*/ 2147483647 w 393"/>
                <a:gd name="T21" fmla="*/ 33 h 901"/>
                <a:gd name="T22" fmla="*/ 2147483647 w 393"/>
                <a:gd name="T23" fmla="*/ 23 h 901"/>
                <a:gd name="T24" fmla="*/ 2147483647 w 393"/>
                <a:gd name="T25" fmla="*/ 12 h 901"/>
                <a:gd name="T26" fmla="*/ 2147483647 w 393"/>
                <a:gd name="T27" fmla="*/ 6 h 901"/>
                <a:gd name="T28" fmla="*/ 2147483647 w 393"/>
                <a:gd name="T29" fmla="*/ 4 h 901"/>
                <a:gd name="T30" fmla="*/ 2147483647 w 393"/>
                <a:gd name="T31" fmla="*/ 0 h 90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393"/>
                <a:gd name="T49" fmla="*/ 0 h 901"/>
                <a:gd name="T50" fmla="*/ 393 w 393"/>
                <a:gd name="T51" fmla="*/ 901 h 901"/>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393" h="901">
                  <a:moveTo>
                    <a:pt x="0" y="900"/>
                  </a:moveTo>
                  <a:lnTo>
                    <a:pt x="42" y="891"/>
                  </a:lnTo>
                  <a:lnTo>
                    <a:pt x="61" y="879"/>
                  </a:lnTo>
                  <a:lnTo>
                    <a:pt x="82" y="866"/>
                  </a:lnTo>
                  <a:lnTo>
                    <a:pt x="104" y="844"/>
                  </a:lnTo>
                  <a:lnTo>
                    <a:pt x="123" y="816"/>
                  </a:lnTo>
                  <a:lnTo>
                    <a:pt x="144" y="779"/>
                  </a:lnTo>
                  <a:lnTo>
                    <a:pt x="186" y="676"/>
                  </a:lnTo>
                  <a:lnTo>
                    <a:pt x="227" y="528"/>
                  </a:lnTo>
                  <a:lnTo>
                    <a:pt x="267" y="351"/>
                  </a:lnTo>
                  <a:lnTo>
                    <a:pt x="288" y="261"/>
                  </a:lnTo>
                  <a:lnTo>
                    <a:pt x="309" y="178"/>
                  </a:lnTo>
                  <a:lnTo>
                    <a:pt x="330" y="105"/>
                  </a:lnTo>
                  <a:lnTo>
                    <a:pt x="349" y="48"/>
                  </a:lnTo>
                  <a:lnTo>
                    <a:pt x="371" y="11"/>
                  </a:lnTo>
                  <a:lnTo>
                    <a:pt x="392" y="0"/>
                  </a:lnTo>
                </a:path>
              </a:pathLst>
            </a:custGeom>
            <a:noFill/>
            <a:ln w="38100" cap="rnd">
              <a:solidFill>
                <a:srgbClr val="FF33CC"/>
              </a:solidFill>
              <a:round/>
              <a:headEnd/>
              <a:tailEnd/>
            </a:ln>
          </p:spPr>
          <p:txBody>
            <a:bodyPr/>
            <a:lstStyle/>
            <a:p>
              <a:endParaRPr lang="zh-CN" altLang="en-US"/>
            </a:p>
          </p:txBody>
        </p:sp>
        <p:sp>
          <p:nvSpPr>
            <p:cNvPr id="79883" name="Rectangle 9"/>
            <p:cNvSpPr>
              <a:spLocks noChangeArrowheads="1"/>
            </p:cNvSpPr>
            <p:nvPr/>
          </p:nvSpPr>
          <p:spPr bwMode="auto">
            <a:xfrm>
              <a:off x="4897" y="3669"/>
              <a:ext cx="142" cy="64"/>
            </a:xfrm>
            <a:prstGeom prst="rect">
              <a:avLst/>
            </a:prstGeom>
            <a:noFill/>
            <a:ln w="12700">
              <a:noFill/>
              <a:miter lim="800000"/>
              <a:headEnd/>
              <a:tailEnd/>
            </a:ln>
          </p:spPr>
          <p:txBody>
            <a:bodyPr anchor="ctr"/>
            <a:lstStyle/>
            <a:p>
              <a:endParaRPr lang="zh-CN" altLang="en-US"/>
            </a:p>
          </p:txBody>
        </p:sp>
        <p:sp>
          <p:nvSpPr>
            <p:cNvPr id="254986" name="Text Box 10"/>
            <p:cNvSpPr txBox="1">
              <a:spLocks noChangeArrowheads="1"/>
            </p:cNvSpPr>
            <p:nvPr/>
          </p:nvSpPr>
          <p:spPr bwMode="auto">
            <a:xfrm>
              <a:off x="3420" y="3511"/>
              <a:ext cx="1511" cy="282"/>
            </a:xfrm>
            <a:prstGeom prst="rect">
              <a:avLst/>
            </a:prstGeom>
            <a:noFill/>
            <a:ln w="9525">
              <a:noFill/>
              <a:miter lim="800000"/>
              <a:headEnd/>
              <a:tailEnd/>
            </a:ln>
            <a:effectLst/>
          </p:spPr>
          <p:txBody>
            <a:bodyPr lIns="0" tIns="0" rIns="0" bIns="0"/>
            <a:lstStyle/>
            <a:p>
              <a:pPr algn="just">
                <a:defRPr/>
              </a:pPr>
              <a:r>
                <a:rPr kumimoji="1" lang="el-GR" altLang="zh-CN" sz="2400" b="1" i="1" dirty="0">
                  <a:solidFill>
                    <a:srgbClr val="FF33CC"/>
                  </a:solidFill>
                  <a:effectLst>
                    <a:outerShdw blurRad="38100" dist="38100" dir="2700000" algn="tl">
                      <a:srgbClr val="C0C0C0"/>
                    </a:outerShdw>
                  </a:effectLst>
                  <a:latin typeface="Arial" charset="0"/>
                  <a:ea typeface="宋体" charset="-122"/>
                </a:rPr>
                <a:t>θ</a:t>
              </a:r>
              <a:r>
                <a:rPr lang="en-US" altLang="zh-CN" sz="2400" b="1" baseline="-25000" dirty="0">
                  <a:solidFill>
                    <a:srgbClr val="FF0066"/>
                  </a:solidFill>
                  <a:latin typeface="Times New Roman" pitchFamily="18" charset="0"/>
                  <a:ea typeface="宋体" charset="-122"/>
                </a:rPr>
                <a:t>0</a:t>
              </a:r>
            </a:p>
          </p:txBody>
        </p:sp>
        <p:sp>
          <p:nvSpPr>
            <p:cNvPr id="79885" name="Line 11"/>
            <p:cNvSpPr>
              <a:spLocks noChangeShapeType="1"/>
            </p:cNvSpPr>
            <p:nvPr/>
          </p:nvSpPr>
          <p:spPr bwMode="auto">
            <a:xfrm>
              <a:off x="4002" y="3648"/>
              <a:ext cx="2" cy="282"/>
            </a:xfrm>
            <a:prstGeom prst="line">
              <a:avLst/>
            </a:prstGeom>
            <a:noFill/>
            <a:ln w="38100" cap="rnd">
              <a:solidFill>
                <a:srgbClr val="000000"/>
              </a:solidFill>
              <a:round/>
              <a:headEnd/>
              <a:tailEnd/>
            </a:ln>
          </p:spPr>
          <p:txBody>
            <a:bodyPr/>
            <a:lstStyle/>
            <a:p>
              <a:endParaRPr lang="zh-CN" altLang="en-US"/>
            </a:p>
          </p:txBody>
        </p:sp>
        <p:sp>
          <p:nvSpPr>
            <p:cNvPr id="79886" name="Line 12"/>
            <p:cNvSpPr>
              <a:spLocks noChangeShapeType="1"/>
            </p:cNvSpPr>
            <p:nvPr/>
          </p:nvSpPr>
          <p:spPr bwMode="auto">
            <a:xfrm flipH="1">
              <a:off x="4042" y="3789"/>
              <a:ext cx="825" cy="0"/>
            </a:xfrm>
            <a:prstGeom prst="line">
              <a:avLst/>
            </a:prstGeom>
            <a:noFill/>
            <a:ln w="28575" cap="rnd">
              <a:solidFill>
                <a:srgbClr val="000000"/>
              </a:solidFill>
              <a:round/>
              <a:headEnd/>
              <a:tailEnd type="triangle" w="med" len="med"/>
            </a:ln>
          </p:spPr>
          <p:txBody>
            <a:bodyPr/>
            <a:lstStyle/>
            <a:p>
              <a:endParaRPr lang="zh-CN" altLang="en-US"/>
            </a:p>
          </p:txBody>
        </p:sp>
        <p:sp>
          <p:nvSpPr>
            <p:cNvPr id="79887" name="Text Box 13"/>
            <p:cNvSpPr txBox="1">
              <a:spLocks noChangeArrowheads="1"/>
            </p:cNvSpPr>
            <p:nvPr/>
          </p:nvSpPr>
          <p:spPr bwMode="auto">
            <a:xfrm>
              <a:off x="4176" y="3789"/>
              <a:ext cx="1033" cy="367"/>
            </a:xfrm>
            <a:prstGeom prst="rect">
              <a:avLst/>
            </a:prstGeom>
            <a:noFill/>
            <a:ln w="12700" cap="rnd" algn="ctr">
              <a:noFill/>
              <a:miter lim="800000"/>
              <a:headEnd/>
              <a:tailEnd/>
            </a:ln>
          </p:spPr>
          <p:txBody>
            <a:bodyPr lIns="0" tIns="0" rIns="0" bIns="0"/>
            <a:lstStyle/>
            <a:p>
              <a:pPr algn="just"/>
              <a:r>
                <a:rPr lang="zh-CN" altLang="en-US" sz="2800" b="1" dirty="0">
                  <a:solidFill>
                    <a:srgbClr val="FF0066"/>
                  </a:solidFill>
                  <a:latin typeface="Times New Roman" pitchFamily="18" charset="0"/>
                </a:rPr>
                <a:t>拒绝域</a:t>
              </a:r>
              <a:endParaRPr lang="zh-CN" altLang="en-US" sz="2800" b="1" dirty="0">
                <a:solidFill>
                  <a:srgbClr val="FF0066"/>
                </a:solidFill>
              </a:endParaRPr>
            </a:p>
          </p:txBody>
        </p:sp>
        <p:sp>
          <p:nvSpPr>
            <p:cNvPr id="79889" name="Line 15"/>
            <p:cNvSpPr>
              <a:spLocks noChangeShapeType="1"/>
            </p:cNvSpPr>
            <p:nvPr/>
          </p:nvSpPr>
          <p:spPr bwMode="auto">
            <a:xfrm flipH="1">
              <a:off x="4004" y="3112"/>
              <a:ext cx="10" cy="369"/>
            </a:xfrm>
            <a:prstGeom prst="line">
              <a:avLst/>
            </a:prstGeom>
            <a:noFill/>
            <a:ln w="57150" cap="rnd">
              <a:solidFill>
                <a:srgbClr val="000000"/>
              </a:solidFill>
              <a:round/>
              <a:headEnd/>
              <a:tailEnd/>
            </a:ln>
          </p:spPr>
          <p:txBody>
            <a:bodyPr/>
            <a:lstStyle/>
            <a:p>
              <a:endParaRPr lang="zh-CN" altLang="en-US"/>
            </a:p>
          </p:txBody>
        </p:sp>
        <p:sp>
          <p:nvSpPr>
            <p:cNvPr id="79891" name="Freeform 17"/>
            <p:cNvSpPr>
              <a:spLocks/>
            </p:cNvSpPr>
            <p:nvPr/>
          </p:nvSpPr>
          <p:spPr bwMode="auto">
            <a:xfrm>
              <a:off x="3488" y="2659"/>
              <a:ext cx="1331" cy="823"/>
            </a:xfrm>
            <a:custGeom>
              <a:avLst/>
              <a:gdLst>
                <a:gd name="T0" fmla="*/ 217 w 1481"/>
                <a:gd name="T1" fmla="*/ 176 h 901"/>
                <a:gd name="T2" fmla="*/ 194 w 1481"/>
                <a:gd name="T3" fmla="*/ 174 h 901"/>
                <a:gd name="T4" fmla="*/ 182 w 1481"/>
                <a:gd name="T5" fmla="*/ 173 h 901"/>
                <a:gd name="T6" fmla="*/ 171 w 1481"/>
                <a:gd name="T7" fmla="*/ 170 h 901"/>
                <a:gd name="T8" fmla="*/ 160 w 1481"/>
                <a:gd name="T9" fmla="*/ 164 h 901"/>
                <a:gd name="T10" fmla="*/ 147 w 1481"/>
                <a:gd name="T11" fmla="*/ 160 h 901"/>
                <a:gd name="T12" fmla="*/ 137 w 1481"/>
                <a:gd name="T13" fmla="*/ 153 h 901"/>
                <a:gd name="T14" fmla="*/ 114 w 1481"/>
                <a:gd name="T15" fmla="*/ 132 h 901"/>
                <a:gd name="T16" fmla="*/ 91 w 1481"/>
                <a:gd name="T17" fmla="*/ 103 h 901"/>
                <a:gd name="T18" fmla="*/ 67 w 1481"/>
                <a:gd name="T19" fmla="*/ 69 h 901"/>
                <a:gd name="T20" fmla="*/ 57 w 1481"/>
                <a:gd name="T21" fmla="*/ 51 h 901"/>
                <a:gd name="T22" fmla="*/ 45 w 1481"/>
                <a:gd name="T23" fmla="*/ 35 h 901"/>
                <a:gd name="T24" fmla="*/ 35 w 1481"/>
                <a:gd name="T25" fmla="*/ 21 h 901"/>
                <a:gd name="T26" fmla="*/ 23 w 1481"/>
                <a:gd name="T27" fmla="*/ 10 h 901"/>
                <a:gd name="T28" fmla="*/ 11 w 1481"/>
                <a:gd name="T29" fmla="*/ 5 h 901"/>
                <a:gd name="T30" fmla="*/ 0 w 1481"/>
                <a:gd name="T31" fmla="*/ 0 h 90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481"/>
                <a:gd name="T49" fmla="*/ 0 h 901"/>
                <a:gd name="T50" fmla="*/ 1481 w 1481"/>
                <a:gd name="T51" fmla="*/ 901 h 901"/>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481" h="901">
                  <a:moveTo>
                    <a:pt x="1480" y="900"/>
                  </a:moveTo>
                  <a:lnTo>
                    <a:pt x="1325" y="891"/>
                  </a:lnTo>
                  <a:lnTo>
                    <a:pt x="1246" y="879"/>
                  </a:lnTo>
                  <a:lnTo>
                    <a:pt x="1169" y="866"/>
                  </a:lnTo>
                  <a:lnTo>
                    <a:pt x="1090" y="844"/>
                  </a:lnTo>
                  <a:lnTo>
                    <a:pt x="1013" y="816"/>
                  </a:lnTo>
                  <a:lnTo>
                    <a:pt x="935" y="779"/>
                  </a:lnTo>
                  <a:lnTo>
                    <a:pt x="779" y="676"/>
                  </a:lnTo>
                  <a:lnTo>
                    <a:pt x="624" y="528"/>
                  </a:lnTo>
                  <a:lnTo>
                    <a:pt x="466" y="351"/>
                  </a:lnTo>
                  <a:lnTo>
                    <a:pt x="389" y="261"/>
                  </a:lnTo>
                  <a:lnTo>
                    <a:pt x="311" y="178"/>
                  </a:lnTo>
                  <a:lnTo>
                    <a:pt x="234" y="105"/>
                  </a:lnTo>
                  <a:lnTo>
                    <a:pt x="155" y="48"/>
                  </a:lnTo>
                  <a:lnTo>
                    <a:pt x="76" y="11"/>
                  </a:lnTo>
                  <a:lnTo>
                    <a:pt x="0" y="0"/>
                  </a:lnTo>
                </a:path>
              </a:pathLst>
            </a:custGeom>
            <a:noFill/>
            <a:ln w="38100" cap="rnd">
              <a:solidFill>
                <a:srgbClr val="FF33CC"/>
              </a:solidFill>
              <a:round/>
              <a:headEnd/>
              <a:tailEnd/>
            </a:ln>
          </p:spPr>
          <p:txBody>
            <a:bodyPr/>
            <a:lstStyle/>
            <a:p>
              <a:endParaRPr lang="zh-CN" altLang="en-US"/>
            </a:p>
          </p:txBody>
        </p:sp>
        <p:sp>
          <p:nvSpPr>
            <p:cNvPr id="79895" name="Line 21"/>
            <p:cNvSpPr>
              <a:spLocks noChangeShapeType="1"/>
            </p:cNvSpPr>
            <p:nvPr/>
          </p:nvSpPr>
          <p:spPr bwMode="auto">
            <a:xfrm flipV="1">
              <a:off x="2480" y="3498"/>
              <a:ext cx="3280" cy="12"/>
            </a:xfrm>
            <a:prstGeom prst="line">
              <a:avLst/>
            </a:prstGeom>
            <a:noFill/>
            <a:ln w="57150" cap="rnd">
              <a:solidFill>
                <a:srgbClr val="000000"/>
              </a:solidFill>
              <a:round/>
              <a:headEnd/>
              <a:tailEnd type="triangle" w="med" len="med"/>
            </a:ln>
          </p:spPr>
          <p:txBody>
            <a:bodyPr/>
            <a:lstStyle/>
            <a:p>
              <a:endParaRPr lang="zh-CN" altLang="en-US"/>
            </a:p>
          </p:txBody>
        </p:sp>
        <p:sp>
          <p:nvSpPr>
            <p:cNvPr id="79897" name="Oval 23"/>
            <p:cNvSpPr>
              <a:spLocks noChangeArrowheads="1"/>
            </p:cNvSpPr>
            <p:nvPr/>
          </p:nvSpPr>
          <p:spPr bwMode="auto">
            <a:xfrm>
              <a:off x="3442" y="3447"/>
              <a:ext cx="102" cy="102"/>
            </a:xfrm>
            <a:prstGeom prst="ellipse">
              <a:avLst/>
            </a:prstGeom>
            <a:solidFill>
              <a:srgbClr val="FF33CC"/>
            </a:solidFill>
            <a:ln w="9525">
              <a:solidFill>
                <a:schemeClr val="tx1"/>
              </a:solidFill>
              <a:round/>
              <a:headEnd/>
              <a:tailEnd/>
            </a:ln>
          </p:spPr>
          <p:txBody>
            <a:bodyPr wrap="none" anchor="ctr"/>
            <a:lstStyle/>
            <a:p>
              <a:endParaRPr lang="zh-CN" altLang="en-US"/>
            </a:p>
          </p:txBody>
        </p:sp>
      </p:grpSp>
      <p:sp>
        <p:nvSpPr>
          <p:cNvPr id="79878" name="Text Box 2"/>
          <p:cNvSpPr txBox="1">
            <a:spLocks noChangeArrowheads="1"/>
          </p:cNvSpPr>
          <p:nvPr/>
        </p:nvSpPr>
        <p:spPr bwMode="auto">
          <a:xfrm>
            <a:off x="3388916" y="4859942"/>
            <a:ext cx="2303462" cy="523220"/>
          </a:xfrm>
          <a:prstGeom prst="rect">
            <a:avLst/>
          </a:prstGeom>
          <a:noFill/>
          <a:ln w="9525">
            <a:noFill/>
            <a:miter lim="800000"/>
            <a:headEnd/>
            <a:tailEnd/>
          </a:ln>
        </p:spPr>
        <p:txBody>
          <a:bodyPr>
            <a:spAutoFit/>
          </a:bodyPr>
          <a:lstStyle/>
          <a:p>
            <a:pPr>
              <a:spcBef>
                <a:spcPct val="50000"/>
              </a:spcBef>
            </a:pPr>
            <a:r>
              <a:rPr lang="zh-CN" altLang="en-US" sz="2800" dirty="0">
                <a:solidFill>
                  <a:srgbClr val="000000"/>
                </a:solidFill>
              </a:rPr>
              <a:t>右侧检验中</a:t>
            </a:r>
          </a:p>
        </p:txBody>
      </p:sp>
      <p:grpSp>
        <p:nvGrpSpPr>
          <p:cNvPr id="27" name="Group 25"/>
          <p:cNvGrpSpPr>
            <a:grpSpLocks/>
          </p:cNvGrpSpPr>
          <p:nvPr/>
        </p:nvGrpSpPr>
        <p:grpSpPr bwMode="auto">
          <a:xfrm>
            <a:off x="5303838" y="4364880"/>
            <a:ext cx="4976812" cy="2376488"/>
            <a:chOff x="2381" y="2659"/>
            <a:chExt cx="3135" cy="1497"/>
          </a:xfrm>
        </p:grpSpPr>
        <p:sp>
          <p:nvSpPr>
            <p:cNvPr id="28" name="Rectangle 5"/>
            <p:cNvSpPr>
              <a:spLocks noChangeArrowheads="1"/>
            </p:cNvSpPr>
            <p:nvPr/>
          </p:nvSpPr>
          <p:spPr bwMode="auto">
            <a:xfrm rot="-5400000">
              <a:off x="2330" y="2890"/>
              <a:ext cx="203" cy="102"/>
            </a:xfrm>
            <a:prstGeom prst="rect">
              <a:avLst/>
            </a:prstGeom>
            <a:noFill/>
            <a:ln w="12700">
              <a:noFill/>
              <a:miter lim="800000"/>
              <a:headEnd/>
              <a:tailEnd/>
            </a:ln>
          </p:spPr>
          <p:txBody>
            <a:bodyPr anchor="ctr"/>
            <a:lstStyle/>
            <a:p>
              <a:endParaRPr lang="zh-CN" altLang="en-US"/>
            </a:p>
          </p:txBody>
        </p:sp>
        <p:sp>
          <p:nvSpPr>
            <p:cNvPr id="29" name="Freeform 6"/>
            <p:cNvSpPr>
              <a:spLocks/>
            </p:cNvSpPr>
            <p:nvPr/>
          </p:nvSpPr>
          <p:spPr bwMode="auto">
            <a:xfrm rot="21467302" flipH="1">
              <a:off x="3162" y="2806"/>
              <a:ext cx="822" cy="706"/>
            </a:xfrm>
            <a:custGeom>
              <a:avLst/>
              <a:gdLst>
                <a:gd name="T0" fmla="*/ 63320829 w 424"/>
                <a:gd name="T1" fmla="*/ 2147483647 h 216"/>
                <a:gd name="T2" fmla="*/ 41771965 w 424"/>
                <a:gd name="T3" fmla="*/ 2147483647 h 216"/>
                <a:gd name="T4" fmla="*/ 36521868 w 424"/>
                <a:gd name="T5" fmla="*/ 2147483647 h 216"/>
                <a:gd name="T6" fmla="*/ 31729571 w 424"/>
                <a:gd name="T7" fmla="*/ 2147483647 h 216"/>
                <a:gd name="T8" fmla="*/ 27066630 w 424"/>
                <a:gd name="T9" fmla="*/ 2147483647 h 216"/>
                <a:gd name="T10" fmla="*/ 14642200 w 424"/>
                <a:gd name="T11" fmla="*/ 2147483647 h 216"/>
                <a:gd name="T12" fmla="*/ 8115183 w 424"/>
                <a:gd name="T13" fmla="*/ 2147483647 h 216"/>
                <a:gd name="T14" fmla="*/ 0 w 424"/>
                <a:gd name="T15" fmla="*/ 0 h 216"/>
                <a:gd name="T16" fmla="*/ 0 w 424"/>
                <a:gd name="T17" fmla="*/ 2147483647 h 216"/>
                <a:gd name="T18" fmla="*/ 63320829 w 424"/>
                <a:gd name="T19" fmla="*/ 2147483647 h 216"/>
                <a:gd name="T20" fmla="*/ 63320829 w 424"/>
                <a:gd name="T21" fmla="*/ 2147483647 h 21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24"/>
                <a:gd name="T34" fmla="*/ 0 h 216"/>
                <a:gd name="T35" fmla="*/ 424 w 424"/>
                <a:gd name="T36" fmla="*/ 216 h 21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24" h="216">
                  <a:moveTo>
                    <a:pt x="423" y="204"/>
                  </a:moveTo>
                  <a:lnTo>
                    <a:pt x="279" y="154"/>
                  </a:lnTo>
                  <a:lnTo>
                    <a:pt x="244" y="140"/>
                  </a:lnTo>
                  <a:lnTo>
                    <a:pt x="212" y="125"/>
                  </a:lnTo>
                  <a:lnTo>
                    <a:pt x="181" y="108"/>
                  </a:lnTo>
                  <a:lnTo>
                    <a:pt x="98" y="71"/>
                  </a:lnTo>
                  <a:lnTo>
                    <a:pt x="54" y="42"/>
                  </a:lnTo>
                  <a:lnTo>
                    <a:pt x="0" y="0"/>
                  </a:lnTo>
                  <a:lnTo>
                    <a:pt x="0" y="215"/>
                  </a:lnTo>
                  <a:lnTo>
                    <a:pt x="423" y="209"/>
                  </a:lnTo>
                  <a:lnTo>
                    <a:pt x="423" y="204"/>
                  </a:lnTo>
                </a:path>
              </a:pathLst>
            </a:custGeom>
            <a:solidFill>
              <a:srgbClr val="CC99FF"/>
            </a:solidFill>
            <a:ln w="12700" cap="rnd">
              <a:solidFill>
                <a:srgbClr val="CC99FF"/>
              </a:solidFill>
              <a:round/>
              <a:headEnd/>
              <a:tailEnd/>
            </a:ln>
          </p:spPr>
          <p:txBody>
            <a:bodyPr/>
            <a:lstStyle/>
            <a:p>
              <a:endParaRPr lang="zh-CN" altLang="en-US"/>
            </a:p>
          </p:txBody>
        </p:sp>
        <p:sp>
          <p:nvSpPr>
            <p:cNvPr id="30" name="Freeform 7"/>
            <p:cNvSpPr>
              <a:spLocks/>
            </p:cNvSpPr>
            <p:nvPr/>
          </p:nvSpPr>
          <p:spPr bwMode="auto">
            <a:xfrm>
              <a:off x="4161" y="2659"/>
              <a:ext cx="1355" cy="809"/>
            </a:xfrm>
            <a:custGeom>
              <a:avLst/>
              <a:gdLst>
                <a:gd name="T0" fmla="*/ 299 w 1481"/>
                <a:gd name="T1" fmla="*/ 130 h 901"/>
                <a:gd name="T2" fmla="*/ 268 w 1481"/>
                <a:gd name="T3" fmla="*/ 128 h 901"/>
                <a:gd name="T4" fmla="*/ 251 w 1481"/>
                <a:gd name="T5" fmla="*/ 127 h 901"/>
                <a:gd name="T6" fmla="*/ 237 w 1481"/>
                <a:gd name="T7" fmla="*/ 124 h 901"/>
                <a:gd name="T8" fmla="*/ 220 w 1481"/>
                <a:gd name="T9" fmla="*/ 122 h 901"/>
                <a:gd name="T10" fmla="*/ 205 w 1481"/>
                <a:gd name="T11" fmla="*/ 117 h 901"/>
                <a:gd name="T12" fmla="*/ 188 w 1481"/>
                <a:gd name="T13" fmla="*/ 111 h 901"/>
                <a:gd name="T14" fmla="*/ 157 w 1481"/>
                <a:gd name="T15" fmla="*/ 98 h 901"/>
                <a:gd name="T16" fmla="*/ 125 w 1481"/>
                <a:gd name="T17" fmla="*/ 75 h 901"/>
                <a:gd name="T18" fmla="*/ 94 w 1481"/>
                <a:gd name="T19" fmla="*/ 50 h 901"/>
                <a:gd name="T20" fmla="*/ 79 w 1481"/>
                <a:gd name="T21" fmla="*/ 38 h 901"/>
                <a:gd name="T22" fmla="*/ 63 w 1481"/>
                <a:gd name="T23" fmla="*/ 25 h 901"/>
                <a:gd name="T24" fmla="*/ 47 w 1481"/>
                <a:gd name="T25" fmla="*/ 14 h 901"/>
                <a:gd name="T26" fmla="*/ 32 w 1481"/>
                <a:gd name="T27" fmla="*/ 7 h 901"/>
                <a:gd name="T28" fmla="*/ 16 w 1481"/>
                <a:gd name="T29" fmla="*/ 4 h 901"/>
                <a:gd name="T30" fmla="*/ 0 w 1481"/>
                <a:gd name="T31" fmla="*/ 0 h 90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481"/>
                <a:gd name="T49" fmla="*/ 0 h 901"/>
                <a:gd name="T50" fmla="*/ 1481 w 1481"/>
                <a:gd name="T51" fmla="*/ 901 h 901"/>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481" h="901">
                  <a:moveTo>
                    <a:pt x="1480" y="900"/>
                  </a:moveTo>
                  <a:lnTo>
                    <a:pt x="1325" y="891"/>
                  </a:lnTo>
                  <a:lnTo>
                    <a:pt x="1246" y="879"/>
                  </a:lnTo>
                  <a:lnTo>
                    <a:pt x="1169" y="866"/>
                  </a:lnTo>
                  <a:lnTo>
                    <a:pt x="1090" y="844"/>
                  </a:lnTo>
                  <a:lnTo>
                    <a:pt x="1013" y="816"/>
                  </a:lnTo>
                  <a:lnTo>
                    <a:pt x="935" y="779"/>
                  </a:lnTo>
                  <a:lnTo>
                    <a:pt x="779" y="676"/>
                  </a:lnTo>
                  <a:lnTo>
                    <a:pt x="624" y="528"/>
                  </a:lnTo>
                  <a:lnTo>
                    <a:pt x="466" y="351"/>
                  </a:lnTo>
                  <a:lnTo>
                    <a:pt x="389" y="261"/>
                  </a:lnTo>
                  <a:lnTo>
                    <a:pt x="311" y="178"/>
                  </a:lnTo>
                  <a:lnTo>
                    <a:pt x="234" y="105"/>
                  </a:lnTo>
                  <a:lnTo>
                    <a:pt x="155" y="48"/>
                  </a:lnTo>
                  <a:lnTo>
                    <a:pt x="76" y="11"/>
                  </a:lnTo>
                  <a:lnTo>
                    <a:pt x="0" y="0"/>
                  </a:lnTo>
                </a:path>
              </a:pathLst>
            </a:custGeom>
            <a:noFill/>
            <a:ln w="57150" cap="rnd">
              <a:solidFill>
                <a:srgbClr val="3333FF"/>
              </a:solidFill>
              <a:round/>
              <a:headEnd/>
              <a:tailEnd/>
            </a:ln>
          </p:spPr>
          <p:txBody>
            <a:bodyPr/>
            <a:lstStyle/>
            <a:p>
              <a:endParaRPr lang="zh-CN" altLang="en-US"/>
            </a:p>
          </p:txBody>
        </p:sp>
        <p:sp>
          <p:nvSpPr>
            <p:cNvPr id="31" name="Freeform 8"/>
            <p:cNvSpPr>
              <a:spLocks/>
            </p:cNvSpPr>
            <p:nvPr/>
          </p:nvSpPr>
          <p:spPr bwMode="auto">
            <a:xfrm>
              <a:off x="2449" y="2659"/>
              <a:ext cx="1022" cy="803"/>
            </a:xfrm>
            <a:custGeom>
              <a:avLst/>
              <a:gdLst>
                <a:gd name="T0" fmla="*/ 0 w 393"/>
                <a:gd name="T1" fmla="*/ 113 h 901"/>
                <a:gd name="T2" fmla="*/ 1238023266 w 393"/>
                <a:gd name="T3" fmla="*/ 113 h 901"/>
                <a:gd name="T4" fmla="*/ 1806613669 w 393"/>
                <a:gd name="T5" fmla="*/ 111 h 901"/>
                <a:gd name="T6" fmla="*/ 2147483647 w 393"/>
                <a:gd name="T7" fmla="*/ 108 h 901"/>
                <a:gd name="T8" fmla="*/ 2147483647 w 393"/>
                <a:gd name="T9" fmla="*/ 106 h 901"/>
                <a:gd name="T10" fmla="*/ 2147483647 w 393"/>
                <a:gd name="T11" fmla="*/ 102 h 901"/>
                <a:gd name="T12" fmla="*/ 2147483647 w 393"/>
                <a:gd name="T13" fmla="*/ 98 h 901"/>
                <a:gd name="T14" fmla="*/ 2147483647 w 393"/>
                <a:gd name="T15" fmla="*/ 85 h 901"/>
                <a:gd name="T16" fmla="*/ 2147483647 w 393"/>
                <a:gd name="T17" fmla="*/ 67 h 901"/>
                <a:gd name="T18" fmla="*/ 2147483647 w 393"/>
                <a:gd name="T19" fmla="*/ 44 h 901"/>
                <a:gd name="T20" fmla="*/ 2147483647 w 393"/>
                <a:gd name="T21" fmla="*/ 33 h 901"/>
                <a:gd name="T22" fmla="*/ 2147483647 w 393"/>
                <a:gd name="T23" fmla="*/ 23 h 901"/>
                <a:gd name="T24" fmla="*/ 2147483647 w 393"/>
                <a:gd name="T25" fmla="*/ 12 h 901"/>
                <a:gd name="T26" fmla="*/ 2147483647 w 393"/>
                <a:gd name="T27" fmla="*/ 6 h 901"/>
                <a:gd name="T28" fmla="*/ 2147483647 w 393"/>
                <a:gd name="T29" fmla="*/ 4 h 901"/>
                <a:gd name="T30" fmla="*/ 2147483647 w 393"/>
                <a:gd name="T31" fmla="*/ 0 h 90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393"/>
                <a:gd name="T49" fmla="*/ 0 h 901"/>
                <a:gd name="T50" fmla="*/ 393 w 393"/>
                <a:gd name="T51" fmla="*/ 901 h 901"/>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393" h="901">
                  <a:moveTo>
                    <a:pt x="0" y="900"/>
                  </a:moveTo>
                  <a:lnTo>
                    <a:pt x="42" y="891"/>
                  </a:lnTo>
                  <a:lnTo>
                    <a:pt x="61" y="879"/>
                  </a:lnTo>
                  <a:lnTo>
                    <a:pt x="82" y="866"/>
                  </a:lnTo>
                  <a:lnTo>
                    <a:pt x="104" y="844"/>
                  </a:lnTo>
                  <a:lnTo>
                    <a:pt x="123" y="816"/>
                  </a:lnTo>
                  <a:lnTo>
                    <a:pt x="144" y="779"/>
                  </a:lnTo>
                  <a:lnTo>
                    <a:pt x="186" y="676"/>
                  </a:lnTo>
                  <a:lnTo>
                    <a:pt x="227" y="528"/>
                  </a:lnTo>
                  <a:lnTo>
                    <a:pt x="267" y="351"/>
                  </a:lnTo>
                  <a:lnTo>
                    <a:pt x="288" y="261"/>
                  </a:lnTo>
                  <a:lnTo>
                    <a:pt x="309" y="178"/>
                  </a:lnTo>
                  <a:lnTo>
                    <a:pt x="330" y="105"/>
                  </a:lnTo>
                  <a:lnTo>
                    <a:pt x="349" y="48"/>
                  </a:lnTo>
                  <a:lnTo>
                    <a:pt x="371" y="11"/>
                  </a:lnTo>
                  <a:lnTo>
                    <a:pt x="392" y="0"/>
                  </a:lnTo>
                </a:path>
              </a:pathLst>
            </a:custGeom>
            <a:noFill/>
            <a:ln w="38100" cap="rnd">
              <a:solidFill>
                <a:srgbClr val="FF33CC"/>
              </a:solidFill>
              <a:round/>
              <a:headEnd/>
              <a:tailEnd/>
            </a:ln>
          </p:spPr>
          <p:txBody>
            <a:bodyPr/>
            <a:lstStyle/>
            <a:p>
              <a:endParaRPr lang="zh-CN" altLang="en-US"/>
            </a:p>
          </p:txBody>
        </p:sp>
        <p:sp>
          <p:nvSpPr>
            <p:cNvPr id="32" name="Rectangle 9"/>
            <p:cNvSpPr>
              <a:spLocks noChangeArrowheads="1"/>
            </p:cNvSpPr>
            <p:nvPr/>
          </p:nvSpPr>
          <p:spPr bwMode="auto">
            <a:xfrm>
              <a:off x="4897" y="3669"/>
              <a:ext cx="142" cy="64"/>
            </a:xfrm>
            <a:prstGeom prst="rect">
              <a:avLst/>
            </a:prstGeom>
            <a:noFill/>
            <a:ln w="12700">
              <a:noFill/>
              <a:miter lim="800000"/>
              <a:headEnd/>
              <a:tailEnd/>
            </a:ln>
          </p:spPr>
          <p:txBody>
            <a:bodyPr anchor="ctr"/>
            <a:lstStyle/>
            <a:p>
              <a:endParaRPr lang="zh-CN" altLang="en-US"/>
            </a:p>
          </p:txBody>
        </p:sp>
        <p:sp>
          <p:nvSpPr>
            <p:cNvPr id="33" name="Text Box 10"/>
            <p:cNvSpPr txBox="1">
              <a:spLocks noChangeArrowheads="1"/>
            </p:cNvSpPr>
            <p:nvPr/>
          </p:nvSpPr>
          <p:spPr bwMode="auto">
            <a:xfrm>
              <a:off x="3639" y="3528"/>
              <a:ext cx="1511" cy="282"/>
            </a:xfrm>
            <a:prstGeom prst="rect">
              <a:avLst/>
            </a:prstGeom>
            <a:noFill/>
            <a:ln w="9525">
              <a:noFill/>
              <a:miter lim="800000"/>
              <a:headEnd/>
              <a:tailEnd/>
            </a:ln>
            <a:effectLst/>
          </p:spPr>
          <p:txBody>
            <a:bodyPr lIns="0" tIns="0" rIns="0" bIns="0"/>
            <a:lstStyle/>
            <a:p>
              <a:pPr algn="just">
                <a:defRPr/>
              </a:pPr>
              <a:r>
                <a:rPr kumimoji="1" lang="en-US" altLang="zh-CN" sz="2400" b="1" i="1" dirty="0">
                  <a:solidFill>
                    <a:srgbClr val="FF33CC"/>
                  </a:solidFill>
                  <a:effectLst>
                    <a:outerShdw blurRad="38100" dist="38100" dir="2700000" algn="tl">
                      <a:srgbClr val="C0C0C0"/>
                    </a:outerShdw>
                  </a:effectLst>
                  <a:latin typeface="Arial" charset="0"/>
                  <a:ea typeface="宋体" charset="-122"/>
                </a:rPr>
                <a:t>   </a:t>
              </a:r>
              <a:r>
                <a:rPr lang="en-US" altLang="zh-CN" b="1" dirty="0">
                  <a:solidFill>
                    <a:srgbClr val="FF0066"/>
                  </a:solidFill>
                  <a:latin typeface="Times New Roman" pitchFamily="18" charset="0"/>
                  <a:ea typeface="宋体" charset="-122"/>
                </a:rPr>
                <a:t>        </a:t>
              </a:r>
              <a:r>
                <a:rPr kumimoji="1" lang="el-GR" altLang="zh-CN" sz="2400" b="1" i="1" dirty="0">
                  <a:solidFill>
                    <a:srgbClr val="FF33CC"/>
                  </a:solidFill>
                  <a:effectLst>
                    <a:outerShdw blurRad="38100" dist="38100" dir="2700000" algn="tl">
                      <a:srgbClr val="C0C0C0"/>
                    </a:outerShdw>
                  </a:effectLst>
                  <a:latin typeface="Arial" charset="0"/>
                  <a:ea typeface="宋体" charset="-122"/>
                </a:rPr>
                <a:t>θ</a:t>
              </a:r>
              <a:r>
                <a:rPr lang="en-US" altLang="zh-CN" sz="2400" b="1" baseline="-25000" dirty="0">
                  <a:solidFill>
                    <a:srgbClr val="FF0066"/>
                  </a:solidFill>
                  <a:latin typeface="Times New Roman" pitchFamily="18" charset="0"/>
                  <a:ea typeface="宋体" charset="-122"/>
                </a:rPr>
                <a:t>1</a:t>
              </a:r>
            </a:p>
          </p:txBody>
        </p:sp>
        <p:sp>
          <p:nvSpPr>
            <p:cNvPr id="34" name="Line 11"/>
            <p:cNvSpPr>
              <a:spLocks noChangeShapeType="1"/>
            </p:cNvSpPr>
            <p:nvPr/>
          </p:nvSpPr>
          <p:spPr bwMode="auto">
            <a:xfrm>
              <a:off x="4002" y="3648"/>
              <a:ext cx="2" cy="282"/>
            </a:xfrm>
            <a:prstGeom prst="line">
              <a:avLst/>
            </a:prstGeom>
            <a:noFill/>
            <a:ln w="38100" cap="rnd">
              <a:solidFill>
                <a:srgbClr val="000000"/>
              </a:solidFill>
              <a:round/>
              <a:headEnd/>
              <a:tailEnd/>
            </a:ln>
          </p:spPr>
          <p:txBody>
            <a:bodyPr/>
            <a:lstStyle/>
            <a:p>
              <a:endParaRPr lang="zh-CN" altLang="en-US"/>
            </a:p>
          </p:txBody>
        </p:sp>
        <p:sp>
          <p:nvSpPr>
            <p:cNvPr id="35" name="Line 12"/>
            <p:cNvSpPr>
              <a:spLocks noChangeShapeType="1"/>
            </p:cNvSpPr>
            <p:nvPr/>
          </p:nvSpPr>
          <p:spPr bwMode="auto">
            <a:xfrm flipH="1">
              <a:off x="4042" y="3789"/>
              <a:ext cx="825" cy="0"/>
            </a:xfrm>
            <a:prstGeom prst="line">
              <a:avLst/>
            </a:prstGeom>
            <a:noFill/>
            <a:ln w="28575" cap="rnd">
              <a:solidFill>
                <a:srgbClr val="000000"/>
              </a:solidFill>
              <a:round/>
              <a:headEnd/>
              <a:tailEnd type="triangle" w="med" len="med"/>
            </a:ln>
          </p:spPr>
          <p:txBody>
            <a:bodyPr/>
            <a:lstStyle/>
            <a:p>
              <a:endParaRPr lang="zh-CN" altLang="en-US"/>
            </a:p>
          </p:txBody>
        </p:sp>
        <p:sp>
          <p:nvSpPr>
            <p:cNvPr id="36" name="Text Box 13"/>
            <p:cNvSpPr txBox="1">
              <a:spLocks noChangeArrowheads="1"/>
            </p:cNvSpPr>
            <p:nvPr/>
          </p:nvSpPr>
          <p:spPr bwMode="auto">
            <a:xfrm>
              <a:off x="4176" y="3789"/>
              <a:ext cx="1033" cy="367"/>
            </a:xfrm>
            <a:prstGeom prst="rect">
              <a:avLst/>
            </a:prstGeom>
            <a:noFill/>
            <a:ln w="12700" cap="rnd" algn="ctr">
              <a:noFill/>
              <a:miter lim="800000"/>
              <a:headEnd/>
              <a:tailEnd/>
            </a:ln>
          </p:spPr>
          <p:txBody>
            <a:bodyPr lIns="0" tIns="0" rIns="0" bIns="0"/>
            <a:lstStyle/>
            <a:p>
              <a:pPr algn="just"/>
              <a:r>
                <a:rPr lang="zh-CN" altLang="en-US" sz="2800" b="1">
                  <a:solidFill>
                    <a:srgbClr val="FF0066"/>
                  </a:solidFill>
                  <a:latin typeface="Times New Roman" pitchFamily="18" charset="0"/>
                </a:rPr>
                <a:t>拒绝域</a:t>
              </a:r>
              <a:endParaRPr lang="zh-CN" altLang="en-US" sz="2800" b="1">
                <a:solidFill>
                  <a:srgbClr val="FF0066"/>
                </a:solidFill>
              </a:endParaRPr>
            </a:p>
          </p:txBody>
        </p:sp>
        <p:sp>
          <p:nvSpPr>
            <p:cNvPr id="38" name="Line 15"/>
            <p:cNvSpPr>
              <a:spLocks noChangeShapeType="1"/>
            </p:cNvSpPr>
            <p:nvPr/>
          </p:nvSpPr>
          <p:spPr bwMode="auto">
            <a:xfrm>
              <a:off x="4004" y="2774"/>
              <a:ext cx="0" cy="707"/>
            </a:xfrm>
            <a:prstGeom prst="line">
              <a:avLst/>
            </a:prstGeom>
            <a:noFill/>
            <a:ln w="57150" cap="rnd">
              <a:solidFill>
                <a:srgbClr val="000000"/>
              </a:solidFill>
              <a:round/>
              <a:headEnd/>
              <a:tailEnd/>
            </a:ln>
          </p:spPr>
          <p:txBody>
            <a:bodyPr/>
            <a:lstStyle/>
            <a:p>
              <a:endParaRPr lang="zh-CN" altLang="en-US"/>
            </a:p>
          </p:txBody>
        </p:sp>
        <p:sp>
          <p:nvSpPr>
            <p:cNvPr id="39" name="Freeform 16"/>
            <p:cNvSpPr>
              <a:spLocks/>
            </p:cNvSpPr>
            <p:nvPr/>
          </p:nvSpPr>
          <p:spPr bwMode="auto">
            <a:xfrm>
              <a:off x="2967" y="2659"/>
              <a:ext cx="1212" cy="821"/>
            </a:xfrm>
            <a:custGeom>
              <a:avLst/>
              <a:gdLst>
                <a:gd name="T0" fmla="*/ 0 w 393"/>
                <a:gd name="T1" fmla="*/ 168 h 901"/>
                <a:gd name="T2" fmla="*/ 2147483647 w 393"/>
                <a:gd name="T3" fmla="*/ 167 h 901"/>
                <a:gd name="T4" fmla="*/ 2147483647 w 393"/>
                <a:gd name="T5" fmla="*/ 165 h 901"/>
                <a:gd name="T6" fmla="*/ 2147483647 w 393"/>
                <a:gd name="T7" fmla="*/ 163 h 901"/>
                <a:gd name="T8" fmla="*/ 2147483647 w 393"/>
                <a:gd name="T9" fmla="*/ 158 h 901"/>
                <a:gd name="T10" fmla="*/ 2147483647 w 393"/>
                <a:gd name="T11" fmla="*/ 153 h 901"/>
                <a:gd name="T12" fmla="*/ 2147483647 w 393"/>
                <a:gd name="T13" fmla="*/ 145 h 901"/>
                <a:gd name="T14" fmla="*/ 2147483647 w 393"/>
                <a:gd name="T15" fmla="*/ 127 h 901"/>
                <a:gd name="T16" fmla="*/ 2147483647 w 393"/>
                <a:gd name="T17" fmla="*/ 98 h 901"/>
                <a:gd name="T18" fmla="*/ 2147483647 w 393"/>
                <a:gd name="T19" fmla="*/ 67 h 901"/>
                <a:gd name="T20" fmla="*/ 2147483647 w 393"/>
                <a:gd name="T21" fmla="*/ 49 h 901"/>
                <a:gd name="T22" fmla="*/ 2147483647 w 393"/>
                <a:gd name="T23" fmla="*/ 33 h 901"/>
                <a:gd name="T24" fmla="*/ 2147483647 w 393"/>
                <a:gd name="T25" fmla="*/ 20 h 901"/>
                <a:gd name="T26" fmla="*/ 2147483647 w 393"/>
                <a:gd name="T27" fmla="*/ 9 h 901"/>
                <a:gd name="T28" fmla="*/ 2147483647 w 393"/>
                <a:gd name="T29" fmla="*/ 5 h 901"/>
                <a:gd name="T30" fmla="*/ 2147483647 w 393"/>
                <a:gd name="T31" fmla="*/ 0 h 90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393"/>
                <a:gd name="T49" fmla="*/ 0 h 901"/>
                <a:gd name="T50" fmla="*/ 393 w 393"/>
                <a:gd name="T51" fmla="*/ 901 h 901"/>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393" h="901">
                  <a:moveTo>
                    <a:pt x="0" y="900"/>
                  </a:moveTo>
                  <a:lnTo>
                    <a:pt x="42" y="891"/>
                  </a:lnTo>
                  <a:lnTo>
                    <a:pt x="61" y="879"/>
                  </a:lnTo>
                  <a:lnTo>
                    <a:pt x="82" y="866"/>
                  </a:lnTo>
                  <a:lnTo>
                    <a:pt x="104" y="844"/>
                  </a:lnTo>
                  <a:lnTo>
                    <a:pt x="123" y="816"/>
                  </a:lnTo>
                  <a:lnTo>
                    <a:pt x="144" y="779"/>
                  </a:lnTo>
                  <a:lnTo>
                    <a:pt x="186" y="676"/>
                  </a:lnTo>
                  <a:lnTo>
                    <a:pt x="227" y="528"/>
                  </a:lnTo>
                  <a:lnTo>
                    <a:pt x="267" y="351"/>
                  </a:lnTo>
                  <a:lnTo>
                    <a:pt x="288" y="261"/>
                  </a:lnTo>
                  <a:lnTo>
                    <a:pt x="309" y="178"/>
                  </a:lnTo>
                  <a:lnTo>
                    <a:pt x="330" y="105"/>
                  </a:lnTo>
                  <a:lnTo>
                    <a:pt x="349" y="48"/>
                  </a:lnTo>
                  <a:lnTo>
                    <a:pt x="371" y="11"/>
                  </a:lnTo>
                  <a:lnTo>
                    <a:pt x="392" y="0"/>
                  </a:lnTo>
                </a:path>
              </a:pathLst>
            </a:custGeom>
            <a:noFill/>
            <a:ln w="57150" cap="rnd">
              <a:solidFill>
                <a:srgbClr val="3333FF"/>
              </a:solidFill>
              <a:round/>
              <a:headEnd/>
              <a:tailEnd/>
            </a:ln>
          </p:spPr>
          <p:txBody>
            <a:bodyPr/>
            <a:lstStyle/>
            <a:p>
              <a:endParaRPr lang="zh-CN" altLang="en-US"/>
            </a:p>
          </p:txBody>
        </p:sp>
        <p:sp>
          <p:nvSpPr>
            <p:cNvPr id="40" name="Freeform 17"/>
            <p:cNvSpPr>
              <a:spLocks/>
            </p:cNvSpPr>
            <p:nvPr/>
          </p:nvSpPr>
          <p:spPr bwMode="auto">
            <a:xfrm>
              <a:off x="3488" y="2659"/>
              <a:ext cx="1331" cy="823"/>
            </a:xfrm>
            <a:custGeom>
              <a:avLst/>
              <a:gdLst>
                <a:gd name="T0" fmla="*/ 217 w 1481"/>
                <a:gd name="T1" fmla="*/ 176 h 901"/>
                <a:gd name="T2" fmla="*/ 194 w 1481"/>
                <a:gd name="T3" fmla="*/ 174 h 901"/>
                <a:gd name="T4" fmla="*/ 182 w 1481"/>
                <a:gd name="T5" fmla="*/ 173 h 901"/>
                <a:gd name="T6" fmla="*/ 171 w 1481"/>
                <a:gd name="T7" fmla="*/ 170 h 901"/>
                <a:gd name="T8" fmla="*/ 160 w 1481"/>
                <a:gd name="T9" fmla="*/ 164 h 901"/>
                <a:gd name="T10" fmla="*/ 147 w 1481"/>
                <a:gd name="T11" fmla="*/ 160 h 901"/>
                <a:gd name="T12" fmla="*/ 137 w 1481"/>
                <a:gd name="T13" fmla="*/ 153 h 901"/>
                <a:gd name="T14" fmla="*/ 114 w 1481"/>
                <a:gd name="T15" fmla="*/ 132 h 901"/>
                <a:gd name="T16" fmla="*/ 91 w 1481"/>
                <a:gd name="T17" fmla="*/ 103 h 901"/>
                <a:gd name="T18" fmla="*/ 67 w 1481"/>
                <a:gd name="T19" fmla="*/ 69 h 901"/>
                <a:gd name="T20" fmla="*/ 57 w 1481"/>
                <a:gd name="T21" fmla="*/ 51 h 901"/>
                <a:gd name="T22" fmla="*/ 45 w 1481"/>
                <a:gd name="T23" fmla="*/ 35 h 901"/>
                <a:gd name="T24" fmla="*/ 35 w 1481"/>
                <a:gd name="T25" fmla="*/ 21 h 901"/>
                <a:gd name="T26" fmla="*/ 23 w 1481"/>
                <a:gd name="T27" fmla="*/ 10 h 901"/>
                <a:gd name="T28" fmla="*/ 11 w 1481"/>
                <a:gd name="T29" fmla="*/ 5 h 901"/>
                <a:gd name="T30" fmla="*/ 0 w 1481"/>
                <a:gd name="T31" fmla="*/ 0 h 90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481"/>
                <a:gd name="T49" fmla="*/ 0 h 901"/>
                <a:gd name="T50" fmla="*/ 1481 w 1481"/>
                <a:gd name="T51" fmla="*/ 901 h 901"/>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481" h="901">
                  <a:moveTo>
                    <a:pt x="1480" y="900"/>
                  </a:moveTo>
                  <a:lnTo>
                    <a:pt x="1325" y="891"/>
                  </a:lnTo>
                  <a:lnTo>
                    <a:pt x="1246" y="879"/>
                  </a:lnTo>
                  <a:lnTo>
                    <a:pt x="1169" y="866"/>
                  </a:lnTo>
                  <a:lnTo>
                    <a:pt x="1090" y="844"/>
                  </a:lnTo>
                  <a:lnTo>
                    <a:pt x="1013" y="816"/>
                  </a:lnTo>
                  <a:lnTo>
                    <a:pt x="935" y="779"/>
                  </a:lnTo>
                  <a:lnTo>
                    <a:pt x="779" y="676"/>
                  </a:lnTo>
                  <a:lnTo>
                    <a:pt x="624" y="528"/>
                  </a:lnTo>
                  <a:lnTo>
                    <a:pt x="466" y="351"/>
                  </a:lnTo>
                  <a:lnTo>
                    <a:pt x="389" y="261"/>
                  </a:lnTo>
                  <a:lnTo>
                    <a:pt x="311" y="178"/>
                  </a:lnTo>
                  <a:lnTo>
                    <a:pt x="234" y="105"/>
                  </a:lnTo>
                  <a:lnTo>
                    <a:pt x="155" y="48"/>
                  </a:lnTo>
                  <a:lnTo>
                    <a:pt x="76" y="11"/>
                  </a:lnTo>
                  <a:lnTo>
                    <a:pt x="0" y="0"/>
                  </a:lnTo>
                </a:path>
              </a:pathLst>
            </a:custGeom>
            <a:noFill/>
            <a:ln w="38100" cap="rnd">
              <a:solidFill>
                <a:srgbClr val="FF33CC"/>
              </a:solidFill>
              <a:round/>
              <a:headEnd/>
              <a:tailEnd/>
            </a:ln>
          </p:spPr>
          <p:txBody>
            <a:bodyPr/>
            <a:lstStyle/>
            <a:p>
              <a:endParaRPr lang="zh-CN" altLang="en-US"/>
            </a:p>
          </p:txBody>
        </p:sp>
        <p:sp>
          <p:nvSpPr>
            <p:cNvPr id="41" name="Text Box 18"/>
            <p:cNvSpPr txBox="1">
              <a:spLocks noChangeArrowheads="1"/>
            </p:cNvSpPr>
            <p:nvPr/>
          </p:nvSpPr>
          <p:spPr bwMode="auto">
            <a:xfrm>
              <a:off x="2660" y="2777"/>
              <a:ext cx="345" cy="237"/>
            </a:xfrm>
            <a:prstGeom prst="rect">
              <a:avLst/>
            </a:prstGeom>
            <a:noFill/>
            <a:ln w="12700" cap="rnd" algn="ctr">
              <a:noFill/>
              <a:miter lim="800000"/>
              <a:headEnd/>
              <a:tailEnd/>
            </a:ln>
          </p:spPr>
          <p:txBody>
            <a:bodyPr lIns="7200" tIns="3600" rIns="7200" bIns="3600"/>
            <a:lstStyle/>
            <a:p>
              <a:pPr algn="just"/>
              <a:r>
                <a:rPr lang="en-US" altLang="zh-CN" sz="3600" b="1" i="1">
                  <a:solidFill>
                    <a:srgbClr val="FF0066"/>
                  </a:solidFill>
                  <a:latin typeface="Times New Roman" pitchFamily="18" charset="0"/>
                </a:rPr>
                <a:t>β</a:t>
              </a:r>
              <a:endParaRPr lang="en-US" altLang="zh-CN" sz="3600" b="1">
                <a:solidFill>
                  <a:srgbClr val="FF0066"/>
                </a:solidFill>
              </a:endParaRPr>
            </a:p>
          </p:txBody>
        </p:sp>
        <p:sp>
          <p:nvSpPr>
            <p:cNvPr id="42" name="Line 19"/>
            <p:cNvSpPr>
              <a:spLocks noChangeShapeType="1"/>
            </p:cNvSpPr>
            <p:nvPr/>
          </p:nvSpPr>
          <p:spPr bwMode="auto">
            <a:xfrm>
              <a:off x="2876" y="2992"/>
              <a:ext cx="811" cy="423"/>
            </a:xfrm>
            <a:prstGeom prst="line">
              <a:avLst/>
            </a:prstGeom>
            <a:noFill/>
            <a:ln w="28575" cap="rnd">
              <a:solidFill>
                <a:schemeClr val="tx2"/>
              </a:solidFill>
              <a:round/>
              <a:headEnd/>
              <a:tailEnd type="triangle" w="med" len="med"/>
            </a:ln>
            <a:effectLst>
              <a:outerShdw dist="35921" dir="2700000" algn="ctr" rotWithShape="0">
                <a:srgbClr val="9797B7"/>
              </a:outerShdw>
            </a:effectLst>
          </p:spPr>
          <p:txBody>
            <a:bodyPr/>
            <a:lstStyle/>
            <a:p>
              <a:pPr>
                <a:defRPr/>
              </a:pPr>
              <a:endParaRPr lang="zh-CN" altLang="en-US">
                <a:latin typeface="Arial" charset="0"/>
                <a:ea typeface="宋体" charset="-122"/>
              </a:endParaRPr>
            </a:p>
          </p:txBody>
        </p:sp>
        <p:sp>
          <p:nvSpPr>
            <p:cNvPr id="46" name="Oval 23"/>
            <p:cNvSpPr>
              <a:spLocks noChangeArrowheads="1"/>
            </p:cNvSpPr>
            <p:nvPr/>
          </p:nvSpPr>
          <p:spPr bwMode="auto">
            <a:xfrm>
              <a:off x="3442" y="3447"/>
              <a:ext cx="102" cy="102"/>
            </a:xfrm>
            <a:prstGeom prst="ellipse">
              <a:avLst/>
            </a:prstGeom>
            <a:solidFill>
              <a:srgbClr val="FF33CC"/>
            </a:solidFill>
            <a:ln w="9525">
              <a:solidFill>
                <a:schemeClr val="tx1"/>
              </a:solidFill>
              <a:round/>
              <a:headEnd/>
              <a:tailEnd/>
            </a:ln>
          </p:spPr>
          <p:txBody>
            <a:bodyPr wrap="none" anchor="ctr"/>
            <a:lstStyle/>
            <a:p>
              <a:endParaRPr lang="zh-CN" altLang="en-US"/>
            </a:p>
          </p:txBody>
        </p:sp>
        <p:sp>
          <p:nvSpPr>
            <p:cNvPr id="47" name="Oval 24"/>
            <p:cNvSpPr>
              <a:spLocks noChangeArrowheads="1"/>
            </p:cNvSpPr>
            <p:nvPr/>
          </p:nvSpPr>
          <p:spPr bwMode="auto">
            <a:xfrm>
              <a:off x="4127" y="3447"/>
              <a:ext cx="101" cy="101"/>
            </a:xfrm>
            <a:prstGeom prst="ellipse">
              <a:avLst/>
            </a:prstGeom>
            <a:solidFill>
              <a:srgbClr val="3333FF"/>
            </a:solidFill>
            <a:ln w="9525">
              <a:solidFill>
                <a:schemeClr val="tx1"/>
              </a:solidFill>
              <a:round/>
              <a:headEnd/>
              <a:tailEnd/>
            </a:ln>
          </p:spPr>
          <p:txBody>
            <a:bodyPr wrap="none" anchor="ctr"/>
            <a:lstStyle/>
            <a:p>
              <a:endParaRPr lang="zh-CN" altLang="en-US"/>
            </a:p>
          </p:txBody>
        </p:sp>
      </p:grpSp>
    </p:spTree>
    <p:extLst>
      <p:ext uri="{BB962C8B-B14F-4D97-AF65-F5344CB8AC3E}">
        <p14:creationId xmlns:p14="http://schemas.microsoft.com/office/powerpoint/2010/main" val="11805525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54979">
                                            <p:txEl>
                                              <p:pRg st="0" end="0"/>
                                            </p:txEl>
                                          </p:spTgt>
                                        </p:tgtEl>
                                        <p:attrNameLst>
                                          <p:attrName>style.visibility</p:attrName>
                                        </p:attrNameLst>
                                      </p:cBhvr>
                                      <p:to>
                                        <p:strVal val="visible"/>
                                      </p:to>
                                    </p:set>
                                    <p:animEffect transition="in" filter="wipe(left)">
                                      <p:cBhvr>
                                        <p:cTn id="7" dur="500"/>
                                        <p:tgtEl>
                                          <p:spTgt spid="254979">
                                            <p:txEl>
                                              <p:pRg st="0" end="0"/>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54979">
                                            <p:txEl>
                                              <p:pRg st="1" end="1"/>
                                            </p:txEl>
                                          </p:spTgt>
                                        </p:tgtEl>
                                        <p:attrNameLst>
                                          <p:attrName>style.visibility</p:attrName>
                                        </p:attrNameLst>
                                      </p:cBhvr>
                                      <p:to>
                                        <p:strVal val="visible"/>
                                      </p:to>
                                    </p:set>
                                    <p:animEffect transition="in" filter="wipe(left)">
                                      <p:cBhvr>
                                        <p:cTn id="10" dur="500"/>
                                        <p:tgtEl>
                                          <p:spTgt spid="254979">
                                            <p:txEl>
                                              <p:pRg st="1" end="1"/>
                                            </p:txEl>
                                          </p:spTgt>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254979">
                                            <p:txEl>
                                              <p:pRg st="2" end="2"/>
                                            </p:txEl>
                                          </p:spTgt>
                                        </p:tgtEl>
                                        <p:attrNameLst>
                                          <p:attrName>style.visibility</p:attrName>
                                        </p:attrNameLst>
                                      </p:cBhvr>
                                      <p:to>
                                        <p:strVal val="visible"/>
                                      </p:to>
                                    </p:set>
                                    <p:animEffect transition="in" filter="wipe(left)">
                                      <p:cBhvr>
                                        <p:cTn id="13" dur="500"/>
                                        <p:tgtEl>
                                          <p:spTgt spid="254979">
                                            <p:txEl>
                                              <p:pRg st="2" end="2"/>
                                            </p:txEl>
                                          </p:spTgt>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254979">
                                            <p:txEl>
                                              <p:pRg st="3" end="3"/>
                                            </p:txEl>
                                          </p:spTgt>
                                        </p:tgtEl>
                                        <p:attrNameLst>
                                          <p:attrName>style.visibility</p:attrName>
                                        </p:attrNameLst>
                                      </p:cBhvr>
                                      <p:to>
                                        <p:strVal val="visible"/>
                                      </p:to>
                                    </p:set>
                                    <p:animEffect transition="in" filter="wipe(left)">
                                      <p:cBhvr>
                                        <p:cTn id="16" dur="500"/>
                                        <p:tgtEl>
                                          <p:spTgt spid="254979">
                                            <p:txEl>
                                              <p:pRg st="3" end="3"/>
                                            </p:txEl>
                                          </p:spTgt>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254979">
                                            <p:txEl>
                                              <p:pRg st="4" end="4"/>
                                            </p:txEl>
                                          </p:spTgt>
                                        </p:tgtEl>
                                        <p:attrNameLst>
                                          <p:attrName>style.visibility</p:attrName>
                                        </p:attrNameLst>
                                      </p:cBhvr>
                                      <p:to>
                                        <p:strVal val="visible"/>
                                      </p:to>
                                    </p:set>
                                    <p:animEffect transition="in" filter="wipe(left)">
                                      <p:cBhvr>
                                        <p:cTn id="19" dur="500"/>
                                        <p:tgtEl>
                                          <p:spTgt spid="254979">
                                            <p:txEl>
                                              <p:pRg st="4" end="4"/>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4" fill="hold" grpId="0" nodeType="clickEffect">
                                  <p:stCondLst>
                                    <p:cond delay="0"/>
                                  </p:stCondLst>
                                  <p:childTnLst>
                                    <p:set>
                                      <p:cBhvr>
                                        <p:cTn id="23" dur="1" fill="hold">
                                          <p:stCondLst>
                                            <p:cond delay="0"/>
                                          </p:stCondLst>
                                        </p:cTn>
                                        <p:tgtEl>
                                          <p:spTgt spid="79878"/>
                                        </p:tgtEl>
                                        <p:attrNameLst>
                                          <p:attrName>style.visibility</p:attrName>
                                        </p:attrNameLst>
                                      </p:cBhvr>
                                      <p:to>
                                        <p:strVal val="visible"/>
                                      </p:to>
                                    </p:set>
                                    <p:animEffect transition="in" filter="wipe(down)">
                                      <p:cBhvr>
                                        <p:cTn id="24" dur="500"/>
                                        <p:tgtEl>
                                          <p:spTgt spid="79878"/>
                                        </p:tgtEl>
                                      </p:cBhvr>
                                    </p:animEffect>
                                  </p:childTnLst>
                                </p:cTn>
                              </p:par>
                            </p:childTnLst>
                          </p:cTn>
                        </p:par>
                        <p:par>
                          <p:cTn id="25" fill="hold">
                            <p:stCondLst>
                              <p:cond delay="500"/>
                            </p:stCondLst>
                            <p:childTnLst>
                              <p:par>
                                <p:cTn id="26" presetID="22" presetClass="entr" presetSubtype="8" fill="hold" nodeType="afterEffect">
                                  <p:stCondLst>
                                    <p:cond delay="0"/>
                                  </p:stCondLst>
                                  <p:childTnLst>
                                    <p:set>
                                      <p:cBhvr>
                                        <p:cTn id="27" dur="1" fill="hold">
                                          <p:stCondLst>
                                            <p:cond delay="0"/>
                                          </p:stCondLst>
                                        </p:cTn>
                                        <p:tgtEl>
                                          <p:spTgt spid="79877"/>
                                        </p:tgtEl>
                                        <p:attrNameLst>
                                          <p:attrName>style.visibility</p:attrName>
                                        </p:attrNameLst>
                                      </p:cBhvr>
                                      <p:to>
                                        <p:strVal val="visible"/>
                                      </p:to>
                                    </p:set>
                                    <p:animEffect transition="in" filter="wipe(left)">
                                      <p:cBhvr>
                                        <p:cTn id="28" dur="500"/>
                                        <p:tgtEl>
                                          <p:spTgt spid="79877"/>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4" fill="hold" nodeType="clickEffect">
                                  <p:stCondLst>
                                    <p:cond delay="0"/>
                                  </p:stCondLst>
                                  <p:childTnLst>
                                    <p:set>
                                      <p:cBhvr>
                                        <p:cTn id="32" dur="1" fill="hold">
                                          <p:stCondLst>
                                            <p:cond delay="0"/>
                                          </p:stCondLst>
                                        </p:cTn>
                                        <p:tgtEl>
                                          <p:spTgt spid="27"/>
                                        </p:tgtEl>
                                        <p:attrNameLst>
                                          <p:attrName>style.visibility</p:attrName>
                                        </p:attrNameLst>
                                      </p:cBhvr>
                                      <p:to>
                                        <p:strVal val="visible"/>
                                      </p:to>
                                    </p:set>
                                    <p:animEffect transition="in" filter="wipe(down)">
                                      <p:cBhvr>
                                        <p:cTn id="33"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4979" grpId="0" uiExpand="1" build="p" autoUpdateAnimBg="0"/>
      <p:bldP spid="79878"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灯片编号占位符 5"/>
          <p:cNvSpPr>
            <a:spLocks noGrp="1"/>
          </p:cNvSpPr>
          <p:nvPr>
            <p:ph type="sldNum" sz="quarter" idx="4294967295"/>
          </p:nvPr>
        </p:nvSpPr>
        <p:spPr>
          <a:noFill/>
        </p:spPr>
        <p:txBody>
          <a:bodyPr/>
          <a:lstStyle/>
          <a:p>
            <a:r>
              <a:rPr lang="en-US" altLang="zh-CN">
                <a:ea typeface="宋体" pitchFamily="2" charset="-122"/>
              </a:rPr>
              <a:t>8--</a:t>
            </a:r>
            <a:fld id="{68C8ECDA-24C8-4584-95FC-0B150B627FAE}" type="slidenum">
              <a:rPr lang="en-US" altLang="zh-CN" smtClean="0">
                <a:ea typeface="宋体" pitchFamily="2" charset="-122"/>
              </a:rPr>
              <a:pPr/>
              <a:t>37</a:t>
            </a:fld>
            <a:endParaRPr lang="en-US" altLang="zh-CN">
              <a:ea typeface="宋体" pitchFamily="2" charset="-122"/>
            </a:endParaRPr>
          </a:p>
        </p:txBody>
      </p:sp>
      <p:sp>
        <p:nvSpPr>
          <p:cNvPr id="81923" name="Rectangle 2"/>
          <p:cNvSpPr>
            <a:spLocks noGrp="1" noChangeArrowheads="1"/>
          </p:cNvSpPr>
          <p:nvPr>
            <p:ph type="title"/>
          </p:nvPr>
        </p:nvSpPr>
        <p:spPr>
          <a:xfrm>
            <a:off x="1641475" y="331662"/>
            <a:ext cx="7974012" cy="1350963"/>
          </a:xfrm>
        </p:spPr>
        <p:txBody>
          <a:bodyPr/>
          <a:lstStyle/>
          <a:p>
            <a:pPr eaLnBrk="1" hangingPunct="1"/>
            <a:r>
              <a:rPr lang="zh-CN" altLang="en-US" sz="4000" dirty="0">
                <a:solidFill>
                  <a:srgbClr val="0070C0"/>
                </a:solidFill>
              </a:rPr>
              <a:t>两类错误概率的关系</a:t>
            </a:r>
            <a:r>
              <a:rPr lang="zh-CN" altLang="en-US" sz="4000" dirty="0">
                <a:solidFill>
                  <a:srgbClr val="0070C0"/>
                </a:solidFill>
                <a:latin typeface="仿宋" panose="02010609060101010101" pitchFamily="49" charset="-122"/>
                <a:ea typeface="仿宋" panose="02010609060101010101" pitchFamily="49" charset="-122"/>
              </a:rPr>
              <a:t>（右侧检验中）</a:t>
            </a:r>
          </a:p>
        </p:txBody>
      </p:sp>
      <p:sp>
        <p:nvSpPr>
          <p:cNvPr id="81924" name="Rectangle 3"/>
          <p:cNvSpPr>
            <a:spLocks noChangeArrowheads="1"/>
          </p:cNvSpPr>
          <p:nvPr/>
        </p:nvSpPr>
        <p:spPr bwMode="auto">
          <a:xfrm>
            <a:off x="7912100" y="6937375"/>
            <a:ext cx="293688" cy="157163"/>
          </a:xfrm>
          <a:prstGeom prst="rect">
            <a:avLst/>
          </a:prstGeom>
          <a:noFill/>
          <a:ln w="12700">
            <a:noFill/>
            <a:miter lim="800000"/>
            <a:headEnd/>
            <a:tailEnd/>
          </a:ln>
        </p:spPr>
        <p:txBody>
          <a:bodyPr anchor="ctr"/>
          <a:lstStyle/>
          <a:p>
            <a:endParaRPr lang="zh-CN" altLang="en-US"/>
          </a:p>
        </p:txBody>
      </p:sp>
      <p:grpSp>
        <p:nvGrpSpPr>
          <p:cNvPr id="81925" name="Group 4"/>
          <p:cNvGrpSpPr>
            <a:grpSpLocks/>
          </p:cNvGrpSpPr>
          <p:nvPr/>
        </p:nvGrpSpPr>
        <p:grpSpPr bwMode="auto">
          <a:xfrm>
            <a:off x="2640013" y="1700213"/>
            <a:ext cx="6780212" cy="2305050"/>
            <a:chOff x="884" y="1071"/>
            <a:chExt cx="4271" cy="1753"/>
          </a:xfrm>
        </p:grpSpPr>
        <p:sp>
          <p:nvSpPr>
            <p:cNvPr id="81939" name="Freeform 5"/>
            <p:cNvSpPr>
              <a:spLocks/>
            </p:cNvSpPr>
            <p:nvPr/>
          </p:nvSpPr>
          <p:spPr bwMode="auto">
            <a:xfrm>
              <a:off x="1202" y="1071"/>
              <a:ext cx="1332" cy="1241"/>
            </a:xfrm>
            <a:custGeom>
              <a:avLst/>
              <a:gdLst>
                <a:gd name="T0" fmla="*/ 0 w 393"/>
                <a:gd name="T1" fmla="*/ 286653 h 901"/>
                <a:gd name="T2" fmla="*/ 2147483647 w 393"/>
                <a:gd name="T3" fmla="*/ 283529 h 901"/>
                <a:gd name="T4" fmla="*/ 2147483647 w 393"/>
                <a:gd name="T5" fmla="*/ 279838 h 901"/>
                <a:gd name="T6" fmla="*/ 2147483647 w 393"/>
                <a:gd name="T7" fmla="*/ 275641 h 901"/>
                <a:gd name="T8" fmla="*/ 2147483647 w 393"/>
                <a:gd name="T9" fmla="*/ 268539 h 901"/>
                <a:gd name="T10" fmla="*/ 2147483647 w 393"/>
                <a:gd name="T11" fmla="*/ 259700 h 901"/>
                <a:gd name="T12" fmla="*/ 2147483647 w 393"/>
                <a:gd name="T13" fmla="*/ 247974 h 901"/>
                <a:gd name="T14" fmla="*/ 2147483647 w 393"/>
                <a:gd name="T15" fmla="*/ 215094 h 901"/>
                <a:gd name="T16" fmla="*/ 2147483647 w 393"/>
                <a:gd name="T17" fmla="*/ 167994 h 901"/>
                <a:gd name="T18" fmla="*/ 2147483647 w 393"/>
                <a:gd name="T19" fmla="*/ 111596 h 901"/>
                <a:gd name="T20" fmla="*/ 2147483647 w 393"/>
                <a:gd name="T21" fmla="*/ 82891 h 901"/>
                <a:gd name="T22" fmla="*/ 2147483647 w 393"/>
                <a:gd name="T23" fmla="*/ 56502 h 901"/>
                <a:gd name="T24" fmla="*/ 2147483647 w 393"/>
                <a:gd name="T25" fmla="*/ 33526 h 901"/>
                <a:gd name="T26" fmla="*/ 2147483647 w 393"/>
                <a:gd name="T27" fmla="*/ 15177 h 901"/>
                <a:gd name="T28" fmla="*/ 2147483647 w 393"/>
                <a:gd name="T29" fmla="*/ 3565 h 901"/>
                <a:gd name="T30" fmla="*/ 2147483647 w 393"/>
                <a:gd name="T31" fmla="*/ 0 h 90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393"/>
                <a:gd name="T49" fmla="*/ 0 h 901"/>
                <a:gd name="T50" fmla="*/ 393 w 393"/>
                <a:gd name="T51" fmla="*/ 901 h 901"/>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393" h="901">
                  <a:moveTo>
                    <a:pt x="0" y="900"/>
                  </a:moveTo>
                  <a:lnTo>
                    <a:pt x="42" y="891"/>
                  </a:lnTo>
                  <a:lnTo>
                    <a:pt x="61" y="879"/>
                  </a:lnTo>
                  <a:lnTo>
                    <a:pt x="82" y="866"/>
                  </a:lnTo>
                  <a:lnTo>
                    <a:pt x="104" y="844"/>
                  </a:lnTo>
                  <a:lnTo>
                    <a:pt x="123" y="816"/>
                  </a:lnTo>
                  <a:lnTo>
                    <a:pt x="144" y="779"/>
                  </a:lnTo>
                  <a:lnTo>
                    <a:pt x="186" y="676"/>
                  </a:lnTo>
                  <a:lnTo>
                    <a:pt x="227" y="528"/>
                  </a:lnTo>
                  <a:lnTo>
                    <a:pt x="267" y="351"/>
                  </a:lnTo>
                  <a:lnTo>
                    <a:pt x="288" y="261"/>
                  </a:lnTo>
                  <a:lnTo>
                    <a:pt x="309" y="178"/>
                  </a:lnTo>
                  <a:lnTo>
                    <a:pt x="330" y="105"/>
                  </a:lnTo>
                  <a:lnTo>
                    <a:pt x="349" y="48"/>
                  </a:lnTo>
                  <a:lnTo>
                    <a:pt x="371" y="11"/>
                  </a:lnTo>
                  <a:lnTo>
                    <a:pt x="392" y="0"/>
                  </a:lnTo>
                </a:path>
              </a:pathLst>
            </a:custGeom>
            <a:noFill/>
            <a:ln w="57150" cap="rnd">
              <a:solidFill>
                <a:srgbClr val="FF33CC"/>
              </a:solidFill>
              <a:round/>
              <a:headEnd/>
              <a:tailEnd/>
            </a:ln>
          </p:spPr>
          <p:txBody>
            <a:bodyPr/>
            <a:lstStyle/>
            <a:p>
              <a:endParaRPr lang="zh-CN" altLang="en-US"/>
            </a:p>
          </p:txBody>
        </p:sp>
        <p:sp>
          <p:nvSpPr>
            <p:cNvPr id="81940" name="Rectangle 6"/>
            <p:cNvSpPr>
              <a:spLocks noChangeArrowheads="1"/>
            </p:cNvSpPr>
            <p:nvPr/>
          </p:nvSpPr>
          <p:spPr bwMode="auto">
            <a:xfrm>
              <a:off x="3759" y="1301"/>
              <a:ext cx="486" cy="489"/>
            </a:xfrm>
            <a:prstGeom prst="rect">
              <a:avLst/>
            </a:prstGeom>
            <a:noFill/>
            <a:ln w="12700">
              <a:solidFill>
                <a:srgbClr val="FFCC66"/>
              </a:solidFill>
              <a:miter lim="800000"/>
              <a:headEnd/>
              <a:tailEnd/>
            </a:ln>
          </p:spPr>
          <p:txBody>
            <a:bodyPr lIns="0" tIns="0" rIns="0" bIns="0"/>
            <a:lstStyle/>
            <a:p>
              <a:pPr algn="ctr"/>
              <a:r>
                <a:rPr lang="en-US" altLang="zh-CN" sz="4000" b="1" i="1" dirty="0">
                  <a:solidFill>
                    <a:srgbClr val="FF33CC"/>
                  </a:solidFill>
                  <a:latin typeface="Symbol" pitchFamily="18" charset="2"/>
                </a:rPr>
                <a:t>a</a:t>
              </a:r>
              <a:r>
                <a:rPr lang="en-US" altLang="zh-CN" sz="4000" b="1" i="1" dirty="0">
                  <a:solidFill>
                    <a:srgbClr val="CC0099"/>
                  </a:solidFill>
                </a:rPr>
                <a:t> </a:t>
              </a:r>
              <a:endParaRPr lang="en-US" altLang="zh-CN" sz="4000" b="1" dirty="0">
                <a:solidFill>
                  <a:srgbClr val="CC0099"/>
                </a:solidFill>
              </a:endParaRPr>
            </a:p>
          </p:txBody>
        </p:sp>
        <p:sp>
          <p:nvSpPr>
            <p:cNvPr id="371719" name="Text Box 7"/>
            <p:cNvSpPr txBox="1">
              <a:spLocks noChangeArrowheads="1"/>
            </p:cNvSpPr>
            <p:nvPr/>
          </p:nvSpPr>
          <p:spPr bwMode="auto">
            <a:xfrm>
              <a:off x="2471" y="2447"/>
              <a:ext cx="636" cy="377"/>
            </a:xfrm>
            <a:prstGeom prst="rect">
              <a:avLst/>
            </a:prstGeom>
            <a:noFill/>
            <a:ln w="9525">
              <a:noFill/>
              <a:miter lim="800000"/>
              <a:headEnd/>
              <a:tailEnd/>
            </a:ln>
            <a:effectLst/>
          </p:spPr>
          <p:txBody>
            <a:bodyPr lIns="0" tIns="0" rIns="0" bIns="0"/>
            <a:lstStyle/>
            <a:p>
              <a:pPr algn="just">
                <a:defRPr/>
              </a:pPr>
              <a:r>
                <a:rPr kumimoji="1" lang="el-GR" altLang="zh-CN" sz="2400" b="1" i="1" dirty="0">
                  <a:solidFill>
                    <a:srgbClr val="FF33CC"/>
                  </a:solidFill>
                  <a:effectLst>
                    <a:outerShdw blurRad="38100" dist="38100" dir="2700000" algn="tl">
                      <a:srgbClr val="C0C0C0"/>
                    </a:outerShdw>
                  </a:effectLst>
                  <a:latin typeface="Arial" charset="0"/>
                  <a:ea typeface="宋体" charset="-122"/>
                </a:rPr>
                <a:t>θ</a:t>
              </a:r>
              <a:r>
                <a:rPr lang="en-US" altLang="zh-CN" sz="2400" b="1" baseline="-25000" dirty="0">
                  <a:solidFill>
                    <a:srgbClr val="FF0066"/>
                  </a:solidFill>
                  <a:latin typeface="Times New Roman" pitchFamily="18" charset="0"/>
                  <a:ea typeface="宋体" charset="-122"/>
                </a:rPr>
                <a:t>0</a:t>
              </a:r>
            </a:p>
          </p:txBody>
        </p:sp>
        <p:sp>
          <p:nvSpPr>
            <p:cNvPr id="81942" name="Freeform 8"/>
            <p:cNvSpPr>
              <a:spLocks/>
            </p:cNvSpPr>
            <p:nvPr/>
          </p:nvSpPr>
          <p:spPr bwMode="auto">
            <a:xfrm>
              <a:off x="3270" y="1752"/>
              <a:ext cx="835" cy="649"/>
            </a:xfrm>
            <a:custGeom>
              <a:avLst/>
              <a:gdLst>
                <a:gd name="T0" fmla="*/ 83949269 w 424"/>
                <a:gd name="T1" fmla="*/ 2147483647 h 216"/>
                <a:gd name="T2" fmla="*/ 55333150 w 424"/>
                <a:gd name="T3" fmla="*/ 2147483647 h 216"/>
                <a:gd name="T4" fmla="*/ 48470019 w 424"/>
                <a:gd name="T5" fmla="*/ 2147483647 h 216"/>
                <a:gd name="T6" fmla="*/ 42123832 w 424"/>
                <a:gd name="T7" fmla="*/ 2147483647 h 216"/>
                <a:gd name="T8" fmla="*/ 35901004 w 424"/>
                <a:gd name="T9" fmla="*/ 2147483647 h 216"/>
                <a:gd name="T10" fmla="*/ 19440992 w 424"/>
                <a:gd name="T11" fmla="*/ 2147483647 h 216"/>
                <a:gd name="T12" fmla="*/ 10702716 w 424"/>
                <a:gd name="T13" fmla="*/ 2147483647 h 216"/>
                <a:gd name="T14" fmla="*/ 0 w 424"/>
                <a:gd name="T15" fmla="*/ 0 h 216"/>
                <a:gd name="T16" fmla="*/ 0 w 424"/>
                <a:gd name="T17" fmla="*/ 2147483647 h 216"/>
                <a:gd name="T18" fmla="*/ 83949269 w 424"/>
                <a:gd name="T19" fmla="*/ 2147483647 h 216"/>
                <a:gd name="T20" fmla="*/ 83949269 w 424"/>
                <a:gd name="T21" fmla="*/ 2147483647 h 21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24"/>
                <a:gd name="T34" fmla="*/ 0 h 216"/>
                <a:gd name="T35" fmla="*/ 424 w 424"/>
                <a:gd name="T36" fmla="*/ 216 h 21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24" h="216">
                  <a:moveTo>
                    <a:pt x="423" y="204"/>
                  </a:moveTo>
                  <a:lnTo>
                    <a:pt x="279" y="154"/>
                  </a:lnTo>
                  <a:lnTo>
                    <a:pt x="244" y="140"/>
                  </a:lnTo>
                  <a:lnTo>
                    <a:pt x="212" y="125"/>
                  </a:lnTo>
                  <a:lnTo>
                    <a:pt x="181" y="108"/>
                  </a:lnTo>
                  <a:lnTo>
                    <a:pt x="98" y="71"/>
                  </a:lnTo>
                  <a:lnTo>
                    <a:pt x="54" y="42"/>
                  </a:lnTo>
                  <a:lnTo>
                    <a:pt x="0" y="0"/>
                  </a:lnTo>
                  <a:lnTo>
                    <a:pt x="0" y="215"/>
                  </a:lnTo>
                  <a:lnTo>
                    <a:pt x="423" y="209"/>
                  </a:lnTo>
                  <a:lnTo>
                    <a:pt x="423" y="204"/>
                  </a:lnTo>
                </a:path>
              </a:pathLst>
            </a:custGeom>
            <a:solidFill>
              <a:srgbClr val="FFCC66"/>
            </a:solidFill>
            <a:ln w="12700" cap="rnd">
              <a:noFill/>
              <a:round/>
              <a:headEnd/>
              <a:tailEnd/>
            </a:ln>
          </p:spPr>
          <p:txBody>
            <a:bodyPr/>
            <a:lstStyle/>
            <a:p>
              <a:endParaRPr lang="zh-CN" altLang="en-US"/>
            </a:p>
          </p:txBody>
        </p:sp>
        <p:sp>
          <p:nvSpPr>
            <p:cNvPr id="81943" name="Line 9"/>
            <p:cNvSpPr>
              <a:spLocks noChangeShapeType="1"/>
            </p:cNvSpPr>
            <p:nvPr/>
          </p:nvSpPr>
          <p:spPr bwMode="auto">
            <a:xfrm>
              <a:off x="2552" y="1071"/>
              <a:ext cx="2" cy="1310"/>
            </a:xfrm>
            <a:prstGeom prst="line">
              <a:avLst/>
            </a:prstGeom>
            <a:noFill/>
            <a:ln w="12700" cap="rnd">
              <a:solidFill>
                <a:schemeClr val="accent1"/>
              </a:solidFill>
              <a:round/>
              <a:headEnd/>
              <a:tailEnd/>
            </a:ln>
          </p:spPr>
          <p:txBody>
            <a:bodyPr/>
            <a:lstStyle/>
            <a:p>
              <a:endParaRPr lang="zh-CN" altLang="en-US"/>
            </a:p>
          </p:txBody>
        </p:sp>
        <p:sp>
          <p:nvSpPr>
            <p:cNvPr id="81944" name="Freeform 10"/>
            <p:cNvSpPr>
              <a:spLocks/>
            </p:cNvSpPr>
            <p:nvPr/>
          </p:nvSpPr>
          <p:spPr bwMode="auto">
            <a:xfrm>
              <a:off x="2555" y="1071"/>
              <a:ext cx="1734" cy="1272"/>
            </a:xfrm>
            <a:custGeom>
              <a:avLst/>
              <a:gdLst>
                <a:gd name="T0" fmla="*/ 25303 w 1481"/>
                <a:gd name="T1" fmla="*/ 446753 h 901"/>
                <a:gd name="T2" fmla="*/ 22639 w 1481"/>
                <a:gd name="T3" fmla="*/ 442081 h 901"/>
                <a:gd name="T4" fmla="*/ 21299 w 1481"/>
                <a:gd name="T5" fmla="*/ 436101 h 901"/>
                <a:gd name="T6" fmla="*/ 19999 w 1481"/>
                <a:gd name="T7" fmla="*/ 430011 h 901"/>
                <a:gd name="T8" fmla="*/ 18640 w 1481"/>
                <a:gd name="T9" fmla="*/ 419027 h 901"/>
                <a:gd name="T10" fmla="*/ 17324 w 1481"/>
                <a:gd name="T11" fmla="*/ 404913 h 901"/>
                <a:gd name="T12" fmla="*/ 15982 w 1481"/>
                <a:gd name="T13" fmla="*/ 386647 h 901"/>
                <a:gd name="T14" fmla="*/ 13316 w 1481"/>
                <a:gd name="T15" fmla="*/ 335479 h 901"/>
                <a:gd name="T16" fmla="*/ 10674 w 1481"/>
                <a:gd name="T17" fmla="*/ 261817 h 901"/>
                <a:gd name="T18" fmla="*/ 7965 w 1481"/>
                <a:gd name="T19" fmla="*/ 174275 h 901"/>
                <a:gd name="T20" fmla="*/ 6651 w 1481"/>
                <a:gd name="T21" fmla="*/ 129405 h 901"/>
                <a:gd name="T22" fmla="*/ 5318 w 1481"/>
                <a:gd name="T23" fmla="*/ 88293 h 901"/>
                <a:gd name="T24" fmla="*/ 4003 w 1481"/>
                <a:gd name="T25" fmla="*/ 51953 h 901"/>
                <a:gd name="T26" fmla="*/ 2641 w 1481"/>
                <a:gd name="T27" fmla="*/ 24028 h 901"/>
                <a:gd name="T28" fmla="*/ 1300 w 1481"/>
                <a:gd name="T29" fmla="*/ 5636 h 901"/>
                <a:gd name="T30" fmla="*/ 0 w 1481"/>
                <a:gd name="T31" fmla="*/ 0 h 90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481"/>
                <a:gd name="T49" fmla="*/ 0 h 901"/>
                <a:gd name="T50" fmla="*/ 1481 w 1481"/>
                <a:gd name="T51" fmla="*/ 901 h 901"/>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481" h="901">
                  <a:moveTo>
                    <a:pt x="1480" y="900"/>
                  </a:moveTo>
                  <a:lnTo>
                    <a:pt x="1325" y="891"/>
                  </a:lnTo>
                  <a:lnTo>
                    <a:pt x="1246" y="879"/>
                  </a:lnTo>
                  <a:lnTo>
                    <a:pt x="1169" y="866"/>
                  </a:lnTo>
                  <a:lnTo>
                    <a:pt x="1090" y="844"/>
                  </a:lnTo>
                  <a:lnTo>
                    <a:pt x="1013" y="816"/>
                  </a:lnTo>
                  <a:lnTo>
                    <a:pt x="935" y="779"/>
                  </a:lnTo>
                  <a:lnTo>
                    <a:pt x="779" y="676"/>
                  </a:lnTo>
                  <a:lnTo>
                    <a:pt x="624" y="528"/>
                  </a:lnTo>
                  <a:lnTo>
                    <a:pt x="466" y="351"/>
                  </a:lnTo>
                  <a:lnTo>
                    <a:pt x="389" y="261"/>
                  </a:lnTo>
                  <a:lnTo>
                    <a:pt x="311" y="178"/>
                  </a:lnTo>
                  <a:lnTo>
                    <a:pt x="234" y="105"/>
                  </a:lnTo>
                  <a:lnTo>
                    <a:pt x="155" y="48"/>
                  </a:lnTo>
                  <a:lnTo>
                    <a:pt x="76" y="11"/>
                  </a:lnTo>
                  <a:lnTo>
                    <a:pt x="0" y="0"/>
                  </a:lnTo>
                </a:path>
              </a:pathLst>
            </a:custGeom>
            <a:noFill/>
            <a:ln w="57150" cap="rnd">
              <a:solidFill>
                <a:srgbClr val="FF33CC"/>
              </a:solidFill>
              <a:round/>
              <a:headEnd/>
              <a:tailEnd/>
            </a:ln>
          </p:spPr>
          <p:txBody>
            <a:bodyPr/>
            <a:lstStyle/>
            <a:p>
              <a:endParaRPr lang="zh-CN" altLang="en-US"/>
            </a:p>
          </p:txBody>
        </p:sp>
        <p:sp>
          <p:nvSpPr>
            <p:cNvPr id="81945" name="Line 11"/>
            <p:cNvSpPr>
              <a:spLocks noChangeShapeType="1"/>
            </p:cNvSpPr>
            <p:nvPr/>
          </p:nvSpPr>
          <p:spPr bwMode="auto">
            <a:xfrm flipV="1">
              <a:off x="884" y="2387"/>
              <a:ext cx="4271" cy="19"/>
            </a:xfrm>
            <a:prstGeom prst="line">
              <a:avLst/>
            </a:prstGeom>
            <a:noFill/>
            <a:ln w="57150" cap="rnd">
              <a:solidFill>
                <a:srgbClr val="000000"/>
              </a:solidFill>
              <a:round/>
              <a:headEnd/>
              <a:tailEnd type="triangle" w="med" len="med"/>
            </a:ln>
          </p:spPr>
          <p:txBody>
            <a:bodyPr/>
            <a:lstStyle/>
            <a:p>
              <a:endParaRPr lang="zh-CN" altLang="en-US"/>
            </a:p>
          </p:txBody>
        </p:sp>
        <p:sp>
          <p:nvSpPr>
            <p:cNvPr id="81946" name="Line 12"/>
            <p:cNvSpPr>
              <a:spLocks noChangeShapeType="1"/>
            </p:cNvSpPr>
            <p:nvPr/>
          </p:nvSpPr>
          <p:spPr bwMode="auto">
            <a:xfrm flipH="1">
              <a:off x="3564" y="1706"/>
              <a:ext cx="405" cy="535"/>
            </a:xfrm>
            <a:prstGeom prst="line">
              <a:avLst/>
            </a:prstGeom>
            <a:noFill/>
            <a:ln w="38100">
              <a:solidFill>
                <a:srgbClr val="FFC000"/>
              </a:solidFill>
              <a:round/>
              <a:headEnd/>
              <a:tailEnd type="triangle" w="med" len="med"/>
            </a:ln>
          </p:spPr>
          <p:txBody>
            <a:bodyPr anchor="ctr"/>
            <a:lstStyle/>
            <a:p>
              <a:endParaRPr lang="zh-CN" altLang="en-US"/>
            </a:p>
          </p:txBody>
        </p:sp>
        <p:sp>
          <p:nvSpPr>
            <p:cNvPr id="81947" name="Oval 13"/>
            <p:cNvSpPr>
              <a:spLocks noChangeArrowheads="1"/>
            </p:cNvSpPr>
            <p:nvPr/>
          </p:nvSpPr>
          <p:spPr bwMode="auto">
            <a:xfrm>
              <a:off x="2475" y="2341"/>
              <a:ext cx="136" cy="91"/>
            </a:xfrm>
            <a:prstGeom prst="ellipse">
              <a:avLst/>
            </a:prstGeom>
            <a:solidFill>
              <a:srgbClr val="FF33CC"/>
            </a:solidFill>
            <a:ln w="9525">
              <a:solidFill>
                <a:schemeClr val="tx1"/>
              </a:solidFill>
              <a:round/>
              <a:headEnd/>
              <a:tailEnd/>
            </a:ln>
          </p:spPr>
          <p:txBody>
            <a:bodyPr wrap="none" anchor="ctr"/>
            <a:lstStyle/>
            <a:p>
              <a:endParaRPr lang="zh-CN" altLang="en-US"/>
            </a:p>
          </p:txBody>
        </p:sp>
      </p:grpSp>
      <p:sp>
        <p:nvSpPr>
          <p:cNvPr id="81926" name="Line 14"/>
          <p:cNvSpPr>
            <a:spLocks noChangeShapeType="1"/>
          </p:cNvSpPr>
          <p:nvPr/>
        </p:nvSpPr>
        <p:spPr bwMode="auto">
          <a:xfrm>
            <a:off x="6456363" y="2708276"/>
            <a:ext cx="0" cy="3541713"/>
          </a:xfrm>
          <a:prstGeom prst="line">
            <a:avLst/>
          </a:prstGeom>
          <a:noFill/>
          <a:ln w="38100">
            <a:solidFill>
              <a:srgbClr val="CC0099"/>
            </a:solidFill>
            <a:prstDash val="sysDot"/>
            <a:round/>
            <a:headEnd/>
            <a:tailEnd/>
          </a:ln>
        </p:spPr>
        <p:txBody>
          <a:bodyPr/>
          <a:lstStyle/>
          <a:p>
            <a:endParaRPr lang="zh-CN" altLang="en-US"/>
          </a:p>
        </p:txBody>
      </p:sp>
      <p:grpSp>
        <p:nvGrpSpPr>
          <p:cNvPr id="3" name="Group 15"/>
          <p:cNvGrpSpPr>
            <a:grpSpLocks/>
          </p:cNvGrpSpPr>
          <p:nvPr/>
        </p:nvGrpSpPr>
        <p:grpSpPr bwMode="auto">
          <a:xfrm>
            <a:off x="3719513" y="3644900"/>
            <a:ext cx="6780212" cy="2808288"/>
            <a:chOff x="1383" y="2296"/>
            <a:chExt cx="4271" cy="1769"/>
          </a:xfrm>
        </p:grpSpPr>
        <p:sp>
          <p:nvSpPr>
            <p:cNvPr id="81928" name="Line 16"/>
            <p:cNvSpPr>
              <a:spLocks noChangeShapeType="1"/>
            </p:cNvSpPr>
            <p:nvPr/>
          </p:nvSpPr>
          <p:spPr bwMode="auto">
            <a:xfrm>
              <a:off x="3137" y="3838"/>
              <a:ext cx="741" cy="0"/>
            </a:xfrm>
            <a:prstGeom prst="line">
              <a:avLst/>
            </a:prstGeom>
            <a:noFill/>
            <a:ln w="28575" cap="rnd">
              <a:solidFill>
                <a:srgbClr val="000000"/>
              </a:solidFill>
              <a:round/>
              <a:headEnd/>
              <a:tailEnd type="triangle" w="med" len="med"/>
            </a:ln>
          </p:spPr>
          <p:txBody>
            <a:bodyPr/>
            <a:lstStyle/>
            <a:p>
              <a:endParaRPr lang="zh-CN" altLang="en-US"/>
            </a:p>
          </p:txBody>
        </p:sp>
        <p:sp>
          <p:nvSpPr>
            <p:cNvPr id="81929" name="Text Box 17"/>
            <p:cNvSpPr txBox="1">
              <a:spLocks noChangeArrowheads="1"/>
            </p:cNvSpPr>
            <p:nvPr/>
          </p:nvSpPr>
          <p:spPr bwMode="auto">
            <a:xfrm>
              <a:off x="3334" y="3816"/>
              <a:ext cx="952" cy="249"/>
            </a:xfrm>
            <a:prstGeom prst="rect">
              <a:avLst/>
            </a:prstGeom>
            <a:noFill/>
            <a:ln w="12700" cap="rnd" algn="ctr">
              <a:noFill/>
              <a:miter lim="800000"/>
              <a:headEnd/>
              <a:tailEnd/>
            </a:ln>
          </p:spPr>
          <p:txBody>
            <a:bodyPr lIns="0" tIns="0" rIns="0" bIns="0"/>
            <a:lstStyle/>
            <a:p>
              <a:pPr algn="just"/>
              <a:r>
                <a:rPr lang="zh-CN" altLang="en-US" b="1">
                  <a:solidFill>
                    <a:srgbClr val="FF0066"/>
                  </a:solidFill>
                  <a:latin typeface="Times New Roman" pitchFamily="18" charset="0"/>
                </a:rPr>
                <a:t>拒绝域</a:t>
              </a:r>
              <a:endParaRPr lang="zh-CN" altLang="en-US" b="1">
                <a:solidFill>
                  <a:srgbClr val="FF0066"/>
                </a:solidFill>
              </a:endParaRPr>
            </a:p>
          </p:txBody>
        </p:sp>
        <p:sp>
          <p:nvSpPr>
            <p:cNvPr id="81930" name="Freeform 18"/>
            <p:cNvSpPr>
              <a:spLocks/>
            </p:cNvSpPr>
            <p:nvPr/>
          </p:nvSpPr>
          <p:spPr bwMode="auto">
            <a:xfrm rot="26304" flipH="1">
              <a:off x="2082" y="2551"/>
              <a:ext cx="1025" cy="879"/>
            </a:xfrm>
            <a:custGeom>
              <a:avLst/>
              <a:gdLst>
                <a:gd name="T0" fmla="*/ 2147483647 w 424"/>
                <a:gd name="T1" fmla="*/ 2147483647 h 216"/>
                <a:gd name="T2" fmla="*/ 2147483647 w 424"/>
                <a:gd name="T3" fmla="*/ 2147483647 h 216"/>
                <a:gd name="T4" fmla="*/ 1940103970 w 424"/>
                <a:gd name="T5" fmla="*/ 2147483647 h 216"/>
                <a:gd name="T6" fmla="*/ 1687494533 w 424"/>
                <a:gd name="T7" fmla="*/ 2147483647 h 216"/>
                <a:gd name="T8" fmla="*/ 1440931434 w 424"/>
                <a:gd name="T9" fmla="*/ 2147483647 h 216"/>
                <a:gd name="T10" fmla="*/ 779500130 w 424"/>
                <a:gd name="T11" fmla="*/ 2147483647 h 216"/>
                <a:gd name="T12" fmla="*/ 431161291 w 424"/>
                <a:gd name="T13" fmla="*/ 2147483647 h 216"/>
                <a:gd name="T14" fmla="*/ 0 w 424"/>
                <a:gd name="T15" fmla="*/ 0 h 216"/>
                <a:gd name="T16" fmla="*/ 0 w 424"/>
                <a:gd name="T17" fmla="*/ 2147483647 h 216"/>
                <a:gd name="T18" fmla="*/ 2147483647 w 424"/>
                <a:gd name="T19" fmla="*/ 2147483647 h 216"/>
                <a:gd name="T20" fmla="*/ 2147483647 w 424"/>
                <a:gd name="T21" fmla="*/ 2147483647 h 21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24"/>
                <a:gd name="T34" fmla="*/ 0 h 216"/>
                <a:gd name="T35" fmla="*/ 424 w 424"/>
                <a:gd name="T36" fmla="*/ 216 h 21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24" h="216">
                  <a:moveTo>
                    <a:pt x="423" y="204"/>
                  </a:moveTo>
                  <a:lnTo>
                    <a:pt x="279" y="154"/>
                  </a:lnTo>
                  <a:lnTo>
                    <a:pt x="244" y="140"/>
                  </a:lnTo>
                  <a:lnTo>
                    <a:pt x="212" y="125"/>
                  </a:lnTo>
                  <a:lnTo>
                    <a:pt x="181" y="108"/>
                  </a:lnTo>
                  <a:lnTo>
                    <a:pt x="98" y="71"/>
                  </a:lnTo>
                  <a:lnTo>
                    <a:pt x="54" y="42"/>
                  </a:lnTo>
                  <a:lnTo>
                    <a:pt x="0" y="0"/>
                  </a:lnTo>
                  <a:lnTo>
                    <a:pt x="0" y="215"/>
                  </a:lnTo>
                  <a:lnTo>
                    <a:pt x="423" y="209"/>
                  </a:lnTo>
                  <a:lnTo>
                    <a:pt x="423" y="204"/>
                  </a:lnTo>
                </a:path>
              </a:pathLst>
            </a:custGeom>
            <a:solidFill>
              <a:srgbClr val="CC99FF"/>
            </a:solidFill>
            <a:ln w="12700" cap="rnd">
              <a:solidFill>
                <a:srgbClr val="CC99FF"/>
              </a:solidFill>
              <a:round/>
              <a:headEnd/>
              <a:tailEnd/>
            </a:ln>
          </p:spPr>
          <p:txBody>
            <a:bodyPr/>
            <a:lstStyle/>
            <a:p>
              <a:endParaRPr lang="zh-CN" altLang="en-US"/>
            </a:p>
          </p:txBody>
        </p:sp>
        <p:sp>
          <p:nvSpPr>
            <p:cNvPr id="81931" name="Freeform 19"/>
            <p:cNvSpPr>
              <a:spLocks/>
            </p:cNvSpPr>
            <p:nvPr/>
          </p:nvSpPr>
          <p:spPr bwMode="auto">
            <a:xfrm>
              <a:off x="3429" y="2296"/>
              <a:ext cx="1764" cy="1080"/>
            </a:xfrm>
            <a:custGeom>
              <a:avLst/>
              <a:gdLst>
                <a:gd name="T0" fmla="*/ 34462 w 1481"/>
                <a:gd name="T1" fmla="*/ 23483 h 901"/>
                <a:gd name="T2" fmla="*/ 30850 w 1481"/>
                <a:gd name="T3" fmla="*/ 23245 h 901"/>
                <a:gd name="T4" fmla="*/ 29015 w 1481"/>
                <a:gd name="T5" fmla="*/ 22940 h 901"/>
                <a:gd name="T6" fmla="*/ 27195 w 1481"/>
                <a:gd name="T7" fmla="*/ 22594 h 901"/>
                <a:gd name="T8" fmla="*/ 25359 w 1481"/>
                <a:gd name="T9" fmla="*/ 22030 h 901"/>
                <a:gd name="T10" fmla="*/ 23599 w 1481"/>
                <a:gd name="T11" fmla="*/ 21293 h 901"/>
                <a:gd name="T12" fmla="*/ 21789 w 1481"/>
                <a:gd name="T13" fmla="*/ 20350 h 901"/>
                <a:gd name="T14" fmla="*/ 18127 w 1481"/>
                <a:gd name="T15" fmla="*/ 17632 h 901"/>
                <a:gd name="T16" fmla="*/ 14521 w 1481"/>
                <a:gd name="T17" fmla="*/ 13799 h 901"/>
                <a:gd name="T18" fmla="*/ 10834 w 1481"/>
                <a:gd name="T19" fmla="*/ 9164 h 901"/>
                <a:gd name="T20" fmla="*/ 9036 w 1481"/>
                <a:gd name="T21" fmla="*/ 6807 h 901"/>
                <a:gd name="T22" fmla="*/ 7224 w 1481"/>
                <a:gd name="T23" fmla="*/ 4646 h 901"/>
                <a:gd name="T24" fmla="*/ 5435 w 1481"/>
                <a:gd name="T25" fmla="*/ 2743 h 901"/>
                <a:gd name="T26" fmla="*/ 3614 w 1481"/>
                <a:gd name="T27" fmla="*/ 1285 h 901"/>
                <a:gd name="T28" fmla="*/ 1781 w 1481"/>
                <a:gd name="T29" fmla="*/ 302 h 901"/>
                <a:gd name="T30" fmla="*/ 0 w 1481"/>
                <a:gd name="T31" fmla="*/ 0 h 90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481"/>
                <a:gd name="T49" fmla="*/ 0 h 901"/>
                <a:gd name="T50" fmla="*/ 1481 w 1481"/>
                <a:gd name="T51" fmla="*/ 901 h 901"/>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481" h="901">
                  <a:moveTo>
                    <a:pt x="1480" y="900"/>
                  </a:moveTo>
                  <a:lnTo>
                    <a:pt x="1325" y="891"/>
                  </a:lnTo>
                  <a:lnTo>
                    <a:pt x="1246" y="879"/>
                  </a:lnTo>
                  <a:lnTo>
                    <a:pt x="1169" y="866"/>
                  </a:lnTo>
                  <a:lnTo>
                    <a:pt x="1090" y="844"/>
                  </a:lnTo>
                  <a:lnTo>
                    <a:pt x="1013" y="816"/>
                  </a:lnTo>
                  <a:lnTo>
                    <a:pt x="935" y="779"/>
                  </a:lnTo>
                  <a:lnTo>
                    <a:pt x="779" y="676"/>
                  </a:lnTo>
                  <a:lnTo>
                    <a:pt x="624" y="528"/>
                  </a:lnTo>
                  <a:lnTo>
                    <a:pt x="466" y="351"/>
                  </a:lnTo>
                  <a:lnTo>
                    <a:pt x="389" y="261"/>
                  </a:lnTo>
                  <a:lnTo>
                    <a:pt x="311" y="178"/>
                  </a:lnTo>
                  <a:lnTo>
                    <a:pt x="234" y="105"/>
                  </a:lnTo>
                  <a:lnTo>
                    <a:pt x="155" y="48"/>
                  </a:lnTo>
                  <a:lnTo>
                    <a:pt x="76" y="11"/>
                  </a:lnTo>
                  <a:lnTo>
                    <a:pt x="0" y="0"/>
                  </a:lnTo>
                </a:path>
              </a:pathLst>
            </a:custGeom>
            <a:noFill/>
            <a:ln w="57150" cap="rnd">
              <a:solidFill>
                <a:srgbClr val="3333FF"/>
              </a:solidFill>
              <a:round/>
              <a:headEnd/>
              <a:tailEnd/>
            </a:ln>
          </p:spPr>
          <p:txBody>
            <a:bodyPr/>
            <a:lstStyle/>
            <a:p>
              <a:endParaRPr lang="zh-CN" altLang="en-US"/>
            </a:p>
          </p:txBody>
        </p:sp>
        <p:sp>
          <p:nvSpPr>
            <p:cNvPr id="81932" name="Freeform 20"/>
            <p:cNvSpPr>
              <a:spLocks/>
            </p:cNvSpPr>
            <p:nvPr/>
          </p:nvSpPr>
          <p:spPr bwMode="auto">
            <a:xfrm>
              <a:off x="1846" y="2310"/>
              <a:ext cx="1578" cy="1095"/>
            </a:xfrm>
            <a:custGeom>
              <a:avLst/>
              <a:gdLst>
                <a:gd name="T0" fmla="*/ 0 w 393"/>
                <a:gd name="T1" fmla="*/ 30120 h 901"/>
                <a:gd name="T2" fmla="*/ 2147483647 w 393"/>
                <a:gd name="T3" fmla="*/ 29793 h 901"/>
                <a:gd name="T4" fmla="*/ 2147483647 w 393"/>
                <a:gd name="T5" fmla="*/ 29405 h 901"/>
                <a:gd name="T6" fmla="*/ 2147483647 w 393"/>
                <a:gd name="T7" fmla="*/ 28960 h 901"/>
                <a:gd name="T8" fmla="*/ 2147483647 w 393"/>
                <a:gd name="T9" fmla="*/ 28222 h 901"/>
                <a:gd name="T10" fmla="*/ 2147483647 w 393"/>
                <a:gd name="T11" fmla="*/ 27324 h 901"/>
                <a:gd name="T12" fmla="*/ 2147483647 w 393"/>
                <a:gd name="T13" fmla="*/ 26078 h 901"/>
                <a:gd name="T14" fmla="*/ 2147483647 w 393"/>
                <a:gd name="T15" fmla="*/ 22621 h 901"/>
                <a:gd name="T16" fmla="*/ 2147483647 w 393"/>
                <a:gd name="T17" fmla="*/ 17657 h 901"/>
                <a:gd name="T18" fmla="*/ 2147483647 w 393"/>
                <a:gd name="T19" fmla="*/ 11762 h 901"/>
                <a:gd name="T20" fmla="*/ 2147483647 w 393"/>
                <a:gd name="T21" fmla="*/ 8727 h 901"/>
                <a:gd name="T22" fmla="*/ 2147483647 w 393"/>
                <a:gd name="T23" fmla="*/ 5970 h 901"/>
                <a:gd name="T24" fmla="*/ 2147483647 w 393"/>
                <a:gd name="T25" fmla="*/ 3558 h 901"/>
                <a:gd name="T26" fmla="*/ 2147483647 w 393"/>
                <a:gd name="T27" fmla="*/ 1579 h 901"/>
                <a:gd name="T28" fmla="*/ 2147483647 w 393"/>
                <a:gd name="T29" fmla="*/ 349 h 901"/>
                <a:gd name="T30" fmla="*/ 2147483647 w 393"/>
                <a:gd name="T31" fmla="*/ 0 h 90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393"/>
                <a:gd name="T49" fmla="*/ 0 h 901"/>
                <a:gd name="T50" fmla="*/ 393 w 393"/>
                <a:gd name="T51" fmla="*/ 901 h 901"/>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393" h="901">
                  <a:moveTo>
                    <a:pt x="0" y="900"/>
                  </a:moveTo>
                  <a:lnTo>
                    <a:pt x="42" y="891"/>
                  </a:lnTo>
                  <a:lnTo>
                    <a:pt x="61" y="879"/>
                  </a:lnTo>
                  <a:lnTo>
                    <a:pt x="82" y="866"/>
                  </a:lnTo>
                  <a:lnTo>
                    <a:pt x="104" y="844"/>
                  </a:lnTo>
                  <a:lnTo>
                    <a:pt x="123" y="816"/>
                  </a:lnTo>
                  <a:lnTo>
                    <a:pt x="144" y="779"/>
                  </a:lnTo>
                  <a:lnTo>
                    <a:pt x="186" y="676"/>
                  </a:lnTo>
                  <a:lnTo>
                    <a:pt x="227" y="528"/>
                  </a:lnTo>
                  <a:lnTo>
                    <a:pt x="267" y="351"/>
                  </a:lnTo>
                  <a:lnTo>
                    <a:pt x="288" y="261"/>
                  </a:lnTo>
                  <a:lnTo>
                    <a:pt x="309" y="178"/>
                  </a:lnTo>
                  <a:lnTo>
                    <a:pt x="330" y="105"/>
                  </a:lnTo>
                  <a:lnTo>
                    <a:pt x="349" y="48"/>
                  </a:lnTo>
                  <a:lnTo>
                    <a:pt x="371" y="11"/>
                  </a:lnTo>
                  <a:lnTo>
                    <a:pt x="392" y="0"/>
                  </a:lnTo>
                </a:path>
              </a:pathLst>
            </a:custGeom>
            <a:noFill/>
            <a:ln w="57150" cap="rnd">
              <a:solidFill>
                <a:srgbClr val="3333FF"/>
              </a:solidFill>
              <a:round/>
              <a:headEnd/>
              <a:tailEnd/>
            </a:ln>
          </p:spPr>
          <p:txBody>
            <a:bodyPr/>
            <a:lstStyle/>
            <a:p>
              <a:endParaRPr lang="zh-CN" altLang="en-US"/>
            </a:p>
          </p:txBody>
        </p:sp>
        <p:sp>
          <p:nvSpPr>
            <p:cNvPr id="81933" name="Text Box 21"/>
            <p:cNvSpPr txBox="1">
              <a:spLocks noChangeArrowheads="1"/>
            </p:cNvSpPr>
            <p:nvPr/>
          </p:nvSpPr>
          <p:spPr bwMode="auto">
            <a:xfrm>
              <a:off x="1928" y="2636"/>
              <a:ext cx="449" cy="317"/>
            </a:xfrm>
            <a:prstGeom prst="rect">
              <a:avLst/>
            </a:prstGeom>
            <a:noFill/>
            <a:ln w="12700" cap="rnd" algn="ctr">
              <a:solidFill>
                <a:srgbClr val="CC66FF"/>
              </a:solidFill>
              <a:miter lim="800000"/>
              <a:headEnd/>
              <a:tailEnd/>
            </a:ln>
          </p:spPr>
          <p:txBody>
            <a:bodyPr lIns="7200" tIns="3600" rIns="7200" bIns="3600"/>
            <a:lstStyle/>
            <a:p>
              <a:pPr algn="ctr"/>
              <a:r>
                <a:rPr lang="en-US" altLang="zh-CN" sz="3600" b="1" i="1" dirty="0">
                  <a:solidFill>
                    <a:srgbClr val="3333FF"/>
                  </a:solidFill>
                  <a:latin typeface="Times New Roman" pitchFamily="18" charset="0"/>
                </a:rPr>
                <a:t>β</a:t>
              </a:r>
              <a:endParaRPr lang="en-US" altLang="zh-CN" sz="3600" b="1" dirty="0">
                <a:solidFill>
                  <a:srgbClr val="3333FF"/>
                </a:solidFill>
              </a:endParaRPr>
            </a:p>
          </p:txBody>
        </p:sp>
        <p:sp>
          <p:nvSpPr>
            <p:cNvPr id="371734" name="Line 22"/>
            <p:cNvSpPr>
              <a:spLocks noChangeShapeType="1"/>
            </p:cNvSpPr>
            <p:nvPr/>
          </p:nvSpPr>
          <p:spPr bwMode="auto">
            <a:xfrm>
              <a:off x="2245" y="2934"/>
              <a:ext cx="586" cy="285"/>
            </a:xfrm>
            <a:prstGeom prst="line">
              <a:avLst/>
            </a:prstGeom>
            <a:noFill/>
            <a:ln w="28575" cap="rnd">
              <a:solidFill>
                <a:srgbClr val="CC66FF"/>
              </a:solidFill>
              <a:round/>
              <a:headEnd/>
              <a:tailEnd type="triangle" w="med" len="med"/>
            </a:ln>
            <a:effectLst>
              <a:outerShdw dist="35921" dir="2700000" algn="ctr" rotWithShape="0">
                <a:srgbClr val="9797B7"/>
              </a:outerShdw>
            </a:effectLst>
          </p:spPr>
          <p:txBody>
            <a:bodyPr/>
            <a:lstStyle/>
            <a:p>
              <a:pPr>
                <a:defRPr/>
              </a:pPr>
              <a:endParaRPr lang="zh-CN" altLang="en-US">
                <a:latin typeface="Arial" charset="0"/>
                <a:ea typeface="宋体" charset="-122"/>
              </a:endParaRPr>
            </a:p>
          </p:txBody>
        </p:sp>
        <p:sp>
          <p:nvSpPr>
            <p:cNvPr id="81935" name="Line 23"/>
            <p:cNvSpPr>
              <a:spLocks noChangeShapeType="1"/>
            </p:cNvSpPr>
            <p:nvPr/>
          </p:nvSpPr>
          <p:spPr bwMode="auto">
            <a:xfrm>
              <a:off x="3470" y="2309"/>
              <a:ext cx="2" cy="1130"/>
            </a:xfrm>
            <a:prstGeom prst="line">
              <a:avLst/>
            </a:prstGeom>
            <a:noFill/>
            <a:ln w="12700" cap="rnd">
              <a:solidFill>
                <a:schemeClr val="accent1"/>
              </a:solidFill>
              <a:round/>
              <a:headEnd/>
              <a:tailEnd/>
            </a:ln>
          </p:spPr>
          <p:txBody>
            <a:bodyPr/>
            <a:lstStyle/>
            <a:p>
              <a:endParaRPr lang="zh-CN" altLang="en-US"/>
            </a:p>
          </p:txBody>
        </p:sp>
        <p:sp>
          <p:nvSpPr>
            <p:cNvPr id="81936" name="Oval 24"/>
            <p:cNvSpPr>
              <a:spLocks noChangeArrowheads="1"/>
            </p:cNvSpPr>
            <p:nvPr/>
          </p:nvSpPr>
          <p:spPr bwMode="auto">
            <a:xfrm>
              <a:off x="3470" y="3366"/>
              <a:ext cx="136" cy="79"/>
            </a:xfrm>
            <a:prstGeom prst="ellipse">
              <a:avLst/>
            </a:prstGeom>
            <a:solidFill>
              <a:srgbClr val="3333FF"/>
            </a:solidFill>
            <a:ln w="9525">
              <a:solidFill>
                <a:schemeClr val="tx1"/>
              </a:solidFill>
              <a:round/>
              <a:headEnd/>
              <a:tailEnd/>
            </a:ln>
          </p:spPr>
          <p:txBody>
            <a:bodyPr wrap="none" anchor="ctr"/>
            <a:lstStyle/>
            <a:p>
              <a:endParaRPr lang="zh-CN" altLang="en-US"/>
            </a:p>
          </p:txBody>
        </p:sp>
        <p:sp>
          <p:nvSpPr>
            <p:cNvPr id="81937" name="Line 25"/>
            <p:cNvSpPr>
              <a:spLocks noChangeShapeType="1"/>
            </p:cNvSpPr>
            <p:nvPr/>
          </p:nvSpPr>
          <p:spPr bwMode="auto">
            <a:xfrm flipV="1">
              <a:off x="1383" y="3427"/>
              <a:ext cx="4271" cy="17"/>
            </a:xfrm>
            <a:prstGeom prst="line">
              <a:avLst/>
            </a:prstGeom>
            <a:noFill/>
            <a:ln w="57150" cap="rnd">
              <a:solidFill>
                <a:srgbClr val="000000"/>
              </a:solidFill>
              <a:round/>
              <a:headEnd/>
              <a:tailEnd type="triangle" w="med" len="med"/>
            </a:ln>
          </p:spPr>
          <p:txBody>
            <a:bodyPr/>
            <a:lstStyle/>
            <a:p>
              <a:endParaRPr lang="zh-CN" altLang="en-US"/>
            </a:p>
          </p:txBody>
        </p:sp>
        <p:sp>
          <p:nvSpPr>
            <p:cNvPr id="371738" name="Text Box 26"/>
            <p:cNvSpPr txBox="1">
              <a:spLocks noChangeArrowheads="1"/>
            </p:cNvSpPr>
            <p:nvPr/>
          </p:nvSpPr>
          <p:spPr bwMode="auto">
            <a:xfrm>
              <a:off x="3434" y="3476"/>
              <a:ext cx="590" cy="301"/>
            </a:xfrm>
            <a:prstGeom prst="rect">
              <a:avLst/>
            </a:prstGeom>
            <a:noFill/>
            <a:ln w="9525">
              <a:noFill/>
              <a:miter lim="800000"/>
              <a:headEnd/>
              <a:tailEnd/>
            </a:ln>
            <a:effectLst/>
          </p:spPr>
          <p:txBody>
            <a:bodyPr lIns="0" tIns="0" rIns="0" bIns="0"/>
            <a:lstStyle/>
            <a:p>
              <a:pPr algn="just">
                <a:defRPr/>
              </a:pPr>
              <a:r>
                <a:rPr kumimoji="1" lang="el-GR" altLang="zh-CN" sz="2400" b="1" i="1" dirty="0">
                  <a:solidFill>
                    <a:srgbClr val="FF33CC"/>
                  </a:solidFill>
                  <a:effectLst>
                    <a:outerShdw blurRad="38100" dist="38100" dir="2700000" algn="tl">
                      <a:srgbClr val="C0C0C0"/>
                    </a:outerShdw>
                  </a:effectLst>
                  <a:latin typeface="Arial" charset="0"/>
                  <a:ea typeface="宋体" charset="-122"/>
                </a:rPr>
                <a:t>θ</a:t>
              </a:r>
              <a:r>
                <a:rPr lang="en-US" altLang="zh-CN" sz="2400" b="1" baseline="-25000" dirty="0">
                  <a:solidFill>
                    <a:srgbClr val="FF0066"/>
                  </a:solidFill>
                  <a:latin typeface="Times New Roman" pitchFamily="18" charset="0"/>
                  <a:ea typeface="宋体" charset="-122"/>
                </a:rPr>
                <a:t>1</a:t>
              </a:r>
            </a:p>
          </p:txBody>
        </p:sp>
      </p:grpSp>
    </p:spTree>
    <p:extLst>
      <p:ext uri="{BB962C8B-B14F-4D97-AF65-F5344CB8AC3E}">
        <p14:creationId xmlns:p14="http://schemas.microsoft.com/office/powerpoint/2010/main" val="159665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8"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slide(fromLeft)">
                                      <p:cBhvr>
                                        <p:cTn id="7"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灯片编号占位符 5"/>
          <p:cNvSpPr>
            <a:spLocks noGrp="1"/>
          </p:cNvSpPr>
          <p:nvPr>
            <p:ph type="sldNum" sz="quarter" idx="4294967295"/>
          </p:nvPr>
        </p:nvSpPr>
        <p:spPr>
          <a:noFill/>
        </p:spPr>
        <p:txBody>
          <a:bodyPr/>
          <a:lstStyle/>
          <a:p>
            <a:r>
              <a:rPr lang="en-US" altLang="zh-CN">
                <a:ea typeface="宋体" pitchFamily="2" charset="-122"/>
              </a:rPr>
              <a:t>8--</a:t>
            </a:r>
            <a:fld id="{CFDBE2C0-18D9-4464-A8EF-2A4441EB9CF7}" type="slidenum">
              <a:rPr lang="en-US" altLang="zh-CN" smtClean="0">
                <a:ea typeface="宋体" pitchFamily="2" charset="-122"/>
              </a:rPr>
              <a:pPr/>
              <a:t>38</a:t>
            </a:fld>
            <a:endParaRPr lang="en-US" altLang="zh-CN">
              <a:ea typeface="宋体" pitchFamily="2" charset="-122"/>
            </a:endParaRPr>
          </a:p>
        </p:txBody>
      </p:sp>
      <p:sp>
        <p:nvSpPr>
          <p:cNvPr id="82947" name="Rectangle 1026"/>
          <p:cNvSpPr>
            <a:spLocks noGrp="1" noChangeArrowheads="1"/>
          </p:cNvSpPr>
          <p:nvPr>
            <p:ph type="title"/>
          </p:nvPr>
        </p:nvSpPr>
        <p:spPr>
          <a:xfrm>
            <a:off x="2362200" y="422275"/>
            <a:ext cx="7772400" cy="990600"/>
          </a:xfrm>
          <a:noFill/>
        </p:spPr>
        <p:txBody>
          <a:bodyPr vert="horz" lIns="90488" tIns="44450" rIns="90488" bIns="44450" rtlCol="0" anchor="ctr" anchorCtr="1">
            <a:normAutofit/>
          </a:bodyPr>
          <a:lstStyle/>
          <a:p>
            <a:pPr eaLnBrk="1" hangingPunct="1"/>
            <a:r>
              <a:rPr lang="en-US" altLang="zh-CN" sz="4000">
                <a:latin typeface="Symbol" pitchFamily="18" charset="2"/>
              </a:rPr>
              <a:t></a:t>
            </a:r>
            <a:r>
              <a:rPr lang="en-US" altLang="zh-CN" sz="4000"/>
              <a:t> </a:t>
            </a:r>
            <a:r>
              <a:rPr lang="zh-CN" altLang="en-US" sz="4000"/>
              <a:t>和 </a:t>
            </a:r>
            <a:r>
              <a:rPr lang="zh-CN" altLang="en-US" sz="4000">
                <a:latin typeface="Symbol" pitchFamily="18" charset="2"/>
              </a:rPr>
              <a:t></a:t>
            </a:r>
            <a:r>
              <a:rPr lang="zh-CN" altLang="en-US" sz="4000"/>
              <a:t> 的关系</a:t>
            </a:r>
            <a:endParaRPr lang="zh-CN" altLang="en-US"/>
          </a:p>
        </p:txBody>
      </p:sp>
      <p:sp>
        <p:nvSpPr>
          <p:cNvPr id="82948" name="Text Box 1101"/>
          <p:cNvSpPr txBox="1">
            <a:spLocks noChangeArrowheads="1"/>
          </p:cNvSpPr>
          <p:nvPr/>
        </p:nvSpPr>
        <p:spPr bwMode="auto">
          <a:xfrm>
            <a:off x="1663700" y="1341439"/>
            <a:ext cx="8877300" cy="1643527"/>
          </a:xfrm>
          <a:prstGeom prst="rect">
            <a:avLst/>
          </a:prstGeom>
          <a:noFill/>
          <a:ln w="12700">
            <a:solidFill>
              <a:srgbClr val="CC0099"/>
            </a:solidFill>
            <a:miter lim="800000"/>
            <a:headEnd/>
            <a:tailEnd/>
          </a:ln>
        </p:spPr>
        <p:txBody>
          <a:bodyPr wrap="square">
            <a:spAutoFit/>
          </a:bodyPr>
          <a:lstStyle/>
          <a:p>
            <a:pPr eaLnBrk="0" hangingPunct="0">
              <a:lnSpc>
                <a:spcPct val="120000"/>
              </a:lnSpc>
              <a:spcBef>
                <a:spcPct val="20000"/>
              </a:spcBef>
            </a:pPr>
            <a:r>
              <a:rPr kumimoji="1" lang="zh-CN" altLang="en-US" sz="2800" b="1" dirty="0">
                <a:latin typeface="Times New Roman" pitchFamily="18" charset="0"/>
              </a:rPr>
              <a:t>在检验中人们总希望犯两类错误的可能性都很小，然而，</a:t>
            </a:r>
            <a:r>
              <a:rPr kumimoji="1" lang="zh-CN" altLang="en-US" sz="2800" b="1" dirty="0">
                <a:solidFill>
                  <a:srgbClr val="0070C0"/>
                </a:solidFill>
                <a:latin typeface="Times New Roman" pitchFamily="18" charset="0"/>
              </a:rPr>
              <a:t>在其它条件不变的情况下， </a:t>
            </a:r>
            <a:r>
              <a:rPr kumimoji="1" lang="zh-CN" altLang="en-US" sz="2800" b="1" dirty="0">
                <a:solidFill>
                  <a:srgbClr val="0070C0"/>
                </a:solidFill>
                <a:latin typeface="Symbol" pitchFamily="18" charset="2"/>
              </a:rPr>
              <a:t> 和  不可能同时减小</a:t>
            </a:r>
            <a:r>
              <a:rPr kumimoji="1" lang="zh-CN" altLang="en-US" sz="2800" b="1" dirty="0">
                <a:latin typeface="Symbol" pitchFamily="18" charset="2"/>
              </a:rPr>
              <a:t>，</a:t>
            </a:r>
            <a:r>
              <a:rPr kumimoji="1" lang="zh-CN" altLang="en-US" sz="2800" b="1" dirty="0">
                <a:latin typeface="Times New Roman" pitchFamily="18" charset="0"/>
              </a:rPr>
              <a:t>就象交易中买卖双方各自承担的风险一样。</a:t>
            </a:r>
          </a:p>
        </p:txBody>
      </p:sp>
      <p:grpSp>
        <p:nvGrpSpPr>
          <p:cNvPr id="2" name="Group 4"/>
          <p:cNvGrpSpPr>
            <a:grpSpLocks/>
          </p:cNvGrpSpPr>
          <p:nvPr/>
        </p:nvGrpSpPr>
        <p:grpSpPr bwMode="auto">
          <a:xfrm>
            <a:off x="2927350" y="2781300"/>
            <a:ext cx="5545138" cy="2305050"/>
            <a:chOff x="884" y="1752"/>
            <a:chExt cx="3493" cy="1452"/>
          </a:xfrm>
        </p:grpSpPr>
        <p:sp>
          <p:nvSpPr>
            <p:cNvPr id="82951" name="Rectangle 1029"/>
            <p:cNvSpPr>
              <a:spLocks noChangeArrowheads="1"/>
            </p:cNvSpPr>
            <p:nvPr/>
          </p:nvSpPr>
          <p:spPr bwMode="auto">
            <a:xfrm rot="-981744">
              <a:off x="1164" y="2809"/>
              <a:ext cx="2763" cy="83"/>
            </a:xfrm>
            <a:prstGeom prst="rect">
              <a:avLst/>
            </a:prstGeom>
            <a:solidFill>
              <a:srgbClr val="CC66FF"/>
            </a:solidFill>
            <a:ln w="12700">
              <a:solidFill>
                <a:schemeClr val="bg2"/>
              </a:solidFill>
              <a:miter lim="800000"/>
              <a:headEnd/>
              <a:tailEnd/>
            </a:ln>
          </p:spPr>
          <p:txBody>
            <a:bodyPr wrap="none" anchor="ctr"/>
            <a:lstStyle/>
            <a:p>
              <a:endParaRPr lang="zh-CN" altLang="en-US"/>
            </a:p>
          </p:txBody>
        </p:sp>
        <p:sp>
          <p:nvSpPr>
            <p:cNvPr id="82952" name="AutoShape 1036"/>
            <p:cNvSpPr>
              <a:spLocks noChangeArrowheads="1"/>
            </p:cNvSpPr>
            <p:nvPr/>
          </p:nvSpPr>
          <p:spPr bwMode="auto">
            <a:xfrm>
              <a:off x="2562" y="2840"/>
              <a:ext cx="441" cy="338"/>
            </a:xfrm>
            <a:prstGeom prst="triangle">
              <a:avLst>
                <a:gd name="adj" fmla="val 49995"/>
              </a:avLst>
            </a:prstGeom>
            <a:solidFill>
              <a:srgbClr val="FF0066"/>
            </a:solidFill>
            <a:ln w="12700">
              <a:solidFill>
                <a:srgbClr val="FFCC66"/>
              </a:solidFill>
              <a:miter lim="800000"/>
              <a:headEnd/>
              <a:tailEnd/>
            </a:ln>
          </p:spPr>
          <p:txBody>
            <a:bodyPr wrap="none" anchor="ctr"/>
            <a:lstStyle/>
            <a:p>
              <a:pPr algn="ctr"/>
              <a:endParaRPr lang="zh-CN" altLang="zh-CN">
                <a:solidFill>
                  <a:srgbClr val="FF0066"/>
                </a:solidFill>
              </a:endParaRPr>
            </a:p>
          </p:txBody>
        </p:sp>
        <p:sp>
          <p:nvSpPr>
            <p:cNvPr id="40973" name="Rectangle 1037"/>
            <p:cNvSpPr>
              <a:spLocks noChangeArrowheads="1"/>
            </p:cNvSpPr>
            <p:nvPr/>
          </p:nvSpPr>
          <p:spPr bwMode="auto">
            <a:xfrm>
              <a:off x="975" y="2572"/>
              <a:ext cx="630" cy="632"/>
            </a:xfrm>
            <a:prstGeom prst="rect">
              <a:avLst/>
            </a:prstGeom>
            <a:noFill/>
            <a:ln w="12700">
              <a:noFill/>
              <a:miter lim="800000"/>
              <a:headEnd/>
              <a:tailEnd/>
            </a:ln>
            <a:effectLst/>
          </p:spPr>
          <p:txBody>
            <a:bodyPr lIns="90488" tIns="44450" rIns="90488" bIns="44450">
              <a:spAutoFit/>
            </a:bodyPr>
            <a:lstStyle/>
            <a:p>
              <a:pPr algn="ctr" eaLnBrk="0" hangingPunct="0">
                <a:spcBef>
                  <a:spcPct val="50000"/>
                </a:spcBef>
                <a:defRPr/>
              </a:pPr>
              <a:r>
                <a:rPr kumimoji="1" lang="en-US" altLang="zh-CN" sz="6000" b="1">
                  <a:solidFill>
                    <a:srgbClr val="3333FF"/>
                  </a:solidFill>
                  <a:effectLst>
                    <a:outerShdw blurRad="38100" dist="38100" dir="2700000" algn="tl">
                      <a:srgbClr val="C0C0C0"/>
                    </a:outerShdw>
                  </a:effectLst>
                  <a:latin typeface="Symbol" pitchFamily="18" charset="2"/>
                  <a:ea typeface="宋体" charset="-122"/>
                </a:rPr>
                <a:t></a:t>
              </a:r>
            </a:p>
          </p:txBody>
        </p:sp>
        <p:sp>
          <p:nvSpPr>
            <p:cNvPr id="40974" name="Rectangle 1038"/>
            <p:cNvSpPr>
              <a:spLocks noChangeArrowheads="1"/>
            </p:cNvSpPr>
            <p:nvPr/>
          </p:nvSpPr>
          <p:spPr bwMode="auto">
            <a:xfrm>
              <a:off x="3702" y="1752"/>
              <a:ext cx="630" cy="632"/>
            </a:xfrm>
            <a:prstGeom prst="rect">
              <a:avLst/>
            </a:prstGeom>
            <a:noFill/>
            <a:ln w="12700">
              <a:noFill/>
              <a:miter lim="800000"/>
              <a:headEnd/>
              <a:tailEnd/>
            </a:ln>
            <a:effectLst/>
          </p:spPr>
          <p:txBody>
            <a:bodyPr lIns="90488" tIns="44450" rIns="90488" bIns="44450">
              <a:spAutoFit/>
            </a:bodyPr>
            <a:lstStyle/>
            <a:p>
              <a:pPr algn="ctr" eaLnBrk="0" hangingPunct="0">
                <a:spcBef>
                  <a:spcPct val="50000"/>
                </a:spcBef>
                <a:defRPr/>
              </a:pPr>
              <a:r>
                <a:rPr kumimoji="1" lang="en-US" altLang="zh-CN" sz="6000" b="1">
                  <a:solidFill>
                    <a:srgbClr val="3333FF"/>
                  </a:solidFill>
                  <a:effectLst>
                    <a:outerShdw blurRad="38100" dist="38100" dir="2700000" algn="tl">
                      <a:srgbClr val="C0C0C0"/>
                    </a:outerShdw>
                  </a:effectLst>
                  <a:latin typeface="Symbol" pitchFamily="18" charset="2"/>
                  <a:ea typeface="宋体" charset="-122"/>
                </a:rPr>
                <a:t></a:t>
              </a:r>
            </a:p>
          </p:txBody>
        </p:sp>
        <p:sp>
          <p:nvSpPr>
            <p:cNvPr id="82955" name="AutoShape 1102"/>
            <p:cNvSpPr>
              <a:spLocks noChangeArrowheads="1"/>
            </p:cNvSpPr>
            <p:nvPr/>
          </p:nvSpPr>
          <p:spPr bwMode="auto">
            <a:xfrm rot="918810">
              <a:off x="884" y="2160"/>
              <a:ext cx="363" cy="681"/>
            </a:xfrm>
            <a:prstGeom prst="downArrow">
              <a:avLst>
                <a:gd name="adj1" fmla="val 50000"/>
                <a:gd name="adj2" fmla="val 46901"/>
              </a:avLst>
            </a:prstGeom>
            <a:solidFill>
              <a:schemeClr val="hlink"/>
            </a:solidFill>
            <a:ln w="9525">
              <a:solidFill>
                <a:schemeClr val="tx1"/>
              </a:solidFill>
              <a:miter lim="800000"/>
              <a:headEnd/>
              <a:tailEnd/>
            </a:ln>
          </p:spPr>
          <p:txBody>
            <a:bodyPr vert="eaVert" wrap="none" anchor="ctr"/>
            <a:lstStyle/>
            <a:p>
              <a:endParaRPr lang="zh-CN" altLang="en-US"/>
            </a:p>
          </p:txBody>
        </p:sp>
        <p:sp>
          <p:nvSpPr>
            <p:cNvPr id="82956" name="AutoShape 1103"/>
            <p:cNvSpPr>
              <a:spLocks noChangeArrowheads="1"/>
            </p:cNvSpPr>
            <p:nvPr/>
          </p:nvSpPr>
          <p:spPr bwMode="auto">
            <a:xfrm rot="1138662" flipV="1">
              <a:off x="4014" y="2342"/>
              <a:ext cx="363" cy="726"/>
            </a:xfrm>
            <a:prstGeom prst="downArrow">
              <a:avLst>
                <a:gd name="adj1" fmla="val 50000"/>
                <a:gd name="adj2" fmla="val 50000"/>
              </a:avLst>
            </a:prstGeom>
            <a:solidFill>
              <a:schemeClr val="hlink"/>
            </a:solidFill>
            <a:ln w="9525">
              <a:solidFill>
                <a:schemeClr val="tx1"/>
              </a:solidFill>
              <a:miter lim="800000"/>
              <a:headEnd/>
              <a:tailEnd/>
            </a:ln>
          </p:spPr>
          <p:txBody>
            <a:bodyPr vert="eaVert" wrap="none" anchor="ctr"/>
            <a:lstStyle/>
            <a:p>
              <a:endParaRPr lang="zh-CN" altLang="en-US"/>
            </a:p>
          </p:txBody>
        </p:sp>
      </p:grpSp>
      <p:sp>
        <p:nvSpPr>
          <p:cNvPr id="82950" name="AutoShape 1108"/>
          <p:cNvSpPr>
            <a:spLocks noChangeArrowheads="1"/>
          </p:cNvSpPr>
          <p:nvPr/>
        </p:nvSpPr>
        <p:spPr bwMode="auto">
          <a:xfrm>
            <a:off x="6248400" y="5045075"/>
            <a:ext cx="2303463" cy="792162"/>
          </a:xfrm>
          <a:prstGeom prst="wedgeRoundRectCallout">
            <a:avLst>
              <a:gd name="adj1" fmla="val -60764"/>
              <a:gd name="adj2" fmla="val -113421"/>
              <a:gd name="adj3" fmla="val 16667"/>
            </a:avLst>
          </a:prstGeom>
          <a:solidFill>
            <a:srgbClr val="FFCC66"/>
          </a:solidFill>
          <a:ln w="9525">
            <a:solidFill>
              <a:schemeClr val="tx1"/>
            </a:solidFill>
            <a:miter lim="800000"/>
            <a:headEnd/>
            <a:tailEnd/>
          </a:ln>
        </p:spPr>
        <p:txBody>
          <a:bodyPr/>
          <a:lstStyle/>
          <a:p>
            <a:pPr algn="ctr"/>
            <a:r>
              <a:rPr kumimoji="1" lang="el-GR" altLang="zh-CN" sz="2400" b="1" dirty="0">
                <a:solidFill>
                  <a:srgbClr val="3333FF"/>
                </a:solidFill>
                <a:latin typeface="宋体" pitchFamily="2" charset="-122"/>
              </a:rPr>
              <a:t>α</a:t>
            </a:r>
            <a:r>
              <a:rPr kumimoji="1" lang="zh-CN" altLang="en-US" sz="2400" b="1" dirty="0">
                <a:solidFill>
                  <a:srgbClr val="3333FF"/>
                </a:solidFill>
              </a:rPr>
              <a:t>和</a:t>
            </a:r>
            <a:r>
              <a:rPr kumimoji="1" lang="el-GR" altLang="zh-CN" sz="2400" b="1" dirty="0">
                <a:solidFill>
                  <a:srgbClr val="3333FF"/>
                </a:solidFill>
                <a:latin typeface="宋体" pitchFamily="2" charset="-122"/>
              </a:rPr>
              <a:t>β</a:t>
            </a:r>
            <a:r>
              <a:rPr kumimoji="1" lang="zh-CN" altLang="en-US" sz="2400" b="1" dirty="0">
                <a:solidFill>
                  <a:srgbClr val="3333FF"/>
                </a:solidFill>
              </a:rPr>
              <a:t>的关系就好比翘翘板</a:t>
            </a:r>
          </a:p>
        </p:txBody>
      </p:sp>
    </p:spTree>
    <p:extLst>
      <p:ext uri="{BB962C8B-B14F-4D97-AF65-F5344CB8AC3E}">
        <p14:creationId xmlns:p14="http://schemas.microsoft.com/office/powerpoint/2010/main" val="6793034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2" presetClass="emph" presetSubtype="0" fill="hold" nodeType="afterEffect">
                                  <p:stCondLst>
                                    <p:cond delay="0"/>
                                  </p:stCondLst>
                                  <p:childTnLst>
                                    <p:animClr clrSpc="rgb" dir="cw">
                                      <p:cBhvr override="childStyle">
                                        <p:cTn id="6" dur="100" fill="hold"/>
                                        <p:tgtEl>
                                          <p:spTgt spid="2"/>
                                        </p:tgtEl>
                                        <p:attrNameLst>
                                          <p:attrName>style.color</p:attrName>
                                        </p:attrNameLst>
                                      </p:cBhvr>
                                      <p:to>
                                        <a:schemeClr val="accent2"/>
                                      </p:to>
                                    </p:animClr>
                                    <p:animClr clrSpc="rgb" dir="cw">
                                      <p:cBhvr>
                                        <p:cTn id="7" dur="100" fill="hold"/>
                                        <p:tgtEl>
                                          <p:spTgt spid="2"/>
                                        </p:tgtEl>
                                        <p:attrNameLst>
                                          <p:attrName>fillcolor</p:attrName>
                                        </p:attrNameLst>
                                      </p:cBhvr>
                                      <p:to>
                                        <a:schemeClr val="accent2"/>
                                      </p:to>
                                    </p:animClr>
                                    <p:set>
                                      <p:cBhvr>
                                        <p:cTn id="8" dur="100" fill="hold"/>
                                        <p:tgtEl>
                                          <p:spTgt spid="2"/>
                                        </p:tgtEl>
                                        <p:attrNameLst>
                                          <p:attrName>fill.type</p:attrName>
                                        </p:attrNameLst>
                                      </p:cBhvr>
                                      <p:to>
                                        <p:strVal val="solid"/>
                                      </p:to>
                                    </p:set>
                                    <p:set>
                                      <p:cBhvr>
                                        <p:cTn id="9" dur="100" fill="hold"/>
                                        <p:tgtEl>
                                          <p:spTgt spid="2"/>
                                        </p:tgtEl>
                                        <p:attrNameLst>
                                          <p:attrName>fill.on</p:attrName>
                                        </p:attrNameLst>
                                      </p:cBhvr>
                                      <p:to>
                                        <p:strVal val="true"/>
                                      </p:to>
                                    </p:set>
                                    <p:animRot by="120000">
                                      <p:cBhvr>
                                        <p:cTn id="10" dur="100" fill="hold">
                                          <p:stCondLst>
                                            <p:cond delay="0"/>
                                          </p:stCondLst>
                                        </p:cTn>
                                        <p:tgtEl>
                                          <p:spTgt spid="2"/>
                                        </p:tgtEl>
                                        <p:attrNameLst>
                                          <p:attrName>r</p:attrName>
                                        </p:attrNameLst>
                                      </p:cBhvr>
                                    </p:animRot>
                                    <p:animRot by="-240000">
                                      <p:cBhvr>
                                        <p:cTn id="11" dur="200" fill="hold">
                                          <p:stCondLst>
                                            <p:cond delay="200"/>
                                          </p:stCondLst>
                                        </p:cTn>
                                        <p:tgtEl>
                                          <p:spTgt spid="2"/>
                                        </p:tgtEl>
                                        <p:attrNameLst>
                                          <p:attrName>r</p:attrName>
                                        </p:attrNameLst>
                                      </p:cBhvr>
                                    </p:animRot>
                                    <p:animRot by="240000">
                                      <p:cBhvr>
                                        <p:cTn id="12" dur="200" fill="hold">
                                          <p:stCondLst>
                                            <p:cond delay="400"/>
                                          </p:stCondLst>
                                        </p:cTn>
                                        <p:tgtEl>
                                          <p:spTgt spid="2"/>
                                        </p:tgtEl>
                                        <p:attrNameLst>
                                          <p:attrName>r</p:attrName>
                                        </p:attrNameLst>
                                      </p:cBhvr>
                                    </p:animRot>
                                    <p:animRot by="-240000">
                                      <p:cBhvr>
                                        <p:cTn id="13" dur="200" fill="hold">
                                          <p:stCondLst>
                                            <p:cond delay="600"/>
                                          </p:stCondLst>
                                        </p:cTn>
                                        <p:tgtEl>
                                          <p:spTgt spid="2"/>
                                        </p:tgtEl>
                                        <p:attrNameLst>
                                          <p:attrName>r</p:attrName>
                                        </p:attrNameLst>
                                      </p:cBhvr>
                                    </p:animRot>
                                    <p:animRot by="120000">
                                      <p:cBhvr>
                                        <p:cTn id="14" dur="200" fill="hold">
                                          <p:stCondLst>
                                            <p:cond delay="800"/>
                                          </p:stCondLst>
                                        </p:cTn>
                                        <p:tgtEl>
                                          <p:spTgt spid="2"/>
                                        </p:tgtEl>
                                        <p:attrNameLst>
                                          <p:attrName>r</p:attrName>
                                        </p:attrNameLst>
                                      </p:cBhvr>
                                    </p:animRot>
                                  </p:childTnLst>
                                </p:cTn>
                              </p:par>
                            </p:childTnLst>
                          </p:cTn>
                        </p:par>
                        <p:par>
                          <p:cTn id="15" fill="hold">
                            <p:stCondLst>
                              <p:cond delay="1000"/>
                            </p:stCondLst>
                            <p:childTnLst>
                              <p:par>
                                <p:cTn id="16" presetID="32" presetClass="emph" presetSubtype="0" fill="hold" nodeType="afterEffect">
                                  <p:stCondLst>
                                    <p:cond delay="0"/>
                                  </p:stCondLst>
                                  <p:childTnLst>
                                    <p:animClr clrSpc="rgb" dir="cw">
                                      <p:cBhvr override="childStyle">
                                        <p:cTn id="17" dur="300" fill="hold"/>
                                        <p:tgtEl>
                                          <p:spTgt spid="2"/>
                                        </p:tgtEl>
                                        <p:attrNameLst>
                                          <p:attrName>style.color</p:attrName>
                                        </p:attrNameLst>
                                      </p:cBhvr>
                                      <p:to>
                                        <a:schemeClr val="accent2"/>
                                      </p:to>
                                    </p:animClr>
                                    <p:animClr clrSpc="rgb" dir="cw">
                                      <p:cBhvr>
                                        <p:cTn id="18" dur="300" fill="hold"/>
                                        <p:tgtEl>
                                          <p:spTgt spid="2"/>
                                        </p:tgtEl>
                                        <p:attrNameLst>
                                          <p:attrName>fillcolor</p:attrName>
                                        </p:attrNameLst>
                                      </p:cBhvr>
                                      <p:to>
                                        <a:schemeClr val="accent2"/>
                                      </p:to>
                                    </p:animClr>
                                    <p:set>
                                      <p:cBhvr>
                                        <p:cTn id="19" dur="300" fill="hold"/>
                                        <p:tgtEl>
                                          <p:spTgt spid="2"/>
                                        </p:tgtEl>
                                        <p:attrNameLst>
                                          <p:attrName>fill.type</p:attrName>
                                        </p:attrNameLst>
                                      </p:cBhvr>
                                      <p:to>
                                        <p:strVal val="solid"/>
                                      </p:to>
                                    </p:set>
                                    <p:set>
                                      <p:cBhvr>
                                        <p:cTn id="20" dur="300" fill="hold"/>
                                        <p:tgtEl>
                                          <p:spTgt spid="2"/>
                                        </p:tgtEl>
                                        <p:attrNameLst>
                                          <p:attrName>fill.on</p:attrName>
                                        </p:attrNameLst>
                                      </p:cBhvr>
                                      <p:to>
                                        <p:strVal val="true"/>
                                      </p:to>
                                    </p:set>
                                    <p:animRot by="120000">
                                      <p:cBhvr>
                                        <p:cTn id="21" dur="300" fill="hold">
                                          <p:stCondLst>
                                            <p:cond delay="0"/>
                                          </p:stCondLst>
                                        </p:cTn>
                                        <p:tgtEl>
                                          <p:spTgt spid="2"/>
                                        </p:tgtEl>
                                        <p:attrNameLst>
                                          <p:attrName>r</p:attrName>
                                        </p:attrNameLst>
                                      </p:cBhvr>
                                    </p:animRot>
                                    <p:animRot by="-240000">
                                      <p:cBhvr>
                                        <p:cTn id="22" dur="600" fill="hold">
                                          <p:stCondLst>
                                            <p:cond delay="600"/>
                                          </p:stCondLst>
                                        </p:cTn>
                                        <p:tgtEl>
                                          <p:spTgt spid="2"/>
                                        </p:tgtEl>
                                        <p:attrNameLst>
                                          <p:attrName>r</p:attrName>
                                        </p:attrNameLst>
                                      </p:cBhvr>
                                    </p:animRot>
                                    <p:animRot by="240000">
                                      <p:cBhvr>
                                        <p:cTn id="23" dur="600" fill="hold">
                                          <p:stCondLst>
                                            <p:cond delay="1200"/>
                                          </p:stCondLst>
                                        </p:cTn>
                                        <p:tgtEl>
                                          <p:spTgt spid="2"/>
                                        </p:tgtEl>
                                        <p:attrNameLst>
                                          <p:attrName>r</p:attrName>
                                        </p:attrNameLst>
                                      </p:cBhvr>
                                    </p:animRot>
                                    <p:animRot by="-240000">
                                      <p:cBhvr>
                                        <p:cTn id="24" dur="600" fill="hold">
                                          <p:stCondLst>
                                            <p:cond delay="1800"/>
                                          </p:stCondLst>
                                        </p:cTn>
                                        <p:tgtEl>
                                          <p:spTgt spid="2"/>
                                        </p:tgtEl>
                                        <p:attrNameLst>
                                          <p:attrName>r</p:attrName>
                                        </p:attrNameLst>
                                      </p:cBhvr>
                                    </p:animRot>
                                    <p:animRot by="120000">
                                      <p:cBhvr>
                                        <p:cTn id="25" dur="600" fill="hold">
                                          <p:stCondLst>
                                            <p:cond delay="2400"/>
                                          </p:stCondLst>
                                        </p:cTn>
                                        <p:tgtEl>
                                          <p:spTgt spid="2"/>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灯片编号占位符 5"/>
          <p:cNvSpPr>
            <a:spLocks noGrp="1"/>
          </p:cNvSpPr>
          <p:nvPr>
            <p:ph type="sldNum" sz="quarter" idx="4294967295"/>
          </p:nvPr>
        </p:nvSpPr>
        <p:spPr>
          <a:noFill/>
        </p:spPr>
        <p:txBody>
          <a:bodyPr/>
          <a:lstStyle/>
          <a:p>
            <a:r>
              <a:rPr lang="en-US" altLang="zh-CN">
                <a:ea typeface="宋体" pitchFamily="2" charset="-122"/>
              </a:rPr>
              <a:t>8--</a:t>
            </a:r>
            <a:fld id="{5E6B437F-79A4-4C83-9AFD-A195F097E704}" type="slidenum">
              <a:rPr lang="en-US" altLang="zh-CN" smtClean="0">
                <a:ea typeface="宋体" pitchFamily="2" charset="-122"/>
              </a:rPr>
              <a:pPr/>
              <a:t>39</a:t>
            </a:fld>
            <a:endParaRPr lang="en-US" altLang="zh-CN">
              <a:ea typeface="宋体" pitchFamily="2" charset="-122"/>
            </a:endParaRPr>
          </a:p>
        </p:txBody>
      </p:sp>
      <p:sp>
        <p:nvSpPr>
          <p:cNvPr id="83971" name="Rectangle 1026"/>
          <p:cNvSpPr>
            <a:spLocks noGrp="1" noChangeArrowheads="1"/>
          </p:cNvSpPr>
          <p:nvPr>
            <p:ph type="title"/>
          </p:nvPr>
        </p:nvSpPr>
        <p:spPr>
          <a:xfrm>
            <a:off x="2171700" y="627342"/>
            <a:ext cx="7772400" cy="990600"/>
          </a:xfrm>
        </p:spPr>
        <p:txBody>
          <a:bodyPr/>
          <a:lstStyle/>
          <a:p>
            <a:pPr eaLnBrk="1" hangingPunct="1"/>
            <a:r>
              <a:rPr lang="zh-CN" altLang="en-US" sz="4000" dirty="0"/>
              <a:t>确定</a:t>
            </a:r>
            <a:r>
              <a:rPr lang="en-US" altLang="zh-CN" sz="4000" i="1" dirty="0">
                <a:latin typeface="Times New Roman" pitchFamily="18" charset="0"/>
                <a:cs typeface="Times New Roman" pitchFamily="18" charset="0"/>
              </a:rPr>
              <a:t>α </a:t>
            </a:r>
            <a:r>
              <a:rPr lang="zh-CN" altLang="en-US" sz="4000" dirty="0"/>
              <a:t>时应考虑的因素</a:t>
            </a:r>
          </a:p>
        </p:txBody>
      </p:sp>
      <p:sp>
        <p:nvSpPr>
          <p:cNvPr id="76804" name="Rectangle 1027"/>
          <p:cNvSpPr>
            <a:spLocks noGrp="1" noChangeArrowheads="1"/>
          </p:cNvSpPr>
          <p:nvPr>
            <p:ph type="body" idx="1"/>
          </p:nvPr>
        </p:nvSpPr>
        <p:spPr>
          <a:xfrm>
            <a:off x="2171700" y="1773238"/>
            <a:ext cx="8096250" cy="4227512"/>
          </a:xfrm>
        </p:spPr>
        <p:txBody>
          <a:bodyPr>
            <a:normAutofit lnSpcReduction="10000"/>
          </a:bodyPr>
          <a:lstStyle/>
          <a:p>
            <a:pPr marL="0" indent="0" algn="just">
              <a:lnSpc>
                <a:spcPct val="120000"/>
              </a:lnSpc>
              <a:spcBef>
                <a:spcPts val="600"/>
              </a:spcBef>
              <a:buNone/>
              <a:defRPr/>
            </a:pPr>
            <a:r>
              <a:rPr lang="zh-CN" altLang="en-US" b="1" dirty="0"/>
              <a:t>视两类错误所产生的后果轻重而定</a:t>
            </a:r>
          </a:p>
          <a:p>
            <a:pPr marL="971550" lvl="1" algn="just">
              <a:lnSpc>
                <a:spcPct val="120000"/>
              </a:lnSpc>
              <a:spcBef>
                <a:spcPts val="600"/>
              </a:spcBef>
              <a:defRPr/>
            </a:pPr>
            <a:r>
              <a:rPr lang="zh-CN" altLang="en-US" b="1" dirty="0"/>
              <a:t>当犯第一类错误的后果严重时，则希望尽可能不犯第一类错误，宁愿犯第二类错误，此时</a:t>
            </a:r>
            <a:r>
              <a:rPr lang="en-US" altLang="zh-CN" sz="4000" b="1" i="1" dirty="0">
                <a:solidFill>
                  <a:srgbClr val="3333FF"/>
                </a:solidFill>
                <a:latin typeface="Times New Roman" pitchFamily="18" charset="0"/>
                <a:ea typeface="+mj-ea"/>
                <a:cs typeface="Times New Roman" pitchFamily="18" charset="0"/>
              </a:rPr>
              <a:t>α</a:t>
            </a:r>
            <a:r>
              <a:rPr lang="zh-CN" altLang="en-US" b="1" dirty="0">
                <a:solidFill>
                  <a:srgbClr val="3333FF"/>
                </a:solidFill>
              </a:rPr>
              <a:t>宜小</a:t>
            </a:r>
            <a:r>
              <a:rPr lang="zh-CN" altLang="en-US" b="1" dirty="0">
                <a:solidFill>
                  <a:schemeClr val="tx1"/>
                </a:solidFill>
              </a:rPr>
              <a:t>。</a:t>
            </a:r>
          </a:p>
          <a:p>
            <a:pPr marL="971550" lvl="1" algn="just">
              <a:lnSpc>
                <a:spcPct val="120000"/>
              </a:lnSpc>
              <a:spcBef>
                <a:spcPts val="600"/>
              </a:spcBef>
              <a:defRPr/>
            </a:pPr>
            <a:r>
              <a:rPr lang="zh-CN" altLang="en-US" b="1" dirty="0"/>
              <a:t>当犯第二类错误的后果严重时，则希望尽可能不犯第二类错误，宁愿犯第一类错误，此时</a:t>
            </a:r>
            <a:r>
              <a:rPr lang="en-US" altLang="zh-CN" sz="4000" b="1" i="1" dirty="0">
                <a:solidFill>
                  <a:srgbClr val="3333FF"/>
                </a:solidFill>
                <a:latin typeface="Times New Roman" pitchFamily="18" charset="0"/>
                <a:ea typeface="+mj-ea"/>
                <a:cs typeface="Times New Roman" pitchFamily="18" charset="0"/>
              </a:rPr>
              <a:t>α</a:t>
            </a:r>
            <a:r>
              <a:rPr lang="zh-CN" altLang="en-US" b="1" dirty="0">
                <a:solidFill>
                  <a:srgbClr val="3333FF"/>
                </a:solidFill>
              </a:rPr>
              <a:t>不宜太小</a:t>
            </a:r>
            <a:endParaRPr lang="en-US" altLang="zh-CN" b="1" dirty="0"/>
          </a:p>
        </p:txBody>
      </p:sp>
    </p:spTree>
    <p:extLst>
      <p:ext uri="{BB962C8B-B14F-4D97-AF65-F5344CB8AC3E}">
        <p14:creationId xmlns:p14="http://schemas.microsoft.com/office/powerpoint/2010/main" val="53647757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4994" name="灯片编号占位符 5"/>
          <p:cNvSpPr>
            <a:spLocks noGrp="1"/>
          </p:cNvSpPr>
          <p:nvPr>
            <p:ph type="sldNum" sz="quarter" idx="4294967295"/>
          </p:nvPr>
        </p:nvSpPr>
        <p:spPr>
          <a:noFill/>
        </p:spPr>
        <p:txBody>
          <a:bodyPr/>
          <a:lstStyle/>
          <a:p>
            <a:r>
              <a:rPr lang="en-US" altLang="zh-CN">
                <a:ea typeface="宋体" pitchFamily="2" charset="-122"/>
              </a:rPr>
              <a:t>8--</a:t>
            </a:r>
            <a:fld id="{EB10220B-5508-4E33-A94C-FC7A5820594B}" type="slidenum">
              <a:rPr lang="en-US" altLang="zh-CN" smtClean="0">
                <a:ea typeface="宋体" pitchFamily="2" charset="-122"/>
              </a:rPr>
              <a:pPr/>
              <a:t>40</a:t>
            </a:fld>
            <a:endParaRPr lang="en-US" altLang="zh-CN">
              <a:ea typeface="宋体" pitchFamily="2" charset="-122"/>
            </a:endParaRPr>
          </a:p>
        </p:txBody>
      </p:sp>
      <p:sp>
        <p:nvSpPr>
          <p:cNvPr id="84995" name="Rectangle 1026"/>
          <p:cNvSpPr>
            <a:spLocks noGrp="1" noChangeArrowheads="1"/>
          </p:cNvSpPr>
          <p:nvPr>
            <p:ph type="title"/>
          </p:nvPr>
        </p:nvSpPr>
        <p:spPr>
          <a:xfrm>
            <a:off x="1732314" y="190499"/>
            <a:ext cx="8243888" cy="990600"/>
          </a:xfrm>
          <a:noFill/>
        </p:spPr>
        <p:txBody>
          <a:bodyPr vert="horz" lIns="36000" tIns="44450" rIns="36000" bIns="44450" rtlCol="0" anchor="ctr" anchorCtr="1">
            <a:normAutofit/>
          </a:bodyPr>
          <a:lstStyle/>
          <a:p>
            <a:pPr defTabSz="179388" eaLnBrk="1" hangingPunct="1"/>
            <a:r>
              <a:rPr lang="en-US" altLang="zh-CN" sz="4000" b="1" dirty="0">
                <a:effectLst/>
              </a:rPr>
              <a:t>【</a:t>
            </a:r>
            <a:r>
              <a:rPr lang="zh-CN" altLang="en-US" sz="4000" b="1" dirty="0">
                <a:effectLst/>
              </a:rPr>
              <a:t>附</a:t>
            </a:r>
            <a:r>
              <a:rPr lang="en-US" altLang="zh-CN" sz="4000" b="1" dirty="0">
                <a:effectLst/>
              </a:rPr>
              <a:t>】</a:t>
            </a:r>
            <a:r>
              <a:rPr lang="zh-CN" altLang="en-US" sz="4000" b="1" dirty="0">
                <a:effectLst/>
              </a:rPr>
              <a:t>影响 </a:t>
            </a:r>
            <a:r>
              <a:rPr lang="zh-CN" altLang="en-US" sz="4000" b="1" i="1" dirty="0">
                <a:solidFill>
                  <a:srgbClr val="FF33CC"/>
                </a:solidFill>
                <a:effectLst/>
                <a:latin typeface="Symbol" pitchFamily="18" charset="2"/>
              </a:rPr>
              <a:t></a:t>
            </a:r>
            <a:r>
              <a:rPr lang="zh-CN" altLang="en-US" sz="4000" b="1" i="1" dirty="0">
                <a:solidFill>
                  <a:srgbClr val="FFFF93"/>
                </a:solidFill>
                <a:effectLst/>
                <a:latin typeface="Symbol" pitchFamily="18" charset="2"/>
              </a:rPr>
              <a:t> </a:t>
            </a:r>
            <a:r>
              <a:rPr lang="zh-CN" altLang="en-US" sz="4000" b="1" dirty="0">
                <a:effectLst/>
                <a:latin typeface="Symbol" pitchFamily="18" charset="2"/>
              </a:rPr>
              <a:t>大小的因素</a:t>
            </a:r>
            <a:endParaRPr lang="zh-CN" altLang="en-US" sz="5400" b="1" dirty="0">
              <a:effectLst/>
              <a:latin typeface="Symbol" pitchFamily="18" charset="2"/>
            </a:endParaRPr>
          </a:p>
        </p:txBody>
      </p:sp>
      <p:sp>
        <p:nvSpPr>
          <p:cNvPr id="45059" name="Rectangle 1027"/>
          <p:cNvSpPr>
            <a:spLocks noGrp="1" noChangeArrowheads="1"/>
          </p:cNvSpPr>
          <p:nvPr>
            <p:ph type="body" idx="1"/>
          </p:nvPr>
        </p:nvSpPr>
        <p:spPr>
          <a:xfrm>
            <a:off x="1961639" y="1236014"/>
            <a:ext cx="7542213" cy="5431487"/>
          </a:xfrm>
          <a:noFill/>
        </p:spPr>
        <p:txBody>
          <a:bodyPr vert="horz" lIns="90488" tIns="44450" rIns="90488" bIns="44450" rtlCol="0">
            <a:normAutofit fontScale="85000" lnSpcReduction="20000"/>
          </a:bodyPr>
          <a:lstStyle/>
          <a:p>
            <a:pPr marL="0" indent="0">
              <a:lnSpc>
                <a:spcPct val="160000"/>
              </a:lnSpc>
              <a:buNone/>
            </a:pPr>
            <a:r>
              <a:rPr lang="en-US" altLang="zh-CN" sz="2800" dirty="0"/>
              <a:t>1. </a:t>
            </a:r>
            <a:r>
              <a:rPr lang="zh-CN" altLang="en-US" sz="2800" dirty="0"/>
              <a:t>显著性水平</a:t>
            </a:r>
            <a:r>
              <a:rPr lang="zh-CN" altLang="en-US" sz="2800" i="1" dirty="0"/>
              <a:t> </a:t>
            </a:r>
            <a:r>
              <a:rPr lang="zh-CN" altLang="en-US" sz="2800" i="1" dirty="0">
                <a:latin typeface="Symbol" pitchFamily="18" charset="2"/>
              </a:rPr>
              <a:t></a:t>
            </a:r>
          </a:p>
          <a:p>
            <a:pPr marL="685800" lvl="1" indent="0">
              <a:lnSpc>
                <a:spcPct val="160000"/>
              </a:lnSpc>
              <a:spcBef>
                <a:spcPts val="1100"/>
              </a:spcBef>
              <a:buNone/>
            </a:pPr>
            <a:r>
              <a:rPr lang="zh-CN" altLang="en-US" sz="2400" dirty="0">
                <a:latin typeface="Symbol" pitchFamily="18" charset="2"/>
              </a:rPr>
              <a:t>随  减少而增大</a:t>
            </a:r>
          </a:p>
          <a:p>
            <a:pPr marL="0" indent="0">
              <a:lnSpc>
                <a:spcPct val="160000"/>
              </a:lnSpc>
              <a:spcBef>
                <a:spcPts val="1100"/>
              </a:spcBef>
              <a:buNone/>
            </a:pPr>
            <a:r>
              <a:rPr lang="en-US" altLang="zh-CN" sz="2800" dirty="0"/>
              <a:t>2. </a:t>
            </a:r>
            <a:r>
              <a:rPr lang="zh-CN" altLang="en-US" sz="2800" dirty="0"/>
              <a:t>总体参数的真值</a:t>
            </a:r>
          </a:p>
          <a:p>
            <a:pPr marL="685800" lvl="1" indent="0">
              <a:lnSpc>
                <a:spcPct val="160000"/>
              </a:lnSpc>
              <a:buNone/>
            </a:pPr>
            <a:r>
              <a:rPr lang="zh-CN" altLang="en-US" sz="2400" dirty="0"/>
              <a:t>随着总体参数的假设值与真实值的差异缩小而增大</a:t>
            </a:r>
            <a:endParaRPr lang="en-US" altLang="zh-CN" sz="2400" dirty="0"/>
          </a:p>
          <a:p>
            <a:pPr marL="0" indent="0">
              <a:lnSpc>
                <a:spcPct val="160000"/>
              </a:lnSpc>
              <a:buNone/>
            </a:pPr>
            <a:r>
              <a:rPr lang="en-US" altLang="zh-CN" sz="2800" dirty="0"/>
              <a:t>3. </a:t>
            </a:r>
            <a:r>
              <a:rPr lang="zh-CN" altLang="en-US" sz="2800" dirty="0"/>
              <a:t>样本容量 </a:t>
            </a:r>
            <a:r>
              <a:rPr lang="en-US" altLang="zh-CN" sz="2800" i="1" dirty="0">
                <a:latin typeface="Times New Roman" pitchFamily="18" charset="0"/>
              </a:rPr>
              <a:t>n</a:t>
            </a:r>
          </a:p>
          <a:p>
            <a:pPr marL="685800" lvl="1" indent="0">
              <a:lnSpc>
                <a:spcPct val="160000"/>
              </a:lnSpc>
              <a:buNone/>
            </a:pPr>
            <a:r>
              <a:rPr lang="zh-CN" altLang="en-US" sz="2400" dirty="0"/>
              <a:t>随着 </a:t>
            </a:r>
            <a:r>
              <a:rPr lang="en-US" altLang="zh-CN" sz="2400" dirty="0"/>
              <a:t>n </a:t>
            </a:r>
            <a:r>
              <a:rPr lang="zh-CN" altLang="en-US" sz="2400" dirty="0"/>
              <a:t>增大，检验统计量的分布曲线更集中，曲线尾端的面积  则减少。</a:t>
            </a:r>
          </a:p>
          <a:p>
            <a:pPr marL="0" indent="0">
              <a:lnSpc>
                <a:spcPct val="160000"/>
              </a:lnSpc>
              <a:spcBef>
                <a:spcPts val="1100"/>
              </a:spcBef>
              <a:buNone/>
            </a:pPr>
            <a:r>
              <a:rPr lang="en-US" altLang="zh-CN" sz="2800" dirty="0"/>
              <a:t>4. </a:t>
            </a:r>
            <a:r>
              <a:rPr lang="zh-CN" altLang="en-US" sz="2800" dirty="0"/>
              <a:t>总体标准差 </a:t>
            </a:r>
            <a:r>
              <a:rPr lang="zh-CN" altLang="en-US" sz="2800" i="1" dirty="0">
                <a:latin typeface="Symbol" pitchFamily="18" charset="2"/>
              </a:rPr>
              <a:t></a:t>
            </a:r>
          </a:p>
          <a:p>
            <a:pPr marL="685800" lvl="1" indent="0">
              <a:lnSpc>
                <a:spcPct val="160000"/>
              </a:lnSpc>
              <a:spcBef>
                <a:spcPts val="1100"/>
              </a:spcBef>
              <a:buNone/>
            </a:pPr>
            <a:r>
              <a:rPr lang="zh-CN" altLang="en-US" sz="2400" dirty="0">
                <a:latin typeface="Symbol" pitchFamily="18" charset="2"/>
              </a:rPr>
              <a:t>当</a:t>
            </a:r>
            <a:r>
              <a:rPr lang="zh-CN" altLang="en-US" sz="2400" i="1" dirty="0">
                <a:latin typeface="Symbol" pitchFamily="18" charset="2"/>
                <a:sym typeface="Symbol" pitchFamily="18" charset="2"/>
              </a:rPr>
              <a:t></a:t>
            </a:r>
            <a:r>
              <a:rPr lang="zh-CN" altLang="en-US" sz="2400" dirty="0">
                <a:latin typeface="Symbol" pitchFamily="18" charset="2"/>
                <a:sym typeface="Symbol" pitchFamily="18" charset="2"/>
              </a:rPr>
              <a:t> </a:t>
            </a:r>
            <a:r>
              <a:rPr lang="zh-CN" altLang="en-US" sz="2400" dirty="0">
                <a:latin typeface="Symbol" pitchFamily="18" charset="2"/>
              </a:rPr>
              <a:t>增大时</a:t>
            </a:r>
            <a:r>
              <a:rPr lang="zh-CN" altLang="en-US" sz="2400" dirty="0">
                <a:solidFill>
                  <a:schemeClr val="tx1"/>
                </a:solidFill>
                <a:latin typeface="Symbol" pitchFamily="18" charset="2"/>
              </a:rPr>
              <a:t> </a:t>
            </a:r>
            <a:r>
              <a:rPr lang="zh-CN" altLang="en-US" sz="2400" b="1" i="1" dirty="0">
                <a:solidFill>
                  <a:srgbClr val="7030A0"/>
                </a:solidFill>
                <a:latin typeface="Symbol" pitchFamily="18" charset="2"/>
              </a:rPr>
              <a:t></a:t>
            </a:r>
            <a:r>
              <a:rPr lang="zh-CN" altLang="en-US" sz="2400" dirty="0">
                <a:solidFill>
                  <a:schemeClr val="tx1"/>
                </a:solidFill>
                <a:latin typeface="Symbol" pitchFamily="18" charset="2"/>
              </a:rPr>
              <a:t> </a:t>
            </a:r>
            <a:r>
              <a:rPr lang="zh-CN" altLang="en-US" sz="2400" dirty="0">
                <a:latin typeface="Symbol" pitchFamily="18" charset="2"/>
              </a:rPr>
              <a:t>增大</a:t>
            </a:r>
            <a:endParaRPr lang="zh-CN" altLang="en-US" sz="2400" dirty="0"/>
          </a:p>
        </p:txBody>
      </p:sp>
    </p:spTree>
    <p:extLst>
      <p:ext uri="{BB962C8B-B14F-4D97-AF65-F5344CB8AC3E}">
        <p14:creationId xmlns:p14="http://schemas.microsoft.com/office/powerpoint/2010/main" val="13227553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45059">
                                            <p:txEl>
                                              <p:pRg st="1" end="1"/>
                                            </p:txEl>
                                          </p:spTgt>
                                        </p:tgtEl>
                                        <p:attrNameLst>
                                          <p:attrName>style.visibility</p:attrName>
                                        </p:attrNameLst>
                                      </p:cBhvr>
                                      <p:to>
                                        <p:strVal val="visible"/>
                                      </p:to>
                                    </p:set>
                                    <p:animEffect transition="in" filter="wipe(left)">
                                      <p:cBhvr>
                                        <p:cTn id="7" dur="500"/>
                                        <p:tgtEl>
                                          <p:spTgt spid="45059">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5059">
                                            <p:txEl>
                                              <p:pRg st="2" end="2"/>
                                            </p:txEl>
                                          </p:spTgt>
                                        </p:tgtEl>
                                        <p:attrNameLst>
                                          <p:attrName>style.visibility</p:attrName>
                                        </p:attrNameLst>
                                      </p:cBhvr>
                                      <p:to>
                                        <p:strVal val="visible"/>
                                      </p:to>
                                    </p:set>
                                    <p:animEffect transition="in" filter="wipe(left)">
                                      <p:cBhvr>
                                        <p:cTn id="12" dur="500"/>
                                        <p:tgtEl>
                                          <p:spTgt spid="45059">
                                            <p:txEl>
                                              <p:pRg st="2" end="2"/>
                                            </p:txEl>
                                          </p:spTgt>
                                        </p:tgtEl>
                                      </p:cBhvr>
                                    </p:animEffect>
                                  </p:childTnLst>
                                </p:cTn>
                              </p:par>
                              <p:par>
                                <p:cTn id="13" presetID="22" presetClass="entr" presetSubtype="8" fill="hold" grpId="0" nodeType="withEffect">
                                  <p:stCondLst>
                                    <p:cond delay="0"/>
                                  </p:stCondLst>
                                  <p:childTnLst>
                                    <p:set>
                                      <p:cBhvr>
                                        <p:cTn id="14" dur="1" fill="hold">
                                          <p:stCondLst>
                                            <p:cond delay="0"/>
                                          </p:stCondLst>
                                        </p:cTn>
                                        <p:tgtEl>
                                          <p:spTgt spid="45059">
                                            <p:txEl>
                                              <p:pRg st="3" end="3"/>
                                            </p:txEl>
                                          </p:spTgt>
                                        </p:tgtEl>
                                        <p:attrNameLst>
                                          <p:attrName>style.visibility</p:attrName>
                                        </p:attrNameLst>
                                      </p:cBhvr>
                                      <p:to>
                                        <p:strVal val="visible"/>
                                      </p:to>
                                    </p:set>
                                    <p:animEffect transition="in" filter="wipe(left)">
                                      <p:cBhvr>
                                        <p:cTn id="15" dur="500"/>
                                        <p:tgtEl>
                                          <p:spTgt spid="45059">
                                            <p:txEl>
                                              <p:pRg st="3" end="3"/>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45059">
                                            <p:txEl>
                                              <p:pRg st="4" end="4"/>
                                            </p:txEl>
                                          </p:spTgt>
                                        </p:tgtEl>
                                        <p:attrNameLst>
                                          <p:attrName>style.visibility</p:attrName>
                                        </p:attrNameLst>
                                      </p:cBhvr>
                                      <p:to>
                                        <p:strVal val="visible"/>
                                      </p:to>
                                    </p:set>
                                    <p:animEffect transition="in" filter="wipe(left)">
                                      <p:cBhvr>
                                        <p:cTn id="20" dur="500"/>
                                        <p:tgtEl>
                                          <p:spTgt spid="45059">
                                            <p:txEl>
                                              <p:pRg st="4" end="4"/>
                                            </p:txEl>
                                          </p:spTgt>
                                        </p:tgtEl>
                                      </p:cBhvr>
                                    </p:animEffect>
                                  </p:childTnLst>
                                </p:cTn>
                              </p:par>
                              <p:par>
                                <p:cTn id="21" presetID="22" presetClass="entr" presetSubtype="8" fill="hold" grpId="0" nodeType="withEffect">
                                  <p:stCondLst>
                                    <p:cond delay="0"/>
                                  </p:stCondLst>
                                  <p:childTnLst>
                                    <p:set>
                                      <p:cBhvr>
                                        <p:cTn id="22" dur="1" fill="hold">
                                          <p:stCondLst>
                                            <p:cond delay="0"/>
                                          </p:stCondLst>
                                        </p:cTn>
                                        <p:tgtEl>
                                          <p:spTgt spid="45059">
                                            <p:txEl>
                                              <p:pRg st="5" end="5"/>
                                            </p:txEl>
                                          </p:spTgt>
                                        </p:tgtEl>
                                        <p:attrNameLst>
                                          <p:attrName>style.visibility</p:attrName>
                                        </p:attrNameLst>
                                      </p:cBhvr>
                                      <p:to>
                                        <p:strVal val="visible"/>
                                      </p:to>
                                    </p:set>
                                    <p:animEffect transition="in" filter="wipe(left)">
                                      <p:cBhvr>
                                        <p:cTn id="23" dur="500"/>
                                        <p:tgtEl>
                                          <p:spTgt spid="45059">
                                            <p:txEl>
                                              <p:pRg st="5" end="5"/>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45059">
                                            <p:txEl>
                                              <p:pRg st="6" end="6"/>
                                            </p:txEl>
                                          </p:spTgt>
                                        </p:tgtEl>
                                        <p:attrNameLst>
                                          <p:attrName>style.visibility</p:attrName>
                                        </p:attrNameLst>
                                      </p:cBhvr>
                                      <p:to>
                                        <p:strVal val="visible"/>
                                      </p:to>
                                    </p:set>
                                    <p:animEffect transition="in" filter="wipe(left)">
                                      <p:cBhvr>
                                        <p:cTn id="28" dur="500"/>
                                        <p:tgtEl>
                                          <p:spTgt spid="45059">
                                            <p:txEl>
                                              <p:pRg st="6" end="6"/>
                                            </p:txEl>
                                          </p:spTgt>
                                        </p:tgtEl>
                                      </p:cBhvr>
                                    </p:animEffect>
                                  </p:childTnLst>
                                </p:cTn>
                              </p:par>
                              <p:par>
                                <p:cTn id="29" presetID="22" presetClass="entr" presetSubtype="8" fill="hold" grpId="0" nodeType="withEffect">
                                  <p:stCondLst>
                                    <p:cond delay="0"/>
                                  </p:stCondLst>
                                  <p:childTnLst>
                                    <p:set>
                                      <p:cBhvr>
                                        <p:cTn id="30" dur="1" fill="hold">
                                          <p:stCondLst>
                                            <p:cond delay="0"/>
                                          </p:stCondLst>
                                        </p:cTn>
                                        <p:tgtEl>
                                          <p:spTgt spid="45059">
                                            <p:txEl>
                                              <p:pRg st="7" end="7"/>
                                            </p:txEl>
                                          </p:spTgt>
                                        </p:tgtEl>
                                        <p:attrNameLst>
                                          <p:attrName>style.visibility</p:attrName>
                                        </p:attrNameLst>
                                      </p:cBhvr>
                                      <p:to>
                                        <p:strVal val="visible"/>
                                      </p:to>
                                    </p:set>
                                    <p:animEffect transition="in" filter="wipe(left)">
                                      <p:cBhvr>
                                        <p:cTn id="31" dur="500"/>
                                        <p:tgtEl>
                                          <p:spTgt spid="45059">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059" grpId="0" build="p" autoUpdateAnimBg="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1057"/>
          <p:cNvSpPr>
            <a:spLocks noGrp="1" noChangeArrowheads="1"/>
          </p:cNvSpPr>
          <p:nvPr>
            <p:ph type="sldNum" sz="quarter" idx="4294967295"/>
          </p:nvPr>
        </p:nvSpPr>
        <p:spPr>
          <a:noFill/>
        </p:spPr>
        <p:txBody>
          <a:bodyPr/>
          <a:lstStyle/>
          <a:p>
            <a:r>
              <a:rPr lang="en-US" altLang="zh-CN">
                <a:ea typeface="宋体" pitchFamily="2" charset="-122"/>
              </a:rPr>
              <a:t>8--</a:t>
            </a:r>
            <a:fld id="{95BCAAF7-1879-4C56-B93D-8B6F5BEBE365}" type="slidenum">
              <a:rPr lang="en-US" altLang="zh-CN" smtClean="0">
                <a:ea typeface="宋体" pitchFamily="2" charset="-122"/>
              </a:rPr>
              <a:pPr/>
              <a:t>41</a:t>
            </a:fld>
            <a:endParaRPr lang="en-US" altLang="zh-CN">
              <a:ea typeface="宋体" pitchFamily="2" charset="-122"/>
            </a:endParaRPr>
          </a:p>
        </p:txBody>
      </p:sp>
      <p:sp>
        <p:nvSpPr>
          <p:cNvPr id="86019" name="Rectangle 1030"/>
          <p:cNvSpPr>
            <a:spLocks noGrp="1" noChangeArrowheads="1"/>
          </p:cNvSpPr>
          <p:nvPr>
            <p:ph type="ctrTitle"/>
          </p:nvPr>
        </p:nvSpPr>
        <p:spPr>
          <a:xfrm>
            <a:off x="1654176" y="815975"/>
            <a:ext cx="8748713" cy="1100138"/>
          </a:xfrm>
          <a:noFill/>
        </p:spPr>
        <p:txBody>
          <a:bodyPr>
            <a:normAutofit/>
          </a:bodyPr>
          <a:lstStyle/>
          <a:p>
            <a:pPr eaLnBrk="1" hangingPunct="1">
              <a:lnSpc>
                <a:spcPct val="125000"/>
              </a:lnSpc>
            </a:pPr>
            <a:r>
              <a:rPr lang="en-US" altLang="zh-CN" sz="4800" dirty="0"/>
              <a:t>8.2  </a:t>
            </a:r>
            <a:r>
              <a:rPr lang="zh-CN" altLang="en-US" sz="4800" dirty="0"/>
              <a:t>一个总体参数的假设检验 </a:t>
            </a:r>
          </a:p>
        </p:txBody>
      </p:sp>
      <p:sp>
        <p:nvSpPr>
          <p:cNvPr id="86020" name="Rectangle 1058"/>
          <p:cNvSpPr>
            <a:spLocks noChangeArrowheads="1"/>
          </p:cNvSpPr>
          <p:nvPr/>
        </p:nvSpPr>
        <p:spPr bwMode="auto">
          <a:xfrm>
            <a:off x="2667000" y="1916113"/>
            <a:ext cx="8001000" cy="4071938"/>
          </a:xfrm>
          <a:prstGeom prst="rect">
            <a:avLst/>
          </a:prstGeom>
          <a:noFill/>
          <a:ln w="12700">
            <a:noFill/>
            <a:miter lim="800000"/>
            <a:headEnd/>
            <a:tailEnd/>
          </a:ln>
        </p:spPr>
        <p:txBody>
          <a:bodyPr lIns="90488" tIns="44450" rIns="90488" bIns="44450"/>
          <a:lstStyle/>
          <a:p>
            <a:pPr marL="571500" indent="-571500" algn="just">
              <a:spcBef>
                <a:spcPct val="20000"/>
              </a:spcBef>
              <a:buSzPct val="90000"/>
            </a:pPr>
            <a:r>
              <a:rPr lang="en-US" altLang="zh-CN" sz="3200" b="1" dirty="0">
                <a:solidFill>
                  <a:schemeClr val="accent1"/>
                </a:solidFill>
                <a:latin typeface="Tahoma" pitchFamily="34" charset="0"/>
              </a:rPr>
              <a:t>8.2.1 </a:t>
            </a:r>
            <a:r>
              <a:rPr lang="zh-CN" altLang="en-US" sz="3200" b="1" dirty="0">
                <a:solidFill>
                  <a:schemeClr val="accent1"/>
                </a:solidFill>
                <a:latin typeface="Tahoma" pitchFamily="34" charset="0"/>
              </a:rPr>
              <a:t>对一个正态总体均值的检验</a:t>
            </a:r>
          </a:p>
          <a:p>
            <a:pPr marL="971550" lvl="1" indent="-285750" algn="just">
              <a:spcBef>
                <a:spcPct val="20000"/>
              </a:spcBef>
              <a:buSzPct val="80000"/>
            </a:pPr>
            <a:r>
              <a:rPr lang="zh-CN" altLang="en-US" sz="3200" b="1" dirty="0">
                <a:latin typeface="Tahoma" pitchFamily="34" charset="0"/>
              </a:rPr>
              <a:t>一、总体方差已知时</a:t>
            </a:r>
            <a:r>
              <a:rPr lang="en-US" altLang="zh-CN" sz="3200" b="1" dirty="0"/>
              <a:t>——</a:t>
            </a:r>
            <a:r>
              <a:rPr lang="en-US" altLang="zh-CN" sz="3200" b="1" dirty="0">
                <a:latin typeface="Tahoma" pitchFamily="34" charset="0"/>
              </a:rPr>
              <a:t> </a:t>
            </a:r>
            <a:r>
              <a:rPr lang="en-US" altLang="zh-CN" sz="3200" b="1" i="1" dirty="0">
                <a:latin typeface="Times New Roman" pitchFamily="18" charset="0"/>
                <a:cs typeface="Times New Roman" pitchFamily="18" charset="0"/>
              </a:rPr>
              <a:t>Z</a:t>
            </a:r>
            <a:r>
              <a:rPr lang="en-US" altLang="zh-CN" sz="3200" b="1" i="1" dirty="0">
                <a:latin typeface="Tahoma" pitchFamily="34" charset="0"/>
              </a:rPr>
              <a:t> </a:t>
            </a:r>
            <a:r>
              <a:rPr lang="zh-CN" altLang="en-US" sz="3200" b="1" dirty="0">
                <a:latin typeface="Tahoma" pitchFamily="34" charset="0"/>
              </a:rPr>
              <a:t>检验法</a:t>
            </a:r>
          </a:p>
          <a:p>
            <a:pPr marL="971550" lvl="1" indent="-285750" algn="just">
              <a:spcBef>
                <a:spcPct val="20000"/>
              </a:spcBef>
              <a:buSzPct val="80000"/>
            </a:pPr>
            <a:r>
              <a:rPr lang="zh-CN" altLang="en-US" sz="3200" b="1" dirty="0">
                <a:latin typeface="Tahoma" pitchFamily="34" charset="0"/>
              </a:rPr>
              <a:t>二、总体方差未知时</a:t>
            </a:r>
            <a:r>
              <a:rPr lang="en-US" altLang="zh-CN" sz="3200" b="1" i="1" dirty="0">
                <a:latin typeface="Times New Roman" pitchFamily="18" charset="0"/>
                <a:cs typeface="Times New Roman" pitchFamily="18" charset="0"/>
              </a:rPr>
              <a:t>—— t  </a:t>
            </a:r>
            <a:r>
              <a:rPr lang="zh-CN" altLang="en-US" sz="3200" b="1" dirty="0">
                <a:latin typeface="Tahoma" pitchFamily="34" charset="0"/>
              </a:rPr>
              <a:t>检验法</a:t>
            </a:r>
          </a:p>
          <a:p>
            <a:pPr marL="571500" indent="-571500" algn="just">
              <a:spcBef>
                <a:spcPct val="20000"/>
              </a:spcBef>
              <a:buSzPct val="90000"/>
            </a:pPr>
            <a:r>
              <a:rPr lang="en-US" altLang="zh-CN" sz="3200" b="1" dirty="0">
                <a:solidFill>
                  <a:schemeClr val="accent1"/>
                </a:solidFill>
                <a:latin typeface="Tahoma" pitchFamily="34" charset="0"/>
              </a:rPr>
              <a:t>8.2.2  </a:t>
            </a:r>
            <a:r>
              <a:rPr lang="zh-CN" altLang="en-US" sz="3200" b="1" dirty="0">
                <a:solidFill>
                  <a:schemeClr val="accent1"/>
                </a:solidFill>
                <a:latin typeface="Tahoma" pitchFamily="34" charset="0"/>
              </a:rPr>
              <a:t>对一个正态总体方差的检验</a:t>
            </a:r>
          </a:p>
          <a:p>
            <a:pPr indent="266700">
              <a:spcBef>
                <a:spcPct val="20000"/>
              </a:spcBef>
              <a:buSzPct val="80000"/>
            </a:pPr>
            <a:r>
              <a:rPr lang="zh-CN" altLang="en-US" sz="3200" b="1" dirty="0">
                <a:latin typeface="Tahoma" pitchFamily="34" charset="0"/>
              </a:rPr>
              <a:t>          小样本时</a:t>
            </a:r>
            <a:r>
              <a:rPr lang="en-US" altLang="zh-CN" sz="3200" b="1" dirty="0"/>
              <a:t>——</a:t>
            </a:r>
            <a:r>
              <a:rPr lang="en-US" altLang="zh-CN" sz="3200" b="1" dirty="0">
                <a:latin typeface="Tahoma" pitchFamily="34" charset="0"/>
              </a:rPr>
              <a:t> </a:t>
            </a:r>
            <a:r>
              <a:rPr lang="zh-CN" altLang="en-US" sz="3200" b="1" dirty="0">
                <a:latin typeface="Tahoma" pitchFamily="34" charset="0"/>
              </a:rPr>
              <a:t>卡方检验法</a:t>
            </a:r>
          </a:p>
          <a:p>
            <a:pPr marL="571500" indent="-571500" algn="just">
              <a:spcBef>
                <a:spcPct val="20000"/>
              </a:spcBef>
              <a:buSzPct val="90000"/>
            </a:pPr>
            <a:r>
              <a:rPr lang="en-US" altLang="zh-CN" sz="3200" b="1" dirty="0">
                <a:solidFill>
                  <a:schemeClr val="accent1"/>
                </a:solidFill>
                <a:latin typeface="Tahoma" pitchFamily="34" charset="0"/>
              </a:rPr>
              <a:t>8.2.3  </a:t>
            </a:r>
            <a:r>
              <a:rPr lang="zh-CN" altLang="en-US" sz="3200" b="1" dirty="0">
                <a:solidFill>
                  <a:schemeClr val="accent1"/>
                </a:solidFill>
                <a:latin typeface="Tahoma" pitchFamily="34" charset="0"/>
              </a:rPr>
              <a:t>一个总体成数的检验 </a:t>
            </a:r>
            <a:endParaRPr lang="en-US" altLang="zh-CN" sz="3200" b="1" dirty="0">
              <a:solidFill>
                <a:schemeClr val="accent1"/>
              </a:solidFill>
              <a:latin typeface="Tahoma" pitchFamily="34" charset="0"/>
            </a:endParaRPr>
          </a:p>
          <a:p>
            <a:pPr marL="571500" indent="-571500" algn="just">
              <a:spcBef>
                <a:spcPct val="20000"/>
              </a:spcBef>
              <a:buSzPct val="90000"/>
            </a:pPr>
            <a:r>
              <a:rPr lang="zh-CN" altLang="en-US" sz="3200" b="1" dirty="0">
                <a:latin typeface="Tahoma" pitchFamily="34" charset="0"/>
              </a:rPr>
              <a:t>             大样本时</a:t>
            </a:r>
            <a:r>
              <a:rPr lang="en-US" altLang="zh-CN" sz="3200" b="1" dirty="0">
                <a:latin typeface="Tahoma" pitchFamily="34" charset="0"/>
              </a:rPr>
              <a:t>—— </a:t>
            </a:r>
            <a:r>
              <a:rPr lang="en-US" altLang="zh-CN" sz="3200" b="1" i="1" dirty="0">
                <a:latin typeface="Times New Roman" pitchFamily="18" charset="0"/>
                <a:cs typeface="Times New Roman" pitchFamily="18" charset="0"/>
              </a:rPr>
              <a:t>Z</a:t>
            </a:r>
            <a:r>
              <a:rPr lang="en-US" altLang="zh-CN" sz="3200" b="1" dirty="0">
                <a:latin typeface="Tahoma" pitchFamily="34" charset="0"/>
              </a:rPr>
              <a:t> </a:t>
            </a:r>
            <a:r>
              <a:rPr lang="zh-CN" altLang="en-US" sz="3200" b="1" dirty="0">
                <a:latin typeface="Tahoma" pitchFamily="34" charset="0"/>
              </a:rPr>
              <a:t>检验法</a:t>
            </a:r>
            <a:endParaRPr lang="en-US" altLang="zh-CN" sz="3200" b="1" dirty="0">
              <a:latin typeface="Tahoma" pitchFamily="34" charset="0"/>
            </a:endParaRPr>
          </a:p>
          <a:p>
            <a:pPr marL="571500" indent="-571500" algn="just">
              <a:spcBef>
                <a:spcPct val="20000"/>
              </a:spcBef>
              <a:buSzPct val="90000"/>
            </a:pPr>
            <a:endParaRPr lang="zh-CN" altLang="en-US" sz="3200" b="1" dirty="0">
              <a:solidFill>
                <a:schemeClr val="accent1"/>
              </a:solidFill>
              <a:latin typeface="Tahoma" pitchFamily="34" charset="0"/>
            </a:endParaRPr>
          </a:p>
        </p:txBody>
      </p:sp>
    </p:spTree>
    <p:extLst>
      <p:ext uri="{BB962C8B-B14F-4D97-AF65-F5344CB8AC3E}">
        <p14:creationId xmlns:p14="http://schemas.microsoft.com/office/powerpoint/2010/main" val="177206071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3" name="灯片编号占位符 5"/>
          <p:cNvSpPr>
            <a:spLocks noGrp="1"/>
          </p:cNvSpPr>
          <p:nvPr>
            <p:ph type="sldNum" sz="quarter" idx="4294967295"/>
          </p:nvPr>
        </p:nvSpPr>
        <p:spPr>
          <a:noFill/>
        </p:spPr>
        <p:txBody>
          <a:bodyPr/>
          <a:lstStyle/>
          <a:p>
            <a:r>
              <a:rPr lang="en-US" altLang="zh-CN">
                <a:ea typeface="宋体" pitchFamily="2" charset="-122"/>
              </a:rPr>
              <a:t>8--</a:t>
            </a:r>
            <a:fld id="{374BE5B2-A4B7-48A5-8C73-892089446FD2}" type="slidenum">
              <a:rPr lang="en-US" altLang="zh-CN" smtClean="0">
                <a:ea typeface="宋体" pitchFamily="2" charset="-122"/>
              </a:rPr>
              <a:pPr/>
              <a:t>42</a:t>
            </a:fld>
            <a:endParaRPr lang="en-US" altLang="zh-CN">
              <a:ea typeface="宋体" pitchFamily="2" charset="-122"/>
            </a:endParaRPr>
          </a:p>
        </p:txBody>
      </p:sp>
      <p:sp>
        <p:nvSpPr>
          <p:cNvPr id="12294" name="Rectangle 1026"/>
          <p:cNvSpPr>
            <a:spLocks noGrp="1" noChangeArrowheads="1"/>
          </p:cNvSpPr>
          <p:nvPr>
            <p:ph type="title"/>
          </p:nvPr>
        </p:nvSpPr>
        <p:spPr>
          <a:xfrm>
            <a:off x="1701800" y="398463"/>
            <a:ext cx="7476491" cy="1066800"/>
          </a:xfrm>
        </p:spPr>
        <p:txBody>
          <a:bodyPr>
            <a:normAutofit fontScale="90000"/>
          </a:bodyPr>
          <a:lstStyle/>
          <a:p>
            <a:r>
              <a:rPr lang="en-US" altLang="zh-CN" sz="4000" b="1" dirty="0">
                <a:solidFill>
                  <a:schemeClr val="accent1"/>
                </a:solidFill>
                <a:latin typeface="Tahoma" pitchFamily="34" charset="0"/>
              </a:rPr>
              <a:t>§8.2.1 </a:t>
            </a:r>
            <a:r>
              <a:rPr lang="zh-CN" altLang="en-US" sz="4000" b="1" dirty="0">
                <a:solidFill>
                  <a:schemeClr val="accent1"/>
                </a:solidFill>
                <a:latin typeface="Tahoma" pitchFamily="34" charset="0"/>
              </a:rPr>
              <a:t>对一个正态总体均值的检验</a:t>
            </a:r>
            <a:endParaRPr lang="zh-CN" altLang="en-US" sz="3600" b="1" dirty="0">
              <a:solidFill>
                <a:srgbClr val="CC66FF"/>
              </a:solidFill>
              <a:effectLst/>
            </a:endParaRPr>
          </a:p>
        </p:txBody>
      </p:sp>
      <p:sp>
        <p:nvSpPr>
          <p:cNvPr id="52227" name="Rectangle 1027"/>
          <p:cNvSpPr>
            <a:spLocks noGrp="1" noChangeArrowheads="1"/>
          </p:cNvSpPr>
          <p:nvPr>
            <p:ph type="body" idx="1"/>
          </p:nvPr>
        </p:nvSpPr>
        <p:spPr>
          <a:xfrm>
            <a:off x="2044700" y="1998664"/>
            <a:ext cx="7848600" cy="4464050"/>
          </a:xfrm>
        </p:spPr>
        <p:txBody>
          <a:bodyPr>
            <a:normAutofit lnSpcReduction="10000"/>
          </a:bodyPr>
          <a:lstStyle/>
          <a:p>
            <a:pPr marL="571500" indent="-571500"/>
            <a:r>
              <a:rPr lang="en-US" altLang="zh-CN" sz="3500" i="1" dirty="0">
                <a:solidFill>
                  <a:srgbClr val="FF00FF"/>
                </a:solidFill>
              </a:rPr>
              <a:t>H</a:t>
            </a:r>
            <a:r>
              <a:rPr lang="en-US" altLang="zh-CN" sz="3500" i="1" baseline="-25000" dirty="0">
                <a:solidFill>
                  <a:srgbClr val="FF00FF"/>
                </a:solidFill>
              </a:rPr>
              <a:t>0</a:t>
            </a:r>
            <a:r>
              <a:rPr lang="en-US" altLang="zh-CN" sz="3500" dirty="0">
                <a:solidFill>
                  <a:srgbClr val="FF00FF"/>
                </a:solidFill>
              </a:rPr>
              <a:t>: </a:t>
            </a:r>
            <a:r>
              <a:rPr lang="en-US" altLang="zh-CN" sz="3500" i="1" dirty="0">
                <a:solidFill>
                  <a:srgbClr val="FF00FF"/>
                </a:solidFill>
              </a:rPr>
              <a:t>            </a:t>
            </a:r>
            <a:r>
              <a:rPr lang="zh-CN" altLang="en-US" sz="3500" dirty="0">
                <a:solidFill>
                  <a:schemeClr val="tx1"/>
                </a:solidFill>
              </a:rPr>
              <a:t>；</a:t>
            </a:r>
            <a:r>
              <a:rPr lang="en-US" altLang="zh-CN" sz="3500" i="1" dirty="0">
                <a:solidFill>
                  <a:srgbClr val="FF00FF"/>
                </a:solidFill>
              </a:rPr>
              <a:t>H</a:t>
            </a:r>
            <a:r>
              <a:rPr lang="en-US" altLang="zh-CN" sz="3500" i="1" baseline="-25000" dirty="0">
                <a:solidFill>
                  <a:srgbClr val="FF00FF"/>
                </a:solidFill>
              </a:rPr>
              <a:t>1</a:t>
            </a:r>
            <a:r>
              <a:rPr lang="en-US" altLang="zh-CN" sz="3500" dirty="0">
                <a:solidFill>
                  <a:srgbClr val="FF00FF"/>
                </a:solidFill>
              </a:rPr>
              <a:t>:</a:t>
            </a:r>
            <a:endParaRPr lang="en-US" altLang="zh-CN" dirty="0">
              <a:solidFill>
                <a:srgbClr val="FF00FF"/>
              </a:solidFill>
            </a:endParaRPr>
          </a:p>
          <a:p>
            <a:pPr marL="571500" indent="-571500"/>
            <a:r>
              <a:rPr lang="zh-CN" altLang="en-US" dirty="0">
                <a:solidFill>
                  <a:srgbClr val="000000"/>
                </a:solidFill>
              </a:rPr>
              <a:t>根据抽样分布理论，总体方差已知时，对均值的</a:t>
            </a:r>
            <a:r>
              <a:rPr lang="zh-CN" altLang="en-US" dirty="0">
                <a:solidFill>
                  <a:srgbClr val="FF00FF"/>
                </a:solidFill>
              </a:rPr>
              <a:t>检验统计量为</a:t>
            </a:r>
            <a:r>
              <a:rPr lang="zh-CN" altLang="en-US" sz="2800" dirty="0">
                <a:solidFill>
                  <a:srgbClr val="FF00FF"/>
                </a:solidFill>
              </a:rPr>
              <a:t>：</a:t>
            </a:r>
          </a:p>
          <a:p>
            <a:pPr marL="971550" lvl="1">
              <a:buNone/>
            </a:pPr>
            <a:endParaRPr lang="zh-CN" altLang="en-US" sz="2400" dirty="0"/>
          </a:p>
          <a:p>
            <a:pPr marL="971550" lvl="1">
              <a:buNone/>
            </a:pPr>
            <a:endParaRPr lang="zh-CN" altLang="en-US" sz="2400" dirty="0"/>
          </a:p>
          <a:p>
            <a:pPr marL="1657350" lvl="3">
              <a:buNone/>
            </a:pPr>
            <a:r>
              <a:rPr lang="zh-CN" altLang="en-US" sz="1800" dirty="0"/>
              <a:t>                                                 </a:t>
            </a:r>
          </a:p>
          <a:p>
            <a:pPr marL="571500" indent="-571500"/>
            <a:r>
              <a:rPr lang="zh-CN" altLang="en-US" dirty="0">
                <a:solidFill>
                  <a:srgbClr val="FF00FF"/>
                </a:solidFill>
                <a:sym typeface="Symbol" pitchFamily="18" charset="2"/>
              </a:rPr>
              <a:t>临界值</a:t>
            </a:r>
            <a:r>
              <a:rPr lang="en-US" altLang="zh-CN" dirty="0">
                <a:solidFill>
                  <a:schemeClr val="tx2"/>
                </a:solidFill>
                <a:latin typeface="Arial" pitchFamily="34" charset="0"/>
                <a:sym typeface="Symbol" pitchFamily="18" charset="2"/>
              </a:rPr>
              <a:t>—</a:t>
            </a:r>
            <a:r>
              <a:rPr lang="zh-CN" altLang="en-US" sz="2800" dirty="0">
                <a:solidFill>
                  <a:schemeClr val="tx2"/>
                </a:solidFill>
              </a:rPr>
              <a:t>给定</a:t>
            </a:r>
            <a:r>
              <a:rPr lang="el-GR" altLang="zh-CN" i="1" dirty="0">
                <a:solidFill>
                  <a:schemeClr val="tx2"/>
                </a:solidFill>
                <a:latin typeface="宋体" pitchFamily="2" charset="-122"/>
              </a:rPr>
              <a:t>α</a:t>
            </a:r>
            <a:r>
              <a:rPr lang="zh-CN" altLang="en-US" sz="2800" dirty="0">
                <a:solidFill>
                  <a:schemeClr val="tx2"/>
                </a:solidFill>
                <a:sym typeface="Symbol" pitchFamily="18" charset="2"/>
              </a:rPr>
              <a:t>后，查标准正态分布表而得</a:t>
            </a:r>
            <a:r>
              <a:rPr lang="en-US" altLang="zh-CN" sz="2000" dirty="0">
                <a:solidFill>
                  <a:schemeClr val="tx2"/>
                </a:solidFill>
                <a:sym typeface="Symbol" pitchFamily="18" charset="2"/>
              </a:rPr>
              <a:t>.</a:t>
            </a:r>
          </a:p>
          <a:p>
            <a:pPr marL="971550" lvl="1"/>
            <a:r>
              <a:rPr lang="zh-CN" altLang="en-US" sz="2400" dirty="0">
                <a:sym typeface="Symbol" pitchFamily="18" charset="2"/>
              </a:rPr>
              <a:t>单侧检验时，临界值为 </a:t>
            </a:r>
            <a:r>
              <a:rPr lang="en-US" altLang="zh-CN" sz="2400" dirty="0">
                <a:solidFill>
                  <a:srgbClr val="CC0099"/>
                </a:solidFill>
                <a:sym typeface="Symbol" pitchFamily="18" charset="2"/>
              </a:rPr>
              <a:t>- </a:t>
            </a:r>
            <a:r>
              <a:rPr lang="en-US" altLang="zh-CN" sz="2400" i="1" dirty="0">
                <a:solidFill>
                  <a:srgbClr val="CC0099"/>
                </a:solidFill>
                <a:sym typeface="Symbol" pitchFamily="18" charset="2"/>
              </a:rPr>
              <a:t>Z</a:t>
            </a:r>
            <a:r>
              <a:rPr lang="el-GR" altLang="zh-CN" i="1" baseline="-25000" dirty="0">
                <a:solidFill>
                  <a:srgbClr val="CC0099"/>
                </a:solidFill>
                <a:latin typeface="宋体" pitchFamily="2" charset="-122"/>
              </a:rPr>
              <a:t>α</a:t>
            </a:r>
            <a:r>
              <a:rPr lang="en-US" altLang="zh-CN" sz="2400" dirty="0">
                <a:sym typeface="Symbol" pitchFamily="18" charset="2"/>
              </a:rPr>
              <a:t> </a:t>
            </a:r>
            <a:r>
              <a:rPr lang="zh-CN" altLang="en-US" sz="2400" dirty="0">
                <a:sym typeface="Symbol" pitchFamily="18" charset="2"/>
              </a:rPr>
              <a:t>或 </a:t>
            </a:r>
            <a:r>
              <a:rPr lang="en-US" altLang="zh-CN" sz="2400" i="1" dirty="0">
                <a:solidFill>
                  <a:srgbClr val="CC0099"/>
                </a:solidFill>
                <a:sym typeface="Symbol" pitchFamily="18" charset="2"/>
              </a:rPr>
              <a:t>Z</a:t>
            </a:r>
            <a:r>
              <a:rPr lang="el-GR" altLang="zh-CN" i="1" baseline="-25000" dirty="0">
                <a:solidFill>
                  <a:srgbClr val="CC0099"/>
                </a:solidFill>
                <a:latin typeface="宋体" pitchFamily="2" charset="-122"/>
              </a:rPr>
              <a:t>α</a:t>
            </a:r>
            <a:endParaRPr lang="en-US" altLang="zh-CN" sz="1800" dirty="0">
              <a:sym typeface="Symbol" pitchFamily="18" charset="2"/>
            </a:endParaRPr>
          </a:p>
          <a:p>
            <a:pPr marL="971550" lvl="1"/>
            <a:r>
              <a:rPr lang="zh-CN" altLang="en-US" sz="2400" dirty="0">
                <a:sym typeface="Symbol" pitchFamily="18" charset="2"/>
              </a:rPr>
              <a:t>双侧检验时，临界值为 </a:t>
            </a:r>
            <a:r>
              <a:rPr lang="en-US" altLang="zh-CN" sz="2400" dirty="0">
                <a:solidFill>
                  <a:srgbClr val="CC0099"/>
                </a:solidFill>
                <a:sym typeface="Symbol" pitchFamily="18" charset="2"/>
              </a:rPr>
              <a:t>- </a:t>
            </a:r>
            <a:r>
              <a:rPr lang="en-US" altLang="zh-CN" sz="2400" i="1" dirty="0">
                <a:solidFill>
                  <a:srgbClr val="CC0099"/>
                </a:solidFill>
                <a:sym typeface="Symbol" pitchFamily="18" charset="2"/>
              </a:rPr>
              <a:t>Z</a:t>
            </a:r>
            <a:r>
              <a:rPr lang="el-GR" altLang="zh-CN" i="1" baseline="-25000" dirty="0">
                <a:solidFill>
                  <a:srgbClr val="CC0099"/>
                </a:solidFill>
                <a:latin typeface="宋体" pitchFamily="2" charset="-122"/>
              </a:rPr>
              <a:t>α</a:t>
            </a:r>
            <a:r>
              <a:rPr lang="en-US" altLang="zh-CN" i="1" baseline="-25000" dirty="0">
                <a:solidFill>
                  <a:srgbClr val="CC0099"/>
                </a:solidFill>
                <a:latin typeface="宋体" pitchFamily="2" charset="-122"/>
              </a:rPr>
              <a:t>/2</a:t>
            </a:r>
            <a:r>
              <a:rPr lang="en-US" altLang="zh-CN" sz="2400" dirty="0">
                <a:sym typeface="Symbol" pitchFamily="18" charset="2"/>
              </a:rPr>
              <a:t> </a:t>
            </a:r>
            <a:r>
              <a:rPr lang="zh-CN" altLang="en-US" sz="2400" dirty="0">
                <a:sym typeface="Symbol" pitchFamily="18" charset="2"/>
              </a:rPr>
              <a:t>和 </a:t>
            </a:r>
            <a:r>
              <a:rPr lang="en-US" altLang="zh-CN" sz="2400" i="1" dirty="0">
                <a:solidFill>
                  <a:srgbClr val="CC0099"/>
                </a:solidFill>
                <a:sym typeface="Symbol" pitchFamily="18" charset="2"/>
              </a:rPr>
              <a:t>Z</a:t>
            </a:r>
            <a:r>
              <a:rPr lang="el-GR" altLang="zh-CN" i="1" baseline="-25000" dirty="0">
                <a:solidFill>
                  <a:srgbClr val="CC0099"/>
                </a:solidFill>
                <a:latin typeface="宋体" pitchFamily="2" charset="-122"/>
              </a:rPr>
              <a:t>α</a:t>
            </a:r>
            <a:r>
              <a:rPr lang="en-US" altLang="zh-CN" i="1" baseline="-25000" dirty="0">
                <a:solidFill>
                  <a:srgbClr val="CC0099"/>
                </a:solidFill>
                <a:latin typeface="宋体" pitchFamily="2" charset="-122"/>
              </a:rPr>
              <a:t>/2</a:t>
            </a:r>
            <a:endParaRPr lang="en-US" altLang="zh-CN" sz="2400" dirty="0">
              <a:latin typeface="宋体" pitchFamily="2" charset="-122"/>
            </a:endParaRPr>
          </a:p>
        </p:txBody>
      </p:sp>
      <p:graphicFrame>
        <p:nvGraphicFramePr>
          <p:cNvPr id="12292" name="Object 4"/>
          <p:cNvGraphicFramePr>
            <a:graphicFrameLocks noChangeAspect="1"/>
          </p:cNvGraphicFramePr>
          <p:nvPr>
            <p:extLst>
              <p:ext uri="{D42A27DB-BD31-4B8C-83A1-F6EECF244321}">
                <p14:modId xmlns:p14="http://schemas.microsoft.com/office/powerpoint/2010/main" val="3049247828"/>
              </p:ext>
            </p:extLst>
          </p:nvPr>
        </p:nvGraphicFramePr>
        <p:xfrm>
          <a:off x="4622800" y="3570398"/>
          <a:ext cx="3917950" cy="1076325"/>
        </p:xfrm>
        <a:graphic>
          <a:graphicData uri="http://schemas.openxmlformats.org/presentationml/2006/ole">
            <mc:AlternateContent xmlns:mc="http://schemas.openxmlformats.org/markup-compatibility/2006">
              <mc:Choice xmlns:v="urn:schemas-microsoft-com:vml" Requires="v">
                <p:oleObj name="公式" r:id="rId2" imgW="1307880" imgH="444240" progId="Equation.3">
                  <p:embed/>
                </p:oleObj>
              </mc:Choice>
              <mc:Fallback>
                <p:oleObj name="公式" r:id="rId2" imgW="1307880" imgH="444240" progId="Equation.3">
                  <p:embed/>
                  <p:pic>
                    <p:nvPicPr>
                      <p:cNvPr id="12292"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22800" y="3570398"/>
                        <a:ext cx="3917950" cy="1076325"/>
                      </a:xfrm>
                      <a:prstGeom prst="rect">
                        <a:avLst/>
                      </a:prstGeom>
                      <a:noFill/>
                      <a:ln>
                        <a:solidFill>
                          <a:srgbClr val="C00000"/>
                        </a:solidFill>
                      </a:ln>
                    </p:spPr>
                  </p:pic>
                </p:oleObj>
              </mc:Fallback>
            </mc:AlternateContent>
          </a:graphicData>
        </a:graphic>
      </p:graphicFrame>
      <p:graphicFrame>
        <p:nvGraphicFramePr>
          <p:cNvPr id="12291" name="Object 5"/>
          <p:cNvGraphicFramePr>
            <a:graphicFrameLocks noChangeAspect="1"/>
          </p:cNvGraphicFramePr>
          <p:nvPr>
            <p:extLst>
              <p:ext uri="{D42A27DB-BD31-4B8C-83A1-F6EECF244321}">
                <p14:modId xmlns:p14="http://schemas.microsoft.com/office/powerpoint/2010/main" val="3434688804"/>
              </p:ext>
            </p:extLst>
          </p:nvPr>
        </p:nvGraphicFramePr>
        <p:xfrm>
          <a:off x="3374072" y="1931305"/>
          <a:ext cx="1270000" cy="650875"/>
        </p:xfrm>
        <a:graphic>
          <a:graphicData uri="http://schemas.openxmlformats.org/presentationml/2006/ole">
            <mc:AlternateContent xmlns:mc="http://schemas.openxmlformats.org/markup-compatibility/2006">
              <mc:Choice xmlns:v="urn:schemas-microsoft-com:vml" Requires="v">
                <p:oleObj name="公式" r:id="rId4" imgW="444240" imgH="228600" progId="Equation.3">
                  <p:embed/>
                </p:oleObj>
              </mc:Choice>
              <mc:Fallback>
                <p:oleObj name="公式" r:id="rId4" imgW="444240" imgH="228600" progId="Equation.3">
                  <p:embed/>
                  <p:pic>
                    <p:nvPicPr>
                      <p:cNvPr id="12291"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74072" y="1931305"/>
                        <a:ext cx="1270000" cy="6508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 name="Object 6"/>
          <p:cNvGraphicFramePr>
            <a:graphicFrameLocks noChangeAspect="1"/>
          </p:cNvGraphicFramePr>
          <p:nvPr>
            <p:extLst>
              <p:ext uri="{D42A27DB-BD31-4B8C-83A1-F6EECF244321}">
                <p14:modId xmlns:p14="http://schemas.microsoft.com/office/powerpoint/2010/main" val="2310432840"/>
              </p:ext>
            </p:extLst>
          </p:nvPr>
        </p:nvGraphicFramePr>
        <p:xfrm>
          <a:off x="6131086" y="1874895"/>
          <a:ext cx="2798762" cy="690562"/>
        </p:xfrm>
        <a:graphic>
          <a:graphicData uri="http://schemas.openxmlformats.org/presentationml/2006/ole">
            <mc:AlternateContent xmlns:mc="http://schemas.openxmlformats.org/markup-compatibility/2006">
              <mc:Choice xmlns:v="urn:schemas-microsoft-com:vml" Requires="v">
                <p:oleObj name="公式" r:id="rId6" imgW="927000" imgH="228600" progId="Equation.3">
                  <p:embed/>
                </p:oleObj>
              </mc:Choice>
              <mc:Fallback>
                <p:oleObj name="公式" r:id="rId6" imgW="927000" imgH="228600" progId="Equation.3">
                  <p:embed/>
                  <p:pic>
                    <p:nvPicPr>
                      <p:cNvPr id="2"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131086" y="1874895"/>
                        <a:ext cx="2798762" cy="6905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 name="矩形 3"/>
          <p:cNvSpPr/>
          <p:nvPr/>
        </p:nvSpPr>
        <p:spPr>
          <a:xfrm>
            <a:off x="1823243" y="1299404"/>
            <a:ext cx="7355048" cy="523220"/>
          </a:xfrm>
          <a:prstGeom prst="rect">
            <a:avLst/>
          </a:prstGeom>
        </p:spPr>
        <p:txBody>
          <a:bodyPr wrap="square">
            <a:spAutoFit/>
          </a:bodyPr>
          <a:lstStyle/>
          <a:p>
            <a:r>
              <a:rPr lang="en-US" altLang="zh-CN" sz="2800" b="1" dirty="0">
                <a:solidFill>
                  <a:srgbClr val="00B0F0"/>
                </a:solidFill>
              </a:rPr>
              <a:t>1.</a:t>
            </a:r>
            <a:r>
              <a:rPr lang="zh-CN" altLang="en-US" sz="2800" b="1" dirty="0">
                <a:solidFill>
                  <a:srgbClr val="00B0F0"/>
                </a:solidFill>
              </a:rPr>
              <a:t>方差已知时对正态总体均值的检验</a:t>
            </a:r>
            <a:r>
              <a:rPr lang="en-US" altLang="zh-CN" sz="2400" b="1" dirty="0">
                <a:latin typeface="Arial" pitchFamily="34" charset="0"/>
              </a:rPr>
              <a:t>—</a:t>
            </a:r>
            <a:r>
              <a:rPr lang="en-US" altLang="zh-CN" sz="2800" b="1" dirty="0">
                <a:solidFill>
                  <a:srgbClr val="CC66FF"/>
                </a:solidFill>
                <a:latin typeface="Times New Roman" panose="02020603050405020304" pitchFamily="18" charset="0"/>
                <a:cs typeface="Times New Roman" panose="02020603050405020304" pitchFamily="18" charset="0"/>
              </a:rPr>
              <a:t>z</a:t>
            </a:r>
            <a:r>
              <a:rPr lang="en-US" altLang="zh-CN" sz="2400" b="1" dirty="0">
                <a:solidFill>
                  <a:srgbClr val="CC66FF"/>
                </a:solidFill>
              </a:rPr>
              <a:t> </a:t>
            </a:r>
            <a:r>
              <a:rPr lang="zh-CN" altLang="en-US" sz="2400" b="1" dirty="0">
                <a:solidFill>
                  <a:srgbClr val="CC66FF"/>
                </a:solidFill>
              </a:rPr>
              <a:t>检验法</a:t>
            </a:r>
            <a:endParaRPr lang="zh-CN" altLang="en-US" sz="2800" dirty="0"/>
          </a:p>
        </p:txBody>
      </p:sp>
    </p:spTree>
    <p:extLst>
      <p:ext uri="{BB962C8B-B14F-4D97-AF65-F5344CB8AC3E}">
        <p14:creationId xmlns:p14="http://schemas.microsoft.com/office/powerpoint/2010/main" val="32085045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2227">
                                            <p:txEl>
                                              <p:pRg st="1" end="1"/>
                                            </p:txEl>
                                          </p:spTgt>
                                        </p:tgtEl>
                                        <p:attrNameLst>
                                          <p:attrName>style.visibility</p:attrName>
                                        </p:attrNameLst>
                                      </p:cBhvr>
                                      <p:to>
                                        <p:strVal val="visible"/>
                                      </p:to>
                                    </p:set>
                                    <p:animEffect transition="in" filter="wipe(left)">
                                      <p:cBhvr>
                                        <p:cTn id="7" dur="500"/>
                                        <p:tgtEl>
                                          <p:spTgt spid="52227">
                                            <p:txEl>
                                              <p:pRg st="1" end="1"/>
                                            </p:txEl>
                                          </p:spTgt>
                                        </p:tgtEl>
                                      </p:cBhvr>
                                    </p:animEffect>
                                  </p:childTnLst>
                                </p:cTn>
                              </p:par>
                              <p:par>
                                <p:cTn id="8" presetID="12" presetClass="entr" presetSubtype="4" fill="hold" nodeType="withEffect">
                                  <p:stCondLst>
                                    <p:cond delay="0"/>
                                  </p:stCondLst>
                                  <p:childTnLst>
                                    <p:set>
                                      <p:cBhvr>
                                        <p:cTn id="9" dur="1" fill="hold">
                                          <p:stCondLst>
                                            <p:cond delay="0"/>
                                          </p:stCondLst>
                                        </p:cTn>
                                        <p:tgtEl>
                                          <p:spTgt spid="12292"/>
                                        </p:tgtEl>
                                        <p:attrNameLst>
                                          <p:attrName>style.visibility</p:attrName>
                                        </p:attrNameLst>
                                      </p:cBhvr>
                                      <p:to>
                                        <p:strVal val="visible"/>
                                      </p:to>
                                    </p:set>
                                    <p:animEffect transition="in" filter="slide(fromBottom)">
                                      <p:cBhvr>
                                        <p:cTn id="10" dur="500"/>
                                        <p:tgtEl>
                                          <p:spTgt spid="12292"/>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52227">
                                            <p:txEl>
                                              <p:pRg st="5" end="5"/>
                                            </p:txEl>
                                          </p:spTgt>
                                        </p:tgtEl>
                                        <p:attrNameLst>
                                          <p:attrName>style.visibility</p:attrName>
                                        </p:attrNameLst>
                                      </p:cBhvr>
                                      <p:to>
                                        <p:strVal val="visible"/>
                                      </p:to>
                                    </p:set>
                                    <p:animEffect transition="in" filter="wipe(left)">
                                      <p:cBhvr>
                                        <p:cTn id="15" dur="500"/>
                                        <p:tgtEl>
                                          <p:spTgt spid="52227">
                                            <p:txEl>
                                              <p:pRg st="5" end="5"/>
                                            </p:txEl>
                                          </p:spTgt>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52227">
                                            <p:txEl>
                                              <p:pRg st="6" end="6"/>
                                            </p:txEl>
                                          </p:spTgt>
                                        </p:tgtEl>
                                        <p:attrNameLst>
                                          <p:attrName>style.visibility</p:attrName>
                                        </p:attrNameLst>
                                      </p:cBhvr>
                                      <p:to>
                                        <p:strVal val="visible"/>
                                      </p:to>
                                    </p:set>
                                    <p:animEffect transition="in" filter="wipe(left)">
                                      <p:cBhvr>
                                        <p:cTn id="18" dur="500"/>
                                        <p:tgtEl>
                                          <p:spTgt spid="52227">
                                            <p:txEl>
                                              <p:pRg st="6" end="6"/>
                                            </p:txEl>
                                          </p:spTgt>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52227">
                                            <p:txEl>
                                              <p:pRg st="7" end="7"/>
                                            </p:txEl>
                                          </p:spTgt>
                                        </p:tgtEl>
                                        <p:attrNameLst>
                                          <p:attrName>style.visibility</p:attrName>
                                        </p:attrNameLst>
                                      </p:cBhvr>
                                      <p:to>
                                        <p:strVal val="visible"/>
                                      </p:to>
                                    </p:set>
                                    <p:animEffect transition="in" filter="wipe(left)">
                                      <p:cBhvr>
                                        <p:cTn id="21" dur="500"/>
                                        <p:tgtEl>
                                          <p:spTgt spid="52227">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227" grpId="0"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197611" y="1333500"/>
            <a:ext cx="9965689" cy="4771469"/>
          </a:xfrm>
        </p:spPr>
        <p:txBody>
          <a:bodyPr>
            <a:normAutofit/>
          </a:bodyPr>
          <a:lstStyle/>
          <a:p>
            <a:pPr marL="0" indent="0">
              <a:lnSpc>
                <a:spcPct val="150000"/>
              </a:lnSpc>
              <a:buNone/>
            </a:pPr>
            <a:r>
              <a:rPr lang="zh-CN" altLang="en-US" dirty="0">
                <a:solidFill>
                  <a:srgbClr val="000000"/>
                </a:solidFill>
              </a:rPr>
              <a:t>     过去大量资料表明，某酒厂生产的一种瓶装酒的容量服从标准差为</a:t>
            </a:r>
            <a:r>
              <a:rPr lang="en-US" altLang="zh-CN" dirty="0">
                <a:solidFill>
                  <a:srgbClr val="000000"/>
                </a:solidFill>
              </a:rPr>
              <a:t>5</a:t>
            </a:r>
            <a:r>
              <a:rPr lang="zh-CN" altLang="en-US" dirty="0">
                <a:solidFill>
                  <a:srgbClr val="000000"/>
                </a:solidFill>
              </a:rPr>
              <a:t>毫升的正态分布，企业标示的产品平均容量为</a:t>
            </a:r>
            <a:r>
              <a:rPr lang="en-US" altLang="zh-CN" dirty="0">
                <a:solidFill>
                  <a:srgbClr val="000000"/>
                </a:solidFill>
              </a:rPr>
              <a:t>250</a:t>
            </a:r>
            <a:r>
              <a:rPr lang="zh-CN" altLang="en-US" dirty="0">
                <a:solidFill>
                  <a:srgbClr val="000000"/>
                </a:solidFill>
              </a:rPr>
              <a:t>毫升。监督机构从市场上随机抽取了该产品</a:t>
            </a:r>
            <a:r>
              <a:rPr lang="en-US" altLang="zh-CN" dirty="0">
                <a:solidFill>
                  <a:srgbClr val="000000"/>
                </a:solidFill>
              </a:rPr>
              <a:t>12</a:t>
            </a:r>
            <a:r>
              <a:rPr lang="zh-CN" altLang="en-US" dirty="0">
                <a:solidFill>
                  <a:srgbClr val="000000"/>
                </a:solidFill>
              </a:rPr>
              <a:t>瓶进行检测，测得平均容量为</a:t>
            </a:r>
            <a:r>
              <a:rPr lang="en-US" altLang="zh-CN" dirty="0">
                <a:solidFill>
                  <a:srgbClr val="000000"/>
                </a:solidFill>
              </a:rPr>
              <a:t>246</a:t>
            </a:r>
            <a:r>
              <a:rPr lang="zh-CN" altLang="en-US" dirty="0">
                <a:solidFill>
                  <a:srgbClr val="000000"/>
                </a:solidFill>
              </a:rPr>
              <a:t>毫升。试在</a:t>
            </a:r>
            <a:r>
              <a:rPr lang="en-US" altLang="zh-CN" dirty="0">
                <a:solidFill>
                  <a:srgbClr val="000000"/>
                </a:solidFill>
              </a:rPr>
              <a:t>0.05</a:t>
            </a:r>
            <a:r>
              <a:rPr lang="zh-CN" altLang="en-US" dirty="0">
                <a:solidFill>
                  <a:srgbClr val="000000"/>
                </a:solidFill>
              </a:rPr>
              <a:t>的显著性水平下，检验该酒厂生产的这种瓶装酒是否存在容量不足的问题？</a:t>
            </a:r>
          </a:p>
        </p:txBody>
      </p:sp>
      <p:sp>
        <p:nvSpPr>
          <p:cNvPr id="4" name="灯片编号占位符 3"/>
          <p:cNvSpPr>
            <a:spLocks noGrp="1"/>
          </p:cNvSpPr>
          <p:nvPr>
            <p:ph type="sldNum" sz="quarter" idx="4"/>
          </p:nvPr>
        </p:nvSpPr>
        <p:spPr/>
        <p:txBody>
          <a:bodyPr/>
          <a:lstStyle/>
          <a:p>
            <a:fld id="{4ABD14BD-504E-42EC-A2AB-5F7BAF221D6C}" type="slidenum">
              <a:rPr lang="zh-CN" altLang="en-US" smtClean="0"/>
              <a:pPr/>
              <a:t>43</a:t>
            </a:fld>
            <a:endParaRPr lang="zh-CN" altLang="en-US"/>
          </a:p>
        </p:txBody>
      </p:sp>
      <p:sp>
        <p:nvSpPr>
          <p:cNvPr id="5" name="Rectangle 2"/>
          <p:cNvSpPr>
            <a:spLocks noGrp="1" noChangeArrowheads="1"/>
          </p:cNvSpPr>
          <p:nvPr>
            <p:ph type="title"/>
          </p:nvPr>
        </p:nvSpPr>
        <p:spPr>
          <a:xfrm>
            <a:off x="1676400" y="670718"/>
            <a:ext cx="10604500" cy="662782"/>
          </a:xfrm>
        </p:spPr>
        <p:txBody>
          <a:bodyPr>
            <a:normAutofit/>
          </a:bodyPr>
          <a:lstStyle/>
          <a:p>
            <a:pPr eaLnBrk="1" hangingPunct="1"/>
            <a:r>
              <a:rPr lang="en-US" altLang="zh-CN" sz="3600" dirty="0">
                <a:solidFill>
                  <a:srgbClr val="00B0F0"/>
                </a:solidFill>
              </a:rPr>
              <a:t>【</a:t>
            </a:r>
            <a:r>
              <a:rPr lang="zh-CN" altLang="en-US" sz="3600" dirty="0">
                <a:solidFill>
                  <a:srgbClr val="00B0F0"/>
                </a:solidFill>
              </a:rPr>
              <a:t>例</a:t>
            </a:r>
            <a:r>
              <a:rPr lang="en-US" altLang="zh-CN" sz="3600" dirty="0">
                <a:solidFill>
                  <a:srgbClr val="00B0F0"/>
                </a:solidFill>
              </a:rPr>
              <a:t>8-2】</a:t>
            </a:r>
            <a:endParaRPr lang="zh-CN" altLang="en-US" sz="3600" dirty="0">
              <a:solidFill>
                <a:srgbClr val="00B0F0"/>
              </a:solidFill>
            </a:endParaRPr>
          </a:p>
        </p:txBody>
      </p:sp>
    </p:spTree>
    <p:extLst>
      <p:ext uri="{BB962C8B-B14F-4D97-AF65-F5344CB8AC3E}">
        <p14:creationId xmlns:p14="http://schemas.microsoft.com/office/powerpoint/2010/main" val="94597805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365" name="灯片编号占位符 7"/>
          <p:cNvSpPr>
            <a:spLocks noGrp="1"/>
          </p:cNvSpPr>
          <p:nvPr>
            <p:ph type="sldNum" sz="quarter" idx="12"/>
          </p:nvPr>
        </p:nvSpPr>
        <p:spPr>
          <a:noFill/>
        </p:spPr>
        <p:txBody>
          <a:bodyPr/>
          <a:lstStyle/>
          <a:p>
            <a:r>
              <a:rPr lang="en-US" altLang="zh-CN">
                <a:ea typeface="宋体" pitchFamily="2" charset="-122"/>
              </a:rPr>
              <a:t>8--</a:t>
            </a:r>
            <a:fld id="{FFB106BE-F936-418E-A020-4E1B63CD1DFB}" type="slidenum">
              <a:rPr lang="en-US" altLang="zh-CN" smtClean="0">
                <a:ea typeface="宋体" pitchFamily="2" charset="-122"/>
              </a:rPr>
              <a:pPr/>
              <a:t>44</a:t>
            </a:fld>
            <a:endParaRPr lang="en-US" altLang="zh-CN">
              <a:ea typeface="宋体" pitchFamily="2" charset="-122"/>
            </a:endParaRPr>
          </a:p>
        </p:txBody>
      </p:sp>
      <p:sp>
        <p:nvSpPr>
          <p:cNvPr id="15366" name="Rectangle 2"/>
          <p:cNvSpPr>
            <a:spLocks noGrp="1" noChangeArrowheads="1"/>
          </p:cNvSpPr>
          <p:nvPr>
            <p:ph type="title"/>
          </p:nvPr>
        </p:nvSpPr>
        <p:spPr>
          <a:xfrm>
            <a:off x="2351088" y="0"/>
            <a:ext cx="7772400" cy="990600"/>
          </a:xfrm>
          <a:noFill/>
        </p:spPr>
        <p:txBody>
          <a:bodyPr vert="horz" lIns="90488" tIns="44450" rIns="90488" bIns="44450" rtlCol="0" anchor="ctr" anchorCtr="1">
            <a:normAutofit/>
          </a:bodyPr>
          <a:lstStyle/>
          <a:p>
            <a:r>
              <a:rPr lang="en-US" altLang="zh-CN" sz="3600" dirty="0">
                <a:solidFill>
                  <a:srgbClr val="00B0F0"/>
                </a:solidFill>
              </a:rPr>
              <a:t>【</a:t>
            </a:r>
            <a:r>
              <a:rPr lang="zh-CN" altLang="en-US" sz="3600" dirty="0">
                <a:solidFill>
                  <a:srgbClr val="00B0F0"/>
                </a:solidFill>
              </a:rPr>
              <a:t>例</a:t>
            </a:r>
            <a:r>
              <a:rPr lang="en-US" altLang="zh-CN" sz="3600" dirty="0">
                <a:solidFill>
                  <a:srgbClr val="00B0F0"/>
                </a:solidFill>
              </a:rPr>
              <a:t>8-2】</a:t>
            </a:r>
            <a:r>
              <a:rPr lang="zh-CN" altLang="en-US" sz="3600" dirty="0"/>
              <a:t>检验过程</a:t>
            </a:r>
          </a:p>
        </p:txBody>
      </p:sp>
      <p:sp>
        <p:nvSpPr>
          <p:cNvPr id="15367" name="Rectangle 3"/>
          <p:cNvSpPr>
            <a:spLocks noGrp="1" noChangeArrowheads="1"/>
          </p:cNvSpPr>
          <p:nvPr>
            <p:ph type="body" sz="half" idx="1"/>
          </p:nvPr>
        </p:nvSpPr>
        <p:spPr>
          <a:xfrm>
            <a:off x="2208214" y="981075"/>
            <a:ext cx="7913687" cy="1368426"/>
          </a:xfrm>
          <a:noFill/>
        </p:spPr>
        <p:txBody>
          <a:bodyPr vert="horz" lIns="90488" tIns="44450" rIns="90488" bIns="44450" rtlCol="0">
            <a:normAutofit fontScale="92500" lnSpcReduction="10000"/>
          </a:bodyPr>
          <a:lstStyle/>
          <a:p>
            <a:pPr marL="0" indent="0">
              <a:lnSpc>
                <a:spcPct val="150000"/>
              </a:lnSpc>
              <a:buClr>
                <a:schemeClr val="tx1"/>
              </a:buClr>
            </a:pPr>
            <a:r>
              <a:rPr lang="en-US" altLang="zh-CN" sz="2800" dirty="0">
                <a:solidFill>
                  <a:srgbClr val="FF00FF"/>
                </a:solidFill>
              </a:rPr>
              <a:t> H</a:t>
            </a:r>
            <a:r>
              <a:rPr lang="en-US" altLang="zh-CN" sz="2000" dirty="0">
                <a:solidFill>
                  <a:srgbClr val="FF00FF"/>
                </a:solidFill>
              </a:rPr>
              <a:t>0</a:t>
            </a:r>
            <a:r>
              <a:rPr lang="en-US" altLang="zh-CN" sz="2800" dirty="0">
                <a:solidFill>
                  <a:srgbClr val="FF00FF"/>
                </a:solidFill>
              </a:rPr>
              <a:t>:                                 </a:t>
            </a:r>
            <a:r>
              <a:rPr lang="zh-CN" altLang="en-US" sz="2800" dirty="0">
                <a:solidFill>
                  <a:schemeClr val="tx1"/>
                </a:solidFill>
              </a:rPr>
              <a:t>；</a:t>
            </a:r>
            <a:r>
              <a:rPr lang="en-US" altLang="zh-CN" sz="2800" dirty="0">
                <a:solidFill>
                  <a:srgbClr val="FF00FF"/>
                </a:solidFill>
              </a:rPr>
              <a:t>H</a:t>
            </a:r>
            <a:r>
              <a:rPr lang="en-US" altLang="zh-CN" sz="2000" dirty="0">
                <a:solidFill>
                  <a:srgbClr val="FF00FF"/>
                </a:solidFill>
              </a:rPr>
              <a:t>1</a:t>
            </a:r>
            <a:r>
              <a:rPr lang="en-US" altLang="zh-CN" sz="2800" dirty="0">
                <a:solidFill>
                  <a:srgbClr val="FF00FF"/>
                </a:solidFill>
              </a:rPr>
              <a:t>:</a:t>
            </a:r>
            <a:endParaRPr lang="en-US" altLang="zh-CN" sz="2800" dirty="0"/>
          </a:p>
          <a:p>
            <a:pPr marL="0" indent="0">
              <a:lnSpc>
                <a:spcPct val="150000"/>
              </a:lnSpc>
              <a:buClr>
                <a:schemeClr val="tx1"/>
              </a:buClr>
            </a:pPr>
            <a:r>
              <a:rPr lang="en-US" altLang="zh-CN" i="1" dirty="0">
                <a:solidFill>
                  <a:srgbClr val="CC0099"/>
                </a:solidFill>
                <a:latin typeface="Times New Roman" pitchFamily="18" charset="0"/>
              </a:rPr>
              <a:t> n</a:t>
            </a:r>
            <a:r>
              <a:rPr lang="en-US" altLang="zh-CN" sz="2800" dirty="0">
                <a:solidFill>
                  <a:srgbClr val="FF00FF"/>
                </a:solidFill>
                <a:latin typeface="Times New Roman" pitchFamily="18" charset="0"/>
              </a:rPr>
              <a:t> </a:t>
            </a:r>
            <a:r>
              <a:rPr lang="en-US" altLang="zh-CN" sz="2800" dirty="0">
                <a:solidFill>
                  <a:srgbClr val="000000"/>
                </a:solidFill>
                <a:latin typeface="Times New Roman" pitchFamily="18" charset="0"/>
              </a:rPr>
              <a:t>=</a:t>
            </a:r>
            <a:r>
              <a:rPr lang="en-US" altLang="zh-CN" sz="2800" dirty="0">
                <a:solidFill>
                  <a:srgbClr val="000000"/>
                </a:solidFill>
              </a:rPr>
              <a:t> 12</a:t>
            </a:r>
            <a:r>
              <a:rPr lang="zh-CN" altLang="en-US" sz="2800" dirty="0">
                <a:solidFill>
                  <a:srgbClr val="000000"/>
                </a:solidFill>
              </a:rPr>
              <a:t>，</a:t>
            </a:r>
            <a:r>
              <a:rPr lang="zh-CN" altLang="en-US" sz="2800" dirty="0">
                <a:solidFill>
                  <a:srgbClr val="FF00FF"/>
                </a:solidFill>
              </a:rPr>
              <a:t> </a:t>
            </a:r>
            <a:r>
              <a:rPr lang="zh-CN" altLang="en-US" sz="2800" dirty="0">
                <a:solidFill>
                  <a:srgbClr val="CC0099"/>
                </a:solidFill>
                <a:latin typeface="Symbol" pitchFamily="18" charset="2"/>
              </a:rPr>
              <a:t></a:t>
            </a:r>
            <a:r>
              <a:rPr lang="zh-CN" altLang="en-US" sz="2800" dirty="0">
                <a:solidFill>
                  <a:srgbClr val="FF00FF"/>
                </a:solidFill>
              </a:rPr>
              <a:t> </a:t>
            </a:r>
            <a:r>
              <a:rPr lang="zh-CN" altLang="en-US" sz="2800" dirty="0">
                <a:solidFill>
                  <a:srgbClr val="000000"/>
                </a:solidFill>
                <a:latin typeface="Symbol" pitchFamily="18" charset="2"/>
              </a:rPr>
              <a:t></a:t>
            </a:r>
            <a:r>
              <a:rPr lang="zh-CN" altLang="en-US" sz="2800" dirty="0">
                <a:solidFill>
                  <a:srgbClr val="000000"/>
                </a:solidFill>
              </a:rPr>
              <a:t> </a:t>
            </a:r>
            <a:r>
              <a:rPr lang="en-US" altLang="zh-CN" sz="2800" dirty="0">
                <a:solidFill>
                  <a:srgbClr val="000000"/>
                </a:solidFill>
              </a:rPr>
              <a:t>0.05</a:t>
            </a:r>
            <a:r>
              <a:rPr lang="zh-CN" altLang="en-US" sz="2800" dirty="0">
                <a:solidFill>
                  <a:srgbClr val="000000"/>
                </a:solidFill>
              </a:rPr>
              <a:t>，</a:t>
            </a:r>
            <a:r>
              <a:rPr lang="en-US" altLang="zh-CN" sz="2400" i="1" dirty="0">
                <a:solidFill>
                  <a:srgbClr val="CC0099"/>
                </a:solidFill>
                <a:sym typeface="Symbol" pitchFamily="18" charset="2"/>
              </a:rPr>
              <a:t>Z</a:t>
            </a:r>
            <a:r>
              <a:rPr lang="el-GR" altLang="zh-CN" sz="2400" i="1" baseline="-25000" dirty="0">
                <a:solidFill>
                  <a:srgbClr val="CC0099"/>
                </a:solidFill>
                <a:latin typeface="宋体" pitchFamily="2" charset="-122"/>
              </a:rPr>
              <a:t>α</a:t>
            </a:r>
            <a:r>
              <a:rPr lang="en-US" altLang="zh-CN" sz="2800" dirty="0">
                <a:solidFill>
                  <a:schemeClr val="tx1"/>
                </a:solidFill>
              </a:rPr>
              <a:t>=1.645</a:t>
            </a:r>
            <a:endParaRPr lang="en-US" altLang="zh-CN" sz="2800" dirty="0"/>
          </a:p>
        </p:txBody>
      </p:sp>
      <p:graphicFrame>
        <p:nvGraphicFramePr>
          <p:cNvPr id="15362" name="Object 4"/>
          <p:cNvGraphicFramePr>
            <a:graphicFrameLocks noGrp="1" noChangeAspect="1"/>
          </p:cNvGraphicFramePr>
          <p:nvPr>
            <p:ph sz="quarter" idx="2"/>
            <p:extLst>
              <p:ext uri="{D42A27DB-BD31-4B8C-83A1-F6EECF244321}">
                <p14:modId xmlns:p14="http://schemas.microsoft.com/office/powerpoint/2010/main" val="1136983479"/>
              </p:ext>
            </p:extLst>
          </p:nvPr>
        </p:nvGraphicFramePr>
        <p:xfrm>
          <a:off x="3198814" y="981076"/>
          <a:ext cx="3208337" cy="550863"/>
        </p:xfrm>
        <a:graphic>
          <a:graphicData uri="http://schemas.openxmlformats.org/presentationml/2006/ole">
            <mc:AlternateContent xmlns:mc="http://schemas.openxmlformats.org/markup-compatibility/2006">
              <mc:Choice xmlns:v="urn:schemas-microsoft-com:vml" Requires="v">
                <p:oleObj name="公式" r:id="rId3" imgW="1257120" imgH="215640" progId="Equation.3">
                  <p:embed/>
                </p:oleObj>
              </mc:Choice>
              <mc:Fallback>
                <p:oleObj name="公式" r:id="rId3" imgW="1257120" imgH="215640" progId="Equation.3">
                  <p:embed/>
                  <p:pic>
                    <p:nvPicPr>
                      <p:cNvPr id="15362"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98814" y="981076"/>
                        <a:ext cx="3208337" cy="5508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16101" name="Rectangle 5"/>
          <p:cNvSpPr>
            <a:spLocks noChangeArrowheads="1"/>
          </p:cNvSpPr>
          <p:nvPr/>
        </p:nvSpPr>
        <p:spPr bwMode="auto">
          <a:xfrm>
            <a:off x="2730398" y="2405063"/>
            <a:ext cx="2362200" cy="425450"/>
          </a:xfrm>
          <a:prstGeom prst="rect">
            <a:avLst/>
          </a:prstGeom>
          <a:noFill/>
          <a:ln w="12700">
            <a:noFill/>
            <a:miter lim="800000"/>
            <a:headEnd/>
            <a:tailEnd/>
          </a:ln>
        </p:spPr>
        <p:txBody>
          <a:bodyPr lIns="90488" tIns="44450" rIns="90488" bIns="44450"/>
          <a:lstStyle/>
          <a:p>
            <a:pPr eaLnBrk="0" hangingPunct="0">
              <a:spcBef>
                <a:spcPct val="20000"/>
              </a:spcBef>
            </a:pPr>
            <a:r>
              <a:rPr kumimoji="1" lang="zh-CN" altLang="en-US" sz="2800" b="1" dirty="0">
                <a:solidFill>
                  <a:srgbClr val="FF00FF"/>
                </a:solidFill>
              </a:rPr>
              <a:t>检验统计量</a:t>
            </a:r>
            <a:r>
              <a:rPr kumimoji="1" lang="en-US" altLang="zh-CN" sz="2800" b="1" dirty="0">
                <a:solidFill>
                  <a:srgbClr val="FF00FF"/>
                </a:solidFill>
              </a:rPr>
              <a:t>:</a:t>
            </a:r>
          </a:p>
        </p:txBody>
      </p:sp>
      <p:sp>
        <p:nvSpPr>
          <p:cNvPr id="516102" name="Text Box 6"/>
          <p:cNvSpPr txBox="1">
            <a:spLocks noChangeArrowheads="1"/>
          </p:cNvSpPr>
          <p:nvPr/>
        </p:nvSpPr>
        <p:spPr bwMode="auto">
          <a:xfrm>
            <a:off x="4664074" y="3888116"/>
            <a:ext cx="4772025" cy="523220"/>
          </a:xfrm>
          <a:prstGeom prst="rect">
            <a:avLst/>
          </a:prstGeom>
          <a:noFill/>
          <a:ln w="12700">
            <a:noFill/>
            <a:miter lim="800000"/>
            <a:headEnd/>
            <a:tailEnd/>
          </a:ln>
        </p:spPr>
        <p:txBody>
          <a:bodyPr wrap="square">
            <a:spAutoFit/>
          </a:bodyPr>
          <a:lstStyle/>
          <a:p>
            <a:pPr eaLnBrk="0" hangingPunct="0">
              <a:spcBef>
                <a:spcPct val="50000"/>
              </a:spcBef>
            </a:pPr>
            <a:r>
              <a:rPr kumimoji="1" lang="en-US" altLang="zh-CN" sz="2800" b="1" i="1" dirty="0">
                <a:solidFill>
                  <a:srgbClr val="3333FF"/>
                </a:solidFill>
                <a:latin typeface="Times New Roman" pitchFamily="18" charset="0"/>
              </a:rPr>
              <a:t>P</a:t>
            </a:r>
            <a:r>
              <a:rPr kumimoji="1" lang="zh-CN" altLang="en-US" sz="2800" b="1" dirty="0">
                <a:solidFill>
                  <a:srgbClr val="3333FF"/>
                </a:solidFill>
              </a:rPr>
              <a:t>值</a:t>
            </a:r>
            <a:r>
              <a:rPr kumimoji="1" lang="zh-CN" altLang="en-US" sz="2800" b="1" dirty="0"/>
              <a:t>＝</a:t>
            </a:r>
            <a:r>
              <a:rPr kumimoji="1" lang="en-US" altLang="zh-CN" sz="2800" b="1" i="1" dirty="0"/>
              <a:t>P</a:t>
            </a:r>
            <a:r>
              <a:rPr kumimoji="1" lang="en-US" altLang="zh-CN" sz="2800" b="1" dirty="0"/>
              <a:t>(</a:t>
            </a:r>
            <a:r>
              <a:rPr kumimoji="1" lang="en-US" altLang="zh-CN" sz="2800" b="1" i="1" dirty="0"/>
              <a:t>Z</a:t>
            </a:r>
            <a:r>
              <a:rPr kumimoji="1" lang="en-US" altLang="zh-CN" sz="2800" b="1" dirty="0"/>
              <a:t>≤-2.771) </a:t>
            </a:r>
            <a:r>
              <a:rPr kumimoji="1" lang="zh-CN" altLang="en-US" sz="2800" b="1" dirty="0"/>
              <a:t>＝</a:t>
            </a:r>
            <a:r>
              <a:rPr kumimoji="1" lang="en-US" altLang="zh-CN" sz="2800" b="1" dirty="0">
                <a:solidFill>
                  <a:srgbClr val="00B050"/>
                </a:solidFill>
              </a:rPr>
              <a:t>0.0028</a:t>
            </a:r>
          </a:p>
        </p:txBody>
      </p:sp>
      <p:graphicFrame>
        <p:nvGraphicFramePr>
          <p:cNvPr id="15363" name="Object 7"/>
          <p:cNvGraphicFramePr>
            <a:graphicFrameLocks noGrp="1" noChangeAspect="1"/>
          </p:cNvGraphicFramePr>
          <p:nvPr>
            <p:ph sz="quarter" idx="3"/>
          </p:nvPr>
        </p:nvGraphicFramePr>
        <p:xfrm>
          <a:off x="7535863" y="981075"/>
          <a:ext cx="1600200" cy="609600"/>
        </p:xfrm>
        <a:graphic>
          <a:graphicData uri="http://schemas.openxmlformats.org/presentationml/2006/ole">
            <mc:AlternateContent xmlns:mc="http://schemas.openxmlformats.org/markup-compatibility/2006">
              <mc:Choice xmlns:v="urn:schemas-microsoft-com:vml" Requires="v">
                <p:oleObj name="公式" r:id="rId5" imgW="533160" imgH="203040" progId="Equation.3">
                  <p:embed/>
                </p:oleObj>
              </mc:Choice>
              <mc:Fallback>
                <p:oleObj name="公式" r:id="rId5" imgW="533160" imgH="203040" progId="Equation.3">
                  <p:embed/>
                  <p:pic>
                    <p:nvPicPr>
                      <p:cNvPr id="15363"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535863" y="981075"/>
                        <a:ext cx="1600200" cy="609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16104" name="Rectangle 8"/>
          <p:cNvSpPr>
            <a:spLocks noChangeArrowheads="1"/>
          </p:cNvSpPr>
          <p:nvPr/>
        </p:nvSpPr>
        <p:spPr bwMode="auto">
          <a:xfrm>
            <a:off x="4664074" y="4872579"/>
            <a:ext cx="5040313" cy="1366838"/>
          </a:xfrm>
          <a:prstGeom prst="rect">
            <a:avLst/>
          </a:prstGeom>
          <a:noFill/>
          <a:ln w="12700">
            <a:noFill/>
            <a:miter lim="800000"/>
            <a:headEnd/>
            <a:tailEnd/>
          </a:ln>
        </p:spPr>
        <p:txBody>
          <a:bodyPr lIns="90488" tIns="44450" rIns="90488" bIns="44450"/>
          <a:lstStyle/>
          <a:p>
            <a:pPr eaLnBrk="0" hangingPunct="0">
              <a:spcBef>
                <a:spcPct val="20000"/>
              </a:spcBef>
            </a:pPr>
            <a:r>
              <a:rPr kumimoji="1" lang="zh-CN" altLang="en-US" sz="2800" b="1" dirty="0">
                <a:solidFill>
                  <a:srgbClr val="FF00FF"/>
                </a:solidFill>
              </a:rPr>
              <a:t>结论</a:t>
            </a:r>
            <a:r>
              <a:rPr kumimoji="1" lang="en-US" altLang="zh-CN" sz="2800" b="1" dirty="0">
                <a:solidFill>
                  <a:srgbClr val="FF00FF"/>
                </a:solidFill>
              </a:rPr>
              <a:t>:   </a:t>
            </a:r>
            <a:r>
              <a:rPr kumimoji="1" lang="zh-CN" altLang="en-US" sz="2800" b="1" dirty="0">
                <a:solidFill>
                  <a:schemeClr val="tx2"/>
                </a:solidFill>
              </a:rPr>
              <a:t>拒绝</a:t>
            </a:r>
            <a:r>
              <a:rPr lang="en-US" altLang="zh-CN" sz="2800" dirty="0">
                <a:solidFill>
                  <a:schemeClr val="tx2"/>
                </a:solidFill>
                <a:latin typeface="Tahoma" pitchFamily="34" charset="0"/>
              </a:rPr>
              <a:t>H</a:t>
            </a:r>
            <a:r>
              <a:rPr lang="en-US" altLang="zh-CN" sz="2000" dirty="0">
                <a:solidFill>
                  <a:schemeClr val="tx2"/>
                </a:solidFill>
                <a:latin typeface="Tahoma" pitchFamily="34" charset="0"/>
              </a:rPr>
              <a:t>0</a:t>
            </a:r>
            <a:r>
              <a:rPr kumimoji="1" lang="en-US" altLang="zh-CN" sz="2800" b="1" dirty="0">
                <a:solidFill>
                  <a:schemeClr val="tx2"/>
                </a:solidFill>
              </a:rPr>
              <a:t> </a:t>
            </a:r>
            <a:r>
              <a:rPr kumimoji="1" lang="zh-CN" altLang="en-US" sz="2800" b="1" dirty="0">
                <a:solidFill>
                  <a:schemeClr val="tx2"/>
                </a:solidFill>
              </a:rPr>
              <a:t>，</a:t>
            </a:r>
            <a:endParaRPr kumimoji="1" lang="en-US" altLang="zh-CN" sz="2800" b="1" dirty="0">
              <a:solidFill>
                <a:schemeClr val="tx2"/>
              </a:solidFill>
            </a:endParaRPr>
          </a:p>
          <a:p>
            <a:pPr eaLnBrk="0" hangingPunct="0">
              <a:spcBef>
                <a:spcPct val="20000"/>
              </a:spcBef>
            </a:pPr>
            <a:r>
              <a:rPr lang="zh-CN" altLang="en-US" sz="2800" b="1" dirty="0">
                <a:solidFill>
                  <a:srgbClr val="000000"/>
                </a:solidFill>
                <a:latin typeface="Tahoma" pitchFamily="34" charset="0"/>
              </a:rPr>
              <a:t>即</a:t>
            </a:r>
            <a:r>
              <a:rPr lang="zh-CN" altLang="en-US" sz="2800" b="1" dirty="0">
                <a:solidFill>
                  <a:srgbClr val="000000"/>
                </a:solidFill>
              </a:rPr>
              <a:t>存在容量不足的问题</a:t>
            </a:r>
            <a:r>
              <a:rPr lang="zh-CN" altLang="en-US" sz="2800" dirty="0"/>
              <a:t> </a:t>
            </a:r>
            <a:r>
              <a:rPr lang="zh-CN" altLang="en-US" sz="2800" b="1" dirty="0">
                <a:solidFill>
                  <a:srgbClr val="000000"/>
                </a:solidFill>
                <a:latin typeface="Tahoma" pitchFamily="34" charset="0"/>
              </a:rPr>
              <a:t>。</a:t>
            </a:r>
          </a:p>
        </p:txBody>
      </p:sp>
      <p:graphicFrame>
        <p:nvGraphicFramePr>
          <p:cNvPr id="516105" name="Object 9"/>
          <p:cNvGraphicFramePr>
            <a:graphicFrameLocks noChangeAspect="1"/>
          </p:cNvGraphicFramePr>
          <p:nvPr>
            <p:extLst>
              <p:ext uri="{D42A27DB-BD31-4B8C-83A1-F6EECF244321}">
                <p14:modId xmlns:p14="http://schemas.microsoft.com/office/powerpoint/2010/main" val="2341091782"/>
              </p:ext>
            </p:extLst>
          </p:nvPr>
        </p:nvGraphicFramePr>
        <p:xfrm>
          <a:off x="4468812" y="2699618"/>
          <a:ext cx="4967287" cy="1093788"/>
        </p:xfrm>
        <a:graphic>
          <a:graphicData uri="http://schemas.openxmlformats.org/presentationml/2006/ole">
            <mc:AlternateContent xmlns:mc="http://schemas.openxmlformats.org/markup-compatibility/2006">
              <mc:Choice xmlns:v="urn:schemas-microsoft-com:vml" Requires="v">
                <p:oleObj name="公式" r:id="rId7" imgW="2120900" imgH="469900" progId="Equation.3">
                  <p:embed/>
                </p:oleObj>
              </mc:Choice>
              <mc:Fallback>
                <p:oleObj name="公式" r:id="rId7" imgW="2120900" imgH="469900" progId="Equation.3">
                  <p:embed/>
                  <p:pic>
                    <p:nvPicPr>
                      <p:cNvPr id="516105" name="Object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468812" y="2699618"/>
                        <a:ext cx="4967287" cy="10937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2" name="Group 33"/>
          <p:cNvGrpSpPr>
            <a:grpSpLocks/>
          </p:cNvGrpSpPr>
          <p:nvPr/>
        </p:nvGrpSpPr>
        <p:grpSpPr bwMode="auto">
          <a:xfrm flipH="1">
            <a:off x="1361190" y="2997201"/>
            <a:ext cx="4139549" cy="2457450"/>
            <a:chOff x="-46" y="1888"/>
            <a:chExt cx="2507" cy="1548"/>
          </a:xfrm>
        </p:grpSpPr>
        <p:sp>
          <p:nvSpPr>
            <p:cNvPr id="12" name="Line 10"/>
            <p:cNvSpPr>
              <a:spLocks noChangeShapeType="1"/>
            </p:cNvSpPr>
            <p:nvPr/>
          </p:nvSpPr>
          <p:spPr bwMode="auto">
            <a:xfrm>
              <a:off x="-46" y="2977"/>
              <a:ext cx="2507" cy="6"/>
            </a:xfrm>
            <a:prstGeom prst="line">
              <a:avLst/>
            </a:prstGeom>
            <a:noFill/>
            <a:ln w="28575">
              <a:solidFill>
                <a:schemeClr val="tx1"/>
              </a:solidFill>
              <a:miter lim="800000"/>
              <a:headEnd/>
              <a:tailEnd type="triangle" w="med" len="med"/>
            </a:ln>
            <a:effectLst>
              <a:outerShdw dist="35921" dir="2700000" algn="ctr" rotWithShape="0">
                <a:srgbClr val="808080"/>
              </a:outerShdw>
            </a:effectLst>
          </p:spPr>
          <p:txBody>
            <a:bodyPr wrap="none"/>
            <a:lstStyle/>
            <a:p>
              <a:pPr>
                <a:defRPr/>
              </a:pPr>
              <a:endParaRPr lang="zh-CN" altLang="en-US">
                <a:latin typeface="Arial" charset="0"/>
                <a:ea typeface="宋体" charset="-122"/>
              </a:endParaRPr>
            </a:p>
          </p:txBody>
        </p:sp>
        <p:sp>
          <p:nvSpPr>
            <p:cNvPr id="13" name="Rectangle 11"/>
            <p:cNvSpPr>
              <a:spLocks noChangeArrowheads="1"/>
            </p:cNvSpPr>
            <p:nvPr/>
          </p:nvSpPr>
          <p:spPr bwMode="auto">
            <a:xfrm>
              <a:off x="1837" y="2341"/>
              <a:ext cx="324" cy="192"/>
            </a:xfrm>
            <a:prstGeom prst="rect">
              <a:avLst/>
            </a:prstGeom>
            <a:solidFill>
              <a:schemeClr val="accent4">
                <a:lumMod val="60000"/>
                <a:lumOff val="40000"/>
              </a:schemeClr>
            </a:solidFill>
            <a:ln w="9525">
              <a:noFill/>
              <a:miter lim="800000"/>
              <a:headEnd/>
              <a:tailEnd/>
            </a:ln>
            <a:effectLst>
              <a:outerShdw dist="17961" dir="2700000" algn="ctr" rotWithShape="0">
                <a:schemeClr val="bg2"/>
              </a:outerShdw>
            </a:effectLst>
          </p:spPr>
          <p:txBody>
            <a:bodyPr wrap="none" lIns="0" tIns="0" rIns="0" bIns="0">
              <a:spAutoFit/>
            </a:bodyPr>
            <a:lstStyle/>
            <a:p>
              <a:pPr eaLnBrk="0" hangingPunct="0">
                <a:defRPr/>
              </a:pPr>
              <a:r>
                <a:rPr kumimoji="1" lang="en-US" altLang="zh-CN" sz="2000" b="1" dirty="0">
                  <a:latin typeface="Symbol" pitchFamily="18" charset="2"/>
                  <a:ea typeface="宋体" charset="-122"/>
                </a:rPr>
                <a:t>0.05</a:t>
              </a:r>
              <a:r>
                <a:rPr kumimoji="1" lang="en-US" altLang="zh-CN" sz="2000" b="1" dirty="0">
                  <a:latin typeface="Arial" charset="0"/>
                  <a:ea typeface="宋体" charset="-122"/>
                </a:rPr>
                <a:t> </a:t>
              </a:r>
            </a:p>
          </p:txBody>
        </p:sp>
        <p:sp>
          <p:nvSpPr>
            <p:cNvPr id="14" name="Line 13"/>
            <p:cNvSpPr>
              <a:spLocks noChangeShapeType="1"/>
            </p:cNvSpPr>
            <p:nvPr/>
          </p:nvSpPr>
          <p:spPr bwMode="auto">
            <a:xfrm>
              <a:off x="1774" y="2614"/>
              <a:ext cx="0" cy="373"/>
            </a:xfrm>
            <a:prstGeom prst="line">
              <a:avLst/>
            </a:prstGeom>
            <a:noFill/>
            <a:ln w="38100">
              <a:solidFill>
                <a:srgbClr val="CC0066"/>
              </a:solidFill>
              <a:round/>
              <a:headEnd/>
              <a:tailEnd/>
            </a:ln>
            <a:effectLst>
              <a:outerShdw dist="28398" dir="20006097" algn="ctr" rotWithShape="0">
                <a:schemeClr val="bg2"/>
              </a:outerShdw>
            </a:effectLst>
          </p:spPr>
          <p:txBody>
            <a:bodyPr wrap="none" anchor="ctr"/>
            <a:lstStyle/>
            <a:p>
              <a:pPr>
                <a:defRPr/>
              </a:pPr>
              <a:endParaRPr lang="zh-CN" altLang="en-US">
                <a:latin typeface="Arial" charset="0"/>
                <a:ea typeface="宋体" charset="-122"/>
              </a:endParaRPr>
            </a:p>
          </p:txBody>
        </p:sp>
        <p:sp>
          <p:nvSpPr>
            <p:cNvPr id="15" name="Line 15"/>
            <p:cNvSpPr>
              <a:spLocks noChangeShapeType="1"/>
            </p:cNvSpPr>
            <p:nvPr/>
          </p:nvSpPr>
          <p:spPr bwMode="auto">
            <a:xfrm>
              <a:off x="1774" y="3018"/>
              <a:ext cx="0" cy="185"/>
            </a:xfrm>
            <a:prstGeom prst="line">
              <a:avLst/>
            </a:prstGeom>
            <a:noFill/>
            <a:ln w="28575">
              <a:solidFill>
                <a:srgbClr val="CC3399"/>
              </a:solidFill>
              <a:round/>
              <a:headEnd type="triangle" w="med" len="med"/>
              <a:tailEnd/>
            </a:ln>
            <a:effectLst>
              <a:outerShdw dist="12700" algn="ctr" rotWithShape="0">
                <a:schemeClr val="bg2"/>
              </a:outerShdw>
            </a:effectLst>
          </p:spPr>
          <p:txBody>
            <a:bodyPr wrap="none" anchor="ctr"/>
            <a:lstStyle/>
            <a:p>
              <a:pPr>
                <a:defRPr/>
              </a:pPr>
              <a:endParaRPr lang="zh-CN" altLang="en-US">
                <a:latin typeface="Arial" charset="0"/>
                <a:ea typeface="宋体" charset="-122"/>
              </a:endParaRPr>
            </a:p>
          </p:txBody>
        </p:sp>
        <p:sp>
          <p:nvSpPr>
            <p:cNvPr id="16" name="Freeform 16"/>
            <p:cNvSpPr>
              <a:spLocks/>
            </p:cNvSpPr>
            <p:nvPr/>
          </p:nvSpPr>
          <p:spPr bwMode="auto">
            <a:xfrm>
              <a:off x="1254" y="1888"/>
              <a:ext cx="1103" cy="1050"/>
            </a:xfrm>
            <a:custGeom>
              <a:avLst/>
              <a:gdLst/>
              <a:ahLst/>
              <a:cxnLst>
                <a:cxn ang="0">
                  <a:pos x="1942" y="1430"/>
                </a:cxn>
                <a:cxn ang="0">
                  <a:pos x="1737" y="1412"/>
                </a:cxn>
                <a:cxn ang="0">
                  <a:pos x="1636" y="1396"/>
                </a:cxn>
                <a:cxn ang="0">
                  <a:pos x="1532" y="1373"/>
                </a:cxn>
                <a:cxn ang="0">
                  <a:pos x="1431" y="1342"/>
                </a:cxn>
                <a:cxn ang="0">
                  <a:pos x="1328" y="1298"/>
                </a:cxn>
                <a:cxn ang="0">
                  <a:pos x="1227" y="1238"/>
                </a:cxn>
                <a:cxn ang="0">
                  <a:pos x="1022" y="1073"/>
                </a:cxn>
                <a:cxn ang="0">
                  <a:pos x="818" y="838"/>
                </a:cxn>
                <a:cxn ang="0">
                  <a:pos x="613" y="559"/>
                </a:cxn>
                <a:cxn ang="0">
                  <a:pos x="512" y="416"/>
                </a:cxn>
                <a:cxn ang="0">
                  <a:pos x="409" y="282"/>
                </a:cxn>
                <a:cxn ang="0">
                  <a:pos x="308" y="166"/>
                </a:cxn>
                <a:cxn ang="0">
                  <a:pos x="204" y="78"/>
                </a:cxn>
                <a:cxn ang="0">
                  <a:pos x="103" y="21"/>
                </a:cxn>
                <a:cxn ang="0">
                  <a:pos x="0" y="0"/>
                </a:cxn>
              </a:cxnLst>
              <a:rect l="0" t="0" r="r" b="b"/>
              <a:pathLst>
                <a:path w="1942" h="1430">
                  <a:moveTo>
                    <a:pt x="1942" y="1430"/>
                  </a:moveTo>
                  <a:lnTo>
                    <a:pt x="1737" y="1412"/>
                  </a:lnTo>
                  <a:lnTo>
                    <a:pt x="1636" y="1396"/>
                  </a:lnTo>
                  <a:lnTo>
                    <a:pt x="1532" y="1373"/>
                  </a:lnTo>
                  <a:lnTo>
                    <a:pt x="1431" y="1342"/>
                  </a:lnTo>
                  <a:lnTo>
                    <a:pt x="1328" y="1298"/>
                  </a:lnTo>
                  <a:lnTo>
                    <a:pt x="1227" y="1238"/>
                  </a:lnTo>
                  <a:lnTo>
                    <a:pt x="1022" y="1073"/>
                  </a:lnTo>
                  <a:lnTo>
                    <a:pt x="818" y="838"/>
                  </a:lnTo>
                  <a:lnTo>
                    <a:pt x="613" y="559"/>
                  </a:lnTo>
                  <a:lnTo>
                    <a:pt x="512" y="416"/>
                  </a:lnTo>
                  <a:lnTo>
                    <a:pt x="409" y="282"/>
                  </a:lnTo>
                  <a:lnTo>
                    <a:pt x="308" y="166"/>
                  </a:lnTo>
                  <a:lnTo>
                    <a:pt x="204" y="78"/>
                  </a:lnTo>
                  <a:lnTo>
                    <a:pt x="103" y="21"/>
                  </a:lnTo>
                  <a:lnTo>
                    <a:pt x="0" y="0"/>
                  </a:lnTo>
                </a:path>
              </a:pathLst>
            </a:custGeom>
            <a:noFill/>
            <a:ln w="76200" cmpd="sng">
              <a:solidFill>
                <a:srgbClr val="002060"/>
              </a:solidFill>
              <a:prstDash val="solid"/>
              <a:round/>
              <a:headEnd/>
              <a:tailEnd/>
            </a:ln>
            <a:effectLst>
              <a:outerShdw dist="38100" dir="5400000" algn="ctr" rotWithShape="0">
                <a:schemeClr val="bg2"/>
              </a:outerShdw>
            </a:effectLst>
          </p:spPr>
          <p:txBody>
            <a:bodyPr/>
            <a:lstStyle/>
            <a:p>
              <a:pPr>
                <a:defRPr/>
              </a:pPr>
              <a:endParaRPr lang="zh-CN" altLang="en-US">
                <a:latin typeface="Arial" charset="0"/>
                <a:ea typeface="宋体" charset="-122"/>
              </a:endParaRPr>
            </a:p>
          </p:txBody>
        </p:sp>
        <p:sp>
          <p:nvSpPr>
            <p:cNvPr id="17" name="Freeform 17"/>
            <p:cNvSpPr>
              <a:spLocks/>
            </p:cNvSpPr>
            <p:nvPr/>
          </p:nvSpPr>
          <p:spPr bwMode="auto">
            <a:xfrm>
              <a:off x="249" y="1888"/>
              <a:ext cx="1052" cy="1066"/>
            </a:xfrm>
            <a:custGeom>
              <a:avLst/>
              <a:gdLst/>
              <a:ahLst/>
              <a:cxnLst>
                <a:cxn ang="0">
                  <a:pos x="0" y="1430"/>
                </a:cxn>
                <a:cxn ang="0">
                  <a:pos x="205" y="1412"/>
                </a:cxn>
                <a:cxn ang="0">
                  <a:pos x="309" y="1396"/>
                </a:cxn>
                <a:cxn ang="0">
                  <a:pos x="410" y="1373"/>
                </a:cxn>
                <a:cxn ang="0">
                  <a:pos x="511" y="1342"/>
                </a:cxn>
                <a:cxn ang="0">
                  <a:pos x="614" y="1298"/>
                </a:cxn>
                <a:cxn ang="0">
                  <a:pos x="715" y="1238"/>
                </a:cxn>
                <a:cxn ang="0">
                  <a:pos x="922" y="1073"/>
                </a:cxn>
                <a:cxn ang="0">
                  <a:pos x="1124" y="838"/>
                </a:cxn>
                <a:cxn ang="0">
                  <a:pos x="1329" y="559"/>
                </a:cxn>
                <a:cxn ang="0">
                  <a:pos x="1432" y="416"/>
                </a:cxn>
                <a:cxn ang="0">
                  <a:pos x="1533" y="282"/>
                </a:cxn>
                <a:cxn ang="0">
                  <a:pos x="1637" y="166"/>
                </a:cxn>
                <a:cxn ang="0">
                  <a:pos x="1738" y="78"/>
                </a:cxn>
                <a:cxn ang="0">
                  <a:pos x="1842" y="21"/>
                </a:cxn>
                <a:cxn ang="0">
                  <a:pos x="1943" y="0"/>
                </a:cxn>
              </a:cxnLst>
              <a:rect l="0" t="0" r="r" b="b"/>
              <a:pathLst>
                <a:path w="1943" h="1430">
                  <a:moveTo>
                    <a:pt x="0" y="1430"/>
                  </a:moveTo>
                  <a:lnTo>
                    <a:pt x="205" y="1412"/>
                  </a:lnTo>
                  <a:lnTo>
                    <a:pt x="309" y="1396"/>
                  </a:lnTo>
                  <a:lnTo>
                    <a:pt x="410" y="1373"/>
                  </a:lnTo>
                  <a:lnTo>
                    <a:pt x="511" y="1342"/>
                  </a:lnTo>
                  <a:lnTo>
                    <a:pt x="614" y="1298"/>
                  </a:lnTo>
                  <a:lnTo>
                    <a:pt x="715" y="1238"/>
                  </a:lnTo>
                  <a:lnTo>
                    <a:pt x="922" y="1073"/>
                  </a:lnTo>
                  <a:lnTo>
                    <a:pt x="1124" y="838"/>
                  </a:lnTo>
                  <a:lnTo>
                    <a:pt x="1329" y="559"/>
                  </a:lnTo>
                  <a:lnTo>
                    <a:pt x="1432" y="416"/>
                  </a:lnTo>
                  <a:lnTo>
                    <a:pt x="1533" y="282"/>
                  </a:lnTo>
                  <a:lnTo>
                    <a:pt x="1637" y="166"/>
                  </a:lnTo>
                  <a:lnTo>
                    <a:pt x="1738" y="78"/>
                  </a:lnTo>
                  <a:lnTo>
                    <a:pt x="1842" y="21"/>
                  </a:lnTo>
                  <a:lnTo>
                    <a:pt x="1943" y="0"/>
                  </a:lnTo>
                </a:path>
              </a:pathLst>
            </a:custGeom>
            <a:noFill/>
            <a:ln w="76200" cmpd="sng">
              <a:solidFill>
                <a:srgbClr val="002060"/>
              </a:solidFill>
              <a:prstDash val="solid"/>
              <a:round/>
              <a:headEnd/>
              <a:tailEnd/>
            </a:ln>
            <a:effectLst>
              <a:outerShdw dist="38100" dir="5400000" algn="ctr" rotWithShape="0">
                <a:schemeClr val="bg2"/>
              </a:outerShdw>
            </a:effectLst>
          </p:spPr>
          <p:txBody>
            <a:bodyPr/>
            <a:lstStyle/>
            <a:p>
              <a:pPr>
                <a:defRPr/>
              </a:pPr>
              <a:endParaRPr lang="zh-CN" altLang="en-US">
                <a:latin typeface="Arial" charset="0"/>
                <a:ea typeface="宋体" charset="-122"/>
              </a:endParaRPr>
            </a:p>
          </p:txBody>
        </p:sp>
        <p:sp>
          <p:nvSpPr>
            <p:cNvPr id="18" name="Freeform 20"/>
            <p:cNvSpPr>
              <a:spLocks/>
            </p:cNvSpPr>
            <p:nvPr/>
          </p:nvSpPr>
          <p:spPr bwMode="auto">
            <a:xfrm>
              <a:off x="1774" y="2608"/>
              <a:ext cx="687" cy="368"/>
            </a:xfrm>
            <a:custGeom>
              <a:avLst/>
              <a:gdLst/>
              <a:ahLst/>
              <a:cxnLst>
                <a:cxn ang="0">
                  <a:pos x="0" y="0"/>
                </a:cxn>
                <a:cxn ang="0">
                  <a:pos x="0" y="734"/>
                </a:cxn>
                <a:cxn ang="0">
                  <a:pos x="1129" y="734"/>
                </a:cxn>
                <a:cxn ang="0">
                  <a:pos x="1002" y="700"/>
                </a:cxn>
                <a:cxn ang="0">
                  <a:pos x="880" y="659"/>
                </a:cxn>
                <a:cxn ang="0">
                  <a:pos x="764" y="612"/>
                </a:cxn>
                <a:cxn ang="0">
                  <a:pos x="652" y="561"/>
                </a:cxn>
                <a:cxn ang="0">
                  <a:pos x="546" y="504"/>
                </a:cxn>
                <a:cxn ang="0">
                  <a:pos x="445" y="444"/>
                </a:cxn>
                <a:cxn ang="0">
                  <a:pos x="352" y="380"/>
                </a:cxn>
                <a:cxn ang="0">
                  <a:pos x="267" y="310"/>
                </a:cxn>
                <a:cxn ang="0">
                  <a:pos x="189" y="237"/>
                </a:cxn>
                <a:cxn ang="0">
                  <a:pos x="116" y="162"/>
                </a:cxn>
                <a:cxn ang="0">
                  <a:pos x="54" y="82"/>
                </a:cxn>
                <a:cxn ang="0">
                  <a:pos x="0" y="0"/>
                </a:cxn>
              </a:cxnLst>
              <a:rect l="0" t="0" r="r" b="b"/>
              <a:pathLst>
                <a:path w="1129" h="734">
                  <a:moveTo>
                    <a:pt x="0" y="0"/>
                  </a:moveTo>
                  <a:lnTo>
                    <a:pt x="0" y="734"/>
                  </a:lnTo>
                  <a:lnTo>
                    <a:pt x="1129" y="734"/>
                  </a:lnTo>
                  <a:lnTo>
                    <a:pt x="1002" y="700"/>
                  </a:lnTo>
                  <a:lnTo>
                    <a:pt x="880" y="659"/>
                  </a:lnTo>
                  <a:lnTo>
                    <a:pt x="764" y="612"/>
                  </a:lnTo>
                  <a:lnTo>
                    <a:pt x="652" y="561"/>
                  </a:lnTo>
                  <a:lnTo>
                    <a:pt x="546" y="504"/>
                  </a:lnTo>
                  <a:lnTo>
                    <a:pt x="445" y="444"/>
                  </a:lnTo>
                  <a:lnTo>
                    <a:pt x="352" y="380"/>
                  </a:lnTo>
                  <a:lnTo>
                    <a:pt x="267" y="310"/>
                  </a:lnTo>
                  <a:lnTo>
                    <a:pt x="189" y="237"/>
                  </a:lnTo>
                  <a:lnTo>
                    <a:pt x="116" y="162"/>
                  </a:lnTo>
                  <a:lnTo>
                    <a:pt x="54" y="82"/>
                  </a:lnTo>
                  <a:lnTo>
                    <a:pt x="0" y="0"/>
                  </a:lnTo>
                  <a:close/>
                </a:path>
              </a:pathLst>
            </a:custGeom>
            <a:solidFill>
              <a:schemeClr val="accent4">
                <a:lumMod val="60000"/>
                <a:lumOff val="40000"/>
              </a:schemeClr>
            </a:solidFill>
            <a:ln w="9525">
              <a:noFill/>
              <a:round/>
              <a:headEnd/>
              <a:tailEnd/>
            </a:ln>
            <a:effectLst>
              <a:outerShdw algn="ctr" rotWithShape="0">
                <a:srgbClr val="808080"/>
              </a:outerShdw>
            </a:effectLst>
          </p:spPr>
          <p:txBody>
            <a:bodyPr/>
            <a:lstStyle/>
            <a:p>
              <a:pPr>
                <a:defRPr/>
              </a:pPr>
              <a:endParaRPr lang="zh-CN" altLang="en-US">
                <a:latin typeface="Arial" charset="0"/>
                <a:ea typeface="宋体" charset="-122"/>
              </a:endParaRPr>
            </a:p>
          </p:txBody>
        </p:sp>
        <p:sp>
          <p:nvSpPr>
            <p:cNvPr id="19" name="Line 21"/>
            <p:cNvSpPr>
              <a:spLocks noChangeShapeType="1"/>
            </p:cNvSpPr>
            <p:nvPr/>
          </p:nvSpPr>
          <p:spPr bwMode="auto">
            <a:xfrm flipH="1">
              <a:off x="1908" y="2523"/>
              <a:ext cx="89" cy="344"/>
            </a:xfrm>
            <a:prstGeom prst="line">
              <a:avLst/>
            </a:prstGeom>
            <a:noFill/>
            <a:ln w="25400">
              <a:solidFill>
                <a:schemeClr val="tx2"/>
              </a:solidFill>
              <a:round/>
              <a:headEnd/>
              <a:tailEnd type="triangle" w="med" len="med"/>
            </a:ln>
            <a:effectLst>
              <a:outerShdw algn="ctr" rotWithShape="0">
                <a:schemeClr val="bg2"/>
              </a:outerShdw>
            </a:effectLst>
          </p:spPr>
          <p:txBody>
            <a:bodyPr wrap="none" anchor="ctr"/>
            <a:lstStyle/>
            <a:p>
              <a:pPr>
                <a:defRPr/>
              </a:pPr>
              <a:endParaRPr lang="zh-CN" altLang="en-US">
                <a:latin typeface="Arial" charset="0"/>
                <a:ea typeface="宋体" charset="-122"/>
              </a:endParaRPr>
            </a:p>
          </p:txBody>
        </p:sp>
        <p:sp>
          <p:nvSpPr>
            <p:cNvPr id="20" name="Text Box 23"/>
            <p:cNvSpPr txBox="1">
              <a:spLocks noChangeArrowheads="1"/>
            </p:cNvSpPr>
            <p:nvPr/>
          </p:nvSpPr>
          <p:spPr bwMode="auto">
            <a:xfrm>
              <a:off x="1153" y="2977"/>
              <a:ext cx="230" cy="288"/>
            </a:xfrm>
            <a:prstGeom prst="rect">
              <a:avLst/>
            </a:prstGeom>
            <a:noFill/>
            <a:ln w="12700">
              <a:noFill/>
              <a:miter lim="800000"/>
              <a:headEnd/>
              <a:tailEnd/>
            </a:ln>
            <a:effectLst/>
          </p:spPr>
          <p:txBody>
            <a:bodyPr>
              <a:spAutoFit/>
            </a:bodyPr>
            <a:lstStyle/>
            <a:p>
              <a:pPr algn="ctr" eaLnBrk="0" hangingPunct="0">
                <a:spcBef>
                  <a:spcPct val="50000"/>
                </a:spcBef>
                <a:defRPr/>
              </a:pPr>
              <a:r>
                <a:rPr kumimoji="1" lang="en-US" altLang="zh-CN" sz="2400" b="1" dirty="0">
                  <a:effectLst>
                    <a:outerShdw blurRad="38100" dist="38100" dir="2700000" algn="tl">
                      <a:srgbClr val="C0C0C0"/>
                    </a:outerShdw>
                  </a:effectLst>
                  <a:latin typeface="Arial" charset="0"/>
                  <a:ea typeface="宋体" charset="-122"/>
                </a:rPr>
                <a:t>0</a:t>
              </a:r>
            </a:p>
          </p:txBody>
        </p:sp>
        <p:sp>
          <p:nvSpPr>
            <p:cNvPr id="15387" name="Text Box 25"/>
            <p:cNvSpPr txBox="1">
              <a:spLocks noChangeArrowheads="1"/>
            </p:cNvSpPr>
            <p:nvPr/>
          </p:nvSpPr>
          <p:spPr bwMode="auto">
            <a:xfrm>
              <a:off x="1435" y="3203"/>
              <a:ext cx="544" cy="233"/>
            </a:xfrm>
            <a:prstGeom prst="rect">
              <a:avLst/>
            </a:prstGeom>
            <a:solidFill>
              <a:srgbClr val="FFFF9B"/>
            </a:solidFill>
            <a:ln w="12700">
              <a:solidFill>
                <a:schemeClr val="tx1"/>
              </a:solidFill>
              <a:miter lim="800000"/>
              <a:headEnd/>
              <a:tailEnd/>
            </a:ln>
          </p:spPr>
          <p:txBody>
            <a:bodyPr lIns="0" rIns="0">
              <a:spAutoFit/>
            </a:bodyPr>
            <a:lstStyle/>
            <a:p>
              <a:pPr algn="ctr" eaLnBrk="0" hangingPunct="0">
                <a:spcBef>
                  <a:spcPct val="50000"/>
                </a:spcBef>
              </a:pPr>
              <a:r>
                <a:rPr kumimoji="1" lang="en-US" altLang="zh-CN" b="1" dirty="0">
                  <a:solidFill>
                    <a:srgbClr val="FF0066"/>
                  </a:solidFill>
                </a:rPr>
                <a:t>-1. 645</a:t>
              </a:r>
            </a:p>
          </p:txBody>
        </p:sp>
      </p:grpSp>
      <p:grpSp>
        <p:nvGrpSpPr>
          <p:cNvPr id="3" name="Group 56"/>
          <p:cNvGrpSpPr>
            <a:grpSpLocks/>
          </p:cNvGrpSpPr>
          <p:nvPr/>
        </p:nvGrpSpPr>
        <p:grpSpPr bwMode="auto">
          <a:xfrm flipH="1">
            <a:off x="1481727" y="4152526"/>
            <a:ext cx="634534" cy="586538"/>
            <a:chOff x="1747" y="2155"/>
            <a:chExt cx="591" cy="324"/>
          </a:xfrm>
        </p:grpSpPr>
        <p:sp>
          <p:nvSpPr>
            <p:cNvPr id="23" name="Freeform 54"/>
            <p:cNvSpPr>
              <a:spLocks/>
            </p:cNvSpPr>
            <p:nvPr/>
          </p:nvSpPr>
          <p:spPr bwMode="auto">
            <a:xfrm rot="21423665">
              <a:off x="1747" y="2281"/>
              <a:ext cx="591" cy="198"/>
            </a:xfrm>
            <a:custGeom>
              <a:avLst/>
              <a:gdLst/>
              <a:ahLst/>
              <a:cxnLst>
                <a:cxn ang="0">
                  <a:pos x="0" y="0"/>
                </a:cxn>
                <a:cxn ang="0">
                  <a:pos x="0" y="734"/>
                </a:cxn>
                <a:cxn ang="0">
                  <a:pos x="1129" y="734"/>
                </a:cxn>
                <a:cxn ang="0">
                  <a:pos x="1002" y="700"/>
                </a:cxn>
                <a:cxn ang="0">
                  <a:pos x="880" y="659"/>
                </a:cxn>
                <a:cxn ang="0">
                  <a:pos x="764" y="612"/>
                </a:cxn>
                <a:cxn ang="0">
                  <a:pos x="652" y="561"/>
                </a:cxn>
                <a:cxn ang="0">
                  <a:pos x="546" y="504"/>
                </a:cxn>
                <a:cxn ang="0">
                  <a:pos x="445" y="444"/>
                </a:cxn>
                <a:cxn ang="0">
                  <a:pos x="352" y="380"/>
                </a:cxn>
                <a:cxn ang="0">
                  <a:pos x="267" y="310"/>
                </a:cxn>
                <a:cxn ang="0">
                  <a:pos x="189" y="237"/>
                </a:cxn>
                <a:cxn ang="0">
                  <a:pos x="116" y="162"/>
                </a:cxn>
                <a:cxn ang="0">
                  <a:pos x="54" y="82"/>
                </a:cxn>
                <a:cxn ang="0">
                  <a:pos x="0" y="0"/>
                </a:cxn>
              </a:cxnLst>
              <a:rect l="0" t="0" r="r" b="b"/>
              <a:pathLst>
                <a:path w="1129" h="734">
                  <a:moveTo>
                    <a:pt x="0" y="0"/>
                  </a:moveTo>
                  <a:lnTo>
                    <a:pt x="0" y="734"/>
                  </a:lnTo>
                  <a:lnTo>
                    <a:pt x="1129" y="734"/>
                  </a:lnTo>
                  <a:lnTo>
                    <a:pt x="1002" y="700"/>
                  </a:lnTo>
                  <a:lnTo>
                    <a:pt x="880" y="659"/>
                  </a:lnTo>
                  <a:lnTo>
                    <a:pt x="764" y="612"/>
                  </a:lnTo>
                  <a:lnTo>
                    <a:pt x="652" y="561"/>
                  </a:lnTo>
                  <a:lnTo>
                    <a:pt x="546" y="504"/>
                  </a:lnTo>
                  <a:lnTo>
                    <a:pt x="445" y="444"/>
                  </a:lnTo>
                  <a:lnTo>
                    <a:pt x="352" y="380"/>
                  </a:lnTo>
                  <a:lnTo>
                    <a:pt x="267" y="310"/>
                  </a:lnTo>
                  <a:lnTo>
                    <a:pt x="189" y="237"/>
                  </a:lnTo>
                  <a:lnTo>
                    <a:pt x="116" y="162"/>
                  </a:lnTo>
                  <a:lnTo>
                    <a:pt x="54" y="82"/>
                  </a:lnTo>
                  <a:lnTo>
                    <a:pt x="0" y="0"/>
                  </a:lnTo>
                  <a:close/>
                </a:path>
              </a:pathLst>
            </a:custGeom>
            <a:solidFill>
              <a:srgbClr val="00FF00"/>
            </a:solidFill>
            <a:ln w="9525">
              <a:noFill/>
              <a:round/>
              <a:headEnd/>
              <a:tailEnd/>
            </a:ln>
            <a:effectLst>
              <a:outerShdw algn="ctr" rotWithShape="0">
                <a:srgbClr val="808080"/>
              </a:outerShdw>
            </a:effectLst>
          </p:spPr>
          <p:txBody>
            <a:bodyPr/>
            <a:lstStyle/>
            <a:p>
              <a:pPr>
                <a:defRPr/>
              </a:pPr>
              <a:endParaRPr lang="zh-CN" altLang="en-US">
                <a:latin typeface="Arial" charset="0"/>
                <a:ea typeface="宋体" charset="-122"/>
              </a:endParaRPr>
            </a:p>
          </p:txBody>
        </p:sp>
        <p:sp>
          <p:nvSpPr>
            <p:cNvPr id="15377" name="AutoShape 55"/>
            <p:cNvSpPr>
              <a:spLocks noChangeArrowheads="1"/>
            </p:cNvSpPr>
            <p:nvPr/>
          </p:nvSpPr>
          <p:spPr bwMode="auto">
            <a:xfrm>
              <a:off x="1827" y="2155"/>
              <a:ext cx="408" cy="161"/>
            </a:xfrm>
            <a:prstGeom prst="wedgeRectCallout">
              <a:avLst>
                <a:gd name="adj1" fmla="val -36954"/>
                <a:gd name="adj2" fmla="val 117375"/>
              </a:avLst>
            </a:prstGeom>
            <a:noFill/>
            <a:ln w="9525">
              <a:solidFill>
                <a:srgbClr val="3333FF"/>
              </a:solidFill>
              <a:miter lim="800000"/>
              <a:headEnd/>
              <a:tailEnd/>
            </a:ln>
          </p:spPr>
          <p:txBody>
            <a:bodyPr lIns="0" tIns="0" rIns="0" bIns="0"/>
            <a:lstStyle/>
            <a:p>
              <a:pPr algn="ctr"/>
              <a:r>
                <a:rPr lang="en-US" altLang="zh-CN" i="1">
                  <a:solidFill>
                    <a:srgbClr val="00B050"/>
                  </a:solidFill>
                </a:rPr>
                <a:t>P</a:t>
              </a:r>
              <a:r>
                <a:rPr lang="zh-CN" altLang="en-US" i="1">
                  <a:solidFill>
                    <a:srgbClr val="00B050"/>
                  </a:solidFill>
                </a:rPr>
                <a:t>值</a:t>
              </a:r>
            </a:p>
          </p:txBody>
        </p:sp>
      </p:grpSp>
      <p:sp>
        <p:nvSpPr>
          <p:cNvPr id="26" name="Text Box 25"/>
          <p:cNvSpPr txBox="1">
            <a:spLocks noChangeArrowheads="1"/>
          </p:cNvSpPr>
          <p:nvPr/>
        </p:nvSpPr>
        <p:spPr bwMode="auto">
          <a:xfrm flipH="1">
            <a:off x="1343026" y="4797425"/>
            <a:ext cx="1079500" cy="400110"/>
          </a:xfrm>
          <a:prstGeom prst="rect">
            <a:avLst/>
          </a:prstGeom>
          <a:noFill/>
          <a:ln w="12700">
            <a:noFill/>
            <a:miter lim="800000"/>
            <a:headEnd/>
            <a:tailEnd/>
          </a:ln>
        </p:spPr>
        <p:txBody>
          <a:bodyPr wrap="square">
            <a:spAutoFit/>
          </a:bodyPr>
          <a:lstStyle/>
          <a:p>
            <a:pPr algn="ctr" eaLnBrk="0" hangingPunct="0">
              <a:spcBef>
                <a:spcPct val="50000"/>
              </a:spcBef>
            </a:pPr>
            <a:r>
              <a:rPr kumimoji="1" lang="en-US" altLang="zh-CN" sz="2000" b="1">
                <a:solidFill>
                  <a:srgbClr val="0070C0"/>
                </a:solidFill>
              </a:rPr>
              <a:t>-2.771</a:t>
            </a:r>
          </a:p>
        </p:txBody>
      </p:sp>
      <p:sp>
        <p:nvSpPr>
          <p:cNvPr id="27" name="椭圆 26"/>
          <p:cNvSpPr/>
          <p:nvPr/>
        </p:nvSpPr>
        <p:spPr>
          <a:xfrm>
            <a:off x="2063750" y="4724401"/>
            <a:ext cx="71438" cy="73025"/>
          </a:xfrm>
          <a:prstGeom prst="ellipse">
            <a:avLst/>
          </a:prstGeom>
          <a:solidFill>
            <a:srgbClr val="FFC000"/>
          </a:solid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dirty="0">
              <a:solidFill>
                <a:srgbClr val="0000FF"/>
              </a:solidFill>
            </a:endParaRPr>
          </a:p>
        </p:txBody>
      </p:sp>
      <p:sp>
        <p:nvSpPr>
          <p:cNvPr id="28" name="椭圆 27"/>
          <p:cNvSpPr/>
          <p:nvPr/>
        </p:nvSpPr>
        <p:spPr>
          <a:xfrm>
            <a:off x="2461464" y="4724401"/>
            <a:ext cx="71437" cy="73025"/>
          </a:xfrm>
          <a:prstGeom prst="ellipse">
            <a:avLst/>
          </a:prstGeom>
          <a:solidFill>
            <a:srgbClr val="FFFF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dirty="0">
              <a:solidFill>
                <a:srgbClr val="0000FF"/>
              </a:solidFill>
            </a:endParaRPr>
          </a:p>
        </p:txBody>
      </p:sp>
      <p:sp>
        <p:nvSpPr>
          <p:cNvPr id="6" name="矩形 5"/>
          <p:cNvSpPr/>
          <p:nvPr/>
        </p:nvSpPr>
        <p:spPr>
          <a:xfrm>
            <a:off x="1472955" y="6273196"/>
            <a:ext cx="6274045" cy="553998"/>
          </a:xfrm>
          <a:prstGeom prst="rect">
            <a:avLst/>
          </a:prstGeom>
        </p:spPr>
        <p:txBody>
          <a:bodyPr wrap="square">
            <a:spAutoFit/>
          </a:bodyPr>
          <a:lstStyle/>
          <a:p>
            <a:pPr lvl="0" eaLnBrk="0" hangingPunct="0">
              <a:lnSpc>
                <a:spcPct val="125000"/>
              </a:lnSpc>
              <a:spcBef>
                <a:spcPts val="600"/>
              </a:spcBef>
            </a:pPr>
            <a:r>
              <a:rPr kumimoji="1" lang="zh-CN" altLang="en-US" sz="2400" dirty="0">
                <a:solidFill>
                  <a:srgbClr val="0070C0"/>
                </a:solidFill>
              </a:rPr>
              <a:t>若是双侧检验，</a:t>
            </a:r>
            <a:r>
              <a:rPr kumimoji="1" lang="en-US" altLang="zh-CN" sz="2400" i="1" dirty="0">
                <a:solidFill>
                  <a:srgbClr val="0070C0"/>
                </a:solidFill>
                <a:latin typeface="Times New Roman" pitchFamily="18" charset="0"/>
              </a:rPr>
              <a:t>P</a:t>
            </a:r>
            <a:r>
              <a:rPr kumimoji="1" lang="zh-CN" altLang="en-US" sz="2400" dirty="0">
                <a:solidFill>
                  <a:srgbClr val="0070C0"/>
                </a:solidFill>
              </a:rPr>
              <a:t>值</a:t>
            </a:r>
            <a:r>
              <a:rPr kumimoji="1" lang="en-US" altLang="zh-CN" sz="2400" dirty="0">
                <a:solidFill>
                  <a:srgbClr val="0070C0"/>
                </a:solidFill>
                <a:latin typeface="Times New Roman" pitchFamily="18" charset="0"/>
              </a:rPr>
              <a:t>=2</a:t>
            </a:r>
            <a:r>
              <a:rPr kumimoji="1" lang="en-US" altLang="zh-CN" sz="2400" dirty="0">
                <a:solidFill>
                  <a:srgbClr val="0070C0"/>
                </a:solidFill>
                <a:latin typeface="Times New Roman" pitchFamily="18" charset="0"/>
                <a:cs typeface="Arial" pitchFamily="34" charset="0"/>
              </a:rPr>
              <a:t>×</a:t>
            </a:r>
            <a:r>
              <a:rPr kumimoji="1" lang="en-US" altLang="zh-CN" sz="2400" i="1" dirty="0">
                <a:solidFill>
                  <a:srgbClr val="0070C0"/>
                </a:solidFill>
                <a:latin typeface="Times New Roman" pitchFamily="18" charset="0"/>
              </a:rPr>
              <a:t>P</a:t>
            </a:r>
            <a:r>
              <a:rPr kumimoji="1" lang="en-US" altLang="zh-CN" sz="2400" dirty="0">
                <a:solidFill>
                  <a:srgbClr val="0070C0"/>
                </a:solidFill>
                <a:latin typeface="Times New Roman" pitchFamily="18" charset="0"/>
              </a:rPr>
              <a:t>{Z</a:t>
            </a:r>
            <a:r>
              <a:rPr kumimoji="1" lang="en-US" altLang="zh-CN" sz="2400" dirty="0">
                <a:solidFill>
                  <a:srgbClr val="0070C0"/>
                </a:solidFill>
                <a:latin typeface="Times New Roman" pitchFamily="18" charset="0"/>
                <a:cs typeface="Times New Roman" pitchFamily="18" charset="0"/>
              </a:rPr>
              <a:t>≤</a:t>
            </a:r>
            <a:r>
              <a:rPr kumimoji="1" lang="en-US" altLang="zh-CN" sz="2400" dirty="0">
                <a:solidFill>
                  <a:srgbClr val="0070C0"/>
                </a:solidFill>
                <a:latin typeface="Times New Roman" pitchFamily="18" charset="0"/>
              </a:rPr>
              <a:t>- 2.771}=0.0056</a:t>
            </a:r>
          </a:p>
        </p:txBody>
      </p:sp>
    </p:spTree>
    <p:extLst>
      <p:ext uri="{BB962C8B-B14F-4D97-AF65-F5344CB8AC3E}">
        <p14:creationId xmlns:p14="http://schemas.microsoft.com/office/powerpoint/2010/main" val="549228540"/>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1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16101">
                                            <p:txEl>
                                              <p:pRg st="0" end="0"/>
                                            </p:txEl>
                                          </p:spTgt>
                                        </p:tgtEl>
                                        <p:attrNameLst>
                                          <p:attrName>style.visibility</p:attrName>
                                        </p:attrNameLst>
                                      </p:cBhvr>
                                      <p:to>
                                        <p:strVal val="visible"/>
                                      </p:to>
                                    </p:set>
                                    <p:animEffect transition="in" filter="wipe(left)">
                                      <p:cBhvr>
                                        <p:cTn id="12" dur="500"/>
                                        <p:tgtEl>
                                          <p:spTgt spid="516101">
                                            <p:txEl>
                                              <p:pRg st="0" end="0"/>
                                            </p:txEl>
                                          </p:spTgt>
                                        </p:tgtEl>
                                      </p:cBhvr>
                                    </p:animEffect>
                                  </p:childTnLst>
                                </p:cTn>
                              </p:par>
                            </p:childTnLst>
                          </p:cTn>
                        </p:par>
                        <p:par>
                          <p:cTn id="13" fill="hold">
                            <p:stCondLst>
                              <p:cond delay="500"/>
                            </p:stCondLst>
                            <p:childTnLst>
                              <p:par>
                                <p:cTn id="14" presetID="22" presetClass="entr" presetSubtype="8" fill="hold" nodeType="afterEffect">
                                  <p:stCondLst>
                                    <p:cond delay="0"/>
                                  </p:stCondLst>
                                  <p:childTnLst>
                                    <p:set>
                                      <p:cBhvr>
                                        <p:cTn id="15" dur="1" fill="hold">
                                          <p:stCondLst>
                                            <p:cond delay="0"/>
                                          </p:stCondLst>
                                        </p:cTn>
                                        <p:tgtEl>
                                          <p:spTgt spid="516105"/>
                                        </p:tgtEl>
                                        <p:attrNameLst>
                                          <p:attrName>style.visibility</p:attrName>
                                        </p:attrNameLst>
                                      </p:cBhvr>
                                      <p:to>
                                        <p:strVal val="visible"/>
                                      </p:to>
                                    </p:set>
                                    <p:animEffect transition="in" filter="wipe(left)">
                                      <p:cBhvr>
                                        <p:cTn id="16" dur="500"/>
                                        <p:tgtEl>
                                          <p:spTgt spid="516105"/>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516102">
                                            <p:txEl>
                                              <p:pRg st="0" end="0"/>
                                            </p:txEl>
                                          </p:spTgt>
                                        </p:tgtEl>
                                        <p:attrNameLst>
                                          <p:attrName>style.visibility</p:attrName>
                                        </p:attrNameLst>
                                      </p:cBhvr>
                                      <p:to>
                                        <p:strVal val="visible"/>
                                      </p:to>
                                    </p:set>
                                    <p:animEffect transition="in" filter="wipe(left)">
                                      <p:cBhvr>
                                        <p:cTn id="21" dur="2000"/>
                                        <p:tgtEl>
                                          <p:spTgt spid="516102">
                                            <p:txEl>
                                              <p:pRg st="0" end="0"/>
                                            </p:txEl>
                                          </p:spTgt>
                                        </p:tgtEl>
                                      </p:cBhvr>
                                    </p:animEffect>
                                  </p:childTnLst>
                                </p:cTn>
                              </p:par>
                            </p:childTnLst>
                          </p:cTn>
                        </p:par>
                        <p:par>
                          <p:cTn id="22" fill="hold">
                            <p:stCondLst>
                              <p:cond delay="2000"/>
                            </p:stCondLst>
                            <p:childTnLst>
                              <p:par>
                                <p:cTn id="23" presetID="2" presetClass="entr" presetSubtype="4" fill="hold" grpId="0" nodeType="afterEffect">
                                  <p:stCondLst>
                                    <p:cond delay="0"/>
                                  </p:stCondLst>
                                  <p:childTnLst>
                                    <p:set>
                                      <p:cBhvr>
                                        <p:cTn id="24" dur="1" fill="hold">
                                          <p:stCondLst>
                                            <p:cond delay="0"/>
                                          </p:stCondLst>
                                        </p:cTn>
                                        <p:tgtEl>
                                          <p:spTgt spid="26"/>
                                        </p:tgtEl>
                                        <p:attrNameLst>
                                          <p:attrName>style.visibility</p:attrName>
                                        </p:attrNameLst>
                                      </p:cBhvr>
                                      <p:to>
                                        <p:strVal val="visible"/>
                                      </p:to>
                                    </p:set>
                                    <p:anim calcmode="lin" valueType="num">
                                      <p:cBhvr additive="base">
                                        <p:cTn id="25" dur="500" fill="hold"/>
                                        <p:tgtEl>
                                          <p:spTgt spid="26"/>
                                        </p:tgtEl>
                                        <p:attrNameLst>
                                          <p:attrName>ppt_x</p:attrName>
                                        </p:attrNameLst>
                                      </p:cBhvr>
                                      <p:tavLst>
                                        <p:tav tm="0">
                                          <p:val>
                                            <p:strVal val="#ppt_x"/>
                                          </p:val>
                                        </p:tav>
                                        <p:tav tm="100000">
                                          <p:val>
                                            <p:strVal val="#ppt_x"/>
                                          </p:val>
                                        </p:tav>
                                      </p:tavLst>
                                    </p:anim>
                                    <p:anim calcmode="lin" valueType="num">
                                      <p:cBhvr additive="base">
                                        <p:cTn id="26" dur="500" fill="hold"/>
                                        <p:tgtEl>
                                          <p:spTgt spid="26"/>
                                        </p:tgtEl>
                                        <p:attrNameLst>
                                          <p:attrName>ppt_y</p:attrName>
                                        </p:attrNameLst>
                                      </p:cBhvr>
                                      <p:tavLst>
                                        <p:tav tm="0">
                                          <p:val>
                                            <p:strVal val="1+#ppt_h/2"/>
                                          </p:val>
                                        </p:tav>
                                        <p:tav tm="100000">
                                          <p:val>
                                            <p:strVal val="#ppt_y"/>
                                          </p:val>
                                        </p:tav>
                                      </p:tavLst>
                                    </p:anim>
                                  </p:childTnLst>
                                </p:cTn>
                              </p:par>
                            </p:childTnLst>
                          </p:cTn>
                        </p:par>
                        <p:par>
                          <p:cTn id="27" fill="hold">
                            <p:stCondLst>
                              <p:cond delay="2500"/>
                            </p:stCondLst>
                            <p:childTnLst>
                              <p:par>
                                <p:cTn id="28" presetID="16" presetClass="entr" presetSubtype="26" fill="hold" nodeType="afterEffect">
                                  <p:stCondLst>
                                    <p:cond delay="0"/>
                                  </p:stCondLst>
                                  <p:childTnLst>
                                    <p:set>
                                      <p:cBhvr>
                                        <p:cTn id="29" dur="1" fill="hold">
                                          <p:stCondLst>
                                            <p:cond delay="0"/>
                                          </p:stCondLst>
                                        </p:cTn>
                                        <p:tgtEl>
                                          <p:spTgt spid="3"/>
                                        </p:tgtEl>
                                        <p:attrNameLst>
                                          <p:attrName>style.visibility</p:attrName>
                                        </p:attrNameLst>
                                      </p:cBhvr>
                                      <p:to>
                                        <p:strVal val="visible"/>
                                      </p:to>
                                    </p:set>
                                    <p:animEffect transition="in" filter="barn(inHorizontal)">
                                      <p:cBhvr>
                                        <p:cTn id="30" dur="500"/>
                                        <p:tgtEl>
                                          <p:spTgt spid="3"/>
                                        </p:tgtEl>
                                      </p:cBhvr>
                                    </p:animEffect>
                                  </p:childTnLst>
                                </p:cTn>
                              </p:par>
                            </p:childTnLst>
                          </p:cTn>
                        </p:par>
                        <p:par>
                          <p:cTn id="31" fill="hold">
                            <p:stCondLst>
                              <p:cond delay="3000"/>
                            </p:stCondLst>
                            <p:childTnLst>
                              <p:par>
                                <p:cTn id="32" presetID="2" presetClass="entr" presetSubtype="4" fill="hold" grpId="0" nodeType="afterEffect">
                                  <p:stCondLst>
                                    <p:cond delay="0"/>
                                  </p:stCondLst>
                                  <p:childTnLst>
                                    <p:set>
                                      <p:cBhvr>
                                        <p:cTn id="33" dur="1" fill="hold">
                                          <p:stCondLst>
                                            <p:cond delay="0"/>
                                          </p:stCondLst>
                                        </p:cTn>
                                        <p:tgtEl>
                                          <p:spTgt spid="6"/>
                                        </p:tgtEl>
                                        <p:attrNameLst>
                                          <p:attrName>style.visibility</p:attrName>
                                        </p:attrNameLst>
                                      </p:cBhvr>
                                      <p:to>
                                        <p:strVal val="visible"/>
                                      </p:to>
                                    </p:set>
                                    <p:anim calcmode="lin" valueType="num">
                                      <p:cBhvr additive="base">
                                        <p:cTn id="34" dur="500" fill="hold"/>
                                        <p:tgtEl>
                                          <p:spTgt spid="6"/>
                                        </p:tgtEl>
                                        <p:attrNameLst>
                                          <p:attrName>ppt_x</p:attrName>
                                        </p:attrNameLst>
                                      </p:cBhvr>
                                      <p:tavLst>
                                        <p:tav tm="0">
                                          <p:val>
                                            <p:strVal val="#ppt_x"/>
                                          </p:val>
                                        </p:tav>
                                        <p:tav tm="100000">
                                          <p:val>
                                            <p:strVal val="#ppt_x"/>
                                          </p:val>
                                        </p:tav>
                                      </p:tavLst>
                                    </p:anim>
                                    <p:anim calcmode="lin" valueType="num">
                                      <p:cBhvr additive="base">
                                        <p:cTn id="35"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516104"/>
                                        </p:tgtEl>
                                        <p:attrNameLst>
                                          <p:attrName>style.visibility</p:attrName>
                                        </p:attrNameLst>
                                      </p:cBhvr>
                                      <p:to>
                                        <p:strVal val="visible"/>
                                      </p:to>
                                    </p:set>
                                    <p:animEffect transition="in" filter="wipe(left)">
                                      <p:cBhvr>
                                        <p:cTn id="40" dur="500"/>
                                        <p:tgtEl>
                                          <p:spTgt spid="5161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6101" grpId="0" build="p" autoUpdateAnimBg="0"/>
      <p:bldP spid="516102" grpId="0" build="p" autoUpdateAnimBg="0"/>
      <p:bldP spid="516104" grpId="0"/>
      <p:bldP spid="26" grpId="0"/>
      <p:bldP spid="6" grpId="0"/>
    </p:bldLst>
  </p:timing>
</p:sld>
</file>

<file path=ppt/slides/slide4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8066" name="灯片编号占位符 5"/>
          <p:cNvSpPr>
            <a:spLocks noGrp="1"/>
          </p:cNvSpPr>
          <p:nvPr>
            <p:ph type="sldNum" sz="quarter" idx="4294967295"/>
          </p:nvPr>
        </p:nvSpPr>
        <p:spPr>
          <a:noFill/>
        </p:spPr>
        <p:txBody>
          <a:bodyPr/>
          <a:lstStyle/>
          <a:p>
            <a:r>
              <a:rPr lang="en-US" altLang="zh-CN">
                <a:ea typeface="宋体" pitchFamily="2" charset="-122"/>
              </a:rPr>
              <a:t>8--</a:t>
            </a:r>
            <a:fld id="{34DAF003-9D96-4A13-A614-C29A2E24685B}" type="slidenum">
              <a:rPr lang="en-US" altLang="zh-CN" smtClean="0">
                <a:ea typeface="宋体" pitchFamily="2" charset="-122"/>
              </a:rPr>
              <a:pPr/>
              <a:t>45</a:t>
            </a:fld>
            <a:endParaRPr lang="en-US" altLang="zh-CN">
              <a:ea typeface="宋体" pitchFamily="2" charset="-122"/>
            </a:endParaRPr>
          </a:p>
        </p:txBody>
      </p:sp>
      <p:sp>
        <p:nvSpPr>
          <p:cNvPr id="88067" name="Rectangle 1026"/>
          <p:cNvSpPr>
            <a:spLocks noGrp="1" noChangeArrowheads="1"/>
          </p:cNvSpPr>
          <p:nvPr>
            <p:ph type="title"/>
          </p:nvPr>
        </p:nvSpPr>
        <p:spPr>
          <a:xfrm>
            <a:off x="3105150" y="441226"/>
            <a:ext cx="5403850" cy="971550"/>
          </a:xfrm>
          <a:noFill/>
        </p:spPr>
        <p:txBody>
          <a:bodyPr vert="horz" lIns="90488" tIns="44450" rIns="90488" bIns="44450" rtlCol="0" anchor="ctr" anchorCtr="1">
            <a:normAutofit/>
          </a:bodyPr>
          <a:lstStyle/>
          <a:p>
            <a:pPr eaLnBrk="1" hangingPunct="1"/>
            <a:r>
              <a:rPr lang="zh-CN" altLang="en-US" sz="4000" dirty="0"/>
              <a:t>单侧检验（例</a:t>
            </a:r>
            <a:r>
              <a:rPr lang="en-US" altLang="zh-CN" sz="4000" dirty="0"/>
              <a:t>+</a:t>
            </a:r>
            <a:r>
              <a:rPr lang="zh-CN" altLang="en-US" sz="4000" dirty="0"/>
              <a:t>）</a:t>
            </a:r>
            <a:endParaRPr lang="zh-CN" altLang="en-US" sz="3600" dirty="0">
              <a:solidFill>
                <a:schemeClr val="hlink"/>
              </a:solidFill>
            </a:endParaRPr>
          </a:p>
        </p:txBody>
      </p:sp>
      <p:sp>
        <p:nvSpPr>
          <p:cNvPr id="88068" name="Rectangle 1027"/>
          <p:cNvSpPr>
            <a:spLocks noGrp="1" noChangeArrowheads="1"/>
          </p:cNvSpPr>
          <p:nvPr>
            <p:ph type="body" idx="1"/>
          </p:nvPr>
        </p:nvSpPr>
        <p:spPr>
          <a:xfrm>
            <a:off x="1847528" y="1556792"/>
            <a:ext cx="7812360" cy="4679950"/>
          </a:xfrm>
          <a:noFill/>
        </p:spPr>
        <p:txBody>
          <a:bodyPr vert="horz" lIns="90488" tIns="44450" rIns="90488" bIns="44450" rtlCol="0">
            <a:normAutofit/>
          </a:bodyPr>
          <a:lstStyle/>
          <a:p>
            <a:pPr marL="0" indent="0">
              <a:lnSpc>
                <a:spcPct val="150000"/>
              </a:lnSpc>
              <a:buNone/>
            </a:pPr>
            <a:r>
              <a:rPr lang="en-US" altLang="zh-CN" dirty="0">
                <a:solidFill>
                  <a:srgbClr val="3333FF"/>
                </a:solidFill>
              </a:rPr>
              <a:t>    【</a:t>
            </a:r>
            <a:r>
              <a:rPr lang="zh-CN" altLang="en-US" dirty="0">
                <a:solidFill>
                  <a:srgbClr val="3333FF"/>
                </a:solidFill>
              </a:rPr>
              <a:t>例</a:t>
            </a:r>
            <a:r>
              <a:rPr lang="en-US" altLang="zh-CN" dirty="0">
                <a:solidFill>
                  <a:srgbClr val="3333FF"/>
                </a:solidFill>
              </a:rPr>
              <a:t>+】</a:t>
            </a:r>
            <a:r>
              <a:rPr lang="zh-CN" altLang="en-US" dirty="0">
                <a:solidFill>
                  <a:srgbClr val="000000"/>
                </a:solidFill>
              </a:rPr>
              <a:t>根据过去大量资料，某厂产品的使用寿命</a:t>
            </a:r>
            <a:r>
              <a:rPr lang="en-US" altLang="zh-CN" i="1" dirty="0">
                <a:solidFill>
                  <a:srgbClr val="000000"/>
                </a:solidFill>
              </a:rPr>
              <a:t>X</a:t>
            </a:r>
            <a:r>
              <a:rPr lang="zh-CN" altLang="en-US" i="1" dirty="0">
                <a:solidFill>
                  <a:srgbClr val="000000"/>
                </a:solidFill>
              </a:rPr>
              <a:t>～</a:t>
            </a:r>
            <a:r>
              <a:rPr lang="en-US" altLang="zh-CN" i="1" dirty="0">
                <a:solidFill>
                  <a:srgbClr val="000000"/>
                </a:solidFill>
              </a:rPr>
              <a:t>N</a:t>
            </a:r>
            <a:r>
              <a:rPr lang="zh-CN" altLang="en-US" dirty="0">
                <a:solidFill>
                  <a:srgbClr val="000000"/>
                </a:solidFill>
              </a:rPr>
              <a:t>（</a:t>
            </a:r>
            <a:r>
              <a:rPr lang="en-US" altLang="zh-CN" dirty="0">
                <a:solidFill>
                  <a:srgbClr val="000000"/>
                </a:solidFill>
              </a:rPr>
              <a:t>1020,100</a:t>
            </a:r>
            <a:r>
              <a:rPr lang="en-US" altLang="zh-CN" baseline="30000" dirty="0">
                <a:solidFill>
                  <a:srgbClr val="000000"/>
                </a:solidFill>
              </a:rPr>
              <a:t>2</a:t>
            </a:r>
            <a:r>
              <a:rPr lang="zh-CN" altLang="en-US" dirty="0">
                <a:solidFill>
                  <a:srgbClr val="000000"/>
                </a:solidFill>
              </a:rPr>
              <a:t>）。现从该厂最近生产的一批产品中随机抽取</a:t>
            </a:r>
            <a:r>
              <a:rPr lang="en-US" altLang="zh-CN" dirty="0">
                <a:solidFill>
                  <a:srgbClr val="000000"/>
                </a:solidFill>
              </a:rPr>
              <a:t>16</a:t>
            </a:r>
            <a:r>
              <a:rPr lang="zh-CN" altLang="en-US" dirty="0">
                <a:solidFill>
                  <a:srgbClr val="000000"/>
                </a:solidFill>
              </a:rPr>
              <a:t>件，测得样本平均寿命为</a:t>
            </a:r>
            <a:r>
              <a:rPr lang="en-US" altLang="zh-CN" dirty="0">
                <a:solidFill>
                  <a:srgbClr val="000000"/>
                </a:solidFill>
              </a:rPr>
              <a:t>1080</a:t>
            </a:r>
            <a:r>
              <a:rPr lang="zh-CN" altLang="en-US" dirty="0">
                <a:solidFill>
                  <a:srgbClr val="000000"/>
                </a:solidFill>
              </a:rPr>
              <a:t>小时。试在</a:t>
            </a:r>
            <a:r>
              <a:rPr lang="en-US" altLang="zh-CN" dirty="0">
                <a:solidFill>
                  <a:srgbClr val="000000"/>
                </a:solidFill>
              </a:rPr>
              <a:t>0.05</a:t>
            </a:r>
            <a:r>
              <a:rPr lang="zh-CN" altLang="en-US" dirty="0">
                <a:solidFill>
                  <a:srgbClr val="000000"/>
                </a:solidFill>
              </a:rPr>
              <a:t>的显著性水平下判断这批产品的使用寿命是否有显著提高</a:t>
            </a:r>
            <a:r>
              <a:rPr lang="en-US" altLang="zh-CN" b="0" dirty="0">
                <a:solidFill>
                  <a:srgbClr val="000000"/>
                </a:solidFill>
              </a:rPr>
              <a:t>?</a:t>
            </a:r>
            <a:r>
              <a:rPr lang="en-US" altLang="zh-CN" dirty="0">
                <a:solidFill>
                  <a:srgbClr val="000000"/>
                </a:solidFill>
              </a:rPr>
              <a:t> </a:t>
            </a:r>
            <a:endParaRPr lang="en-US" altLang="zh-CN" sz="2800" dirty="0">
              <a:solidFill>
                <a:srgbClr val="000000"/>
              </a:solidFill>
            </a:endParaRPr>
          </a:p>
        </p:txBody>
      </p:sp>
      <p:pic>
        <p:nvPicPr>
          <p:cNvPr id="88069" name="Picture 4" descr="J0195812"/>
          <p:cNvPicPr>
            <a:picLocks noChangeAspect="1" noChangeArrowheads="1"/>
          </p:cNvPicPr>
          <p:nvPr/>
        </p:nvPicPr>
        <p:blipFill>
          <a:blip r:embed="rId3" cstate="print"/>
          <a:srcRect/>
          <a:stretch>
            <a:fillRect/>
          </a:stretch>
        </p:blipFill>
        <p:spPr bwMode="auto">
          <a:xfrm>
            <a:off x="9264352" y="5023178"/>
            <a:ext cx="1368152" cy="1862206"/>
          </a:xfrm>
          <a:prstGeom prst="rect">
            <a:avLst/>
          </a:prstGeom>
          <a:noFill/>
          <a:ln w="9525">
            <a:noFill/>
            <a:miter lim="800000"/>
            <a:headEnd/>
            <a:tailEnd/>
          </a:ln>
        </p:spPr>
      </p:pic>
    </p:spTree>
    <p:extLst>
      <p:ext uri="{BB962C8B-B14F-4D97-AF65-F5344CB8AC3E}">
        <p14:creationId xmlns:p14="http://schemas.microsoft.com/office/powerpoint/2010/main" val="274210007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389" name="灯片编号占位符 7"/>
          <p:cNvSpPr>
            <a:spLocks noGrp="1"/>
          </p:cNvSpPr>
          <p:nvPr>
            <p:ph type="sldNum" sz="quarter" idx="10"/>
          </p:nvPr>
        </p:nvSpPr>
        <p:spPr>
          <a:noFill/>
        </p:spPr>
        <p:txBody>
          <a:bodyPr/>
          <a:lstStyle/>
          <a:p>
            <a:r>
              <a:rPr lang="en-US" altLang="zh-CN">
                <a:ea typeface="宋体" pitchFamily="2" charset="-122"/>
              </a:rPr>
              <a:t>8--</a:t>
            </a:r>
            <a:fld id="{DC8A1757-B0B1-419E-BEBE-BD558AF20E47}" type="slidenum">
              <a:rPr lang="en-US" altLang="zh-CN" smtClean="0">
                <a:ea typeface="宋体" pitchFamily="2" charset="-122"/>
              </a:rPr>
              <a:pPr/>
              <a:t>46</a:t>
            </a:fld>
            <a:endParaRPr lang="en-US" altLang="zh-CN">
              <a:ea typeface="宋体" pitchFamily="2" charset="-122"/>
            </a:endParaRPr>
          </a:p>
        </p:txBody>
      </p:sp>
      <p:sp>
        <p:nvSpPr>
          <p:cNvPr id="16390" name="Rectangle 2"/>
          <p:cNvSpPr>
            <a:spLocks noGrp="1" noChangeArrowheads="1"/>
          </p:cNvSpPr>
          <p:nvPr>
            <p:ph type="title" idx="4294967295"/>
          </p:nvPr>
        </p:nvSpPr>
        <p:spPr>
          <a:xfrm>
            <a:off x="744538" y="48420"/>
            <a:ext cx="7772400" cy="990600"/>
          </a:xfrm>
          <a:noFill/>
        </p:spPr>
        <p:txBody>
          <a:bodyPr vert="horz" lIns="90488" tIns="44450" rIns="90488" bIns="44450" rtlCol="0" anchor="ctr" anchorCtr="1">
            <a:normAutofit/>
          </a:bodyPr>
          <a:lstStyle/>
          <a:p>
            <a:pPr eaLnBrk="1" hangingPunct="1"/>
            <a:r>
              <a:rPr lang="zh-CN" altLang="en-US" sz="4000" dirty="0"/>
              <a:t>（</a:t>
            </a:r>
            <a:r>
              <a:rPr lang="zh-CN" altLang="en-US" sz="3600" dirty="0"/>
              <a:t>检验过程）</a:t>
            </a:r>
          </a:p>
        </p:txBody>
      </p:sp>
      <p:sp>
        <p:nvSpPr>
          <p:cNvPr id="16391" name="Rectangle 3"/>
          <p:cNvSpPr>
            <a:spLocks noGrp="1" noChangeArrowheads="1"/>
          </p:cNvSpPr>
          <p:nvPr>
            <p:ph type="body" sz="half" idx="4294967295"/>
          </p:nvPr>
        </p:nvSpPr>
        <p:spPr>
          <a:xfrm>
            <a:off x="1987550" y="1073944"/>
            <a:ext cx="7913687" cy="1257300"/>
          </a:xfrm>
          <a:noFill/>
        </p:spPr>
        <p:txBody>
          <a:bodyPr vert="horz" lIns="90488" tIns="44450" rIns="90488" bIns="44450" rtlCol="0">
            <a:normAutofit/>
          </a:bodyPr>
          <a:lstStyle/>
          <a:p>
            <a:pPr marL="0" indent="0"/>
            <a:r>
              <a:rPr lang="en-US" altLang="zh-CN" sz="2800" dirty="0">
                <a:solidFill>
                  <a:srgbClr val="FF00FF"/>
                </a:solidFill>
              </a:rPr>
              <a:t>H</a:t>
            </a:r>
            <a:r>
              <a:rPr lang="en-US" altLang="zh-CN" sz="2000" dirty="0">
                <a:solidFill>
                  <a:srgbClr val="FF00FF"/>
                </a:solidFill>
              </a:rPr>
              <a:t>0</a:t>
            </a:r>
            <a:r>
              <a:rPr lang="en-US" altLang="zh-CN" sz="2800" dirty="0">
                <a:solidFill>
                  <a:srgbClr val="FF00FF"/>
                </a:solidFill>
              </a:rPr>
              <a:t>:                                 </a:t>
            </a:r>
            <a:r>
              <a:rPr lang="zh-CN" altLang="en-US" sz="2800" dirty="0">
                <a:solidFill>
                  <a:schemeClr val="tx1"/>
                </a:solidFill>
              </a:rPr>
              <a:t>；</a:t>
            </a:r>
            <a:r>
              <a:rPr lang="en-US" altLang="zh-CN" sz="2800" dirty="0">
                <a:solidFill>
                  <a:srgbClr val="FF00FF"/>
                </a:solidFill>
              </a:rPr>
              <a:t>H</a:t>
            </a:r>
            <a:r>
              <a:rPr lang="en-US" altLang="zh-CN" sz="2000" dirty="0">
                <a:solidFill>
                  <a:srgbClr val="FF00FF"/>
                </a:solidFill>
              </a:rPr>
              <a:t>1</a:t>
            </a:r>
            <a:r>
              <a:rPr lang="en-US" altLang="zh-CN" sz="2800" dirty="0">
                <a:solidFill>
                  <a:srgbClr val="FF00FF"/>
                </a:solidFill>
              </a:rPr>
              <a:t>:</a:t>
            </a:r>
            <a:endParaRPr lang="en-US" altLang="zh-CN" sz="2800" dirty="0"/>
          </a:p>
          <a:p>
            <a:pPr marL="0" indent="0"/>
            <a:r>
              <a:rPr lang="en-US" altLang="zh-CN" i="1" dirty="0">
                <a:solidFill>
                  <a:srgbClr val="CC0099"/>
                </a:solidFill>
                <a:latin typeface="Times New Roman" pitchFamily="18" charset="0"/>
              </a:rPr>
              <a:t>n</a:t>
            </a:r>
            <a:r>
              <a:rPr lang="en-US" altLang="zh-CN" sz="2800" dirty="0">
                <a:solidFill>
                  <a:srgbClr val="FF00FF"/>
                </a:solidFill>
                <a:latin typeface="Times New Roman" pitchFamily="18" charset="0"/>
              </a:rPr>
              <a:t> </a:t>
            </a:r>
            <a:r>
              <a:rPr lang="en-US" altLang="zh-CN" sz="2800" dirty="0">
                <a:solidFill>
                  <a:srgbClr val="000000"/>
                </a:solidFill>
                <a:latin typeface="Times New Roman" pitchFamily="18" charset="0"/>
              </a:rPr>
              <a:t>=</a:t>
            </a:r>
            <a:r>
              <a:rPr lang="en-US" altLang="zh-CN" sz="2800" dirty="0">
                <a:solidFill>
                  <a:srgbClr val="000000"/>
                </a:solidFill>
              </a:rPr>
              <a:t> 16</a:t>
            </a:r>
            <a:r>
              <a:rPr lang="zh-CN" altLang="en-US" sz="2800" dirty="0">
                <a:solidFill>
                  <a:srgbClr val="000000"/>
                </a:solidFill>
              </a:rPr>
              <a:t>，</a:t>
            </a:r>
            <a:r>
              <a:rPr lang="zh-CN" altLang="en-US" sz="2800" dirty="0">
                <a:solidFill>
                  <a:srgbClr val="FF00FF"/>
                </a:solidFill>
              </a:rPr>
              <a:t> </a:t>
            </a:r>
            <a:r>
              <a:rPr lang="zh-CN" altLang="en-US" sz="2800" dirty="0">
                <a:solidFill>
                  <a:srgbClr val="CC0099"/>
                </a:solidFill>
                <a:latin typeface="Symbol" pitchFamily="18" charset="2"/>
              </a:rPr>
              <a:t></a:t>
            </a:r>
            <a:r>
              <a:rPr lang="zh-CN" altLang="en-US" sz="2800" dirty="0">
                <a:solidFill>
                  <a:srgbClr val="FF00FF"/>
                </a:solidFill>
              </a:rPr>
              <a:t> </a:t>
            </a:r>
            <a:r>
              <a:rPr lang="zh-CN" altLang="en-US" sz="2800" dirty="0">
                <a:solidFill>
                  <a:srgbClr val="000000"/>
                </a:solidFill>
                <a:latin typeface="Symbol" pitchFamily="18" charset="2"/>
              </a:rPr>
              <a:t></a:t>
            </a:r>
            <a:r>
              <a:rPr lang="zh-CN" altLang="en-US" sz="2800" dirty="0">
                <a:solidFill>
                  <a:srgbClr val="000000"/>
                </a:solidFill>
              </a:rPr>
              <a:t> </a:t>
            </a:r>
            <a:r>
              <a:rPr lang="en-US" altLang="zh-CN" sz="2800" dirty="0">
                <a:solidFill>
                  <a:srgbClr val="000000"/>
                </a:solidFill>
              </a:rPr>
              <a:t>0.05</a:t>
            </a:r>
            <a:r>
              <a:rPr lang="zh-CN" altLang="en-US" sz="2800" dirty="0">
                <a:solidFill>
                  <a:srgbClr val="000000"/>
                </a:solidFill>
              </a:rPr>
              <a:t>，</a:t>
            </a:r>
            <a:r>
              <a:rPr lang="en-US" altLang="zh-CN" sz="2400" i="1" dirty="0">
                <a:solidFill>
                  <a:srgbClr val="CC0099"/>
                </a:solidFill>
                <a:sym typeface="Symbol" pitchFamily="18" charset="2"/>
              </a:rPr>
              <a:t>Z</a:t>
            </a:r>
            <a:r>
              <a:rPr lang="el-GR" altLang="zh-CN" sz="2400" i="1" baseline="-25000" dirty="0">
                <a:solidFill>
                  <a:srgbClr val="CC0099"/>
                </a:solidFill>
                <a:latin typeface="宋体" pitchFamily="2" charset="-122"/>
              </a:rPr>
              <a:t>α</a:t>
            </a:r>
            <a:r>
              <a:rPr lang="en-US" altLang="zh-CN" sz="2800" dirty="0">
                <a:solidFill>
                  <a:schemeClr val="tx1"/>
                </a:solidFill>
              </a:rPr>
              <a:t>=1.645</a:t>
            </a:r>
            <a:endParaRPr lang="en-US" altLang="zh-CN" sz="2800" dirty="0"/>
          </a:p>
        </p:txBody>
      </p:sp>
      <p:graphicFrame>
        <p:nvGraphicFramePr>
          <p:cNvPr id="16386" name="Object 4"/>
          <p:cNvGraphicFramePr>
            <a:graphicFrameLocks noGrp="1" noChangeAspect="1"/>
          </p:cNvGraphicFramePr>
          <p:nvPr>
            <p:ph sz="quarter" idx="4294967295"/>
            <p:extLst>
              <p:ext uri="{D42A27DB-BD31-4B8C-83A1-F6EECF244321}">
                <p14:modId xmlns:p14="http://schemas.microsoft.com/office/powerpoint/2010/main" val="1636858857"/>
              </p:ext>
            </p:extLst>
          </p:nvPr>
        </p:nvGraphicFramePr>
        <p:xfrm>
          <a:off x="2864445" y="1066008"/>
          <a:ext cx="3529013" cy="550863"/>
        </p:xfrm>
        <a:graphic>
          <a:graphicData uri="http://schemas.openxmlformats.org/presentationml/2006/ole">
            <mc:AlternateContent xmlns:mc="http://schemas.openxmlformats.org/markup-compatibility/2006">
              <mc:Choice xmlns:v="urn:schemas-microsoft-com:vml" Requires="v">
                <p:oleObj name="公式" r:id="rId3" imgW="1384200" imgH="215640" progId="Equation.3">
                  <p:embed/>
                </p:oleObj>
              </mc:Choice>
              <mc:Fallback>
                <p:oleObj name="公式" r:id="rId3" imgW="1384200" imgH="215640" progId="Equation.3">
                  <p:embed/>
                  <p:pic>
                    <p:nvPicPr>
                      <p:cNvPr id="16386"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64445" y="1066008"/>
                        <a:ext cx="3529013" cy="5508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6387" name="Object 8"/>
          <p:cNvGraphicFramePr>
            <a:graphicFrameLocks noGrp="1" noChangeAspect="1"/>
          </p:cNvGraphicFramePr>
          <p:nvPr>
            <p:ph sz="quarter" idx="4294967295"/>
            <p:extLst>
              <p:ext uri="{D42A27DB-BD31-4B8C-83A1-F6EECF244321}">
                <p14:modId xmlns:p14="http://schemas.microsoft.com/office/powerpoint/2010/main" val="3761528680"/>
              </p:ext>
            </p:extLst>
          </p:nvPr>
        </p:nvGraphicFramePr>
        <p:xfrm>
          <a:off x="7244953" y="934244"/>
          <a:ext cx="1755775" cy="609600"/>
        </p:xfrm>
        <a:graphic>
          <a:graphicData uri="http://schemas.openxmlformats.org/presentationml/2006/ole">
            <mc:AlternateContent xmlns:mc="http://schemas.openxmlformats.org/markup-compatibility/2006">
              <mc:Choice xmlns:v="urn:schemas-microsoft-com:vml" Requires="v">
                <p:oleObj name="公式" r:id="rId5" imgW="583920" imgH="203040" progId="Equation.3">
                  <p:embed/>
                </p:oleObj>
              </mc:Choice>
              <mc:Fallback>
                <p:oleObj name="公式" r:id="rId5" imgW="583920" imgH="203040" progId="Equation.3">
                  <p:embed/>
                  <p:pic>
                    <p:nvPicPr>
                      <p:cNvPr id="16387"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244953" y="934244"/>
                        <a:ext cx="1755775" cy="609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58725" name="Rectangle 5"/>
          <p:cNvSpPr>
            <a:spLocks noChangeArrowheads="1"/>
          </p:cNvSpPr>
          <p:nvPr/>
        </p:nvSpPr>
        <p:spPr bwMode="auto">
          <a:xfrm>
            <a:off x="5016500" y="2420938"/>
            <a:ext cx="2362200" cy="425450"/>
          </a:xfrm>
          <a:prstGeom prst="rect">
            <a:avLst/>
          </a:prstGeom>
          <a:noFill/>
          <a:ln w="12700">
            <a:noFill/>
            <a:miter lim="800000"/>
            <a:headEnd/>
            <a:tailEnd/>
          </a:ln>
        </p:spPr>
        <p:txBody>
          <a:bodyPr lIns="90488" tIns="44450" rIns="90488" bIns="44450"/>
          <a:lstStyle/>
          <a:p>
            <a:pPr eaLnBrk="0" hangingPunct="0">
              <a:spcBef>
                <a:spcPct val="20000"/>
              </a:spcBef>
            </a:pPr>
            <a:r>
              <a:rPr kumimoji="1" lang="zh-CN" altLang="en-US" sz="2800" b="1">
                <a:solidFill>
                  <a:srgbClr val="FF00FF"/>
                </a:solidFill>
              </a:rPr>
              <a:t>检验统计量</a:t>
            </a:r>
            <a:r>
              <a:rPr kumimoji="1" lang="en-US" altLang="zh-CN" sz="2800" b="1">
                <a:solidFill>
                  <a:srgbClr val="FF00FF"/>
                </a:solidFill>
              </a:rPr>
              <a:t>:</a:t>
            </a:r>
          </a:p>
        </p:txBody>
      </p:sp>
      <p:sp>
        <p:nvSpPr>
          <p:cNvPr id="158726" name="Text Box 6"/>
          <p:cNvSpPr txBox="1">
            <a:spLocks noChangeArrowheads="1"/>
          </p:cNvSpPr>
          <p:nvPr/>
        </p:nvSpPr>
        <p:spPr bwMode="auto">
          <a:xfrm>
            <a:off x="5988050" y="4292601"/>
            <a:ext cx="4679950" cy="1084263"/>
          </a:xfrm>
          <a:prstGeom prst="rect">
            <a:avLst/>
          </a:prstGeom>
          <a:noFill/>
          <a:ln w="12700">
            <a:noFill/>
            <a:miter lim="800000"/>
            <a:headEnd/>
            <a:tailEnd/>
          </a:ln>
        </p:spPr>
        <p:txBody>
          <a:bodyPr>
            <a:spAutoFit/>
          </a:bodyPr>
          <a:lstStyle/>
          <a:p>
            <a:pPr eaLnBrk="0" hangingPunct="0">
              <a:spcBef>
                <a:spcPct val="50000"/>
              </a:spcBef>
            </a:pPr>
            <a:r>
              <a:rPr kumimoji="1" lang="en-US" altLang="zh-CN" sz="2600" b="1" i="1">
                <a:solidFill>
                  <a:srgbClr val="3333FF"/>
                </a:solidFill>
                <a:latin typeface="Times New Roman" pitchFamily="18" charset="0"/>
              </a:rPr>
              <a:t>P</a:t>
            </a:r>
            <a:r>
              <a:rPr kumimoji="1" lang="zh-CN" altLang="en-US" sz="2600" b="1">
                <a:solidFill>
                  <a:srgbClr val="3333FF"/>
                </a:solidFill>
              </a:rPr>
              <a:t>值</a:t>
            </a:r>
            <a:r>
              <a:rPr kumimoji="1" lang="zh-CN" altLang="en-US" sz="2600" b="1"/>
              <a:t>＝</a:t>
            </a:r>
            <a:r>
              <a:rPr kumimoji="1" lang="en-US" altLang="zh-CN" sz="2600" b="1" i="1"/>
              <a:t>P</a:t>
            </a:r>
            <a:r>
              <a:rPr kumimoji="1" lang="en-US" altLang="zh-CN" sz="2600" b="1"/>
              <a:t>(Z≥2.4)=1</a:t>
            </a:r>
            <a:r>
              <a:rPr kumimoji="1" lang="en-US" altLang="zh-CN" sz="2600" b="1">
                <a:latin typeface="Tahoma" pitchFamily="34" charset="0"/>
              </a:rPr>
              <a:t>-</a:t>
            </a:r>
            <a:r>
              <a:rPr kumimoji="1" lang="en-US" altLang="zh-CN" sz="2600" b="1" i="1"/>
              <a:t>P</a:t>
            </a:r>
            <a:r>
              <a:rPr kumimoji="1" lang="en-US" altLang="zh-CN" sz="2600" b="1"/>
              <a:t>(</a:t>
            </a:r>
            <a:r>
              <a:rPr kumimoji="1" lang="en-US" altLang="zh-CN" sz="2600" b="1" i="1"/>
              <a:t>Z</a:t>
            </a:r>
            <a:r>
              <a:rPr kumimoji="1" lang="en-US" altLang="zh-CN" sz="2600" b="1"/>
              <a:t>≤2.4)</a:t>
            </a:r>
          </a:p>
          <a:p>
            <a:pPr eaLnBrk="0" hangingPunct="0">
              <a:spcBef>
                <a:spcPct val="50000"/>
              </a:spcBef>
            </a:pPr>
            <a:r>
              <a:rPr kumimoji="1" lang="zh-CN" altLang="en-US" sz="2600" b="1"/>
              <a:t>＝</a:t>
            </a:r>
            <a:r>
              <a:rPr kumimoji="1" lang="en-US" altLang="zh-CN" sz="2600" b="1"/>
              <a:t>1- 0.991802</a:t>
            </a:r>
            <a:r>
              <a:rPr kumimoji="1" lang="zh-CN" altLang="en-US" sz="2600" b="1"/>
              <a:t>＝</a:t>
            </a:r>
            <a:r>
              <a:rPr kumimoji="1" lang="en-US" altLang="zh-CN" sz="2600" b="1"/>
              <a:t>0.008198</a:t>
            </a:r>
          </a:p>
        </p:txBody>
      </p:sp>
      <p:grpSp>
        <p:nvGrpSpPr>
          <p:cNvPr id="2" name="Group 33"/>
          <p:cNvGrpSpPr>
            <a:grpSpLocks/>
          </p:cNvGrpSpPr>
          <p:nvPr/>
        </p:nvGrpSpPr>
        <p:grpSpPr bwMode="auto">
          <a:xfrm>
            <a:off x="1524000" y="2205039"/>
            <a:ext cx="3600450" cy="2251075"/>
            <a:chOff x="204" y="1888"/>
            <a:chExt cx="2268" cy="1418"/>
          </a:xfrm>
        </p:grpSpPr>
        <p:sp>
          <p:nvSpPr>
            <p:cNvPr id="158730" name="Line 10"/>
            <p:cNvSpPr>
              <a:spLocks noChangeShapeType="1"/>
            </p:cNvSpPr>
            <p:nvPr/>
          </p:nvSpPr>
          <p:spPr bwMode="auto">
            <a:xfrm>
              <a:off x="204" y="2977"/>
              <a:ext cx="2268" cy="0"/>
            </a:xfrm>
            <a:prstGeom prst="line">
              <a:avLst/>
            </a:prstGeom>
            <a:noFill/>
            <a:ln w="57150">
              <a:solidFill>
                <a:schemeClr val="tx1"/>
              </a:solidFill>
              <a:miter lim="800000"/>
              <a:headEnd/>
              <a:tailEnd type="triangle" w="med" len="med"/>
            </a:ln>
            <a:effectLst>
              <a:outerShdw dist="35921" dir="2700000" algn="ctr" rotWithShape="0">
                <a:srgbClr val="808080"/>
              </a:outerShdw>
            </a:effectLst>
          </p:spPr>
          <p:txBody>
            <a:bodyPr wrap="none"/>
            <a:lstStyle/>
            <a:p>
              <a:pPr>
                <a:defRPr/>
              </a:pPr>
              <a:endParaRPr lang="zh-CN" altLang="en-US">
                <a:latin typeface="Arial" charset="0"/>
                <a:ea typeface="宋体" charset="-122"/>
              </a:endParaRPr>
            </a:p>
          </p:txBody>
        </p:sp>
        <p:sp>
          <p:nvSpPr>
            <p:cNvPr id="158731" name="Rectangle 11"/>
            <p:cNvSpPr>
              <a:spLocks noChangeArrowheads="1"/>
            </p:cNvSpPr>
            <p:nvPr/>
          </p:nvSpPr>
          <p:spPr bwMode="auto">
            <a:xfrm>
              <a:off x="1837" y="2341"/>
              <a:ext cx="324" cy="192"/>
            </a:xfrm>
            <a:prstGeom prst="rect">
              <a:avLst/>
            </a:prstGeom>
            <a:solidFill>
              <a:srgbClr val="FFC000"/>
            </a:solidFill>
            <a:ln w="9525">
              <a:noFill/>
              <a:miter lim="800000"/>
              <a:headEnd/>
              <a:tailEnd/>
            </a:ln>
            <a:effectLst>
              <a:outerShdw dist="17961" dir="2700000" algn="ctr" rotWithShape="0">
                <a:schemeClr val="bg2"/>
              </a:outerShdw>
            </a:effectLst>
          </p:spPr>
          <p:txBody>
            <a:bodyPr wrap="none" lIns="0" tIns="0" rIns="0" bIns="0">
              <a:spAutoFit/>
            </a:bodyPr>
            <a:lstStyle/>
            <a:p>
              <a:pPr eaLnBrk="0" hangingPunct="0">
                <a:defRPr/>
              </a:pPr>
              <a:r>
                <a:rPr kumimoji="1" lang="en-US" altLang="zh-CN" sz="2000" b="1" dirty="0">
                  <a:latin typeface="Symbol" pitchFamily="18" charset="2"/>
                  <a:ea typeface="宋体" charset="-122"/>
                </a:rPr>
                <a:t>0.05</a:t>
              </a:r>
              <a:r>
                <a:rPr kumimoji="1" lang="en-US" altLang="zh-CN" sz="2000" b="1" dirty="0">
                  <a:latin typeface="Arial" charset="0"/>
                  <a:ea typeface="宋体" charset="-122"/>
                </a:rPr>
                <a:t> </a:t>
              </a:r>
            </a:p>
          </p:txBody>
        </p:sp>
        <p:sp>
          <p:nvSpPr>
            <p:cNvPr id="158735" name="Line 15"/>
            <p:cNvSpPr>
              <a:spLocks noChangeShapeType="1"/>
            </p:cNvSpPr>
            <p:nvPr/>
          </p:nvSpPr>
          <p:spPr bwMode="auto">
            <a:xfrm>
              <a:off x="1769" y="2987"/>
              <a:ext cx="0" cy="140"/>
            </a:xfrm>
            <a:prstGeom prst="line">
              <a:avLst/>
            </a:prstGeom>
            <a:noFill/>
            <a:ln w="28575">
              <a:solidFill>
                <a:srgbClr val="CC3399"/>
              </a:solidFill>
              <a:round/>
              <a:headEnd type="triangle" w="med" len="med"/>
              <a:tailEnd/>
            </a:ln>
            <a:effectLst>
              <a:outerShdw dist="12700" algn="ctr" rotWithShape="0">
                <a:schemeClr val="bg2"/>
              </a:outerShdw>
            </a:effectLst>
          </p:spPr>
          <p:txBody>
            <a:bodyPr wrap="none" anchor="ctr"/>
            <a:lstStyle/>
            <a:p>
              <a:pPr>
                <a:defRPr/>
              </a:pPr>
              <a:endParaRPr lang="zh-CN" altLang="en-US">
                <a:latin typeface="Arial" charset="0"/>
                <a:ea typeface="宋体" charset="-122"/>
              </a:endParaRPr>
            </a:p>
          </p:txBody>
        </p:sp>
        <p:sp>
          <p:nvSpPr>
            <p:cNvPr id="158736" name="Freeform 16"/>
            <p:cNvSpPr>
              <a:spLocks/>
            </p:cNvSpPr>
            <p:nvPr/>
          </p:nvSpPr>
          <p:spPr bwMode="auto">
            <a:xfrm>
              <a:off x="1254" y="1888"/>
              <a:ext cx="1103" cy="1050"/>
            </a:xfrm>
            <a:custGeom>
              <a:avLst/>
              <a:gdLst/>
              <a:ahLst/>
              <a:cxnLst>
                <a:cxn ang="0">
                  <a:pos x="1942" y="1430"/>
                </a:cxn>
                <a:cxn ang="0">
                  <a:pos x="1737" y="1412"/>
                </a:cxn>
                <a:cxn ang="0">
                  <a:pos x="1636" y="1396"/>
                </a:cxn>
                <a:cxn ang="0">
                  <a:pos x="1532" y="1373"/>
                </a:cxn>
                <a:cxn ang="0">
                  <a:pos x="1431" y="1342"/>
                </a:cxn>
                <a:cxn ang="0">
                  <a:pos x="1328" y="1298"/>
                </a:cxn>
                <a:cxn ang="0">
                  <a:pos x="1227" y="1238"/>
                </a:cxn>
                <a:cxn ang="0">
                  <a:pos x="1022" y="1073"/>
                </a:cxn>
                <a:cxn ang="0">
                  <a:pos x="818" y="838"/>
                </a:cxn>
                <a:cxn ang="0">
                  <a:pos x="613" y="559"/>
                </a:cxn>
                <a:cxn ang="0">
                  <a:pos x="512" y="416"/>
                </a:cxn>
                <a:cxn ang="0">
                  <a:pos x="409" y="282"/>
                </a:cxn>
                <a:cxn ang="0">
                  <a:pos x="308" y="166"/>
                </a:cxn>
                <a:cxn ang="0">
                  <a:pos x="204" y="78"/>
                </a:cxn>
                <a:cxn ang="0">
                  <a:pos x="103" y="21"/>
                </a:cxn>
                <a:cxn ang="0">
                  <a:pos x="0" y="0"/>
                </a:cxn>
              </a:cxnLst>
              <a:rect l="0" t="0" r="r" b="b"/>
              <a:pathLst>
                <a:path w="1942" h="1430">
                  <a:moveTo>
                    <a:pt x="1942" y="1430"/>
                  </a:moveTo>
                  <a:lnTo>
                    <a:pt x="1737" y="1412"/>
                  </a:lnTo>
                  <a:lnTo>
                    <a:pt x="1636" y="1396"/>
                  </a:lnTo>
                  <a:lnTo>
                    <a:pt x="1532" y="1373"/>
                  </a:lnTo>
                  <a:lnTo>
                    <a:pt x="1431" y="1342"/>
                  </a:lnTo>
                  <a:lnTo>
                    <a:pt x="1328" y="1298"/>
                  </a:lnTo>
                  <a:lnTo>
                    <a:pt x="1227" y="1238"/>
                  </a:lnTo>
                  <a:lnTo>
                    <a:pt x="1022" y="1073"/>
                  </a:lnTo>
                  <a:lnTo>
                    <a:pt x="818" y="838"/>
                  </a:lnTo>
                  <a:lnTo>
                    <a:pt x="613" y="559"/>
                  </a:lnTo>
                  <a:lnTo>
                    <a:pt x="512" y="416"/>
                  </a:lnTo>
                  <a:lnTo>
                    <a:pt x="409" y="282"/>
                  </a:lnTo>
                  <a:lnTo>
                    <a:pt x="308" y="166"/>
                  </a:lnTo>
                  <a:lnTo>
                    <a:pt x="204" y="78"/>
                  </a:lnTo>
                  <a:lnTo>
                    <a:pt x="103" y="21"/>
                  </a:lnTo>
                  <a:lnTo>
                    <a:pt x="0" y="0"/>
                  </a:lnTo>
                </a:path>
              </a:pathLst>
            </a:custGeom>
            <a:noFill/>
            <a:ln w="76200" cmpd="sng">
              <a:solidFill>
                <a:srgbClr val="002060"/>
              </a:solidFill>
              <a:prstDash val="solid"/>
              <a:round/>
              <a:headEnd/>
              <a:tailEnd/>
            </a:ln>
            <a:effectLst>
              <a:outerShdw dist="38100" dir="5400000" algn="ctr" rotWithShape="0">
                <a:schemeClr val="bg2"/>
              </a:outerShdw>
            </a:effectLst>
          </p:spPr>
          <p:txBody>
            <a:bodyPr/>
            <a:lstStyle/>
            <a:p>
              <a:pPr>
                <a:defRPr/>
              </a:pPr>
              <a:endParaRPr lang="zh-CN" altLang="en-US">
                <a:latin typeface="Arial" charset="0"/>
                <a:ea typeface="宋体" charset="-122"/>
              </a:endParaRPr>
            </a:p>
          </p:txBody>
        </p:sp>
        <p:sp>
          <p:nvSpPr>
            <p:cNvPr id="158737" name="Freeform 17"/>
            <p:cNvSpPr>
              <a:spLocks/>
            </p:cNvSpPr>
            <p:nvPr/>
          </p:nvSpPr>
          <p:spPr bwMode="auto">
            <a:xfrm>
              <a:off x="249" y="1888"/>
              <a:ext cx="1052" cy="1066"/>
            </a:xfrm>
            <a:custGeom>
              <a:avLst/>
              <a:gdLst/>
              <a:ahLst/>
              <a:cxnLst>
                <a:cxn ang="0">
                  <a:pos x="0" y="1430"/>
                </a:cxn>
                <a:cxn ang="0">
                  <a:pos x="205" y="1412"/>
                </a:cxn>
                <a:cxn ang="0">
                  <a:pos x="309" y="1396"/>
                </a:cxn>
                <a:cxn ang="0">
                  <a:pos x="410" y="1373"/>
                </a:cxn>
                <a:cxn ang="0">
                  <a:pos x="511" y="1342"/>
                </a:cxn>
                <a:cxn ang="0">
                  <a:pos x="614" y="1298"/>
                </a:cxn>
                <a:cxn ang="0">
                  <a:pos x="715" y="1238"/>
                </a:cxn>
                <a:cxn ang="0">
                  <a:pos x="922" y="1073"/>
                </a:cxn>
                <a:cxn ang="0">
                  <a:pos x="1124" y="838"/>
                </a:cxn>
                <a:cxn ang="0">
                  <a:pos x="1329" y="559"/>
                </a:cxn>
                <a:cxn ang="0">
                  <a:pos x="1432" y="416"/>
                </a:cxn>
                <a:cxn ang="0">
                  <a:pos x="1533" y="282"/>
                </a:cxn>
                <a:cxn ang="0">
                  <a:pos x="1637" y="166"/>
                </a:cxn>
                <a:cxn ang="0">
                  <a:pos x="1738" y="78"/>
                </a:cxn>
                <a:cxn ang="0">
                  <a:pos x="1842" y="21"/>
                </a:cxn>
                <a:cxn ang="0">
                  <a:pos x="1943" y="0"/>
                </a:cxn>
              </a:cxnLst>
              <a:rect l="0" t="0" r="r" b="b"/>
              <a:pathLst>
                <a:path w="1943" h="1430">
                  <a:moveTo>
                    <a:pt x="0" y="1430"/>
                  </a:moveTo>
                  <a:lnTo>
                    <a:pt x="205" y="1412"/>
                  </a:lnTo>
                  <a:lnTo>
                    <a:pt x="309" y="1396"/>
                  </a:lnTo>
                  <a:lnTo>
                    <a:pt x="410" y="1373"/>
                  </a:lnTo>
                  <a:lnTo>
                    <a:pt x="511" y="1342"/>
                  </a:lnTo>
                  <a:lnTo>
                    <a:pt x="614" y="1298"/>
                  </a:lnTo>
                  <a:lnTo>
                    <a:pt x="715" y="1238"/>
                  </a:lnTo>
                  <a:lnTo>
                    <a:pt x="922" y="1073"/>
                  </a:lnTo>
                  <a:lnTo>
                    <a:pt x="1124" y="838"/>
                  </a:lnTo>
                  <a:lnTo>
                    <a:pt x="1329" y="559"/>
                  </a:lnTo>
                  <a:lnTo>
                    <a:pt x="1432" y="416"/>
                  </a:lnTo>
                  <a:lnTo>
                    <a:pt x="1533" y="282"/>
                  </a:lnTo>
                  <a:lnTo>
                    <a:pt x="1637" y="166"/>
                  </a:lnTo>
                  <a:lnTo>
                    <a:pt x="1738" y="78"/>
                  </a:lnTo>
                  <a:lnTo>
                    <a:pt x="1842" y="21"/>
                  </a:lnTo>
                  <a:lnTo>
                    <a:pt x="1943" y="0"/>
                  </a:lnTo>
                </a:path>
              </a:pathLst>
            </a:custGeom>
            <a:noFill/>
            <a:ln w="76200" cmpd="sng">
              <a:solidFill>
                <a:srgbClr val="002060"/>
              </a:solidFill>
              <a:prstDash val="solid"/>
              <a:round/>
              <a:headEnd/>
              <a:tailEnd/>
            </a:ln>
            <a:effectLst>
              <a:outerShdw dist="38100" dir="5400000" algn="ctr" rotWithShape="0">
                <a:schemeClr val="bg2"/>
              </a:outerShdw>
            </a:effectLst>
          </p:spPr>
          <p:txBody>
            <a:bodyPr/>
            <a:lstStyle/>
            <a:p>
              <a:pPr>
                <a:defRPr/>
              </a:pPr>
              <a:endParaRPr lang="zh-CN" altLang="en-US">
                <a:latin typeface="Arial" charset="0"/>
                <a:ea typeface="宋体" charset="-122"/>
              </a:endParaRPr>
            </a:p>
          </p:txBody>
        </p:sp>
        <p:sp>
          <p:nvSpPr>
            <p:cNvPr id="158740" name="Freeform 20"/>
            <p:cNvSpPr>
              <a:spLocks/>
            </p:cNvSpPr>
            <p:nvPr/>
          </p:nvSpPr>
          <p:spPr bwMode="auto">
            <a:xfrm>
              <a:off x="1769" y="2557"/>
              <a:ext cx="567" cy="419"/>
            </a:xfrm>
            <a:custGeom>
              <a:avLst/>
              <a:gdLst/>
              <a:ahLst/>
              <a:cxnLst>
                <a:cxn ang="0">
                  <a:pos x="0" y="0"/>
                </a:cxn>
                <a:cxn ang="0">
                  <a:pos x="0" y="734"/>
                </a:cxn>
                <a:cxn ang="0">
                  <a:pos x="1129" y="734"/>
                </a:cxn>
                <a:cxn ang="0">
                  <a:pos x="1002" y="700"/>
                </a:cxn>
                <a:cxn ang="0">
                  <a:pos x="880" y="659"/>
                </a:cxn>
                <a:cxn ang="0">
                  <a:pos x="764" y="612"/>
                </a:cxn>
                <a:cxn ang="0">
                  <a:pos x="652" y="561"/>
                </a:cxn>
                <a:cxn ang="0">
                  <a:pos x="546" y="504"/>
                </a:cxn>
                <a:cxn ang="0">
                  <a:pos x="445" y="444"/>
                </a:cxn>
                <a:cxn ang="0">
                  <a:pos x="352" y="380"/>
                </a:cxn>
                <a:cxn ang="0">
                  <a:pos x="267" y="310"/>
                </a:cxn>
                <a:cxn ang="0">
                  <a:pos x="189" y="237"/>
                </a:cxn>
                <a:cxn ang="0">
                  <a:pos x="116" y="162"/>
                </a:cxn>
                <a:cxn ang="0">
                  <a:pos x="54" y="82"/>
                </a:cxn>
                <a:cxn ang="0">
                  <a:pos x="0" y="0"/>
                </a:cxn>
              </a:cxnLst>
              <a:rect l="0" t="0" r="r" b="b"/>
              <a:pathLst>
                <a:path w="1129" h="734">
                  <a:moveTo>
                    <a:pt x="0" y="0"/>
                  </a:moveTo>
                  <a:lnTo>
                    <a:pt x="0" y="734"/>
                  </a:lnTo>
                  <a:lnTo>
                    <a:pt x="1129" y="734"/>
                  </a:lnTo>
                  <a:lnTo>
                    <a:pt x="1002" y="700"/>
                  </a:lnTo>
                  <a:lnTo>
                    <a:pt x="880" y="659"/>
                  </a:lnTo>
                  <a:lnTo>
                    <a:pt x="764" y="612"/>
                  </a:lnTo>
                  <a:lnTo>
                    <a:pt x="652" y="561"/>
                  </a:lnTo>
                  <a:lnTo>
                    <a:pt x="546" y="504"/>
                  </a:lnTo>
                  <a:lnTo>
                    <a:pt x="445" y="444"/>
                  </a:lnTo>
                  <a:lnTo>
                    <a:pt x="352" y="380"/>
                  </a:lnTo>
                  <a:lnTo>
                    <a:pt x="267" y="310"/>
                  </a:lnTo>
                  <a:lnTo>
                    <a:pt x="189" y="237"/>
                  </a:lnTo>
                  <a:lnTo>
                    <a:pt x="116" y="162"/>
                  </a:lnTo>
                  <a:lnTo>
                    <a:pt x="54" y="82"/>
                  </a:lnTo>
                  <a:lnTo>
                    <a:pt x="0" y="0"/>
                  </a:lnTo>
                  <a:close/>
                </a:path>
              </a:pathLst>
            </a:custGeom>
            <a:solidFill>
              <a:srgbClr val="FFC000"/>
            </a:solidFill>
            <a:ln w="9525">
              <a:noFill/>
              <a:round/>
              <a:headEnd/>
              <a:tailEnd/>
            </a:ln>
            <a:effectLst>
              <a:outerShdw algn="ctr" rotWithShape="0">
                <a:srgbClr val="808080"/>
              </a:outerShdw>
            </a:effectLst>
          </p:spPr>
          <p:txBody>
            <a:bodyPr/>
            <a:lstStyle/>
            <a:p>
              <a:pPr>
                <a:defRPr/>
              </a:pPr>
              <a:endParaRPr lang="zh-CN" altLang="en-US">
                <a:latin typeface="Arial" charset="0"/>
                <a:ea typeface="宋体" charset="-122"/>
              </a:endParaRPr>
            </a:p>
          </p:txBody>
        </p:sp>
        <p:sp>
          <p:nvSpPr>
            <p:cNvPr id="158741" name="Line 21"/>
            <p:cNvSpPr>
              <a:spLocks noChangeShapeType="1"/>
            </p:cNvSpPr>
            <p:nvPr/>
          </p:nvSpPr>
          <p:spPr bwMode="auto">
            <a:xfrm flipH="1">
              <a:off x="1837" y="2523"/>
              <a:ext cx="160" cy="272"/>
            </a:xfrm>
            <a:prstGeom prst="line">
              <a:avLst/>
            </a:prstGeom>
            <a:noFill/>
            <a:ln w="25400">
              <a:solidFill>
                <a:schemeClr val="tx2"/>
              </a:solidFill>
              <a:round/>
              <a:headEnd/>
              <a:tailEnd type="triangle" w="med" len="med"/>
            </a:ln>
            <a:effectLst>
              <a:outerShdw algn="ctr" rotWithShape="0">
                <a:schemeClr val="bg2"/>
              </a:outerShdw>
            </a:effectLst>
          </p:spPr>
          <p:txBody>
            <a:bodyPr wrap="none" anchor="ctr"/>
            <a:lstStyle/>
            <a:p>
              <a:pPr>
                <a:defRPr/>
              </a:pPr>
              <a:endParaRPr lang="zh-CN" altLang="en-US">
                <a:latin typeface="Arial" charset="0"/>
                <a:ea typeface="宋体" charset="-122"/>
              </a:endParaRPr>
            </a:p>
          </p:txBody>
        </p:sp>
        <p:sp>
          <p:nvSpPr>
            <p:cNvPr id="158743" name="Text Box 23"/>
            <p:cNvSpPr txBox="1">
              <a:spLocks noChangeArrowheads="1"/>
            </p:cNvSpPr>
            <p:nvPr/>
          </p:nvSpPr>
          <p:spPr bwMode="auto">
            <a:xfrm>
              <a:off x="1153" y="2977"/>
              <a:ext cx="230" cy="288"/>
            </a:xfrm>
            <a:prstGeom prst="rect">
              <a:avLst/>
            </a:prstGeom>
            <a:noFill/>
            <a:ln w="12700">
              <a:noFill/>
              <a:miter lim="800000"/>
              <a:headEnd/>
              <a:tailEnd/>
            </a:ln>
            <a:effectLst/>
          </p:spPr>
          <p:txBody>
            <a:bodyPr>
              <a:spAutoFit/>
            </a:bodyPr>
            <a:lstStyle/>
            <a:p>
              <a:pPr algn="ctr" eaLnBrk="0" hangingPunct="0">
                <a:spcBef>
                  <a:spcPct val="50000"/>
                </a:spcBef>
                <a:defRPr/>
              </a:pPr>
              <a:r>
                <a:rPr kumimoji="1" lang="en-US" altLang="zh-CN" sz="2400" b="1" dirty="0">
                  <a:solidFill>
                    <a:srgbClr val="0070C0"/>
                  </a:solidFill>
                  <a:effectLst>
                    <a:outerShdw blurRad="38100" dist="38100" dir="2700000" algn="tl">
                      <a:srgbClr val="C0C0C0"/>
                    </a:outerShdw>
                  </a:effectLst>
                  <a:latin typeface="Arial" charset="0"/>
                  <a:ea typeface="宋体" charset="-122"/>
                </a:rPr>
                <a:t>0</a:t>
              </a:r>
            </a:p>
          </p:txBody>
        </p:sp>
        <p:sp>
          <p:nvSpPr>
            <p:cNvPr id="16410" name="Text Box 25"/>
            <p:cNvSpPr txBox="1">
              <a:spLocks noChangeArrowheads="1"/>
            </p:cNvSpPr>
            <p:nvPr/>
          </p:nvSpPr>
          <p:spPr bwMode="auto">
            <a:xfrm>
              <a:off x="1451" y="3067"/>
              <a:ext cx="544" cy="239"/>
            </a:xfrm>
            <a:prstGeom prst="rect">
              <a:avLst/>
            </a:prstGeom>
            <a:solidFill>
              <a:srgbClr val="FFFF9B"/>
            </a:solidFill>
            <a:ln w="12700">
              <a:solidFill>
                <a:srgbClr val="FF33CC"/>
              </a:solidFill>
              <a:miter lim="800000"/>
              <a:headEnd/>
              <a:tailEnd/>
            </a:ln>
          </p:spPr>
          <p:txBody>
            <a:bodyPr>
              <a:spAutoFit/>
            </a:bodyPr>
            <a:lstStyle/>
            <a:p>
              <a:pPr algn="ctr" eaLnBrk="0" hangingPunct="0">
                <a:spcBef>
                  <a:spcPct val="50000"/>
                </a:spcBef>
              </a:pPr>
              <a:r>
                <a:rPr kumimoji="1" lang="en-US" altLang="zh-CN" b="1"/>
                <a:t>1. 645</a:t>
              </a:r>
            </a:p>
          </p:txBody>
        </p:sp>
        <p:sp>
          <p:nvSpPr>
            <p:cNvPr id="158733" name="Line 13"/>
            <p:cNvSpPr>
              <a:spLocks noChangeShapeType="1"/>
            </p:cNvSpPr>
            <p:nvPr/>
          </p:nvSpPr>
          <p:spPr bwMode="auto">
            <a:xfrm>
              <a:off x="1769" y="2591"/>
              <a:ext cx="0" cy="431"/>
            </a:xfrm>
            <a:prstGeom prst="line">
              <a:avLst/>
            </a:prstGeom>
            <a:noFill/>
            <a:ln w="38100">
              <a:solidFill>
                <a:srgbClr val="CC0066"/>
              </a:solidFill>
              <a:round/>
              <a:headEnd/>
              <a:tailEnd/>
            </a:ln>
            <a:effectLst>
              <a:outerShdw dist="28398" dir="20006097" algn="ctr" rotWithShape="0">
                <a:schemeClr val="bg2"/>
              </a:outerShdw>
            </a:effectLst>
          </p:spPr>
          <p:txBody>
            <a:bodyPr wrap="none" anchor="ctr"/>
            <a:lstStyle/>
            <a:p>
              <a:pPr>
                <a:defRPr/>
              </a:pPr>
              <a:endParaRPr lang="zh-CN" altLang="en-US">
                <a:latin typeface="Arial" charset="0"/>
                <a:ea typeface="宋体" charset="-122"/>
              </a:endParaRPr>
            </a:p>
          </p:txBody>
        </p:sp>
      </p:grpSp>
      <p:sp>
        <p:nvSpPr>
          <p:cNvPr id="158749" name="Rectangle 29"/>
          <p:cNvSpPr>
            <a:spLocks noChangeArrowheads="1"/>
          </p:cNvSpPr>
          <p:nvPr/>
        </p:nvSpPr>
        <p:spPr bwMode="auto">
          <a:xfrm>
            <a:off x="2063750" y="5589588"/>
            <a:ext cx="8064500" cy="609600"/>
          </a:xfrm>
          <a:prstGeom prst="rect">
            <a:avLst/>
          </a:prstGeom>
          <a:noFill/>
          <a:ln w="12700">
            <a:noFill/>
            <a:miter lim="800000"/>
            <a:headEnd/>
            <a:tailEnd/>
          </a:ln>
        </p:spPr>
        <p:txBody>
          <a:bodyPr lIns="90488" tIns="44450" rIns="90488" bIns="44450"/>
          <a:lstStyle/>
          <a:p>
            <a:pPr eaLnBrk="0" hangingPunct="0">
              <a:spcBef>
                <a:spcPct val="20000"/>
              </a:spcBef>
            </a:pPr>
            <a:r>
              <a:rPr kumimoji="1" lang="zh-CN" altLang="en-US" sz="2800" b="1">
                <a:solidFill>
                  <a:srgbClr val="FF00FF"/>
                </a:solidFill>
              </a:rPr>
              <a:t>结论</a:t>
            </a:r>
            <a:r>
              <a:rPr kumimoji="1" lang="en-US" altLang="zh-CN" sz="2800" b="1">
                <a:solidFill>
                  <a:srgbClr val="FF00FF"/>
                </a:solidFill>
              </a:rPr>
              <a:t>:   </a:t>
            </a:r>
            <a:r>
              <a:rPr kumimoji="1" lang="zh-CN" altLang="en-US" sz="2800" b="1">
                <a:solidFill>
                  <a:schemeClr val="tx2"/>
                </a:solidFill>
              </a:rPr>
              <a:t>拒绝</a:t>
            </a:r>
            <a:r>
              <a:rPr lang="en-US" altLang="zh-CN" sz="2800">
                <a:solidFill>
                  <a:schemeClr val="tx2"/>
                </a:solidFill>
                <a:latin typeface="Tahoma" pitchFamily="34" charset="0"/>
              </a:rPr>
              <a:t>H</a:t>
            </a:r>
            <a:r>
              <a:rPr lang="en-US" altLang="zh-CN" sz="2000">
                <a:solidFill>
                  <a:schemeClr val="tx2"/>
                </a:solidFill>
                <a:latin typeface="Tahoma" pitchFamily="34" charset="0"/>
              </a:rPr>
              <a:t>0</a:t>
            </a:r>
            <a:r>
              <a:rPr kumimoji="1" lang="en-US" altLang="zh-CN" sz="2800" b="1">
                <a:solidFill>
                  <a:schemeClr val="tx2"/>
                </a:solidFill>
              </a:rPr>
              <a:t> </a:t>
            </a:r>
            <a:r>
              <a:rPr kumimoji="1" lang="zh-CN" altLang="en-US" sz="2800" b="1">
                <a:solidFill>
                  <a:schemeClr val="tx2"/>
                </a:solidFill>
              </a:rPr>
              <a:t>，</a:t>
            </a:r>
            <a:r>
              <a:rPr lang="zh-CN" altLang="en-US" sz="2800" b="1">
                <a:solidFill>
                  <a:srgbClr val="000000"/>
                </a:solidFill>
                <a:latin typeface="Tahoma" pitchFamily="34" charset="0"/>
              </a:rPr>
              <a:t>即这批元件的</a:t>
            </a:r>
            <a:r>
              <a:rPr lang="zh-CN" altLang="en-US" sz="2800" b="1">
                <a:solidFill>
                  <a:schemeClr val="tx2"/>
                </a:solidFill>
                <a:latin typeface="Tahoma" pitchFamily="34" charset="0"/>
              </a:rPr>
              <a:t>寿命有显著提高</a:t>
            </a:r>
            <a:r>
              <a:rPr lang="zh-CN" altLang="en-US" sz="2800" b="1">
                <a:solidFill>
                  <a:srgbClr val="000000"/>
                </a:solidFill>
                <a:latin typeface="Tahoma" pitchFamily="34" charset="0"/>
              </a:rPr>
              <a:t>。</a:t>
            </a:r>
          </a:p>
        </p:txBody>
      </p:sp>
      <p:grpSp>
        <p:nvGrpSpPr>
          <p:cNvPr id="3" name="Group 36"/>
          <p:cNvGrpSpPr>
            <a:grpSpLocks/>
          </p:cNvGrpSpPr>
          <p:nvPr/>
        </p:nvGrpSpPr>
        <p:grpSpPr bwMode="auto">
          <a:xfrm>
            <a:off x="4224338" y="3860801"/>
            <a:ext cx="1441450" cy="1223963"/>
            <a:chOff x="1701" y="2432"/>
            <a:chExt cx="908" cy="771"/>
          </a:xfrm>
        </p:grpSpPr>
        <p:sp>
          <p:nvSpPr>
            <p:cNvPr id="16400" name="Oval 30"/>
            <p:cNvSpPr>
              <a:spLocks noChangeArrowheads="1"/>
            </p:cNvSpPr>
            <p:nvPr/>
          </p:nvSpPr>
          <p:spPr bwMode="auto">
            <a:xfrm>
              <a:off x="1746" y="2432"/>
              <a:ext cx="91" cy="91"/>
            </a:xfrm>
            <a:prstGeom prst="ellipse">
              <a:avLst/>
            </a:prstGeom>
            <a:solidFill>
              <a:srgbClr val="FF0066"/>
            </a:solidFill>
            <a:ln w="9525">
              <a:solidFill>
                <a:schemeClr val="tx1"/>
              </a:solidFill>
              <a:round/>
              <a:headEnd/>
              <a:tailEnd/>
            </a:ln>
          </p:spPr>
          <p:txBody>
            <a:bodyPr wrap="none" anchor="ctr"/>
            <a:lstStyle/>
            <a:p>
              <a:endParaRPr lang="zh-CN" altLang="en-US"/>
            </a:p>
          </p:txBody>
        </p:sp>
        <p:sp>
          <p:nvSpPr>
            <p:cNvPr id="16401" name="AutoShape 31"/>
            <p:cNvSpPr>
              <a:spLocks noChangeArrowheads="1"/>
            </p:cNvSpPr>
            <p:nvPr/>
          </p:nvSpPr>
          <p:spPr bwMode="auto">
            <a:xfrm>
              <a:off x="1701" y="2750"/>
              <a:ext cx="908" cy="453"/>
            </a:xfrm>
            <a:prstGeom prst="wedgeRoundRectCallout">
              <a:avLst>
                <a:gd name="adj1" fmla="val -41852"/>
                <a:gd name="adj2" fmla="val -101875"/>
                <a:gd name="adj3" fmla="val 16667"/>
              </a:avLst>
            </a:prstGeom>
            <a:noFill/>
            <a:ln w="9525">
              <a:solidFill>
                <a:srgbClr val="FF0066"/>
              </a:solidFill>
              <a:miter lim="800000"/>
              <a:headEnd/>
              <a:tailEnd/>
            </a:ln>
          </p:spPr>
          <p:txBody>
            <a:bodyPr/>
            <a:lstStyle/>
            <a:p>
              <a:pPr algn="ctr"/>
              <a:r>
                <a:rPr lang="zh-CN" altLang="en-US" dirty="0">
                  <a:solidFill>
                    <a:srgbClr val="CC0099"/>
                  </a:solidFill>
                </a:rPr>
                <a:t>检验统计量的观察值</a:t>
              </a:r>
            </a:p>
          </p:txBody>
        </p:sp>
      </p:grpSp>
      <p:graphicFrame>
        <p:nvGraphicFramePr>
          <p:cNvPr id="158754" name="Object 34"/>
          <p:cNvGraphicFramePr>
            <a:graphicFrameLocks noChangeAspect="1"/>
          </p:cNvGraphicFramePr>
          <p:nvPr/>
        </p:nvGraphicFramePr>
        <p:xfrm>
          <a:off x="5808663" y="2997200"/>
          <a:ext cx="4679950" cy="1073150"/>
        </p:xfrm>
        <a:graphic>
          <a:graphicData uri="http://schemas.openxmlformats.org/presentationml/2006/ole">
            <mc:AlternateContent xmlns:mc="http://schemas.openxmlformats.org/markup-compatibility/2006">
              <mc:Choice xmlns:v="urn:schemas-microsoft-com:vml" Requires="v">
                <p:oleObj name="公式" r:id="rId7" imgW="2044700" imgH="469900" progId="Equation.3">
                  <p:embed/>
                </p:oleObj>
              </mc:Choice>
              <mc:Fallback>
                <p:oleObj name="公式" r:id="rId7" imgW="2044700" imgH="469900" progId="Equation.3">
                  <p:embed/>
                  <p:pic>
                    <p:nvPicPr>
                      <p:cNvPr id="158754" name="Object 3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808663" y="2997200"/>
                        <a:ext cx="4679950" cy="10731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4" name="Group 56"/>
          <p:cNvGrpSpPr>
            <a:grpSpLocks/>
          </p:cNvGrpSpPr>
          <p:nvPr/>
        </p:nvGrpSpPr>
        <p:grpSpPr bwMode="auto">
          <a:xfrm>
            <a:off x="4368800" y="3357563"/>
            <a:ext cx="935038" cy="576262"/>
            <a:chOff x="1792" y="2115"/>
            <a:chExt cx="589" cy="363"/>
          </a:xfrm>
        </p:grpSpPr>
        <p:sp>
          <p:nvSpPr>
            <p:cNvPr id="158774" name="Freeform 54"/>
            <p:cNvSpPr>
              <a:spLocks/>
            </p:cNvSpPr>
            <p:nvPr/>
          </p:nvSpPr>
          <p:spPr bwMode="auto">
            <a:xfrm rot="21423665">
              <a:off x="1792" y="2296"/>
              <a:ext cx="547" cy="182"/>
            </a:xfrm>
            <a:custGeom>
              <a:avLst/>
              <a:gdLst/>
              <a:ahLst/>
              <a:cxnLst>
                <a:cxn ang="0">
                  <a:pos x="0" y="0"/>
                </a:cxn>
                <a:cxn ang="0">
                  <a:pos x="0" y="734"/>
                </a:cxn>
                <a:cxn ang="0">
                  <a:pos x="1129" y="734"/>
                </a:cxn>
                <a:cxn ang="0">
                  <a:pos x="1002" y="700"/>
                </a:cxn>
                <a:cxn ang="0">
                  <a:pos x="880" y="659"/>
                </a:cxn>
                <a:cxn ang="0">
                  <a:pos x="764" y="612"/>
                </a:cxn>
                <a:cxn ang="0">
                  <a:pos x="652" y="561"/>
                </a:cxn>
                <a:cxn ang="0">
                  <a:pos x="546" y="504"/>
                </a:cxn>
                <a:cxn ang="0">
                  <a:pos x="445" y="444"/>
                </a:cxn>
                <a:cxn ang="0">
                  <a:pos x="352" y="380"/>
                </a:cxn>
                <a:cxn ang="0">
                  <a:pos x="267" y="310"/>
                </a:cxn>
                <a:cxn ang="0">
                  <a:pos x="189" y="237"/>
                </a:cxn>
                <a:cxn ang="0">
                  <a:pos x="116" y="162"/>
                </a:cxn>
                <a:cxn ang="0">
                  <a:pos x="54" y="82"/>
                </a:cxn>
                <a:cxn ang="0">
                  <a:pos x="0" y="0"/>
                </a:cxn>
              </a:cxnLst>
              <a:rect l="0" t="0" r="r" b="b"/>
              <a:pathLst>
                <a:path w="1129" h="734">
                  <a:moveTo>
                    <a:pt x="0" y="0"/>
                  </a:moveTo>
                  <a:lnTo>
                    <a:pt x="0" y="734"/>
                  </a:lnTo>
                  <a:lnTo>
                    <a:pt x="1129" y="734"/>
                  </a:lnTo>
                  <a:lnTo>
                    <a:pt x="1002" y="700"/>
                  </a:lnTo>
                  <a:lnTo>
                    <a:pt x="880" y="659"/>
                  </a:lnTo>
                  <a:lnTo>
                    <a:pt x="764" y="612"/>
                  </a:lnTo>
                  <a:lnTo>
                    <a:pt x="652" y="561"/>
                  </a:lnTo>
                  <a:lnTo>
                    <a:pt x="546" y="504"/>
                  </a:lnTo>
                  <a:lnTo>
                    <a:pt x="445" y="444"/>
                  </a:lnTo>
                  <a:lnTo>
                    <a:pt x="352" y="380"/>
                  </a:lnTo>
                  <a:lnTo>
                    <a:pt x="267" y="310"/>
                  </a:lnTo>
                  <a:lnTo>
                    <a:pt x="189" y="237"/>
                  </a:lnTo>
                  <a:lnTo>
                    <a:pt x="116" y="162"/>
                  </a:lnTo>
                  <a:lnTo>
                    <a:pt x="54" y="82"/>
                  </a:lnTo>
                  <a:lnTo>
                    <a:pt x="0" y="0"/>
                  </a:lnTo>
                  <a:close/>
                </a:path>
              </a:pathLst>
            </a:custGeom>
            <a:solidFill>
              <a:srgbClr val="00FF00"/>
            </a:solidFill>
            <a:ln w="9525">
              <a:noFill/>
              <a:round/>
              <a:headEnd/>
              <a:tailEnd/>
            </a:ln>
            <a:effectLst>
              <a:outerShdw algn="ctr" rotWithShape="0">
                <a:srgbClr val="808080"/>
              </a:outerShdw>
            </a:effectLst>
          </p:spPr>
          <p:txBody>
            <a:bodyPr/>
            <a:lstStyle/>
            <a:p>
              <a:pPr>
                <a:defRPr/>
              </a:pPr>
              <a:endParaRPr lang="zh-CN" altLang="en-US">
                <a:latin typeface="Arial" charset="0"/>
                <a:ea typeface="宋体" charset="-122"/>
              </a:endParaRPr>
            </a:p>
          </p:txBody>
        </p:sp>
        <p:sp>
          <p:nvSpPr>
            <p:cNvPr id="16399" name="AutoShape 55"/>
            <p:cNvSpPr>
              <a:spLocks noChangeArrowheads="1"/>
            </p:cNvSpPr>
            <p:nvPr/>
          </p:nvSpPr>
          <p:spPr bwMode="auto">
            <a:xfrm>
              <a:off x="1973" y="2115"/>
              <a:ext cx="408" cy="181"/>
            </a:xfrm>
            <a:prstGeom prst="wedgeRectCallout">
              <a:avLst>
                <a:gd name="adj1" fmla="val -78185"/>
                <a:gd name="adj2" fmla="val 124583"/>
              </a:avLst>
            </a:prstGeom>
            <a:noFill/>
            <a:ln w="9525">
              <a:solidFill>
                <a:srgbClr val="3333FF"/>
              </a:solidFill>
              <a:miter lim="800000"/>
              <a:headEnd/>
              <a:tailEnd/>
            </a:ln>
          </p:spPr>
          <p:txBody>
            <a:bodyPr lIns="0" tIns="0" rIns="0" bIns="0"/>
            <a:lstStyle/>
            <a:p>
              <a:pPr algn="ctr"/>
              <a:r>
                <a:rPr lang="en-US" altLang="zh-CN" sz="2000" dirty="0">
                  <a:solidFill>
                    <a:srgbClr val="3333FF"/>
                  </a:solidFill>
                </a:rPr>
                <a:t>P</a:t>
              </a:r>
              <a:r>
                <a:rPr lang="zh-CN" altLang="en-US" sz="2000" dirty="0">
                  <a:solidFill>
                    <a:srgbClr val="3333FF"/>
                  </a:solidFill>
                </a:rPr>
                <a:t>值</a:t>
              </a:r>
            </a:p>
          </p:txBody>
        </p:sp>
      </p:grpSp>
    </p:spTree>
    <p:extLst>
      <p:ext uri="{BB962C8B-B14F-4D97-AF65-F5344CB8AC3E}">
        <p14:creationId xmlns:p14="http://schemas.microsoft.com/office/powerpoint/2010/main" val="17561438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1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58725">
                                            <p:txEl>
                                              <p:pRg st="0" end="0"/>
                                            </p:txEl>
                                          </p:spTgt>
                                        </p:tgtEl>
                                        <p:attrNameLst>
                                          <p:attrName>style.visibility</p:attrName>
                                        </p:attrNameLst>
                                      </p:cBhvr>
                                      <p:to>
                                        <p:strVal val="visible"/>
                                      </p:to>
                                    </p:set>
                                    <p:animEffect transition="in" filter="wipe(left)">
                                      <p:cBhvr>
                                        <p:cTn id="12" dur="500"/>
                                        <p:tgtEl>
                                          <p:spTgt spid="158725">
                                            <p:txEl>
                                              <p:pRg st="0" end="0"/>
                                            </p:txEl>
                                          </p:spTgt>
                                        </p:tgtEl>
                                      </p:cBhvr>
                                    </p:animEffect>
                                  </p:childTnLst>
                                </p:cTn>
                              </p:par>
                            </p:childTnLst>
                          </p:cTn>
                        </p:par>
                        <p:par>
                          <p:cTn id="13" fill="hold">
                            <p:stCondLst>
                              <p:cond delay="500"/>
                            </p:stCondLst>
                            <p:childTnLst>
                              <p:par>
                                <p:cTn id="14" presetID="22" presetClass="entr" presetSubtype="8" fill="hold" nodeType="afterEffect">
                                  <p:stCondLst>
                                    <p:cond delay="0"/>
                                  </p:stCondLst>
                                  <p:childTnLst>
                                    <p:set>
                                      <p:cBhvr>
                                        <p:cTn id="15" dur="1" fill="hold">
                                          <p:stCondLst>
                                            <p:cond delay="0"/>
                                          </p:stCondLst>
                                        </p:cTn>
                                        <p:tgtEl>
                                          <p:spTgt spid="158754"/>
                                        </p:tgtEl>
                                        <p:attrNameLst>
                                          <p:attrName>style.visibility</p:attrName>
                                        </p:attrNameLst>
                                      </p:cBhvr>
                                      <p:to>
                                        <p:strVal val="visible"/>
                                      </p:to>
                                    </p:set>
                                    <p:animEffect transition="in" filter="wipe(left)">
                                      <p:cBhvr>
                                        <p:cTn id="16" dur="500"/>
                                        <p:tgtEl>
                                          <p:spTgt spid="158754"/>
                                        </p:tgtEl>
                                      </p:cBhvr>
                                    </p:animEffect>
                                  </p:childTnLst>
                                </p:cTn>
                              </p:par>
                            </p:childTnLst>
                          </p:cTn>
                        </p:par>
                      </p:childTnLst>
                    </p:cTn>
                  </p:par>
                  <p:par>
                    <p:cTn id="17" fill="hold">
                      <p:stCondLst>
                        <p:cond delay="indefinite"/>
                      </p:stCondLst>
                      <p:childTnLst>
                        <p:par>
                          <p:cTn id="18" fill="hold">
                            <p:stCondLst>
                              <p:cond delay="0"/>
                            </p:stCondLst>
                            <p:childTnLst>
                              <p:par>
                                <p:cTn id="19" presetID="2" presetClass="entr" presetSubtype="2" fill="hold" nodeType="clickEffect">
                                  <p:stCondLst>
                                    <p:cond delay="0"/>
                                  </p:stCondLst>
                                  <p:childTnLst>
                                    <p:set>
                                      <p:cBhvr>
                                        <p:cTn id="20" dur="1" fill="hold">
                                          <p:stCondLst>
                                            <p:cond delay="0"/>
                                          </p:stCondLst>
                                        </p:cTn>
                                        <p:tgtEl>
                                          <p:spTgt spid="3"/>
                                        </p:tgtEl>
                                        <p:attrNameLst>
                                          <p:attrName>style.visibility</p:attrName>
                                        </p:attrNameLst>
                                      </p:cBhvr>
                                      <p:to>
                                        <p:strVal val="visible"/>
                                      </p:to>
                                    </p:set>
                                    <p:anim calcmode="lin" valueType="num">
                                      <p:cBhvr additive="base">
                                        <p:cTn id="21" dur="500" fill="hold"/>
                                        <p:tgtEl>
                                          <p:spTgt spid="3"/>
                                        </p:tgtEl>
                                        <p:attrNameLst>
                                          <p:attrName>ppt_x</p:attrName>
                                        </p:attrNameLst>
                                      </p:cBhvr>
                                      <p:tavLst>
                                        <p:tav tm="0">
                                          <p:val>
                                            <p:strVal val="1+#ppt_w/2"/>
                                          </p:val>
                                        </p:tav>
                                        <p:tav tm="100000">
                                          <p:val>
                                            <p:strVal val="#ppt_x"/>
                                          </p:val>
                                        </p:tav>
                                      </p:tavLst>
                                    </p:anim>
                                    <p:anim calcmode="lin" valueType="num">
                                      <p:cBhvr additive="base">
                                        <p:cTn id="22"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16" presetClass="entr" presetSubtype="26" fill="hold"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barn(inHorizontal)">
                                      <p:cBhvr>
                                        <p:cTn id="27" dur="500"/>
                                        <p:tgtEl>
                                          <p:spTgt spid="4"/>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58726">
                                            <p:txEl>
                                              <p:pRg st="0" end="0"/>
                                            </p:txEl>
                                          </p:spTgt>
                                        </p:tgtEl>
                                        <p:attrNameLst>
                                          <p:attrName>style.visibility</p:attrName>
                                        </p:attrNameLst>
                                      </p:cBhvr>
                                      <p:to>
                                        <p:strVal val="visible"/>
                                      </p:to>
                                    </p:set>
                                    <p:animEffect transition="in" filter="wipe(left)">
                                      <p:cBhvr>
                                        <p:cTn id="32" dur="2000"/>
                                        <p:tgtEl>
                                          <p:spTgt spid="158726">
                                            <p:txEl>
                                              <p:pRg st="0" end="0"/>
                                            </p:txEl>
                                          </p:spTgt>
                                        </p:tgtEl>
                                      </p:cBhvr>
                                    </p:animEffect>
                                  </p:childTnLst>
                                </p:cTn>
                              </p:par>
                            </p:childTnLst>
                          </p:cTn>
                        </p:par>
                        <p:par>
                          <p:cTn id="33" fill="hold">
                            <p:stCondLst>
                              <p:cond delay="2000"/>
                            </p:stCondLst>
                            <p:childTnLst>
                              <p:par>
                                <p:cTn id="34" presetID="22" presetClass="entr" presetSubtype="8" fill="hold" grpId="0" nodeType="afterEffect">
                                  <p:stCondLst>
                                    <p:cond delay="0"/>
                                  </p:stCondLst>
                                  <p:childTnLst>
                                    <p:set>
                                      <p:cBhvr>
                                        <p:cTn id="35" dur="1" fill="hold">
                                          <p:stCondLst>
                                            <p:cond delay="0"/>
                                          </p:stCondLst>
                                        </p:cTn>
                                        <p:tgtEl>
                                          <p:spTgt spid="158726">
                                            <p:txEl>
                                              <p:pRg st="1" end="1"/>
                                            </p:txEl>
                                          </p:spTgt>
                                        </p:tgtEl>
                                        <p:attrNameLst>
                                          <p:attrName>style.visibility</p:attrName>
                                        </p:attrNameLst>
                                      </p:cBhvr>
                                      <p:to>
                                        <p:strVal val="visible"/>
                                      </p:to>
                                    </p:set>
                                    <p:animEffect transition="in" filter="wipe(left)">
                                      <p:cBhvr>
                                        <p:cTn id="36" dur="2000"/>
                                        <p:tgtEl>
                                          <p:spTgt spid="158726">
                                            <p:txEl>
                                              <p:pRg st="1" end="1"/>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158749"/>
                                        </p:tgtEl>
                                        <p:attrNameLst>
                                          <p:attrName>style.visibility</p:attrName>
                                        </p:attrNameLst>
                                      </p:cBhvr>
                                      <p:to>
                                        <p:strVal val="visible"/>
                                      </p:to>
                                    </p:set>
                                    <p:animEffect transition="in" filter="wipe(left)">
                                      <p:cBhvr>
                                        <p:cTn id="41" dur="500"/>
                                        <p:tgtEl>
                                          <p:spTgt spid="1587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8725" grpId="0" build="p" autoUpdateAnimBg="0"/>
      <p:bldP spid="158726" grpId="0" build="p" autoUpdateAnimBg="0"/>
      <p:bldP spid="158749"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灯片编号占位符 5"/>
          <p:cNvSpPr>
            <a:spLocks noGrp="1"/>
          </p:cNvSpPr>
          <p:nvPr>
            <p:ph type="sldNum" sz="quarter" idx="4294967295"/>
          </p:nvPr>
        </p:nvSpPr>
        <p:spPr>
          <a:noFill/>
        </p:spPr>
        <p:txBody>
          <a:bodyPr/>
          <a:lstStyle/>
          <a:p>
            <a:r>
              <a:rPr lang="en-US" altLang="zh-CN">
                <a:ea typeface="宋体" pitchFamily="2" charset="-122"/>
              </a:rPr>
              <a:t>8--</a:t>
            </a:r>
            <a:fld id="{D6E8ECBB-E1A7-4E38-BC8A-635F2E61C69E}" type="slidenum">
              <a:rPr lang="en-US" altLang="zh-CN" smtClean="0">
                <a:ea typeface="宋体" pitchFamily="2" charset="-122"/>
              </a:rPr>
              <a:pPr/>
              <a:t>47</a:t>
            </a:fld>
            <a:endParaRPr lang="en-US" altLang="zh-CN">
              <a:ea typeface="宋体" pitchFamily="2" charset="-122"/>
            </a:endParaRPr>
          </a:p>
        </p:txBody>
      </p:sp>
      <p:sp>
        <p:nvSpPr>
          <p:cNvPr id="89091" name="Rectangle 1026"/>
          <p:cNvSpPr>
            <a:spLocks noGrp="1" noChangeArrowheads="1"/>
          </p:cNvSpPr>
          <p:nvPr>
            <p:ph type="title"/>
          </p:nvPr>
        </p:nvSpPr>
        <p:spPr>
          <a:xfrm>
            <a:off x="1853566" y="595089"/>
            <a:ext cx="7324725" cy="1066800"/>
          </a:xfrm>
        </p:spPr>
        <p:txBody>
          <a:bodyPr>
            <a:normAutofit fontScale="90000"/>
          </a:bodyPr>
          <a:lstStyle/>
          <a:p>
            <a:pPr eaLnBrk="1" hangingPunct="1">
              <a:lnSpc>
                <a:spcPct val="150000"/>
              </a:lnSpc>
            </a:pPr>
            <a:r>
              <a:rPr lang="en-US" altLang="zh-CN" sz="4000" dirty="0"/>
              <a:t>【</a:t>
            </a:r>
            <a:r>
              <a:rPr lang="zh-CN" altLang="en-US" sz="4000" dirty="0"/>
              <a:t>小结</a:t>
            </a:r>
            <a:r>
              <a:rPr lang="en-US" altLang="zh-CN" sz="4000" dirty="0"/>
              <a:t>】</a:t>
            </a:r>
            <a:r>
              <a:rPr lang="zh-CN" altLang="en-US" sz="4000" dirty="0"/>
              <a:t>方差已知时对正态总体均值的检验</a:t>
            </a:r>
            <a:r>
              <a:rPr lang="en-US" altLang="zh-CN" sz="4000" dirty="0">
                <a:latin typeface="Arial" pitchFamily="34" charset="0"/>
              </a:rPr>
              <a:t>——</a:t>
            </a:r>
            <a:r>
              <a:rPr lang="en-US" altLang="zh-CN" sz="4000" i="1" dirty="0"/>
              <a:t>z </a:t>
            </a:r>
            <a:r>
              <a:rPr lang="zh-CN" altLang="en-US" sz="4000" dirty="0"/>
              <a:t>检验法</a:t>
            </a:r>
          </a:p>
        </p:txBody>
      </p:sp>
      <p:sp>
        <p:nvSpPr>
          <p:cNvPr id="167939" name="Rectangle 1027"/>
          <p:cNvSpPr>
            <a:spLocks noGrp="1" noChangeArrowheads="1"/>
          </p:cNvSpPr>
          <p:nvPr>
            <p:ph type="body" idx="1"/>
          </p:nvPr>
        </p:nvSpPr>
        <p:spPr>
          <a:xfrm>
            <a:off x="2166938" y="2357438"/>
            <a:ext cx="7848600" cy="4032250"/>
          </a:xfrm>
        </p:spPr>
        <p:txBody>
          <a:bodyPr/>
          <a:lstStyle/>
          <a:p>
            <a:pPr marL="571500" indent="-571500">
              <a:lnSpc>
                <a:spcPct val="115000"/>
              </a:lnSpc>
              <a:spcBef>
                <a:spcPct val="25000"/>
              </a:spcBef>
            </a:pPr>
            <a:r>
              <a:rPr lang="en-US" altLang="zh-CN" sz="3600" i="1" dirty="0">
                <a:solidFill>
                  <a:srgbClr val="FF0066"/>
                </a:solidFill>
                <a:latin typeface="Times New Roman" pitchFamily="18" charset="0"/>
              </a:rPr>
              <a:t>Z</a:t>
            </a:r>
            <a:r>
              <a:rPr lang="en-US" altLang="zh-CN" sz="3600" dirty="0">
                <a:solidFill>
                  <a:srgbClr val="FF0066"/>
                </a:solidFill>
              </a:rPr>
              <a:t> </a:t>
            </a:r>
            <a:r>
              <a:rPr lang="zh-CN" altLang="en-US" sz="3600" dirty="0">
                <a:solidFill>
                  <a:srgbClr val="FF0066"/>
                </a:solidFill>
              </a:rPr>
              <a:t>检验法</a:t>
            </a:r>
            <a:r>
              <a:rPr lang="en-US" altLang="zh-CN" dirty="0">
                <a:solidFill>
                  <a:schemeClr val="tx2"/>
                </a:solidFill>
                <a:latin typeface="Arial" pitchFamily="34" charset="0"/>
              </a:rPr>
              <a:t>——</a:t>
            </a:r>
            <a:r>
              <a:rPr lang="zh-CN" altLang="en-US" dirty="0">
                <a:solidFill>
                  <a:schemeClr val="tx2"/>
                </a:solidFill>
              </a:rPr>
              <a:t>利用服从标准正态分布的 </a:t>
            </a:r>
            <a:r>
              <a:rPr lang="en-US" altLang="zh-CN" i="1" dirty="0">
                <a:solidFill>
                  <a:schemeClr val="tx2"/>
                </a:solidFill>
                <a:latin typeface="Times New Roman" pitchFamily="18" charset="0"/>
              </a:rPr>
              <a:t>Z</a:t>
            </a:r>
            <a:r>
              <a:rPr lang="en-US" altLang="zh-CN" dirty="0">
                <a:solidFill>
                  <a:schemeClr val="tx2"/>
                </a:solidFill>
              </a:rPr>
              <a:t> </a:t>
            </a:r>
            <a:r>
              <a:rPr lang="zh-CN" altLang="en-US" dirty="0">
                <a:solidFill>
                  <a:schemeClr val="tx2"/>
                </a:solidFill>
              </a:rPr>
              <a:t>统计量进行假设检验的方法。</a:t>
            </a:r>
          </a:p>
          <a:p>
            <a:pPr marL="571500" indent="-571500">
              <a:lnSpc>
                <a:spcPct val="115000"/>
              </a:lnSpc>
              <a:spcBef>
                <a:spcPct val="25000"/>
              </a:spcBef>
            </a:pPr>
            <a:r>
              <a:rPr lang="zh-CN" altLang="en-US" dirty="0">
                <a:latin typeface="宋体" pitchFamily="2" charset="-122"/>
              </a:rPr>
              <a:t>对总体均值的 </a:t>
            </a:r>
            <a:r>
              <a:rPr lang="en-US" altLang="zh-CN" i="1" dirty="0">
                <a:latin typeface="宋体" pitchFamily="2" charset="-122"/>
              </a:rPr>
              <a:t>Z </a:t>
            </a:r>
            <a:r>
              <a:rPr lang="zh-CN" altLang="en-US" dirty="0">
                <a:latin typeface="宋体" pitchFamily="2" charset="-122"/>
              </a:rPr>
              <a:t>检验，</a:t>
            </a:r>
            <a:r>
              <a:rPr lang="zh-CN" altLang="en-US" dirty="0">
                <a:solidFill>
                  <a:srgbClr val="7030A0"/>
                </a:solidFill>
              </a:rPr>
              <a:t>主要适用于：</a:t>
            </a:r>
          </a:p>
          <a:p>
            <a:pPr marL="971550" lvl="1">
              <a:lnSpc>
                <a:spcPct val="115000"/>
              </a:lnSpc>
              <a:spcBef>
                <a:spcPct val="25000"/>
              </a:spcBef>
            </a:pPr>
            <a:r>
              <a:rPr lang="zh-CN" altLang="en-US" dirty="0">
                <a:latin typeface="宋体" pitchFamily="2" charset="-122"/>
              </a:rPr>
              <a:t>若总体呈正态分布</a:t>
            </a:r>
            <a:r>
              <a:rPr lang="en-US" altLang="zh-CN" dirty="0">
                <a:latin typeface="宋体" pitchFamily="2" charset="-122"/>
              </a:rPr>
              <a:t>,</a:t>
            </a:r>
            <a:r>
              <a:rPr lang="zh-CN" altLang="en-US" dirty="0">
                <a:latin typeface="宋体" pitchFamily="2" charset="-122"/>
              </a:rPr>
              <a:t>且总体方差已知时；</a:t>
            </a:r>
          </a:p>
          <a:p>
            <a:pPr marL="971550" lvl="1">
              <a:lnSpc>
                <a:spcPct val="115000"/>
              </a:lnSpc>
              <a:spcBef>
                <a:spcPct val="25000"/>
              </a:spcBef>
            </a:pPr>
            <a:r>
              <a:rPr lang="zh-CN" altLang="en-US" dirty="0">
                <a:latin typeface="宋体" pitchFamily="2" charset="-122"/>
              </a:rPr>
              <a:t>若总体非正态分布</a:t>
            </a:r>
            <a:r>
              <a:rPr lang="en-US" altLang="zh-CN" dirty="0">
                <a:latin typeface="宋体" pitchFamily="2" charset="-122"/>
              </a:rPr>
              <a:t>, </a:t>
            </a:r>
            <a:r>
              <a:rPr lang="zh-CN" altLang="en-US" dirty="0">
                <a:latin typeface="宋体" pitchFamily="2" charset="-122"/>
              </a:rPr>
              <a:t>但 </a:t>
            </a:r>
            <a:r>
              <a:rPr lang="en-US" altLang="zh-CN" dirty="0">
                <a:latin typeface="宋体" pitchFamily="2" charset="-122"/>
              </a:rPr>
              <a:t>n </a:t>
            </a:r>
            <a:r>
              <a:rPr lang="en-US" altLang="zh-CN" dirty="0">
                <a:latin typeface="宋体" pitchFamily="2" charset="-122"/>
                <a:sym typeface="Symbol" pitchFamily="18" charset="2"/>
              </a:rPr>
              <a:t></a:t>
            </a:r>
            <a:r>
              <a:rPr lang="en-US" altLang="zh-CN" dirty="0">
                <a:latin typeface="宋体" pitchFamily="2" charset="-122"/>
              </a:rPr>
              <a:t>30 </a:t>
            </a:r>
            <a:r>
              <a:rPr lang="zh-CN" altLang="en-US" dirty="0">
                <a:latin typeface="宋体" pitchFamily="2" charset="-122"/>
              </a:rPr>
              <a:t>时</a:t>
            </a:r>
            <a:r>
              <a:rPr lang="en-US" altLang="zh-CN" dirty="0">
                <a:latin typeface="宋体" pitchFamily="2" charset="-122"/>
              </a:rPr>
              <a:t>,</a:t>
            </a:r>
            <a:r>
              <a:rPr lang="zh-CN" altLang="en-US" dirty="0">
                <a:latin typeface="宋体" pitchFamily="2" charset="-122"/>
              </a:rPr>
              <a:t>可近似采用 </a:t>
            </a:r>
            <a:r>
              <a:rPr lang="en-US" altLang="zh-CN" i="1" dirty="0">
                <a:latin typeface="宋体" pitchFamily="2" charset="-122"/>
              </a:rPr>
              <a:t>Z</a:t>
            </a:r>
            <a:r>
              <a:rPr lang="en-US" altLang="zh-CN" dirty="0">
                <a:latin typeface="宋体" pitchFamily="2" charset="-122"/>
              </a:rPr>
              <a:t> </a:t>
            </a:r>
            <a:r>
              <a:rPr lang="zh-CN" altLang="en-US" dirty="0">
                <a:latin typeface="宋体" pitchFamily="2" charset="-122"/>
              </a:rPr>
              <a:t>检验</a:t>
            </a:r>
          </a:p>
        </p:txBody>
      </p:sp>
    </p:spTree>
    <p:extLst>
      <p:ext uri="{BB962C8B-B14F-4D97-AF65-F5344CB8AC3E}">
        <p14:creationId xmlns:p14="http://schemas.microsoft.com/office/powerpoint/2010/main" val="37828350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67939">
                                            <p:txEl>
                                              <p:pRg st="1" end="1"/>
                                            </p:txEl>
                                          </p:spTgt>
                                        </p:tgtEl>
                                        <p:attrNameLst>
                                          <p:attrName>style.visibility</p:attrName>
                                        </p:attrNameLst>
                                      </p:cBhvr>
                                      <p:to>
                                        <p:strVal val="visible"/>
                                      </p:to>
                                    </p:set>
                                    <p:animEffect transition="in" filter="wipe(left)">
                                      <p:cBhvr>
                                        <p:cTn id="7" dur="1000"/>
                                        <p:tgtEl>
                                          <p:spTgt spid="167939">
                                            <p:txEl>
                                              <p:pRg st="1" end="1"/>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67939">
                                            <p:txEl>
                                              <p:pRg st="2" end="2"/>
                                            </p:txEl>
                                          </p:spTgt>
                                        </p:tgtEl>
                                        <p:attrNameLst>
                                          <p:attrName>style.visibility</p:attrName>
                                        </p:attrNameLst>
                                      </p:cBhvr>
                                      <p:to>
                                        <p:strVal val="visible"/>
                                      </p:to>
                                    </p:set>
                                    <p:animEffect transition="in" filter="wipe(left)">
                                      <p:cBhvr>
                                        <p:cTn id="10" dur="1000"/>
                                        <p:tgtEl>
                                          <p:spTgt spid="167939">
                                            <p:txEl>
                                              <p:pRg st="2" end="2"/>
                                            </p:txEl>
                                          </p:spTgt>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167939">
                                            <p:txEl>
                                              <p:pRg st="3" end="3"/>
                                            </p:txEl>
                                          </p:spTgt>
                                        </p:tgtEl>
                                        <p:attrNameLst>
                                          <p:attrName>style.visibility</p:attrName>
                                        </p:attrNameLst>
                                      </p:cBhvr>
                                      <p:to>
                                        <p:strVal val="visible"/>
                                      </p:to>
                                    </p:set>
                                    <p:animEffect transition="in" filter="wipe(left)">
                                      <p:cBhvr>
                                        <p:cTn id="13" dur="1000"/>
                                        <p:tgtEl>
                                          <p:spTgt spid="16793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7939" grpId="0" build="p"/>
    </p:bldLst>
  </p:timing>
</p:sld>
</file>

<file path=ppt/slides/slide4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7415" name="灯片编号占位符 7"/>
          <p:cNvSpPr>
            <a:spLocks noGrp="1"/>
          </p:cNvSpPr>
          <p:nvPr>
            <p:ph type="sldNum" sz="quarter" idx="10"/>
          </p:nvPr>
        </p:nvSpPr>
        <p:spPr>
          <a:noFill/>
        </p:spPr>
        <p:txBody>
          <a:bodyPr/>
          <a:lstStyle/>
          <a:p>
            <a:r>
              <a:rPr lang="en-US" altLang="zh-CN">
                <a:ea typeface="宋体" pitchFamily="2" charset="-122"/>
              </a:rPr>
              <a:t>8--</a:t>
            </a:r>
            <a:fld id="{9A4136CF-DA59-4D81-91BE-48675141B571}" type="slidenum">
              <a:rPr lang="en-US" altLang="zh-CN" smtClean="0">
                <a:ea typeface="宋体" pitchFamily="2" charset="-122"/>
              </a:rPr>
              <a:pPr/>
              <a:t>48</a:t>
            </a:fld>
            <a:endParaRPr lang="en-US" altLang="zh-CN">
              <a:ea typeface="宋体" pitchFamily="2" charset="-122"/>
            </a:endParaRPr>
          </a:p>
        </p:txBody>
      </p:sp>
      <p:sp>
        <p:nvSpPr>
          <p:cNvPr id="17416" name="Rectangle 2"/>
          <p:cNvSpPr>
            <a:spLocks noGrp="1" noChangeArrowheads="1"/>
          </p:cNvSpPr>
          <p:nvPr>
            <p:ph type="title" idx="4294967295"/>
          </p:nvPr>
        </p:nvSpPr>
        <p:spPr>
          <a:xfrm>
            <a:off x="1144513" y="658953"/>
            <a:ext cx="8424863" cy="990600"/>
          </a:xfrm>
          <a:noFill/>
        </p:spPr>
        <p:txBody>
          <a:bodyPr vert="horz" lIns="90488" tIns="44450" rIns="90488" bIns="44450" rtlCol="0" anchor="ctr" anchorCtr="1">
            <a:normAutofit fontScale="90000"/>
          </a:bodyPr>
          <a:lstStyle/>
          <a:p>
            <a:pPr eaLnBrk="1" hangingPunct="1"/>
            <a:r>
              <a:rPr lang="en-US" altLang="zh-CN" sz="3600" b="1" dirty="0">
                <a:solidFill>
                  <a:srgbClr val="00B0F0"/>
                </a:solidFill>
                <a:effectLst/>
                <a:latin typeface="+mn-lt"/>
                <a:ea typeface="+mn-ea"/>
                <a:cs typeface="+mn-cs"/>
              </a:rPr>
              <a:t>2. </a:t>
            </a:r>
            <a:r>
              <a:rPr lang="zh-CN" altLang="en-US" sz="3600" b="1" dirty="0">
                <a:solidFill>
                  <a:srgbClr val="00B0F0"/>
                </a:solidFill>
                <a:effectLst/>
                <a:latin typeface="+mn-lt"/>
                <a:ea typeface="+mn-ea"/>
                <a:cs typeface="+mn-cs"/>
              </a:rPr>
              <a:t>总体方差未知对正态总体均值的检验</a:t>
            </a:r>
            <a:br>
              <a:rPr lang="en-US" altLang="zh-CN" sz="3600" b="1" dirty="0">
                <a:effectLst/>
              </a:rPr>
            </a:br>
            <a:r>
              <a:rPr lang="en-US" altLang="zh-CN" sz="3600" b="1" dirty="0">
                <a:effectLst/>
              </a:rPr>
              <a:t>——</a:t>
            </a:r>
            <a:r>
              <a:rPr lang="en-US" altLang="zh-CN" sz="3600" b="1" i="1" dirty="0">
                <a:solidFill>
                  <a:srgbClr val="CC66FF"/>
                </a:solidFill>
                <a:effectLst/>
              </a:rPr>
              <a:t>t</a:t>
            </a:r>
            <a:r>
              <a:rPr lang="en-US" altLang="zh-CN" sz="3600" b="1" dirty="0">
                <a:solidFill>
                  <a:srgbClr val="CC66FF"/>
                </a:solidFill>
                <a:effectLst/>
              </a:rPr>
              <a:t> </a:t>
            </a:r>
            <a:r>
              <a:rPr lang="zh-CN" altLang="en-US" sz="3600" b="1" dirty="0">
                <a:solidFill>
                  <a:srgbClr val="CC66FF"/>
                </a:solidFill>
                <a:effectLst/>
              </a:rPr>
              <a:t>检验法</a:t>
            </a:r>
          </a:p>
        </p:txBody>
      </p:sp>
      <p:sp>
        <p:nvSpPr>
          <p:cNvPr id="168963" name="Rectangle 3"/>
          <p:cNvSpPr>
            <a:spLocks noGrp="1" noChangeArrowheads="1"/>
          </p:cNvSpPr>
          <p:nvPr>
            <p:ph type="body" sz="half" idx="4294967295"/>
          </p:nvPr>
        </p:nvSpPr>
        <p:spPr>
          <a:xfrm>
            <a:off x="2219252" y="1516341"/>
            <a:ext cx="6188148" cy="1689100"/>
          </a:xfrm>
          <a:noFill/>
        </p:spPr>
        <p:txBody>
          <a:bodyPr vert="horz" lIns="90488" tIns="44450" rIns="90488" bIns="44450" rtlCol="0">
            <a:noAutofit/>
          </a:bodyPr>
          <a:lstStyle/>
          <a:p>
            <a:pPr marL="571500" indent="-571500">
              <a:lnSpc>
                <a:spcPct val="150000"/>
              </a:lnSpc>
            </a:pPr>
            <a:r>
              <a:rPr lang="en-US" altLang="zh-CN" b="1" i="1" dirty="0"/>
              <a:t>H</a:t>
            </a:r>
            <a:r>
              <a:rPr lang="en-US" altLang="zh-CN" b="1" i="1" baseline="-25000" dirty="0"/>
              <a:t>0</a:t>
            </a:r>
            <a:r>
              <a:rPr lang="en-US" altLang="zh-CN" b="1" dirty="0"/>
              <a:t>:</a:t>
            </a:r>
            <a:r>
              <a:rPr lang="en-US" altLang="zh-CN" b="1" i="1" dirty="0"/>
              <a:t>             </a:t>
            </a:r>
            <a:r>
              <a:rPr lang="zh-CN" altLang="en-US" b="1" dirty="0"/>
              <a:t>；</a:t>
            </a:r>
            <a:r>
              <a:rPr lang="en-US" altLang="zh-CN" b="1" i="1" dirty="0"/>
              <a:t>H</a:t>
            </a:r>
            <a:r>
              <a:rPr lang="en-US" altLang="zh-CN" b="1" i="1" baseline="-25000" dirty="0"/>
              <a:t>1</a:t>
            </a:r>
            <a:r>
              <a:rPr lang="en-US" altLang="zh-CN" b="1" i="1" dirty="0"/>
              <a:t>:</a:t>
            </a:r>
            <a:endParaRPr lang="en-US" altLang="zh-CN" b="1" dirty="0"/>
          </a:p>
          <a:p>
            <a:pPr marL="571500" indent="-571500">
              <a:lnSpc>
                <a:spcPct val="150000"/>
              </a:lnSpc>
              <a:spcBef>
                <a:spcPct val="30000"/>
              </a:spcBef>
            </a:pPr>
            <a:r>
              <a:rPr lang="zh-CN" altLang="en-US" b="1" dirty="0"/>
              <a:t>检验统计量：</a:t>
            </a:r>
          </a:p>
        </p:txBody>
      </p:sp>
      <p:graphicFrame>
        <p:nvGraphicFramePr>
          <p:cNvPr id="17411" name="Object 20"/>
          <p:cNvGraphicFramePr>
            <a:graphicFrameLocks noGrp="1" noChangeAspect="1"/>
          </p:cNvGraphicFramePr>
          <p:nvPr>
            <p:ph sz="quarter" idx="4294967295"/>
            <p:extLst>
              <p:ext uri="{D42A27DB-BD31-4B8C-83A1-F6EECF244321}">
                <p14:modId xmlns:p14="http://schemas.microsoft.com/office/powerpoint/2010/main" val="1549612569"/>
              </p:ext>
            </p:extLst>
          </p:nvPr>
        </p:nvGraphicFramePr>
        <p:xfrm>
          <a:off x="3553980" y="1581032"/>
          <a:ext cx="1368425" cy="703262"/>
        </p:xfrm>
        <a:graphic>
          <a:graphicData uri="http://schemas.openxmlformats.org/presentationml/2006/ole">
            <mc:AlternateContent xmlns:mc="http://schemas.openxmlformats.org/markup-compatibility/2006">
              <mc:Choice xmlns:v="urn:schemas-microsoft-com:vml" Requires="v">
                <p:oleObj name="公式" r:id="rId3" imgW="444240" imgH="228600" progId="Equation.3">
                  <p:embed/>
                </p:oleObj>
              </mc:Choice>
              <mc:Fallback>
                <p:oleObj name="公式" r:id="rId3" imgW="444240" imgH="228600" progId="Equation.3">
                  <p:embed/>
                  <p:pic>
                    <p:nvPicPr>
                      <p:cNvPr id="17411" name="Object 2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53980" y="1581032"/>
                        <a:ext cx="1368425" cy="7032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68964" name="Object 4">
            <a:hlinkClick r:id="" action="ppaction://ole?verb=0"/>
          </p:cNvPr>
          <p:cNvGraphicFramePr>
            <a:graphicFrameLocks/>
          </p:cNvGraphicFramePr>
          <p:nvPr>
            <p:extLst>
              <p:ext uri="{D42A27DB-BD31-4B8C-83A1-F6EECF244321}">
                <p14:modId xmlns:p14="http://schemas.microsoft.com/office/powerpoint/2010/main" val="1494337536"/>
              </p:ext>
            </p:extLst>
          </p:nvPr>
        </p:nvGraphicFramePr>
        <p:xfrm>
          <a:off x="5184196" y="2298443"/>
          <a:ext cx="3433761" cy="1184275"/>
        </p:xfrm>
        <a:graphic>
          <a:graphicData uri="http://schemas.openxmlformats.org/presentationml/2006/ole">
            <mc:AlternateContent xmlns:mc="http://schemas.openxmlformats.org/markup-compatibility/2006">
              <mc:Choice xmlns:v="urn:schemas-microsoft-com:vml" Requires="v">
                <p:oleObj name="公式" r:id="rId5" imgW="1282680" imgH="444240" progId="Equation.3">
                  <p:embed/>
                </p:oleObj>
              </mc:Choice>
              <mc:Fallback>
                <p:oleObj name="公式" r:id="rId5" imgW="1282680" imgH="444240" progId="Equation.3">
                  <p:embed/>
                  <p:pic>
                    <p:nvPicPr>
                      <p:cNvPr id="168964" name="Object 4">
                        <a:hlinkClick r:id="" action="ppaction://ole?verb=0"/>
                      </p:cNvPr>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184196" y="2298443"/>
                        <a:ext cx="3433761" cy="1184275"/>
                      </a:xfrm>
                      <a:prstGeom prst="rect">
                        <a:avLst/>
                      </a:prstGeom>
                      <a:noFill/>
                      <a:ln>
                        <a:solidFill>
                          <a:srgbClr val="C00000"/>
                        </a:solidFill>
                      </a:ln>
                      <a:effectLst>
                        <a:outerShdw dist="17961" dir="2700000" algn="ctr" rotWithShape="0">
                          <a:schemeClr val="bg2"/>
                        </a:outerShdw>
                      </a:effectLst>
                    </p:spPr>
                  </p:pic>
                </p:oleObj>
              </mc:Fallback>
            </mc:AlternateContent>
          </a:graphicData>
        </a:graphic>
      </p:graphicFrame>
      <p:sp>
        <p:nvSpPr>
          <p:cNvPr id="168965" name="Rectangle 5"/>
          <p:cNvSpPr>
            <a:spLocks noChangeArrowheads="1"/>
          </p:cNvSpPr>
          <p:nvPr/>
        </p:nvSpPr>
        <p:spPr bwMode="auto">
          <a:xfrm>
            <a:off x="1919289" y="3429001"/>
            <a:ext cx="8675687" cy="3095625"/>
          </a:xfrm>
          <a:prstGeom prst="rect">
            <a:avLst/>
          </a:prstGeom>
          <a:noFill/>
          <a:ln w="12700">
            <a:noFill/>
            <a:miter lim="800000"/>
            <a:headEnd/>
            <a:tailEnd/>
          </a:ln>
        </p:spPr>
        <p:txBody>
          <a:bodyPr lIns="90488" tIns="44450" rIns="90488" bIns="44450"/>
          <a:lstStyle/>
          <a:p>
            <a:pPr marL="571500" indent="-571500">
              <a:spcBef>
                <a:spcPts val="600"/>
              </a:spcBef>
              <a:buSzPct val="90000"/>
              <a:buBlip>
                <a:blip r:embed="rId7"/>
              </a:buBlip>
            </a:pPr>
            <a:r>
              <a:rPr kumimoji="1" lang="zh-CN" altLang="en-US" sz="2400" b="1" dirty="0">
                <a:solidFill>
                  <a:srgbClr val="000000"/>
                </a:solidFill>
                <a:latin typeface="Tahoma" pitchFamily="34" charset="0"/>
              </a:rPr>
              <a:t>给定显著性水平</a:t>
            </a:r>
            <a:r>
              <a:rPr lang="el-GR" altLang="zh-CN" sz="2400" b="1" i="1" dirty="0">
                <a:solidFill>
                  <a:srgbClr val="000000"/>
                </a:solidFill>
                <a:latin typeface="宋体" pitchFamily="2" charset="-122"/>
              </a:rPr>
              <a:t>α</a:t>
            </a:r>
            <a:r>
              <a:rPr kumimoji="1" lang="zh-CN" altLang="en-US" sz="2400" b="1" dirty="0">
                <a:solidFill>
                  <a:srgbClr val="000000"/>
                </a:solidFill>
                <a:latin typeface="Tahoma" pitchFamily="34" charset="0"/>
              </a:rPr>
              <a:t>，查得 </a:t>
            </a:r>
            <a:r>
              <a:rPr kumimoji="1" lang="en-US" altLang="zh-CN" sz="2400" b="1" i="1" dirty="0">
                <a:solidFill>
                  <a:srgbClr val="00B0F0"/>
                </a:solidFill>
                <a:latin typeface="Tahoma" pitchFamily="34" charset="0"/>
              </a:rPr>
              <a:t>t</a:t>
            </a:r>
            <a:r>
              <a:rPr kumimoji="1" lang="en-US" altLang="zh-CN" sz="2400" b="1" dirty="0">
                <a:solidFill>
                  <a:srgbClr val="00B0F0"/>
                </a:solidFill>
                <a:latin typeface="Tahoma" pitchFamily="34" charset="0"/>
              </a:rPr>
              <a:t> </a:t>
            </a:r>
            <a:r>
              <a:rPr kumimoji="1" lang="zh-CN" altLang="en-US" sz="2400" b="1" dirty="0">
                <a:solidFill>
                  <a:srgbClr val="00B0F0"/>
                </a:solidFill>
                <a:latin typeface="Tahoma" pitchFamily="34" charset="0"/>
              </a:rPr>
              <a:t>分布表</a:t>
            </a:r>
            <a:r>
              <a:rPr kumimoji="1" lang="zh-CN" altLang="en-US" sz="2400" b="1" dirty="0">
                <a:solidFill>
                  <a:srgbClr val="000000"/>
                </a:solidFill>
                <a:latin typeface="Tahoma" pitchFamily="34" charset="0"/>
              </a:rPr>
              <a:t>中自由度为（</a:t>
            </a:r>
            <a:r>
              <a:rPr kumimoji="1" lang="en-US" altLang="zh-CN" sz="2400" b="1" dirty="0">
                <a:solidFill>
                  <a:srgbClr val="000000"/>
                </a:solidFill>
                <a:latin typeface="Tahoma" pitchFamily="34" charset="0"/>
              </a:rPr>
              <a:t>n-1)</a:t>
            </a:r>
            <a:r>
              <a:rPr kumimoji="1" lang="zh-CN" altLang="en-US" sz="2400" b="1" dirty="0">
                <a:solidFill>
                  <a:srgbClr val="000000"/>
                </a:solidFill>
                <a:latin typeface="Tahoma" pitchFamily="34" charset="0"/>
              </a:rPr>
              <a:t>所对应的</a:t>
            </a:r>
            <a:r>
              <a:rPr lang="zh-CN" altLang="en-US" sz="2400" b="1" dirty="0">
                <a:solidFill>
                  <a:srgbClr val="CC0099"/>
                </a:solidFill>
                <a:latin typeface="Tahoma" pitchFamily="34" charset="0"/>
              </a:rPr>
              <a:t>临界值</a:t>
            </a:r>
            <a:r>
              <a:rPr kumimoji="1" lang="zh-CN" altLang="en-US" sz="2400" b="1" dirty="0">
                <a:latin typeface="Tahoma" pitchFamily="34" charset="0"/>
              </a:rPr>
              <a:t>。</a:t>
            </a:r>
          </a:p>
          <a:p>
            <a:pPr marL="971550" lvl="1" indent="-285750">
              <a:spcBef>
                <a:spcPts val="600"/>
              </a:spcBef>
              <a:buSzPct val="80000"/>
              <a:buBlip>
                <a:blip r:embed="rId8"/>
              </a:buBlip>
            </a:pPr>
            <a:r>
              <a:rPr lang="zh-CN" altLang="en-US" sz="2400" b="1" dirty="0">
                <a:solidFill>
                  <a:srgbClr val="000000"/>
                </a:solidFill>
                <a:latin typeface="Tahoma" pitchFamily="34" charset="0"/>
                <a:sym typeface="Symbol" pitchFamily="18" charset="2"/>
              </a:rPr>
              <a:t>左侧检验，临界值为 </a:t>
            </a:r>
            <a:r>
              <a:rPr lang="en-US" altLang="zh-CN" sz="2400" b="1" dirty="0">
                <a:solidFill>
                  <a:srgbClr val="CC0099"/>
                </a:solidFill>
                <a:latin typeface="Tahoma" pitchFamily="34" charset="0"/>
                <a:sym typeface="Symbol" pitchFamily="18" charset="2"/>
              </a:rPr>
              <a:t>- </a:t>
            </a:r>
            <a:r>
              <a:rPr lang="en-US" altLang="zh-CN" sz="2400" b="1" i="1" dirty="0">
                <a:solidFill>
                  <a:srgbClr val="CC0099"/>
                </a:solidFill>
                <a:latin typeface="Tahoma" pitchFamily="34" charset="0"/>
                <a:sym typeface="Symbol" pitchFamily="18" charset="2"/>
              </a:rPr>
              <a:t>t</a:t>
            </a:r>
            <a:r>
              <a:rPr lang="el-GR" altLang="zh-CN" sz="2400" b="1" i="1" baseline="-25000" dirty="0">
                <a:solidFill>
                  <a:srgbClr val="CC0099"/>
                </a:solidFill>
                <a:latin typeface="宋体" pitchFamily="2" charset="-122"/>
              </a:rPr>
              <a:t>α</a:t>
            </a:r>
            <a:r>
              <a:rPr lang="en-US" altLang="zh-CN" sz="2400" b="1" i="1" dirty="0">
                <a:solidFill>
                  <a:srgbClr val="CC0099"/>
                </a:solidFill>
                <a:latin typeface="宋体" pitchFamily="2" charset="-122"/>
              </a:rPr>
              <a:t>(n-1)</a:t>
            </a:r>
            <a:r>
              <a:rPr lang="zh-CN" altLang="en-US" sz="2400" b="1" i="1" dirty="0">
                <a:solidFill>
                  <a:srgbClr val="CC0099"/>
                </a:solidFill>
                <a:latin typeface="宋体" pitchFamily="2" charset="-122"/>
              </a:rPr>
              <a:t>，</a:t>
            </a:r>
            <a:r>
              <a:rPr kumimoji="1" lang="en-US" altLang="zh-CN" sz="2400" i="1" dirty="0">
                <a:solidFill>
                  <a:srgbClr val="000000"/>
                </a:solidFill>
                <a:latin typeface="Times New Roman" pitchFamily="18" charset="0"/>
              </a:rPr>
              <a:t>P</a:t>
            </a:r>
            <a:r>
              <a:rPr kumimoji="1" lang="zh-CN" altLang="en-US" sz="2400" dirty="0">
                <a:solidFill>
                  <a:srgbClr val="000000"/>
                </a:solidFill>
                <a:latin typeface="Tahoma" pitchFamily="34" charset="0"/>
              </a:rPr>
              <a:t>值</a:t>
            </a:r>
            <a:r>
              <a:rPr kumimoji="1" lang="en-US" altLang="zh-CN" sz="2400" dirty="0">
                <a:solidFill>
                  <a:srgbClr val="000000"/>
                </a:solidFill>
                <a:latin typeface="Tahoma" pitchFamily="34" charset="0"/>
              </a:rPr>
              <a:t>=</a:t>
            </a:r>
            <a:endParaRPr kumimoji="1" lang="en-US" altLang="zh-CN" sz="2400" dirty="0">
              <a:latin typeface="Tahoma" pitchFamily="34" charset="0"/>
            </a:endParaRPr>
          </a:p>
          <a:p>
            <a:pPr marL="971550" lvl="1" indent="-285750">
              <a:spcBef>
                <a:spcPts val="600"/>
              </a:spcBef>
              <a:buSzPct val="80000"/>
              <a:buBlip>
                <a:blip r:embed="rId8"/>
              </a:buBlip>
            </a:pPr>
            <a:r>
              <a:rPr lang="zh-CN" altLang="en-US" sz="2400" b="1" dirty="0">
                <a:solidFill>
                  <a:srgbClr val="000000"/>
                </a:solidFill>
                <a:latin typeface="Tahoma" pitchFamily="34" charset="0"/>
                <a:sym typeface="Symbol" pitchFamily="18" charset="2"/>
              </a:rPr>
              <a:t>右侧检验，临界值为 </a:t>
            </a:r>
            <a:r>
              <a:rPr lang="en-US" altLang="zh-CN" sz="2400" b="1" i="1" dirty="0">
                <a:solidFill>
                  <a:srgbClr val="CC0099"/>
                </a:solidFill>
                <a:latin typeface="Tahoma" pitchFamily="34" charset="0"/>
                <a:sym typeface="Symbol" pitchFamily="18" charset="2"/>
              </a:rPr>
              <a:t>t</a:t>
            </a:r>
            <a:r>
              <a:rPr lang="el-GR" altLang="zh-CN" sz="2400" b="1" i="1" baseline="-25000" dirty="0">
                <a:solidFill>
                  <a:srgbClr val="CC0099"/>
                </a:solidFill>
                <a:latin typeface="宋体" pitchFamily="2" charset="-122"/>
              </a:rPr>
              <a:t>α</a:t>
            </a:r>
            <a:r>
              <a:rPr lang="en-US" altLang="zh-CN" sz="2400" b="1" i="1" dirty="0">
                <a:solidFill>
                  <a:srgbClr val="CC0099"/>
                </a:solidFill>
                <a:latin typeface="宋体" pitchFamily="2" charset="-122"/>
              </a:rPr>
              <a:t>(n-1)</a:t>
            </a:r>
            <a:r>
              <a:rPr lang="en-US" altLang="zh-CN" sz="2400" b="1" dirty="0">
                <a:solidFill>
                  <a:srgbClr val="000000"/>
                </a:solidFill>
                <a:latin typeface="Tahoma" pitchFamily="34" charset="0"/>
                <a:sym typeface="Symbol" pitchFamily="18" charset="2"/>
              </a:rPr>
              <a:t> </a:t>
            </a:r>
            <a:r>
              <a:rPr lang="zh-CN" altLang="en-US" sz="2400" b="1" i="1" dirty="0">
                <a:solidFill>
                  <a:srgbClr val="CC0099"/>
                </a:solidFill>
                <a:latin typeface="宋体" pitchFamily="2" charset="-122"/>
              </a:rPr>
              <a:t>，</a:t>
            </a:r>
            <a:r>
              <a:rPr kumimoji="1" lang="en-US" altLang="zh-CN" sz="2400" i="1" dirty="0">
                <a:solidFill>
                  <a:srgbClr val="000000"/>
                </a:solidFill>
                <a:latin typeface="Times New Roman" pitchFamily="18" charset="0"/>
              </a:rPr>
              <a:t>P</a:t>
            </a:r>
            <a:r>
              <a:rPr kumimoji="1" lang="zh-CN" altLang="en-US" sz="2400" dirty="0">
                <a:solidFill>
                  <a:srgbClr val="000000"/>
                </a:solidFill>
                <a:latin typeface="Tahoma" pitchFamily="34" charset="0"/>
              </a:rPr>
              <a:t>值</a:t>
            </a:r>
            <a:r>
              <a:rPr kumimoji="1" lang="en-US" altLang="zh-CN" sz="2400" dirty="0">
                <a:solidFill>
                  <a:srgbClr val="000000"/>
                </a:solidFill>
                <a:latin typeface="Tahoma" pitchFamily="34" charset="0"/>
              </a:rPr>
              <a:t>=</a:t>
            </a:r>
            <a:endParaRPr kumimoji="1" lang="en-US" altLang="zh-CN" sz="2400" dirty="0">
              <a:latin typeface="Tahoma" pitchFamily="34" charset="0"/>
            </a:endParaRPr>
          </a:p>
          <a:p>
            <a:pPr marL="971550" lvl="1" indent="-285750">
              <a:spcBef>
                <a:spcPts val="600"/>
              </a:spcBef>
              <a:buSzPct val="80000"/>
              <a:buBlip>
                <a:blip r:embed="rId8"/>
              </a:buBlip>
            </a:pPr>
            <a:r>
              <a:rPr lang="zh-CN" altLang="en-US" sz="2400" b="1" dirty="0">
                <a:solidFill>
                  <a:srgbClr val="000000"/>
                </a:solidFill>
                <a:latin typeface="Tahoma" pitchFamily="34" charset="0"/>
                <a:sym typeface="Symbol" pitchFamily="18" charset="2"/>
              </a:rPr>
              <a:t>双侧检验时，临界值为</a:t>
            </a:r>
            <a:r>
              <a:rPr lang="zh-CN" altLang="en-US" sz="2400" b="1" dirty="0">
                <a:solidFill>
                  <a:srgbClr val="CC0099"/>
                </a:solidFill>
                <a:latin typeface="Tahoma" pitchFamily="34" charset="0"/>
                <a:sym typeface="Symbol" pitchFamily="18" charset="2"/>
              </a:rPr>
              <a:t> </a:t>
            </a:r>
            <a:r>
              <a:rPr lang="en-US" altLang="zh-CN" sz="2400" b="1" dirty="0">
                <a:solidFill>
                  <a:srgbClr val="CC0099"/>
                </a:solidFill>
                <a:latin typeface="Tahoma" pitchFamily="34" charset="0"/>
                <a:sym typeface="Symbol" pitchFamily="18" charset="2"/>
              </a:rPr>
              <a:t>-</a:t>
            </a:r>
            <a:r>
              <a:rPr lang="en-US" altLang="zh-CN" sz="2400" b="1" i="1" dirty="0">
                <a:solidFill>
                  <a:srgbClr val="CC0099"/>
                </a:solidFill>
                <a:latin typeface="Tahoma" pitchFamily="34" charset="0"/>
                <a:sym typeface="Symbol" pitchFamily="18" charset="2"/>
              </a:rPr>
              <a:t>t</a:t>
            </a:r>
            <a:r>
              <a:rPr lang="el-GR" altLang="zh-CN" sz="2400" b="1" i="1" baseline="-25000" dirty="0">
                <a:solidFill>
                  <a:srgbClr val="CC0099"/>
                </a:solidFill>
                <a:latin typeface="宋体" pitchFamily="2" charset="-122"/>
              </a:rPr>
              <a:t>α</a:t>
            </a:r>
            <a:r>
              <a:rPr lang="en-US" altLang="zh-CN" sz="2400" b="1" i="1" baseline="-25000" dirty="0">
                <a:solidFill>
                  <a:srgbClr val="CC0099"/>
                </a:solidFill>
                <a:latin typeface="宋体" pitchFamily="2" charset="-122"/>
              </a:rPr>
              <a:t>/2</a:t>
            </a:r>
            <a:r>
              <a:rPr lang="en-US" altLang="zh-CN" sz="2400" b="1" i="1" dirty="0">
                <a:solidFill>
                  <a:srgbClr val="CC0099"/>
                </a:solidFill>
                <a:latin typeface="宋体" pitchFamily="2" charset="-122"/>
              </a:rPr>
              <a:t>(n-1)</a:t>
            </a:r>
            <a:r>
              <a:rPr lang="zh-CN" altLang="en-US" sz="2400" b="1" i="1" dirty="0">
                <a:solidFill>
                  <a:srgbClr val="CC0099"/>
                </a:solidFill>
                <a:latin typeface="宋体" pitchFamily="2" charset="-122"/>
              </a:rPr>
              <a:t>和 </a:t>
            </a:r>
            <a:r>
              <a:rPr lang="en-US" altLang="zh-CN" sz="2400" b="1" i="1" dirty="0">
                <a:solidFill>
                  <a:srgbClr val="CC0099"/>
                </a:solidFill>
                <a:latin typeface="Tahoma" pitchFamily="34" charset="0"/>
                <a:sym typeface="Symbol" pitchFamily="18" charset="2"/>
              </a:rPr>
              <a:t>t</a:t>
            </a:r>
            <a:r>
              <a:rPr lang="el-GR" altLang="zh-CN" sz="2400" b="1" i="1" baseline="-25000" dirty="0">
                <a:solidFill>
                  <a:srgbClr val="CC0099"/>
                </a:solidFill>
                <a:latin typeface="宋体" pitchFamily="2" charset="-122"/>
              </a:rPr>
              <a:t>α</a:t>
            </a:r>
            <a:r>
              <a:rPr lang="en-US" altLang="zh-CN" sz="2400" b="1" i="1" baseline="-25000" dirty="0">
                <a:solidFill>
                  <a:srgbClr val="CC0099"/>
                </a:solidFill>
                <a:latin typeface="宋体" pitchFamily="2" charset="-122"/>
              </a:rPr>
              <a:t>/2</a:t>
            </a:r>
            <a:r>
              <a:rPr lang="en-US" altLang="zh-CN" sz="2400" b="1" i="1" dirty="0">
                <a:solidFill>
                  <a:srgbClr val="CC0099"/>
                </a:solidFill>
                <a:latin typeface="宋体" pitchFamily="2" charset="-122"/>
              </a:rPr>
              <a:t>(n-1)</a:t>
            </a:r>
            <a:r>
              <a:rPr lang="zh-CN" altLang="en-US" sz="2400" b="1" i="1" dirty="0">
                <a:solidFill>
                  <a:srgbClr val="CC0099"/>
                </a:solidFill>
                <a:latin typeface="宋体" pitchFamily="2" charset="-122"/>
              </a:rPr>
              <a:t>。</a:t>
            </a:r>
            <a:endParaRPr kumimoji="1" lang="zh-CN" altLang="en-US" sz="2400" dirty="0">
              <a:latin typeface="Tahoma" pitchFamily="34" charset="0"/>
            </a:endParaRPr>
          </a:p>
          <a:p>
            <a:pPr marL="571500" indent="-571500">
              <a:spcBef>
                <a:spcPts val="600"/>
              </a:spcBef>
              <a:buSzPct val="90000"/>
              <a:buBlip>
                <a:blip r:embed="rId7"/>
              </a:buBlip>
            </a:pPr>
            <a:r>
              <a:rPr kumimoji="1" lang="zh-CN" altLang="en-US" sz="2400" dirty="0">
                <a:latin typeface="Tahoma" pitchFamily="34" charset="0"/>
              </a:rPr>
              <a:t>其余步骤同前。</a:t>
            </a:r>
          </a:p>
        </p:txBody>
      </p:sp>
      <p:graphicFrame>
        <p:nvGraphicFramePr>
          <p:cNvPr id="17412" name="Object 25"/>
          <p:cNvGraphicFramePr>
            <a:graphicFrameLocks noChangeAspect="1"/>
          </p:cNvGraphicFramePr>
          <p:nvPr>
            <p:extLst>
              <p:ext uri="{D42A27DB-BD31-4B8C-83A1-F6EECF244321}">
                <p14:modId xmlns:p14="http://schemas.microsoft.com/office/powerpoint/2010/main" val="2720323076"/>
              </p:ext>
            </p:extLst>
          </p:nvPr>
        </p:nvGraphicFramePr>
        <p:xfrm>
          <a:off x="6257132" y="1501260"/>
          <a:ext cx="3312244" cy="690563"/>
        </p:xfrm>
        <a:graphic>
          <a:graphicData uri="http://schemas.openxmlformats.org/presentationml/2006/ole">
            <mc:AlternateContent xmlns:mc="http://schemas.openxmlformats.org/markup-compatibility/2006">
              <mc:Choice xmlns:v="urn:schemas-microsoft-com:vml" Requires="v">
                <p:oleObj name="公式" r:id="rId9" imgW="952200" imgH="228600" progId="Equation.3">
                  <p:embed/>
                </p:oleObj>
              </mc:Choice>
              <mc:Fallback>
                <p:oleObj name="公式" r:id="rId9" imgW="952200" imgH="228600" progId="Equation.3">
                  <p:embed/>
                  <p:pic>
                    <p:nvPicPr>
                      <p:cNvPr id="17412" name="Object 2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257132" y="1501260"/>
                        <a:ext cx="3312244" cy="6905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7419" name="Rectangle 27"/>
          <p:cNvSpPr>
            <a:spLocks noChangeArrowheads="1"/>
          </p:cNvSpPr>
          <p:nvPr/>
        </p:nvSpPr>
        <p:spPr bwMode="auto">
          <a:xfrm>
            <a:off x="1524001" y="3144322"/>
            <a:ext cx="184731" cy="369332"/>
          </a:xfrm>
          <a:prstGeom prst="rect">
            <a:avLst/>
          </a:prstGeom>
          <a:noFill/>
          <a:ln w="9525">
            <a:noFill/>
            <a:miter lim="800000"/>
            <a:headEnd/>
            <a:tailEnd/>
          </a:ln>
        </p:spPr>
        <p:txBody>
          <a:bodyPr wrap="none" anchor="ctr">
            <a:spAutoFit/>
          </a:bodyPr>
          <a:lstStyle/>
          <a:p>
            <a:endParaRPr lang="zh-CN" altLang="en-US"/>
          </a:p>
        </p:txBody>
      </p:sp>
      <p:graphicFrame>
        <p:nvGraphicFramePr>
          <p:cNvPr id="17413" name="Object 26"/>
          <p:cNvGraphicFramePr>
            <a:graphicFrameLocks noChangeAspect="1"/>
          </p:cNvGraphicFramePr>
          <p:nvPr>
            <p:extLst>
              <p:ext uri="{D42A27DB-BD31-4B8C-83A1-F6EECF244321}">
                <p14:modId xmlns:p14="http://schemas.microsoft.com/office/powerpoint/2010/main" val="4136198982"/>
              </p:ext>
            </p:extLst>
          </p:nvPr>
        </p:nvGraphicFramePr>
        <p:xfrm>
          <a:off x="8151021" y="4153178"/>
          <a:ext cx="2089150" cy="554038"/>
        </p:xfrm>
        <a:graphic>
          <a:graphicData uri="http://schemas.openxmlformats.org/presentationml/2006/ole">
            <mc:AlternateContent xmlns:mc="http://schemas.openxmlformats.org/markup-compatibility/2006">
              <mc:Choice xmlns:v="urn:schemas-microsoft-com:vml" Requires="v">
                <p:oleObj name="公式" r:id="rId11" imgW="876300" imgH="203200" progId="Equation.3">
                  <p:embed/>
                </p:oleObj>
              </mc:Choice>
              <mc:Fallback>
                <p:oleObj name="公式" r:id="rId11" imgW="876300" imgH="203200" progId="Equation.3">
                  <p:embed/>
                  <p:pic>
                    <p:nvPicPr>
                      <p:cNvPr id="17413" name="Object 2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8151021" y="4153178"/>
                        <a:ext cx="2089150" cy="5540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7420" name="Rectangle 29"/>
          <p:cNvSpPr>
            <a:spLocks noChangeArrowheads="1"/>
          </p:cNvSpPr>
          <p:nvPr/>
        </p:nvSpPr>
        <p:spPr bwMode="auto">
          <a:xfrm>
            <a:off x="1524001" y="3144322"/>
            <a:ext cx="184731" cy="369332"/>
          </a:xfrm>
          <a:prstGeom prst="rect">
            <a:avLst/>
          </a:prstGeom>
          <a:noFill/>
          <a:ln w="9525">
            <a:noFill/>
            <a:miter lim="800000"/>
            <a:headEnd/>
            <a:tailEnd/>
          </a:ln>
        </p:spPr>
        <p:txBody>
          <a:bodyPr wrap="none" anchor="ctr">
            <a:spAutoFit/>
          </a:bodyPr>
          <a:lstStyle/>
          <a:p>
            <a:endParaRPr lang="zh-CN" altLang="en-US"/>
          </a:p>
        </p:txBody>
      </p:sp>
      <p:graphicFrame>
        <p:nvGraphicFramePr>
          <p:cNvPr id="17414" name="Object 28"/>
          <p:cNvGraphicFramePr>
            <a:graphicFrameLocks noChangeAspect="1"/>
          </p:cNvGraphicFramePr>
          <p:nvPr>
            <p:extLst>
              <p:ext uri="{D42A27DB-BD31-4B8C-83A1-F6EECF244321}">
                <p14:modId xmlns:p14="http://schemas.microsoft.com/office/powerpoint/2010/main" val="655413487"/>
              </p:ext>
            </p:extLst>
          </p:nvPr>
        </p:nvGraphicFramePr>
        <p:xfrm>
          <a:off x="7957630" y="4631295"/>
          <a:ext cx="2160587" cy="544512"/>
        </p:xfrm>
        <a:graphic>
          <a:graphicData uri="http://schemas.openxmlformats.org/presentationml/2006/ole">
            <mc:AlternateContent xmlns:mc="http://schemas.openxmlformats.org/markup-compatibility/2006">
              <mc:Choice xmlns:v="urn:schemas-microsoft-com:vml" Requires="v">
                <p:oleObj name="公式" r:id="rId13" imgW="888614" imgH="203112" progId="Equation.3">
                  <p:embed/>
                </p:oleObj>
              </mc:Choice>
              <mc:Fallback>
                <p:oleObj name="公式" r:id="rId13" imgW="888614" imgH="203112" progId="Equation.3">
                  <p:embed/>
                  <p:pic>
                    <p:nvPicPr>
                      <p:cNvPr id="17414" name="Object 28"/>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957630" y="4631295"/>
                        <a:ext cx="2160587" cy="5445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4673990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68963">
                                            <p:txEl>
                                              <p:pRg st="1" end="1"/>
                                            </p:txEl>
                                          </p:spTgt>
                                        </p:tgtEl>
                                        <p:attrNameLst>
                                          <p:attrName>style.visibility</p:attrName>
                                        </p:attrNameLst>
                                      </p:cBhvr>
                                      <p:to>
                                        <p:strVal val="visible"/>
                                      </p:to>
                                    </p:set>
                                    <p:animEffect transition="in" filter="wipe(left)">
                                      <p:cBhvr>
                                        <p:cTn id="7" dur="500"/>
                                        <p:tgtEl>
                                          <p:spTgt spid="168963">
                                            <p:txEl>
                                              <p:pRg st="1" end="1"/>
                                            </p:txEl>
                                          </p:spTgt>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168964"/>
                                        </p:tgtEl>
                                        <p:attrNameLst>
                                          <p:attrName>style.visibility</p:attrName>
                                        </p:attrNameLst>
                                      </p:cBhvr>
                                      <p:to>
                                        <p:strVal val="visible"/>
                                      </p:to>
                                    </p:set>
                                    <p:animEffect transition="in" filter="wipe(left)">
                                      <p:cBhvr>
                                        <p:cTn id="11" dur="1000"/>
                                        <p:tgtEl>
                                          <p:spTgt spid="168964"/>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168965">
                                            <p:txEl>
                                              <p:pRg st="0" end="0"/>
                                            </p:txEl>
                                          </p:spTgt>
                                        </p:tgtEl>
                                        <p:attrNameLst>
                                          <p:attrName>style.visibility</p:attrName>
                                        </p:attrNameLst>
                                      </p:cBhvr>
                                      <p:to>
                                        <p:strVal val="visible"/>
                                      </p:to>
                                    </p:set>
                                    <p:animEffect transition="in" filter="wipe(left)">
                                      <p:cBhvr>
                                        <p:cTn id="16" dur="500"/>
                                        <p:tgtEl>
                                          <p:spTgt spid="168965">
                                            <p:txEl>
                                              <p:pRg st="0" end="0"/>
                                            </p:txEl>
                                          </p:spTgt>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168965">
                                            <p:txEl>
                                              <p:pRg st="1" end="1"/>
                                            </p:txEl>
                                          </p:spTgt>
                                        </p:tgtEl>
                                        <p:attrNameLst>
                                          <p:attrName>style.visibility</p:attrName>
                                        </p:attrNameLst>
                                      </p:cBhvr>
                                      <p:to>
                                        <p:strVal val="visible"/>
                                      </p:to>
                                    </p:set>
                                    <p:animEffect transition="in" filter="wipe(left)">
                                      <p:cBhvr>
                                        <p:cTn id="19" dur="250"/>
                                        <p:tgtEl>
                                          <p:spTgt spid="168965">
                                            <p:txEl>
                                              <p:pRg st="1" end="1"/>
                                            </p:txEl>
                                          </p:spTgt>
                                        </p:tgtEl>
                                      </p:cBhvr>
                                    </p:animEffect>
                                  </p:childTnLst>
                                </p:cTn>
                              </p:par>
                            </p:childTnLst>
                          </p:cTn>
                        </p:par>
                        <p:par>
                          <p:cTn id="20" fill="hold">
                            <p:stCondLst>
                              <p:cond delay="500"/>
                            </p:stCondLst>
                            <p:childTnLst>
                              <p:par>
                                <p:cTn id="21" presetID="1" presetClass="entr" presetSubtype="0" fill="hold" nodeType="afterEffect">
                                  <p:stCondLst>
                                    <p:cond delay="0"/>
                                  </p:stCondLst>
                                  <p:childTnLst>
                                    <p:set>
                                      <p:cBhvr>
                                        <p:cTn id="22" dur="1" fill="hold">
                                          <p:stCondLst>
                                            <p:cond delay="0"/>
                                          </p:stCondLst>
                                        </p:cTn>
                                        <p:tgtEl>
                                          <p:spTgt spid="17413"/>
                                        </p:tgtEl>
                                        <p:attrNameLst>
                                          <p:attrName>style.visibility</p:attrName>
                                        </p:attrNameLst>
                                      </p:cBhvr>
                                      <p:to>
                                        <p:strVal val="visible"/>
                                      </p:to>
                                    </p:set>
                                  </p:childTnLst>
                                </p:cTn>
                              </p:par>
                            </p:childTnLst>
                          </p:cTn>
                        </p:par>
                        <p:par>
                          <p:cTn id="23" fill="hold">
                            <p:stCondLst>
                              <p:cond delay="500"/>
                            </p:stCondLst>
                            <p:childTnLst>
                              <p:par>
                                <p:cTn id="24" presetID="22" presetClass="entr" presetSubtype="8" fill="hold" grpId="0" nodeType="afterEffect">
                                  <p:stCondLst>
                                    <p:cond delay="0"/>
                                  </p:stCondLst>
                                  <p:childTnLst>
                                    <p:set>
                                      <p:cBhvr>
                                        <p:cTn id="25" dur="1" fill="hold">
                                          <p:stCondLst>
                                            <p:cond delay="0"/>
                                          </p:stCondLst>
                                        </p:cTn>
                                        <p:tgtEl>
                                          <p:spTgt spid="168965">
                                            <p:txEl>
                                              <p:pRg st="2" end="2"/>
                                            </p:txEl>
                                          </p:spTgt>
                                        </p:tgtEl>
                                        <p:attrNameLst>
                                          <p:attrName>style.visibility</p:attrName>
                                        </p:attrNameLst>
                                      </p:cBhvr>
                                      <p:to>
                                        <p:strVal val="visible"/>
                                      </p:to>
                                    </p:set>
                                    <p:animEffect transition="in" filter="wipe(left)">
                                      <p:cBhvr>
                                        <p:cTn id="26" dur="250"/>
                                        <p:tgtEl>
                                          <p:spTgt spid="168965">
                                            <p:txEl>
                                              <p:pRg st="2" end="2"/>
                                            </p:txEl>
                                          </p:spTgt>
                                        </p:tgtEl>
                                      </p:cBhvr>
                                    </p:animEffect>
                                  </p:childTnLst>
                                </p:cTn>
                              </p:par>
                            </p:childTnLst>
                          </p:cTn>
                        </p:par>
                        <p:par>
                          <p:cTn id="27" fill="hold">
                            <p:stCondLst>
                              <p:cond delay="750"/>
                            </p:stCondLst>
                            <p:childTnLst>
                              <p:par>
                                <p:cTn id="28" presetID="1" presetClass="entr" presetSubtype="0" fill="hold" nodeType="afterEffect">
                                  <p:stCondLst>
                                    <p:cond delay="0"/>
                                  </p:stCondLst>
                                  <p:childTnLst>
                                    <p:set>
                                      <p:cBhvr>
                                        <p:cTn id="29" dur="1" fill="hold">
                                          <p:stCondLst>
                                            <p:cond delay="0"/>
                                          </p:stCondLst>
                                        </p:cTn>
                                        <p:tgtEl>
                                          <p:spTgt spid="17414"/>
                                        </p:tgtEl>
                                        <p:attrNameLst>
                                          <p:attrName>style.visibility</p:attrName>
                                        </p:attrNameLst>
                                      </p:cBhvr>
                                      <p:to>
                                        <p:strVal val="visible"/>
                                      </p:to>
                                    </p:set>
                                  </p:childTnLst>
                                </p:cTn>
                              </p:par>
                            </p:childTnLst>
                          </p:cTn>
                        </p:par>
                        <p:par>
                          <p:cTn id="30" fill="hold">
                            <p:stCondLst>
                              <p:cond delay="750"/>
                            </p:stCondLst>
                            <p:childTnLst>
                              <p:par>
                                <p:cTn id="31" presetID="22" presetClass="entr" presetSubtype="8" fill="hold" grpId="0" nodeType="afterEffect">
                                  <p:stCondLst>
                                    <p:cond delay="0"/>
                                  </p:stCondLst>
                                  <p:childTnLst>
                                    <p:set>
                                      <p:cBhvr>
                                        <p:cTn id="32" dur="1" fill="hold">
                                          <p:stCondLst>
                                            <p:cond delay="0"/>
                                          </p:stCondLst>
                                        </p:cTn>
                                        <p:tgtEl>
                                          <p:spTgt spid="168965">
                                            <p:txEl>
                                              <p:pRg st="3" end="3"/>
                                            </p:txEl>
                                          </p:spTgt>
                                        </p:tgtEl>
                                        <p:attrNameLst>
                                          <p:attrName>style.visibility</p:attrName>
                                        </p:attrNameLst>
                                      </p:cBhvr>
                                      <p:to>
                                        <p:strVal val="visible"/>
                                      </p:to>
                                    </p:set>
                                    <p:animEffect transition="in" filter="wipe(left)">
                                      <p:cBhvr>
                                        <p:cTn id="33" dur="250"/>
                                        <p:tgtEl>
                                          <p:spTgt spid="168965">
                                            <p:txEl>
                                              <p:pRg st="3" end="3"/>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168965">
                                            <p:txEl>
                                              <p:pRg st="4" end="4"/>
                                            </p:txEl>
                                          </p:spTgt>
                                        </p:tgtEl>
                                        <p:attrNameLst>
                                          <p:attrName>style.visibility</p:attrName>
                                        </p:attrNameLst>
                                      </p:cBhvr>
                                      <p:to>
                                        <p:strVal val="visible"/>
                                      </p:to>
                                    </p:set>
                                    <p:animEffect transition="in" filter="wipe(left)">
                                      <p:cBhvr>
                                        <p:cTn id="38" dur="500"/>
                                        <p:tgtEl>
                                          <p:spTgt spid="16896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8963" grpId="0" build="p" autoUpdateAnimBg="0"/>
      <p:bldP spid="168965" grpId="0" uiExpand="1" build="p" autoUpdateAnimBg="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6" name="灯片编号占位符 6"/>
          <p:cNvSpPr>
            <a:spLocks noGrp="1"/>
          </p:cNvSpPr>
          <p:nvPr>
            <p:ph type="sldNum" sz="quarter" idx="10"/>
          </p:nvPr>
        </p:nvSpPr>
        <p:spPr>
          <a:noFill/>
        </p:spPr>
        <p:txBody>
          <a:bodyPr/>
          <a:lstStyle/>
          <a:p>
            <a:r>
              <a:rPr lang="en-US" altLang="zh-CN">
                <a:ea typeface="宋体" pitchFamily="2" charset="-122"/>
              </a:rPr>
              <a:t>8--</a:t>
            </a:r>
            <a:fld id="{8A3E991A-F58E-4993-9B73-9174D52DB232}" type="slidenum">
              <a:rPr lang="en-US" altLang="zh-CN" smtClean="0">
                <a:ea typeface="宋体" pitchFamily="2" charset="-122"/>
              </a:rPr>
              <a:pPr/>
              <a:t>49</a:t>
            </a:fld>
            <a:endParaRPr lang="en-US" altLang="zh-CN">
              <a:ea typeface="宋体" pitchFamily="2" charset="-122"/>
            </a:endParaRPr>
          </a:p>
        </p:txBody>
      </p:sp>
      <p:sp>
        <p:nvSpPr>
          <p:cNvPr id="18437" name="Rectangle 2"/>
          <p:cNvSpPr>
            <a:spLocks noGrp="1" noChangeArrowheads="1"/>
          </p:cNvSpPr>
          <p:nvPr>
            <p:ph type="title" idx="4294967295"/>
          </p:nvPr>
        </p:nvSpPr>
        <p:spPr>
          <a:xfrm>
            <a:off x="792163" y="249774"/>
            <a:ext cx="4198937" cy="1143000"/>
          </a:xfrm>
          <a:noFill/>
        </p:spPr>
        <p:txBody>
          <a:bodyPr vert="horz" lIns="90488" tIns="44450" rIns="90488" bIns="44450" rtlCol="0" anchor="ctr" anchorCtr="1">
            <a:normAutofit/>
          </a:bodyPr>
          <a:lstStyle/>
          <a:p>
            <a:pPr eaLnBrk="1" hangingPunct="1"/>
            <a:r>
              <a:rPr lang="en-US" altLang="zh-CN" sz="3600" b="1" dirty="0">
                <a:effectLst/>
              </a:rPr>
              <a:t>【</a:t>
            </a:r>
            <a:r>
              <a:rPr lang="zh-CN" altLang="en-US" sz="3600" b="1" dirty="0">
                <a:effectLst/>
              </a:rPr>
              <a:t>例</a:t>
            </a:r>
            <a:r>
              <a:rPr lang="en-US" altLang="zh-CN" sz="3600" b="1" dirty="0">
                <a:effectLst/>
              </a:rPr>
              <a:t>8-3】</a:t>
            </a:r>
            <a:endParaRPr lang="en-US" altLang="zh-CN" sz="4400" b="1" dirty="0">
              <a:effectLst/>
            </a:endParaRPr>
          </a:p>
        </p:txBody>
      </p:sp>
      <p:sp>
        <p:nvSpPr>
          <p:cNvPr id="18438" name="Rectangle 3"/>
          <p:cNvSpPr>
            <a:spLocks noGrp="1" noChangeArrowheads="1"/>
          </p:cNvSpPr>
          <p:nvPr>
            <p:ph type="body" sz="half" idx="4294967295"/>
          </p:nvPr>
        </p:nvSpPr>
        <p:spPr>
          <a:xfrm>
            <a:off x="1524001" y="1170504"/>
            <a:ext cx="9207499" cy="4495800"/>
          </a:xfrm>
        </p:spPr>
        <p:txBody>
          <a:bodyPr/>
          <a:lstStyle/>
          <a:p>
            <a:pPr marL="0" indent="0" algn="just">
              <a:lnSpc>
                <a:spcPct val="120000"/>
              </a:lnSpc>
              <a:buNone/>
            </a:pPr>
            <a:r>
              <a:rPr lang="zh-CN" altLang="en-US" sz="2800" dirty="0">
                <a:solidFill>
                  <a:srgbClr val="000000"/>
                </a:solidFill>
              </a:rPr>
              <a:t>      某企业生产的一种袋装食品，按规定要求平均每袋重量为</a:t>
            </a:r>
            <a:r>
              <a:rPr lang="en-US" altLang="zh-CN" sz="2800" dirty="0">
                <a:solidFill>
                  <a:srgbClr val="000000"/>
                </a:solidFill>
              </a:rPr>
              <a:t>800</a:t>
            </a:r>
            <a:r>
              <a:rPr lang="zh-CN" altLang="en-US" sz="2800" dirty="0">
                <a:solidFill>
                  <a:srgbClr val="000000"/>
                </a:solidFill>
              </a:rPr>
              <a:t>克。现从一批产品中随机抽取</a:t>
            </a:r>
            <a:r>
              <a:rPr lang="en-US" altLang="zh-CN" sz="2800" dirty="0">
                <a:solidFill>
                  <a:srgbClr val="000000"/>
                </a:solidFill>
              </a:rPr>
              <a:t>10</a:t>
            </a:r>
            <a:r>
              <a:rPr lang="zh-CN" altLang="en-US" sz="2800" dirty="0">
                <a:solidFill>
                  <a:srgbClr val="000000"/>
                </a:solidFill>
              </a:rPr>
              <a:t>袋，测得每袋重量（单位：克）分别为</a:t>
            </a:r>
            <a:r>
              <a:rPr lang="en-US" altLang="zh-CN" sz="2800" dirty="0">
                <a:solidFill>
                  <a:srgbClr val="000000"/>
                </a:solidFill>
              </a:rPr>
              <a:t>789</a:t>
            </a:r>
            <a:r>
              <a:rPr lang="zh-CN" altLang="en-US" sz="2800" dirty="0">
                <a:solidFill>
                  <a:srgbClr val="000000"/>
                </a:solidFill>
              </a:rPr>
              <a:t>、</a:t>
            </a:r>
            <a:r>
              <a:rPr lang="en-US" altLang="zh-CN" sz="2800" dirty="0">
                <a:solidFill>
                  <a:srgbClr val="000000"/>
                </a:solidFill>
              </a:rPr>
              <a:t>780</a:t>
            </a:r>
            <a:r>
              <a:rPr lang="zh-CN" altLang="en-US" sz="2800" dirty="0">
                <a:solidFill>
                  <a:srgbClr val="000000"/>
                </a:solidFill>
              </a:rPr>
              <a:t>、</a:t>
            </a:r>
            <a:r>
              <a:rPr lang="en-US" altLang="zh-CN" sz="2800" dirty="0">
                <a:solidFill>
                  <a:srgbClr val="000000"/>
                </a:solidFill>
              </a:rPr>
              <a:t>794</a:t>
            </a:r>
            <a:r>
              <a:rPr lang="zh-CN" altLang="en-US" sz="2800" dirty="0">
                <a:solidFill>
                  <a:srgbClr val="000000"/>
                </a:solidFill>
              </a:rPr>
              <a:t>、</a:t>
            </a:r>
            <a:r>
              <a:rPr lang="en-US" altLang="zh-CN" sz="2800" dirty="0">
                <a:solidFill>
                  <a:srgbClr val="000000"/>
                </a:solidFill>
              </a:rPr>
              <a:t>762</a:t>
            </a:r>
            <a:r>
              <a:rPr lang="zh-CN" altLang="en-US" sz="2800" dirty="0">
                <a:solidFill>
                  <a:srgbClr val="000000"/>
                </a:solidFill>
              </a:rPr>
              <a:t>、</a:t>
            </a:r>
            <a:r>
              <a:rPr lang="en-US" altLang="zh-CN" sz="2800" dirty="0">
                <a:solidFill>
                  <a:srgbClr val="000000"/>
                </a:solidFill>
              </a:rPr>
              <a:t>802</a:t>
            </a:r>
            <a:r>
              <a:rPr lang="zh-CN" altLang="en-US" sz="2800" dirty="0">
                <a:solidFill>
                  <a:srgbClr val="000000"/>
                </a:solidFill>
              </a:rPr>
              <a:t>、</a:t>
            </a:r>
            <a:r>
              <a:rPr lang="en-US" altLang="zh-CN" sz="2800" dirty="0">
                <a:solidFill>
                  <a:srgbClr val="000000"/>
                </a:solidFill>
              </a:rPr>
              <a:t>813</a:t>
            </a:r>
            <a:r>
              <a:rPr lang="zh-CN" altLang="en-US" sz="2800" dirty="0">
                <a:solidFill>
                  <a:srgbClr val="000000"/>
                </a:solidFill>
              </a:rPr>
              <a:t>、</a:t>
            </a:r>
            <a:r>
              <a:rPr lang="en-US" altLang="zh-CN" sz="2800" dirty="0">
                <a:solidFill>
                  <a:srgbClr val="000000"/>
                </a:solidFill>
              </a:rPr>
              <a:t>770</a:t>
            </a:r>
            <a:r>
              <a:rPr lang="zh-CN" altLang="en-US" sz="2800" dirty="0">
                <a:solidFill>
                  <a:srgbClr val="000000"/>
                </a:solidFill>
              </a:rPr>
              <a:t>、</a:t>
            </a:r>
            <a:r>
              <a:rPr lang="en-US" altLang="zh-CN" sz="2800" dirty="0">
                <a:solidFill>
                  <a:srgbClr val="000000"/>
                </a:solidFill>
              </a:rPr>
              <a:t>785</a:t>
            </a:r>
            <a:r>
              <a:rPr lang="zh-CN" altLang="en-US" sz="2800" dirty="0">
                <a:solidFill>
                  <a:srgbClr val="000000"/>
                </a:solidFill>
              </a:rPr>
              <a:t>、</a:t>
            </a:r>
            <a:r>
              <a:rPr lang="en-US" altLang="zh-CN" sz="2800" dirty="0">
                <a:solidFill>
                  <a:srgbClr val="000000"/>
                </a:solidFill>
              </a:rPr>
              <a:t>810</a:t>
            </a:r>
            <a:r>
              <a:rPr lang="zh-CN" altLang="en-US" sz="2800" dirty="0">
                <a:solidFill>
                  <a:srgbClr val="000000"/>
                </a:solidFill>
              </a:rPr>
              <a:t>、</a:t>
            </a:r>
            <a:r>
              <a:rPr lang="en-US" altLang="zh-CN" sz="2800" dirty="0">
                <a:solidFill>
                  <a:srgbClr val="000000"/>
                </a:solidFill>
              </a:rPr>
              <a:t>806</a:t>
            </a:r>
            <a:r>
              <a:rPr lang="zh-CN" altLang="en-US" sz="2800" dirty="0">
                <a:solidFill>
                  <a:srgbClr val="000000"/>
                </a:solidFill>
              </a:rPr>
              <a:t>。假设重量服从正态分布，要求在</a:t>
            </a:r>
            <a:r>
              <a:rPr lang="en-US" altLang="zh-CN" sz="2800" dirty="0">
                <a:solidFill>
                  <a:srgbClr val="000000"/>
                </a:solidFill>
              </a:rPr>
              <a:t>5</a:t>
            </a:r>
            <a:r>
              <a:rPr lang="zh-CN" altLang="en-US" sz="2800" dirty="0">
                <a:solidFill>
                  <a:srgbClr val="000000"/>
                </a:solidFill>
              </a:rPr>
              <a:t>％的显著性水平下，检验这批产品的重量是否符合要求？</a:t>
            </a:r>
            <a:endParaRPr lang="en-US" altLang="zh-CN" sz="2800" dirty="0">
              <a:solidFill>
                <a:srgbClr val="000000"/>
              </a:solidFill>
            </a:endParaRPr>
          </a:p>
          <a:p>
            <a:pPr marL="0" indent="0" algn="just">
              <a:lnSpc>
                <a:spcPct val="120000"/>
              </a:lnSpc>
            </a:pPr>
            <a:endParaRPr lang="en-US" altLang="zh-CN" sz="2800" dirty="0">
              <a:solidFill>
                <a:srgbClr val="000000"/>
              </a:solidFill>
            </a:endParaRPr>
          </a:p>
        </p:txBody>
      </p:sp>
      <p:sp>
        <p:nvSpPr>
          <p:cNvPr id="18439" name="Rectangle 4"/>
          <p:cNvSpPr>
            <a:spLocks noChangeArrowheads="1"/>
          </p:cNvSpPr>
          <p:nvPr/>
        </p:nvSpPr>
        <p:spPr bwMode="auto">
          <a:xfrm>
            <a:off x="1524001" y="3049072"/>
            <a:ext cx="184731" cy="369332"/>
          </a:xfrm>
          <a:prstGeom prst="rect">
            <a:avLst/>
          </a:prstGeom>
          <a:noFill/>
          <a:ln w="9525">
            <a:noFill/>
            <a:miter lim="800000"/>
            <a:headEnd/>
            <a:tailEnd/>
          </a:ln>
        </p:spPr>
        <p:txBody>
          <a:bodyPr wrap="none" anchor="ctr">
            <a:spAutoFit/>
          </a:bodyPr>
          <a:lstStyle/>
          <a:p>
            <a:endParaRPr lang="zh-CN" altLang="en-US"/>
          </a:p>
        </p:txBody>
      </p:sp>
      <p:sp>
        <p:nvSpPr>
          <p:cNvPr id="18440" name="Rectangle 6"/>
          <p:cNvSpPr>
            <a:spLocks noChangeArrowheads="1"/>
          </p:cNvSpPr>
          <p:nvPr/>
        </p:nvSpPr>
        <p:spPr bwMode="auto">
          <a:xfrm>
            <a:off x="1524001" y="3015734"/>
            <a:ext cx="184731" cy="369332"/>
          </a:xfrm>
          <a:prstGeom prst="rect">
            <a:avLst/>
          </a:prstGeom>
          <a:noFill/>
          <a:ln w="9525">
            <a:noFill/>
            <a:miter lim="800000"/>
            <a:headEnd/>
            <a:tailEnd/>
          </a:ln>
        </p:spPr>
        <p:txBody>
          <a:bodyPr wrap="none" anchor="ctr">
            <a:spAutoFit/>
          </a:bodyPr>
          <a:lstStyle/>
          <a:p>
            <a:endParaRPr lang="zh-CN" altLang="en-US"/>
          </a:p>
        </p:txBody>
      </p:sp>
      <p:graphicFrame>
        <p:nvGraphicFramePr>
          <p:cNvPr id="6" name="对象 5"/>
          <p:cNvGraphicFramePr>
            <a:graphicFrameLocks noChangeAspect="1"/>
          </p:cNvGraphicFramePr>
          <p:nvPr>
            <p:extLst>
              <p:ext uri="{D42A27DB-BD31-4B8C-83A1-F6EECF244321}">
                <p14:modId xmlns:p14="http://schemas.microsoft.com/office/powerpoint/2010/main" val="1986188953"/>
              </p:ext>
            </p:extLst>
          </p:nvPr>
        </p:nvGraphicFramePr>
        <p:xfrm>
          <a:off x="1891993" y="4483101"/>
          <a:ext cx="3099107" cy="876299"/>
        </p:xfrm>
        <a:graphic>
          <a:graphicData uri="http://schemas.openxmlformats.org/presentationml/2006/ole">
            <mc:AlternateContent xmlns:mc="http://schemas.openxmlformats.org/markup-compatibility/2006">
              <mc:Choice xmlns:v="urn:schemas-microsoft-com:vml" Requires="v">
                <p:oleObj r:id="rId3" imgW="1384300" imgH="393700" progId="Equation.DSMT4">
                  <p:embed/>
                </p:oleObj>
              </mc:Choice>
              <mc:Fallback>
                <p:oleObj r:id="rId3" imgW="1384300" imgH="393700" progId="Equation.DSMT4">
                  <p:embed/>
                  <p:pic>
                    <p:nvPicPr>
                      <p:cNvPr id="0" name="Object 10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91993" y="4483101"/>
                        <a:ext cx="3099107" cy="876299"/>
                      </a:xfrm>
                      <a:prstGeom prst="rect">
                        <a:avLst/>
                      </a:prstGeom>
                      <a:noFill/>
                    </p:spPr>
                  </p:pic>
                </p:oleObj>
              </mc:Fallback>
            </mc:AlternateContent>
          </a:graphicData>
        </a:graphic>
      </p:graphicFrame>
      <p:sp>
        <p:nvSpPr>
          <p:cNvPr id="7" name="Rectangle 106"/>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8" name="对象 7"/>
          <p:cNvGraphicFramePr>
            <a:graphicFrameLocks noChangeAspect="1"/>
          </p:cNvGraphicFramePr>
          <p:nvPr>
            <p:extLst>
              <p:ext uri="{D42A27DB-BD31-4B8C-83A1-F6EECF244321}">
                <p14:modId xmlns:p14="http://schemas.microsoft.com/office/powerpoint/2010/main" val="241378883"/>
              </p:ext>
            </p:extLst>
          </p:nvPr>
        </p:nvGraphicFramePr>
        <p:xfrm>
          <a:off x="5486401" y="4438650"/>
          <a:ext cx="5486400" cy="965200"/>
        </p:xfrm>
        <a:graphic>
          <a:graphicData uri="http://schemas.openxmlformats.org/presentationml/2006/ole">
            <mc:AlternateContent xmlns:mc="http://schemas.openxmlformats.org/markup-compatibility/2006">
              <mc:Choice xmlns:v="urn:schemas-microsoft-com:vml" Requires="v">
                <p:oleObj r:id="rId5" imgW="2717800" imgH="457200" progId="Equation.DSMT4">
                  <p:embed/>
                </p:oleObj>
              </mc:Choice>
              <mc:Fallback>
                <p:oleObj r:id="rId5" imgW="2717800" imgH="457200" progId="Equation.DSMT4">
                  <p:embed/>
                  <p:pic>
                    <p:nvPicPr>
                      <p:cNvPr id="0" name="Object 10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486401" y="4438650"/>
                        <a:ext cx="5486400" cy="965200"/>
                      </a:xfrm>
                      <a:prstGeom prst="rect">
                        <a:avLst/>
                      </a:prstGeom>
                      <a:noFill/>
                    </p:spPr>
                  </p:pic>
                </p:oleObj>
              </mc:Fallback>
            </mc:AlternateContent>
          </a:graphicData>
        </a:graphic>
      </p:graphicFrame>
    </p:spTree>
    <p:extLst>
      <p:ext uri="{BB962C8B-B14F-4D97-AF65-F5344CB8AC3E}">
        <p14:creationId xmlns:p14="http://schemas.microsoft.com/office/powerpoint/2010/main" val="39867887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463" name="Rectangle 3"/>
          <p:cNvSpPr>
            <a:spLocks noGrp="1" noChangeArrowheads="1"/>
          </p:cNvSpPr>
          <p:nvPr>
            <p:ph type="subTitle" idx="4294967295"/>
          </p:nvPr>
        </p:nvSpPr>
        <p:spPr>
          <a:xfrm>
            <a:off x="1599698" y="1654924"/>
            <a:ext cx="9144000" cy="1120775"/>
          </a:xfrm>
          <a:noFill/>
        </p:spPr>
        <p:txBody>
          <a:bodyPr vert="horz" lIns="90488" tIns="44450" rIns="90488" bIns="44450" rtlCol="0">
            <a:normAutofit lnSpcReduction="10000"/>
          </a:bodyPr>
          <a:lstStyle/>
          <a:p>
            <a:pPr>
              <a:buClr>
                <a:schemeClr val="tx1"/>
              </a:buClr>
              <a:buFont typeface="Wingdings" panose="05000000000000000000" pitchFamily="2" charset="2"/>
              <a:buChar char="Ø"/>
            </a:pPr>
            <a:r>
              <a:rPr lang="en-US" altLang="zh-CN" sz="2800" dirty="0">
                <a:solidFill>
                  <a:srgbClr val="FF00FF"/>
                </a:solidFill>
              </a:rPr>
              <a:t> H</a:t>
            </a:r>
            <a:r>
              <a:rPr lang="en-US" altLang="zh-CN" sz="2000" dirty="0">
                <a:solidFill>
                  <a:srgbClr val="FF00FF"/>
                </a:solidFill>
              </a:rPr>
              <a:t>0</a:t>
            </a:r>
            <a:r>
              <a:rPr lang="en-US" altLang="zh-CN" sz="2800" dirty="0">
                <a:solidFill>
                  <a:srgbClr val="FF00FF"/>
                </a:solidFill>
              </a:rPr>
              <a:t>:                </a:t>
            </a:r>
            <a:r>
              <a:rPr lang="zh-CN" altLang="en-US" sz="2800" dirty="0">
                <a:solidFill>
                  <a:srgbClr val="FF00FF"/>
                </a:solidFill>
              </a:rPr>
              <a:t>；</a:t>
            </a:r>
            <a:r>
              <a:rPr lang="en-US" altLang="zh-CN" sz="2800" dirty="0">
                <a:solidFill>
                  <a:srgbClr val="FF00FF"/>
                </a:solidFill>
              </a:rPr>
              <a:t>H</a:t>
            </a:r>
            <a:r>
              <a:rPr lang="en-US" altLang="zh-CN" sz="2000" dirty="0">
                <a:solidFill>
                  <a:srgbClr val="FF00FF"/>
                </a:solidFill>
              </a:rPr>
              <a:t>1</a:t>
            </a:r>
            <a:r>
              <a:rPr lang="en-US" altLang="zh-CN" sz="2800" dirty="0">
                <a:solidFill>
                  <a:srgbClr val="FF00FF"/>
                </a:solidFill>
              </a:rPr>
              <a:t>:</a:t>
            </a:r>
            <a:endParaRPr lang="en-US" altLang="zh-CN" sz="2800" dirty="0"/>
          </a:p>
          <a:p>
            <a:pPr>
              <a:buClr>
                <a:schemeClr val="tx1"/>
              </a:buClr>
              <a:buFont typeface="Wingdings" panose="05000000000000000000" pitchFamily="2" charset="2"/>
              <a:buChar char="Ø"/>
            </a:pPr>
            <a:r>
              <a:rPr lang="en-US" altLang="zh-CN" i="1" dirty="0">
                <a:solidFill>
                  <a:srgbClr val="CC0099"/>
                </a:solidFill>
                <a:latin typeface="Times New Roman" pitchFamily="18" charset="0"/>
              </a:rPr>
              <a:t>n</a:t>
            </a:r>
            <a:r>
              <a:rPr lang="en-US" altLang="zh-CN" sz="2800" dirty="0">
                <a:solidFill>
                  <a:srgbClr val="000000"/>
                </a:solidFill>
                <a:latin typeface="Times New Roman" pitchFamily="18" charset="0"/>
              </a:rPr>
              <a:t>=</a:t>
            </a:r>
            <a:r>
              <a:rPr lang="en-US" altLang="zh-CN" sz="2800" dirty="0">
                <a:solidFill>
                  <a:srgbClr val="000000"/>
                </a:solidFill>
              </a:rPr>
              <a:t>10</a:t>
            </a:r>
            <a:r>
              <a:rPr lang="zh-CN" altLang="en-US" sz="2800" dirty="0">
                <a:solidFill>
                  <a:srgbClr val="000000"/>
                </a:solidFill>
              </a:rPr>
              <a:t>，</a:t>
            </a:r>
            <a:r>
              <a:rPr lang="zh-CN" altLang="en-US" sz="2800" dirty="0">
                <a:solidFill>
                  <a:srgbClr val="CC0099"/>
                </a:solidFill>
              </a:rPr>
              <a:t> </a:t>
            </a:r>
            <a:r>
              <a:rPr lang="zh-CN" altLang="en-US" sz="2800" dirty="0">
                <a:solidFill>
                  <a:srgbClr val="CC0099"/>
                </a:solidFill>
                <a:latin typeface="Symbol" pitchFamily="18" charset="2"/>
              </a:rPr>
              <a:t></a:t>
            </a:r>
            <a:r>
              <a:rPr lang="zh-CN" altLang="en-US" sz="2800" dirty="0">
                <a:solidFill>
                  <a:srgbClr val="000000"/>
                </a:solidFill>
                <a:latin typeface="Symbol" pitchFamily="18" charset="2"/>
              </a:rPr>
              <a:t></a:t>
            </a:r>
            <a:r>
              <a:rPr lang="en-US" altLang="zh-CN" sz="2800" dirty="0">
                <a:solidFill>
                  <a:srgbClr val="000000"/>
                </a:solidFill>
              </a:rPr>
              <a:t>0.05</a:t>
            </a:r>
            <a:r>
              <a:rPr lang="zh-CN" altLang="en-US" sz="2800" dirty="0">
                <a:solidFill>
                  <a:srgbClr val="000000"/>
                </a:solidFill>
              </a:rPr>
              <a:t>，</a:t>
            </a:r>
            <a:r>
              <a:rPr lang="en-US" altLang="zh-CN" sz="2400" i="1" dirty="0">
                <a:solidFill>
                  <a:srgbClr val="CC0099"/>
                </a:solidFill>
                <a:sym typeface="Symbol" pitchFamily="18" charset="2"/>
              </a:rPr>
              <a:t>t</a:t>
            </a:r>
            <a:r>
              <a:rPr lang="el-GR" altLang="zh-CN" sz="2400" i="1" baseline="-25000" dirty="0">
                <a:solidFill>
                  <a:srgbClr val="CC0099"/>
                </a:solidFill>
                <a:latin typeface="宋体" pitchFamily="2" charset="-122"/>
              </a:rPr>
              <a:t>α</a:t>
            </a:r>
            <a:r>
              <a:rPr lang="en-US" altLang="zh-CN" sz="2400" i="1" baseline="-25000" dirty="0">
                <a:solidFill>
                  <a:srgbClr val="CC0099"/>
                </a:solidFill>
                <a:latin typeface="宋体" pitchFamily="2" charset="-122"/>
              </a:rPr>
              <a:t>/2</a:t>
            </a:r>
            <a:r>
              <a:rPr lang="en-US" altLang="zh-CN" sz="2400" i="1" dirty="0">
                <a:solidFill>
                  <a:srgbClr val="CC0099"/>
                </a:solidFill>
                <a:latin typeface="宋体" pitchFamily="2" charset="-122"/>
              </a:rPr>
              <a:t>(n-1) </a:t>
            </a:r>
            <a:r>
              <a:rPr lang="en-US" altLang="zh-CN" sz="2800" dirty="0">
                <a:solidFill>
                  <a:schemeClr val="tx1"/>
                </a:solidFill>
              </a:rPr>
              <a:t>=</a:t>
            </a:r>
            <a:r>
              <a:rPr lang="en-US" altLang="zh-CN" sz="2800" i="1" dirty="0">
                <a:solidFill>
                  <a:srgbClr val="000000"/>
                </a:solidFill>
                <a:sym typeface="Symbol" pitchFamily="18" charset="2"/>
              </a:rPr>
              <a:t>t</a:t>
            </a:r>
            <a:r>
              <a:rPr lang="en-US" altLang="zh-CN" sz="2400" baseline="-25000" dirty="0">
                <a:solidFill>
                  <a:srgbClr val="000000"/>
                </a:solidFill>
                <a:latin typeface="宋体" pitchFamily="2" charset="-122"/>
              </a:rPr>
              <a:t>0.025</a:t>
            </a:r>
            <a:r>
              <a:rPr lang="en-US" altLang="zh-CN" sz="2400" dirty="0">
                <a:solidFill>
                  <a:srgbClr val="000000"/>
                </a:solidFill>
                <a:latin typeface="宋体" pitchFamily="2" charset="-122"/>
              </a:rPr>
              <a:t>(9)</a:t>
            </a:r>
            <a:r>
              <a:rPr lang="zh-CN" altLang="en-US" sz="2400" dirty="0">
                <a:solidFill>
                  <a:srgbClr val="000000"/>
                </a:solidFill>
                <a:latin typeface="宋体" pitchFamily="2" charset="-122"/>
              </a:rPr>
              <a:t>＝</a:t>
            </a:r>
            <a:r>
              <a:rPr lang="en-US" altLang="zh-CN" sz="2800" dirty="0">
                <a:solidFill>
                  <a:srgbClr val="000000"/>
                </a:solidFill>
              </a:rPr>
              <a:t>2.262</a:t>
            </a:r>
          </a:p>
        </p:txBody>
      </p:sp>
      <p:sp>
        <p:nvSpPr>
          <p:cNvPr id="19461" name="灯片编号占位符 7"/>
          <p:cNvSpPr>
            <a:spLocks noGrp="1"/>
          </p:cNvSpPr>
          <p:nvPr>
            <p:ph type="sldNum" sz="quarter" idx="10"/>
          </p:nvPr>
        </p:nvSpPr>
        <p:spPr>
          <a:noFill/>
        </p:spPr>
        <p:txBody>
          <a:bodyPr/>
          <a:lstStyle/>
          <a:p>
            <a:r>
              <a:rPr lang="en-US" altLang="zh-CN">
                <a:ea typeface="宋体" pitchFamily="2" charset="-122"/>
              </a:rPr>
              <a:t>8--</a:t>
            </a:r>
            <a:fld id="{8F63499F-E1D2-4518-94E7-5F8F253F3AF0}" type="slidenum">
              <a:rPr lang="en-US" altLang="zh-CN" smtClean="0">
                <a:ea typeface="宋体" pitchFamily="2" charset="-122"/>
              </a:rPr>
              <a:pPr/>
              <a:t>50</a:t>
            </a:fld>
            <a:endParaRPr lang="en-US" altLang="zh-CN">
              <a:ea typeface="宋体" pitchFamily="2" charset="-122"/>
            </a:endParaRPr>
          </a:p>
        </p:txBody>
      </p:sp>
      <p:graphicFrame>
        <p:nvGraphicFramePr>
          <p:cNvPr id="19458" name="Object 4"/>
          <p:cNvGraphicFramePr>
            <a:graphicFrameLocks noGrp="1" noChangeAspect="1"/>
          </p:cNvGraphicFramePr>
          <p:nvPr>
            <p:ph sz="quarter" idx="4294967295"/>
            <p:extLst>
              <p:ext uri="{D42A27DB-BD31-4B8C-83A1-F6EECF244321}">
                <p14:modId xmlns:p14="http://schemas.microsoft.com/office/powerpoint/2010/main" val="1218396035"/>
              </p:ext>
            </p:extLst>
          </p:nvPr>
        </p:nvGraphicFramePr>
        <p:xfrm>
          <a:off x="2828926" y="1588572"/>
          <a:ext cx="1152525" cy="527050"/>
        </p:xfrm>
        <a:graphic>
          <a:graphicData uri="http://schemas.openxmlformats.org/presentationml/2006/ole">
            <mc:AlternateContent xmlns:mc="http://schemas.openxmlformats.org/markup-compatibility/2006">
              <mc:Choice xmlns:v="urn:schemas-microsoft-com:vml" Requires="v">
                <p:oleObj name="公式" r:id="rId3" imgW="444240" imgH="203040" progId="Equation.3">
                  <p:embed/>
                </p:oleObj>
              </mc:Choice>
              <mc:Fallback>
                <p:oleObj name="公式" r:id="rId3" imgW="444240" imgH="203040" progId="Equation.3">
                  <p:embed/>
                  <p:pic>
                    <p:nvPicPr>
                      <p:cNvPr id="19458"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28926" y="1588572"/>
                        <a:ext cx="1152525" cy="5270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9459" name="Object 7"/>
          <p:cNvGraphicFramePr>
            <a:graphicFrameLocks noGrp="1" noChangeAspect="1"/>
          </p:cNvGraphicFramePr>
          <p:nvPr>
            <p:ph sz="quarter" idx="4294967295"/>
            <p:extLst>
              <p:ext uri="{D42A27DB-BD31-4B8C-83A1-F6EECF244321}">
                <p14:modId xmlns:p14="http://schemas.microsoft.com/office/powerpoint/2010/main" val="2358048809"/>
              </p:ext>
            </p:extLst>
          </p:nvPr>
        </p:nvGraphicFramePr>
        <p:xfrm>
          <a:off x="5448300" y="1558924"/>
          <a:ext cx="1157287" cy="514350"/>
        </p:xfrm>
        <a:graphic>
          <a:graphicData uri="http://schemas.openxmlformats.org/presentationml/2006/ole">
            <mc:AlternateContent xmlns:mc="http://schemas.openxmlformats.org/markup-compatibility/2006">
              <mc:Choice xmlns:v="urn:schemas-microsoft-com:vml" Requires="v">
                <p:oleObj name="公式" r:id="rId5" imgW="457200" imgH="203040" progId="Equation.3">
                  <p:embed/>
                </p:oleObj>
              </mc:Choice>
              <mc:Fallback>
                <p:oleObj name="公式" r:id="rId5" imgW="457200" imgH="203040" progId="Equation.3">
                  <p:embed/>
                  <p:pic>
                    <p:nvPicPr>
                      <p:cNvPr id="19459"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448300" y="1558924"/>
                        <a:ext cx="1157287" cy="5143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9462" name="Rectangle 2"/>
          <p:cNvSpPr>
            <a:spLocks noGrp="1" noChangeArrowheads="1"/>
          </p:cNvSpPr>
          <p:nvPr>
            <p:ph type="ctrTitle" idx="4294967295"/>
          </p:nvPr>
        </p:nvSpPr>
        <p:spPr>
          <a:xfrm>
            <a:off x="747713" y="104260"/>
            <a:ext cx="8026400" cy="1747837"/>
          </a:xfrm>
          <a:noFill/>
        </p:spPr>
        <p:txBody>
          <a:bodyPr vert="horz" lIns="90488" tIns="44450" rIns="90488" bIns="44450" rtlCol="0" anchor="ctr" anchorCtr="1">
            <a:normAutofit/>
          </a:bodyPr>
          <a:lstStyle/>
          <a:p>
            <a:r>
              <a:rPr lang="en-US" altLang="zh-CN" sz="3600" b="1" dirty="0">
                <a:effectLst/>
              </a:rPr>
              <a:t>【</a:t>
            </a:r>
            <a:r>
              <a:rPr lang="zh-CN" altLang="en-US" sz="3600" b="1" dirty="0">
                <a:effectLst/>
              </a:rPr>
              <a:t>例</a:t>
            </a:r>
            <a:r>
              <a:rPr lang="en-US" altLang="zh-CN" sz="3600" b="1" dirty="0">
                <a:effectLst/>
              </a:rPr>
              <a:t>8-3】</a:t>
            </a:r>
            <a:r>
              <a:rPr lang="zh-CN" altLang="en-US" sz="3600" dirty="0"/>
              <a:t>检验过程</a:t>
            </a:r>
            <a:r>
              <a:rPr lang="en-US" altLang="zh-CN" dirty="0">
                <a:latin typeface="Arial" pitchFamily="34" charset="0"/>
              </a:rPr>
              <a:t>——</a:t>
            </a:r>
            <a:r>
              <a:rPr lang="zh-CN" altLang="en-US" dirty="0"/>
              <a:t>双侧</a:t>
            </a:r>
            <a:r>
              <a:rPr lang="en-US" altLang="zh-CN" dirty="0"/>
              <a:t>t </a:t>
            </a:r>
            <a:r>
              <a:rPr lang="zh-CN" altLang="en-US" dirty="0"/>
              <a:t>检验</a:t>
            </a:r>
            <a:endParaRPr lang="zh-CN" altLang="en-US" sz="3600" dirty="0"/>
          </a:p>
        </p:txBody>
      </p:sp>
      <p:sp>
        <p:nvSpPr>
          <p:cNvPr id="522245" name="Rectangle 5"/>
          <p:cNvSpPr>
            <a:spLocks noChangeArrowheads="1"/>
          </p:cNvSpPr>
          <p:nvPr/>
        </p:nvSpPr>
        <p:spPr bwMode="auto">
          <a:xfrm>
            <a:off x="5060951" y="2898775"/>
            <a:ext cx="2362200" cy="425450"/>
          </a:xfrm>
          <a:prstGeom prst="rect">
            <a:avLst/>
          </a:prstGeom>
          <a:noFill/>
          <a:ln w="12700">
            <a:noFill/>
            <a:miter lim="800000"/>
            <a:headEnd/>
            <a:tailEnd/>
          </a:ln>
        </p:spPr>
        <p:txBody>
          <a:bodyPr lIns="90488" tIns="44450" rIns="90488" bIns="44450"/>
          <a:lstStyle/>
          <a:p>
            <a:pPr eaLnBrk="0" hangingPunct="0">
              <a:spcBef>
                <a:spcPct val="20000"/>
              </a:spcBef>
            </a:pPr>
            <a:r>
              <a:rPr kumimoji="1" lang="zh-CN" altLang="en-US" sz="2800" b="1" dirty="0">
                <a:solidFill>
                  <a:srgbClr val="FF00FF"/>
                </a:solidFill>
              </a:rPr>
              <a:t>检验统计量</a:t>
            </a:r>
            <a:r>
              <a:rPr kumimoji="1" lang="en-US" altLang="zh-CN" sz="2800" b="1" dirty="0">
                <a:solidFill>
                  <a:srgbClr val="FF00FF"/>
                </a:solidFill>
              </a:rPr>
              <a:t>:</a:t>
            </a:r>
          </a:p>
        </p:txBody>
      </p:sp>
      <p:sp>
        <p:nvSpPr>
          <p:cNvPr id="522246" name="Text Box 6"/>
          <p:cNvSpPr txBox="1">
            <a:spLocks noChangeArrowheads="1"/>
          </p:cNvSpPr>
          <p:nvPr/>
        </p:nvSpPr>
        <p:spPr bwMode="auto">
          <a:xfrm>
            <a:off x="6154358" y="5210025"/>
            <a:ext cx="4267579" cy="523220"/>
          </a:xfrm>
          <a:prstGeom prst="rect">
            <a:avLst/>
          </a:prstGeom>
          <a:noFill/>
          <a:ln w="12700">
            <a:noFill/>
            <a:miter lim="800000"/>
            <a:headEnd/>
            <a:tailEnd/>
          </a:ln>
        </p:spPr>
        <p:txBody>
          <a:bodyPr wrap="square">
            <a:spAutoFit/>
          </a:bodyPr>
          <a:lstStyle/>
          <a:p>
            <a:pPr algn="just" eaLnBrk="0" hangingPunct="0">
              <a:spcBef>
                <a:spcPct val="50000"/>
              </a:spcBef>
            </a:pPr>
            <a:r>
              <a:rPr lang="zh-CN" altLang="en-US" sz="2800" b="1" dirty="0">
                <a:solidFill>
                  <a:srgbClr val="000000"/>
                </a:solidFill>
                <a:latin typeface="Tahoma" pitchFamily="34" charset="0"/>
              </a:rPr>
              <a:t>即</a:t>
            </a:r>
            <a:r>
              <a:rPr lang="zh-CN" altLang="en-US" sz="2400" b="1" dirty="0">
                <a:solidFill>
                  <a:srgbClr val="000000"/>
                </a:solidFill>
                <a:latin typeface="Tahoma" pitchFamily="34" charset="0"/>
              </a:rPr>
              <a:t>：该日生产的钢管内径正常</a:t>
            </a:r>
          </a:p>
        </p:txBody>
      </p:sp>
      <p:grpSp>
        <p:nvGrpSpPr>
          <p:cNvPr id="2" name="Group 8"/>
          <p:cNvGrpSpPr>
            <a:grpSpLocks/>
          </p:cNvGrpSpPr>
          <p:nvPr/>
        </p:nvGrpSpPr>
        <p:grpSpPr bwMode="auto">
          <a:xfrm>
            <a:off x="1847850" y="2997199"/>
            <a:ext cx="3600450" cy="2343150"/>
            <a:chOff x="204" y="1888"/>
            <a:chExt cx="2268" cy="1476"/>
          </a:xfrm>
        </p:grpSpPr>
        <p:sp>
          <p:nvSpPr>
            <p:cNvPr id="522249" name="Line 9"/>
            <p:cNvSpPr>
              <a:spLocks noChangeShapeType="1"/>
            </p:cNvSpPr>
            <p:nvPr/>
          </p:nvSpPr>
          <p:spPr bwMode="auto">
            <a:xfrm>
              <a:off x="204" y="2977"/>
              <a:ext cx="2268" cy="0"/>
            </a:xfrm>
            <a:prstGeom prst="line">
              <a:avLst/>
            </a:prstGeom>
            <a:noFill/>
            <a:ln w="57150">
              <a:solidFill>
                <a:schemeClr val="tx1"/>
              </a:solidFill>
              <a:miter lim="800000"/>
              <a:headEnd/>
              <a:tailEnd type="triangle" w="med" len="med"/>
            </a:ln>
            <a:effectLst>
              <a:outerShdw dist="35921" dir="2700000" algn="ctr" rotWithShape="0">
                <a:srgbClr val="808080"/>
              </a:outerShdw>
            </a:effectLst>
          </p:spPr>
          <p:txBody>
            <a:bodyPr wrap="none"/>
            <a:lstStyle/>
            <a:p>
              <a:pPr>
                <a:defRPr/>
              </a:pPr>
              <a:endParaRPr lang="zh-CN" altLang="en-US">
                <a:latin typeface="Arial" charset="0"/>
                <a:ea typeface="宋体" charset="-122"/>
              </a:endParaRPr>
            </a:p>
          </p:txBody>
        </p:sp>
        <p:sp>
          <p:nvSpPr>
            <p:cNvPr id="522250" name="Rectangle 10"/>
            <p:cNvSpPr>
              <a:spLocks noChangeArrowheads="1"/>
            </p:cNvSpPr>
            <p:nvPr/>
          </p:nvSpPr>
          <p:spPr bwMode="auto">
            <a:xfrm>
              <a:off x="1837" y="2341"/>
              <a:ext cx="404" cy="192"/>
            </a:xfrm>
            <a:prstGeom prst="rect">
              <a:avLst/>
            </a:prstGeom>
            <a:solidFill>
              <a:schemeClr val="hlink"/>
            </a:solidFill>
            <a:ln w="9525">
              <a:noFill/>
              <a:miter lim="800000"/>
              <a:headEnd/>
              <a:tailEnd/>
            </a:ln>
            <a:effectLst>
              <a:outerShdw dist="17961" dir="2700000" algn="ctr" rotWithShape="0">
                <a:schemeClr val="bg2"/>
              </a:outerShdw>
            </a:effectLst>
          </p:spPr>
          <p:txBody>
            <a:bodyPr wrap="none" lIns="0" tIns="0" rIns="0" bIns="0">
              <a:spAutoFit/>
            </a:bodyPr>
            <a:lstStyle/>
            <a:p>
              <a:pPr eaLnBrk="0" hangingPunct="0">
                <a:defRPr/>
              </a:pPr>
              <a:r>
                <a:rPr kumimoji="1" lang="en-US" altLang="zh-CN" sz="2000" b="1">
                  <a:latin typeface="Symbol" pitchFamily="18" charset="2"/>
                  <a:ea typeface="宋体" charset="-122"/>
                </a:rPr>
                <a:t>0.025</a:t>
              </a:r>
              <a:r>
                <a:rPr kumimoji="1" lang="en-US" altLang="zh-CN" sz="2000" b="1">
                  <a:latin typeface="Arial" charset="0"/>
                  <a:ea typeface="宋体" charset="-122"/>
                </a:rPr>
                <a:t> </a:t>
              </a:r>
            </a:p>
          </p:txBody>
        </p:sp>
        <p:sp>
          <p:nvSpPr>
            <p:cNvPr id="522251" name="Rectangle 11"/>
            <p:cNvSpPr>
              <a:spLocks noChangeArrowheads="1"/>
            </p:cNvSpPr>
            <p:nvPr/>
          </p:nvSpPr>
          <p:spPr bwMode="auto">
            <a:xfrm>
              <a:off x="253" y="2361"/>
              <a:ext cx="417" cy="233"/>
            </a:xfrm>
            <a:prstGeom prst="rect">
              <a:avLst/>
            </a:prstGeom>
            <a:solidFill>
              <a:schemeClr val="hlink"/>
            </a:solidFill>
            <a:ln w="9525">
              <a:noFill/>
              <a:miter lim="800000"/>
              <a:headEnd/>
              <a:tailEnd/>
            </a:ln>
            <a:effectLst>
              <a:outerShdw dist="17961" dir="2700000" algn="ctr" rotWithShape="0">
                <a:schemeClr val="bg2"/>
              </a:outerShdw>
            </a:effectLst>
          </p:spPr>
          <p:txBody>
            <a:bodyPr wrap="none" lIns="0" tIns="0" rIns="0" bIns="0">
              <a:spAutoFit/>
            </a:bodyPr>
            <a:lstStyle/>
            <a:p>
              <a:pPr eaLnBrk="0" hangingPunct="0">
                <a:defRPr/>
              </a:pPr>
              <a:r>
                <a:rPr kumimoji="1" lang="en-US" altLang="zh-CN" sz="2000" b="1">
                  <a:latin typeface="Symbol" pitchFamily="18" charset="2"/>
                  <a:ea typeface="宋体" charset="-122"/>
                </a:rPr>
                <a:t>0.025</a:t>
              </a:r>
              <a:r>
                <a:rPr kumimoji="1" lang="en-US" altLang="zh-CN" sz="2400" b="1">
                  <a:solidFill>
                    <a:srgbClr val="CDCDCD"/>
                  </a:solidFill>
                  <a:latin typeface="Arial" charset="0"/>
                  <a:ea typeface="宋体" charset="-122"/>
                </a:rPr>
                <a:t> </a:t>
              </a:r>
            </a:p>
          </p:txBody>
        </p:sp>
        <p:sp>
          <p:nvSpPr>
            <p:cNvPr id="522252" name="Line 12"/>
            <p:cNvSpPr>
              <a:spLocks noChangeShapeType="1"/>
            </p:cNvSpPr>
            <p:nvPr/>
          </p:nvSpPr>
          <p:spPr bwMode="auto">
            <a:xfrm>
              <a:off x="1794" y="2620"/>
              <a:ext cx="0" cy="367"/>
            </a:xfrm>
            <a:prstGeom prst="line">
              <a:avLst/>
            </a:prstGeom>
            <a:noFill/>
            <a:ln w="38100">
              <a:solidFill>
                <a:srgbClr val="CC0066"/>
              </a:solidFill>
              <a:round/>
              <a:headEnd/>
              <a:tailEnd/>
            </a:ln>
            <a:effectLst>
              <a:outerShdw dist="28398" dir="20006097" algn="ctr" rotWithShape="0">
                <a:schemeClr val="bg2"/>
              </a:outerShdw>
            </a:effectLst>
          </p:spPr>
          <p:txBody>
            <a:bodyPr wrap="none" anchor="ctr"/>
            <a:lstStyle/>
            <a:p>
              <a:pPr>
                <a:defRPr/>
              </a:pPr>
              <a:endParaRPr lang="zh-CN" altLang="en-US">
                <a:latin typeface="Arial" charset="0"/>
                <a:ea typeface="宋体" charset="-122"/>
              </a:endParaRPr>
            </a:p>
          </p:txBody>
        </p:sp>
        <p:sp>
          <p:nvSpPr>
            <p:cNvPr id="522253" name="Line 13"/>
            <p:cNvSpPr>
              <a:spLocks noChangeShapeType="1"/>
            </p:cNvSpPr>
            <p:nvPr/>
          </p:nvSpPr>
          <p:spPr bwMode="auto">
            <a:xfrm>
              <a:off x="789" y="2987"/>
              <a:ext cx="0" cy="140"/>
            </a:xfrm>
            <a:prstGeom prst="line">
              <a:avLst/>
            </a:prstGeom>
            <a:noFill/>
            <a:ln w="28575">
              <a:solidFill>
                <a:srgbClr val="CC3399"/>
              </a:solidFill>
              <a:round/>
              <a:headEnd type="triangle" w="med" len="med"/>
              <a:tailEnd/>
            </a:ln>
            <a:effectLst>
              <a:outerShdw dist="12700" algn="ctr" rotWithShape="0">
                <a:schemeClr val="bg2"/>
              </a:outerShdw>
            </a:effectLst>
          </p:spPr>
          <p:txBody>
            <a:bodyPr wrap="none" anchor="ctr"/>
            <a:lstStyle/>
            <a:p>
              <a:pPr>
                <a:defRPr/>
              </a:pPr>
              <a:endParaRPr lang="zh-CN" altLang="en-US">
                <a:latin typeface="Arial" charset="0"/>
                <a:ea typeface="宋体" charset="-122"/>
              </a:endParaRPr>
            </a:p>
          </p:txBody>
        </p:sp>
        <p:sp>
          <p:nvSpPr>
            <p:cNvPr id="522254" name="Line 14"/>
            <p:cNvSpPr>
              <a:spLocks noChangeShapeType="1"/>
            </p:cNvSpPr>
            <p:nvPr/>
          </p:nvSpPr>
          <p:spPr bwMode="auto">
            <a:xfrm>
              <a:off x="1794" y="2987"/>
              <a:ext cx="0" cy="140"/>
            </a:xfrm>
            <a:prstGeom prst="line">
              <a:avLst/>
            </a:prstGeom>
            <a:noFill/>
            <a:ln w="28575">
              <a:solidFill>
                <a:srgbClr val="CC3399"/>
              </a:solidFill>
              <a:round/>
              <a:headEnd type="triangle" w="med" len="med"/>
              <a:tailEnd/>
            </a:ln>
            <a:effectLst>
              <a:outerShdw dist="12700" algn="ctr" rotWithShape="0">
                <a:schemeClr val="bg2"/>
              </a:outerShdw>
            </a:effectLst>
          </p:spPr>
          <p:txBody>
            <a:bodyPr wrap="none" anchor="ctr"/>
            <a:lstStyle/>
            <a:p>
              <a:pPr>
                <a:defRPr/>
              </a:pPr>
              <a:endParaRPr lang="zh-CN" altLang="en-US">
                <a:latin typeface="Arial" charset="0"/>
                <a:ea typeface="宋体" charset="-122"/>
              </a:endParaRPr>
            </a:p>
          </p:txBody>
        </p:sp>
        <p:sp>
          <p:nvSpPr>
            <p:cNvPr id="522255" name="Freeform 15"/>
            <p:cNvSpPr>
              <a:spLocks/>
            </p:cNvSpPr>
            <p:nvPr/>
          </p:nvSpPr>
          <p:spPr bwMode="auto">
            <a:xfrm>
              <a:off x="1247" y="1888"/>
              <a:ext cx="1103" cy="1050"/>
            </a:xfrm>
            <a:custGeom>
              <a:avLst/>
              <a:gdLst/>
              <a:ahLst/>
              <a:cxnLst>
                <a:cxn ang="0">
                  <a:pos x="1942" y="1430"/>
                </a:cxn>
                <a:cxn ang="0">
                  <a:pos x="1737" y="1412"/>
                </a:cxn>
                <a:cxn ang="0">
                  <a:pos x="1636" y="1396"/>
                </a:cxn>
                <a:cxn ang="0">
                  <a:pos x="1532" y="1373"/>
                </a:cxn>
                <a:cxn ang="0">
                  <a:pos x="1431" y="1342"/>
                </a:cxn>
                <a:cxn ang="0">
                  <a:pos x="1328" y="1298"/>
                </a:cxn>
                <a:cxn ang="0">
                  <a:pos x="1227" y="1238"/>
                </a:cxn>
                <a:cxn ang="0">
                  <a:pos x="1022" y="1073"/>
                </a:cxn>
                <a:cxn ang="0">
                  <a:pos x="818" y="838"/>
                </a:cxn>
                <a:cxn ang="0">
                  <a:pos x="613" y="559"/>
                </a:cxn>
                <a:cxn ang="0">
                  <a:pos x="512" y="416"/>
                </a:cxn>
                <a:cxn ang="0">
                  <a:pos x="409" y="282"/>
                </a:cxn>
                <a:cxn ang="0">
                  <a:pos x="308" y="166"/>
                </a:cxn>
                <a:cxn ang="0">
                  <a:pos x="204" y="78"/>
                </a:cxn>
                <a:cxn ang="0">
                  <a:pos x="103" y="21"/>
                </a:cxn>
                <a:cxn ang="0">
                  <a:pos x="0" y="0"/>
                </a:cxn>
              </a:cxnLst>
              <a:rect l="0" t="0" r="r" b="b"/>
              <a:pathLst>
                <a:path w="1942" h="1430">
                  <a:moveTo>
                    <a:pt x="1942" y="1430"/>
                  </a:moveTo>
                  <a:lnTo>
                    <a:pt x="1737" y="1412"/>
                  </a:lnTo>
                  <a:lnTo>
                    <a:pt x="1636" y="1396"/>
                  </a:lnTo>
                  <a:lnTo>
                    <a:pt x="1532" y="1373"/>
                  </a:lnTo>
                  <a:lnTo>
                    <a:pt x="1431" y="1342"/>
                  </a:lnTo>
                  <a:lnTo>
                    <a:pt x="1328" y="1298"/>
                  </a:lnTo>
                  <a:lnTo>
                    <a:pt x="1227" y="1238"/>
                  </a:lnTo>
                  <a:lnTo>
                    <a:pt x="1022" y="1073"/>
                  </a:lnTo>
                  <a:lnTo>
                    <a:pt x="818" y="838"/>
                  </a:lnTo>
                  <a:lnTo>
                    <a:pt x="613" y="559"/>
                  </a:lnTo>
                  <a:lnTo>
                    <a:pt x="512" y="416"/>
                  </a:lnTo>
                  <a:lnTo>
                    <a:pt x="409" y="282"/>
                  </a:lnTo>
                  <a:lnTo>
                    <a:pt x="308" y="166"/>
                  </a:lnTo>
                  <a:lnTo>
                    <a:pt x="204" y="78"/>
                  </a:lnTo>
                  <a:lnTo>
                    <a:pt x="103" y="21"/>
                  </a:lnTo>
                  <a:lnTo>
                    <a:pt x="0" y="0"/>
                  </a:lnTo>
                </a:path>
              </a:pathLst>
            </a:custGeom>
            <a:noFill/>
            <a:ln w="76200" cmpd="sng">
              <a:solidFill>
                <a:srgbClr val="00B0F0"/>
              </a:solidFill>
              <a:prstDash val="solid"/>
              <a:round/>
              <a:headEnd/>
              <a:tailEnd/>
            </a:ln>
            <a:effectLst>
              <a:outerShdw dist="38100" dir="5400000" algn="ctr" rotWithShape="0">
                <a:schemeClr val="bg2"/>
              </a:outerShdw>
            </a:effectLst>
          </p:spPr>
          <p:txBody>
            <a:bodyPr/>
            <a:lstStyle/>
            <a:p>
              <a:pPr>
                <a:defRPr/>
              </a:pPr>
              <a:endParaRPr lang="zh-CN" altLang="en-US">
                <a:latin typeface="Arial" charset="0"/>
                <a:ea typeface="宋体" charset="-122"/>
              </a:endParaRPr>
            </a:p>
          </p:txBody>
        </p:sp>
        <p:sp>
          <p:nvSpPr>
            <p:cNvPr id="522256" name="Freeform 16"/>
            <p:cNvSpPr>
              <a:spLocks/>
            </p:cNvSpPr>
            <p:nvPr/>
          </p:nvSpPr>
          <p:spPr bwMode="auto">
            <a:xfrm>
              <a:off x="249" y="1888"/>
              <a:ext cx="1052" cy="1066"/>
            </a:xfrm>
            <a:custGeom>
              <a:avLst/>
              <a:gdLst/>
              <a:ahLst/>
              <a:cxnLst>
                <a:cxn ang="0">
                  <a:pos x="0" y="1430"/>
                </a:cxn>
                <a:cxn ang="0">
                  <a:pos x="205" y="1412"/>
                </a:cxn>
                <a:cxn ang="0">
                  <a:pos x="309" y="1396"/>
                </a:cxn>
                <a:cxn ang="0">
                  <a:pos x="410" y="1373"/>
                </a:cxn>
                <a:cxn ang="0">
                  <a:pos x="511" y="1342"/>
                </a:cxn>
                <a:cxn ang="0">
                  <a:pos x="614" y="1298"/>
                </a:cxn>
                <a:cxn ang="0">
                  <a:pos x="715" y="1238"/>
                </a:cxn>
                <a:cxn ang="0">
                  <a:pos x="922" y="1073"/>
                </a:cxn>
                <a:cxn ang="0">
                  <a:pos x="1124" y="838"/>
                </a:cxn>
                <a:cxn ang="0">
                  <a:pos x="1329" y="559"/>
                </a:cxn>
                <a:cxn ang="0">
                  <a:pos x="1432" y="416"/>
                </a:cxn>
                <a:cxn ang="0">
                  <a:pos x="1533" y="282"/>
                </a:cxn>
                <a:cxn ang="0">
                  <a:pos x="1637" y="166"/>
                </a:cxn>
                <a:cxn ang="0">
                  <a:pos x="1738" y="78"/>
                </a:cxn>
                <a:cxn ang="0">
                  <a:pos x="1842" y="21"/>
                </a:cxn>
                <a:cxn ang="0">
                  <a:pos x="1943" y="0"/>
                </a:cxn>
              </a:cxnLst>
              <a:rect l="0" t="0" r="r" b="b"/>
              <a:pathLst>
                <a:path w="1943" h="1430">
                  <a:moveTo>
                    <a:pt x="0" y="1430"/>
                  </a:moveTo>
                  <a:lnTo>
                    <a:pt x="205" y="1412"/>
                  </a:lnTo>
                  <a:lnTo>
                    <a:pt x="309" y="1396"/>
                  </a:lnTo>
                  <a:lnTo>
                    <a:pt x="410" y="1373"/>
                  </a:lnTo>
                  <a:lnTo>
                    <a:pt x="511" y="1342"/>
                  </a:lnTo>
                  <a:lnTo>
                    <a:pt x="614" y="1298"/>
                  </a:lnTo>
                  <a:lnTo>
                    <a:pt x="715" y="1238"/>
                  </a:lnTo>
                  <a:lnTo>
                    <a:pt x="922" y="1073"/>
                  </a:lnTo>
                  <a:lnTo>
                    <a:pt x="1124" y="838"/>
                  </a:lnTo>
                  <a:lnTo>
                    <a:pt x="1329" y="559"/>
                  </a:lnTo>
                  <a:lnTo>
                    <a:pt x="1432" y="416"/>
                  </a:lnTo>
                  <a:lnTo>
                    <a:pt x="1533" y="282"/>
                  </a:lnTo>
                  <a:lnTo>
                    <a:pt x="1637" y="166"/>
                  </a:lnTo>
                  <a:lnTo>
                    <a:pt x="1738" y="78"/>
                  </a:lnTo>
                  <a:lnTo>
                    <a:pt x="1842" y="21"/>
                  </a:lnTo>
                  <a:lnTo>
                    <a:pt x="1943" y="0"/>
                  </a:lnTo>
                </a:path>
              </a:pathLst>
            </a:custGeom>
            <a:noFill/>
            <a:ln w="76200" cmpd="sng">
              <a:solidFill>
                <a:srgbClr val="00B0F0"/>
              </a:solidFill>
              <a:prstDash val="solid"/>
              <a:round/>
              <a:headEnd/>
              <a:tailEnd/>
            </a:ln>
            <a:effectLst>
              <a:outerShdw dist="38100" dir="5400000" algn="ctr" rotWithShape="0">
                <a:schemeClr val="bg2"/>
              </a:outerShdw>
            </a:effectLst>
          </p:spPr>
          <p:txBody>
            <a:bodyPr/>
            <a:lstStyle/>
            <a:p>
              <a:pPr>
                <a:defRPr/>
              </a:pPr>
              <a:endParaRPr lang="zh-CN" altLang="en-US">
                <a:latin typeface="Arial" charset="0"/>
                <a:ea typeface="宋体" charset="-122"/>
              </a:endParaRPr>
            </a:p>
          </p:txBody>
        </p:sp>
        <p:sp>
          <p:nvSpPr>
            <p:cNvPr id="522257" name="Line 17"/>
            <p:cNvSpPr>
              <a:spLocks noChangeShapeType="1"/>
            </p:cNvSpPr>
            <p:nvPr/>
          </p:nvSpPr>
          <p:spPr bwMode="auto">
            <a:xfrm>
              <a:off x="789" y="2620"/>
              <a:ext cx="0" cy="367"/>
            </a:xfrm>
            <a:prstGeom prst="line">
              <a:avLst/>
            </a:prstGeom>
            <a:noFill/>
            <a:ln w="38100">
              <a:solidFill>
                <a:srgbClr val="CC0066"/>
              </a:solidFill>
              <a:round/>
              <a:headEnd/>
              <a:tailEnd/>
            </a:ln>
            <a:effectLst>
              <a:outerShdw dist="28398" dir="20006097" algn="ctr" rotWithShape="0">
                <a:schemeClr val="bg2"/>
              </a:outerShdw>
            </a:effectLst>
          </p:spPr>
          <p:txBody>
            <a:bodyPr wrap="none" anchor="ctr"/>
            <a:lstStyle/>
            <a:p>
              <a:pPr>
                <a:defRPr/>
              </a:pPr>
              <a:endParaRPr lang="zh-CN" altLang="en-US">
                <a:latin typeface="Arial" charset="0"/>
                <a:ea typeface="宋体" charset="-122"/>
              </a:endParaRPr>
            </a:p>
          </p:txBody>
        </p:sp>
        <p:sp>
          <p:nvSpPr>
            <p:cNvPr id="522258" name="Freeform 18"/>
            <p:cNvSpPr>
              <a:spLocks/>
            </p:cNvSpPr>
            <p:nvPr/>
          </p:nvSpPr>
          <p:spPr bwMode="auto">
            <a:xfrm>
              <a:off x="274" y="2654"/>
              <a:ext cx="515" cy="333"/>
            </a:xfrm>
            <a:custGeom>
              <a:avLst/>
              <a:gdLst/>
              <a:ahLst/>
              <a:cxnLst>
                <a:cxn ang="0">
                  <a:pos x="1129" y="0"/>
                </a:cxn>
                <a:cxn ang="0">
                  <a:pos x="1129" y="735"/>
                </a:cxn>
                <a:cxn ang="0">
                  <a:pos x="0" y="735"/>
                </a:cxn>
                <a:cxn ang="0">
                  <a:pos x="124" y="698"/>
                </a:cxn>
                <a:cxn ang="0">
                  <a:pos x="246" y="657"/>
                </a:cxn>
                <a:cxn ang="0">
                  <a:pos x="362" y="610"/>
                </a:cxn>
                <a:cxn ang="0">
                  <a:pos x="474" y="559"/>
                </a:cxn>
                <a:cxn ang="0">
                  <a:pos x="580" y="504"/>
                </a:cxn>
                <a:cxn ang="0">
                  <a:pos x="681" y="442"/>
                </a:cxn>
                <a:cxn ang="0">
                  <a:pos x="774" y="378"/>
                </a:cxn>
                <a:cxn ang="0">
                  <a:pos x="860" y="308"/>
                </a:cxn>
                <a:cxn ang="0">
                  <a:pos x="940" y="236"/>
                </a:cxn>
                <a:cxn ang="0">
                  <a:pos x="1010" y="161"/>
                </a:cxn>
                <a:cxn ang="0">
                  <a:pos x="1074" y="81"/>
                </a:cxn>
                <a:cxn ang="0">
                  <a:pos x="1129" y="0"/>
                </a:cxn>
              </a:cxnLst>
              <a:rect l="0" t="0" r="r" b="b"/>
              <a:pathLst>
                <a:path w="1129" h="735">
                  <a:moveTo>
                    <a:pt x="1129" y="0"/>
                  </a:moveTo>
                  <a:lnTo>
                    <a:pt x="1129" y="735"/>
                  </a:lnTo>
                  <a:lnTo>
                    <a:pt x="0" y="735"/>
                  </a:lnTo>
                  <a:lnTo>
                    <a:pt x="124" y="698"/>
                  </a:lnTo>
                  <a:lnTo>
                    <a:pt x="246" y="657"/>
                  </a:lnTo>
                  <a:lnTo>
                    <a:pt x="362" y="610"/>
                  </a:lnTo>
                  <a:lnTo>
                    <a:pt x="474" y="559"/>
                  </a:lnTo>
                  <a:lnTo>
                    <a:pt x="580" y="504"/>
                  </a:lnTo>
                  <a:lnTo>
                    <a:pt x="681" y="442"/>
                  </a:lnTo>
                  <a:lnTo>
                    <a:pt x="774" y="378"/>
                  </a:lnTo>
                  <a:lnTo>
                    <a:pt x="860" y="308"/>
                  </a:lnTo>
                  <a:lnTo>
                    <a:pt x="940" y="236"/>
                  </a:lnTo>
                  <a:lnTo>
                    <a:pt x="1010" y="161"/>
                  </a:lnTo>
                  <a:lnTo>
                    <a:pt x="1074" y="81"/>
                  </a:lnTo>
                  <a:lnTo>
                    <a:pt x="1129" y="0"/>
                  </a:lnTo>
                  <a:close/>
                </a:path>
              </a:pathLst>
            </a:custGeom>
            <a:solidFill>
              <a:schemeClr val="hlink"/>
            </a:solidFill>
            <a:ln w="9525">
              <a:noFill/>
              <a:round/>
              <a:headEnd/>
              <a:tailEnd/>
            </a:ln>
            <a:effectLst>
              <a:outerShdw algn="ctr" rotWithShape="0">
                <a:srgbClr val="808080"/>
              </a:outerShdw>
            </a:effectLst>
          </p:spPr>
          <p:txBody>
            <a:bodyPr/>
            <a:lstStyle/>
            <a:p>
              <a:pPr>
                <a:defRPr/>
              </a:pPr>
              <a:endParaRPr lang="zh-CN" altLang="en-US">
                <a:latin typeface="Arial" charset="0"/>
                <a:ea typeface="宋体" charset="-122"/>
              </a:endParaRPr>
            </a:p>
          </p:txBody>
        </p:sp>
        <p:sp>
          <p:nvSpPr>
            <p:cNvPr id="522259" name="Freeform 19"/>
            <p:cNvSpPr>
              <a:spLocks/>
            </p:cNvSpPr>
            <p:nvPr/>
          </p:nvSpPr>
          <p:spPr bwMode="auto">
            <a:xfrm>
              <a:off x="1791" y="2659"/>
              <a:ext cx="542" cy="333"/>
            </a:xfrm>
            <a:custGeom>
              <a:avLst/>
              <a:gdLst/>
              <a:ahLst/>
              <a:cxnLst>
                <a:cxn ang="0">
                  <a:pos x="0" y="0"/>
                </a:cxn>
                <a:cxn ang="0">
                  <a:pos x="0" y="734"/>
                </a:cxn>
                <a:cxn ang="0">
                  <a:pos x="1129" y="734"/>
                </a:cxn>
                <a:cxn ang="0">
                  <a:pos x="1002" y="700"/>
                </a:cxn>
                <a:cxn ang="0">
                  <a:pos x="880" y="659"/>
                </a:cxn>
                <a:cxn ang="0">
                  <a:pos x="764" y="612"/>
                </a:cxn>
                <a:cxn ang="0">
                  <a:pos x="652" y="561"/>
                </a:cxn>
                <a:cxn ang="0">
                  <a:pos x="546" y="504"/>
                </a:cxn>
                <a:cxn ang="0">
                  <a:pos x="445" y="444"/>
                </a:cxn>
                <a:cxn ang="0">
                  <a:pos x="352" y="380"/>
                </a:cxn>
                <a:cxn ang="0">
                  <a:pos x="267" y="310"/>
                </a:cxn>
                <a:cxn ang="0">
                  <a:pos x="189" y="237"/>
                </a:cxn>
                <a:cxn ang="0">
                  <a:pos x="116" y="162"/>
                </a:cxn>
                <a:cxn ang="0">
                  <a:pos x="54" y="82"/>
                </a:cxn>
                <a:cxn ang="0">
                  <a:pos x="0" y="0"/>
                </a:cxn>
              </a:cxnLst>
              <a:rect l="0" t="0" r="r" b="b"/>
              <a:pathLst>
                <a:path w="1129" h="734">
                  <a:moveTo>
                    <a:pt x="0" y="0"/>
                  </a:moveTo>
                  <a:lnTo>
                    <a:pt x="0" y="734"/>
                  </a:lnTo>
                  <a:lnTo>
                    <a:pt x="1129" y="734"/>
                  </a:lnTo>
                  <a:lnTo>
                    <a:pt x="1002" y="700"/>
                  </a:lnTo>
                  <a:lnTo>
                    <a:pt x="880" y="659"/>
                  </a:lnTo>
                  <a:lnTo>
                    <a:pt x="764" y="612"/>
                  </a:lnTo>
                  <a:lnTo>
                    <a:pt x="652" y="561"/>
                  </a:lnTo>
                  <a:lnTo>
                    <a:pt x="546" y="504"/>
                  </a:lnTo>
                  <a:lnTo>
                    <a:pt x="445" y="444"/>
                  </a:lnTo>
                  <a:lnTo>
                    <a:pt x="352" y="380"/>
                  </a:lnTo>
                  <a:lnTo>
                    <a:pt x="267" y="310"/>
                  </a:lnTo>
                  <a:lnTo>
                    <a:pt x="189" y="237"/>
                  </a:lnTo>
                  <a:lnTo>
                    <a:pt x="116" y="162"/>
                  </a:lnTo>
                  <a:lnTo>
                    <a:pt x="54" y="82"/>
                  </a:lnTo>
                  <a:lnTo>
                    <a:pt x="0" y="0"/>
                  </a:lnTo>
                  <a:close/>
                </a:path>
              </a:pathLst>
            </a:custGeom>
            <a:solidFill>
              <a:schemeClr val="hlink"/>
            </a:solidFill>
            <a:ln w="9525">
              <a:noFill/>
              <a:round/>
              <a:headEnd/>
              <a:tailEnd/>
            </a:ln>
            <a:effectLst>
              <a:outerShdw algn="ctr" rotWithShape="0">
                <a:srgbClr val="808080"/>
              </a:outerShdw>
            </a:effectLst>
          </p:spPr>
          <p:txBody>
            <a:bodyPr/>
            <a:lstStyle/>
            <a:p>
              <a:pPr>
                <a:defRPr/>
              </a:pPr>
              <a:endParaRPr lang="zh-CN" altLang="en-US">
                <a:latin typeface="Arial" charset="0"/>
                <a:ea typeface="宋体" charset="-122"/>
              </a:endParaRPr>
            </a:p>
          </p:txBody>
        </p:sp>
        <p:sp>
          <p:nvSpPr>
            <p:cNvPr id="522260" name="Line 20"/>
            <p:cNvSpPr>
              <a:spLocks noChangeShapeType="1"/>
            </p:cNvSpPr>
            <p:nvPr/>
          </p:nvSpPr>
          <p:spPr bwMode="auto">
            <a:xfrm flipH="1">
              <a:off x="1837" y="2523"/>
              <a:ext cx="206" cy="251"/>
            </a:xfrm>
            <a:prstGeom prst="line">
              <a:avLst/>
            </a:prstGeom>
            <a:noFill/>
            <a:ln w="25400">
              <a:solidFill>
                <a:schemeClr val="tx2"/>
              </a:solidFill>
              <a:round/>
              <a:headEnd/>
              <a:tailEnd type="triangle" w="med" len="med"/>
            </a:ln>
            <a:effectLst>
              <a:outerShdw algn="ctr" rotWithShape="0">
                <a:schemeClr val="bg2"/>
              </a:outerShdw>
            </a:effectLst>
          </p:spPr>
          <p:txBody>
            <a:bodyPr wrap="none" anchor="ctr"/>
            <a:lstStyle/>
            <a:p>
              <a:pPr>
                <a:defRPr/>
              </a:pPr>
              <a:endParaRPr lang="zh-CN" altLang="en-US">
                <a:latin typeface="Arial" charset="0"/>
                <a:ea typeface="宋体" charset="-122"/>
              </a:endParaRPr>
            </a:p>
          </p:txBody>
        </p:sp>
        <p:sp>
          <p:nvSpPr>
            <p:cNvPr id="522261" name="Line 21"/>
            <p:cNvSpPr>
              <a:spLocks noChangeShapeType="1"/>
            </p:cNvSpPr>
            <p:nvPr/>
          </p:nvSpPr>
          <p:spPr bwMode="auto">
            <a:xfrm>
              <a:off x="507" y="2654"/>
              <a:ext cx="180" cy="234"/>
            </a:xfrm>
            <a:prstGeom prst="line">
              <a:avLst/>
            </a:prstGeom>
            <a:noFill/>
            <a:ln w="25400">
              <a:solidFill>
                <a:schemeClr val="tx2"/>
              </a:solidFill>
              <a:round/>
              <a:headEnd/>
              <a:tailEnd type="triangle" w="med" len="med"/>
            </a:ln>
            <a:effectLst>
              <a:outerShdw algn="ctr" rotWithShape="0">
                <a:schemeClr val="bg2"/>
              </a:outerShdw>
            </a:effectLst>
          </p:spPr>
          <p:txBody>
            <a:bodyPr wrap="none" anchor="ctr"/>
            <a:lstStyle/>
            <a:p>
              <a:pPr>
                <a:defRPr/>
              </a:pPr>
              <a:endParaRPr lang="zh-CN" altLang="en-US">
                <a:latin typeface="Arial" charset="0"/>
                <a:ea typeface="宋体" charset="-122"/>
              </a:endParaRPr>
            </a:p>
          </p:txBody>
        </p:sp>
        <p:sp>
          <p:nvSpPr>
            <p:cNvPr id="522262" name="Text Box 22"/>
            <p:cNvSpPr txBox="1">
              <a:spLocks noChangeArrowheads="1"/>
            </p:cNvSpPr>
            <p:nvPr/>
          </p:nvSpPr>
          <p:spPr bwMode="auto">
            <a:xfrm>
              <a:off x="1202" y="3022"/>
              <a:ext cx="230" cy="288"/>
            </a:xfrm>
            <a:prstGeom prst="rect">
              <a:avLst/>
            </a:prstGeom>
            <a:noFill/>
            <a:ln w="12700">
              <a:noFill/>
              <a:miter lim="800000"/>
              <a:headEnd/>
              <a:tailEnd/>
            </a:ln>
            <a:effectLst/>
          </p:spPr>
          <p:txBody>
            <a:bodyPr>
              <a:spAutoFit/>
            </a:bodyPr>
            <a:lstStyle/>
            <a:p>
              <a:pPr algn="ctr" eaLnBrk="0" hangingPunct="0">
                <a:spcBef>
                  <a:spcPct val="50000"/>
                </a:spcBef>
                <a:defRPr/>
              </a:pPr>
              <a:r>
                <a:rPr kumimoji="1" lang="en-US" altLang="zh-CN" sz="2400" b="1" dirty="0">
                  <a:effectLst>
                    <a:outerShdw blurRad="38100" dist="38100" dir="2700000" algn="tl">
                      <a:srgbClr val="C0C0C0"/>
                    </a:outerShdw>
                  </a:effectLst>
                  <a:latin typeface="Arial" charset="0"/>
                  <a:ea typeface="宋体" charset="-122"/>
                </a:rPr>
                <a:t>0</a:t>
              </a:r>
            </a:p>
          </p:txBody>
        </p:sp>
        <p:sp>
          <p:nvSpPr>
            <p:cNvPr id="19488" name="Text Box 23"/>
            <p:cNvSpPr txBox="1">
              <a:spLocks noChangeArrowheads="1"/>
            </p:cNvSpPr>
            <p:nvPr/>
          </p:nvSpPr>
          <p:spPr bwMode="auto">
            <a:xfrm>
              <a:off x="385" y="3113"/>
              <a:ext cx="473" cy="239"/>
            </a:xfrm>
            <a:prstGeom prst="rect">
              <a:avLst/>
            </a:prstGeom>
            <a:solidFill>
              <a:srgbClr val="FFFF9B"/>
            </a:solidFill>
            <a:ln w="12700">
              <a:solidFill>
                <a:srgbClr val="FF33CC"/>
              </a:solidFill>
              <a:miter lim="800000"/>
              <a:headEnd/>
              <a:tailEnd/>
            </a:ln>
          </p:spPr>
          <p:txBody>
            <a:bodyPr>
              <a:spAutoFit/>
            </a:bodyPr>
            <a:lstStyle/>
            <a:p>
              <a:pPr algn="ctr" eaLnBrk="0" hangingPunct="0">
                <a:spcBef>
                  <a:spcPct val="50000"/>
                </a:spcBef>
              </a:pPr>
              <a:r>
                <a:rPr kumimoji="1" lang="en-US" altLang="zh-CN" b="1"/>
                <a:t>-2.26</a:t>
              </a:r>
            </a:p>
          </p:txBody>
        </p:sp>
        <p:sp>
          <p:nvSpPr>
            <p:cNvPr id="19489" name="Text Box 24"/>
            <p:cNvSpPr txBox="1">
              <a:spLocks noChangeArrowheads="1"/>
            </p:cNvSpPr>
            <p:nvPr/>
          </p:nvSpPr>
          <p:spPr bwMode="auto">
            <a:xfrm>
              <a:off x="1695" y="3125"/>
              <a:ext cx="408" cy="239"/>
            </a:xfrm>
            <a:prstGeom prst="rect">
              <a:avLst/>
            </a:prstGeom>
            <a:solidFill>
              <a:srgbClr val="FFFF9B"/>
            </a:solidFill>
            <a:ln w="12700">
              <a:solidFill>
                <a:srgbClr val="FF33CC"/>
              </a:solidFill>
              <a:miter lim="800000"/>
              <a:headEnd/>
              <a:tailEnd/>
            </a:ln>
          </p:spPr>
          <p:txBody>
            <a:bodyPr>
              <a:spAutoFit/>
            </a:bodyPr>
            <a:lstStyle/>
            <a:p>
              <a:pPr algn="ctr" eaLnBrk="0" hangingPunct="0">
                <a:spcBef>
                  <a:spcPct val="50000"/>
                </a:spcBef>
              </a:pPr>
              <a:r>
                <a:rPr kumimoji="1" lang="en-US" altLang="zh-CN" b="1" dirty="0"/>
                <a:t>2.26</a:t>
              </a:r>
            </a:p>
          </p:txBody>
        </p:sp>
      </p:grpSp>
      <p:sp>
        <p:nvSpPr>
          <p:cNvPr id="522265" name="Rectangle 25"/>
          <p:cNvSpPr>
            <a:spLocks noChangeArrowheads="1"/>
          </p:cNvSpPr>
          <p:nvPr/>
        </p:nvSpPr>
        <p:spPr bwMode="auto">
          <a:xfrm>
            <a:off x="6024563" y="4724400"/>
            <a:ext cx="3600450" cy="609600"/>
          </a:xfrm>
          <a:prstGeom prst="rect">
            <a:avLst/>
          </a:prstGeom>
          <a:noFill/>
          <a:ln w="12700">
            <a:noFill/>
            <a:miter lim="800000"/>
            <a:headEnd/>
            <a:tailEnd/>
          </a:ln>
        </p:spPr>
        <p:txBody>
          <a:bodyPr lIns="90488" tIns="44450" rIns="90488" bIns="44450"/>
          <a:lstStyle/>
          <a:p>
            <a:pPr eaLnBrk="0" hangingPunct="0">
              <a:spcBef>
                <a:spcPct val="20000"/>
              </a:spcBef>
            </a:pPr>
            <a:r>
              <a:rPr kumimoji="1" lang="zh-CN" altLang="en-US" sz="2800" b="1">
                <a:solidFill>
                  <a:srgbClr val="FF00FF"/>
                </a:solidFill>
              </a:rPr>
              <a:t>结论</a:t>
            </a:r>
            <a:r>
              <a:rPr kumimoji="1" lang="en-US" altLang="zh-CN" sz="2800" b="1">
                <a:solidFill>
                  <a:srgbClr val="FF00FF"/>
                </a:solidFill>
              </a:rPr>
              <a:t>:   </a:t>
            </a:r>
            <a:r>
              <a:rPr kumimoji="1" lang="zh-CN" altLang="en-US" sz="2400" b="1">
                <a:solidFill>
                  <a:srgbClr val="008000"/>
                </a:solidFill>
              </a:rPr>
              <a:t>不能拒绝 </a:t>
            </a:r>
            <a:r>
              <a:rPr kumimoji="1" lang="en-US" altLang="zh-CN" sz="2400" b="1">
                <a:solidFill>
                  <a:srgbClr val="008000"/>
                </a:solidFill>
              </a:rPr>
              <a:t>H</a:t>
            </a:r>
            <a:r>
              <a:rPr kumimoji="1" lang="en-US" altLang="zh-CN" sz="2400" b="1" baseline="-25000">
                <a:solidFill>
                  <a:srgbClr val="008000"/>
                </a:solidFill>
              </a:rPr>
              <a:t>0</a:t>
            </a:r>
            <a:r>
              <a:rPr kumimoji="1" lang="en-US" altLang="zh-CN" sz="2400" b="1">
                <a:solidFill>
                  <a:srgbClr val="FF00FF"/>
                </a:solidFill>
              </a:rPr>
              <a:t> </a:t>
            </a:r>
          </a:p>
        </p:txBody>
      </p:sp>
      <p:grpSp>
        <p:nvGrpSpPr>
          <p:cNvPr id="3" name="Group 26"/>
          <p:cNvGrpSpPr>
            <a:grpSpLocks/>
          </p:cNvGrpSpPr>
          <p:nvPr/>
        </p:nvGrpSpPr>
        <p:grpSpPr bwMode="auto">
          <a:xfrm>
            <a:off x="3982244" y="4664073"/>
            <a:ext cx="1949449" cy="1573212"/>
            <a:chOff x="862" y="2931"/>
            <a:chExt cx="1228" cy="991"/>
          </a:xfrm>
          <a:noFill/>
        </p:grpSpPr>
        <p:sp>
          <p:nvSpPr>
            <p:cNvPr id="19472" name="Oval 27"/>
            <p:cNvSpPr>
              <a:spLocks noChangeArrowheads="1"/>
            </p:cNvSpPr>
            <p:nvPr/>
          </p:nvSpPr>
          <p:spPr bwMode="auto">
            <a:xfrm>
              <a:off x="884" y="2931"/>
              <a:ext cx="123" cy="85"/>
            </a:xfrm>
            <a:prstGeom prst="ellipse">
              <a:avLst/>
            </a:prstGeom>
            <a:solidFill>
              <a:srgbClr val="92D050"/>
            </a:solidFill>
            <a:ln w="9525">
              <a:solidFill>
                <a:srgbClr val="3333FF"/>
              </a:solidFill>
              <a:round/>
              <a:headEnd/>
              <a:tailEnd/>
            </a:ln>
          </p:spPr>
          <p:txBody>
            <a:bodyPr wrap="none" anchor="ctr"/>
            <a:lstStyle/>
            <a:p>
              <a:endParaRPr lang="zh-CN" altLang="en-US"/>
            </a:p>
          </p:txBody>
        </p:sp>
        <p:sp>
          <p:nvSpPr>
            <p:cNvPr id="19473" name="AutoShape 28"/>
            <p:cNvSpPr>
              <a:spLocks noChangeArrowheads="1"/>
            </p:cNvSpPr>
            <p:nvPr/>
          </p:nvSpPr>
          <p:spPr bwMode="auto">
            <a:xfrm>
              <a:off x="862" y="3469"/>
              <a:ext cx="1228" cy="453"/>
            </a:xfrm>
            <a:prstGeom prst="wedgeRoundRectCallout">
              <a:avLst>
                <a:gd name="adj1" fmla="val -45064"/>
                <a:gd name="adj2" fmla="val -150884"/>
                <a:gd name="adj3" fmla="val 16667"/>
              </a:avLst>
            </a:prstGeom>
            <a:grpFill/>
            <a:ln w="9525">
              <a:solidFill>
                <a:srgbClr val="00B050"/>
              </a:solidFill>
              <a:miter lim="800000"/>
              <a:headEnd/>
              <a:tailEnd/>
            </a:ln>
          </p:spPr>
          <p:txBody>
            <a:bodyPr/>
            <a:lstStyle/>
            <a:p>
              <a:pPr algn="ctr"/>
              <a:r>
                <a:rPr lang="zh-CN" altLang="en-US" sz="2000">
                  <a:solidFill>
                    <a:schemeClr val="accent6">
                      <a:lumMod val="75000"/>
                    </a:schemeClr>
                  </a:solidFill>
                </a:rPr>
                <a:t>检验统计量的观察值</a:t>
              </a:r>
            </a:p>
          </p:txBody>
        </p:sp>
      </p:grpSp>
      <p:sp>
        <p:nvSpPr>
          <p:cNvPr id="522269" name="AutoShape 29"/>
          <p:cNvSpPr>
            <a:spLocks noChangeArrowheads="1"/>
          </p:cNvSpPr>
          <p:nvPr/>
        </p:nvSpPr>
        <p:spPr bwMode="auto">
          <a:xfrm rot="19814934">
            <a:off x="5328436" y="5154529"/>
            <a:ext cx="814719" cy="261562"/>
          </a:xfrm>
          <a:prstGeom prst="rightArrow">
            <a:avLst>
              <a:gd name="adj1" fmla="val 50000"/>
              <a:gd name="adj2" fmla="val 69934"/>
            </a:avLst>
          </a:prstGeom>
          <a:solidFill>
            <a:schemeClr val="accent6">
              <a:lumMod val="20000"/>
              <a:lumOff val="80000"/>
            </a:schemeClr>
          </a:solidFill>
          <a:ln w="9525">
            <a:solidFill>
              <a:srgbClr val="FF0066"/>
            </a:solidFill>
            <a:miter lim="800000"/>
            <a:headEnd/>
            <a:tailEnd/>
          </a:ln>
        </p:spPr>
        <p:txBody>
          <a:bodyPr wrap="none" anchor="ctr"/>
          <a:lstStyle/>
          <a:p>
            <a:endParaRPr lang="zh-CN" altLang="en-US"/>
          </a:p>
        </p:txBody>
      </p:sp>
      <p:sp>
        <p:nvSpPr>
          <p:cNvPr id="19470" name="Rectangle 30"/>
          <p:cNvSpPr>
            <a:spLocks noChangeArrowheads="1"/>
          </p:cNvSpPr>
          <p:nvPr/>
        </p:nvSpPr>
        <p:spPr bwMode="auto">
          <a:xfrm>
            <a:off x="1524001" y="3015734"/>
            <a:ext cx="184731" cy="369332"/>
          </a:xfrm>
          <a:prstGeom prst="rect">
            <a:avLst/>
          </a:prstGeom>
          <a:noFill/>
          <a:ln w="9525">
            <a:noFill/>
            <a:miter lim="800000"/>
            <a:headEnd/>
            <a:tailEnd/>
          </a:ln>
        </p:spPr>
        <p:txBody>
          <a:bodyPr wrap="none" anchor="ctr">
            <a:spAutoFit/>
          </a:bodyPr>
          <a:lstStyle/>
          <a:p>
            <a:endParaRPr lang="zh-CN" altLang="en-US"/>
          </a:p>
        </p:txBody>
      </p:sp>
      <p:sp>
        <p:nvSpPr>
          <p:cNvPr id="19471" name="Rectangle 31"/>
          <p:cNvSpPr>
            <a:spLocks noChangeArrowheads="1"/>
          </p:cNvSpPr>
          <p:nvPr/>
        </p:nvSpPr>
        <p:spPr bwMode="auto">
          <a:xfrm>
            <a:off x="1524001" y="3020497"/>
            <a:ext cx="184731" cy="369332"/>
          </a:xfrm>
          <a:prstGeom prst="rect">
            <a:avLst/>
          </a:prstGeom>
          <a:noFill/>
          <a:ln w="9525">
            <a:noFill/>
            <a:miter lim="800000"/>
            <a:headEnd/>
            <a:tailEnd/>
          </a:ln>
        </p:spPr>
        <p:txBody>
          <a:bodyPr wrap="none" anchor="ctr">
            <a:spAutoFit/>
          </a:bodyPr>
          <a:lstStyle/>
          <a:p>
            <a:endParaRPr lang="zh-CN" altLang="en-US"/>
          </a:p>
        </p:txBody>
      </p:sp>
      <p:graphicFrame>
        <p:nvGraphicFramePr>
          <p:cNvPr id="522272" name="Object 32"/>
          <p:cNvGraphicFramePr>
            <a:graphicFrameLocks noChangeAspect="1"/>
          </p:cNvGraphicFramePr>
          <p:nvPr>
            <p:extLst>
              <p:ext uri="{D42A27DB-BD31-4B8C-83A1-F6EECF244321}">
                <p14:modId xmlns:p14="http://schemas.microsoft.com/office/powerpoint/2010/main" val="2041492313"/>
              </p:ext>
            </p:extLst>
          </p:nvPr>
        </p:nvGraphicFramePr>
        <p:xfrm>
          <a:off x="5448301" y="3500437"/>
          <a:ext cx="4824414" cy="1084261"/>
        </p:xfrm>
        <a:graphic>
          <a:graphicData uri="http://schemas.openxmlformats.org/presentationml/2006/ole">
            <mc:AlternateContent xmlns:mc="http://schemas.openxmlformats.org/markup-compatibility/2006">
              <mc:Choice xmlns:v="urn:schemas-microsoft-com:vml" Requires="v">
                <p:oleObj name="公式" r:id="rId7" imgW="2019300" imgH="444500" progId="Equation.3">
                  <p:embed/>
                </p:oleObj>
              </mc:Choice>
              <mc:Fallback>
                <p:oleObj name="公式" r:id="rId7" imgW="2019300" imgH="444500" progId="Equation.3">
                  <p:embed/>
                  <p:pic>
                    <p:nvPicPr>
                      <p:cNvPr id="522272" name="Object 3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448301" y="3500437"/>
                        <a:ext cx="4824414" cy="1084261"/>
                      </a:xfrm>
                      <a:prstGeom prst="rect">
                        <a:avLst/>
                      </a:prstGeom>
                      <a:noFill/>
                    </p:spPr>
                  </p:pic>
                </p:oleObj>
              </mc:Fallback>
            </mc:AlternateContent>
          </a:graphicData>
        </a:graphic>
      </p:graphicFrame>
    </p:spTree>
    <p:extLst>
      <p:ext uri="{BB962C8B-B14F-4D97-AF65-F5344CB8AC3E}">
        <p14:creationId xmlns:p14="http://schemas.microsoft.com/office/powerpoint/2010/main" val="27560595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22245">
                                            <p:txEl>
                                              <p:pRg st="0" end="0"/>
                                            </p:txEl>
                                          </p:spTgt>
                                        </p:tgtEl>
                                        <p:attrNameLst>
                                          <p:attrName>style.visibility</p:attrName>
                                        </p:attrNameLst>
                                      </p:cBhvr>
                                      <p:to>
                                        <p:strVal val="visible"/>
                                      </p:to>
                                    </p:set>
                                    <p:animEffect transition="in" filter="wipe(left)">
                                      <p:cBhvr>
                                        <p:cTn id="12" dur="500"/>
                                        <p:tgtEl>
                                          <p:spTgt spid="522245">
                                            <p:txEl>
                                              <p:pRg st="0" end="0"/>
                                            </p:txEl>
                                          </p:spTgt>
                                        </p:tgtEl>
                                      </p:cBhvr>
                                    </p:animEffect>
                                  </p:childTnLst>
                                </p:cTn>
                              </p:par>
                            </p:childTnLst>
                          </p:cTn>
                        </p:par>
                        <p:par>
                          <p:cTn id="13" fill="hold">
                            <p:stCondLst>
                              <p:cond delay="500"/>
                            </p:stCondLst>
                            <p:childTnLst>
                              <p:par>
                                <p:cTn id="14" presetID="22" presetClass="entr" presetSubtype="8" fill="hold" nodeType="afterEffect">
                                  <p:stCondLst>
                                    <p:cond delay="0"/>
                                  </p:stCondLst>
                                  <p:childTnLst>
                                    <p:set>
                                      <p:cBhvr>
                                        <p:cTn id="15" dur="1" fill="hold">
                                          <p:stCondLst>
                                            <p:cond delay="0"/>
                                          </p:stCondLst>
                                        </p:cTn>
                                        <p:tgtEl>
                                          <p:spTgt spid="522272"/>
                                        </p:tgtEl>
                                        <p:attrNameLst>
                                          <p:attrName>style.visibility</p:attrName>
                                        </p:attrNameLst>
                                      </p:cBhvr>
                                      <p:to>
                                        <p:strVal val="visible"/>
                                      </p:to>
                                    </p:set>
                                    <p:animEffect transition="in" filter="wipe(left)">
                                      <p:cBhvr>
                                        <p:cTn id="16" dur="500"/>
                                        <p:tgtEl>
                                          <p:spTgt spid="522272"/>
                                        </p:tgtEl>
                                      </p:cBhvr>
                                    </p:animEffect>
                                  </p:childTnLst>
                                </p:cTn>
                              </p:par>
                            </p:childTnLst>
                          </p:cTn>
                        </p:par>
                      </p:childTnLst>
                    </p:cTn>
                  </p:par>
                  <p:par>
                    <p:cTn id="17" fill="hold">
                      <p:stCondLst>
                        <p:cond delay="indefinite"/>
                      </p:stCondLst>
                      <p:childTnLst>
                        <p:par>
                          <p:cTn id="18" fill="hold">
                            <p:stCondLst>
                              <p:cond delay="0"/>
                            </p:stCondLst>
                            <p:childTnLst>
                              <p:par>
                                <p:cTn id="19" presetID="12" presetClass="entr" presetSubtype="4" fill="hold" nodeType="clickEffect">
                                  <p:stCondLst>
                                    <p:cond delay="0"/>
                                  </p:stCondLst>
                                  <p:childTnLst>
                                    <p:set>
                                      <p:cBhvr>
                                        <p:cTn id="20" dur="1" fill="hold">
                                          <p:stCondLst>
                                            <p:cond delay="0"/>
                                          </p:stCondLst>
                                        </p:cTn>
                                        <p:tgtEl>
                                          <p:spTgt spid="3"/>
                                        </p:tgtEl>
                                        <p:attrNameLst>
                                          <p:attrName>style.visibility</p:attrName>
                                        </p:attrNameLst>
                                      </p:cBhvr>
                                      <p:to>
                                        <p:strVal val="visible"/>
                                      </p:to>
                                    </p:set>
                                    <p:animEffect transition="in" filter="slide(fromBottom)">
                                      <p:cBhvr>
                                        <p:cTn id="21" dur="500"/>
                                        <p:tgtEl>
                                          <p:spTgt spid="3"/>
                                        </p:tgtEl>
                                      </p:cBhvr>
                                    </p:animEffect>
                                  </p:childTnLst>
                                </p:cTn>
                              </p:par>
                            </p:childTnLst>
                          </p:cTn>
                        </p:par>
                        <p:par>
                          <p:cTn id="22" fill="hold">
                            <p:stCondLst>
                              <p:cond delay="500"/>
                            </p:stCondLst>
                            <p:childTnLst>
                              <p:par>
                                <p:cTn id="23" presetID="12" presetClass="entr" presetSubtype="8" fill="hold" grpId="0" nodeType="afterEffect">
                                  <p:stCondLst>
                                    <p:cond delay="0"/>
                                  </p:stCondLst>
                                  <p:childTnLst>
                                    <p:set>
                                      <p:cBhvr>
                                        <p:cTn id="24" dur="1" fill="hold">
                                          <p:stCondLst>
                                            <p:cond delay="0"/>
                                          </p:stCondLst>
                                        </p:cTn>
                                        <p:tgtEl>
                                          <p:spTgt spid="522269"/>
                                        </p:tgtEl>
                                        <p:attrNameLst>
                                          <p:attrName>style.visibility</p:attrName>
                                        </p:attrNameLst>
                                      </p:cBhvr>
                                      <p:to>
                                        <p:strVal val="visible"/>
                                      </p:to>
                                    </p:set>
                                    <p:animEffect transition="in" filter="slide(fromLeft)">
                                      <p:cBhvr>
                                        <p:cTn id="25" dur="500"/>
                                        <p:tgtEl>
                                          <p:spTgt spid="522269"/>
                                        </p:tgtEl>
                                      </p:cBhvr>
                                    </p:animEffect>
                                  </p:childTnLst>
                                </p:cTn>
                              </p:par>
                            </p:childTnLst>
                          </p:cTn>
                        </p:par>
                        <p:par>
                          <p:cTn id="26" fill="hold">
                            <p:stCondLst>
                              <p:cond delay="1000"/>
                            </p:stCondLst>
                            <p:childTnLst>
                              <p:par>
                                <p:cTn id="27" presetID="12" presetClass="entr" presetSubtype="8" fill="hold" grpId="0" nodeType="afterEffect">
                                  <p:stCondLst>
                                    <p:cond delay="0"/>
                                  </p:stCondLst>
                                  <p:childTnLst>
                                    <p:set>
                                      <p:cBhvr>
                                        <p:cTn id="28" dur="1" fill="hold">
                                          <p:stCondLst>
                                            <p:cond delay="0"/>
                                          </p:stCondLst>
                                        </p:cTn>
                                        <p:tgtEl>
                                          <p:spTgt spid="522265"/>
                                        </p:tgtEl>
                                        <p:attrNameLst>
                                          <p:attrName>style.visibility</p:attrName>
                                        </p:attrNameLst>
                                      </p:cBhvr>
                                      <p:to>
                                        <p:strVal val="visible"/>
                                      </p:to>
                                    </p:set>
                                    <p:animEffect transition="in" filter="slide(fromLeft)">
                                      <p:cBhvr>
                                        <p:cTn id="29" dur="500"/>
                                        <p:tgtEl>
                                          <p:spTgt spid="522265"/>
                                        </p:tgtEl>
                                      </p:cBhvr>
                                    </p:animEffect>
                                  </p:childTnLst>
                                </p:cTn>
                              </p:par>
                            </p:childTnLst>
                          </p:cTn>
                        </p:par>
                        <p:par>
                          <p:cTn id="30" fill="hold">
                            <p:stCondLst>
                              <p:cond delay="1500"/>
                            </p:stCondLst>
                            <p:childTnLst>
                              <p:par>
                                <p:cTn id="31" presetID="22" presetClass="entr" presetSubtype="8" fill="hold" grpId="0" nodeType="afterEffect">
                                  <p:stCondLst>
                                    <p:cond delay="0"/>
                                  </p:stCondLst>
                                  <p:childTnLst>
                                    <p:set>
                                      <p:cBhvr>
                                        <p:cTn id="32" dur="1" fill="hold">
                                          <p:stCondLst>
                                            <p:cond delay="0"/>
                                          </p:stCondLst>
                                        </p:cTn>
                                        <p:tgtEl>
                                          <p:spTgt spid="522246">
                                            <p:txEl>
                                              <p:pRg st="0" end="0"/>
                                            </p:txEl>
                                          </p:spTgt>
                                        </p:tgtEl>
                                        <p:attrNameLst>
                                          <p:attrName>style.visibility</p:attrName>
                                        </p:attrNameLst>
                                      </p:cBhvr>
                                      <p:to>
                                        <p:strVal val="visible"/>
                                      </p:to>
                                    </p:set>
                                    <p:animEffect transition="in" filter="wipe(left)">
                                      <p:cBhvr>
                                        <p:cTn id="33" dur="5000"/>
                                        <p:tgtEl>
                                          <p:spTgt spid="52224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2245" grpId="0" build="p" autoUpdateAnimBg="0"/>
      <p:bldP spid="522246" grpId="0" build="p" autoUpdateAnimBg="0"/>
      <p:bldP spid="522265" grpId="0"/>
      <p:bldP spid="522269"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灯片编号占位符 7"/>
          <p:cNvSpPr>
            <a:spLocks noGrp="1"/>
          </p:cNvSpPr>
          <p:nvPr>
            <p:ph type="sldNum" sz="quarter" idx="12"/>
          </p:nvPr>
        </p:nvSpPr>
        <p:spPr>
          <a:noFill/>
        </p:spPr>
        <p:txBody>
          <a:bodyPr/>
          <a:lstStyle/>
          <a:p>
            <a:r>
              <a:rPr lang="en-US" altLang="zh-CN">
                <a:ea typeface="宋体" pitchFamily="2" charset="-122"/>
              </a:rPr>
              <a:t>8--</a:t>
            </a:r>
            <a:fld id="{EDC3F57F-771E-44C0-8112-E041582955B6}" type="slidenum">
              <a:rPr lang="en-US" altLang="zh-CN" smtClean="0">
                <a:ea typeface="宋体" pitchFamily="2" charset="-122"/>
              </a:rPr>
              <a:pPr/>
              <a:t>51</a:t>
            </a:fld>
            <a:endParaRPr lang="en-US" altLang="zh-CN">
              <a:ea typeface="宋体" pitchFamily="2" charset="-122"/>
            </a:endParaRPr>
          </a:p>
        </p:txBody>
      </p:sp>
      <p:sp>
        <p:nvSpPr>
          <p:cNvPr id="90115" name="Rectangle 2"/>
          <p:cNvSpPr>
            <a:spLocks noGrp="1" noChangeArrowheads="1"/>
          </p:cNvSpPr>
          <p:nvPr>
            <p:ph type="title"/>
          </p:nvPr>
        </p:nvSpPr>
        <p:spPr>
          <a:noFill/>
        </p:spPr>
        <p:txBody>
          <a:bodyPr vert="horz" lIns="90488" tIns="44450" rIns="90488" bIns="44450" rtlCol="0" anchor="ctr" anchorCtr="1">
            <a:normAutofit/>
          </a:bodyPr>
          <a:lstStyle/>
          <a:p>
            <a:r>
              <a:rPr lang="en-US" altLang="zh-CN" sz="3600" b="1" dirty="0">
                <a:effectLst/>
              </a:rPr>
              <a:t>【</a:t>
            </a:r>
            <a:r>
              <a:rPr lang="zh-CN" altLang="en-US" sz="3600" b="1" dirty="0">
                <a:effectLst/>
              </a:rPr>
              <a:t>例</a:t>
            </a:r>
            <a:r>
              <a:rPr lang="en-US" altLang="zh-CN" sz="3600" b="1" dirty="0">
                <a:effectLst/>
              </a:rPr>
              <a:t>8-3】</a:t>
            </a:r>
            <a:r>
              <a:rPr lang="zh-CN" altLang="en-US" sz="2800" dirty="0"/>
              <a:t>续</a:t>
            </a:r>
            <a:r>
              <a:rPr lang="en-US" altLang="zh-CN" sz="2800" dirty="0">
                <a:effectLst/>
              </a:rPr>
              <a:t>——</a:t>
            </a:r>
            <a:r>
              <a:rPr lang="en-US" altLang="zh-CN" sz="3600" dirty="0"/>
              <a:t>t </a:t>
            </a:r>
            <a:r>
              <a:rPr lang="zh-CN" altLang="en-US" sz="3600" dirty="0"/>
              <a:t>检验的 </a:t>
            </a:r>
            <a:r>
              <a:rPr lang="en-US" altLang="zh-CN" sz="3600" i="1" dirty="0">
                <a:latin typeface="Times New Roman" pitchFamily="18" charset="0"/>
              </a:rPr>
              <a:t>P </a:t>
            </a:r>
            <a:r>
              <a:rPr lang="zh-CN" altLang="en-US" sz="3600" dirty="0"/>
              <a:t>值</a:t>
            </a:r>
            <a:endParaRPr lang="en-US" altLang="zh-CN" sz="2800" dirty="0"/>
          </a:p>
        </p:txBody>
      </p:sp>
      <p:sp>
        <p:nvSpPr>
          <p:cNvPr id="90116" name="Text Box 3"/>
          <p:cNvSpPr txBox="1">
            <a:spLocks noChangeArrowheads="1"/>
          </p:cNvSpPr>
          <p:nvPr/>
        </p:nvSpPr>
        <p:spPr bwMode="auto">
          <a:xfrm>
            <a:off x="5673725" y="2659857"/>
            <a:ext cx="3929062" cy="954088"/>
          </a:xfrm>
          <a:prstGeom prst="rect">
            <a:avLst/>
          </a:prstGeom>
          <a:noFill/>
          <a:ln w="12700">
            <a:noFill/>
            <a:miter lim="800000"/>
            <a:headEnd/>
            <a:tailEnd/>
          </a:ln>
        </p:spPr>
        <p:txBody>
          <a:bodyPr>
            <a:spAutoFit/>
          </a:bodyPr>
          <a:lstStyle/>
          <a:p>
            <a:pPr eaLnBrk="0" hangingPunct="0">
              <a:spcBef>
                <a:spcPct val="50000"/>
              </a:spcBef>
            </a:pPr>
            <a:r>
              <a:rPr kumimoji="1" lang="zh-CN" altLang="en-US" sz="2800" b="1">
                <a:solidFill>
                  <a:srgbClr val="FF00FF"/>
                </a:solidFill>
              </a:rPr>
              <a:t>结论：</a:t>
            </a:r>
            <a:r>
              <a:rPr kumimoji="1" lang="en-US" altLang="zh-CN" sz="2800" b="1"/>
              <a:t>P</a:t>
            </a:r>
            <a:r>
              <a:rPr kumimoji="1" lang="zh-CN" altLang="en-US" sz="2800" b="1"/>
              <a:t>值</a:t>
            </a:r>
            <a:r>
              <a:rPr kumimoji="1" lang="en-US" altLang="zh-CN" sz="2800" b="1"/>
              <a:t>&gt; </a:t>
            </a:r>
            <a:r>
              <a:rPr kumimoji="1" lang="en-US" altLang="zh-CN" sz="2800" b="1">
                <a:latin typeface="Symbol" pitchFamily="18" charset="2"/>
              </a:rPr>
              <a:t></a:t>
            </a:r>
            <a:r>
              <a:rPr kumimoji="1" lang="en-US" altLang="zh-CN" sz="2800" b="1"/>
              <a:t>=0.05</a:t>
            </a:r>
            <a:r>
              <a:rPr kumimoji="1" lang="zh-CN" altLang="en-US" sz="2800" b="1"/>
              <a:t>， 不能</a:t>
            </a:r>
            <a:r>
              <a:rPr kumimoji="1" lang="zh-CN" altLang="en-US" sz="2800" b="1">
                <a:solidFill>
                  <a:schemeClr val="tx2"/>
                </a:solidFill>
              </a:rPr>
              <a:t>拒绝</a:t>
            </a:r>
            <a:r>
              <a:rPr kumimoji="1" lang="en-US" altLang="zh-CN" sz="2800" b="1">
                <a:solidFill>
                  <a:schemeClr val="tx2"/>
                </a:solidFill>
              </a:rPr>
              <a:t>H</a:t>
            </a:r>
            <a:r>
              <a:rPr kumimoji="1" lang="en-US" altLang="zh-CN" sz="2800" b="1" baseline="-25000">
                <a:solidFill>
                  <a:schemeClr val="tx2"/>
                </a:solidFill>
              </a:rPr>
              <a:t>0</a:t>
            </a:r>
          </a:p>
        </p:txBody>
      </p:sp>
      <p:sp>
        <p:nvSpPr>
          <p:cNvPr id="90117" name="Rectangle 4"/>
          <p:cNvSpPr>
            <a:spLocks noChangeArrowheads="1"/>
          </p:cNvSpPr>
          <p:nvPr/>
        </p:nvSpPr>
        <p:spPr bwMode="auto">
          <a:xfrm>
            <a:off x="5561012" y="1308102"/>
            <a:ext cx="4535488" cy="1126462"/>
          </a:xfrm>
          <a:prstGeom prst="rect">
            <a:avLst/>
          </a:prstGeom>
          <a:noFill/>
          <a:ln w="9525">
            <a:noFill/>
            <a:miter lim="800000"/>
            <a:headEnd/>
            <a:tailEnd/>
          </a:ln>
        </p:spPr>
        <p:txBody>
          <a:bodyPr>
            <a:spAutoFit/>
          </a:bodyPr>
          <a:lstStyle/>
          <a:p>
            <a:pPr>
              <a:lnSpc>
                <a:spcPct val="120000"/>
              </a:lnSpc>
            </a:pPr>
            <a:r>
              <a:rPr lang="en-US" altLang="zh-CN" sz="2800" b="1" dirty="0">
                <a:solidFill>
                  <a:srgbClr val="00B050"/>
                </a:solidFill>
              </a:rPr>
              <a:t>P</a:t>
            </a:r>
            <a:r>
              <a:rPr lang="zh-CN" altLang="en-US" sz="2800" b="1" dirty="0">
                <a:solidFill>
                  <a:srgbClr val="00B050"/>
                </a:solidFill>
              </a:rPr>
              <a:t>值</a:t>
            </a:r>
            <a:r>
              <a:rPr lang="zh-CN" altLang="en-US" sz="2800" b="1" dirty="0"/>
              <a:t>＝</a:t>
            </a:r>
            <a:r>
              <a:rPr lang="en-US" altLang="zh-CN" sz="2800" b="1" dirty="0"/>
              <a:t>2×</a:t>
            </a:r>
            <a:r>
              <a:rPr lang="en-US" altLang="zh-CN" sz="2800" b="1" i="1" dirty="0"/>
              <a:t>P</a:t>
            </a:r>
            <a:r>
              <a:rPr lang="en-US" altLang="zh-CN" sz="2800" b="1" dirty="0"/>
              <a:t>{</a:t>
            </a:r>
            <a:r>
              <a:rPr lang="en-US" altLang="zh-CN" sz="2800" b="1" i="1" dirty="0"/>
              <a:t>t</a:t>
            </a:r>
            <a:r>
              <a:rPr lang="en-US" altLang="zh-CN" sz="2800" b="1" dirty="0"/>
              <a:t>(9)≥1.473}</a:t>
            </a:r>
          </a:p>
          <a:p>
            <a:pPr>
              <a:lnSpc>
                <a:spcPct val="120000"/>
              </a:lnSpc>
            </a:pPr>
            <a:r>
              <a:rPr lang="zh-CN" altLang="en-US" sz="2800" b="1" dirty="0"/>
              <a:t>＝</a:t>
            </a:r>
            <a:r>
              <a:rPr lang="en-US" altLang="zh-CN" sz="2800" b="1" dirty="0"/>
              <a:t>2×0.0874=0.1748</a:t>
            </a:r>
          </a:p>
        </p:txBody>
      </p:sp>
      <p:sp>
        <p:nvSpPr>
          <p:cNvPr id="524293" name="Line 5"/>
          <p:cNvSpPr>
            <a:spLocks noChangeShapeType="1"/>
          </p:cNvSpPr>
          <p:nvPr/>
        </p:nvSpPr>
        <p:spPr bwMode="auto">
          <a:xfrm>
            <a:off x="1666875" y="3411538"/>
            <a:ext cx="3600450" cy="0"/>
          </a:xfrm>
          <a:prstGeom prst="line">
            <a:avLst/>
          </a:prstGeom>
          <a:noFill/>
          <a:ln w="57150">
            <a:solidFill>
              <a:schemeClr val="tx1"/>
            </a:solidFill>
            <a:miter lim="800000"/>
            <a:headEnd/>
            <a:tailEnd type="triangle" w="med" len="med"/>
          </a:ln>
          <a:effectLst>
            <a:outerShdw dist="35921" dir="2700000" algn="ctr" rotWithShape="0">
              <a:srgbClr val="808080"/>
            </a:outerShdw>
          </a:effectLst>
        </p:spPr>
        <p:txBody>
          <a:bodyPr wrap="none"/>
          <a:lstStyle/>
          <a:p>
            <a:pPr>
              <a:defRPr/>
            </a:pPr>
            <a:endParaRPr lang="zh-CN" altLang="en-US">
              <a:latin typeface="Arial" charset="0"/>
              <a:ea typeface="宋体" charset="-122"/>
            </a:endParaRPr>
          </a:p>
        </p:txBody>
      </p:sp>
      <p:sp>
        <p:nvSpPr>
          <p:cNvPr id="524294" name="Rectangle 6"/>
          <p:cNvSpPr>
            <a:spLocks noChangeArrowheads="1"/>
          </p:cNvSpPr>
          <p:nvPr/>
        </p:nvSpPr>
        <p:spPr bwMode="auto">
          <a:xfrm>
            <a:off x="4224339" y="1979614"/>
            <a:ext cx="1042987" cy="307777"/>
          </a:xfrm>
          <a:prstGeom prst="rect">
            <a:avLst/>
          </a:prstGeom>
          <a:solidFill>
            <a:srgbClr val="00FF00"/>
          </a:solidFill>
          <a:ln w="9525">
            <a:noFill/>
            <a:miter lim="800000"/>
            <a:headEnd/>
            <a:tailEnd/>
          </a:ln>
          <a:effectLst>
            <a:outerShdw dist="17961" dir="2700000" algn="ctr" rotWithShape="0">
              <a:schemeClr val="bg2"/>
            </a:outerShdw>
          </a:effectLst>
        </p:spPr>
        <p:txBody>
          <a:bodyPr lIns="0" tIns="0" rIns="0" bIns="0">
            <a:spAutoFit/>
          </a:bodyPr>
          <a:lstStyle/>
          <a:p>
            <a:pPr eaLnBrk="0" hangingPunct="0">
              <a:defRPr/>
            </a:pPr>
            <a:r>
              <a:rPr kumimoji="1" lang="zh-CN" altLang="en-US" sz="2000" b="1">
                <a:solidFill>
                  <a:srgbClr val="000000"/>
                </a:solidFill>
                <a:latin typeface="Arial" charset="0"/>
                <a:ea typeface="宋体" charset="-122"/>
              </a:rPr>
              <a:t>单侧</a:t>
            </a:r>
            <a:r>
              <a:rPr kumimoji="1" lang="en-US" altLang="zh-CN" sz="2000" b="1">
                <a:solidFill>
                  <a:srgbClr val="000000"/>
                </a:solidFill>
                <a:latin typeface="Times New Roman" pitchFamily="18" charset="0"/>
                <a:ea typeface="宋体" charset="-122"/>
              </a:rPr>
              <a:t>P</a:t>
            </a:r>
            <a:r>
              <a:rPr kumimoji="1" lang="zh-CN" altLang="en-US" sz="2000" b="1">
                <a:solidFill>
                  <a:srgbClr val="000000"/>
                </a:solidFill>
                <a:latin typeface="Arial" charset="0"/>
                <a:ea typeface="宋体" charset="-122"/>
              </a:rPr>
              <a:t>值</a:t>
            </a:r>
          </a:p>
        </p:txBody>
      </p:sp>
      <p:sp>
        <p:nvSpPr>
          <p:cNvPr id="524295" name="Freeform 7"/>
          <p:cNvSpPr>
            <a:spLocks/>
          </p:cNvSpPr>
          <p:nvPr/>
        </p:nvSpPr>
        <p:spPr bwMode="auto">
          <a:xfrm>
            <a:off x="3322638" y="1258888"/>
            <a:ext cx="1751012" cy="2076450"/>
          </a:xfrm>
          <a:custGeom>
            <a:avLst/>
            <a:gdLst/>
            <a:ahLst/>
            <a:cxnLst>
              <a:cxn ang="0">
                <a:pos x="1942" y="1430"/>
              </a:cxn>
              <a:cxn ang="0">
                <a:pos x="1737" y="1412"/>
              </a:cxn>
              <a:cxn ang="0">
                <a:pos x="1636" y="1396"/>
              </a:cxn>
              <a:cxn ang="0">
                <a:pos x="1532" y="1373"/>
              </a:cxn>
              <a:cxn ang="0">
                <a:pos x="1431" y="1342"/>
              </a:cxn>
              <a:cxn ang="0">
                <a:pos x="1328" y="1298"/>
              </a:cxn>
              <a:cxn ang="0">
                <a:pos x="1227" y="1238"/>
              </a:cxn>
              <a:cxn ang="0">
                <a:pos x="1022" y="1073"/>
              </a:cxn>
              <a:cxn ang="0">
                <a:pos x="818" y="838"/>
              </a:cxn>
              <a:cxn ang="0">
                <a:pos x="613" y="559"/>
              </a:cxn>
              <a:cxn ang="0">
                <a:pos x="512" y="416"/>
              </a:cxn>
              <a:cxn ang="0">
                <a:pos x="409" y="282"/>
              </a:cxn>
              <a:cxn ang="0">
                <a:pos x="308" y="166"/>
              </a:cxn>
              <a:cxn ang="0">
                <a:pos x="204" y="78"/>
              </a:cxn>
              <a:cxn ang="0">
                <a:pos x="103" y="21"/>
              </a:cxn>
              <a:cxn ang="0">
                <a:pos x="0" y="0"/>
              </a:cxn>
            </a:cxnLst>
            <a:rect l="0" t="0" r="r" b="b"/>
            <a:pathLst>
              <a:path w="1942" h="1430">
                <a:moveTo>
                  <a:pt x="1942" y="1430"/>
                </a:moveTo>
                <a:lnTo>
                  <a:pt x="1737" y="1412"/>
                </a:lnTo>
                <a:lnTo>
                  <a:pt x="1636" y="1396"/>
                </a:lnTo>
                <a:lnTo>
                  <a:pt x="1532" y="1373"/>
                </a:lnTo>
                <a:lnTo>
                  <a:pt x="1431" y="1342"/>
                </a:lnTo>
                <a:lnTo>
                  <a:pt x="1328" y="1298"/>
                </a:lnTo>
                <a:lnTo>
                  <a:pt x="1227" y="1238"/>
                </a:lnTo>
                <a:lnTo>
                  <a:pt x="1022" y="1073"/>
                </a:lnTo>
                <a:lnTo>
                  <a:pt x="818" y="838"/>
                </a:lnTo>
                <a:lnTo>
                  <a:pt x="613" y="559"/>
                </a:lnTo>
                <a:lnTo>
                  <a:pt x="512" y="416"/>
                </a:lnTo>
                <a:lnTo>
                  <a:pt x="409" y="282"/>
                </a:lnTo>
                <a:lnTo>
                  <a:pt x="308" y="166"/>
                </a:lnTo>
                <a:lnTo>
                  <a:pt x="204" y="78"/>
                </a:lnTo>
                <a:lnTo>
                  <a:pt x="103" y="21"/>
                </a:lnTo>
                <a:lnTo>
                  <a:pt x="0" y="0"/>
                </a:lnTo>
              </a:path>
            </a:pathLst>
          </a:custGeom>
          <a:noFill/>
          <a:ln w="76200" cmpd="sng">
            <a:solidFill>
              <a:srgbClr val="00B0F0"/>
            </a:solidFill>
            <a:prstDash val="solid"/>
            <a:round/>
            <a:headEnd/>
            <a:tailEnd/>
          </a:ln>
          <a:effectLst>
            <a:outerShdw dist="38100" dir="5400000" algn="ctr" rotWithShape="0">
              <a:schemeClr val="bg2"/>
            </a:outerShdw>
          </a:effectLst>
        </p:spPr>
        <p:txBody>
          <a:bodyPr/>
          <a:lstStyle/>
          <a:p>
            <a:pPr>
              <a:defRPr/>
            </a:pPr>
            <a:endParaRPr lang="zh-CN" altLang="en-US">
              <a:latin typeface="Arial" charset="0"/>
              <a:ea typeface="宋体" charset="-122"/>
            </a:endParaRPr>
          </a:p>
        </p:txBody>
      </p:sp>
      <p:sp>
        <p:nvSpPr>
          <p:cNvPr id="524296" name="Freeform 8"/>
          <p:cNvSpPr>
            <a:spLocks/>
          </p:cNvSpPr>
          <p:nvPr/>
        </p:nvSpPr>
        <p:spPr bwMode="auto">
          <a:xfrm>
            <a:off x="1738313" y="1258888"/>
            <a:ext cx="1670050" cy="2106612"/>
          </a:xfrm>
          <a:custGeom>
            <a:avLst/>
            <a:gdLst/>
            <a:ahLst/>
            <a:cxnLst>
              <a:cxn ang="0">
                <a:pos x="0" y="1430"/>
              </a:cxn>
              <a:cxn ang="0">
                <a:pos x="205" y="1412"/>
              </a:cxn>
              <a:cxn ang="0">
                <a:pos x="309" y="1396"/>
              </a:cxn>
              <a:cxn ang="0">
                <a:pos x="410" y="1373"/>
              </a:cxn>
              <a:cxn ang="0">
                <a:pos x="511" y="1342"/>
              </a:cxn>
              <a:cxn ang="0">
                <a:pos x="614" y="1298"/>
              </a:cxn>
              <a:cxn ang="0">
                <a:pos x="715" y="1238"/>
              </a:cxn>
              <a:cxn ang="0">
                <a:pos x="922" y="1073"/>
              </a:cxn>
              <a:cxn ang="0">
                <a:pos x="1124" y="838"/>
              </a:cxn>
              <a:cxn ang="0">
                <a:pos x="1329" y="559"/>
              </a:cxn>
              <a:cxn ang="0">
                <a:pos x="1432" y="416"/>
              </a:cxn>
              <a:cxn ang="0">
                <a:pos x="1533" y="282"/>
              </a:cxn>
              <a:cxn ang="0">
                <a:pos x="1637" y="166"/>
              </a:cxn>
              <a:cxn ang="0">
                <a:pos x="1738" y="78"/>
              </a:cxn>
              <a:cxn ang="0">
                <a:pos x="1842" y="21"/>
              </a:cxn>
              <a:cxn ang="0">
                <a:pos x="1943" y="0"/>
              </a:cxn>
            </a:cxnLst>
            <a:rect l="0" t="0" r="r" b="b"/>
            <a:pathLst>
              <a:path w="1943" h="1430">
                <a:moveTo>
                  <a:pt x="0" y="1430"/>
                </a:moveTo>
                <a:lnTo>
                  <a:pt x="205" y="1412"/>
                </a:lnTo>
                <a:lnTo>
                  <a:pt x="309" y="1396"/>
                </a:lnTo>
                <a:lnTo>
                  <a:pt x="410" y="1373"/>
                </a:lnTo>
                <a:lnTo>
                  <a:pt x="511" y="1342"/>
                </a:lnTo>
                <a:lnTo>
                  <a:pt x="614" y="1298"/>
                </a:lnTo>
                <a:lnTo>
                  <a:pt x="715" y="1238"/>
                </a:lnTo>
                <a:lnTo>
                  <a:pt x="922" y="1073"/>
                </a:lnTo>
                <a:lnTo>
                  <a:pt x="1124" y="838"/>
                </a:lnTo>
                <a:lnTo>
                  <a:pt x="1329" y="559"/>
                </a:lnTo>
                <a:lnTo>
                  <a:pt x="1432" y="416"/>
                </a:lnTo>
                <a:lnTo>
                  <a:pt x="1533" y="282"/>
                </a:lnTo>
                <a:lnTo>
                  <a:pt x="1637" y="166"/>
                </a:lnTo>
                <a:lnTo>
                  <a:pt x="1738" y="78"/>
                </a:lnTo>
                <a:lnTo>
                  <a:pt x="1842" y="21"/>
                </a:lnTo>
                <a:lnTo>
                  <a:pt x="1943" y="0"/>
                </a:lnTo>
              </a:path>
            </a:pathLst>
          </a:custGeom>
          <a:noFill/>
          <a:ln w="76200" cmpd="sng">
            <a:solidFill>
              <a:srgbClr val="00B0F0"/>
            </a:solidFill>
            <a:prstDash val="solid"/>
            <a:round/>
            <a:headEnd/>
            <a:tailEnd/>
          </a:ln>
          <a:effectLst>
            <a:outerShdw dist="38100" dir="5400000" algn="ctr" rotWithShape="0">
              <a:schemeClr val="bg2"/>
            </a:outerShdw>
          </a:effectLst>
        </p:spPr>
        <p:txBody>
          <a:bodyPr/>
          <a:lstStyle/>
          <a:p>
            <a:pPr>
              <a:defRPr/>
            </a:pPr>
            <a:endParaRPr lang="zh-CN" altLang="en-US">
              <a:latin typeface="Arial" charset="0"/>
              <a:ea typeface="宋体" charset="-122"/>
            </a:endParaRPr>
          </a:p>
        </p:txBody>
      </p:sp>
      <p:sp>
        <p:nvSpPr>
          <p:cNvPr id="524297" name="Line 9"/>
          <p:cNvSpPr>
            <a:spLocks noChangeShapeType="1"/>
          </p:cNvSpPr>
          <p:nvPr/>
        </p:nvSpPr>
        <p:spPr bwMode="auto">
          <a:xfrm>
            <a:off x="4151313" y="2555875"/>
            <a:ext cx="0" cy="896938"/>
          </a:xfrm>
          <a:prstGeom prst="line">
            <a:avLst/>
          </a:prstGeom>
          <a:noFill/>
          <a:ln w="38100">
            <a:solidFill>
              <a:srgbClr val="CC0066"/>
            </a:solidFill>
            <a:round/>
            <a:headEnd/>
            <a:tailEnd/>
          </a:ln>
          <a:effectLst>
            <a:outerShdw dist="28398" dir="20006097" algn="ctr" rotWithShape="0">
              <a:schemeClr val="bg2"/>
            </a:outerShdw>
          </a:effectLst>
        </p:spPr>
        <p:txBody>
          <a:bodyPr wrap="none" anchor="ctr"/>
          <a:lstStyle/>
          <a:p>
            <a:pPr>
              <a:defRPr/>
            </a:pPr>
            <a:endParaRPr lang="zh-CN" altLang="en-US">
              <a:latin typeface="Arial" charset="0"/>
              <a:ea typeface="宋体" charset="-122"/>
            </a:endParaRPr>
          </a:p>
        </p:txBody>
      </p:sp>
      <p:sp>
        <p:nvSpPr>
          <p:cNvPr id="524298" name="Freeform 10"/>
          <p:cNvSpPr>
            <a:spLocks/>
          </p:cNvSpPr>
          <p:nvPr/>
        </p:nvSpPr>
        <p:spPr bwMode="auto">
          <a:xfrm>
            <a:off x="1631950" y="2627313"/>
            <a:ext cx="933450" cy="804862"/>
          </a:xfrm>
          <a:custGeom>
            <a:avLst/>
            <a:gdLst/>
            <a:ahLst/>
            <a:cxnLst>
              <a:cxn ang="0">
                <a:pos x="1129" y="0"/>
              </a:cxn>
              <a:cxn ang="0">
                <a:pos x="1129" y="735"/>
              </a:cxn>
              <a:cxn ang="0">
                <a:pos x="0" y="735"/>
              </a:cxn>
              <a:cxn ang="0">
                <a:pos x="124" y="698"/>
              </a:cxn>
              <a:cxn ang="0">
                <a:pos x="246" y="657"/>
              </a:cxn>
              <a:cxn ang="0">
                <a:pos x="362" y="610"/>
              </a:cxn>
              <a:cxn ang="0">
                <a:pos x="474" y="559"/>
              </a:cxn>
              <a:cxn ang="0">
                <a:pos x="580" y="504"/>
              </a:cxn>
              <a:cxn ang="0">
                <a:pos x="681" y="442"/>
              </a:cxn>
              <a:cxn ang="0">
                <a:pos x="774" y="378"/>
              </a:cxn>
              <a:cxn ang="0">
                <a:pos x="860" y="308"/>
              </a:cxn>
              <a:cxn ang="0">
                <a:pos x="940" y="236"/>
              </a:cxn>
              <a:cxn ang="0">
                <a:pos x="1010" y="161"/>
              </a:cxn>
              <a:cxn ang="0">
                <a:pos x="1074" y="81"/>
              </a:cxn>
              <a:cxn ang="0">
                <a:pos x="1129" y="0"/>
              </a:cxn>
            </a:cxnLst>
            <a:rect l="0" t="0" r="r" b="b"/>
            <a:pathLst>
              <a:path w="1129" h="735">
                <a:moveTo>
                  <a:pt x="1129" y="0"/>
                </a:moveTo>
                <a:lnTo>
                  <a:pt x="1129" y="735"/>
                </a:lnTo>
                <a:lnTo>
                  <a:pt x="0" y="735"/>
                </a:lnTo>
                <a:lnTo>
                  <a:pt x="124" y="698"/>
                </a:lnTo>
                <a:lnTo>
                  <a:pt x="246" y="657"/>
                </a:lnTo>
                <a:lnTo>
                  <a:pt x="362" y="610"/>
                </a:lnTo>
                <a:lnTo>
                  <a:pt x="474" y="559"/>
                </a:lnTo>
                <a:lnTo>
                  <a:pt x="580" y="504"/>
                </a:lnTo>
                <a:lnTo>
                  <a:pt x="681" y="442"/>
                </a:lnTo>
                <a:lnTo>
                  <a:pt x="774" y="378"/>
                </a:lnTo>
                <a:lnTo>
                  <a:pt x="860" y="308"/>
                </a:lnTo>
                <a:lnTo>
                  <a:pt x="940" y="236"/>
                </a:lnTo>
                <a:lnTo>
                  <a:pt x="1010" y="161"/>
                </a:lnTo>
                <a:lnTo>
                  <a:pt x="1074" y="81"/>
                </a:lnTo>
                <a:lnTo>
                  <a:pt x="1129" y="0"/>
                </a:lnTo>
                <a:close/>
              </a:path>
            </a:pathLst>
          </a:custGeom>
          <a:solidFill>
            <a:srgbClr val="00FF00"/>
          </a:solidFill>
          <a:ln w="9525">
            <a:noFill/>
            <a:round/>
            <a:headEnd/>
            <a:tailEnd/>
          </a:ln>
          <a:effectLst>
            <a:outerShdw algn="ctr" rotWithShape="0">
              <a:srgbClr val="808080"/>
            </a:outerShdw>
          </a:effectLst>
        </p:spPr>
        <p:txBody>
          <a:bodyPr/>
          <a:lstStyle/>
          <a:p>
            <a:pPr>
              <a:defRPr/>
            </a:pPr>
            <a:endParaRPr lang="zh-CN" altLang="en-US">
              <a:latin typeface="Arial" charset="0"/>
              <a:ea typeface="宋体" charset="-122"/>
            </a:endParaRPr>
          </a:p>
        </p:txBody>
      </p:sp>
      <p:sp>
        <p:nvSpPr>
          <p:cNvPr id="524299" name="Text Box 11"/>
          <p:cNvSpPr txBox="1">
            <a:spLocks noChangeArrowheads="1"/>
          </p:cNvSpPr>
          <p:nvPr/>
        </p:nvSpPr>
        <p:spPr bwMode="auto">
          <a:xfrm>
            <a:off x="3287714" y="3348038"/>
            <a:ext cx="365125" cy="457200"/>
          </a:xfrm>
          <a:prstGeom prst="rect">
            <a:avLst/>
          </a:prstGeom>
          <a:noFill/>
          <a:ln w="12700">
            <a:noFill/>
            <a:miter lim="800000"/>
            <a:headEnd/>
            <a:tailEnd/>
          </a:ln>
          <a:effectLst/>
        </p:spPr>
        <p:txBody>
          <a:bodyPr>
            <a:spAutoFit/>
          </a:bodyPr>
          <a:lstStyle/>
          <a:p>
            <a:pPr algn="ctr" eaLnBrk="0" hangingPunct="0">
              <a:spcBef>
                <a:spcPct val="50000"/>
              </a:spcBef>
              <a:defRPr/>
            </a:pPr>
            <a:r>
              <a:rPr kumimoji="1" lang="en-US" altLang="zh-CN" sz="2400" b="1" dirty="0">
                <a:solidFill>
                  <a:srgbClr val="FF33CC"/>
                </a:solidFill>
                <a:effectLst>
                  <a:outerShdw blurRad="38100" dist="38100" dir="2700000" algn="tl">
                    <a:srgbClr val="C0C0C0"/>
                  </a:outerShdw>
                </a:effectLst>
                <a:latin typeface="Arial" charset="0"/>
                <a:ea typeface="宋体" charset="-122"/>
              </a:rPr>
              <a:t>0</a:t>
            </a:r>
          </a:p>
        </p:txBody>
      </p:sp>
      <p:sp>
        <p:nvSpPr>
          <p:cNvPr id="90125" name="AutoShape 12"/>
          <p:cNvSpPr>
            <a:spLocks noChangeArrowheads="1"/>
          </p:cNvSpPr>
          <p:nvPr/>
        </p:nvSpPr>
        <p:spPr bwMode="auto">
          <a:xfrm>
            <a:off x="2522537" y="3838578"/>
            <a:ext cx="1485901" cy="603250"/>
          </a:xfrm>
          <a:prstGeom prst="wedgeRoundRectCallout">
            <a:avLst>
              <a:gd name="adj1" fmla="val 55538"/>
              <a:gd name="adj2" fmla="val -106992"/>
              <a:gd name="adj3" fmla="val 16667"/>
            </a:avLst>
          </a:prstGeom>
          <a:noFill/>
          <a:ln w="9525">
            <a:solidFill>
              <a:srgbClr val="FF0066"/>
            </a:solidFill>
            <a:miter lim="800000"/>
            <a:headEnd/>
            <a:tailEnd/>
          </a:ln>
        </p:spPr>
        <p:txBody>
          <a:bodyPr/>
          <a:lstStyle/>
          <a:p>
            <a:pPr algn="ctr"/>
            <a:r>
              <a:rPr lang="zh-CN" altLang="en-US">
                <a:solidFill>
                  <a:srgbClr val="CC0099"/>
                </a:solidFill>
              </a:rPr>
              <a:t>检验统计量的观察值</a:t>
            </a:r>
          </a:p>
        </p:txBody>
      </p:sp>
      <p:sp>
        <p:nvSpPr>
          <p:cNvPr id="90126" name="Rectangle 13"/>
          <p:cNvSpPr>
            <a:spLocks noChangeArrowheads="1"/>
          </p:cNvSpPr>
          <p:nvPr/>
        </p:nvSpPr>
        <p:spPr bwMode="auto">
          <a:xfrm>
            <a:off x="4008439" y="3419475"/>
            <a:ext cx="649287" cy="539750"/>
          </a:xfrm>
          <a:prstGeom prst="rect">
            <a:avLst/>
          </a:prstGeom>
          <a:noFill/>
          <a:ln w="9525">
            <a:noFill/>
            <a:miter lim="800000"/>
            <a:headEnd/>
            <a:tailEnd/>
          </a:ln>
        </p:spPr>
        <p:txBody>
          <a:bodyPr wrap="none" anchor="ctr"/>
          <a:lstStyle/>
          <a:p>
            <a:pPr algn="ctr"/>
            <a:r>
              <a:rPr lang="en-US" altLang="zh-CN" sz="2400" b="1">
                <a:solidFill>
                  <a:srgbClr val="FF0066"/>
                </a:solidFill>
                <a:latin typeface="Times New Roman" pitchFamily="18" charset="0"/>
              </a:rPr>
              <a:t>  1.473</a:t>
            </a:r>
          </a:p>
        </p:txBody>
      </p:sp>
      <p:sp>
        <p:nvSpPr>
          <p:cNvPr id="524302" name="Freeform 14"/>
          <p:cNvSpPr>
            <a:spLocks/>
          </p:cNvSpPr>
          <p:nvPr/>
        </p:nvSpPr>
        <p:spPr bwMode="auto">
          <a:xfrm>
            <a:off x="4151314" y="2597151"/>
            <a:ext cx="1004887" cy="817563"/>
          </a:xfrm>
          <a:custGeom>
            <a:avLst/>
            <a:gdLst/>
            <a:ahLst/>
            <a:cxnLst>
              <a:cxn ang="0">
                <a:pos x="0" y="0"/>
              </a:cxn>
              <a:cxn ang="0">
                <a:pos x="0" y="734"/>
              </a:cxn>
              <a:cxn ang="0">
                <a:pos x="1129" y="734"/>
              </a:cxn>
              <a:cxn ang="0">
                <a:pos x="1002" y="700"/>
              </a:cxn>
              <a:cxn ang="0">
                <a:pos x="880" y="659"/>
              </a:cxn>
              <a:cxn ang="0">
                <a:pos x="764" y="612"/>
              </a:cxn>
              <a:cxn ang="0">
                <a:pos x="652" y="561"/>
              </a:cxn>
              <a:cxn ang="0">
                <a:pos x="546" y="504"/>
              </a:cxn>
              <a:cxn ang="0">
                <a:pos x="445" y="444"/>
              </a:cxn>
              <a:cxn ang="0">
                <a:pos x="352" y="380"/>
              </a:cxn>
              <a:cxn ang="0">
                <a:pos x="267" y="310"/>
              </a:cxn>
              <a:cxn ang="0">
                <a:pos x="189" y="237"/>
              </a:cxn>
              <a:cxn ang="0">
                <a:pos x="116" y="162"/>
              </a:cxn>
              <a:cxn ang="0">
                <a:pos x="54" y="82"/>
              </a:cxn>
              <a:cxn ang="0">
                <a:pos x="0" y="0"/>
              </a:cxn>
            </a:cxnLst>
            <a:rect l="0" t="0" r="r" b="b"/>
            <a:pathLst>
              <a:path w="1129" h="734">
                <a:moveTo>
                  <a:pt x="0" y="0"/>
                </a:moveTo>
                <a:lnTo>
                  <a:pt x="0" y="734"/>
                </a:lnTo>
                <a:lnTo>
                  <a:pt x="1129" y="734"/>
                </a:lnTo>
                <a:lnTo>
                  <a:pt x="1002" y="700"/>
                </a:lnTo>
                <a:lnTo>
                  <a:pt x="880" y="659"/>
                </a:lnTo>
                <a:lnTo>
                  <a:pt x="764" y="612"/>
                </a:lnTo>
                <a:lnTo>
                  <a:pt x="652" y="561"/>
                </a:lnTo>
                <a:lnTo>
                  <a:pt x="546" y="504"/>
                </a:lnTo>
                <a:lnTo>
                  <a:pt x="445" y="444"/>
                </a:lnTo>
                <a:lnTo>
                  <a:pt x="352" y="380"/>
                </a:lnTo>
                <a:lnTo>
                  <a:pt x="267" y="310"/>
                </a:lnTo>
                <a:lnTo>
                  <a:pt x="189" y="237"/>
                </a:lnTo>
                <a:lnTo>
                  <a:pt x="116" y="162"/>
                </a:lnTo>
                <a:lnTo>
                  <a:pt x="54" y="82"/>
                </a:lnTo>
                <a:lnTo>
                  <a:pt x="0" y="0"/>
                </a:lnTo>
                <a:close/>
              </a:path>
            </a:pathLst>
          </a:custGeom>
          <a:solidFill>
            <a:srgbClr val="00FF00"/>
          </a:solidFill>
          <a:ln w="9525">
            <a:noFill/>
            <a:round/>
            <a:headEnd/>
            <a:tailEnd/>
          </a:ln>
          <a:effectLst>
            <a:outerShdw algn="ctr" rotWithShape="0">
              <a:srgbClr val="808080"/>
            </a:outerShdw>
          </a:effectLst>
        </p:spPr>
        <p:txBody>
          <a:bodyPr/>
          <a:lstStyle/>
          <a:p>
            <a:pPr>
              <a:defRPr/>
            </a:pPr>
            <a:endParaRPr lang="zh-CN" altLang="en-US">
              <a:latin typeface="Arial" charset="0"/>
              <a:ea typeface="宋体" charset="-122"/>
            </a:endParaRPr>
          </a:p>
        </p:txBody>
      </p:sp>
      <p:sp>
        <p:nvSpPr>
          <p:cNvPr id="524303" name="Line 15"/>
          <p:cNvSpPr>
            <a:spLocks noChangeShapeType="1"/>
          </p:cNvSpPr>
          <p:nvPr/>
        </p:nvSpPr>
        <p:spPr bwMode="auto">
          <a:xfrm flipH="1">
            <a:off x="4381501" y="2271714"/>
            <a:ext cx="360363" cy="865187"/>
          </a:xfrm>
          <a:prstGeom prst="line">
            <a:avLst/>
          </a:prstGeom>
          <a:noFill/>
          <a:ln w="25400">
            <a:solidFill>
              <a:schemeClr val="tx2"/>
            </a:solidFill>
            <a:round/>
            <a:headEnd/>
            <a:tailEnd type="triangle" w="med" len="med"/>
          </a:ln>
          <a:effectLst>
            <a:outerShdw algn="ctr" rotWithShape="0">
              <a:schemeClr val="bg2"/>
            </a:outerShdw>
          </a:effectLst>
        </p:spPr>
        <p:txBody>
          <a:bodyPr wrap="none" anchor="ctr"/>
          <a:lstStyle/>
          <a:p>
            <a:pPr>
              <a:defRPr/>
            </a:pPr>
            <a:endParaRPr lang="zh-CN" altLang="en-US">
              <a:latin typeface="Arial" charset="0"/>
              <a:ea typeface="宋体" charset="-122"/>
            </a:endParaRPr>
          </a:p>
        </p:txBody>
      </p:sp>
      <p:sp>
        <p:nvSpPr>
          <p:cNvPr id="90129" name="Oval 16"/>
          <p:cNvSpPr>
            <a:spLocks noChangeArrowheads="1"/>
          </p:cNvSpPr>
          <p:nvPr/>
        </p:nvSpPr>
        <p:spPr bwMode="auto">
          <a:xfrm>
            <a:off x="4008438" y="3276600"/>
            <a:ext cx="215900" cy="268288"/>
          </a:xfrm>
          <a:prstGeom prst="ellipse">
            <a:avLst/>
          </a:prstGeom>
          <a:solidFill>
            <a:srgbClr val="FF0066"/>
          </a:solidFill>
          <a:ln w="9525">
            <a:solidFill>
              <a:srgbClr val="3333FF"/>
            </a:solidFill>
            <a:round/>
            <a:headEnd/>
            <a:tailEnd/>
          </a:ln>
        </p:spPr>
        <p:txBody>
          <a:bodyPr wrap="none" anchor="ctr"/>
          <a:lstStyle/>
          <a:p>
            <a:endParaRPr lang="zh-CN" altLang="en-US"/>
          </a:p>
        </p:txBody>
      </p:sp>
      <p:graphicFrame>
        <p:nvGraphicFramePr>
          <p:cNvPr id="18" name="表格 17"/>
          <p:cNvGraphicFramePr>
            <a:graphicFrameLocks noGrp="1"/>
          </p:cNvGraphicFramePr>
          <p:nvPr/>
        </p:nvGraphicFramePr>
        <p:xfrm>
          <a:off x="1595439" y="4572001"/>
          <a:ext cx="8929719" cy="1941779"/>
        </p:xfrm>
        <a:graphic>
          <a:graphicData uri="http://schemas.openxmlformats.org/drawingml/2006/table">
            <a:tbl>
              <a:tblPr/>
              <a:tblGrid>
                <a:gridCol w="785787">
                  <a:extLst>
                    <a:ext uri="{9D8B030D-6E8A-4147-A177-3AD203B41FA5}">
                      <a16:colId xmlns:a16="http://schemas.microsoft.com/office/drawing/2014/main" val="20000"/>
                    </a:ext>
                  </a:extLst>
                </a:gridCol>
                <a:gridCol w="928694">
                  <a:extLst>
                    <a:ext uri="{9D8B030D-6E8A-4147-A177-3AD203B41FA5}">
                      <a16:colId xmlns:a16="http://schemas.microsoft.com/office/drawing/2014/main" val="20001"/>
                    </a:ext>
                  </a:extLst>
                </a:gridCol>
                <a:gridCol w="857256">
                  <a:extLst>
                    <a:ext uri="{9D8B030D-6E8A-4147-A177-3AD203B41FA5}">
                      <a16:colId xmlns:a16="http://schemas.microsoft.com/office/drawing/2014/main" val="20002"/>
                    </a:ext>
                  </a:extLst>
                </a:gridCol>
                <a:gridCol w="1643074">
                  <a:extLst>
                    <a:ext uri="{9D8B030D-6E8A-4147-A177-3AD203B41FA5}">
                      <a16:colId xmlns:a16="http://schemas.microsoft.com/office/drawing/2014/main" val="20003"/>
                    </a:ext>
                  </a:extLst>
                </a:gridCol>
                <a:gridCol w="1357322">
                  <a:extLst>
                    <a:ext uri="{9D8B030D-6E8A-4147-A177-3AD203B41FA5}">
                      <a16:colId xmlns:a16="http://schemas.microsoft.com/office/drawing/2014/main" val="20004"/>
                    </a:ext>
                  </a:extLst>
                </a:gridCol>
                <a:gridCol w="1826412">
                  <a:extLst>
                    <a:ext uri="{9D8B030D-6E8A-4147-A177-3AD203B41FA5}">
                      <a16:colId xmlns:a16="http://schemas.microsoft.com/office/drawing/2014/main" val="20005"/>
                    </a:ext>
                  </a:extLst>
                </a:gridCol>
                <a:gridCol w="1531174">
                  <a:extLst>
                    <a:ext uri="{9D8B030D-6E8A-4147-A177-3AD203B41FA5}">
                      <a16:colId xmlns:a16="http://schemas.microsoft.com/office/drawing/2014/main" val="20006"/>
                    </a:ext>
                  </a:extLst>
                </a:gridCol>
              </a:tblGrid>
              <a:tr h="221918">
                <a:tc gridSpan="7">
                  <a:txBody>
                    <a:bodyPr/>
                    <a:lstStyle/>
                    <a:p>
                      <a:pPr algn="ctr">
                        <a:spcAft>
                          <a:spcPts val="0"/>
                        </a:spcAft>
                      </a:pPr>
                      <a:r>
                        <a:rPr lang="en-US" sz="1600" b="1" kern="0" dirty="0">
                          <a:solidFill>
                            <a:srgbClr val="000000"/>
                          </a:solidFill>
                          <a:latin typeface="Tahoma"/>
                          <a:ea typeface="宋体"/>
                          <a:cs typeface="Times New Roman"/>
                        </a:rPr>
                        <a:t>One-Sample Test</a:t>
                      </a:r>
                      <a:endParaRPr lang="zh-CN" sz="1600" b="1" kern="100" dirty="0">
                        <a:solidFill>
                          <a:srgbClr val="000000"/>
                        </a:solidFill>
                        <a:latin typeface="Times New Roman"/>
                        <a:ea typeface="宋体"/>
                        <a:cs typeface="Times New Roman"/>
                      </a:endParaRPr>
                    </a:p>
                  </a:txBody>
                  <a:tcPr marL="68580" marR="68580" marT="0" marB="0" anchor="ctr">
                    <a:lnL>
                      <a:noFill/>
                    </a:lnL>
                    <a:lnR>
                      <a:noFill/>
                    </a:lnR>
                    <a:lnT>
                      <a:noFill/>
                    </a:lnT>
                    <a:lnB w="12700" cap="flat" cmpd="sng" algn="ctr">
                      <a:solidFill>
                        <a:srgbClr val="000000"/>
                      </a:solidFill>
                      <a:prstDash val="solid"/>
                      <a:round/>
                      <a:headEnd type="none" w="med" len="med"/>
                      <a:tailEnd type="none" w="med" len="med"/>
                    </a:lnB>
                    <a:solidFill>
                      <a:srgbClr val="DBE5F1"/>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0"/>
                  </a:ext>
                </a:extLst>
              </a:tr>
              <a:tr h="322140">
                <a:tc rowSpan="3">
                  <a:txBody>
                    <a:bodyPr/>
                    <a:lstStyle/>
                    <a:p>
                      <a:pPr algn="ctr">
                        <a:spcAft>
                          <a:spcPts val="0"/>
                        </a:spcAft>
                      </a:pPr>
                      <a:endParaRPr lang="en-US" sz="1600" b="1" kern="0">
                        <a:solidFill>
                          <a:srgbClr val="000000"/>
                        </a:solidFill>
                        <a:latin typeface="Tahoma"/>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BE5F1"/>
                    </a:solidFill>
                  </a:tcPr>
                </a:tc>
                <a:tc gridSpan="6">
                  <a:txBody>
                    <a:bodyPr/>
                    <a:lstStyle/>
                    <a:p>
                      <a:pPr algn="ctr">
                        <a:spcAft>
                          <a:spcPts val="0"/>
                        </a:spcAft>
                      </a:pPr>
                      <a:r>
                        <a:rPr lang="en-US" sz="1600" b="1" kern="0">
                          <a:solidFill>
                            <a:srgbClr val="000000"/>
                          </a:solidFill>
                          <a:latin typeface="Tahoma"/>
                          <a:ea typeface="宋体"/>
                          <a:cs typeface="Times New Roman"/>
                        </a:rPr>
                        <a:t>Test Value = 800</a:t>
                      </a:r>
                      <a:endParaRPr lang="zh-CN" sz="1600" b="1" kern="100">
                        <a:solidFill>
                          <a:srgbClr val="000000"/>
                        </a:solidFill>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BE5F1"/>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1"/>
                  </a:ext>
                </a:extLst>
              </a:tr>
              <a:tr h="429519">
                <a:tc vMerge="1">
                  <a:txBody>
                    <a:bodyPr/>
                    <a:lstStyle/>
                    <a:p>
                      <a:endParaRPr lang="zh-CN" altLang="en-US"/>
                    </a:p>
                  </a:txBody>
                  <a:tcPr/>
                </a:tc>
                <a:tc rowSpan="2">
                  <a:txBody>
                    <a:bodyPr/>
                    <a:lstStyle/>
                    <a:p>
                      <a:pPr algn="ctr">
                        <a:spcAft>
                          <a:spcPts val="0"/>
                        </a:spcAft>
                      </a:pPr>
                      <a:r>
                        <a:rPr lang="en-US" sz="1600" b="1" kern="0">
                          <a:solidFill>
                            <a:srgbClr val="000000"/>
                          </a:solidFill>
                          <a:latin typeface="Tahoma"/>
                          <a:ea typeface="宋体"/>
                          <a:cs typeface="Times New Roman"/>
                        </a:rPr>
                        <a:t>t</a:t>
                      </a:r>
                      <a:endParaRPr lang="zh-CN" sz="1600" b="1" kern="100">
                        <a:solidFill>
                          <a:srgbClr val="000000"/>
                        </a:solidFill>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BE5F1"/>
                    </a:solidFill>
                  </a:tcPr>
                </a:tc>
                <a:tc rowSpan="2">
                  <a:txBody>
                    <a:bodyPr/>
                    <a:lstStyle/>
                    <a:p>
                      <a:pPr algn="ctr">
                        <a:spcAft>
                          <a:spcPts val="0"/>
                        </a:spcAft>
                      </a:pPr>
                      <a:r>
                        <a:rPr lang="en-US" sz="1600" b="1" kern="0" dirty="0" err="1">
                          <a:solidFill>
                            <a:srgbClr val="000000"/>
                          </a:solidFill>
                          <a:latin typeface="Tahoma"/>
                          <a:ea typeface="宋体"/>
                          <a:cs typeface="Times New Roman"/>
                        </a:rPr>
                        <a:t>df</a:t>
                      </a:r>
                      <a:endParaRPr lang="zh-CN" sz="1600" b="1" kern="100" dirty="0">
                        <a:solidFill>
                          <a:srgbClr val="000000"/>
                        </a:solidFill>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BE5F1"/>
                    </a:solidFill>
                  </a:tcPr>
                </a:tc>
                <a:tc rowSpan="2">
                  <a:txBody>
                    <a:bodyPr/>
                    <a:lstStyle/>
                    <a:p>
                      <a:pPr algn="ctr">
                        <a:spcAft>
                          <a:spcPts val="0"/>
                        </a:spcAft>
                      </a:pPr>
                      <a:r>
                        <a:rPr lang="en-US" sz="1600" b="1" kern="0">
                          <a:solidFill>
                            <a:srgbClr val="000000"/>
                          </a:solidFill>
                          <a:latin typeface="Tahoma"/>
                          <a:ea typeface="宋体"/>
                          <a:cs typeface="Times New Roman"/>
                        </a:rPr>
                        <a:t>Sig. (2-tailed)</a:t>
                      </a:r>
                      <a:endParaRPr lang="zh-CN" sz="1600" b="1" kern="100">
                        <a:solidFill>
                          <a:srgbClr val="000000"/>
                        </a:solidFill>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BE5F1"/>
                    </a:solidFill>
                  </a:tcPr>
                </a:tc>
                <a:tc rowSpan="2">
                  <a:txBody>
                    <a:bodyPr/>
                    <a:lstStyle/>
                    <a:p>
                      <a:pPr algn="ctr">
                        <a:spcAft>
                          <a:spcPts val="0"/>
                        </a:spcAft>
                      </a:pPr>
                      <a:r>
                        <a:rPr lang="en-US" sz="1600" b="1" kern="0">
                          <a:solidFill>
                            <a:srgbClr val="000000"/>
                          </a:solidFill>
                          <a:latin typeface="Tahoma"/>
                          <a:ea typeface="宋体"/>
                          <a:cs typeface="Times New Roman"/>
                        </a:rPr>
                        <a:t>Mean Difference</a:t>
                      </a:r>
                      <a:endParaRPr lang="zh-CN" sz="1600" b="1" kern="100">
                        <a:solidFill>
                          <a:srgbClr val="000000"/>
                        </a:solidFill>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BE5F1"/>
                    </a:solidFill>
                  </a:tcPr>
                </a:tc>
                <a:tc gridSpan="2">
                  <a:txBody>
                    <a:bodyPr/>
                    <a:lstStyle/>
                    <a:p>
                      <a:pPr algn="ctr">
                        <a:spcAft>
                          <a:spcPts val="0"/>
                        </a:spcAft>
                      </a:pPr>
                      <a:r>
                        <a:rPr lang="en-US" sz="1600" b="1" kern="0">
                          <a:solidFill>
                            <a:srgbClr val="000000"/>
                          </a:solidFill>
                          <a:latin typeface="Tahoma"/>
                          <a:ea typeface="宋体"/>
                          <a:cs typeface="Times New Roman"/>
                        </a:rPr>
                        <a:t>95% Confidence Interval of the Difference</a:t>
                      </a:r>
                      <a:endParaRPr lang="zh-CN" sz="1600" b="1" kern="100">
                        <a:solidFill>
                          <a:srgbClr val="000000"/>
                        </a:solidFill>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BE5F1"/>
                    </a:solidFill>
                  </a:tcPr>
                </a:tc>
                <a:tc hMerge="1">
                  <a:txBody>
                    <a:bodyPr/>
                    <a:lstStyle/>
                    <a:p>
                      <a:endParaRPr lang="zh-CN" altLang="en-US"/>
                    </a:p>
                  </a:txBody>
                  <a:tcPr/>
                </a:tc>
                <a:extLst>
                  <a:ext uri="{0D108BD9-81ED-4DB2-BD59-A6C34878D82A}">
                    <a16:rowId xmlns:a16="http://schemas.microsoft.com/office/drawing/2014/main" val="10002"/>
                  </a:ext>
                </a:extLst>
              </a:tr>
              <a:tr h="214760">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a:txBody>
                    <a:bodyPr/>
                    <a:lstStyle/>
                    <a:p>
                      <a:pPr algn="ctr">
                        <a:spcAft>
                          <a:spcPts val="0"/>
                        </a:spcAft>
                      </a:pPr>
                      <a:r>
                        <a:rPr lang="en-US" sz="1600" b="1" kern="0">
                          <a:solidFill>
                            <a:srgbClr val="000000"/>
                          </a:solidFill>
                          <a:latin typeface="Tahoma"/>
                          <a:ea typeface="宋体"/>
                          <a:cs typeface="Times New Roman"/>
                        </a:rPr>
                        <a:t>Lower</a:t>
                      </a:r>
                      <a:endParaRPr lang="zh-CN" sz="1600" b="1" kern="100">
                        <a:solidFill>
                          <a:srgbClr val="000000"/>
                        </a:solidFill>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BE5F1"/>
                    </a:solidFill>
                  </a:tcPr>
                </a:tc>
                <a:tc>
                  <a:txBody>
                    <a:bodyPr/>
                    <a:lstStyle/>
                    <a:p>
                      <a:pPr algn="ctr">
                        <a:spcAft>
                          <a:spcPts val="0"/>
                        </a:spcAft>
                      </a:pPr>
                      <a:r>
                        <a:rPr lang="en-US" sz="1600" b="1" kern="0">
                          <a:solidFill>
                            <a:srgbClr val="000000"/>
                          </a:solidFill>
                          <a:latin typeface="Tahoma"/>
                          <a:ea typeface="宋体"/>
                          <a:cs typeface="Times New Roman"/>
                        </a:rPr>
                        <a:t>Upper</a:t>
                      </a:r>
                      <a:endParaRPr lang="zh-CN" sz="1600" b="1" kern="100">
                        <a:solidFill>
                          <a:srgbClr val="000000"/>
                        </a:solidFill>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BE5F1"/>
                    </a:solidFill>
                  </a:tcPr>
                </a:tc>
                <a:extLst>
                  <a:ext uri="{0D108BD9-81ED-4DB2-BD59-A6C34878D82A}">
                    <a16:rowId xmlns:a16="http://schemas.microsoft.com/office/drawing/2014/main" val="10003"/>
                  </a:ext>
                </a:extLst>
              </a:tr>
              <a:tr h="644279">
                <a:tc>
                  <a:txBody>
                    <a:bodyPr/>
                    <a:lstStyle/>
                    <a:p>
                      <a:pPr algn="ctr">
                        <a:spcAft>
                          <a:spcPts val="0"/>
                        </a:spcAft>
                      </a:pPr>
                      <a:r>
                        <a:rPr lang="zh-CN" sz="1600" b="1" kern="0">
                          <a:solidFill>
                            <a:srgbClr val="000000"/>
                          </a:solidFill>
                          <a:latin typeface="Times New Roman"/>
                          <a:ea typeface="宋体"/>
                          <a:cs typeface="宋体"/>
                        </a:rPr>
                        <a:t>重量</a:t>
                      </a:r>
                      <a:endParaRPr lang="zh-CN" sz="1600" b="1" kern="100">
                        <a:solidFill>
                          <a:srgbClr val="000000"/>
                        </a:solidFill>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BE5F1"/>
                    </a:solidFill>
                  </a:tcPr>
                </a:tc>
                <a:tc>
                  <a:txBody>
                    <a:bodyPr/>
                    <a:lstStyle/>
                    <a:p>
                      <a:pPr algn="ctr">
                        <a:spcAft>
                          <a:spcPts val="0"/>
                        </a:spcAft>
                      </a:pPr>
                      <a:r>
                        <a:rPr lang="en-US" sz="1600" b="1" kern="0">
                          <a:solidFill>
                            <a:srgbClr val="000000"/>
                          </a:solidFill>
                          <a:latin typeface="Tahoma"/>
                          <a:ea typeface="宋体"/>
                          <a:cs typeface="Times New Roman"/>
                        </a:rPr>
                        <a:t>-1.642</a:t>
                      </a:r>
                      <a:endParaRPr lang="zh-CN" sz="1600" b="1" kern="100">
                        <a:solidFill>
                          <a:srgbClr val="000000"/>
                        </a:solidFill>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BE5F1"/>
                    </a:solidFill>
                  </a:tcPr>
                </a:tc>
                <a:tc>
                  <a:txBody>
                    <a:bodyPr/>
                    <a:lstStyle/>
                    <a:p>
                      <a:pPr algn="ctr">
                        <a:spcAft>
                          <a:spcPts val="0"/>
                        </a:spcAft>
                      </a:pPr>
                      <a:r>
                        <a:rPr lang="en-US" sz="1600" b="1" kern="0">
                          <a:solidFill>
                            <a:srgbClr val="000000"/>
                          </a:solidFill>
                          <a:latin typeface="Tahoma"/>
                          <a:ea typeface="宋体"/>
                          <a:cs typeface="Times New Roman"/>
                        </a:rPr>
                        <a:t>9</a:t>
                      </a:r>
                      <a:endParaRPr lang="zh-CN" sz="1600" b="1" kern="100">
                        <a:solidFill>
                          <a:srgbClr val="000000"/>
                        </a:solidFill>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BE5F1"/>
                    </a:solidFill>
                  </a:tcPr>
                </a:tc>
                <a:tc>
                  <a:txBody>
                    <a:bodyPr/>
                    <a:lstStyle/>
                    <a:p>
                      <a:pPr algn="ctr">
                        <a:spcAft>
                          <a:spcPts val="0"/>
                        </a:spcAft>
                      </a:pPr>
                      <a:r>
                        <a:rPr lang="en-US" sz="1600" b="1" kern="0" dirty="0">
                          <a:solidFill>
                            <a:srgbClr val="000000"/>
                          </a:solidFill>
                          <a:latin typeface="Tahoma"/>
                          <a:ea typeface="宋体"/>
                          <a:cs typeface="Times New Roman"/>
                        </a:rPr>
                        <a:t>.135</a:t>
                      </a:r>
                      <a:endParaRPr lang="zh-CN" sz="1600" b="1" kern="100" dirty="0">
                        <a:solidFill>
                          <a:srgbClr val="000000"/>
                        </a:solidFill>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BE5F1"/>
                    </a:solidFill>
                  </a:tcPr>
                </a:tc>
                <a:tc>
                  <a:txBody>
                    <a:bodyPr/>
                    <a:lstStyle/>
                    <a:p>
                      <a:pPr algn="ctr">
                        <a:spcAft>
                          <a:spcPts val="0"/>
                        </a:spcAft>
                      </a:pPr>
                      <a:r>
                        <a:rPr lang="en-US" sz="1600" b="1" kern="0">
                          <a:solidFill>
                            <a:srgbClr val="000000"/>
                          </a:solidFill>
                          <a:latin typeface="Tahoma"/>
                          <a:ea typeface="宋体"/>
                          <a:cs typeface="Times New Roman"/>
                        </a:rPr>
                        <a:t>-8.9000</a:t>
                      </a:r>
                      <a:endParaRPr lang="zh-CN" sz="1600" b="1" kern="100">
                        <a:solidFill>
                          <a:srgbClr val="000000"/>
                        </a:solidFill>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BE5F1"/>
                    </a:solidFill>
                  </a:tcPr>
                </a:tc>
                <a:tc>
                  <a:txBody>
                    <a:bodyPr/>
                    <a:lstStyle/>
                    <a:p>
                      <a:pPr algn="ctr">
                        <a:spcAft>
                          <a:spcPts val="0"/>
                        </a:spcAft>
                      </a:pPr>
                      <a:r>
                        <a:rPr lang="en-US" sz="1600" b="1" kern="0">
                          <a:solidFill>
                            <a:srgbClr val="000000"/>
                          </a:solidFill>
                          <a:latin typeface="Tahoma"/>
                          <a:ea typeface="宋体"/>
                          <a:cs typeface="Times New Roman"/>
                        </a:rPr>
                        <a:t>-21.1586</a:t>
                      </a:r>
                      <a:endParaRPr lang="zh-CN" sz="1600" b="1" kern="100">
                        <a:solidFill>
                          <a:srgbClr val="000000"/>
                        </a:solidFill>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BE5F1"/>
                    </a:solidFill>
                  </a:tcPr>
                </a:tc>
                <a:tc>
                  <a:txBody>
                    <a:bodyPr/>
                    <a:lstStyle/>
                    <a:p>
                      <a:pPr algn="ctr">
                        <a:spcAft>
                          <a:spcPts val="0"/>
                        </a:spcAft>
                      </a:pPr>
                      <a:r>
                        <a:rPr lang="en-US" sz="1600" b="1" kern="0" dirty="0">
                          <a:solidFill>
                            <a:srgbClr val="000000"/>
                          </a:solidFill>
                          <a:latin typeface="Tahoma"/>
                          <a:ea typeface="宋体"/>
                          <a:cs typeface="Times New Roman"/>
                        </a:rPr>
                        <a:t>3.3586</a:t>
                      </a:r>
                      <a:endParaRPr lang="zh-CN" sz="1600" b="1" kern="100" dirty="0">
                        <a:solidFill>
                          <a:srgbClr val="000000"/>
                        </a:solidFill>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BE5F1"/>
                    </a:solidFill>
                  </a:tcPr>
                </a:tc>
                <a:extLst>
                  <a:ext uri="{0D108BD9-81ED-4DB2-BD59-A6C34878D82A}">
                    <a16:rowId xmlns:a16="http://schemas.microsoft.com/office/drawing/2014/main" val="10004"/>
                  </a:ext>
                </a:extLst>
              </a:tr>
            </a:tbl>
          </a:graphicData>
        </a:graphic>
      </p:graphicFrame>
      <p:sp>
        <p:nvSpPr>
          <p:cNvPr id="90161" name="TextBox 18"/>
          <p:cNvSpPr txBox="1">
            <a:spLocks noChangeArrowheads="1"/>
          </p:cNvSpPr>
          <p:nvPr/>
        </p:nvSpPr>
        <p:spPr bwMode="auto">
          <a:xfrm>
            <a:off x="5156201" y="4213504"/>
            <a:ext cx="2895599" cy="400110"/>
          </a:xfrm>
          <a:prstGeom prst="rect">
            <a:avLst/>
          </a:prstGeom>
          <a:solidFill>
            <a:schemeClr val="accent5">
              <a:lumMod val="60000"/>
              <a:lumOff val="40000"/>
            </a:schemeClr>
          </a:solidFill>
          <a:ln w="9525">
            <a:noFill/>
            <a:miter lim="800000"/>
            <a:headEnd/>
            <a:tailEnd/>
          </a:ln>
        </p:spPr>
        <p:txBody>
          <a:bodyPr wrap="square">
            <a:spAutoFit/>
          </a:bodyPr>
          <a:lstStyle/>
          <a:p>
            <a:r>
              <a:rPr lang="en-US" altLang="zh-CN" sz="2000" b="1" dirty="0">
                <a:solidFill>
                  <a:srgbClr val="C00000"/>
                </a:solidFill>
              </a:rPr>
              <a:t>【</a:t>
            </a:r>
            <a:r>
              <a:rPr lang="zh-CN" altLang="en-US" sz="2000" b="1" dirty="0">
                <a:solidFill>
                  <a:srgbClr val="C00000"/>
                </a:solidFill>
              </a:rPr>
              <a:t>例</a:t>
            </a:r>
            <a:r>
              <a:rPr lang="en-US" altLang="zh-CN" sz="2000" b="1" dirty="0">
                <a:solidFill>
                  <a:srgbClr val="C00000"/>
                </a:solidFill>
              </a:rPr>
              <a:t>8-3</a:t>
            </a:r>
            <a:r>
              <a:rPr lang="zh-CN" altLang="en-US" sz="2000" b="1" dirty="0">
                <a:solidFill>
                  <a:srgbClr val="C00000"/>
                </a:solidFill>
              </a:rPr>
              <a:t>的</a:t>
            </a:r>
            <a:r>
              <a:rPr lang="en-US" altLang="zh-CN" sz="2000" b="1" dirty="0">
                <a:solidFill>
                  <a:srgbClr val="C00000"/>
                </a:solidFill>
              </a:rPr>
              <a:t>SPSS</a:t>
            </a:r>
            <a:r>
              <a:rPr lang="zh-CN" altLang="en-US" sz="2000" b="1" dirty="0">
                <a:solidFill>
                  <a:srgbClr val="C00000"/>
                </a:solidFill>
              </a:rPr>
              <a:t>输出</a:t>
            </a:r>
            <a:r>
              <a:rPr lang="en-US" altLang="zh-CN" sz="2000" b="1" dirty="0">
                <a:solidFill>
                  <a:srgbClr val="C00000"/>
                </a:solidFill>
              </a:rPr>
              <a:t>】</a:t>
            </a:r>
            <a:endParaRPr lang="zh-CN" altLang="en-US" sz="2000" b="1" dirty="0">
              <a:solidFill>
                <a:srgbClr val="C00000"/>
              </a:solidFill>
            </a:endParaRPr>
          </a:p>
        </p:txBody>
      </p:sp>
    </p:spTree>
    <p:extLst>
      <p:ext uri="{BB962C8B-B14F-4D97-AF65-F5344CB8AC3E}">
        <p14:creationId xmlns:p14="http://schemas.microsoft.com/office/powerpoint/2010/main" val="4169577739"/>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24302"/>
                                        </p:tgtEl>
                                        <p:attrNameLst>
                                          <p:attrName>style.visibility</p:attrName>
                                        </p:attrNameLst>
                                      </p:cBhvr>
                                      <p:to>
                                        <p:strVal val="visible"/>
                                      </p:to>
                                    </p:set>
                                    <p:animEffect transition="in" filter="wipe(left)">
                                      <p:cBhvr>
                                        <p:cTn id="7" dur="500"/>
                                        <p:tgtEl>
                                          <p:spTgt spid="524302"/>
                                        </p:tgtEl>
                                      </p:cBhvr>
                                    </p:animEffect>
                                  </p:childTnLst>
                                </p:cTn>
                              </p:par>
                            </p:childTnLst>
                          </p:cTn>
                        </p:par>
                        <p:par>
                          <p:cTn id="8" fill="hold">
                            <p:stCondLst>
                              <p:cond delay="500"/>
                            </p:stCondLst>
                            <p:childTnLst>
                              <p:par>
                                <p:cTn id="9" presetID="22" presetClass="entr" presetSubtype="2" fill="hold" nodeType="afterEffect">
                                  <p:stCondLst>
                                    <p:cond delay="0"/>
                                  </p:stCondLst>
                                  <p:childTnLst>
                                    <p:set>
                                      <p:cBhvr>
                                        <p:cTn id="10" dur="1" fill="hold">
                                          <p:stCondLst>
                                            <p:cond delay="0"/>
                                          </p:stCondLst>
                                        </p:cTn>
                                        <p:tgtEl>
                                          <p:spTgt spid="524298"/>
                                        </p:tgtEl>
                                        <p:attrNameLst>
                                          <p:attrName>style.visibility</p:attrName>
                                        </p:attrNameLst>
                                      </p:cBhvr>
                                      <p:to>
                                        <p:strVal val="visible"/>
                                      </p:to>
                                    </p:set>
                                    <p:animEffect transition="in" filter="wipe(right)">
                                      <p:cBhvr>
                                        <p:cTn id="11" dur="500"/>
                                        <p:tgtEl>
                                          <p:spTgt spid="5242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1138" name="灯片编号占位符 5"/>
          <p:cNvSpPr>
            <a:spLocks noGrp="1"/>
          </p:cNvSpPr>
          <p:nvPr>
            <p:ph type="sldNum" sz="quarter" idx="4294967295"/>
          </p:nvPr>
        </p:nvSpPr>
        <p:spPr>
          <a:noFill/>
        </p:spPr>
        <p:txBody>
          <a:bodyPr/>
          <a:lstStyle/>
          <a:p>
            <a:r>
              <a:rPr lang="en-US" altLang="zh-CN">
                <a:ea typeface="宋体" pitchFamily="2" charset="-122"/>
              </a:rPr>
              <a:t>8--</a:t>
            </a:r>
            <a:fld id="{E0FCCBE7-31FB-4B36-B941-F1B598C6B4D3}" type="slidenum">
              <a:rPr lang="en-US" altLang="zh-CN" smtClean="0">
                <a:ea typeface="宋体" pitchFamily="2" charset="-122"/>
              </a:rPr>
              <a:pPr/>
              <a:t>52</a:t>
            </a:fld>
            <a:endParaRPr lang="en-US" altLang="zh-CN">
              <a:ea typeface="宋体" pitchFamily="2" charset="-122"/>
            </a:endParaRPr>
          </a:p>
        </p:txBody>
      </p:sp>
      <p:sp>
        <p:nvSpPr>
          <p:cNvPr id="91139" name="Rectangle 2"/>
          <p:cNvSpPr>
            <a:spLocks noGrp="1" noChangeArrowheads="1"/>
          </p:cNvSpPr>
          <p:nvPr>
            <p:ph type="title"/>
          </p:nvPr>
        </p:nvSpPr>
        <p:spPr>
          <a:xfrm>
            <a:off x="2566988" y="620713"/>
            <a:ext cx="6769100" cy="990600"/>
          </a:xfrm>
          <a:noFill/>
        </p:spPr>
        <p:txBody>
          <a:bodyPr vert="horz" lIns="90488" tIns="44450" rIns="90488" bIns="44450" rtlCol="0" anchor="ctr" anchorCtr="1">
            <a:normAutofit fontScale="90000"/>
          </a:bodyPr>
          <a:lstStyle/>
          <a:p>
            <a:pPr eaLnBrk="1" hangingPunct="1">
              <a:lnSpc>
                <a:spcPct val="100000"/>
              </a:lnSpc>
            </a:pPr>
            <a:r>
              <a:rPr lang="en-US" altLang="zh-CN" sz="4000" dirty="0"/>
              <a:t>[</a:t>
            </a:r>
            <a:r>
              <a:rPr lang="zh-CN" altLang="en-US" sz="4000" dirty="0"/>
              <a:t>小结</a:t>
            </a:r>
            <a:r>
              <a:rPr lang="en-US" altLang="zh-CN" sz="4000" dirty="0"/>
              <a:t>]</a:t>
            </a:r>
            <a:r>
              <a:rPr lang="zh-CN" altLang="en-US" sz="4000" dirty="0"/>
              <a:t>总体方差未知时对正态总体均值检验</a:t>
            </a:r>
            <a:r>
              <a:rPr lang="en-US" altLang="zh-CN" sz="4000" dirty="0">
                <a:latin typeface="Arial" pitchFamily="34" charset="0"/>
              </a:rPr>
              <a:t>——</a:t>
            </a:r>
            <a:r>
              <a:rPr lang="en-US" altLang="zh-CN" sz="4000" dirty="0"/>
              <a:t> </a:t>
            </a:r>
            <a:r>
              <a:rPr lang="en-US" altLang="zh-CN" sz="4000" i="1" dirty="0"/>
              <a:t>t </a:t>
            </a:r>
            <a:r>
              <a:rPr lang="zh-CN" altLang="en-US" sz="4000" dirty="0"/>
              <a:t>检验法</a:t>
            </a:r>
          </a:p>
        </p:txBody>
      </p:sp>
      <p:sp>
        <p:nvSpPr>
          <p:cNvPr id="68616" name="Rectangle 8"/>
          <p:cNvSpPr>
            <a:spLocks noChangeArrowheads="1"/>
          </p:cNvSpPr>
          <p:nvPr/>
        </p:nvSpPr>
        <p:spPr bwMode="auto">
          <a:xfrm>
            <a:off x="1990725" y="1918731"/>
            <a:ext cx="7921625" cy="4392612"/>
          </a:xfrm>
          <a:prstGeom prst="rect">
            <a:avLst/>
          </a:prstGeom>
          <a:noFill/>
          <a:ln w="9525">
            <a:noFill/>
            <a:miter lim="800000"/>
            <a:headEnd/>
            <a:tailEnd/>
          </a:ln>
        </p:spPr>
        <p:txBody>
          <a:bodyPr/>
          <a:lstStyle/>
          <a:p>
            <a:pPr marL="571500" indent="-571500">
              <a:lnSpc>
                <a:spcPct val="115000"/>
              </a:lnSpc>
              <a:spcBef>
                <a:spcPct val="20000"/>
              </a:spcBef>
              <a:buSzPct val="90000"/>
              <a:buBlip>
                <a:blip r:embed="rId3"/>
              </a:buBlip>
            </a:pPr>
            <a:r>
              <a:rPr lang="en-US" altLang="zh-CN" sz="3600" b="1" dirty="0">
                <a:solidFill>
                  <a:srgbClr val="FF0066"/>
                </a:solidFill>
                <a:latin typeface="Tahoma" pitchFamily="34" charset="0"/>
              </a:rPr>
              <a:t>t </a:t>
            </a:r>
            <a:r>
              <a:rPr lang="zh-CN" altLang="en-US" sz="3600" b="1" dirty="0">
                <a:solidFill>
                  <a:srgbClr val="FF0066"/>
                </a:solidFill>
                <a:latin typeface="Tahoma" pitchFamily="34" charset="0"/>
              </a:rPr>
              <a:t>检验法</a:t>
            </a:r>
            <a:r>
              <a:rPr lang="en-US" altLang="zh-CN" sz="2800" b="1" dirty="0">
                <a:solidFill>
                  <a:schemeClr val="tx2"/>
                </a:solidFill>
              </a:rPr>
              <a:t>——</a:t>
            </a:r>
            <a:r>
              <a:rPr lang="zh-CN" altLang="en-US" sz="2800" b="1" dirty="0">
                <a:solidFill>
                  <a:schemeClr val="tx2"/>
                </a:solidFill>
                <a:latin typeface="Tahoma" pitchFamily="34" charset="0"/>
              </a:rPr>
              <a:t>利用服从</a:t>
            </a:r>
            <a:r>
              <a:rPr lang="en-US" altLang="zh-CN" sz="2800" b="1" dirty="0">
                <a:solidFill>
                  <a:schemeClr val="tx2"/>
                </a:solidFill>
                <a:latin typeface="Tahoma" pitchFamily="34" charset="0"/>
              </a:rPr>
              <a:t>t</a:t>
            </a:r>
            <a:r>
              <a:rPr lang="zh-CN" altLang="en-US" sz="2800" b="1" dirty="0">
                <a:solidFill>
                  <a:schemeClr val="tx2"/>
                </a:solidFill>
                <a:latin typeface="Tahoma" pitchFamily="34" charset="0"/>
              </a:rPr>
              <a:t>分布的统计量进行假设检验的方法。</a:t>
            </a:r>
          </a:p>
          <a:p>
            <a:pPr marL="571500" indent="-571500">
              <a:lnSpc>
                <a:spcPct val="115000"/>
              </a:lnSpc>
              <a:spcBef>
                <a:spcPct val="20000"/>
              </a:spcBef>
              <a:buSzPct val="90000"/>
              <a:buBlip>
                <a:blip r:embed="rId3"/>
              </a:buBlip>
            </a:pPr>
            <a:r>
              <a:rPr lang="zh-CN" altLang="en-US" sz="2800" b="1" dirty="0">
                <a:solidFill>
                  <a:srgbClr val="FF00FF"/>
                </a:solidFill>
                <a:latin typeface="Tahoma" pitchFamily="34" charset="0"/>
              </a:rPr>
              <a:t>对均值的 </a:t>
            </a:r>
            <a:r>
              <a:rPr lang="en-US" altLang="zh-CN" sz="2800" b="1" dirty="0">
                <a:solidFill>
                  <a:srgbClr val="FF00FF"/>
                </a:solidFill>
                <a:latin typeface="Tahoma" pitchFamily="34" charset="0"/>
              </a:rPr>
              <a:t>t </a:t>
            </a:r>
            <a:r>
              <a:rPr lang="zh-CN" altLang="en-US" sz="2800" b="1" dirty="0">
                <a:solidFill>
                  <a:srgbClr val="FF00FF"/>
                </a:solidFill>
                <a:latin typeface="Tahoma" pitchFamily="34" charset="0"/>
              </a:rPr>
              <a:t>检验主要适用于：</a:t>
            </a:r>
          </a:p>
          <a:p>
            <a:pPr marL="971550" lvl="1" indent="-285750">
              <a:lnSpc>
                <a:spcPct val="115000"/>
              </a:lnSpc>
              <a:spcBef>
                <a:spcPct val="20000"/>
              </a:spcBef>
              <a:buSzPct val="80000"/>
              <a:buBlip>
                <a:blip r:embed="rId4"/>
              </a:buBlip>
            </a:pPr>
            <a:r>
              <a:rPr lang="zh-CN" altLang="en-US" sz="2800" b="1" dirty="0">
                <a:solidFill>
                  <a:srgbClr val="000000"/>
                </a:solidFill>
                <a:latin typeface="宋体" pitchFamily="2" charset="-122"/>
              </a:rPr>
              <a:t>若总体呈正态分布</a:t>
            </a:r>
            <a:r>
              <a:rPr lang="en-US" altLang="zh-CN" sz="2800" b="1" dirty="0">
                <a:solidFill>
                  <a:srgbClr val="000000"/>
                </a:solidFill>
                <a:latin typeface="宋体" pitchFamily="2" charset="-122"/>
              </a:rPr>
              <a:t>,</a:t>
            </a:r>
            <a:r>
              <a:rPr lang="zh-CN" altLang="en-US" sz="2800" b="1" dirty="0">
                <a:solidFill>
                  <a:srgbClr val="000000"/>
                </a:solidFill>
                <a:latin typeface="宋体" pitchFamily="2" charset="-122"/>
              </a:rPr>
              <a:t>且总体方差未知时</a:t>
            </a:r>
          </a:p>
          <a:p>
            <a:pPr marL="1314450" lvl="2" indent="-228600">
              <a:lnSpc>
                <a:spcPct val="115000"/>
              </a:lnSpc>
              <a:spcBef>
                <a:spcPct val="20000"/>
              </a:spcBef>
              <a:buSzPct val="70000"/>
              <a:buBlip>
                <a:blip r:embed="rId5"/>
              </a:buBlip>
            </a:pPr>
            <a:r>
              <a:rPr lang="zh-CN" altLang="en-US" sz="2400" b="1" dirty="0">
                <a:solidFill>
                  <a:schemeClr val="tx2"/>
                </a:solidFill>
                <a:latin typeface="Tahoma" pitchFamily="34" charset="0"/>
              </a:rPr>
              <a:t>（用</a:t>
            </a:r>
            <a:r>
              <a:rPr lang="en-US" altLang="zh-CN" sz="2400" b="1" dirty="0">
                <a:solidFill>
                  <a:schemeClr val="tx2"/>
                </a:solidFill>
                <a:latin typeface="Tahoma" pitchFamily="34" charset="0"/>
              </a:rPr>
              <a:t>S</a:t>
            </a:r>
            <a:r>
              <a:rPr lang="en-US" altLang="zh-CN" sz="2400" b="1" baseline="30000" dirty="0">
                <a:solidFill>
                  <a:schemeClr val="tx2"/>
                </a:solidFill>
                <a:latin typeface="Tahoma" pitchFamily="34" charset="0"/>
              </a:rPr>
              <a:t>2</a:t>
            </a:r>
            <a:r>
              <a:rPr lang="zh-CN" altLang="en-US" sz="2400" b="1" dirty="0">
                <a:solidFill>
                  <a:schemeClr val="tx2"/>
                </a:solidFill>
                <a:latin typeface="Tahoma" pitchFamily="34" charset="0"/>
              </a:rPr>
              <a:t>代替</a:t>
            </a:r>
            <a:r>
              <a:rPr lang="zh-CN" altLang="en-US" sz="2400" b="1" dirty="0">
                <a:solidFill>
                  <a:schemeClr val="tx2"/>
                </a:solidFill>
                <a:latin typeface="Symbol" pitchFamily="18" charset="2"/>
              </a:rPr>
              <a:t></a:t>
            </a:r>
            <a:r>
              <a:rPr lang="en-US" altLang="zh-CN" sz="2400" b="1" baseline="30000" dirty="0">
                <a:solidFill>
                  <a:schemeClr val="tx2"/>
                </a:solidFill>
                <a:latin typeface="Tahoma" pitchFamily="34" charset="0"/>
              </a:rPr>
              <a:t>2</a:t>
            </a:r>
            <a:r>
              <a:rPr lang="zh-CN" altLang="en-US" sz="2400" b="1" dirty="0">
                <a:solidFill>
                  <a:schemeClr val="tx2"/>
                </a:solidFill>
                <a:latin typeface="Tahoma" pitchFamily="34" charset="0"/>
              </a:rPr>
              <a:t>，或用</a:t>
            </a:r>
            <a:r>
              <a:rPr lang="en-US" altLang="zh-CN" sz="2400" b="1" dirty="0">
                <a:solidFill>
                  <a:schemeClr val="tx2"/>
                </a:solidFill>
                <a:latin typeface="Tahoma" pitchFamily="34" charset="0"/>
              </a:rPr>
              <a:t>S</a:t>
            </a:r>
            <a:r>
              <a:rPr lang="zh-CN" altLang="en-US" sz="2400" b="1" dirty="0">
                <a:solidFill>
                  <a:schemeClr val="tx2"/>
                </a:solidFill>
                <a:latin typeface="Tahoma" pitchFamily="34" charset="0"/>
              </a:rPr>
              <a:t>代替</a:t>
            </a:r>
            <a:r>
              <a:rPr lang="zh-CN" altLang="en-US" sz="2400" b="1" dirty="0">
                <a:solidFill>
                  <a:schemeClr val="tx2"/>
                </a:solidFill>
                <a:latin typeface="Symbol" pitchFamily="18" charset="2"/>
              </a:rPr>
              <a:t></a:t>
            </a:r>
            <a:r>
              <a:rPr lang="zh-CN" altLang="en-US" sz="2400" b="1" dirty="0">
                <a:solidFill>
                  <a:schemeClr val="tx2"/>
                </a:solidFill>
                <a:latin typeface="Tahoma" pitchFamily="34" charset="0"/>
              </a:rPr>
              <a:t> ）</a:t>
            </a:r>
            <a:endParaRPr lang="zh-CN" altLang="en-US" sz="2400" b="1" dirty="0">
              <a:solidFill>
                <a:schemeClr val="tx2"/>
              </a:solidFill>
              <a:latin typeface="宋体" pitchFamily="2" charset="-122"/>
            </a:endParaRPr>
          </a:p>
          <a:p>
            <a:pPr marL="971550" lvl="1" indent="-285750">
              <a:lnSpc>
                <a:spcPct val="115000"/>
              </a:lnSpc>
              <a:spcBef>
                <a:spcPct val="20000"/>
              </a:spcBef>
              <a:buSzPct val="80000"/>
              <a:buBlip>
                <a:blip r:embed="rId4"/>
              </a:buBlip>
            </a:pPr>
            <a:r>
              <a:rPr lang="zh-CN" altLang="en-US" sz="2800" b="1" dirty="0">
                <a:solidFill>
                  <a:srgbClr val="000000"/>
                </a:solidFill>
                <a:latin typeface="宋体" pitchFamily="2" charset="-122"/>
              </a:rPr>
              <a:t>当 </a:t>
            </a:r>
            <a:r>
              <a:rPr lang="en-US" altLang="zh-CN" sz="2800" b="1" dirty="0">
                <a:solidFill>
                  <a:srgbClr val="000000"/>
                </a:solidFill>
                <a:latin typeface="宋体" pitchFamily="2" charset="-122"/>
              </a:rPr>
              <a:t>n </a:t>
            </a:r>
            <a:r>
              <a:rPr lang="en-US" altLang="zh-CN" sz="2800" b="1" dirty="0">
                <a:solidFill>
                  <a:srgbClr val="000000"/>
                </a:solidFill>
                <a:latin typeface="宋体" pitchFamily="2" charset="-122"/>
                <a:sym typeface="Symbol" pitchFamily="18" charset="2"/>
              </a:rPr>
              <a:t></a:t>
            </a:r>
            <a:r>
              <a:rPr lang="en-US" altLang="zh-CN" sz="2800" b="1" dirty="0">
                <a:solidFill>
                  <a:srgbClr val="000000"/>
                </a:solidFill>
                <a:latin typeface="宋体" pitchFamily="2" charset="-122"/>
              </a:rPr>
              <a:t>30</a:t>
            </a:r>
            <a:r>
              <a:rPr lang="zh-CN" altLang="en-US" sz="2800" b="1" dirty="0">
                <a:solidFill>
                  <a:srgbClr val="000000"/>
                </a:solidFill>
                <a:latin typeface="宋体" pitchFamily="2" charset="-122"/>
              </a:rPr>
              <a:t>时，</a:t>
            </a:r>
            <a:r>
              <a:rPr lang="en-US" altLang="zh-CN" sz="2800" b="1" dirty="0">
                <a:solidFill>
                  <a:srgbClr val="000000"/>
                </a:solidFill>
                <a:latin typeface="宋体" pitchFamily="2" charset="-122"/>
              </a:rPr>
              <a:t>t</a:t>
            </a:r>
            <a:r>
              <a:rPr lang="zh-CN" altLang="en-US" sz="2800" b="1" dirty="0">
                <a:solidFill>
                  <a:srgbClr val="000000"/>
                </a:solidFill>
                <a:latin typeface="宋体" pitchFamily="2" charset="-122"/>
              </a:rPr>
              <a:t>分布趋近于正态分布，故可近似采用 </a:t>
            </a:r>
            <a:r>
              <a:rPr lang="en-US" altLang="zh-CN" sz="2800" b="1" dirty="0">
                <a:solidFill>
                  <a:srgbClr val="000000"/>
                </a:solidFill>
                <a:latin typeface="宋体" pitchFamily="2" charset="-122"/>
              </a:rPr>
              <a:t>Z </a:t>
            </a:r>
            <a:r>
              <a:rPr lang="zh-CN" altLang="en-US" sz="2800" b="1" dirty="0">
                <a:solidFill>
                  <a:srgbClr val="000000"/>
                </a:solidFill>
                <a:latin typeface="宋体" pitchFamily="2" charset="-122"/>
              </a:rPr>
              <a:t>检验代替 </a:t>
            </a:r>
            <a:r>
              <a:rPr lang="en-US" altLang="zh-CN" sz="2800" b="1" dirty="0">
                <a:solidFill>
                  <a:srgbClr val="000000"/>
                </a:solidFill>
                <a:latin typeface="宋体" pitchFamily="2" charset="-122"/>
              </a:rPr>
              <a:t>t </a:t>
            </a:r>
            <a:r>
              <a:rPr lang="zh-CN" altLang="en-US" sz="2800" b="1" dirty="0">
                <a:solidFill>
                  <a:srgbClr val="000000"/>
                </a:solidFill>
                <a:latin typeface="宋体" pitchFamily="2" charset="-122"/>
              </a:rPr>
              <a:t>检验。</a:t>
            </a:r>
          </a:p>
        </p:txBody>
      </p:sp>
    </p:spTree>
    <p:extLst>
      <p:ext uri="{BB962C8B-B14F-4D97-AF65-F5344CB8AC3E}">
        <p14:creationId xmlns:p14="http://schemas.microsoft.com/office/powerpoint/2010/main" val="32336769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8616">
                                            <p:txEl>
                                              <p:pRg st="1" end="1"/>
                                            </p:txEl>
                                          </p:spTgt>
                                        </p:tgtEl>
                                        <p:attrNameLst>
                                          <p:attrName>style.visibility</p:attrName>
                                        </p:attrNameLst>
                                      </p:cBhvr>
                                      <p:to>
                                        <p:strVal val="visible"/>
                                      </p:to>
                                    </p:set>
                                    <p:animEffect transition="in" filter="wipe(left)">
                                      <p:cBhvr>
                                        <p:cTn id="7" dur="500"/>
                                        <p:tgtEl>
                                          <p:spTgt spid="68616">
                                            <p:txEl>
                                              <p:pRg st="1" end="1"/>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68616">
                                            <p:txEl>
                                              <p:pRg st="2" end="2"/>
                                            </p:txEl>
                                          </p:spTgt>
                                        </p:tgtEl>
                                        <p:attrNameLst>
                                          <p:attrName>style.visibility</p:attrName>
                                        </p:attrNameLst>
                                      </p:cBhvr>
                                      <p:to>
                                        <p:strVal val="visible"/>
                                      </p:to>
                                    </p:set>
                                    <p:animEffect transition="in" filter="wipe(left)">
                                      <p:cBhvr>
                                        <p:cTn id="10" dur="500"/>
                                        <p:tgtEl>
                                          <p:spTgt spid="68616">
                                            <p:txEl>
                                              <p:pRg st="2" end="2"/>
                                            </p:txEl>
                                          </p:spTgt>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68616">
                                            <p:txEl>
                                              <p:pRg st="3" end="3"/>
                                            </p:txEl>
                                          </p:spTgt>
                                        </p:tgtEl>
                                        <p:attrNameLst>
                                          <p:attrName>style.visibility</p:attrName>
                                        </p:attrNameLst>
                                      </p:cBhvr>
                                      <p:to>
                                        <p:strVal val="visible"/>
                                      </p:to>
                                    </p:set>
                                    <p:animEffect transition="in" filter="wipe(left)">
                                      <p:cBhvr>
                                        <p:cTn id="13" dur="500"/>
                                        <p:tgtEl>
                                          <p:spTgt spid="68616">
                                            <p:txEl>
                                              <p:pRg st="3" end="3"/>
                                            </p:txEl>
                                          </p:spTgt>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68616">
                                            <p:txEl>
                                              <p:pRg st="4" end="4"/>
                                            </p:txEl>
                                          </p:spTgt>
                                        </p:tgtEl>
                                        <p:attrNameLst>
                                          <p:attrName>style.visibility</p:attrName>
                                        </p:attrNameLst>
                                      </p:cBhvr>
                                      <p:to>
                                        <p:strVal val="visible"/>
                                      </p:to>
                                    </p:set>
                                    <p:animEffect transition="in" filter="wipe(left)">
                                      <p:cBhvr>
                                        <p:cTn id="16" dur="500"/>
                                        <p:tgtEl>
                                          <p:spTgt spid="6861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616" grpId="0" build="p"/>
    </p:bldLst>
  </p:timing>
</p:sld>
</file>

<file path=ppt/slides/slide5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484" name="灯片编号占位符 6"/>
          <p:cNvSpPr>
            <a:spLocks noGrp="1"/>
          </p:cNvSpPr>
          <p:nvPr>
            <p:ph type="sldNum" sz="quarter" idx="10"/>
          </p:nvPr>
        </p:nvSpPr>
        <p:spPr>
          <a:noFill/>
        </p:spPr>
        <p:txBody>
          <a:bodyPr/>
          <a:lstStyle/>
          <a:p>
            <a:r>
              <a:rPr lang="en-US" altLang="zh-CN">
                <a:ea typeface="宋体" pitchFamily="2" charset="-122"/>
              </a:rPr>
              <a:t>8--</a:t>
            </a:r>
            <a:fld id="{C0397652-170E-477E-B6E1-81387D435797}" type="slidenum">
              <a:rPr lang="en-US" altLang="zh-CN" smtClean="0">
                <a:ea typeface="宋体" pitchFamily="2" charset="-122"/>
              </a:rPr>
              <a:pPr/>
              <a:t>53</a:t>
            </a:fld>
            <a:endParaRPr lang="en-US" altLang="zh-CN">
              <a:ea typeface="宋体" pitchFamily="2" charset="-122"/>
            </a:endParaRPr>
          </a:p>
        </p:txBody>
      </p:sp>
      <p:sp>
        <p:nvSpPr>
          <p:cNvPr id="20485" name="Rectangle 2"/>
          <p:cNvSpPr>
            <a:spLocks noGrp="1" noChangeArrowheads="1"/>
          </p:cNvSpPr>
          <p:nvPr>
            <p:ph type="title" idx="4294967295"/>
          </p:nvPr>
        </p:nvSpPr>
        <p:spPr>
          <a:xfrm>
            <a:off x="1155700" y="527049"/>
            <a:ext cx="9194800" cy="990600"/>
          </a:xfrm>
          <a:noFill/>
        </p:spPr>
        <p:txBody>
          <a:bodyPr vert="horz" lIns="90488" tIns="44450" rIns="90488" bIns="44450" rtlCol="0" anchor="ctr" anchorCtr="1">
            <a:noAutofit/>
          </a:bodyPr>
          <a:lstStyle/>
          <a:p>
            <a:pPr eaLnBrk="1" hangingPunct="1"/>
            <a:r>
              <a:rPr lang="en-US" altLang="zh-CN" sz="3600" b="1" dirty="0">
                <a:solidFill>
                  <a:schemeClr val="accent1"/>
                </a:solidFill>
                <a:effectLst/>
                <a:latin typeface="Tahoma" pitchFamily="34" charset="0"/>
              </a:rPr>
              <a:t>8.2.2 </a:t>
            </a:r>
            <a:r>
              <a:rPr lang="zh-CN" altLang="en-US" sz="3600" b="1" dirty="0">
                <a:solidFill>
                  <a:schemeClr val="accent1"/>
                </a:solidFill>
                <a:effectLst/>
                <a:latin typeface="Tahoma" pitchFamily="34" charset="0"/>
              </a:rPr>
              <a:t>一个总体方差的检验</a:t>
            </a:r>
            <a:r>
              <a:rPr lang="en-US" altLang="zh-CN" sz="3600" b="1" dirty="0">
                <a:solidFill>
                  <a:schemeClr val="accent1"/>
                </a:solidFill>
                <a:effectLst/>
                <a:latin typeface="Tahoma" pitchFamily="34" charset="0"/>
              </a:rPr>
              <a:t>——</a:t>
            </a:r>
            <a:r>
              <a:rPr lang="zh-CN" altLang="en-US" sz="3600" b="1" dirty="0">
                <a:solidFill>
                  <a:schemeClr val="accent1"/>
                </a:solidFill>
                <a:effectLst/>
                <a:latin typeface="Tahoma" pitchFamily="34" charset="0"/>
              </a:rPr>
              <a:t>卡方检验</a:t>
            </a:r>
          </a:p>
        </p:txBody>
      </p:sp>
      <mc:AlternateContent xmlns:mc="http://schemas.openxmlformats.org/markup-compatibility/2006">
        <mc:Choice xmlns:a14="http://schemas.microsoft.com/office/drawing/2010/main" Requires="a14">
          <p:sp>
            <p:nvSpPr>
              <p:cNvPr id="182275" name="Rectangle 3"/>
              <p:cNvSpPr>
                <a:spLocks noGrp="1" noChangeArrowheads="1"/>
              </p:cNvSpPr>
              <p:nvPr>
                <p:ph type="body" sz="half" idx="4294967295"/>
              </p:nvPr>
            </p:nvSpPr>
            <p:spPr>
              <a:xfrm>
                <a:off x="2047876" y="1691202"/>
                <a:ext cx="3665538" cy="1905000"/>
              </a:xfrm>
              <a:noFill/>
            </p:spPr>
            <p:txBody>
              <a:bodyPr vert="horz" lIns="0" tIns="44450" rIns="0" bIns="44450" rtlCol="0">
                <a:normAutofit/>
              </a:bodyPr>
              <a:lstStyle/>
              <a:p>
                <a:pPr marL="0" indent="0">
                  <a:lnSpc>
                    <a:spcPct val="120000"/>
                  </a:lnSpc>
                  <a:spcBef>
                    <a:spcPct val="0"/>
                  </a:spcBef>
                  <a:buNone/>
                </a:pPr>
                <a:r>
                  <a:rPr lang="zh-CN" altLang="en-US" sz="2800" b="1" dirty="0"/>
                  <a:t>提出假设：</a:t>
                </a:r>
              </a:p>
              <a:p>
                <a:pPr marL="514350" lvl="1" indent="0">
                  <a:lnSpc>
                    <a:spcPct val="130000"/>
                  </a:lnSpc>
                  <a:spcBef>
                    <a:spcPct val="0"/>
                  </a:spcBef>
                  <a:buNone/>
                </a:pPr>
                <a:r>
                  <a:rPr lang="zh-CN" altLang="en-US" sz="2400" b="1" dirty="0"/>
                  <a:t> </a:t>
                </a:r>
                <a:r>
                  <a:rPr lang="en-US" altLang="zh-CN" b="1" i="1" dirty="0"/>
                  <a:t>H</a:t>
                </a:r>
                <a:r>
                  <a:rPr lang="en-US" altLang="zh-CN" b="1" i="1" baseline="-25000" dirty="0"/>
                  <a:t>0</a:t>
                </a:r>
                <a:r>
                  <a:rPr lang="en-US" altLang="zh-CN" b="1" dirty="0"/>
                  <a:t>:</a:t>
                </a:r>
                <a:r>
                  <a:rPr lang="en-US" altLang="zh-CN" b="1" i="1" dirty="0"/>
                  <a:t> </a:t>
                </a:r>
                <a14:m>
                  <m:oMath xmlns:m="http://schemas.openxmlformats.org/officeDocument/2006/math">
                    <m:sSup>
                      <m:sSupPr>
                        <m:ctrlPr>
                          <a:rPr lang="en-US" altLang="zh-CN" b="1" i="1" smtClean="0">
                            <a:latin typeface="Cambria Math" panose="02040503050406030204" pitchFamily="18" charset="0"/>
                          </a:rPr>
                        </m:ctrlPr>
                      </m:sSupPr>
                      <m:e>
                        <m:r>
                          <a:rPr lang="zh-CN" altLang="en-US" b="1" i="1" smtClean="0">
                            <a:latin typeface="Cambria Math" panose="02040503050406030204" pitchFamily="18" charset="0"/>
                          </a:rPr>
                          <m:t>𝝈</m:t>
                        </m:r>
                      </m:e>
                      <m:sup>
                        <m:r>
                          <a:rPr lang="en-US" altLang="zh-CN" b="1" i="1" smtClean="0">
                            <a:latin typeface="Cambria Math" panose="02040503050406030204" pitchFamily="18" charset="0"/>
                          </a:rPr>
                          <m:t>𝟐</m:t>
                        </m:r>
                      </m:sup>
                    </m:sSup>
                  </m:oMath>
                </a14:m>
                <a:r>
                  <a:rPr lang="en-US" altLang="zh-CN" b="1" i="1" dirty="0"/>
                  <a:t>=</a:t>
                </a:r>
                <a14:m>
                  <m:oMath xmlns:m="http://schemas.openxmlformats.org/officeDocument/2006/math">
                    <m:sSubSup>
                      <m:sSubSupPr>
                        <m:ctrlPr>
                          <a:rPr lang="en-US" altLang="zh-CN" b="1" i="1" dirty="0" smtClean="0">
                            <a:latin typeface="Cambria Math" panose="02040503050406030204" pitchFamily="18" charset="0"/>
                          </a:rPr>
                        </m:ctrlPr>
                      </m:sSubSupPr>
                      <m:e>
                        <m:r>
                          <a:rPr lang="zh-CN" altLang="en-US" b="1" i="1" dirty="0" smtClean="0">
                            <a:latin typeface="Cambria Math" panose="02040503050406030204" pitchFamily="18" charset="0"/>
                          </a:rPr>
                          <m:t>𝝈</m:t>
                        </m:r>
                      </m:e>
                      <m:sub>
                        <m:r>
                          <a:rPr lang="en-US" altLang="zh-CN" b="1" i="1" dirty="0" smtClean="0">
                            <a:latin typeface="Cambria Math" panose="02040503050406030204" pitchFamily="18" charset="0"/>
                          </a:rPr>
                          <m:t>𝟎</m:t>
                        </m:r>
                      </m:sub>
                      <m:sup>
                        <m:r>
                          <a:rPr lang="en-US" altLang="zh-CN" b="1" i="1" dirty="0" smtClean="0">
                            <a:latin typeface="Cambria Math" panose="02040503050406030204" pitchFamily="18" charset="0"/>
                          </a:rPr>
                          <m:t>𝟐</m:t>
                        </m:r>
                      </m:sup>
                    </m:sSubSup>
                  </m:oMath>
                </a14:m>
                <a:endParaRPr lang="en-US" altLang="zh-CN" sz="2400" b="1" i="1" dirty="0"/>
              </a:p>
              <a:p>
                <a:pPr marL="514350" lvl="1" indent="0">
                  <a:lnSpc>
                    <a:spcPct val="130000"/>
                  </a:lnSpc>
                  <a:spcBef>
                    <a:spcPct val="0"/>
                  </a:spcBef>
                  <a:buNone/>
                </a:pPr>
                <a:r>
                  <a:rPr lang="en-US" altLang="zh-CN" sz="2400" b="1" dirty="0">
                    <a:solidFill>
                      <a:schemeClr val="tx1"/>
                    </a:solidFill>
                  </a:rPr>
                  <a:t>(</a:t>
                </a:r>
                <a14:m>
                  <m:oMath xmlns:m="http://schemas.openxmlformats.org/officeDocument/2006/math">
                    <m:sSubSup>
                      <m:sSubSupPr>
                        <m:ctrlPr>
                          <a:rPr lang="en-US" altLang="zh-CN" sz="2400" b="1" i="1" dirty="0">
                            <a:latin typeface="Cambria Math" panose="02040503050406030204" pitchFamily="18" charset="0"/>
                          </a:rPr>
                        </m:ctrlPr>
                      </m:sSubSupPr>
                      <m:e>
                        <m:r>
                          <a:rPr lang="zh-CN" altLang="en-US" sz="2400" b="1" i="1" dirty="0">
                            <a:latin typeface="Cambria Math" panose="02040503050406030204" pitchFamily="18" charset="0"/>
                          </a:rPr>
                          <m:t>𝝈</m:t>
                        </m:r>
                      </m:e>
                      <m:sub>
                        <m:r>
                          <a:rPr lang="en-US" altLang="zh-CN" sz="2400" b="1" i="1" dirty="0">
                            <a:latin typeface="Cambria Math" panose="02040503050406030204" pitchFamily="18" charset="0"/>
                          </a:rPr>
                          <m:t>𝟎</m:t>
                        </m:r>
                      </m:sub>
                      <m:sup>
                        <m:r>
                          <a:rPr lang="en-US" altLang="zh-CN" sz="2400" b="1" i="1" dirty="0">
                            <a:latin typeface="Cambria Math" panose="02040503050406030204" pitchFamily="18" charset="0"/>
                          </a:rPr>
                          <m:t>𝟐</m:t>
                        </m:r>
                      </m:sup>
                    </m:sSubSup>
                  </m:oMath>
                </a14:m>
                <a:r>
                  <a:rPr lang="zh-CN" altLang="en-US" sz="2400" b="1" dirty="0">
                    <a:solidFill>
                      <a:schemeClr val="tx1"/>
                    </a:solidFill>
                  </a:rPr>
                  <a:t> 为一已知数）</a:t>
                </a:r>
                <a:endParaRPr lang="zh-CN" altLang="en-US" sz="2400" b="1" dirty="0"/>
              </a:p>
            </p:txBody>
          </p:sp>
        </mc:Choice>
        <mc:Fallback>
          <p:sp>
            <p:nvSpPr>
              <p:cNvPr id="182275" name="Rectangle 3"/>
              <p:cNvSpPr>
                <a:spLocks noGrp="1" noRot="1" noChangeAspect="1" noMove="1" noResize="1" noEditPoints="1" noAdjustHandles="1" noChangeArrowheads="1" noChangeShapeType="1" noTextEdit="1"/>
              </p:cNvSpPr>
              <p:nvPr>
                <p:ph type="body" sz="half" idx="4294967295"/>
              </p:nvPr>
            </p:nvSpPr>
            <p:spPr>
              <a:xfrm>
                <a:off x="2047876" y="1691202"/>
                <a:ext cx="3665538" cy="1905000"/>
              </a:xfrm>
              <a:blipFill>
                <a:blip r:embed="rId3"/>
                <a:stretch>
                  <a:fillRect l="-5990" t="-958"/>
                </a:stretch>
              </a:blipFill>
            </p:spPr>
            <p:txBody>
              <a:bodyPr/>
              <a:lstStyle/>
              <a:p>
                <a:r>
                  <a:rPr lang="zh-CN" altLang="en-US">
                    <a:noFill/>
                  </a:rPr>
                  <a:t> </a:t>
                </a:r>
              </a:p>
            </p:txBody>
          </p:sp>
        </mc:Fallback>
      </mc:AlternateContent>
      <p:graphicFrame>
        <p:nvGraphicFramePr>
          <p:cNvPr id="182278" name="Object 6"/>
          <p:cNvGraphicFramePr>
            <a:graphicFrameLocks noGrp="1" noChangeAspect="1"/>
          </p:cNvGraphicFramePr>
          <p:nvPr>
            <p:ph sz="half" idx="4294967295"/>
            <p:extLst>
              <p:ext uri="{D42A27DB-BD31-4B8C-83A1-F6EECF244321}">
                <p14:modId xmlns:p14="http://schemas.microsoft.com/office/powerpoint/2010/main" val="131252383"/>
              </p:ext>
            </p:extLst>
          </p:nvPr>
        </p:nvGraphicFramePr>
        <p:xfrm>
          <a:off x="5189539" y="1525588"/>
          <a:ext cx="2857500" cy="2071688"/>
        </p:xfrm>
        <a:graphic>
          <a:graphicData uri="http://schemas.openxmlformats.org/presentationml/2006/ole">
            <mc:AlternateContent xmlns:mc="http://schemas.openxmlformats.org/markup-compatibility/2006">
              <mc:Choice xmlns:v="urn:schemas-microsoft-com:vml" Requires="v">
                <p:oleObj name="公式" r:id="rId4" imgW="838080" imgH="711000" progId="Equation.3">
                  <p:embed/>
                </p:oleObj>
              </mc:Choice>
              <mc:Fallback>
                <p:oleObj name="公式" r:id="rId4" imgW="838080" imgH="711000" progId="Equation.3">
                  <p:embed/>
                  <p:pic>
                    <p:nvPicPr>
                      <p:cNvPr id="182278"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89539" y="1525588"/>
                        <a:ext cx="2857500" cy="2071688"/>
                      </a:xfrm>
                      <a:prstGeom prst="rect">
                        <a:avLst/>
                      </a:prstGeom>
                      <a:noFill/>
                      <a:extLst>
                        <a:ext uri="{909E8E84-426E-40DD-AFC4-6F175D3DCCD1}">
                          <a14:hiddenFill xmlns:a14="http://schemas.microsoft.com/office/drawing/2010/main">
                            <a:solidFill>
                              <a:srgbClr val="FFFF66"/>
                            </a:solidFill>
                          </a14:hiddenFill>
                        </a:ext>
                      </a:extLst>
                    </p:spPr>
                  </p:pic>
                </p:oleObj>
              </mc:Fallback>
            </mc:AlternateContent>
          </a:graphicData>
        </a:graphic>
      </p:graphicFrame>
      <p:sp>
        <p:nvSpPr>
          <p:cNvPr id="182276" name="Text Box 4"/>
          <p:cNvSpPr txBox="1">
            <a:spLocks noChangeArrowheads="1"/>
          </p:cNvSpPr>
          <p:nvPr/>
        </p:nvSpPr>
        <p:spPr bwMode="auto">
          <a:xfrm>
            <a:off x="3886200" y="4648200"/>
            <a:ext cx="2133600" cy="457200"/>
          </a:xfrm>
          <a:prstGeom prst="rect">
            <a:avLst/>
          </a:prstGeom>
          <a:noFill/>
          <a:ln w="12700">
            <a:noFill/>
            <a:miter lim="800000"/>
            <a:headEnd/>
            <a:tailEnd/>
          </a:ln>
          <a:effectLst/>
        </p:spPr>
        <p:txBody>
          <a:bodyPr>
            <a:spAutoFit/>
          </a:bodyPr>
          <a:lstStyle/>
          <a:p>
            <a:pPr eaLnBrk="0" hangingPunct="0">
              <a:spcBef>
                <a:spcPct val="50000"/>
              </a:spcBef>
              <a:defRPr/>
            </a:pPr>
            <a:endParaRPr kumimoji="1" lang="zh-CN" altLang="zh-CN" sz="2400">
              <a:effectLst>
                <a:outerShdw blurRad="38100" dist="38100" dir="2700000" algn="tl">
                  <a:srgbClr val="C0C0C0"/>
                </a:outerShdw>
              </a:effectLst>
              <a:latin typeface="Arial" charset="0"/>
              <a:ea typeface="宋体" charset="-122"/>
            </a:endParaRPr>
          </a:p>
        </p:txBody>
      </p:sp>
      <p:graphicFrame>
        <p:nvGraphicFramePr>
          <p:cNvPr id="182277" name="Object 5">
            <a:hlinkClick r:id="" action="ppaction://ole?verb=0"/>
          </p:cNvPr>
          <p:cNvGraphicFramePr>
            <a:graphicFrameLocks/>
          </p:cNvGraphicFramePr>
          <p:nvPr>
            <p:extLst>
              <p:ext uri="{D42A27DB-BD31-4B8C-83A1-F6EECF244321}">
                <p14:modId xmlns:p14="http://schemas.microsoft.com/office/powerpoint/2010/main" val="1322901007"/>
              </p:ext>
            </p:extLst>
          </p:nvPr>
        </p:nvGraphicFramePr>
        <p:xfrm>
          <a:off x="4222750" y="3807856"/>
          <a:ext cx="5130800" cy="1373187"/>
        </p:xfrm>
        <a:graphic>
          <a:graphicData uri="http://schemas.openxmlformats.org/presentationml/2006/ole">
            <mc:AlternateContent xmlns:mc="http://schemas.openxmlformats.org/markup-compatibility/2006">
              <mc:Choice xmlns:v="urn:schemas-microsoft-com:vml" Requires="v">
                <p:oleObj name="公式" r:id="rId6" imgW="2070000" imgH="469800" progId="Equation.3">
                  <p:embed/>
                </p:oleObj>
              </mc:Choice>
              <mc:Fallback>
                <p:oleObj name="公式" r:id="rId6" imgW="2070000" imgH="469800" progId="Equation.3">
                  <p:embed/>
                  <p:pic>
                    <p:nvPicPr>
                      <p:cNvPr id="182277" name="Object 5">
                        <a:hlinkClick r:id="" action="ppaction://ole?verb=0"/>
                      </p:cNvPr>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222750" y="3807856"/>
                        <a:ext cx="5130800" cy="1373187"/>
                      </a:xfrm>
                      <a:prstGeom prst="rect">
                        <a:avLst/>
                      </a:prstGeom>
                      <a:noFill/>
                      <a:ln>
                        <a:noFill/>
                      </a:ln>
                      <a:effectLst>
                        <a:outerShdw dist="1796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Lst>
                    </p:spPr>
                  </p:pic>
                </p:oleObj>
              </mc:Fallback>
            </mc:AlternateContent>
          </a:graphicData>
        </a:graphic>
      </p:graphicFrame>
      <p:sp>
        <p:nvSpPr>
          <p:cNvPr id="20488" name="Text Box 8"/>
          <p:cNvSpPr txBox="1">
            <a:spLocks noChangeArrowheads="1"/>
          </p:cNvSpPr>
          <p:nvPr/>
        </p:nvSpPr>
        <p:spPr bwMode="auto">
          <a:xfrm>
            <a:off x="1878014" y="3674546"/>
            <a:ext cx="2879725" cy="605550"/>
          </a:xfrm>
          <a:prstGeom prst="rect">
            <a:avLst/>
          </a:prstGeom>
          <a:noFill/>
          <a:ln w="9525">
            <a:noFill/>
            <a:miter lim="800000"/>
            <a:headEnd/>
            <a:tailEnd/>
          </a:ln>
        </p:spPr>
        <p:txBody>
          <a:bodyPr>
            <a:spAutoFit/>
          </a:bodyPr>
          <a:lstStyle/>
          <a:p>
            <a:pPr>
              <a:lnSpc>
                <a:spcPct val="120000"/>
              </a:lnSpc>
              <a:buSzPct val="90000"/>
            </a:pPr>
            <a:r>
              <a:rPr lang="zh-CN" altLang="en-US" sz="3000" b="1" dirty="0">
                <a:solidFill>
                  <a:srgbClr val="FF33CC"/>
                </a:solidFill>
                <a:latin typeface="Tahoma" pitchFamily="34" charset="0"/>
              </a:rPr>
              <a:t>检验统计量</a:t>
            </a:r>
            <a:r>
              <a:rPr lang="en-US" altLang="zh-CN" sz="3000" b="1" dirty="0">
                <a:solidFill>
                  <a:srgbClr val="FF33CC"/>
                </a:solidFill>
                <a:latin typeface="Tahoma" pitchFamily="34" charset="0"/>
              </a:rPr>
              <a:t>:</a:t>
            </a:r>
            <a:endParaRPr lang="en-US" altLang="zh-CN" sz="3000" dirty="0"/>
          </a:p>
        </p:txBody>
      </p:sp>
      <p:sp>
        <p:nvSpPr>
          <p:cNvPr id="214020" name="Rectangle 1028"/>
          <p:cNvSpPr>
            <a:spLocks noChangeArrowheads="1"/>
          </p:cNvSpPr>
          <p:nvPr/>
        </p:nvSpPr>
        <p:spPr bwMode="auto">
          <a:xfrm>
            <a:off x="1735138" y="5313837"/>
            <a:ext cx="7848600" cy="952500"/>
          </a:xfrm>
          <a:prstGeom prst="rect">
            <a:avLst/>
          </a:prstGeom>
          <a:noFill/>
          <a:ln w="12700">
            <a:noFill/>
            <a:miter lim="800000"/>
            <a:headEnd/>
            <a:tailEnd/>
          </a:ln>
        </p:spPr>
        <p:txBody>
          <a:bodyPr lIns="0" tIns="44450" rIns="0" bIns="44450"/>
          <a:lstStyle/>
          <a:p>
            <a:pPr marL="571500" indent="-571500">
              <a:lnSpc>
                <a:spcPct val="120000"/>
              </a:lnSpc>
              <a:buSzPct val="90000"/>
            </a:pPr>
            <a:r>
              <a:rPr lang="zh-CN" altLang="en-US" sz="2400" b="1" dirty="0">
                <a:solidFill>
                  <a:srgbClr val="000000"/>
                </a:solidFill>
                <a:latin typeface="Tahoma" pitchFamily="34" charset="0"/>
              </a:rPr>
              <a:t>利用服从</a:t>
            </a:r>
            <a:r>
              <a:rPr lang="zh-CN" altLang="en-US" sz="2400" b="1" dirty="0">
                <a:solidFill>
                  <a:srgbClr val="000000"/>
                </a:solidFill>
                <a:latin typeface="Symbol" pitchFamily="18" charset="2"/>
              </a:rPr>
              <a:t></a:t>
            </a:r>
            <a:r>
              <a:rPr lang="en-US" altLang="zh-CN" sz="2400" b="1" baseline="30000" dirty="0">
                <a:solidFill>
                  <a:srgbClr val="000000"/>
                </a:solidFill>
                <a:latin typeface="Tahoma" pitchFamily="34" charset="0"/>
              </a:rPr>
              <a:t>2</a:t>
            </a:r>
            <a:r>
              <a:rPr lang="zh-CN" altLang="en-US" sz="2400" b="1" dirty="0">
                <a:solidFill>
                  <a:srgbClr val="000000"/>
                </a:solidFill>
                <a:latin typeface="Tahoma" pitchFamily="34" charset="0"/>
              </a:rPr>
              <a:t>分布的统计量来进行的检验</a:t>
            </a:r>
            <a:r>
              <a:rPr lang="en-US" altLang="zh-CN" sz="2400" b="1" dirty="0">
                <a:solidFill>
                  <a:srgbClr val="000000"/>
                </a:solidFill>
              </a:rPr>
              <a:t>—</a:t>
            </a:r>
            <a:r>
              <a:rPr lang="zh-CN" altLang="en-US" sz="2800" b="1" dirty="0">
                <a:solidFill>
                  <a:srgbClr val="FF33CC"/>
                </a:solidFill>
                <a:latin typeface="Tahoma" pitchFamily="34" charset="0"/>
              </a:rPr>
              <a:t>卡方 </a:t>
            </a:r>
            <a:r>
              <a:rPr lang="en-US" altLang="zh-CN" sz="2800" b="1" dirty="0">
                <a:solidFill>
                  <a:srgbClr val="FF33CC"/>
                </a:solidFill>
                <a:latin typeface="Tahoma" pitchFamily="34" charset="0"/>
              </a:rPr>
              <a:t>(</a:t>
            </a:r>
            <a:r>
              <a:rPr lang="en-US" altLang="zh-CN" sz="2800" b="1" dirty="0">
                <a:solidFill>
                  <a:srgbClr val="FF33CC"/>
                </a:solidFill>
                <a:latin typeface="Symbol" pitchFamily="18" charset="2"/>
              </a:rPr>
              <a:t></a:t>
            </a:r>
            <a:r>
              <a:rPr lang="en-US" altLang="zh-CN" sz="2800" b="1" baseline="30000" dirty="0">
                <a:solidFill>
                  <a:srgbClr val="FF33CC"/>
                </a:solidFill>
                <a:latin typeface="Tahoma" pitchFamily="34" charset="0"/>
              </a:rPr>
              <a:t>2</a:t>
            </a:r>
            <a:r>
              <a:rPr lang="en-US" altLang="zh-CN" sz="2800" b="1" dirty="0">
                <a:solidFill>
                  <a:srgbClr val="FF33CC"/>
                </a:solidFill>
                <a:latin typeface="Tahoma" pitchFamily="34" charset="0"/>
              </a:rPr>
              <a:t>) </a:t>
            </a:r>
            <a:r>
              <a:rPr lang="zh-CN" altLang="en-US" sz="2800" b="1" dirty="0">
                <a:solidFill>
                  <a:srgbClr val="FF33CC"/>
                </a:solidFill>
                <a:latin typeface="Tahoma" pitchFamily="34" charset="0"/>
              </a:rPr>
              <a:t>检验</a:t>
            </a:r>
            <a:r>
              <a:rPr lang="zh-CN" altLang="en-US" sz="2400" b="1" dirty="0">
                <a:solidFill>
                  <a:srgbClr val="FF33CC"/>
                </a:solidFill>
                <a:latin typeface="Tahoma" pitchFamily="34" charset="0"/>
              </a:rPr>
              <a:t>；</a:t>
            </a:r>
          </a:p>
        </p:txBody>
      </p:sp>
    </p:spTree>
    <p:extLst>
      <p:ext uri="{BB962C8B-B14F-4D97-AF65-F5344CB8AC3E}">
        <p14:creationId xmlns:p14="http://schemas.microsoft.com/office/powerpoint/2010/main" val="5146072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afterEffect">
                                  <p:stCondLst>
                                    <p:cond delay="0"/>
                                  </p:stCondLst>
                                  <p:childTnLst>
                                    <p:set>
                                      <p:cBhvr>
                                        <p:cTn id="6" dur="1" fill="hold">
                                          <p:stCondLst>
                                            <p:cond delay="0"/>
                                          </p:stCondLst>
                                        </p:cTn>
                                        <p:tgtEl>
                                          <p:spTgt spid="182278"/>
                                        </p:tgtEl>
                                        <p:attrNameLst>
                                          <p:attrName>style.visibility</p:attrName>
                                        </p:attrNameLst>
                                      </p:cBhvr>
                                      <p:to>
                                        <p:strVal val="visible"/>
                                      </p:to>
                                    </p:set>
                                    <p:anim calcmode="lin" valueType="num">
                                      <p:cBhvr additive="base">
                                        <p:cTn id="7" dur="1000" fill="hold"/>
                                        <p:tgtEl>
                                          <p:spTgt spid="182278"/>
                                        </p:tgtEl>
                                        <p:attrNameLst>
                                          <p:attrName>ppt_x</p:attrName>
                                        </p:attrNameLst>
                                      </p:cBhvr>
                                      <p:tavLst>
                                        <p:tav tm="0">
                                          <p:val>
                                            <p:strVal val="1+#ppt_w/2"/>
                                          </p:val>
                                        </p:tav>
                                        <p:tav tm="100000">
                                          <p:val>
                                            <p:strVal val="#ppt_x"/>
                                          </p:val>
                                        </p:tav>
                                      </p:tavLst>
                                    </p:anim>
                                    <p:anim calcmode="lin" valueType="num">
                                      <p:cBhvr additive="base">
                                        <p:cTn id="8" dur="1000" fill="hold"/>
                                        <p:tgtEl>
                                          <p:spTgt spid="182278"/>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nodeType="clickEffect">
                                  <p:stCondLst>
                                    <p:cond delay="0"/>
                                  </p:stCondLst>
                                  <p:childTnLst>
                                    <p:set>
                                      <p:cBhvr>
                                        <p:cTn id="12" dur="1" fill="hold">
                                          <p:stCondLst>
                                            <p:cond delay="0"/>
                                          </p:stCondLst>
                                        </p:cTn>
                                        <p:tgtEl>
                                          <p:spTgt spid="182277"/>
                                        </p:tgtEl>
                                        <p:attrNameLst>
                                          <p:attrName>style.visibility</p:attrName>
                                        </p:attrNameLst>
                                      </p:cBhvr>
                                      <p:to>
                                        <p:strVal val="visible"/>
                                      </p:to>
                                    </p:set>
                                    <p:animEffect transition="in" filter="wipe(left)">
                                      <p:cBhvr>
                                        <p:cTn id="13" dur="500"/>
                                        <p:tgtEl>
                                          <p:spTgt spid="182277"/>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214020">
                                            <p:txEl>
                                              <p:pRg st="0" end="0"/>
                                            </p:txEl>
                                          </p:spTgt>
                                        </p:tgtEl>
                                        <p:attrNameLst>
                                          <p:attrName>style.visibility</p:attrName>
                                        </p:attrNameLst>
                                      </p:cBhvr>
                                      <p:to>
                                        <p:strVal val="visible"/>
                                      </p:to>
                                    </p:set>
                                    <p:animEffect transition="in" filter="wipe(left)">
                                      <p:cBhvr>
                                        <p:cTn id="18" dur="500"/>
                                        <p:tgtEl>
                                          <p:spTgt spid="21402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4020" grpId="0" build="p" autoUpdateAnimBg="0"/>
    </p:bldLst>
  </p:timing>
</p:sld>
</file>

<file path=ppt/slides/slide5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512" name="灯片编号占位符 6"/>
          <p:cNvSpPr>
            <a:spLocks noGrp="1"/>
          </p:cNvSpPr>
          <p:nvPr>
            <p:ph type="sldNum" sz="quarter" idx="12"/>
          </p:nvPr>
        </p:nvSpPr>
        <p:spPr>
          <a:noFill/>
        </p:spPr>
        <p:txBody>
          <a:bodyPr/>
          <a:lstStyle/>
          <a:p>
            <a:r>
              <a:rPr lang="en-US" altLang="zh-CN">
                <a:ea typeface="宋体" pitchFamily="2" charset="-122"/>
              </a:rPr>
              <a:t>8--</a:t>
            </a:r>
            <a:fld id="{579C16F8-A329-4174-8400-21707480C304}" type="slidenum">
              <a:rPr lang="en-US" altLang="zh-CN" smtClean="0">
                <a:ea typeface="宋体" pitchFamily="2" charset="-122"/>
              </a:rPr>
              <a:pPr/>
              <a:t>54</a:t>
            </a:fld>
            <a:endParaRPr lang="en-US" altLang="zh-CN">
              <a:ea typeface="宋体" pitchFamily="2" charset="-122"/>
            </a:endParaRPr>
          </a:p>
        </p:txBody>
      </p:sp>
      <p:sp>
        <p:nvSpPr>
          <p:cNvPr id="21513" name="Rectangle 2"/>
          <p:cNvSpPr>
            <a:spLocks noGrp="1" noChangeArrowheads="1"/>
          </p:cNvSpPr>
          <p:nvPr>
            <p:ph type="title"/>
          </p:nvPr>
        </p:nvSpPr>
        <p:spPr>
          <a:noFill/>
        </p:spPr>
        <p:txBody>
          <a:bodyPr vert="horz" lIns="90488" tIns="44450" rIns="90488" bIns="44450" rtlCol="0" anchor="ctr" anchorCtr="1">
            <a:normAutofit/>
          </a:bodyPr>
          <a:lstStyle/>
          <a:p>
            <a:pPr eaLnBrk="1" hangingPunct="1"/>
            <a:r>
              <a:rPr lang="zh-CN" altLang="en-US"/>
              <a:t>一个正态总体方差的</a:t>
            </a:r>
            <a:r>
              <a:rPr lang="zh-CN" altLang="en-US">
                <a:latin typeface="Symbol" pitchFamily="18" charset="2"/>
              </a:rPr>
              <a:t></a:t>
            </a:r>
            <a:r>
              <a:rPr lang="en-US" altLang="zh-CN" baseline="30000"/>
              <a:t>2</a:t>
            </a:r>
            <a:r>
              <a:rPr lang="zh-CN" altLang="en-US"/>
              <a:t>检验（续）</a:t>
            </a:r>
          </a:p>
        </p:txBody>
      </p:sp>
      <p:sp>
        <p:nvSpPr>
          <p:cNvPr id="475140" name="Text Box 4"/>
          <p:cNvSpPr txBox="1">
            <a:spLocks noChangeArrowheads="1"/>
          </p:cNvSpPr>
          <p:nvPr/>
        </p:nvSpPr>
        <p:spPr bwMode="auto">
          <a:xfrm>
            <a:off x="3886200" y="4648200"/>
            <a:ext cx="2133600" cy="457200"/>
          </a:xfrm>
          <a:prstGeom prst="rect">
            <a:avLst/>
          </a:prstGeom>
          <a:noFill/>
          <a:ln w="12700">
            <a:noFill/>
            <a:miter lim="800000"/>
            <a:headEnd/>
            <a:tailEnd/>
          </a:ln>
          <a:effectLst/>
        </p:spPr>
        <p:txBody>
          <a:bodyPr>
            <a:spAutoFit/>
          </a:bodyPr>
          <a:lstStyle/>
          <a:p>
            <a:pPr eaLnBrk="0" hangingPunct="0">
              <a:spcBef>
                <a:spcPct val="50000"/>
              </a:spcBef>
              <a:defRPr/>
            </a:pPr>
            <a:endParaRPr kumimoji="1" lang="zh-CN" altLang="zh-CN" sz="2400">
              <a:effectLst>
                <a:outerShdw blurRad="38100" dist="38100" dir="2700000" algn="tl">
                  <a:srgbClr val="C0C0C0"/>
                </a:outerShdw>
              </a:effectLst>
              <a:latin typeface="Arial" charset="0"/>
              <a:ea typeface="宋体" charset="-122"/>
            </a:endParaRPr>
          </a:p>
        </p:txBody>
      </p:sp>
      <p:sp>
        <p:nvSpPr>
          <p:cNvPr id="21515" name="Rectangle 8"/>
          <p:cNvSpPr>
            <a:spLocks noChangeArrowheads="1"/>
          </p:cNvSpPr>
          <p:nvPr/>
        </p:nvSpPr>
        <p:spPr bwMode="auto">
          <a:xfrm>
            <a:off x="2063751" y="1125538"/>
            <a:ext cx="7991475" cy="1884362"/>
          </a:xfrm>
          <a:prstGeom prst="rect">
            <a:avLst/>
          </a:prstGeom>
          <a:noFill/>
          <a:ln w="9525">
            <a:noFill/>
            <a:miter lim="800000"/>
            <a:headEnd/>
            <a:tailEnd/>
          </a:ln>
        </p:spPr>
        <p:txBody>
          <a:bodyPr>
            <a:spAutoFit/>
          </a:bodyPr>
          <a:lstStyle/>
          <a:p>
            <a:pPr>
              <a:lnSpc>
                <a:spcPct val="125000"/>
              </a:lnSpc>
              <a:spcBef>
                <a:spcPct val="45000"/>
              </a:spcBef>
              <a:buSzPct val="90000"/>
              <a:buFontTx/>
              <a:buBlip>
                <a:blip r:embed="rId3"/>
              </a:buBlip>
            </a:pPr>
            <a:r>
              <a:rPr kumimoji="1" lang="zh-CN" altLang="en-US" sz="2800" b="1" dirty="0"/>
              <a:t>对给定的显著性水平</a:t>
            </a:r>
            <a:r>
              <a:rPr kumimoji="1" lang="zh-CN" altLang="en-US" sz="2800" b="1" dirty="0">
                <a:sym typeface="Symbol" pitchFamily="18" charset="2"/>
              </a:rPr>
              <a:t></a:t>
            </a:r>
            <a:r>
              <a:rPr kumimoji="1" lang="zh-CN" altLang="en-US" sz="2800" b="1" dirty="0"/>
              <a:t>，可查得 </a:t>
            </a:r>
            <a:r>
              <a:rPr lang="zh-CN" altLang="en-US" sz="2800" b="1" dirty="0">
                <a:solidFill>
                  <a:srgbClr val="CC0099"/>
                </a:solidFill>
                <a:latin typeface="Symbol" pitchFamily="18" charset="2"/>
              </a:rPr>
              <a:t></a:t>
            </a:r>
            <a:r>
              <a:rPr lang="en-US" altLang="zh-CN" sz="2800" b="1" baseline="30000" dirty="0">
                <a:solidFill>
                  <a:srgbClr val="CC0099"/>
                </a:solidFill>
                <a:latin typeface="Tahoma" pitchFamily="34" charset="0"/>
              </a:rPr>
              <a:t>2</a:t>
            </a:r>
            <a:r>
              <a:rPr kumimoji="1" lang="zh-CN" altLang="en-US" sz="2800" b="1" dirty="0">
                <a:solidFill>
                  <a:srgbClr val="CC0099"/>
                </a:solidFill>
                <a:sym typeface="Symbol" pitchFamily="18" charset="2"/>
              </a:rPr>
              <a:t>分布表</a:t>
            </a:r>
            <a:r>
              <a:rPr kumimoji="1" lang="zh-CN" altLang="en-US" sz="2800" b="1" dirty="0"/>
              <a:t>中自由度为（</a:t>
            </a:r>
            <a:r>
              <a:rPr kumimoji="1" lang="en-US" altLang="zh-CN" sz="2800" b="1" dirty="0"/>
              <a:t>n-1)</a:t>
            </a:r>
            <a:r>
              <a:rPr kumimoji="1" lang="zh-CN" altLang="en-US" sz="2800" b="1" dirty="0"/>
              <a:t>所对应的</a:t>
            </a:r>
            <a:r>
              <a:rPr kumimoji="1" lang="zh-CN" altLang="en-US" sz="2800" b="1" dirty="0">
                <a:solidFill>
                  <a:srgbClr val="FF33CC"/>
                </a:solidFill>
              </a:rPr>
              <a:t>临界值。</a:t>
            </a:r>
          </a:p>
          <a:p>
            <a:pPr lvl="1">
              <a:lnSpc>
                <a:spcPct val="125000"/>
              </a:lnSpc>
              <a:spcBef>
                <a:spcPct val="45000"/>
              </a:spcBef>
              <a:buSzPct val="90000"/>
              <a:buFontTx/>
              <a:buBlip>
                <a:blip r:embed="rId3"/>
              </a:buBlip>
            </a:pPr>
            <a:endParaRPr lang="en-US" altLang="zh-CN" sz="2800" b="1" dirty="0">
              <a:solidFill>
                <a:srgbClr val="000000"/>
              </a:solidFill>
              <a:sym typeface="Symbol" pitchFamily="18" charset="2"/>
            </a:endParaRPr>
          </a:p>
        </p:txBody>
      </p:sp>
      <p:sp>
        <p:nvSpPr>
          <p:cNvPr id="21516" name="Rectangle 12"/>
          <p:cNvSpPr>
            <a:spLocks noChangeArrowheads="1"/>
          </p:cNvSpPr>
          <p:nvPr/>
        </p:nvSpPr>
        <p:spPr bwMode="auto">
          <a:xfrm>
            <a:off x="1524001" y="-184666"/>
            <a:ext cx="184731" cy="369332"/>
          </a:xfrm>
          <a:prstGeom prst="rect">
            <a:avLst/>
          </a:prstGeom>
          <a:noFill/>
          <a:ln w="9525">
            <a:noFill/>
            <a:miter lim="800000"/>
            <a:headEnd/>
            <a:tailEnd/>
          </a:ln>
        </p:spPr>
        <p:txBody>
          <a:bodyPr wrap="none" anchor="ctr">
            <a:spAutoFit/>
          </a:bodyPr>
          <a:lstStyle/>
          <a:p>
            <a:endParaRPr lang="zh-CN" altLang="en-US"/>
          </a:p>
        </p:txBody>
      </p:sp>
      <p:sp>
        <p:nvSpPr>
          <p:cNvPr id="475151" name="Rectangle 15"/>
          <p:cNvSpPr>
            <a:spLocks noGrp="1" noChangeArrowheads="1"/>
          </p:cNvSpPr>
          <p:nvPr>
            <p:ph type="body" sz="half" idx="1"/>
          </p:nvPr>
        </p:nvSpPr>
        <p:spPr>
          <a:xfrm>
            <a:off x="1524000" y="2349500"/>
            <a:ext cx="7164388" cy="4248150"/>
          </a:xfrm>
          <a:noFill/>
        </p:spPr>
        <p:txBody>
          <a:bodyPr vert="horz" lIns="0" tIns="44450" rIns="0" bIns="44450" rtlCol="0">
            <a:normAutofit/>
          </a:bodyPr>
          <a:lstStyle/>
          <a:p>
            <a:pPr marL="971550" lvl="1">
              <a:lnSpc>
                <a:spcPct val="128000"/>
              </a:lnSpc>
              <a:spcBef>
                <a:spcPts val="1200"/>
              </a:spcBef>
            </a:pPr>
            <a:r>
              <a:rPr lang="zh-CN" altLang="en-US" dirty="0">
                <a:sym typeface="Symbol" pitchFamily="18" charset="2"/>
              </a:rPr>
              <a:t>左侧检验，临界值为</a:t>
            </a:r>
          </a:p>
          <a:p>
            <a:pPr marL="1314450" lvl="2">
              <a:lnSpc>
                <a:spcPct val="128000"/>
              </a:lnSpc>
              <a:spcBef>
                <a:spcPts val="1200"/>
              </a:spcBef>
            </a:pPr>
            <a:endParaRPr lang="zh-CN" altLang="en-US" dirty="0">
              <a:solidFill>
                <a:srgbClr val="000000"/>
              </a:solidFill>
              <a:sym typeface="Symbol" pitchFamily="18" charset="2"/>
            </a:endParaRPr>
          </a:p>
          <a:p>
            <a:pPr marL="971550" lvl="1">
              <a:lnSpc>
                <a:spcPct val="128000"/>
              </a:lnSpc>
              <a:spcBef>
                <a:spcPts val="1200"/>
              </a:spcBef>
            </a:pPr>
            <a:r>
              <a:rPr lang="zh-CN" altLang="en-US" dirty="0">
                <a:sym typeface="Symbol" pitchFamily="18" charset="2"/>
              </a:rPr>
              <a:t>右侧检验，临界值为</a:t>
            </a:r>
          </a:p>
          <a:p>
            <a:pPr marL="971550" lvl="1">
              <a:lnSpc>
                <a:spcPct val="128000"/>
              </a:lnSpc>
              <a:spcBef>
                <a:spcPts val="1200"/>
              </a:spcBef>
            </a:pPr>
            <a:endParaRPr lang="zh-CN" altLang="en-US" dirty="0">
              <a:sym typeface="Symbol" pitchFamily="18" charset="2"/>
            </a:endParaRPr>
          </a:p>
          <a:p>
            <a:pPr marL="971550" lvl="1">
              <a:lnSpc>
                <a:spcPct val="128000"/>
              </a:lnSpc>
              <a:spcBef>
                <a:spcPts val="1200"/>
              </a:spcBef>
            </a:pPr>
            <a:r>
              <a:rPr lang="zh-CN" altLang="en-US" dirty="0">
                <a:sym typeface="Symbol" pitchFamily="18" charset="2"/>
              </a:rPr>
              <a:t>双侧检验，临界值为                   和</a:t>
            </a:r>
          </a:p>
          <a:p>
            <a:pPr marL="857250" lvl="2" indent="0">
              <a:lnSpc>
                <a:spcPct val="128000"/>
              </a:lnSpc>
              <a:spcBef>
                <a:spcPts val="1200"/>
              </a:spcBef>
              <a:buNone/>
            </a:pPr>
            <a:r>
              <a:rPr lang="en-US" altLang="zh-CN" i="1" dirty="0">
                <a:solidFill>
                  <a:srgbClr val="000000"/>
                </a:solidFill>
                <a:latin typeface="Times New Roman" pitchFamily="18" charset="0"/>
                <a:sym typeface="Symbol" pitchFamily="18" charset="2"/>
              </a:rPr>
              <a:t>P</a:t>
            </a:r>
            <a:r>
              <a:rPr lang="zh-CN" altLang="en-US" dirty="0">
                <a:solidFill>
                  <a:srgbClr val="000000"/>
                </a:solidFill>
                <a:sym typeface="Symbol" pitchFamily="18" charset="2"/>
              </a:rPr>
              <a:t>值</a:t>
            </a:r>
            <a:r>
              <a:rPr lang="en-US" altLang="zh-CN" dirty="0">
                <a:solidFill>
                  <a:srgbClr val="000000"/>
                </a:solidFill>
                <a:sym typeface="Symbol" pitchFamily="18" charset="2"/>
              </a:rPr>
              <a:t>=</a:t>
            </a:r>
            <a:r>
              <a:rPr lang="zh-CN" altLang="en-US" dirty="0">
                <a:solidFill>
                  <a:srgbClr val="000000"/>
                </a:solidFill>
                <a:sym typeface="Symbol" pitchFamily="18" charset="2"/>
              </a:rPr>
              <a:t>相应的单尾</a:t>
            </a:r>
            <a:r>
              <a:rPr lang="en-US" altLang="zh-CN" i="1" dirty="0">
                <a:solidFill>
                  <a:srgbClr val="000000"/>
                </a:solidFill>
                <a:latin typeface="Times New Roman" pitchFamily="18" charset="0"/>
                <a:sym typeface="Symbol" pitchFamily="18" charset="2"/>
              </a:rPr>
              <a:t>P</a:t>
            </a:r>
            <a:r>
              <a:rPr lang="zh-CN" altLang="en-US" dirty="0">
                <a:solidFill>
                  <a:srgbClr val="000000"/>
                </a:solidFill>
                <a:sym typeface="Symbol" pitchFamily="18" charset="2"/>
              </a:rPr>
              <a:t>值的两倍 </a:t>
            </a:r>
            <a:endParaRPr lang="zh-CN" altLang="en-US" dirty="0"/>
          </a:p>
        </p:txBody>
      </p:sp>
      <p:grpSp>
        <p:nvGrpSpPr>
          <p:cNvPr id="2" name="Group 24"/>
          <p:cNvGrpSpPr>
            <a:grpSpLocks/>
          </p:cNvGrpSpPr>
          <p:nvPr/>
        </p:nvGrpSpPr>
        <p:grpSpPr bwMode="auto">
          <a:xfrm>
            <a:off x="5735638" y="2420938"/>
            <a:ext cx="4824412" cy="1223962"/>
            <a:chOff x="2653" y="1525"/>
            <a:chExt cx="3039" cy="771"/>
          </a:xfrm>
        </p:grpSpPr>
        <p:graphicFrame>
          <p:nvGraphicFramePr>
            <p:cNvPr id="21510" name="Object 11"/>
            <p:cNvGraphicFramePr>
              <a:graphicFrameLocks noChangeAspect="1"/>
            </p:cNvGraphicFramePr>
            <p:nvPr/>
          </p:nvGraphicFramePr>
          <p:xfrm>
            <a:off x="3197" y="1889"/>
            <a:ext cx="2495" cy="407"/>
          </p:xfrm>
          <a:graphic>
            <a:graphicData uri="http://schemas.openxmlformats.org/presentationml/2006/ole">
              <mc:AlternateContent xmlns:mc="http://schemas.openxmlformats.org/markup-compatibility/2006">
                <mc:Choice xmlns:v="urn:schemas-microsoft-com:vml" Requires="v">
                  <p:oleObj name="公式" r:id="rId4" imgW="1562100" imgH="228600" progId="Equation.3">
                    <p:embed/>
                  </p:oleObj>
                </mc:Choice>
                <mc:Fallback>
                  <p:oleObj name="公式" r:id="rId4" imgW="1562100" imgH="228600" progId="Equation.3">
                    <p:embed/>
                    <p:pic>
                      <p:nvPicPr>
                        <p:cNvPr id="21510" name="Object 1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97" y="1889"/>
                          <a:ext cx="2495" cy="40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1511" name="Object 16"/>
            <p:cNvGraphicFramePr>
              <a:graphicFrameLocks noChangeAspect="1"/>
            </p:cNvGraphicFramePr>
            <p:nvPr/>
          </p:nvGraphicFramePr>
          <p:xfrm>
            <a:off x="2653" y="1525"/>
            <a:ext cx="1225" cy="420"/>
          </p:xfrm>
          <a:graphic>
            <a:graphicData uri="http://schemas.openxmlformats.org/presentationml/2006/ole">
              <mc:AlternateContent xmlns:mc="http://schemas.openxmlformats.org/markup-compatibility/2006">
                <mc:Choice xmlns:v="urn:schemas-microsoft-com:vml" Requires="v">
                  <p:oleObj name="公式" r:id="rId6" imgW="698500" imgH="241300" progId="Equation.3">
                    <p:embed/>
                  </p:oleObj>
                </mc:Choice>
                <mc:Fallback>
                  <p:oleObj name="公式" r:id="rId6" imgW="698500" imgH="241300" progId="Equation.3">
                    <p:embed/>
                    <p:pic>
                      <p:nvPicPr>
                        <p:cNvPr id="21511" name="Object 1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653" y="1525"/>
                          <a:ext cx="1225" cy="42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3" name="Group 25"/>
          <p:cNvGrpSpPr>
            <a:grpSpLocks/>
          </p:cNvGrpSpPr>
          <p:nvPr/>
        </p:nvGrpSpPr>
        <p:grpSpPr bwMode="auto">
          <a:xfrm>
            <a:off x="5664201" y="3644901"/>
            <a:ext cx="4932363" cy="1223963"/>
            <a:chOff x="2608" y="2296"/>
            <a:chExt cx="3107" cy="771"/>
          </a:xfrm>
        </p:grpSpPr>
        <p:graphicFrame>
          <p:nvGraphicFramePr>
            <p:cNvPr id="21508" name="Object 13"/>
            <p:cNvGraphicFramePr>
              <a:graphicFrameLocks noChangeAspect="1"/>
            </p:cNvGraphicFramePr>
            <p:nvPr/>
          </p:nvGraphicFramePr>
          <p:xfrm>
            <a:off x="3198" y="2659"/>
            <a:ext cx="2517" cy="408"/>
          </p:xfrm>
          <a:graphic>
            <a:graphicData uri="http://schemas.openxmlformats.org/presentationml/2006/ole">
              <mc:AlternateContent xmlns:mc="http://schemas.openxmlformats.org/markup-compatibility/2006">
                <mc:Choice xmlns:v="urn:schemas-microsoft-com:vml" Requires="v">
                  <p:oleObj name="公式" r:id="rId8" imgW="1536700" imgH="228600" progId="Equation.3">
                    <p:embed/>
                  </p:oleObj>
                </mc:Choice>
                <mc:Fallback>
                  <p:oleObj name="公式" r:id="rId8" imgW="1536700" imgH="228600" progId="Equation.3">
                    <p:embed/>
                    <p:pic>
                      <p:nvPicPr>
                        <p:cNvPr id="21508" name="Object 1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198" y="2659"/>
                          <a:ext cx="2517" cy="40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1509" name="Object 18"/>
            <p:cNvGraphicFramePr>
              <a:graphicFrameLocks noChangeAspect="1"/>
            </p:cNvGraphicFramePr>
            <p:nvPr/>
          </p:nvGraphicFramePr>
          <p:xfrm>
            <a:off x="2608" y="2296"/>
            <a:ext cx="1089" cy="425"/>
          </p:xfrm>
          <a:graphic>
            <a:graphicData uri="http://schemas.openxmlformats.org/presentationml/2006/ole">
              <mc:AlternateContent xmlns:mc="http://schemas.openxmlformats.org/markup-compatibility/2006">
                <mc:Choice xmlns:v="urn:schemas-microsoft-com:vml" Requires="v">
                  <p:oleObj name="公式" r:id="rId10" imgW="609336" imgH="241195" progId="Equation.3">
                    <p:embed/>
                  </p:oleObj>
                </mc:Choice>
                <mc:Fallback>
                  <p:oleObj name="公式" r:id="rId10" imgW="609336" imgH="241195" progId="Equation.3">
                    <p:embed/>
                    <p:pic>
                      <p:nvPicPr>
                        <p:cNvPr id="21509" name="Object 18"/>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608" y="2296"/>
                          <a:ext cx="1089" cy="4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21520" name="Rectangle 21"/>
          <p:cNvSpPr>
            <a:spLocks noChangeArrowheads="1"/>
          </p:cNvSpPr>
          <p:nvPr/>
        </p:nvSpPr>
        <p:spPr bwMode="auto">
          <a:xfrm>
            <a:off x="1524001" y="-184666"/>
            <a:ext cx="184731" cy="369332"/>
          </a:xfrm>
          <a:prstGeom prst="rect">
            <a:avLst/>
          </a:prstGeom>
          <a:noFill/>
          <a:ln w="9525">
            <a:noFill/>
            <a:miter lim="800000"/>
            <a:headEnd/>
            <a:tailEnd/>
          </a:ln>
        </p:spPr>
        <p:txBody>
          <a:bodyPr wrap="none" anchor="ctr">
            <a:spAutoFit/>
          </a:bodyPr>
          <a:lstStyle/>
          <a:p>
            <a:endParaRPr lang="zh-CN" altLang="en-US"/>
          </a:p>
        </p:txBody>
      </p:sp>
      <p:grpSp>
        <p:nvGrpSpPr>
          <p:cNvPr id="4" name="Group 26"/>
          <p:cNvGrpSpPr>
            <a:grpSpLocks/>
          </p:cNvGrpSpPr>
          <p:nvPr/>
        </p:nvGrpSpPr>
        <p:grpSpPr bwMode="auto">
          <a:xfrm>
            <a:off x="5735638" y="5197475"/>
            <a:ext cx="4358990" cy="728662"/>
            <a:chOff x="2653" y="3153"/>
            <a:chExt cx="2655" cy="459"/>
          </a:xfrm>
        </p:grpSpPr>
        <p:graphicFrame>
          <p:nvGraphicFramePr>
            <p:cNvPr id="21506" name="Object 20"/>
            <p:cNvGraphicFramePr>
              <a:graphicFrameLocks noChangeAspect="1"/>
            </p:cNvGraphicFramePr>
            <p:nvPr/>
          </p:nvGraphicFramePr>
          <p:xfrm>
            <a:off x="2653" y="3159"/>
            <a:ext cx="1180" cy="453"/>
          </p:xfrm>
          <a:graphic>
            <a:graphicData uri="http://schemas.openxmlformats.org/presentationml/2006/ole">
              <mc:AlternateContent xmlns:mc="http://schemas.openxmlformats.org/markup-compatibility/2006">
                <mc:Choice xmlns:v="urn:schemas-microsoft-com:vml" Requires="v">
                  <p:oleObj name="公式" r:id="rId12" imgW="774364" imgH="253890" progId="Equation.3">
                    <p:embed/>
                  </p:oleObj>
                </mc:Choice>
                <mc:Fallback>
                  <p:oleObj name="公式" r:id="rId12" imgW="774364" imgH="253890" progId="Equation.3">
                    <p:embed/>
                    <p:pic>
                      <p:nvPicPr>
                        <p:cNvPr id="21506" name="Object 20"/>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653" y="3159"/>
                          <a:ext cx="1180" cy="45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1507" name="Object 22"/>
            <p:cNvGraphicFramePr>
              <a:graphicFrameLocks noChangeAspect="1"/>
            </p:cNvGraphicFramePr>
            <p:nvPr>
              <p:extLst>
                <p:ext uri="{D42A27DB-BD31-4B8C-83A1-F6EECF244321}">
                  <p14:modId xmlns:p14="http://schemas.microsoft.com/office/powerpoint/2010/main" val="754131791"/>
                </p:ext>
              </p:extLst>
            </p:nvPr>
          </p:nvGraphicFramePr>
          <p:xfrm>
            <a:off x="4083" y="3153"/>
            <a:ext cx="1225" cy="459"/>
          </p:xfrm>
          <a:graphic>
            <a:graphicData uri="http://schemas.openxmlformats.org/presentationml/2006/ole">
              <mc:AlternateContent xmlns:mc="http://schemas.openxmlformats.org/markup-compatibility/2006">
                <mc:Choice xmlns:v="urn:schemas-microsoft-com:vml" Requires="v">
                  <p:oleObj name="公式" r:id="rId14" imgW="685800" imgH="254000" progId="Equation.3">
                    <p:embed/>
                  </p:oleObj>
                </mc:Choice>
                <mc:Fallback>
                  <p:oleObj name="公式" r:id="rId14" imgW="685800" imgH="254000" progId="Equation.3">
                    <p:embed/>
                    <p:pic>
                      <p:nvPicPr>
                        <p:cNvPr id="21507" name="Object 22"/>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083" y="3153"/>
                          <a:ext cx="1225" cy="45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Tree>
    <p:extLst>
      <p:ext uri="{BB962C8B-B14F-4D97-AF65-F5344CB8AC3E}">
        <p14:creationId xmlns:p14="http://schemas.microsoft.com/office/powerpoint/2010/main" val="3423213463"/>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75151">
                                            <p:txEl>
                                              <p:pRg st="0" end="0"/>
                                            </p:txEl>
                                          </p:spTgt>
                                        </p:tgtEl>
                                        <p:attrNameLst>
                                          <p:attrName>style.visibility</p:attrName>
                                        </p:attrNameLst>
                                      </p:cBhvr>
                                      <p:to>
                                        <p:strVal val="visible"/>
                                      </p:to>
                                    </p:set>
                                    <p:animEffect transition="in" filter="wipe(left)">
                                      <p:cBhvr>
                                        <p:cTn id="7" dur="500"/>
                                        <p:tgtEl>
                                          <p:spTgt spid="475151">
                                            <p:txEl>
                                              <p:pRg st="0" end="0"/>
                                            </p:txEl>
                                          </p:spTgt>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wipe(left)">
                                      <p:cBhvr>
                                        <p:cTn id="11" dur="1000"/>
                                        <p:tgtEl>
                                          <p:spTgt spid="2"/>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475151">
                                            <p:txEl>
                                              <p:pRg st="2" end="2"/>
                                            </p:txEl>
                                          </p:spTgt>
                                        </p:tgtEl>
                                        <p:attrNameLst>
                                          <p:attrName>style.visibility</p:attrName>
                                        </p:attrNameLst>
                                      </p:cBhvr>
                                      <p:to>
                                        <p:strVal val="visible"/>
                                      </p:to>
                                    </p:set>
                                    <p:animEffect transition="in" filter="wipe(left)">
                                      <p:cBhvr>
                                        <p:cTn id="14" dur="500"/>
                                        <p:tgtEl>
                                          <p:spTgt spid="475151">
                                            <p:txEl>
                                              <p:pRg st="2" end="2"/>
                                            </p:txEl>
                                          </p:spTgt>
                                        </p:tgtEl>
                                      </p:cBhvr>
                                    </p:animEffect>
                                  </p:childTnLst>
                                </p:cTn>
                              </p:par>
                            </p:childTnLst>
                          </p:cTn>
                        </p:par>
                        <p:par>
                          <p:cTn id="15" fill="hold">
                            <p:stCondLst>
                              <p:cond delay="1500"/>
                            </p:stCondLst>
                            <p:childTnLst>
                              <p:par>
                                <p:cTn id="16" presetID="22" presetClass="entr" presetSubtype="8" fill="hold" nodeType="afterEffect">
                                  <p:stCondLst>
                                    <p:cond delay="0"/>
                                  </p:stCondLst>
                                  <p:childTnLst>
                                    <p:set>
                                      <p:cBhvr>
                                        <p:cTn id="17" dur="1" fill="hold">
                                          <p:stCondLst>
                                            <p:cond delay="0"/>
                                          </p:stCondLst>
                                        </p:cTn>
                                        <p:tgtEl>
                                          <p:spTgt spid="3"/>
                                        </p:tgtEl>
                                        <p:attrNameLst>
                                          <p:attrName>style.visibility</p:attrName>
                                        </p:attrNameLst>
                                      </p:cBhvr>
                                      <p:to>
                                        <p:strVal val="visible"/>
                                      </p:to>
                                    </p:set>
                                    <p:animEffect transition="in" filter="wipe(left)">
                                      <p:cBhvr>
                                        <p:cTn id="18" dur="500"/>
                                        <p:tgtEl>
                                          <p:spTgt spid="3"/>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475151">
                                            <p:txEl>
                                              <p:pRg st="4" end="4"/>
                                            </p:txEl>
                                          </p:spTgt>
                                        </p:tgtEl>
                                        <p:attrNameLst>
                                          <p:attrName>style.visibility</p:attrName>
                                        </p:attrNameLst>
                                      </p:cBhvr>
                                      <p:to>
                                        <p:strVal val="visible"/>
                                      </p:to>
                                    </p:set>
                                    <p:animEffect transition="in" filter="wipe(left)">
                                      <p:cBhvr>
                                        <p:cTn id="21" dur="500"/>
                                        <p:tgtEl>
                                          <p:spTgt spid="475151">
                                            <p:txEl>
                                              <p:pRg st="4" end="4"/>
                                            </p:txEl>
                                          </p:spTgt>
                                        </p:tgtEl>
                                      </p:cBhvr>
                                    </p:animEffect>
                                  </p:childTnLst>
                                </p:cTn>
                              </p:par>
                            </p:childTnLst>
                          </p:cTn>
                        </p:par>
                        <p:par>
                          <p:cTn id="22" fill="hold">
                            <p:stCondLst>
                              <p:cond delay="2000"/>
                            </p:stCondLst>
                            <p:childTnLst>
                              <p:par>
                                <p:cTn id="23" presetID="22" presetClass="entr" presetSubtype="8" fill="hold" nodeType="afterEffect">
                                  <p:stCondLst>
                                    <p:cond delay="0"/>
                                  </p:stCondLst>
                                  <p:childTnLst>
                                    <p:set>
                                      <p:cBhvr>
                                        <p:cTn id="24" dur="1" fill="hold">
                                          <p:stCondLst>
                                            <p:cond delay="0"/>
                                          </p:stCondLst>
                                        </p:cTn>
                                        <p:tgtEl>
                                          <p:spTgt spid="4"/>
                                        </p:tgtEl>
                                        <p:attrNameLst>
                                          <p:attrName>style.visibility</p:attrName>
                                        </p:attrNameLst>
                                      </p:cBhvr>
                                      <p:to>
                                        <p:strVal val="visible"/>
                                      </p:to>
                                    </p:set>
                                    <p:animEffect transition="in" filter="wipe(left)">
                                      <p:cBhvr>
                                        <p:cTn id="25" dur="500"/>
                                        <p:tgtEl>
                                          <p:spTgt spid="4"/>
                                        </p:tgtEl>
                                      </p:cBhvr>
                                    </p:animEffect>
                                  </p:childTnLst>
                                </p:cTn>
                              </p:par>
                              <p:par>
                                <p:cTn id="26" presetID="22" presetClass="entr" presetSubtype="8" fill="hold" grpId="0" nodeType="withEffect">
                                  <p:stCondLst>
                                    <p:cond delay="0"/>
                                  </p:stCondLst>
                                  <p:childTnLst>
                                    <p:set>
                                      <p:cBhvr>
                                        <p:cTn id="27" dur="1" fill="hold">
                                          <p:stCondLst>
                                            <p:cond delay="0"/>
                                          </p:stCondLst>
                                        </p:cTn>
                                        <p:tgtEl>
                                          <p:spTgt spid="475151">
                                            <p:txEl>
                                              <p:pRg st="5" end="5"/>
                                            </p:txEl>
                                          </p:spTgt>
                                        </p:tgtEl>
                                        <p:attrNameLst>
                                          <p:attrName>style.visibility</p:attrName>
                                        </p:attrNameLst>
                                      </p:cBhvr>
                                      <p:to>
                                        <p:strVal val="visible"/>
                                      </p:to>
                                    </p:set>
                                    <p:animEffect transition="in" filter="wipe(left)">
                                      <p:cBhvr>
                                        <p:cTn id="28" dur="500"/>
                                        <p:tgtEl>
                                          <p:spTgt spid="475151">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5151" grpId="0" build="p" autoUpdateAnimBg="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灯片编号占位符 6"/>
          <p:cNvSpPr>
            <a:spLocks noGrp="1"/>
          </p:cNvSpPr>
          <p:nvPr>
            <p:ph type="sldNum" sz="quarter" idx="10"/>
          </p:nvPr>
        </p:nvSpPr>
        <p:spPr>
          <a:noFill/>
        </p:spPr>
        <p:txBody>
          <a:bodyPr/>
          <a:lstStyle/>
          <a:p>
            <a:r>
              <a:rPr lang="en-US" altLang="zh-CN">
                <a:ea typeface="宋体" pitchFamily="2" charset="-122"/>
              </a:rPr>
              <a:t>8--</a:t>
            </a:r>
            <a:fld id="{EA9037CA-4E00-4CF4-88A5-CDE7994EFAAA}" type="slidenum">
              <a:rPr lang="en-US" altLang="zh-CN" smtClean="0">
                <a:ea typeface="宋体" pitchFamily="2" charset="-122"/>
              </a:rPr>
              <a:pPr/>
              <a:t>55</a:t>
            </a:fld>
            <a:endParaRPr lang="en-US" altLang="zh-CN">
              <a:ea typeface="宋体" pitchFamily="2" charset="-122"/>
            </a:endParaRPr>
          </a:p>
        </p:txBody>
      </p:sp>
      <p:sp>
        <p:nvSpPr>
          <p:cNvPr id="22532" name="Rectangle 2"/>
          <p:cNvSpPr>
            <a:spLocks noGrp="1" noChangeArrowheads="1"/>
          </p:cNvSpPr>
          <p:nvPr>
            <p:ph type="title" idx="4294967295"/>
          </p:nvPr>
        </p:nvSpPr>
        <p:spPr>
          <a:xfrm>
            <a:off x="885828" y="298966"/>
            <a:ext cx="3965572" cy="1143000"/>
          </a:xfrm>
          <a:noFill/>
        </p:spPr>
        <p:txBody>
          <a:bodyPr vert="horz" lIns="90488" tIns="44450" rIns="90488" bIns="44450" rtlCol="0" anchor="ctr" anchorCtr="1">
            <a:normAutofit/>
          </a:bodyPr>
          <a:lstStyle/>
          <a:p>
            <a:pPr eaLnBrk="1" hangingPunct="1"/>
            <a:r>
              <a:rPr lang="en-US" altLang="zh-CN" sz="4000" dirty="0"/>
              <a:t>【</a:t>
            </a:r>
            <a:r>
              <a:rPr lang="zh-CN" altLang="en-US" sz="4000" dirty="0"/>
              <a:t>例</a:t>
            </a:r>
            <a:r>
              <a:rPr lang="en-US" altLang="zh-CN" sz="4000" dirty="0"/>
              <a:t>8-4】</a:t>
            </a:r>
          </a:p>
        </p:txBody>
      </p:sp>
      <p:sp>
        <p:nvSpPr>
          <p:cNvPr id="17413" name="Rectangle 3"/>
          <p:cNvSpPr>
            <a:spLocks noGrp="1" noChangeArrowheads="1"/>
          </p:cNvSpPr>
          <p:nvPr>
            <p:ph type="body" sz="half" idx="4294967295"/>
          </p:nvPr>
        </p:nvSpPr>
        <p:spPr>
          <a:xfrm>
            <a:off x="1524000" y="1295400"/>
            <a:ext cx="8267699" cy="4870450"/>
          </a:xfrm>
          <a:noFill/>
        </p:spPr>
        <p:txBody>
          <a:bodyPr vert="horz" lIns="90488" tIns="44450" rIns="90488" bIns="44450" rtlCol="0">
            <a:normAutofit/>
          </a:bodyPr>
          <a:lstStyle/>
          <a:p>
            <a:pPr marL="0" indent="0" algn="just">
              <a:lnSpc>
                <a:spcPct val="120000"/>
              </a:lnSpc>
              <a:spcBef>
                <a:spcPts val="600"/>
              </a:spcBef>
              <a:buNone/>
            </a:pPr>
            <a:r>
              <a:rPr lang="zh-CN" altLang="en-US" sz="2800" dirty="0">
                <a:solidFill>
                  <a:srgbClr val="000000"/>
                </a:solidFill>
              </a:rPr>
              <a:t>      在例</a:t>
            </a:r>
            <a:r>
              <a:rPr lang="en-US" altLang="zh-CN" sz="2800" dirty="0">
                <a:solidFill>
                  <a:srgbClr val="000000"/>
                </a:solidFill>
              </a:rPr>
              <a:t>8</a:t>
            </a:r>
            <a:r>
              <a:rPr lang="en-US" altLang="zh-CN" sz="2800" i="1" dirty="0">
                <a:solidFill>
                  <a:srgbClr val="000000"/>
                </a:solidFill>
              </a:rPr>
              <a:t>-</a:t>
            </a:r>
            <a:r>
              <a:rPr lang="en-US" altLang="zh-CN" sz="2800" dirty="0">
                <a:solidFill>
                  <a:srgbClr val="000000"/>
                </a:solidFill>
              </a:rPr>
              <a:t>3</a:t>
            </a:r>
            <a:r>
              <a:rPr lang="zh-CN" altLang="en-US" sz="2800" dirty="0">
                <a:solidFill>
                  <a:srgbClr val="000000"/>
                </a:solidFill>
              </a:rPr>
              <a:t>中，</a:t>
            </a:r>
            <a:r>
              <a:rPr lang="zh-CN" altLang="zh-CN" dirty="0"/>
              <a:t>若按要求</a:t>
            </a:r>
            <a:r>
              <a:rPr lang="zh-CN" altLang="en-US" dirty="0"/>
              <a:t>，</a:t>
            </a:r>
            <a:r>
              <a:rPr lang="zh-CN" altLang="zh-CN" dirty="0"/>
              <a:t>产品重量的标准差</a:t>
            </a:r>
            <a:r>
              <a:rPr lang="zh-CN" altLang="en-US" dirty="0"/>
              <a:t>应</a:t>
            </a:r>
            <a:r>
              <a:rPr lang="zh-CN" altLang="zh-CN" dirty="0"/>
              <a:t>不超过</a:t>
            </a:r>
            <a:r>
              <a:rPr lang="en-US" altLang="zh-CN" dirty="0"/>
              <a:t>10</a:t>
            </a:r>
            <a:r>
              <a:rPr lang="zh-CN" altLang="zh-CN" dirty="0"/>
              <a:t>克。试在</a:t>
            </a:r>
            <a:r>
              <a:rPr lang="en-US" altLang="zh-CN" dirty="0"/>
              <a:t>0.05</a:t>
            </a:r>
            <a:r>
              <a:rPr lang="zh-CN" altLang="zh-CN" dirty="0"/>
              <a:t>的显著性水平下，检验这批产品重量的波动是否符合要求</a:t>
            </a:r>
            <a:r>
              <a:rPr lang="en-US" altLang="zh-CN" dirty="0"/>
              <a:t>?</a:t>
            </a:r>
          </a:p>
          <a:p>
            <a:pPr marL="0" indent="0" algn="just">
              <a:lnSpc>
                <a:spcPct val="120000"/>
              </a:lnSpc>
              <a:spcBef>
                <a:spcPts val="600"/>
              </a:spcBef>
              <a:buNone/>
            </a:pPr>
            <a:r>
              <a:rPr kumimoji="1" lang="zh-CN" altLang="en-US" sz="2800" dirty="0">
                <a:solidFill>
                  <a:srgbClr val="00B0F0"/>
                </a:solidFill>
              </a:rPr>
              <a:t>解：</a:t>
            </a:r>
            <a:r>
              <a:rPr kumimoji="1" lang="zh-CN" altLang="en-US" sz="2800" dirty="0">
                <a:solidFill>
                  <a:srgbClr val="000000"/>
                </a:solidFill>
              </a:rPr>
              <a:t>提出假设：</a:t>
            </a:r>
          </a:p>
          <a:p>
            <a:pPr marL="971550" lvl="1" algn="just">
              <a:lnSpc>
                <a:spcPct val="120000"/>
              </a:lnSpc>
              <a:spcBef>
                <a:spcPts val="600"/>
              </a:spcBef>
            </a:pPr>
            <a:r>
              <a:rPr lang="en-US" altLang="zh-CN" sz="3200" dirty="0"/>
              <a:t>H</a:t>
            </a:r>
            <a:r>
              <a:rPr lang="en-US" altLang="zh-CN" sz="3200" baseline="-25000" dirty="0"/>
              <a:t>0</a:t>
            </a:r>
            <a:r>
              <a:rPr lang="en-US" altLang="zh-CN" sz="3200" dirty="0"/>
              <a:t>:</a:t>
            </a:r>
            <a:r>
              <a:rPr lang="en-US" altLang="zh-CN" sz="3200" i="1" dirty="0"/>
              <a:t> </a:t>
            </a:r>
            <a:r>
              <a:rPr lang="en-US" altLang="zh-CN" sz="3200" i="1" dirty="0">
                <a:latin typeface="Symbol" pitchFamily="18" charset="2"/>
              </a:rPr>
              <a:t> </a:t>
            </a:r>
            <a:r>
              <a:rPr lang="en-US" altLang="zh-CN" sz="3200" baseline="30000" dirty="0"/>
              <a:t>2</a:t>
            </a:r>
            <a:r>
              <a:rPr lang="en-US" altLang="zh-CN" sz="3200" dirty="0"/>
              <a:t> = 100 </a:t>
            </a:r>
            <a:r>
              <a:rPr lang="zh-CN" altLang="en-US" sz="3200" dirty="0"/>
              <a:t>（或               ）</a:t>
            </a:r>
          </a:p>
          <a:p>
            <a:pPr marL="971550" lvl="1">
              <a:lnSpc>
                <a:spcPct val="120000"/>
              </a:lnSpc>
              <a:spcBef>
                <a:spcPts val="600"/>
              </a:spcBef>
            </a:pPr>
            <a:r>
              <a:rPr lang="en-US" altLang="zh-CN" sz="3200" dirty="0"/>
              <a:t>H</a:t>
            </a:r>
            <a:r>
              <a:rPr lang="en-US" altLang="zh-CN" sz="3200" baseline="-25000" dirty="0"/>
              <a:t>1</a:t>
            </a:r>
            <a:r>
              <a:rPr lang="en-US" altLang="zh-CN" sz="3200" dirty="0"/>
              <a:t>: </a:t>
            </a:r>
            <a:r>
              <a:rPr lang="en-US" altLang="zh-CN" sz="3200" i="1" dirty="0">
                <a:latin typeface="Symbol" pitchFamily="18" charset="2"/>
              </a:rPr>
              <a:t> </a:t>
            </a:r>
            <a:r>
              <a:rPr lang="en-US" altLang="zh-CN" sz="3200" baseline="30000" dirty="0"/>
              <a:t>2</a:t>
            </a:r>
            <a:r>
              <a:rPr lang="en-US" altLang="zh-CN" sz="3200" dirty="0"/>
              <a:t> </a:t>
            </a:r>
            <a:r>
              <a:rPr lang="en-US" altLang="zh-CN" sz="3200" dirty="0">
                <a:latin typeface="Symbol" pitchFamily="18" charset="2"/>
              </a:rPr>
              <a:t>&gt;</a:t>
            </a:r>
            <a:r>
              <a:rPr lang="en-US" altLang="zh-CN" sz="3200" dirty="0"/>
              <a:t> 100   </a:t>
            </a:r>
          </a:p>
        </p:txBody>
      </p:sp>
      <p:sp>
        <p:nvSpPr>
          <p:cNvPr id="22534" name="Rectangle 4"/>
          <p:cNvSpPr>
            <a:spLocks noChangeArrowheads="1"/>
          </p:cNvSpPr>
          <p:nvPr/>
        </p:nvSpPr>
        <p:spPr bwMode="auto">
          <a:xfrm>
            <a:off x="1524001" y="-184666"/>
            <a:ext cx="184731" cy="369332"/>
          </a:xfrm>
          <a:prstGeom prst="rect">
            <a:avLst/>
          </a:prstGeom>
          <a:noFill/>
          <a:ln w="9525">
            <a:noFill/>
            <a:miter lim="800000"/>
            <a:headEnd/>
            <a:tailEnd/>
          </a:ln>
        </p:spPr>
        <p:txBody>
          <a:bodyPr wrap="none" anchor="ctr">
            <a:spAutoFit/>
          </a:bodyPr>
          <a:lstStyle/>
          <a:p>
            <a:endParaRPr lang="zh-CN" altLang="en-US"/>
          </a:p>
        </p:txBody>
      </p:sp>
      <p:sp>
        <p:nvSpPr>
          <p:cNvPr id="2" name="Rectangle 58"/>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3" name="对象 2"/>
          <p:cNvGraphicFramePr>
            <a:graphicFrameLocks noChangeAspect="1"/>
          </p:cNvGraphicFramePr>
          <p:nvPr>
            <p:extLst>
              <p:ext uri="{D42A27DB-BD31-4B8C-83A1-F6EECF244321}">
                <p14:modId xmlns:p14="http://schemas.microsoft.com/office/powerpoint/2010/main" val="3539802315"/>
              </p:ext>
            </p:extLst>
          </p:nvPr>
        </p:nvGraphicFramePr>
        <p:xfrm>
          <a:off x="6096000" y="3860800"/>
          <a:ext cx="1666875" cy="555625"/>
        </p:xfrm>
        <a:graphic>
          <a:graphicData uri="http://schemas.openxmlformats.org/presentationml/2006/ole">
            <mc:AlternateContent xmlns:mc="http://schemas.openxmlformats.org/markup-compatibility/2006">
              <mc:Choice xmlns:v="urn:schemas-microsoft-com:vml" Requires="v">
                <p:oleObj name="公式" r:id="rId3" imgW="596641" imgH="203112" progId="Equation.3">
                  <p:embed/>
                </p:oleObj>
              </mc:Choice>
              <mc:Fallback>
                <p:oleObj name="公式" r:id="rId3" imgW="596641" imgH="203112" progId="Equation.3">
                  <p:embed/>
                  <p:pic>
                    <p:nvPicPr>
                      <p:cNvPr id="0" name="Object 5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000" y="3860800"/>
                        <a:ext cx="1666875" cy="555625"/>
                      </a:xfrm>
                      <a:prstGeom prst="rect">
                        <a:avLst/>
                      </a:prstGeom>
                      <a:noFill/>
                    </p:spPr>
                  </p:pic>
                </p:oleObj>
              </mc:Fallback>
            </mc:AlternateContent>
          </a:graphicData>
        </a:graphic>
      </p:graphicFrame>
    </p:spTree>
    <p:extLst>
      <p:ext uri="{BB962C8B-B14F-4D97-AF65-F5344CB8AC3E}">
        <p14:creationId xmlns:p14="http://schemas.microsoft.com/office/powerpoint/2010/main" val="1032031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7413">
                                            <p:txEl>
                                              <p:pRg st="2" end="2"/>
                                            </p:txEl>
                                          </p:spTgt>
                                        </p:tgtEl>
                                        <p:attrNameLst>
                                          <p:attrName>style.visibility</p:attrName>
                                        </p:attrNameLst>
                                      </p:cBhvr>
                                      <p:to>
                                        <p:strVal val="visible"/>
                                      </p:to>
                                    </p:set>
                                    <p:animEffect transition="in" filter="wipe(left)">
                                      <p:cBhvr>
                                        <p:cTn id="7" dur="500"/>
                                        <p:tgtEl>
                                          <p:spTgt spid="17413">
                                            <p:txEl>
                                              <p:pRg st="2" end="2"/>
                                            </p:txEl>
                                          </p:spTgt>
                                        </p:tgtEl>
                                      </p:cBhvr>
                                    </p:animEffect>
                                  </p:childTnLst>
                                </p:cTn>
                              </p:par>
                              <p:par>
                                <p:cTn id="8" presetID="22" presetClass="entr" presetSubtype="8" fill="hold" nodeType="withEffect">
                                  <p:stCondLst>
                                    <p:cond delay="0"/>
                                  </p:stCondLst>
                                  <p:childTnLst>
                                    <p:set>
                                      <p:cBhvr>
                                        <p:cTn id="9" dur="1" fill="hold">
                                          <p:stCondLst>
                                            <p:cond delay="0"/>
                                          </p:stCondLst>
                                        </p:cTn>
                                        <p:tgtEl>
                                          <p:spTgt spid="17413">
                                            <p:txEl>
                                              <p:pRg st="3" end="3"/>
                                            </p:txEl>
                                          </p:spTgt>
                                        </p:tgtEl>
                                        <p:attrNameLst>
                                          <p:attrName>style.visibility</p:attrName>
                                        </p:attrNameLst>
                                      </p:cBhvr>
                                      <p:to>
                                        <p:strVal val="visible"/>
                                      </p:to>
                                    </p:set>
                                    <p:animEffect transition="in" filter="wipe(left)">
                                      <p:cBhvr>
                                        <p:cTn id="10" dur="500"/>
                                        <p:tgtEl>
                                          <p:spTgt spid="1741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3556" name="灯片编号占位符 6"/>
          <p:cNvSpPr>
            <a:spLocks noGrp="1"/>
          </p:cNvSpPr>
          <p:nvPr>
            <p:ph type="sldNum" sz="quarter" idx="4294967295"/>
          </p:nvPr>
        </p:nvSpPr>
        <p:spPr>
          <a:xfrm>
            <a:off x="9448800" y="6311900"/>
            <a:ext cx="2743200" cy="365125"/>
          </a:xfrm>
          <a:noFill/>
        </p:spPr>
        <p:txBody>
          <a:bodyPr/>
          <a:lstStyle/>
          <a:p>
            <a:r>
              <a:rPr lang="en-US" altLang="zh-CN">
                <a:ea typeface="宋体" pitchFamily="2" charset="-122"/>
              </a:rPr>
              <a:t>8--</a:t>
            </a:r>
            <a:fld id="{65253A99-59F0-4AE7-807E-35167D3FD778}" type="slidenum">
              <a:rPr lang="en-US" altLang="zh-CN" smtClean="0">
                <a:ea typeface="宋体" pitchFamily="2" charset="-122"/>
              </a:rPr>
              <a:pPr/>
              <a:t>56</a:t>
            </a:fld>
            <a:endParaRPr lang="en-US" altLang="zh-CN">
              <a:ea typeface="宋体" pitchFamily="2" charset="-122"/>
            </a:endParaRPr>
          </a:p>
        </p:txBody>
      </p:sp>
      <p:sp>
        <p:nvSpPr>
          <p:cNvPr id="23557" name="Rectangle 2"/>
          <p:cNvSpPr>
            <a:spLocks noGrp="1" noChangeArrowheads="1"/>
          </p:cNvSpPr>
          <p:nvPr>
            <p:ph type="title" idx="4294967295"/>
          </p:nvPr>
        </p:nvSpPr>
        <p:spPr>
          <a:xfrm>
            <a:off x="1783556" y="384176"/>
            <a:ext cx="3447257" cy="990600"/>
          </a:xfrm>
          <a:noFill/>
        </p:spPr>
        <p:txBody>
          <a:bodyPr vert="horz" lIns="90488" tIns="44450" rIns="90488" bIns="44450" rtlCol="0" anchor="ctr" anchorCtr="1">
            <a:normAutofit/>
          </a:bodyPr>
          <a:lstStyle/>
          <a:p>
            <a:pPr eaLnBrk="1" hangingPunct="1"/>
            <a:r>
              <a:rPr lang="zh-CN" altLang="en-US" sz="4000">
                <a:solidFill>
                  <a:srgbClr val="0000FF"/>
                </a:solidFill>
              </a:rPr>
              <a:t>计算结果</a:t>
            </a:r>
          </a:p>
        </p:txBody>
      </p:sp>
      <p:sp>
        <p:nvSpPr>
          <p:cNvPr id="23558" name="Rectangle 3"/>
          <p:cNvSpPr>
            <a:spLocks noGrp="1" noChangeArrowheads="1"/>
          </p:cNvSpPr>
          <p:nvPr>
            <p:ph type="body" sz="half" idx="4294967295"/>
          </p:nvPr>
        </p:nvSpPr>
        <p:spPr>
          <a:xfrm>
            <a:off x="1703388" y="1360489"/>
            <a:ext cx="6155713" cy="5151263"/>
          </a:xfrm>
          <a:noFill/>
        </p:spPr>
        <p:txBody>
          <a:bodyPr vert="horz" lIns="90488" tIns="44450" rIns="90488" bIns="44450" rtlCol="0">
            <a:normAutofit/>
          </a:bodyPr>
          <a:lstStyle/>
          <a:p>
            <a:pPr marL="0" indent="0">
              <a:buSzPct val="50000"/>
            </a:pPr>
            <a:r>
              <a:rPr lang="en-US" altLang="zh-CN" sz="2800" dirty="0">
                <a:solidFill>
                  <a:srgbClr val="000000"/>
                </a:solidFill>
                <a:latin typeface="Symbol" pitchFamily="18" charset="2"/>
              </a:rPr>
              <a:t> </a:t>
            </a:r>
            <a:r>
              <a:rPr lang="en-US" altLang="zh-CN" sz="2800" dirty="0">
                <a:solidFill>
                  <a:srgbClr val="000000"/>
                </a:solidFill>
              </a:rPr>
              <a:t> = 0.05</a:t>
            </a:r>
          </a:p>
          <a:p>
            <a:pPr marL="0" indent="0">
              <a:buSzPct val="50000"/>
            </a:pPr>
            <a:r>
              <a:rPr lang="en-US" altLang="zh-CN" sz="2800" dirty="0">
                <a:solidFill>
                  <a:srgbClr val="000000"/>
                </a:solidFill>
              </a:rPr>
              <a:t> n-1=10-1=9</a:t>
            </a:r>
          </a:p>
          <a:p>
            <a:pPr marL="0" indent="0">
              <a:buSzPct val="50000"/>
            </a:pPr>
            <a:r>
              <a:rPr lang="zh-CN" altLang="en-US" sz="2800" dirty="0">
                <a:solidFill>
                  <a:srgbClr val="000000"/>
                </a:solidFill>
              </a:rPr>
              <a:t> 临界值</a:t>
            </a:r>
            <a:endParaRPr lang="en-US" altLang="zh-CN" sz="2400" dirty="0">
              <a:solidFill>
                <a:srgbClr val="FF0066"/>
              </a:solidFill>
            </a:endParaRPr>
          </a:p>
          <a:p>
            <a:pPr marL="0" indent="0"/>
            <a:endParaRPr lang="en-US" altLang="zh-CN" sz="2800" dirty="0">
              <a:solidFill>
                <a:srgbClr val="FFFF7F"/>
              </a:solidFill>
            </a:endParaRPr>
          </a:p>
        </p:txBody>
      </p:sp>
      <p:sp>
        <p:nvSpPr>
          <p:cNvPr id="528388" name="Rectangle 4"/>
          <p:cNvSpPr>
            <a:spLocks noChangeArrowheads="1"/>
          </p:cNvSpPr>
          <p:nvPr/>
        </p:nvSpPr>
        <p:spPr bwMode="auto">
          <a:xfrm>
            <a:off x="4197351" y="5406058"/>
            <a:ext cx="5786438" cy="828675"/>
          </a:xfrm>
          <a:prstGeom prst="rect">
            <a:avLst/>
          </a:prstGeom>
          <a:noFill/>
          <a:ln w="12700">
            <a:noFill/>
            <a:miter lim="800000"/>
            <a:headEnd/>
            <a:tailEnd/>
          </a:ln>
        </p:spPr>
        <p:txBody>
          <a:bodyPr lIns="90488" tIns="44450" rIns="90488" bIns="44450">
            <a:spAutoFit/>
          </a:bodyPr>
          <a:lstStyle/>
          <a:p>
            <a:pPr eaLnBrk="0" hangingPunct="0">
              <a:spcBef>
                <a:spcPct val="50000"/>
              </a:spcBef>
            </a:pPr>
            <a:r>
              <a:rPr kumimoji="1" lang="zh-CN" altLang="en-US" sz="2400" b="1" dirty="0">
                <a:solidFill>
                  <a:srgbClr val="000000"/>
                </a:solidFill>
              </a:rPr>
              <a:t>在</a:t>
            </a:r>
            <a:r>
              <a:rPr kumimoji="1" lang="zh-CN" altLang="en-US" sz="2400" b="1" dirty="0">
                <a:solidFill>
                  <a:srgbClr val="000000"/>
                </a:solidFill>
                <a:latin typeface="Symbol" pitchFamily="18" charset="2"/>
              </a:rPr>
              <a:t></a:t>
            </a:r>
            <a:r>
              <a:rPr kumimoji="1" lang="en-US" altLang="zh-CN" sz="2400" b="1" dirty="0">
                <a:solidFill>
                  <a:srgbClr val="000000"/>
                </a:solidFill>
              </a:rPr>
              <a:t>=0.05</a:t>
            </a:r>
            <a:r>
              <a:rPr kumimoji="1" lang="zh-CN" altLang="en-US" sz="2400" b="1" dirty="0">
                <a:solidFill>
                  <a:srgbClr val="000000"/>
                </a:solidFill>
              </a:rPr>
              <a:t>的显著性水平上</a:t>
            </a:r>
            <a:r>
              <a:rPr kumimoji="1" lang="zh-CN" altLang="en-US" sz="2400" b="1" dirty="0">
                <a:solidFill>
                  <a:srgbClr val="CC0099"/>
                </a:solidFill>
              </a:rPr>
              <a:t>应拒绝</a:t>
            </a:r>
            <a:r>
              <a:rPr kumimoji="1" lang="en-US" altLang="zh-CN" sz="2400" b="1" dirty="0">
                <a:solidFill>
                  <a:srgbClr val="CC0099"/>
                </a:solidFill>
              </a:rPr>
              <a:t>H</a:t>
            </a:r>
            <a:r>
              <a:rPr kumimoji="1" lang="en-US" altLang="zh-CN" sz="2400" b="1" baseline="-25000" dirty="0">
                <a:solidFill>
                  <a:srgbClr val="CC0099"/>
                </a:solidFill>
              </a:rPr>
              <a:t>0</a:t>
            </a:r>
            <a:r>
              <a:rPr kumimoji="1" lang="zh-CN" altLang="en-US" sz="2400" b="1" dirty="0">
                <a:solidFill>
                  <a:srgbClr val="000000"/>
                </a:solidFill>
              </a:rPr>
              <a:t>，即可认为这批产品重量的波动不符合要求。</a:t>
            </a:r>
          </a:p>
        </p:txBody>
      </p:sp>
      <p:grpSp>
        <p:nvGrpSpPr>
          <p:cNvPr id="23560" name="Group 6"/>
          <p:cNvGrpSpPr>
            <a:grpSpLocks/>
          </p:cNvGrpSpPr>
          <p:nvPr/>
        </p:nvGrpSpPr>
        <p:grpSpPr bwMode="auto">
          <a:xfrm>
            <a:off x="5638801" y="-26988"/>
            <a:ext cx="4754563" cy="3348038"/>
            <a:chOff x="2592" y="255"/>
            <a:chExt cx="2995" cy="2109"/>
          </a:xfrm>
        </p:grpSpPr>
        <p:sp>
          <p:nvSpPr>
            <p:cNvPr id="528391" name="Text Box 7"/>
            <p:cNvSpPr txBox="1">
              <a:spLocks noChangeArrowheads="1"/>
            </p:cNvSpPr>
            <p:nvPr/>
          </p:nvSpPr>
          <p:spPr bwMode="auto">
            <a:xfrm>
              <a:off x="2592" y="1488"/>
              <a:ext cx="2212" cy="291"/>
            </a:xfrm>
            <a:prstGeom prst="rect">
              <a:avLst/>
            </a:prstGeom>
            <a:noFill/>
            <a:ln w="12700">
              <a:noFill/>
              <a:miter lim="800000"/>
              <a:headEnd/>
              <a:tailEnd/>
            </a:ln>
            <a:effectLst/>
          </p:spPr>
          <p:txBody>
            <a:bodyPr>
              <a:spAutoFit/>
            </a:bodyPr>
            <a:lstStyle/>
            <a:p>
              <a:pPr eaLnBrk="0" hangingPunct="0">
                <a:spcBef>
                  <a:spcPct val="50000"/>
                </a:spcBef>
                <a:defRPr/>
              </a:pPr>
              <a:endParaRPr kumimoji="1" lang="zh-CN" altLang="zh-CN" sz="2400">
                <a:effectLst>
                  <a:outerShdw blurRad="38100" dist="38100" dir="2700000" algn="tl">
                    <a:srgbClr val="C0C0C0"/>
                  </a:outerShdw>
                </a:effectLst>
                <a:latin typeface="Arial" charset="0"/>
                <a:ea typeface="宋体" charset="-122"/>
              </a:endParaRPr>
            </a:p>
          </p:txBody>
        </p:sp>
        <p:sp>
          <p:nvSpPr>
            <p:cNvPr id="528392" name="Freeform 8"/>
            <p:cNvSpPr>
              <a:spLocks/>
            </p:cNvSpPr>
            <p:nvPr/>
          </p:nvSpPr>
          <p:spPr bwMode="auto">
            <a:xfrm>
              <a:off x="4377" y="1298"/>
              <a:ext cx="816" cy="397"/>
            </a:xfrm>
            <a:custGeom>
              <a:avLst/>
              <a:gdLst/>
              <a:ahLst/>
              <a:cxnLst>
                <a:cxn ang="0">
                  <a:pos x="423" y="204"/>
                </a:cxn>
                <a:cxn ang="0">
                  <a:pos x="279" y="154"/>
                </a:cxn>
                <a:cxn ang="0">
                  <a:pos x="244" y="140"/>
                </a:cxn>
                <a:cxn ang="0">
                  <a:pos x="212" y="125"/>
                </a:cxn>
                <a:cxn ang="0">
                  <a:pos x="181" y="108"/>
                </a:cxn>
                <a:cxn ang="0">
                  <a:pos x="98" y="71"/>
                </a:cxn>
                <a:cxn ang="0">
                  <a:pos x="54" y="42"/>
                </a:cxn>
                <a:cxn ang="0">
                  <a:pos x="0" y="0"/>
                </a:cxn>
                <a:cxn ang="0">
                  <a:pos x="0" y="215"/>
                </a:cxn>
                <a:cxn ang="0">
                  <a:pos x="423" y="209"/>
                </a:cxn>
                <a:cxn ang="0">
                  <a:pos x="423" y="204"/>
                </a:cxn>
              </a:cxnLst>
              <a:rect l="0" t="0" r="r" b="b"/>
              <a:pathLst>
                <a:path w="424" h="216">
                  <a:moveTo>
                    <a:pt x="423" y="204"/>
                  </a:moveTo>
                  <a:lnTo>
                    <a:pt x="279" y="154"/>
                  </a:lnTo>
                  <a:lnTo>
                    <a:pt x="244" y="140"/>
                  </a:lnTo>
                  <a:lnTo>
                    <a:pt x="212" y="125"/>
                  </a:lnTo>
                  <a:lnTo>
                    <a:pt x="181" y="108"/>
                  </a:lnTo>
                  <a:lnTo>
                    <a:pt x="98" y="71"/>
                  </a:lnTo>
                  <a:lnTo>
                    <a:pt x="54" y="42"/>
                  </a:lnTo>
                  <a:lnTo>
                    <a:pt x="0" y="0"/>
                  </a:lnTo>
                  <a:lnTo>
                    <a:pt x="0" y="215"/>
                  </a:lnTo>
                  <a:lnTo>
                    <a:pt x="423" y="209"/>
                  </a:lnTo>
                  <a:lnTo>
                    <a:pt x="423" y="204"/>
                  </a:lnTo>
                </a:path>
              </a:pathLst>
            </a:custGeom>
            <a:solidFill>
              <a:srgbClr val="FFCC66"/>
            </a:solidFill>
            <a:ln w="12700" cap="rnd" cmpd="sng">
              <a:solidFill>
                <a:srgbClr val="000000"/>
              </a:solidFill>
              <a:prstDash val="solid"/>
              <a:round/>
              <a:headEnd type="none" w="med" len="med"/>
              <a:tailEnd type="none" w="med" len="med"/>
            </a:ln>
            <a:effectLst>
              <a:outerShdw dist="35921" dir="2700000" algn="ctr" rotWithShape="0">
                <a:schemeClr val="bg2"/>
              </a:outerShdw>
            </a:effectLst>
          </p:spPr>
          <p:txBody>
            <a:bodyPr/>
            <a:lstStyle/>
            <a:p>
              <a:pPr>
                <a:defRPr/>
              </a:pPr>
              <a:endParaRPr lang="zh-CN" altLang="en-US">
                <a:latin typeface="Arial" charset="0"/>
                <a:ea typeface="宋体" charset="-122"/>
              </a:endParaRPr>
            </a:p>
          </p:txBody>
        </p:sp>
        <p:sp>
          <p:nvSpPr>
            <p:cNvPr id="528393" name="Freeform 9"/>
            <p:cNvSpPr>
              <a:spLocks/>
            </p:cNvSpPr>
            <p:nvPr/>
          </p:nvSpPr>
          <p:spPr bwMode="auto">
            <a:xfrm>
              <a:off x="3424" y="385"/>
              <a:ext cx="1935" cy="1282"/>
            </a:xfrm>
            <a:custGeom>
              <a:avLst/>
              <a:gdLst/>
              <a:ahLst/>
              <a:cxnLst>
                <a:cxn ang="0">
                  <a:pos x="1480" y="900"/>
                </a:cxn>
                <a:cxn ang="0">
                  <a:pos x="1325" y="891"/>
                </a:cxn>
                <a:cxn ang="0">
                  <a:pos x="1246" y="879"/>
                </a:cxn>
                <a:cxn ang="0">
                  <a:pos x="1169" y="866"/>
                </a:cxn>
                <a:cxn ang="0">
                  <a:pos x="1090" y="844"/>
                </a:cxn>
                <a:cxn ang="0">
                  <a:pos x="1013" y="816"/>
                </a:cxn>
                <a:cxn ang="0">
                  <a:pos x="935" y="779"/>
                </a:cxn>
                <a:cxn ang="0">
                  <a:pos x="779" y="676"/>
                </a:cxn>
                <a:cxn ang="0">
                  <a:pos x="624" y="528"/>
                </a:cxn>
                <a:cxn ang="0">
                  <a:pos x="466" y="351"/>
                </a:cxn>
                <a:cxn ang="0">
                  <a:pos x="389" y="261"/>
                </a:cxn>
                <a:cxn ang="0">
                  <a:pos x="311" y="178"/>
                </a:cxn>
                <a:cxn ang="0">
                  <a:pos x="234" y="105"/>
                </a:cxn>
                <a:cxn ang="0">
                  <a:pos x="155" y="48"/>
                </a:cxn>
                <a:cxn ang="0">
                  <a:pos x="76" y="11"/>
                </a:cxn>
                <a:cxn ang="0">
                  <a:pos x="0" y="0"/>
                </a:cxn>
              </a:cxnLst>
              <a:rect l="0" t="0" r="r" b="b"/>
              <a:pathLst>
                <a:path w="1481" h="901">
                  <a:moveTo>
                    <a:pt x="1480" y="900"/>
                  </a:moveTo>
                  <a:lnTo>
                    <a:pt x="1325" y="891"/>
                  </a:lnTo>
                  <a:lnTo>
                    <a:pt x="1246" y="879"/>
                  </a:lnTo>
                  <a:lnTo>
                    <a:pt x="1169" y="866"/>
                  </a:lnTo>
                  <a:lnTo>
                    <a:pt x="1090" y="844"/>
                  </a:lnTo>
                  <a:lnTo>
                    <a:pt x="1013" y="816"/>
                  </a:lnTo>
                  <a:lnTo>
                    <a:pt x="935" y="779"/>
                  </a:lnTo>
                  <a:lnTo>
                    <a:pt x="779" y="676"/>
                  </a:lnTo>
                  <a:lnTo>
                    <a:pt x="624" y="528"/>
                  </a:lnTo>
                  <a:lnTo>
                    <a:pt x="466" y="351"/>
                  </a:lnTo>
                  <a:lnTo>
                    <a:pt x="389" y="261"/>
                  </a:lnTo>
                  <a:lnTo>
                    <a:pt x="311" y="178"/>
                  </a:lnTo>
                  <a:lnTo>
                    <a:pt x="234" y="105"/>
                  </a:lnTo>
                  <a:lnTo>
                    <a:pt x="155" y="48"/>
                  </a:lnTo>
                  <a:lnTo>
                    <a:pt x="76" y="11"/>
                  </a:lnTo>
                  <a:lnTo>
                    <a:pt x="0" y="0"/>
                  </a:lnTo>
                </a:path>
              </a:pathLst>
            </a:custGeom>
            <a:noFill/>
            <a:ln w="50800" cap="rnd" cmpd="sng">
              <a:solidFill>
                <a:srgbClr val="FF00FF"/>
              </a:solidFill>
              <a:prstDash val="solid"/>
              <a:round/>
              <a:headEnd type="none" w="med" len="med"/>
              <a:tailEnd type="none" w="med" len="med"/>
            </a:ln>
            <a:effectLst>
              <a:outerShdw dist="35921" dir="2700000" algn="ctr" rotWithShape="0">
                <a:schemeClr val="bg2"/>
              </a:outerShdw>
            </a:effectLst>
          </p:spPr>
          <p:txBody>
            <a:bodyPr/>
            <a:lstStyle/>
            <a:p>
              <a:pPr>
                <a:defRPr/>
              </a:pPr>
              <a:endParaRPr lang="zh-CN" altLang="en-US">
                <a:latin typeface="Arial" charset="0"/>
                <a:ea typeface="宋体" charset="-122"/>
              </a:endParaRPr>
            </a:p>
          </p:txBody>
        </p:sp>
        <p:sp>
          <p:nvSpPr>
            <p:cNvPr id="528394" name="Freeform 10"/>
            <p:cNvSpPr>
              <a:spLocks/>
            </p:cNvSpPr>
            <p:nvPr/>
          </p:nvSpPr>
          <p:spPr bwMode="auto">
            <a:xfrm>
              <a:off x="2950" y="412"/>
              <a:ext cx="514" cy="1283"/>
            </a:xfrm>
            <a:custGeom>
              <a:avLst/>
              <a:gdLst/>
              <a:ahLst/>
              <a:cxnLst>
                <a:cxn ang="0">
                  <a:pos x="0" y="900"/>
                </a:cxn>
                <a:cxn ang="0">
                  <a:pos x="42" y="891"/>
                </a:cxn>
                <a:cxn ang="0">
                  <a:pos x="61" y="879"/>
                </a:cxn>
                <a:cxn ang="0">
                  <a:pos x="82" y="866"/>
                </a:cxn>
                <a:cxn ang="0">
                  <a:pos x="104" y="844"/>
                </a:cxn>
                <a:cxn ang="0">
                  <a:pos x="123" y="816"/>
                </a:cxn>
                <a:cxn ang="0">
                  <a:pos x="144" y="779"/>
                </a:cxn>
                <a:cxn ang="0">
                  <a:pos x="186" y="676"/>
                </a:cxn>
                <a:cxn ang="0">
                  <a:pos x="227" y="528"/>
                </a:cxn>
                <a:cxn ang="0">
                  <a:pos x="267" y="351"/>
                </a:cxn>
                <a:cxn ang="0">
                  <a:pos x="288" y="261"/>
                </a:cxn>
                <a:cxn ang="0">
                  <a:pos x="309" y="178"/>
                </a:cxn>
                <a:cxn ang="0">
                  <a:pos x="330" y="105"/>
                </a:cxn>
                <a:cxn ang="0">
                  <a:pos x="349" y="48"/>
                </a:cxn>
                <a:cxn ang="0">
                  <a:pos x="371" y="11"/>
                </a:cxn>
                <a:cxn ang="0">
                  <a:pos x="392" y="0"/>
                </a:cxn>
              </a:cxnLst>
              <a:rect l="0" t="0" r="r" b="b"/>
              <a:pathLst>
                <a:path w="393" h="901">
                  <a:moveTo>
                    <a:pt x="0" y="900"/>
                  </a:moveTo>
                  <a:lnTo>
                    <a:pt x="42" y="891"/>
                  </a:lnTo>
                  <a:lnTo>
                    <a:pt x="61" y="879"/>
                  </a:lnTo>
                  <a:lnTo>
                    <a:pt x="82" y="866"/>
                  </a:lnTo>
                  <a:lnTo>
                    <a:pt x="104" y="844"/>
                  </a:lnTo>
                  <a:lnTo>
                    <a:pt x="123" y="816"/>
                  </a:lnTo>
                  <a:lnTo>
                    <a:pt x="144" y="779"/>
                  </a:lnTo>
                  <a:lnTo>
                    <a:pt x="186" y="676"/>
                  </a:lnTo>
                  <a:lnTo>
                    <a:pt x="227" y="528"/>
                  </a:lnTo>
                  <a:lnTo>
                    <a:pt x="267" y="351"/>
                  </a:lnTo>
                  <a:lnTo>
                    <a:pt x="288" y="261"/>
                  </a:lnTo>
                  <a:lnTo>
                    <a:pt x="309" y="178"/>
                  </a:lnTo>
                  <a:lnTo>
                    <a:pt x="330" y="105"/>
                  </a:lnTo>
                  <a:lnTo>
                    <a:pt x="349" y="48"/>
                  </a:lnTo>
                  <a:lnTo>
                    <a:pt x="371" y="11"/>
                  </a:lnTo>
                  <a:lnTo>
                    <a:pt x="392" y="0"/>
                  </a:lnTo>
                </a:path>
              </a:pathLst>
            </a:custGeom>
            <a:noFill/>
            <a:ln w="50800" cap="rnd" cmpd="sng">
              <a:solidFill>
                <a:srgbClr val="FF00FF"/>
              </a:solidFill>
              <a:prstDash val="solid"/>
              <a:round/>
              <a:headEnd type="none" w="med" len="med"/>
              <a:tailEnd type="none" w="med" len="med"/>
            </a:ln>
            <a:effectLst>
              <a:outerShdw dist="35921" dir="2700000" algn="ctr" rotWithShape="0">
                <a:schemeClr val="bg2"/>
              </a:outerShdw>
            </a:effectLst>
          </p:spPr>
          <p:txBody>
            <a:bodyPr/>
            <a:lstStyle/>
            <a:p>
              <a:pPr>
                <a:defRPr/>
              </a:pPr>
              <a:endParaRPr lang="zh-CN" altLang="en-US">
                <a:latin typeface="Arial" charset="0"/>
                <a:ea typeface="宋体" charset="-122"/>
              </a:endParaRPr>
            </a:p>
          </p:txBody>
        </p:sp>
        <p:sp>
          <p:nvSpPr>
            <p:cNvPr id="23567" name="Rectangle 11"/>
            <p:cNvSpPr>
              <a:spLocks noChangeArrowheads="1"/>
            </p:cNvSpPr>
            <p:nvPr/>
          </p:nvSpPr>
          <p:spPr bwMode="auto">
            <a:xfrm rot="-5400000">
              <a:off x="2746" y="969"/>
              <a:ext cx="166" cy="75"/>
            </a:xfrm>
            <a:prstGeom prst="rect">
              <a:avLst/>
            </a:prstGeom>
            <a:noFill/>
            <a:ln w="12700">
              <a:noFill/>
              <a:miter lim="800000"/>
              <a:headEnd/>
              <a:tailEnd/>
            </a:ln>
          </p:spPr>
          <p:txBody>
            <a:bodyPr wrap="none" anchor="ctr"/>
            <a:lstStyle/>
            <a:p>
              <a:endParaRPr lang="zh-CN" altLang="en-US"/>
            </a:p>
          </p:txBody>
        </p:sp>
        <p:sp>
          <p:nvSpPr>
            <p:cNvPr id="528396" name="Rectangle 12"/>
            <p:cNvSpPr>
              <a:spLocks noChangeArrowheads="1"/>
            </p:cNvSpPr>
            <p:nvPr/>
          </p:nvSpPr>
          <p:spPr bwMode="auto">
            <a:xfrm>
              <a:off x="5081" y="1646"/>
              <a:ext cx="248" cy="347"/>
            </a:xfrm>
            <a:prstGeom prst="rect">
              <a:avLst/>
            </a:prstGeom>
            <a:noFill/>
            <a:ln w="12700">
              <a:noFill/>
              <a:miter lim="800000"/>
              <a:headEnd/>
              <a:tailEnd/>
            </a:ln>
            <a:effectLst>
              <a:outerShdw dist="35921" dir="2700000" algn="ctr" rotWithShape="0">
                <a:schemeClr val="bg2"/>
              </a:outerShdw>
            </a:effectLst>
          </p:spPr>
          <p:txBody>
            <a:bodyPr wrap="none" lIns="90488" tIns="44450" rIns="90488" bIns="44450">
              <a:spAutoFit/>
            </a:bodyPr>
            <a:lstStyle/>
            <a:p>
              <a:pPr eaLnBrk="0" hangingPunct="0">
                <a:defRPr/>
              </a:pPr>
              <a:r>
                <a:rPr kumimoji="1" lang="en-US" altLang="zh-CN" sz="3000" b="1" dirty="0">
                  <a:solidFill>
                    <a:srgbClr val="000000"/>
                  </a:solidFill>
                  <a:latin typeface="Symbol" pitchFamily="18" charset="2"/>
                  <a:ea typeface="宋体" charset="-122"/>
                </a:rPr>
                <a:t></a:t>
              </a:r>
            </a:p>
          </p:txBody>
        </p:sp>
        <p:sp>
          <p:nvSpPr>
            <p:cNvPr id="528397" name="Rectangle 13"/>
            <p:cNvSpPr>
              <a:spLocks noChangeArrowheads="1"/>
            </p:cNvSpPr>
            <p:nvPr/>
          </p:nvSpPr>
          <p:spPr bwMode="auto">
            <a:xfrm>
              <a:off x="5193" y="1676"/>
              <a:ext cx="205" cy="250"/>
            </a:xfrm>
            <a:prstGeom prst="rect">
              <a:avLst/>
            </a:prstGeom>
            <a:noFill/>
            <a:ln w="12700">
              <a:noFill/>
              <a:miter lim="800000"/>
              <a:headEnd/>
              <a:tailEnd/>
            </a:ln>
            <a:effectLst>
              <a:outerShdw dist="35921" dir="2700000" algn="ctr" rotWithShape="0">
                <a:schemeClr val="bg2"/>
              </a:outerShdw>
            </a:effectLst>
          </p:spPr>
          <p:txBody>
            <a:bodyPr wrap="none" lIns="90488" tIns="44450" rIns="90488" bIns="44450">
              <a:spAutoFit/>
            </a:bodyPr>
            <a:lstStyle/>
            <a:p>
              <a:pPr eaLnBrk="0" hangingPunct="0">
                <a:defRPr/>
              </a:pPr>
              <a:r>
                <a:rPr kumimoji="1" lang="en-US" altLang="zh-CN" sz="2000" b="1">
                  <a:solidFill>
                    <a:srgbClr val="000000"/>
                  </a:solidFill>
                  <a:latin typeface="Arial" charset="0"/>
                  <a:ea typeface="宋体" charset="-122"/>
                </a:rPr>
                <a:t>2</a:t>
              </a:r>
            </a:p>
          </p:txBody>
        </p:sp>
        <p:sp>
          <p:nvSpPr>
            <p:cNvPr id="528398" name="Rectangle 14"/>
            <p:cNvSpPr>
              <a:spLocks noChangeArrowheads="1"/>
            </p:cNvSpPr>
            <p:nvPr/>
          </p:nvSpPr>
          <p:spPr bwMode="auto">
            <a:xfrm>
              <a:off x="2744" y="1546"/>
              <a:ext cx="223" cy="289"/>
            </a:xfrm>
            <a:prstGeom prst="rect">
              <a:avLst/>
            </a:prstGeom>
            <a:noFill/>
            <a:ln w="12700">
              <a:noFill/>
              <a:miter lim="800000"/>
              <a:headEnd/>
              <a:tailEnd/>
            </a:ln>
            <a:effectLst>
              <a:outerShdw dist="35921" dir="2700000" algn="ctr" rotWithShape="0">
                <a:schemeClr val="bg2"/>
              </a:outerShdw>
            </a:effectLst>
          </p:spPr>
          <p:txBody>
            <a:bodyPr wrap="none" lIns="90488" tIns="44450" rIns="90488" bIns="44450">
              <a:spAutoFit/>
            </a:bodyPr>
            <a:lstStyle/>
            <a:p>
              <a:pPr eaLnBrk="0" hangingPunct="0">
                <a:defRPr/>
              </a:pPr>
              <a:r>
                <a:rPr kumimoji="1" lang="en-US" altLang="zh-CN" sz="2400" b="1">
                  <a:effectLst>
                    <a:outerShdw blurRad="38100" dist="38100" dir="2700000" algn="tl">
                      <a:srgbClr val="C0C0C0"/>
                    </a:outerShdw>
                  </a:effectLst>
                  <a:latin typeface="Arial" charset="0"/>
                  <a:ea typeface="宋体" charset="-122"/>
                </a:rPr>
                <a:t>0</a:t>
              </a:r>
            </a:p>
          </p:txBody>
        </p:sp>
        <p:sp>
          <p:nvSpPr>
            <p:cNvPr id="528399" name="Rectangle 15"/>
            <p:cNvSpPr>
              <a:spLocks noChangeArrowheads="1"/>
            </p:cNvSpPr>
            <p:nvPr/>
          </p:nvSpPr>
          <p:spPr bwMode="auto">
            <a:xfrm>
              <a:off x="4377" y="914"/>
              <a:ext cx="816" cy="235"/>
            </a:xfrm>
            <a:prstGeom prst="rect">
              <a:avLst/>
            </a:prstGeom>
            <a:solidFill>
              <a:srgbClr val="FFCC66"/>
            </a:solidFill>
            <a:ln w="12700">
              <a:noFill/>
              <a:miter lim="800000"/>
              <a:headEnd/>
              <a:tailEnd/>
            </a:ln>
            <a:effectLst>
              <a:outerShdw dist="35921" dir="2700000" algn="ctr" rotWithShape="0">
                <a:schemeClr val="bg2"/>
              </a:outerShdw>
            </a:effectLst>
          </p:spPr>
          <p:txBody>
            <a:bodyPr lIns="18000" tIns="0" rIns="18000" bIns="7200">
              <a:spAutoFit/>
            </a:bodyPr>
            <a:lstStyle/>
            <a:p>
              <a:pPr eaLnBrk="0" hangingPunct="0">
                <a:spcBef>
                  <a:spcPct val="50000"/>
                </a:spcBef>
                <a:defRPr/>
              </a:pPr>
              <a:r>
                <a:rPr kumimoji="1" lang="en-US" altLang="zh-CN" sz="2400" b="1">
                  <a:latin typeface="Symbol" pitchFamily="18" charset="2"/>
                  <a:ea typeface="宋体" charset="-122"/>
                </a:rPr>
                <a:t> </a:t>
              </a:r>
              <a:r>
                <a:rPr kumimoji="1" lang="en-US" altLang="zh-CN" sz="2000" b="1">
                  <a:latin typeface="Symbol" pitchFamily="18" charset="2"/>
                  <a:ea typeface="宋体" charset="-122"/>
                </a:rPr>
                <a:t></a:t>
              </a:r>
              <a:r>
                <a:rPr kumimoji="1" lang="en-US" altLang="zh-CN" sz="2000" b="1">
                  <a:latin typeface="Arial" charset="0"/>
                  <a:ea typeface="宋体" charset="-122"/>
                </a:rPr>
                <a:t>=</a:t>
              </a:r>
              <a:r>
                <a:rPr kumimoji="1" lang="en-US" altLang="zh-CN" sz="2400" b="1">
                  <a:latin typeface="Times New Roman" pitchFamily="18" charset="0"/>
                  <a:ea typeface="宋体" charset="-122"/>
                </a:rPr>
                <a:t>0.05</a:t>
              </a:r>
            </a:p>
          </p:txBody>
        </p:sp>
        <p:sp>
          <p:nvSpPr>
            <p:cNvPr id="23572" name="Line 16"/>
            <p:cNvSpPr>
              <a:spLocks noChangeShapeType="1"/>
            </p:cNvSpPr>
            <p:nvPr/>
          </p:nvSpPr>
          <p:spPr bwMode="auto">
            <a:xfrm flipH="1">
              <a:off x="4479" y="1159"/>
              <a:ext cx="119" cy="453"/>
            </a:xfrm>
            <a:prstGeom prst="line">
              <a:avLst/>
            </a:prstGeom>
            <a:noFill/>
            <a:ln w="12700">
              <a:solidFill>
                <a:schemeClr val="tx2"/>
              </a:solidFill>
              <a:round/>
              <a:headEnd/>
              <a:tailEnd type="triangle" w="med" len="med"/>
            </a:ln>
          </p:spPr>
          <p:txBody>
            <a:bodyPr wrap="none" anchor="ctr"/>
            <a:lstStyle/>
            <a:p>
              <a:endParaRPr lang="zh-CN" altLang="en-US"/>
            </a:p>
          </p:txBody>
        </p:sp>
        <p:sp>
          <p:nvSpPr>
            <p:cNvPr id="23573" name="Line 17"/>
            <p:cNvSpPr>
              <a:spLocks noChangeShapeType="1"/>
            </p:cNvSpPr>
            <p:nvPr/>
          </p:nvSpPr>
          <p:spPr bwMode="auto">
            <a:xfrm flipV="1">
              <a:off x="2950" y="255"/>
              <a:ext cx="0" cy="1551"/>
            </a:xfrm>
            <a:prstGeom prst="line">
              <a:avLst/>
            </a:prstGeom>
            <a:noFill/>
            <a:ln w="38100">
              <a:solidFill>
                <a:schemeClr val="tx1"/>
              </a:solidFill>
              <a:round/>
              <a:headEnd/>
              <a:tailEnd type="triangle" w="med" len="med"/>
            </a:ln>
          </p:spPr>
          <p:txBody>
            <a:bodyPr/>
            <a:lstStyle/>
            <a:p>
              <a:endParaRPr lang="zh-CN" altLang="en-US"/>
            </a:p>
          </p:txBody>
        </p:sp>
        <p:sp>
          <p:nvSpPr>
            <p:cNvPr id="23574" name="Line 18"/>
            <p:cNvSpPr>
              <a:spLocks noChangeShapeType="1"/>
            </p:cNvSpPr>
            <p:nvPr/>
          </p:nvSpPr>
          <p:spPr bwMode="auto">
            <a:xfrm flipV="1">
              <a:off x="2950" y="1676"/>
              <a:ext cx="2637" cy="64"/>
            </a:xfrm>
            <a:prstGeom prst="line">
              <a:avLst/>
            </a:prstGeom>
            <a:noFill/>
            <a:ln w="38100">
              <a:solidFill>
                <a:schemeClr val="tx1"/>
              </a:solidFill>
              <a:round/>
              <a:headEnd/>
              <a:tailEnd type="triangle" w="med" len="med"/>
            </a:ln>
          </p:spPr>
          <p:txBody>
            <a:bodyPr/>
            <a:lstStyle/>
            <a:p>
              <a:endParaRPr lang="zh-CN" altLang="en-US"/>
            </a:p>
          </p:txBody>
        </p:sp>
        <p:sp>
          <p:nvSpPr>
            <p:cNvPr id="23575" name="Text Box 19"/>
            <p:cNvSpPr txBox="1">
              <a:spLocks noChangeArrowheads="1"/>
            </p:cNvSpPr>
            <p:nvPr/>
          </p:nvSpPr>
          <p:spPr bwMode="auto">
            <a:xfrm>
              <a:off x="4195" y="1702"/>
              <a:ext cx="879" cy="250"/>
            </a:xfrm>
            <a:prstGeom prst="rect">
              <a:avLst/>
            </a:prstGeom>
            <a:noFill/>
            <a:ln w="9525">
              <a:noFill/>
              <a:miter lim="800000"/>
              <a:headEnd/>
              <a:tailEnd/>
            </a:ln>
          </p:spPr>
          <p:txBody>
            <a:bodyPr>
              <a:spAutoFit/>
            </a:bodyPr>
            <a:lstStyle/>
            <a:p>
              <a:pPr>
                <a:spcBef>
                  <a:spcPct val="50000"/>
                </a:spcBef>
              </a:pPr>
              <a:r>
                <a:rPr lang="en-US" altLang="zh-CN" sz="2000" b="1">
                  <a:solidFill>
                    <a:srgbClr val="FF0066"/>
                  </a:solidFill>
                </a:rPr>
                <a:t>16.92</a:t>
              </a:r>
            </a:p>
          </p:txBody>
        </p:sp>
        <p:sp>
          <p:nvSpPr>
            <p:cNvPr id="23576" name="Line 20"/>
            <p:cNvSpPr>
              <a:spLocks noChangeShapeType="1"/>
            </p:cNvSpPr>
            <p:nvPr/>
          </p:nvSpPr>
          <p:spPr bwMode="auto">
            <a:xfrm>
              <a:off x="4373" y="1353"/>
              <a:ext cx="0" cy="323"/>
            </a:xfrm>
            <a:prstGeom prst="line">
              <a:avLst/>
            </a:prstGeom>
            <a:noFill/>
            <a:ln w="38100">
              <a:solidFill>
                <a:srgbClr val="FF0066"/>
              </a:solidFill>
              <a:round/>
              <a:headEnd/>
              <a:tailEnd/>
            </a:ln>
          </p:spPr>
          <p:txBody>
            <a:bodyPr/>
            <a:lstStyle/>
            <a:p>
              <a:endParaRPr lang="zh-CN" altLang="en-US"/>
            </a:p>
          </p:txBody>
        </p:sp>
        <p:sp>
          <p:nvSpPr>
            <p:cNvPr id="23577" name="Line 21"/>
            <p:cNvSpPr>
              <a:spLocks noChangeShapeType="1"/>
            </p:cNvSpPr>
            <p:nvPr/>
          </p:nvSpPr>
          <p:spPr bwMode="auto">
            <a:xfrm flipH="1">
              <a:off x="4377" y="1930"/>
              <a:ext cx="0" cy="387"/>
            </a:xfrm>
            <a:prstGeom prst="line">
              <a:avLst/>
            </a:prstGeom>
            <a:noFill/>
            <a:ln w="38100">
              <a:solidFill>
                <a:srgbClr val="FF0066"/>
              </a:solidFill>
              <a:round/>
              <a:headEnd/>
              <a:tailEnd/>
            </a:ln>
          </p:spPr>
          <p:txBody>
            <a:bodyPr/>
            <a:lstStyle/>
            <a:p>
              <a:endParaRPr lang="zh-CN" altLang="en-US"/>
            </a:p>
          </p:txBody>
        </p:sp>
        <p:sp>
          <p:nvSpPr>
            <p:cNvPr id="23578" name="Line 22"/>
            <p:cNvSpPr>
              <a:spLocks noChangeShapeType="1"/>
            </p:cNvSpPr>
            <p:nvPr/>
          </p:nvSpPr>
          <p:spPr bwMode="auto">
            <a:xfrm>
              <a:off x="4426" y="2031"/>
              <a:ext cx="653" cy="1"/>
            </a:xfrm>
            <a:prstGeom prst="line">
              <a:avLst/>
            </a:prstGeom>
            <a:noFill/>
            <a:ln w="28575">
              <a:solidFill>
                <a:srgbClr val="CC0099"/>
              </a:solidFill>
              <a:round/>
              <a:headEnd/>
              <a:tailEnd type="triangle" w="med" len="med"/>
            </a:ln>
          </p:spPr>
          <p:txBody>
            <a:bodyPr/>
            <a:lstStyle/>
            <a:p>
              <a:endParaRPr lang="zh-CN" altLang="en-US"/>
            </a:p>
          </p:txBody>
        </p:sp>
        <p:sp>
          <p:nvSpPr>
            <p:cNvPr id="23579" name="Line 23"/>
            <p:cNvSpPr>
              <a:spLocks noChangeShapeType="1"/>
            </p:cNvSpPr>
            <p:nvPr/>
          </p:nvSpPr>
          <p:spPr bwMode="auto">
            <a:xfrm flipH="1" flipV="1">
              <a:off x="3265" y="2064"/>
              <a:ext cx="1067" cy="5"/>
            </a:xfrm>
            <a:prstGeom prst="line">
              <a:avLst/>
            </a:prstGeom>
            <a:noFill/>
            <a:ln w="28575">
              <a:solidFill>
                <a:srgbClr val="3333FF"/>
              </a:solidFill>
              <a:round/>
              <a:headEnd/>
              <a:tailEnd type="triangle" w="med" len="med"/>
            </a:ln>
          </p:spPr>
          <p:txBody>
            <a:bodyPr/>
            <a:lstStyle/>
            <a:p>
              <a:endParaRPr lang="zh-CN" altLang="en-US"/>
            </a:p>
          </p:txBody>
        </p:sp>
        <p:sp>
          <p:nvSpPr>
            <p:cNvPr id="23580" name="Text Box 24"/>
            <p:cNvSpPr txBox="1">
              <a:spLocks noChangeArrowheads="1"/>
            </p:cNvSpPr>
            <p:nvPr/>
          </p:nvSpPr>
          <p:spPr bwMode="auto">
            <a:xfrm>
              <a:off x="2789" y="2132"/>
              <a:ext cx="2787" cy="232"/>
            </a:xfrm>
            <a:prstGeom prst="rect">
              <a:avLst/>
            </a:prstGeom>
            <a:noFill/>
            <a:ln w="9525">
              <a:noFill/>
              <a:miter lim="800000"/>
              <a:headEnd/>
              <a:tailEnd/>
            </a:ln>
          </p:spPr>
          <p:txBody>
            <a:bodyPr>
              <a:spAutoFit/>
            </a:bodyPr>
            <a:lstStyle/>
            <a:p>
              <a:pPr>
                <a:spcBef>
                  <a:spcPct val="50000"/>
                </a:spcBef>
              </a:pPr>
              <a:r>
                <a:rPr lang="en-US" altLang="zh-CN" b="1" dirty="0">
                  <a:solidFill>
                    <a:srgbClr val="FF0066"/>
                  </a:solidFill>
                </a:rPr>
                <a:t>                  </a:t>
              </a:r>
              <a:r>
                <a:rPr lang="zh-CN" altLang="en-US" b="1" dirty="0">
                  <a:solidFill>
                    <a:srgbClr val="3333FF"/>
                  </a:solidFill>
                </a:rPr>
                <a:t>不能拒绝            </a:t>
              </a:r>
              <a:r>
                <a:rPr lang="zh-CN" altLang="en-US" b="1" dirty="0">
                  <a:solidFill>
                    <a:srgbClr val="FF0066"/>
                  </a:solidFill>
                </a:rPr>
                <a:t>拒绝域</a:t>
              </a:r>
            </a:p>
          </p:txBody>
        </p:sp>
      </p:grpSp>
      <p:sp>
        <p:nvSpPr>
          <p:cNvPr id="23561" name="Text Box 25"/>
          <p:cNvSpPr txBox="1">
            <a:spLocks noChangeArrowheads="1"/>
          </p:cNvSpPr>
          <p:nvPr/>
        </p:nvSpPr>
        <p:spPr bwMode="auto">
          <a:xfrm>
            <a:off x="1774825" y="3013547"/>
            <a:ext cx="3455988" cy="519113"/>
          </a:xfrm>
          <a:prstGeom prst="rect">
            <a:avLst/>
          </a:prstGeom>
          <a:noFill/>
          <a:ln w="9525">
            <a:noFill/>
            <a:miter lim="800000"/>
            <a:headEnd/>
            <a:tailEnd/>
          </a:ln>
        </p:spPr>
        <p:txBody>
          <a:bodyPr>
            <a:spAutoFit/>
          </a:bodyPr>
          <a:lstStyle/>
          <a:p>
            <a:pPr>
              <a:spcBef>
                <a:spcPct val="50000"/>
              </a:spcBef>
            </a:pPr>
            <a:r>
              <a:rPr lang="zh-CN" altLang="en-US" sz="2800" b="1" dirty="0">
                <a:solidFill>
                  <a:srgbClr val="0070C0"/>
                </a:solidFill>
              </a:rPr>
              <a:t>检验统计量的值：</a:t>
            </a:r>
          </a:p>
        </p:txBody>
      </p:sp>
      <p:sp>
        <p:nvSpPr>
          <p:cNvPr id="528410" name="Rectangle 26"/>
          <p:cNvSpPr>
            <a:spLocks noChangeArrowheads="1"/>
          </p:cNvSpPr>
          <p:nvPr/>
        </p:nvSpPr>
        <p:spPr bwMode="auto">
          <a:xfrm>
            <a:off x="2095501" y="5429251"/>
            <a:ext cx="2327275" cy="519113"/>
          </a:xfrm>
          <a:prstGeom prst="rect">
            <a:avLst/>
          </a:prstGeom>
          <a:noFill/>
          <a:ln w="9525">
            <a:noFill/>
            <a:miter lim="800000"/>
            <a:headEnd/>
            <a:tailEnd/>
          </a:ln>
        </p:spPr>
        <p:txBody>
          <a:bodyPr wrap="none">
            <a:spAutoFit/>
          </a:bodyPr>
          <a:lstStyle/>
          <a:p>
            <a:r>
              <a:rPr lang="zh-CN" altLang="en-US" sz="2800" b="1">
                <a:solidFill>
                  <a:srgbClr val="FF33CC"/>
                </a:solidFill>
              </a:rPr>
              <a:t>决策和结论：</a:t>
            </a:r>
          </a:p>
        </p:txBody>
      </p:sp>
      <p:graphicFrame>
        <p:nvGraphicFramePr>
          <p:cNvPr id="23555" name="Object 27"/>
          <p:cNvGraphicFramePr>
            <a:graphicFrameLocks noChangeAspect="1"/>
          </p:cNvGraphicFramePr>
          <p:nvPr>
            <p:extLst>
              <p:ext uri="{D42A27DB-BD31-4B8C-83A1-F6EECF244321}">
                <p14:modId xmlns:p14="http://schemas.microsoft.com/office/powerpoint/2010/main" val="2223465420"/>
              </p:ext>
            </p:extLst>
          </p:nvPr>
        </p:nvGraphicFramePr>
        <p:xfrm>
          <a:off x="2095501" y="4635821"/>
          <a:ext cx="5176045" cy="593253"/>
        </p:xfrm>
        <a:graphic>
          <a:graphicData uri="http://schemas.openxmlformats.org/presentationml/2006/ole">
            <mc:AlternateContent xmlns:mc="http://schemas.openxmlformats.org/markup-compatibility/2006">
              <mc:Choice xmlns:v="urn:schemas-microsoft-com:vml" Requires="v">
                <p:oleObj name="公式" r:id="rId3" imgW="2336760" imgH="241200" progId="Equation.3">
                  <p:embed/>
                </p:oleObj>
              </mc:Choice>
              <mc:Fallback>
                <p:oleObj name="公式" r:id="rId3" imgW="2336760" imgH="241200" progId="Equation.3">
                  <p:embed/>
                  <p:pic>
                    <p:nvPicPr>
                      <p:cNvPr id="23555" name="Object 27"/>
                      <p:cNvPicPr>
                        <a:picLocks noChangeAspect="1" noChangeArrowheads="1"/>
                      </p:cNvPicPr>
                      <p:nvPr/>
                    </p:nvPicPr>
                    <p:blipFill>
                      <a:blip r:embed="rId4"/>
                      <a:srcRect/>
                      <a:stretch>
                        <a:fillRect/>
                      </a:stretch>
                    </p:blipFill>
                    <p:spPr bwMode="auto">
                      <a:xfrm>
                        <a:off x="2095501" y="4635821"/>
                        <a:ext cx="5176045" cy="593253"/>
                      </a:xfrm>
                      <a:prstGeom prst="rect">
                        <a:avLst/>
                      </a:prstGeom>
                      <a:noFill/>
                    </p:spPr>
                  </p:pic>
                </p:oleObj>
              </mc:Fallback>
            </mc:AlternateContent>
          </a:graphicData>
        </a:graphic>
      </p:graphicFrame>
      <p:graphicFrame>
        <p:nvGraphicFramePr>
          <p:cNvPr id="3" name="对象 2"/>
          <p:cNvGraphicFramePr>
            <a:graphicFrameLocks noChangeAspect="1"/>
          </p:cNvGraphicFramePr>
          <p:nvPr>
            <p:extLst>
              <p:ext uri="{D42A27DB-BD31-4B8C-83A1-F6EECF244321}">
                <p14:modId xmlns:p14="http://schemas.microsoft.com/office/powerpoint/2010/main" val="817288298"/>
              </p:ext>
            </p:extLst>
          </p:nvPr>
        </p:nvGraphicFramePr>
        <p:xfrm>
          <a:off x="2345551" y="3475038"/>
          <a:ext cx="5954694" cy="989015"/>
        </p:xfrm>
        <a:graphic>
          <a:graphicData uri="http://schemas.openxmlformats.org/presentationml/2006/ole">
            <mc:AlternateContent xmlns:mc="http://schemas.openxmlformats.org/markup-compatibility/2006">
              <mc:Choice xmlns:v="urn:schemas-microsoft-com:vml" Requires="v">
                <p:oleObj name="公式" r:id="rId5" imgW="2755900" imgH="457200" progId="Equation.3">
                  <p:embed/>
                </p:oleObj>
              </mc:Choice>
              <mc:Fallback>
                <p:oleObj name="公式" r:id="rId5" imgW="2755900" imgH="457200" progId="Equation.3">
                  <p:embed/>
                  <p:pic>
                    <p:nvPicPr>
                      <p:cNvPr id="0" name="Object 11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345551" y="3475038"/>
                        <a:ext cx="5954694" cy="989015"/>
                      </a:xfrm>
                      <a:prstGeom prst="rect">
                        <a:avLst/>
                      </a:prstGeom>
                      <a:noFill/>
                    </p:spPr>
                  </p:pic>
                </p:oleObj>
              </mc:Fallback>
            </mc:AlternateContent>
          </a:graphicData>
        </a:graphic>
      </p:graphicFrame>
      <p:sp>
        <p:nvSpPr>
          <p:cNvPr id="4" name="Rectangle 115"/>
          <p:cNvSpPr>
            <a:spLocks noChangeArrowheads="1"/>
          </p:cNvSpPr>
          <p:nvPr/>
        </p:nvSpPr>
        <p:spPr bwMode="auto">
          <a:xfrm>
            <a:off x="-1" y="-1"/>
            <a:ext cx="19698283"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graphicFrame>
        <p:nvGraphicFramePr>
          <p:cNvPr id="5" name="对象 4"/>
          <p:cNvGraphicFramePr>
            <a:graphicFrameLocks noChangeAspect="1"/>
          </p:cNvGraphicFramePr>
          <p:nvPr>
            <p:extLst>
              <p:ext uri="{D42A27DB-BD31-4B8C-83A1-F6EECF244321}">
                <p14:modId xmlns:p14="http://schemas.microsoft.com/office/powerpoint/2010/main" val="349668824"/>
              </p:ext>
            </p:extLst>
          </p:nvPr>
        </p:nvGraphicFramePr>
        <p:xfrm>
          <a:off x="3128215" y="2416971"/>
          <a:ext cx="2209935" cy="515934"/>
        </p:xfrm>
        <a:graphic>
          <a:graphicData uri="http://schemas.openxmlformats.org/presentationml/2006/ole">
            <mc:AlternateContent xmlns:mc="http://schemas.openxmlformats.org/markup-compatibility/2006">
              <mc:Choice xmlns:v="urn:schemas-microsoft-com:vml" Requires="v">
                <p:oleObj name="公式" r:id="rId7" imgW="1143000" imgH="241200" progId="Equation.3">
                  <p:embed/>
                </p:oleObj>
              </mc:Choice>
              <mc:Fallback>
                <p:oleObj name="公式" r:id="rId7" imgW="1143000" imgH="241200" progId="Equation.3">
                  <p:embed/>
                  <p:pic>
                    <p:nvPicPr>
                      <p:cNvPr id="0" name="Object 114"/>
                      <p:cNvPicPr>
                        <a:picLocks noChangeAspect="1" noChangeArrowheads="1"/>
                      </p:cNvPicPr>
                      <p:nvPr/>
                    </p:nvPicPr>
                    <p:blipFill>
                      <a:blip r:embed="rId8"/>
                      <a:srcRect/>
                      <a:stretch>
                        <a:fillRect/>
                      </a:stretch>
                    </p:blipFill>
                    <p:spPr bwMode="auto">
                      <a:xfrm>
                        <a:off x="3128215" y="2416971"/>
                        <a:ext cx="2209935" cy="515934"/>
                      </a:xfrm>
                      <a:prstGeom prst="rect">
                        <a:avLst/>
                      </a:prstGeom>
                      <a:noFill/>
                    </p:spPr>
                  </p:pic>
                </p:oleObj>
              </mc:Fallback>
            </mc:AlternateContent>
          </a:graphicData>
        </a:graphic>
      </p:graphicFrame>
    </p:spTree>
    <p:extLst>
      <p:ext uri="{BB962C8B-B14F-4D97-AF65-F5344CB8AC3E}">
        <p14:creationId xmlns:p14="http://schemas.microsoft.com/office/powerpoint/2010/main" val="38072726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528410">
                                            <p:txEl>
                                              <p:pRg st="0" end="0"/>
                                            </p:txEl>
                                          </p:spTgt>
                                        </p:tgtEl>
                                        <p:attrNameLst>
                                          <p:attrName>style.visibility</p:attrName>
                                        </p:attrNameLst>
                                      </p:cBhvr>
                                      <p:to>
                                        <p:strVal val="visible"/>
                                      </p:to>
                                    </p:set>
                                    <p:animEffect transition="in" filter="wipe(down)">
                                      <p:cBhvr>
                                        <p:cTn id="7" dur="500"/>
                                        <p:tgtEl>
                                          <p:spTgt spid="528410">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528388">
                                            <p:txEl>
                                              <p:pRg st="0" end="0"/>
                                            </p:txEl>
                                          </p:spTgt>
                                        </p:tgtEl>
                                        <p:attrNameLst>
                                          <p:attrName>style.visibility</p:attrName>
                                        </p:attrNameLst>
                                      </p:cBhvr>
                                      <p:to>
                                        <p:strVal val="visible"/>
                                      </p:to>
                                    </p:set>
                                    <p:animEffect transition="in" filter="wipe(left)">
                                      <p:cBhvr>
                                        <p:cTn id="11" dur="500"/>
                                        <p:tgtEl>
                                          <p:spTgt spid="52838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8388" grpId="0" build="p" autoUpdateAnimBg="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灯片编号占位符 6"/>
          <p:cNvSpPr>
            <a:spLocks noGrp="1"/>
          </p:cNvSpPr>
          <p:nvPr>
            <p:ph type="sldNum" sz="quarter" idx="12"/>
          </p:nvPr>
        </p:nvSpPr>
        <p:spPr>
          <a:noFill/>
        </p:spPr>
        <p:txBody>
          <a:bodyPr/>
          <a:lstStyle/>
          <a:p>
            <a:r>
              <a:rPr lang="en-US" altLang="zh-CN">
                <a:ea typeface="宋体" pitchFamily="2" charset="-122"/>
              </a:rPr>
              <a:t>8--</a:t>
            </a:r>
            <a:fld id="{CAB5D8C0-0479-4504-BEA5-09E708BE696E}" type="slidenum">
              <a:rPr lang="en-US" altLang="zh-CN" smtClean="0">
                <a:ea typeface="宋体" pitchFamily="2" charset="-122"/>
              </a:rPr>
              <a:pPr/>
              <a:t>57</a:t>
            </a:fld>
            <a:endParaRPr lang="en-US" altLang="zh-CN">
              <a:ea typeface="宋体" pitchFamily="2" charset="-122"/>
            </a:endParaRPr>
          </a:p>
        </p:txBody>
      </p:sp>
      <p:sp>
        <p:nvSpPr>
          <p:cNvPr id="92163" name="Rectangle 2"/>
          <p:cNvSpPr>
            <a:spLocks noGrp="1" noChangeArrowheads="1"/>
          </p:cNvSpPr>
          <p:nvPr>
            <p:ph type="title"/>
          </p:nvPr>
        </p:nvSpPr>
        <p:spPr>
          <a:xfrm>
            <a:off x="3000375" y="260350"/>
            <a:ext cx="7239000" cy="1143000"/>
          </a:xfrm>
          <a:noFill/>
        </p:spPr>
        <p:txBody>
          <a:bodyPr vert="horz" lIns="90488" tIns="44450" rIns="90488" bIns="44450" rtlCol="0" anchor="ctr" anchorCtr="1">
            <a:normAutofit/>
          </a:bodyPr>
          <a:lstStyle/>
          <a:p>
            <a:pPr eaLnBrk="1" hangingPunct="1"/>
            <a:r>
              <a:rPr lang="en-US" altLang="zh-CN" sz="4000" dirty="0">
                <a:latin typeface="Symbol" pitchFamily="18" charset="2"/>
              </a:rPr>
              <a:t></a:t>
            </a:r>
            <a:r>
              <a:rPr lang="en-US" altLang="zh-CN" sz="4000" baseline="30000" dirty="0"/>
              <a:t>2</a:t>
            </a:r>
            <a:r>
              <a:rPr lang="zh-CN" altLang="en-US" sz="4000" dirty="0"/>
              <a:t>检验（</a:t>
            </a:r>
            <a:r>
              <a:rPr lang="zh-CN" altLang="en-US" sz="4000" dirty="0">
                <a:solidFill>
                  <a:srgbClr val="00B0F0"/>
                </a:solidFill>
              </a:rPr>
              <a:t>例</a:t>
            </a:r>
            <a:r>
              <a:rPr lang="en-US" altLang="zh-CN" sz="4000" dirty="0">
                <a:solidFill>
                  <a:srgbClr val="00B0F0"/>
                </a:solidFill>
              </a:rPr>
              <a:t>+</a:t>
            </a:r>
            <a:r>
              <a:rPr lang="zh-CN" altLang="en-US" sz="4000" dirty="0"/>
              <a:t>）</a:t>
            </a:r>
            <a:endParaRPr lang="zh-CN" altLang="en-US" dirty="0"/>
          </a:p>
        </p:txBody>
      </p:sp>
      <p:sp>
        <p:nvSpPr>
          <p:cNvPr id="76803" name="Rectangle 3"/>
          <p:cNvSpPr>
            <a:spLocks noGrp="1" noChangeArrowheads="1"/>
          </p:cNvSpPr>
          <p:nvPr>
            <p:ph type="body" sz="half" idx="1"/>
          </p:nvPr>
        </p:nvSpPr>
        <p:spPr>
          <a:xfrm>
            <a:off x="2628900" y="1295400"/>
            <a:ext cx="6743700" cy="4870450"/>
          </a:xfrm>
          <a:noFill/>
        </p:spPr>
        <p:txBody>
          <a:bodyPr vert="horz" lIns="90488" tIns="44450" rIns="90488" bIns="44450" rtlCol="0">
            <a:normAutofit/>
          </a:bodyPr>
          <a:lstStyle/>
          <a:p>
            <a:pPr marL="0" indent="0" algn="just">
              <a:lnSpc>
                <a:spcPct val="110000"/>
              </a:lnSpc>
              <a:spcBef>
                <a:spcPct val="25000"/>
              </a:spcBef>
              <a:buNone/>
            </a:pPr>
            <a:r>
              <a:rPr lang="en-US" altLang="zh-CN" dirty="0">
                <a:solidFill>
                  <a:srgbClr val="FF0066"/>
                </a:solidFill>
              </a:rPr>
              <a:t>【</a:t>
            </a:r>
            <a:r>
              <a:rPr lang="zh-CN" altLang="en-US" dirty="0">
                <a:solidFill>
                  <a:srgbClr val="FF0066"/>
                </a:solidFill>
              </a:rPr>
              <a:t>例</a:t>
            </a:r>
            <a:r>
              <a:rPr lang="en-US" altLang="zh-CN" dirty="0">
                <a:solidFill>
                  <a:srgbClr val="FF0066"/>
                </a:solidFill>
              </a:rPr>
              <a:t>+】</a:t>
            </a:r>
            <a:r>
              <a:rPr lang="zh-CN" altLang="en-US" sz="2800" dirty="0">
                <a:solidFill>
                  <a:srgbClr val="000000"/>
                </a:solidFill>
              </a:rPr>
              <a:t>根据长期正常生产的资料可知，某厂所产维尼纶的纤度服从正态分布，其方差为</a:t>
            </a:r>
            <a:r>
              <a:rPr lang="en-US" altLang="zh-CN" sz="2800" dirty="0">
                <a:solidFill>
                  <a:srgbClr val="000000"/>
                </a:solidFill>
              </a:rPr>
              <a:t>0.0025</a:t>
            </a:r>
            <a:r>
              <a:rPr lang="zh-CN" altLang="en-US" sz="2800" dirty="0">
                <a:solidFill>
                  <a:srgbClr val="000000"/>
                </a:solidFill>
              </a:rPr>
              <a:t>。现从某日产品中随机抽出</a:t>
            </a:r>
            <a:r>
              <a:rPr lang="en-US" altLang="zh-CN" sz="2800" dirty="0">
                <a:solidFill>
                  <a:srgbClr val="000000"/>
                </a:solidFill>
              </a:rPr>
              <a:t>20</a:t>
            </a:r>
            <a:r>
              <a:rPr lang="zh-CN" altLang="en-US" sz="2800" dirty="0">
                <a:solidFill>
                  <a:srgbClr val="000000"/>
                </a:solidFill>
              </a:rPr>
              <a:t>根，测得样本方差为</a:t>
            </a:r>
            <a:r>
              <a:rPr lang="en-US" altLang="zh-CN" sz="2800" dirty="0">
                <a:solidFill>
                  <a:srgbClr val="000000"/>
                </a:solidFill>
              </a:rPr>
              <a:t>0.0042</a:t>
            </a:r>
            <a:r>
              <a:rPr lang="zh-CN" altLang="en-US" sz="2800" dirty="0">
                <a:solidFill>
                  <a:srgbClr val="000000"/>
                </a:solidFill>
              </a:rPr>
              <a:t>。试判断该日纤度的波动与平时有无显著差异（取</a:t>
            </a:r>
            <a:r>
              <a:rPr lang="el-GR" altLang="zh-CN" sz="2800" i="1" dirty="0">
                <a:solidFill>
                  <a:srgbClr val="000000"/>
                </a:solidFill>
                <a:latin typeface="Times New Roman" pitchFamily="18" charset="0"/>
                <a:cs typeface="Times New Roman" pitchFamily="18" charset="0"/>
              </a:rPr>
              <a:t>α</a:t>
            </a:r>
            <a:r>
              <a:rPr lang="en-US" altLang="zh-CN" sz="2800" dirty="0">
                <a:solidFill>
                  <a:srgbClr val="000000"/>
                </a:solidFill>
              </a:rPr>
              <a:t>=0.10</a:t>
            </a:r>
            <a:r>
              <a:rPr lang="zh-CN" altLang="en-US" sz="2800" dirty="0">
                <a:solidFill>
                  <a:srgbClr val="000000"/>
                </a:solidFill>
              </a:rPr>
              <a:t>）</a:t>
            </a:r>
            <a:r>
              <a:rPr lang="en-US" altLang="zh-CN" sz="2800" dirty="0">
                <a:solidFill>
                  <a:srgbClr val="000000"/>
                </a:solidFill>
              </a:rPr>
              <a:t>? </a:t>
            </a:r>
          </a:p>
          <a:p>
            <a:pPr marL="0" indent="0" algn="just">
              <a:lnSpc>
                <a:spcPct val="110000"/>
              </a:lnSpc>
              <a:spcBef>
                <a:spcPct val="25000"/>
              </a:spcBef>
              <a:buNone/>
            </a:pPr>
            <a:r>
              <a:rPr kumimoji="1" lang="zh-CN" altLang="en-US" sz="2800" dirty="0">
                <a:solidFill>
                  <a:srgbClr val="FF0066"/>
                </a:solidFill>
              </a:rPr>
              <a:t>解：</a:t>
            </a:r>
            <a:r>
              <a:rPr kumimoji="1" lang="zh-CN" altLang="en-US" sz="2800" dirty="0"/>
              <a:t>提出假设</a:t>
            </a:r>
            <a:r>
              <a:rPr kumimoji="1" lang="zh-CN" altLang="en-US" sz="2800" dirty="0">
                <a:solidFill>
                  <a:schemeClr val="tx1"/>
                </a:solidFill>
              </a:rPr>
              <a:t>：</a:t>
            </a:r>
          </a:p>
          <a:p>
            <a:pPr marL="971550" lvl="1" algn="just">
              <a:lnSpc>
                <a:spcPct val="110000"/>
              </a:lnSpc>
              <a:spcBef>
                <a:spcPct val="25000"/>
              </a:spcBef>
            </a:pPr>
            <a:r>
              <a:rPr lang="en-US" altLang="zh-CN" dirty="0"/>
              <a:t>H</a:t>
            </a:r>
            <a:r>
              <a:rPr lang="en-US" altLang="zh-CN" baseline="-25000" dirty="0"/>
              <a:t>0</a:t>
            </a:r>
            <a:r>
              <a:rPr lang="en-US" altLang="zh-CN" dirty="0"/>
              <a:t>:</a:t>
            </a:r>
            <a:r>
              <a:rPr lang="en-US" altLang="zh-CN" i="1" dirty="0"/>
              <a:t> </a:t>
            </a:r>
            <a:r>
              <a:rPr lang="en-US" altLang="zh-CN" i="1" dirty="0">
                <a:latin typeface="Symbol" pitchFamily="18" charset="2"/>
              </a:rPr>
              <a:t> </a:t>
            </a:r>
            <a:r>
              <a:rPr lang="en-US" altLang="zh-CN" baseline="30000" dirty="0"/>
              <a:t>2</a:t>
            </a:r>
            <a:r>
              <a:rPr lang="en-US" altLang="zh-CN" dirty="0"/>
              <a:t> = 0.0025</a:t>
            </a:r>
          </a:p>
          <a:p>
            <a:pPr marL="971550" lvl="1">
              <a:lnSpc>
                <a:spcPct val="110000"/>
              </a:lnSpc>
              <a:spcBef>
                <a:spcPct val="25000"/>
              </a:spcBef>
            </a:pPr>
            <a:r>
              <a:rPr lang="en-US" altLang="zh-CN" dirty="0"/>
              <a:t>H</a:t>
            </a:r>
            <a:r>
              <a:rPr lang="en-US" altLang="zh-CN" baseline="-25000" dirty="0"/>
              <a:t>1</a:t>
            </a:r>
            <a:r>
              <a:rPr lang="en-US" altLang="zh-CN" dirty="0"/>
              <a:t>: </a:t>
            </a:r>
            <a:r>
              <a:rPr lang="en-US" altLang="zh-CN" i="1" dirty="0">
                <a:latin typeface="Symbol" pitchFamily="18" charset="2"/>
              </a:rPr>
              <a:t> </a:t>
            </a:r>
            <a:r>
              <a:rPr lang="en-US" altLang="zh-CN" baseline="30000" dirty="0"/>
              <a:t>2</a:t>
            </a:r>
            <a:r>
              <a:rPr lang="en-US" altLang="zh-CN" dirty="0"/>
              <a:t> </a:t>
            </a:r>
            <a:r>
              <a:rPr lang="en-US" altLang="zh-CN" dirty="0">
                <a:latin typeface="Symbol" pitchFamily="18" charset="2"/>
              </a:rPr>
              <a:t></a:t>
            </a:r>
            <a:r>
              <a:rPr lang="en-US" altLang="zh-CN" dirty="0"/>
              <a:t> 0.0025</a:t>
            </a:r>
          </a:p>
        </p:txBody>
      </p:sp>
    </p:spTree>
    <p:extLst>
      <p:ext uri="{BB962C8B-B14F-4D97-AF65-F5344CB8AC3E}">
        <p14:creationId xmlns:p14="http://schemas.microsoft.com/office/powerpoint/2010/main" val="923939279"/>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6803">
                                            <p:txEl>
                                              <p:pRg st="1" end="1"/>
                                            </p:txEl>
                                          </p:spTgt>
                                        </p:tgtEl>
                                        <p:attrNameLst>
                                          <p:attrName>style.visibility</p:attrName>
                                        </p:attrNameLst>
                                      </p:cBhvr>
                                      <p:to>
                                        <p:strVal val="visible"/>
                                      </p:to>
                                    </p:set>
                                    <p:animEffect transition="in" filter="wipe(left)">
                                      <p:cBhvr>
                                        <p:cTn id="7" dur="500"/>
                                        <p:tgtEl>
                                          <p:spTgt spid="76803">
                                            <p:txEl>
                                              <p:pRg st="1" end="1"/>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76803">
                                            <p:txEl>
                                              <p:pRg st="2" end="2"/>
                                            </p:txEl>
                                          </p:spTgt>
                                        </p:tgtEl>
                                        <p:attrNameLst>
                                          <p:attrName>style.visibility</p:attrName>
                                        </p:attrNameLst>
                                      </p:cBhvr>
                                      <p:to>
                                        <p:strVal val="visible"/>
                                      </p:to>
                                    </p:set>
                                    <p:animEffect transition="in" filter="wipe(left)">
                                      <p:cBhvr>
                                        <p:cTn id="10" dur="500"/>
                                        <p:tgtEl>
                                          <p:spTgt spid="76803">
                                            <p:txEl>
                                              <p:pRg st="2" end="2"/>
                                            </p:txEl>
                                          </p:spTgt>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76803">
                                            <p:txEl>
                                              <p:pRg st="3" end="3"/>
                                            </p:txEl>
                                          </p:spTgt>
                                        </p:tgtEl>
                                        <p:attrNameLst>
                                          <p:attrName>style.visibility</p:attrName>
                                        </p:attrNameLst>
                                      </p:cBhvr>
                                      <p:to>
                                        <p:strVal val="visible"/>
                                      </p:to>
                                    </p:set>
                                    <p:animEffect transition="in" filter="wipe(left)">
                                      <p:cBhvr>
                                        <p:cTn id="13" dur="500"/>
                                        <p:tgtEl>
                                          <p:spTgt spid="7680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803" grpId="0" build="p"/>
    </p:bldLst>
  </p:timing>
</p:sld>
</file>

<file path=ppt/slides/slide5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579" name="灯片编号占位符 6"/>
          <p:cNvSpPr>
            <a:spLocks noGrp="1"/>
          </p:cNvSpPr>
          <p:nvPr>
            <p:ph type="sldNum" sz="quarter" idx="12"/>
          </p:nvPr>
        </p:nvSpPr>
        <p:spPr>
          <a:noFill/>
        </p:spPr>
        <p:txBody>
          <a:bodyPr/>
          <a:lstStyle/>
          <a:p>
            <a:r>
              <a:rPr lang="en-US" altLang="zh-CN">
                <a:ea typeface="宋体" pitchFamily="2" charset="-122"/>
              </a:rPr>
              <a:t>8--</a:t>
            </a:r>
            <a:fld id="{6CDD1BBE-4066-437B-A1A2-AD3D966905C4}" type="slidenum">
              <a:rPr lang="en-US" altLang="zh-CN" smtClean="0">
                <a:ea typeface="宋体" pitchFamily="2" charset="-122"/>
              </a:rPr>
              <a:pPr/>
              <a:t>58</a:t>
            </a:fld>
            <a:endParaRPr lang="en-US" altLang="zh-CN">
              <a:ea typeface="宋体" pitchFamily="2" charset="-122"/>
            </a:endParaRPr>
          </a:p>
        </p:txBody>
      </p:sp>
      <p:sp>
        <p:nvSpPr>
          <p:cNvPr id="24580" name="Rectangle 2"/>
          <p:cNvSpPr>
            <a:spLocks noGrp="1" noChangeArrowheads="1"/>
          </p:cNvSpPr>
          <p:nvPr>
            <p:ph type="title"/>
          </p:nvPr>
        </p:nvSpPr>
        <p:spPr>
          <a:xfrm>
            <a:off x="1524001" y="333375"/>
            <a:ext cx="4968875" cy="990600"/>
          </a:xfrm>
          <a:noFill/>
        </p:spPr>
        <p:txBody>
          <a:bodyPr vert="horz" lIns="90488" tIns="44450" rIns="90488" bIns="44450" rtlCol="0" anchor="ctr" anchorCtr="1">
            <a:normAutofit/>
          </a:bodyPr>
          <a:lstStyle/>
          <a:p>
            <a:pPr eaLnBrk="1" hangingPunct="1"/>
            <a:r>
              <a:rPr lang="zh-CN" altLang="en-US" sz="4000">
                <a:solidFill>
                  <a:srgbClr val="0000FF"/>
                </a:solidFill>
              </a:rPr>
              <a:t>计算结果</a:t>
            </a:r>
            <a:endParaRPr lang="zh-CN" altLang="en-US" sz="4000"/>
          </a:p>
        </p:txBody>
      </p:sp>
      <p:sp>
        <p:nvSpPr>
          <p:cNvPr id="24581" name="Rectangle 3"/>
          <p:cNvSpPr>
            <a:spLocks noGrp="1" noChangeArrowheads="1"/>
          </p:cNvSpPr>
          <p:nvPr>
            <p:ph type="body" sz="half" idx="1"/>
          </p:nvPr>
        </p:nvSpPr>
        <p:spPr>
          <a:xfrm>
            <a:off x="2351088" y="1412876"/>
            <a:ext cx="3810000" cy="1655763"/>
          </a:xfrm>
          <a:noFill/>
        </p:spPr>
        <p:txBody>
          <a:bodyPr vert="horz" lIns="90488" tIns="44450" rIns="90488" bIns="44450" rtlCol="0">
            <a:normAutofit/>
          </a:bodyPr>
          <a:lstStyle/>
          <a:p>
            <a:pPr marL="0" indent="0"/>
            <a:r>
              <a:rPr lang="en-US" altLang="zh-CN" sz="2800">
                <a:solidFill>
                  <a:srgbClr val="000000"/>
                </a:solidFill>
                <a:latin typeface="Symbol" pitchFamily="18" charset="2"/>
              </a:rPr>
              <a:t></a:t>
            </a:r>
            <a:r>
              <a:rPr lang="en-US" altLang="zh-CN" sz="2800">
                <a:solidFill>
                  <a:srgbClr val="000000"/>
                </a:solidFill>
              </a:rPr>
              <a:t> = 0.1</a:t>
            </a:r>
          </a:p>
          <a:p>
            <a:pPr marL="0" indent="0"/>
            <a:r>
              <a:rPr lang="en-US" altLang="zh-CN" sz="2800">
                <a:solidFill>
                  <a:srgbClr val="000000"/>
                </a:solidFill>
              </a:rPr>
              <a:t>n-1=20-1=19</a:t>
            </a:r>
          </a:p>
          <a:p>
            <a:pPr marL="0" indent="0"/>
            <a:r>
              <a:rPr lang="zh-CN" altLang="en-US" sz="2800">
                <a:solidFill>
                  <a:srgbClr val="000000"/>
                </a:solidFill>
              </a:rPr>
              <a:t>临界值</a:t>
            </a:r>
            <a:r>
              <a:rPr lang="en-US" altLang="zh-CN" sz="2800">
                <a:solidFill>
                  <a:srgbClr val="000000"/>
                </a:solidFill>
              </a:rPr>
              <a:t>:</a:t>
            </a:r>
            <a:endParaRPr lang="en-US" altLang="zh-CN" sz="2800">
              <a:solidFill>
                <a:srgbClr val="FFFF7F"/>
              </a:solidFill>
            </a:endParaRPr>
          </a:p>
        </p:txBody>
      </p:sp>
      <p:sp>
        <p:nvSpPr>
          <p:cNvPr id="78854" name="Rectangle 6"/>
          <p:cNvSpPr>
            <a:spLocks noChangeArrowheads="1"/>
          </p:cNvSpPr>
          <p:nvPr/>
        </p:nvSpPr>
        <p:spPr bwMode="auto">
          <a:xfrm>
            <a:off x="4008438" y="5157788"/>
            <a:ext cx="6215062" cy="1013098"/>
          </a:xfrm>
          <a:prstGeom prst="rect">
            <a:avLst/>
          </a:prstGeom>
          <a:noFill/>
          <a:ln w="12700">
            <a:noFill/>
            <a:miter lim="800000"/>
            <a:headEnd/>
            <a:tailEnd/>
          </a:ln>
        </p:spPr>
        <p:txBody>
          <a:bodyPr lIns="90488" tIns="44450" rIns="90488" bIns="44450">
            <a:spAutoFit/>
          </a:bodyPr>
          <a:lstStyle/>
          <a:p>
            <a:pPr eaLnBrk="0" hangingPunct="0">
              <a:lnSpc>
                <a:spcPct val="120000"/>
              </a:lnSpc>
              <a:spcBef>
                <a:spcPct val="50000"/>
              </a:spcBef>
            </a:pPr>
            <a:r>
              <a:rPr kumimoji="1" lang="zh-CN" altLang="en-US" sz="2500" b="1">
                <a:solidFill>
                  <a:srgbClr val="000000"/>
                </a:solidFill>
              </a:rPr>
              <a:t>在</a:t>
            </a:r>
            <a:r>
              <a:rPr kumimoji="1" lang="zh-CN" altLang="en-US" sz="2500" b="1">
                <a:solidFill>
                  <a:srgbClr val="000000"/>
                </a:solidFill>
                <a:latin typeface="Symbol" pitchFamily="18" charset="2"/>
              </a:rPr>
              <a:t></a:t>
            </a:r>
            <a:r>
              <a:rPr kumimoji="1" lang="en-US" altLang="zh-CN" sz="2500" b="1">
                <a:solidFill>
                  <a:srgbClr val="000000"/>
                </a:solidFill>
              </a:rPr>
              <a:t>=0.10</a:t>
            </a:r>
            <a:r>
              <a:rPr kumimoji="1" lang="zh-CN" altLang="en-US" sz="2500" b="1">
                <a:solidFill>
                  <a:srgbClr val="000000"/>
                </a:solidFill>
              </a:rPr>
              <a:t>的显著性水平上</a:t>
            </a:r>
            <a:r>
              <a:rPr kumimoji="1" lang="zh-CN" altLang="en-US" sz="2500" b="1">
                <a:solidFill>
                  <a:srgbClr val="CC0099"/>
                </a:solidFill>
              </a:rPr>
              <a:t>拒绝</a:t>
            </a:r>
            <a:r>
              <a:rPr kumimoji="1" lang="en-US" altLang="zh-CN" sz="2500" b="1">
                <a:solidFill>
                  <a:srgbClr val="CC0099"/>
                </a:solidFill>
              </a:rPr>
              <a:t>H</a:t>
            </a:r>
            <a:r>
              <a:rPr kumimoji="1" lang="en-US" altLang="zh-CN" sz="2500" b="1" baseline="-25000">
                <a:solidFill>
                  <a:srgbClr val="CC0099"/>
                </a:solidFill>
              </a:rPr>
              <a:t>0</a:t>
            </a:r>
            <a:r>
              <a:rPr kumimoji="1" lang="zh-CN" altLang="en-US" sz="2500" b="1">
                <a:solidFill>
                  <a:srgbClr val="000000"/>
                </a:solidFill>
              </a:rPr>
              <a:t>，即有证据表明该日长度的波动比平时</a:t>
            </a:r>
            <a:r>
              <a:rPr kumimoji="1" lang="zh-CN" altLang="en-US" sz="2500" b="1">
                <a:solidFill>
                  <a:srgbClr val="CC0099"/>
                </a:solidFill>
              </a:rPr>
              <a:t>有显著差异</a:t>
            </a:r>
            <a:r>
              <a:rPr kumimoji="1" lang="en-US" altLang="zh-CN" sz="2500" b="1">
                <a:solidFill>
                  <a:srgbClr val="CC0099"/>
                </a:solidFill>
              </a:rPr>
              <a:t>.</a:t>
            </a:r>
            <a:endParaRPr kumimoji="1" lang="zh-CN" altLang="en-US" sz="2500" b="1">
              <a:solidFill>
                <a:srgbClr val="CC0099"/>
              </a:solidFill>
            </a:endParaRPr>
          </a:p>
        </p:txBody>
      </p:sp>
      <p:graphicFrame>
        <p:nvGraphicFramePr>
          <p:cNvPr id="477190" name="Object 6">
            <a:hlinkClick r:id="" action="ppaction://ole?verb=0"/>
          </p:cNvPr>
          <p:cNvGraphicFramePr>
            <a:graphicFrameLocks/>
          </p:cNvGraphicFramePr>
          <p:nvPr>
            <p:extLst>
              <p:ext uri="{D42A27DB-BD31-4B8C-83A1-F6EECF244321}">
                <p14:modId xmlns:p14="http://schemas.microsoft.com/office/powerpoint/2010/main" val="1505881815"/>
              </p:ext>
            </p:extLst>
          </p:nvPr>
        </p:nvGraphicFramePr>
        <p:xfrm>
          <a:off x="2208215" y="3789364"/>
          <a:ext cx="5462585" cy="1362075"/>
        </p:xfrm>
        <a:graphic>
          <a:graphicData uri="http://schemas.openxmlformats.org/presentationml/2006/ole">
            <mc:AlternateContent xmlns:mc="http://schemas.openxmlformats.org/markup-compatibility/2006">
              <mc:Choice xmlns:v="urn:schemas-microsoft-com:vml" Requires="v">
                <p:oleObj name="公式" r:id="rId3" imgW="2603160" imgH="482400" progId="Equation.3">
                  <p:embed/>
                </p:oleObj>
              </mc:Choice>
              <mc:Fallback>
                <p:oleObj name="公式" r:id="rId3" imgW="2603160" imgH="482400" progId="Equation.3">
                  <p:embed/>
                  <p:pic>
                    <p:nvPicPr>
                      <p:cNvPr id="477190" name="Object 6">
                        <a:hlinkClick r:id="" action="ppaction://ole?verb=0"/>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08215" y="3789364"/>
                        <a:ext cx="5462585" cy="1362075"/>
                      </a:xfrm>
                      <a:prstGeom prst="rect">
                        <a:avLst/>
                      </a:prstGeom>
                      <a:noFill/>
                      <a:ln>
                        <a:noFill/>
                      </a:ln>
                      <a:effectLst>
                        <a:outerShdw dist="17961" dir="2700000" algn="ctr" rotWithShape="0">
                          <a:schemeClr val="bg2"/>
                        </a:outerShdw>
                      </a:effectLst>
                    </p:spPr>
                  </p:pic>
                </p:oleObj>
              </mc:Fallback>
            </mc:AlternateContent>
          </a:graphicData>
        </a:graphic>
      </p:graphicFrame>
      <p:grpSp>
        <p:nvGrpSpPr>
          <p:cNvPr id="24583" name="Group 5"/>
          <p:cNvGrpSpPr>
            <a:grpSpLocks/>
          </p:cNvGrpSpPr>
          <p:nvPr/>
        </p:nvGrpSpPr>
        <p:grpSpPr bwMode="auto">
          <a:xfrm>
            <a:off x="5591176" y="333375"/>
            <a:ext cx="4754563" cy="3348038"/>
            <a:chOff x="2592" y="255"/>
            <a:chExt cx="2995" cy="2109"/>
          </a:xfrm>
        </p:grpSpPr>
        <p:sp>
          <p:nvSpPr>
            <p:cNvPr id="78893" name="Text Box 45"/>
            <p:cNvSpPr txBox="1">
              <a:spLocks noChangeArrowheads="1"/>
            </p:cNvSpPr>
            <p:nvPr/>
          </p:nvSpPr>
          <p:spPr bwMode="auto">
            <a:xfrm>
              <a:off x="2592" y="1488"/>
              <a:ext cx="2212" cy="291"/>
            </a:xfrm>
            <a:prstGeom prst="rect">
              <a:avLst/>
            </a:prstGeom>
            <a:noFill/>
            <a:ln w="12700">
              <a:noFill/>
              <a:miter lim="800000"/>
              <a:headEnd/>
              <a:tailEnd/>
            </a:ln>
            <a:effectLst/>
          </p:spPr>
          <p:txBody>
            <a:bodyPr>
              <a:spAutoFit/>
            </a:bodyPr>
            <a:lstStyle/>
            <a:p>
              <a:pPr eaLnBrk="0" hangingPunct="0">
                <a:spcBef>
                  <a:spcPct val="50000"/>
                </a:spcBef>
                <a:defRPr/>
              </a:pPr>
              <a:endParaRPr kumimoji="1" lang="zh-CN" altLang="zh-CN" sz="2400">
                <a:effectLst>
                  <a:outerShdw blurRad="38100" dist="38100" dir="2700000" algn="tl">
                    <a:srgbClr val="C0C0C0"/>
                  </a:outerShdw>
                </a:effectLst>
                <a:latin typeface="Arial" charset="0"/>
                <a:ea typeface="宋体" charset="-122"/>
              </a:endParaRPr>
            </a:p>
          </p:txBody>
        </p:sp>
        <p:sp>
          <p:nvSpPr>
            <p:cNvPr id="78856" name="Freeform 8"/>
            <p:cNvSpPr>
              <a:spLocks/>
            </p:cNvSpPr>
            <p:nvPr/>
          </p:nvSpPr>
          <p:spPr bwMode="auto">
            <a:xfrm>
              <a:off x="3001" y="1189"/>
              <a:ext cx="272" cy="551"/>
            </a:xfrm>
            <a:custGeom>
              <a:avLst/>
              <a:gdLst/>
              <a:ahLst/>
              <a:cxnLst>
                <a:cxn ang="0">
                  <a:pos x="0" y="378"/>
                </a:cxn>
                <a:cxn ang="0">
                  <a:pos x="69" y="325"/>
                </a:cxn>
                <a:cxn ang="0">
                  <a:pos x="113" y="261"/>
                </a:cxn>
                <a:cxn ang="0">
                  <a:pos x="148" y="181"/>
                </a:cxn>
                <a:cxn ang="0">
                  <a:pos x="182" y="71"/>
                </a:cxn>
                <a:cxn ang="0">
                  <a:pos x="207" y="0"/>
                </a:cxn>
                <a:cxn ang="0">
                  <a:pos x="207" y="386"/>
                </a:cxn>
                <a:cxn ang="0">
                  <a:pos x="0" y="386"/>
                </a:cxn>
                <a:cxn ang="0">
                  <a:pos x="0" y="378"/>
                </a:cxn>
              </a:cxnLst>
              <a:rect l="0" t="0" r="r" b="b"/>
              <a:pathLst>
                <a:path w="208" h="387">
                  <a:moveTo>
                    <a:pt x="0" y="378"/>
                  </a:moveTo>
                  <a:lnTo>
                    <a:pt x="69" y="325"/>
                  </a:lnTo>
                  <a:lnTo>
                    <a:pt x="113" y="261"/>
                  </a:lnTo>
                  <a:lnTo>
                    <a:pt x="148" y="181"/>
                  </a:lnTo>
                  <a:lnTo>
                    <a:pt x="182" y="71"/>
                  </a:lnTo>
                  <a:lnTo>
                    <a:pt x="207" y="0"/>
                  </a:lnTo>
                  <a:lnTo>
                    <a:pt x="207" y="386"/>
                  </a:lnTo>
                  <a:lnTo>
                    <a:pt x="0" y="386"/>
                  </a:lnTo>
                  <a:lnTo>
                    <a:pt x="0" y="378"/>
                  </a:lnTo>
                </a:path>
              </a:pathLst>
            </a:custGeom>
            <a:solidFill>
              <a:srgbClr val="FFCC66"/>
            </a:solidFill>
            <a:ln w="12700" cap="rnd" cmpd="sng">
              <a:solidFill>
                <a:srgbClr val="000000"/>
              </a:solidFill>
              <a:prstDash val="solid"/>
              <a:round/>
              <a:headEnd type="none" w="med" len="med"/>
              <a:tailEnd type="none" w="med" len="med"/>
            </a:ln>
            <a:effectLst>
              <a:outerShdw dist="35921" dir="2700000" algn="ctr" rotWithShape="0">
                <a:schemeClr val="bg2"/>
              </a:outerShdw>
            </a:effectLst>
          </p:spPr>
          <p:txBody>
            <a:bodyPr/>
            <a:lstStyle/>
            <a:p>
              <a:pPr>
                <a:defRPr/>
              </a:pPr>
              <a:endParaRPr lang="zh-CN" altLang="en-US">
                <a:latin typeface="Arial" charset="0"/>
                <a:ea typeface="宋体" charset="-122"/>
              </a:endParaRPr>
            </a:p>
          </p:txBody>
        </p:sp>
        <p:sp>
          <p:nvSpPr>
            <p:cNvPr id="78896" name="Freeform 48"/>
            <p:cNvSpPr>
              <a:spLocks/>
            </p:cNvSpPr>
            <p:nvPr/>
          </p:nvSpPr>
          <p:spPr bwMode="auto">
            <a:xfrm>
              <a:off x="4377" y="1298"/>
              <a:ext cx="816" cy="397"/>
            </a:xfrm>
            <a:custGeom>
              <a:avLst/>
              <a:gdLst/>
              <a:ahLst/>
              <a:cxnLst>
                <a:cxn ang="0">
                  <a:pos x="423" y="204"/>
                </a:cxn>
                <a:cxn ang="0">
                  <a:pos x="279" y="154"/>
                </a:cxn>
                <a:cxn ang="0">
                  <a:pos x="244" y="140"/>
                </a:cxn>
                <a:cxn ang="0">
                  <a:pos x="212" y="125"/>
                </a:cxn>
                <a:cxn ang="0">
                  <a:pos x="181" y="108"/>
                </a:cxn>
                <a:cxn ang="0">
                  <a:pos x="98" y="71"/>
                </a:cxn>
                <a:cxn ang="0">
                  <a:pos x="54" y="42"/>
                </a:cxn>
                <a:cxn ang="0">
                  <a:pos x="0" y="0"/>
                </a:cxn>
                <a:cxn ang="0">
                  <a:pos x="0" y="215"/>
                </a:cxn>
                <a:cxn ang="0">
                  <a:pos x="423" y="209"/>
                </a:cxn>
                <a:cxn ang="0">
                  <a:pos x="423" y="204"/>
                </a:cxn>
              </a:cxnLst>
              <a:rect l="0" t="0" r="r" b="b"/>
              <a:pathLst>
                <a:path w="424" h="216">
                  <a:moveTo>
                    <a:pt x="423" y="204"/>
                  </a:moveTo>
                  <a:lnTo>
                    <a:pt x="279" y="154"/>
                  </a:lnTo>
                  <a:lnTo>
                    <a:pt x="244" y="140"/>
                  </a:lnTo>
                  <a:lnTo>
                    <a:pt x="212" y="125"/>
                  </a:lnTo>
                  <a:lnTo>
                    <a:pt x="181" y="108"/>
                  </a:lnTo>
                  <a:lnTo>
                    <a:pt x="98" y="71"/>
                  </a:lnTo>
                  <a:lnTo>
                    <a:pt x="54" y="42"/>
                  </a:lnTo>
                  <a:lnTo>
                    <a:pt x="0" y="0"/>
                  </a:lnTo>
                  <a:lnTo>
                    <a:pt x="0" y="215"/>
                  </a:lnTo>
                  <a:lnTo>
                    <a:pt x="423" y="209"/>
                  </a:lnTo>
                  <a:lnTo>
                    <a:pt x="423" y="204"/>
                  </a:lnTo>
                </a:path>
              </a:pathLst>
            </a:custGeom>
            <a:solidFill>
              <a:srgbClr val="FFCC66"/>
            </a:solidFill>
            <a:ln w="12700" cap="rnd" cmpd="sng">
              <a:solidFill>
                <a:srgbClr val="000000"/>
              </a:solidFill>
              <a:prstDash val="solid"/>
              <a:round/>
              <a:headEnd type="none" w="med" len="med"/>
              <a:tailEnd type="none" w="med" len="med"/>
            </a:ln>
            <a:effectLst>
              <a:outerShdw dist="35921" dir="2700000" algn="ctr" rotWithShape="0">
                <a:schemeClr val="bg2"/>
              </a:outerShdw>
            </a:effectLst>
          </p:spPr>
          <p:txBody>
            <a:bodyPr/>
            <a:lstStyle/>
            <a:p>
              <a:pPr>
                <a:defRPr/>
              </a:pPr>
              <a:endParaRPr lang="zh-CN" altLang="en-US">
                <a:latin typeface="Arial" charset="0"/>
                <a:ea typeface="宋体" charset="-122"/>
              </a:endParaRPr>
            </a:p>
          </p:txBody>
        </p:sp>
        <p:sp>
          <p:nvSpPr>
            <p:cNvPr id="78897" name="Freeform 49"/>
            <p:cNvSpPr>
              <a:spLocks/>
            </p:cNvSpPr>
            <p:nvPr/>
          </p:nvSpPr>
          <p:spPr bwMode="auto">
            <a:xfrm>
              <a:off x="3424" y="385"/>
              <a:ext cx="1935" cy="1282"/>
            </a:xfrm>
            <a:custGeom>
              <a:avLst/>
              <a:gdLst/>
              <a:ahLst/>
              <a:cxnLst>
                <a:cxn ang="0">
                  <a:pos x="1480" y="900"/>
                </a:cxn>
                <a:cxn ang="0">
                  <a:pos x="1325" y="891"/>
                </a:cxn>
                <a:cxn ang="0">
                  <a:pos x="1246" y="879"/>
                </a:cxn>
                <a:cxn ang="0">
                  <a:pos x="1169" y="866"/>
                </a:cxn>
                <a:cxn ang="0">
                  <a:pos x="1090" y="844"/>
                </a:cxn>
                <a:cxn ang="0">
                  <a:pos x="1013" y="816"/>
                </a:cxn>
                <a:cxn ang="0">
                  <a:pos x="935" y="779"/>
                </a:cxn>
                <a:cxn ang="0">
                  <a:pos x="779" y="676"/>
                </a:cxn>
                <a:cxn ang="0">
                  <a:pos x="624" y="528"/>
                </a:cxn>
                <a:cxn ang="0">
                  <a:pos x="466" y="351"/>
                </a:cxn>
                <a:cxn ang="0">
                  <a:pos x="389" y="261"/>
                </a:cxn>
                <a:cxn ang="0">
                  <a:pos x="311" y="178"/>
                </a:cxn>
                <a:cxn ang="0">
                  <a:pos x="234" y="105"/>
                </a:cxn>
                <a:cxn ang="0">
                  <a:pos x="155" y="48"/>
                </a:cxn>
                <a:cxn ang="0">
                  <a:pos x="76" y="11"/>
                </a:cxn>
                <a:cxn ang="0">
                  <a:pos x="0" y="0"/>
                </a:cxn>
              </a:cxnLst>
              <a:rect l="0" t="0" r="r" b="b"/>
              <a:pathLst>
                <a:path w="1481" h="901">
                  <a:moveTo>
                    <a:pt x="1480" y="900"/>
                  </a:moveTo>
                  <a:lnTo>
                    <a:pt x="1325" y="891"/>
                  </a:lnTo>
                  <a:lnTo>
                    <a:pt x="1246" y="879"/>
                  </a:lnTo>
                  <a:lnTo>
                    <a:pt x="1169" y="866"/>
                  </a:lnTo>
                  <a:lnTo>
                    <a:pt x="1090" y="844"/>
                  </a:lnTo>
                  <a:lnTo>
                    <a:pt x="1013" y="816"/>
                  </a:lnTo>
                  <a:lnTo>
                    <a:pt x="935" y="779"/>
                  </a:lnTo>
                  <a:lnTo>
                    <a:pt x="779" y="676"/>
                  </a:lnTo>
                  <a:lnTo>
                    <a:pt x="624" y="528"/>
                  </a:lnTo>
                  <a:lnTo>
                    <a:pt x="466" y="351"/>
                  </a:lnTo>
                  <a:lnTo>
                    <a:pt x="389" y="261"/>
                  </a:lnTo>
                  <a:lnTo>
                    <a:pt x="311" y="178"/>
                  </a:lnTo>
                  <a:lnTo>
                    <a:pt x="234" y="105"/>
                  </a:lnTo>
                  <a:lnTo>
                    <a:pt x="155" y="48"/>
                  </a:lnTo>
                  <a:lnTo>
                    <a:pt x="76" y="11"/>
                  </a:lnTo>
                  <a:lnTo>
                    <a:pt x="0" y="0"/>
                  </a:lnTo>
                </a:path>
              </a:pathLst>
            </a:custGeom>
            <a:noFill/>
            <a:ln w="50800" cap="rnd" cmpd="sng">
              <a:solidFill>
                <a:srgbClr val="FF00FF"/>
              </a:solidFill>
              <a:prstDash val="solid"/>
              <a:round/>
              <a:headEnd type="none" w="med" len="med"/>
              <a:tailEnd type="none" w="med" len="med"/>
            </a:ln>
            <a:effectLst>
              <a:outerShdw dist="35921" dir="2700000" algn="ctr" rotWithShape="0">
                <a:schemeClr val="bg2"/>
              </a:outerShdw>
            </a:effectLst>
          </p:spPr>
          <p:txBody>
            <a:bodyPr/>
            <a:lstStyle/>
            <a:p>
              <a:pPr>
                <a:defRPr/>
              </a:pPr>
              <a:endParaRPr lang="zh-CN" altLang="en-US">
                <a:latin typeface="Arial" charset="0"/>
                <a:ea typeface="宋体" charset="-122"/>
              </a:endParaRPr>
            </a:p>
          </p:txBody>
        </p:sp>
        <p:sp>
          <p:nvSpPr>
            <p:cNvPr id="78898" name="Freeform 50"/>
            <p:cNvSpPr>
              <a:spLocks/>
            </p:cNvSpPr>
            <p:nvPr/>
          </p:nvSpPr>
          <p:spPr bwMode="auto">
            <a:xfrm>
              <a:off x="2950" y="412"/>
              <a:ext cx="514" cy="1283"/>
            </a:xfrm>
            <a:custGeom>
              <a:avLst/>
              <a:gdLst/>
              <a:ahLst/>
              <a:cxnLst>
                <a:cxn ang="0">
                  <a:pos x="0" y="900"/>
                </a:cxn>
                <a:cxn ang="0">
                  <a:pos x="42" y="891"/>
                </a:cxn>
                <a:cxn ang="0">
                  <a:pos x="61" y="879"/>
                </a:cxn>
                <a:cxn ang="0">
                  <a:pos x="82" y="866"/>
                </a:cxn>
                <a:cxn ang="0">
                  <a:pos x="104" y="844"/>
                </a:cxn>
                <a:cxn ang="0">
                  <a:pos x="123" y="816"/>
                </a:cxn>
                <a:cxn ang="0">
                  <a:pos x="144" y="779"/>
                </a:cxn>
                <a:cxn ang="0">
                  <a:pos x="186" y="676"/>
                </a:cxn>
                <a:cxn ang="0">
                  <a:pos x="227" y="528"/>
                </a:cxn>
                <a:cxn ang="0">
                  <a:pos x="267" y="351"/>
                </a:cxn>
                <a:cxn ang="0">
                  <a:pos x="288" y="261"/>
                </a:cxn>
                <a:cxn ang="0">
                  <a:pos x="309" y="178"/>
                </a:cxn>
                <a:cxn ang="0">
                  <a:pos x="330" y="105"/>
                </a:cxn>
                <a:cxn ang="0">
                  <a:pos x="349" y="48"/>
                </a:cxn>
                <a:cxn ang="0">
                  <a:pos x="371" y="11"/>
                </a:cxn>
                <a:cxn ang="0">
                  <a:pos x="392" y="0"/>
                </a:cxn>
              </a:cxnLst>
              <a:rect l="0" t="0" r="r" b="b"/>
              <a:pathLst>
                <a:path w="393" h="901">
                  <a:moveTo>
                    <a:pt x="0" y="900"/>
                  </a:moveTo>
                  <a:lnTo>
                    <a:pt x="42" y="891"/>
                  </a:lnTo>
                  <a:lnTo>
                    <a:pt x="61" y="879"/>
                  </a:lnTo>
                  <a:lnTo>
                    <a:pt x="82" y="866"/>
                  </a:lnTo>
                  <a:lnTo>
                    <a:pt x="104" y="844"/>
                  </a:lnTo>
                  <a:lnTo>
                    <a:pt x="123" y="816"/>
                  </a:lnTo>
                  <a:lnTo>
                    <a:pt x="144" y="779"/>
                  </a:lnTo>
                  <a:lnTo>
                    <a:pt x="186" y="676"/>
                  </a:lnTo>
                  <a:lnTo>
                    <a:pt x="227" y="528"/>
                  </a:lnTo>
                  <a:lnTo>
                    <a:pt x="267" y="351"/>
                  </a:lnTo>
                  <a:lnTo>
                    <a:pt x="288" y="261"/>
                  </a:lnTo>
                  <a:lnTo>
                    <a:pt x="309" y="178"/>
                  </a:lnTo>
                  <a:lnTo>
                    <a:pt x="330" y="105"/>
                  </a:lnTo>
                  <a:lnTo>
                    <a:pt x="349" y="48"/>
                  </a:lnTo>
                  <a:lnTo>
                    <a:pt x="371" y="11"/>
                  </a:lnTo>
                  <a:lnTo>
                    <a:pt x="392" y="0"/>
                  </a:lnTo>
                </a:path>
              </a:pathLst>
            </a:custGeom>
            <a:noFill/>
            <a:ln w="50800" cap="rnd" cmpd="sng">
              <a:solidFill>
                <a:srgbClr val="FF00FF"/>
              </a:solidFill>
              <a:prstDash val="solid"/>
              <a:round/>
              <a:headEnd type="none" w="med" len="med"/>
              <a:tailEnd type="none" w="med" len="med"/>
            </a:ln>
            <a:effectLst>
              <a:outerShdw dist="35921" dir="2700000" algn="ctr" rotWithShape="0">
                <a:schemeClr val="bg2"/>
              </a:outerShdw>
            </a:effectLst>
          </p:spPr>
          <p:txBody>
            <a:bodyPr/>
            <a:lstStyle/>
            <a:p>
              <a:pPr>
                <a:defRPr/>
              </a:pPr>
              <a:endParaRPr lang="zh-CN" altLang="en-US">
                <a:latin typeface="Arial" charset="0"/>
                <a:ea typeface="宋体" charset="-122"/>
              </a:endParaRPr>
            </a:p>
          </p:txBody>
        </p:sp>
        <p:sp>
          <p:nvSpPr>
            <p:cNvPr id="24591" name="Rectangle 51"/>
            <p:cNvSpPr>
              <a:spLocks noChangeArrowheads="1"/>
            </p:cNvSpPr>
            <p:nvPr/>
          </p:nvSpPr>
          <p:spPr bwMode="auto">
            <a:xfrm rot="-5400000">
              <a:off x="2746" y="969"/>
              <a:ext cx="166" cy="75"/>
            </a:xfrm>
            <a:prstGeom prst="rect">
              <a:avLst/>
            </a:prstGeom>
            <a:noFill/>
            <a:ln w="12700">
              <a:noFill/>
              <a:miter lim="800000"/>
              <a:headEnd/>
              <a:tailEnd/>
            </a:ln>
          </p:spPr>
          <p:txBody>
            <a:bodyPr wrap="none" anchor="ctr"/>
            <a:lstStyle/>
            <a:p>
              <a:endParaRPr lang="zh-CN" altLang="en-US"/>
            </a:p>
          </p:txBody>
        </p:sp>
        <p:sp>
          <p:nvSpPr>
            <p:cNvPr id="78900" name="Rectangle 52"/>
            <p:cNvSpPr>
              <a:spLocks noChangeArrowheads="1"/>
            </p:cNvSpPr>
            <p:nvPr/>
          </p:nvSpPr>
          <p:spPr bwMode="auto">
            <a:xfrm>
              <a:off x="5057" y="1624"/>
              <a:ext cx="248" cy="347"/>
            </a:xfrm>
            <a:prstGeom prst="rect">
              <a:avLst/>
            </a:prstGeom>
            <a:noFill/>
            <a:ln w="12700">
              <a:noFill/>
              <a:miter lim="800000"/>
              <a:headEnd/>
              <a:tailEnd/>
            </a:ln>
            <a:effectLst>
              <a:outerShdw dist="35921" dir="2700000" algn="ctr" rotWithShape="0">
                <a:schemeClr val="bg2"/>
              </a:outerShdw>
            </a:effectLst>
          </p:spPr>
          <p:txBody>
            <a:bodyPr wrap="none" lIns="90488" tIns="44450" rIns="90488" bIns="44450">
              <a:spAutoFit/>
            </a:bodyPr>
            <a:lstStyle/>
            <a:p>
              <a:pPr eaLnBrk="0" hangingPunct="0">
                <a:defRPr/>
              </a:pPr>
              <a:r>
                <a:rPr kumimoji="1" lang="en-US" altLang="zh-CN" sz="3000" b="1">
                  <a:solidFill>
                    <a:srgbClr val="000000"/>
                  </a:solidFill>
                  <a:latin typeface="Symbol" pitchFamily="18" charset="2"/>
                  <a:ea typeface="宋体" charset="-122"/>
                </a:rPr>
                <a:t></a:t>
              </a:r>
            </a:p>
          </p:txBody>
        </p:sp>
        <p:sp>
          <p:nvSpPr>
            <p:cNvPr id="78901" name="Rectangle 53"/>
            <p:cNvSpPr>
              <a:spLocks noChangeArrowheads="1"/>
            </p:cNvSpPr>
            <p:nvPr/>
          </p:nvSpPr>
          <p:spPr bwMode="auto">
            <a:xfrm>
              <a:off x="5193" y="1676"/>
              <a:ext cx="205" cy="250"/>
            </a:xfrm>
            <a:prstGeom prst="rect">
              <a:avLst/>
            </a:prstGeom>
            <a:noFill/>
            <a:ln w="12700">
              <a:noFill/>
              <a:miter lim="800000"/>
              <a:headEnd/>
              <a:tailEnd/>
            </a:ln>
            <a:effectLst>
              <a:outerShdw dist="35921" dir="2700000" algn="ctr" rotWithShape="0">
                <a:schemeClr val="bg2"/>
              </a:outerShdw>
            </a:effectLst>
          </p:spPr>
          <p:txBody>
            <a:bodyPr wrap="none" lIns="90488" tIns="44450" rIns="90488" bIns="44450">
              <a:spAutoFit/>
            </a:bodyPr>
            <a:lstStyle/>
            <a:p>
              <a:pPr eaLnBrk="0" hangingPunct="0">
                <a:defRPr/>
              </a:pPr>
              <a:r>
                <a:rPr kumimoji="1" lang="en-US" altLang="zh-CN" sz="2000" b="1">
                  <a:solidFill>
                    <a:srgbClr val="000000"/>
                  </a:solidFill>
                  <a:latin typeface="Arial" charset="0"/>
                  <a:ea typeface="宋体" charset="-122"/>
                </a:rPr>
                <a:t>2</a:t>
              </a:r>
            </a:p>
          </p:txBody>
        </p:sp>
        <p:sp>
          <p:nvSpPr>
            <p:cNvPr id="78903" name="Rectangle 55"/>
            <p:cNvSpPr>
              <a:spLocks noChangeArrowheads="1"/>
            </p:cNvSpPr>
            <p:nvPr/>
          </p:nvSpPr>
          <p:spPr bwMode="auto">
            <a:xfrm>
              <a:off x="2744" y="1546"/>
              <a:ext cx="223" cy="289"/>
            </a:xfrm>
            <a:prstGeom prst="rect">
              <a:avLst/>
            </a:prstGeom>
            <a:noFill/>
            <a:ln w="12700">
              <a:noFill/>
              <a:miter lim="800000"/>
              <a:headEnd/>
              <a:tailEnd/>
            </a:ln>
            <a:effectLst>
              <a:outerShdw dist="35921" dir="2700000" algn="ctr" rotWithShape="0">
                <a:schemeClr val="bg2"/>
              </a:outerShdw>
            </a:effectLst>
          </p:spPr>
          <p:txBody>
            <a:bodyPr wrap="none" lIns="90488" tIns="44450" rIns="90488" bIns="44450">
              <a:spAutoFit/>
            </a:bodyPr>
            <a:lstStyle/>
            <a:p>
              <a:pPr eaLnBrk="0" hangingPunct="0">
                <a:defRPr/>
              </a:pPr>
              <a:r>
                <a:rPr kumimoji="1" lang="en-US" altLang="zh-CN" sz="2400" b="1">
                  <a:effectLst>
                    <a:outerShdw blurRad="38100" dist="38100" dir="2700000" algn="tl">
                      <a:srgbClr val="C0C0C0"/>
                    </a:outerShdw>
                  </a:effectLst>
                  <a:latin typeface="Arial" charset="0"/>
                  <a:ea typeface="宋体" charset="-122"/>
                </a:rPr>
                <a:t>0</a:t>
              </a:r>
            </a:p>
          </p:txBody>
        </p:sp>
        <p:sp>
          <p:nvSpPr>
            <p:cNvPr id="78904" name="Rectangle 56"/>
            <p:cNvSpPr>
              <a:spLocks noChangeArrowheads="1"/>
            </p:cNvSpPr>
            <p:nvPr/>
          </p:nvSpPr>
          <p:spPr bwMode="auto">
            <a:xfrm>
              <a:off x="4377" y="914"/>
              <a:ext cx="816" cy="235"/>
            </a:xfrm>
            <a:prstGeom prst="rect">
              <a:avLst/>
            </a:prstGeom>
            <a:solidFill>
              <a:srgbClr val="FFCC66"/>
            </a:solidFill>
            <a:ln w="12700">
              <a:noFill/>
              <a:miter lim="800000"/>
              <a:headEnd/>
              <a:tailEnd/>
            </a:ln>
            <a:effectLst>
              <a:outerShdw dist="35921" dir="2700000" algn="ctr" rotWithShape="0">
                <a:schemeClr val="bg2"/>
              </a:outerShdw>
            </a:effectLst>
          </p:spPr>
          <p:txBody>
            <a:bodyPr lIns="18000" tIns="0" rIns="18000" bIns="7200">
              <a:spAutoFit/>
            </a:bodyPr>
            <a:lstStyle/>
            <a:p>
              <a:pPr eaLnBrk="0" hangingPunct="0">
                <a:spcBef>
                  <a:spcPct val="50000"/>
                </a:spcBef>
                <a:defRPr/>
              </a:pPr>
              <a:r>
                <a:rPr kumimoji="1" lang="en-US" altLang="zh-CN" sz="2400" b="1">
                  <a:latin typeface="Symbol" pitchFamily="18" charset="2"/>
                  <a:ea typeface="宋体" charset="-122"/>
                </a:rPr>
                <a:t> </a:t>
              </a:r>
              <a:r>
                <a:rPr kumimoji="1" lang="en-US" altLang="zh-CN" sz="2000" b="1">
                  <a:latin typeface="Symbol" pitchFamily="18" charset="2"/>
                  <a:ea typeface="宋体" charset="-122"/>
                </a:rPr>
                <a:t>/2</a:t>
              </a:r>
              <a:r>
                <a:rPr kumimoji="1" lang="en-US" altLang="zh-CN" sz="2000" b="1">
                  <a:latin typeface="Arial" charset="0"/>
                  <a:ea typeface="宋体" charset="-122"/>
                </a:rPr>
                <a:t>=</a:t>
              </a:r>
              <a:r>
                <a:rPr kumimoji="1" lang="en-US" altLang="zh-CN" sz="2400" b="1">
                  <a:latin typeface="Times New Roman" pitchFamily="18" charset="0"/>
                  <a:ea typeface="宋体" charset="-122"/>
                </a:rPr>
                <a:t>0.05</a:t>
              </a:r>
            </a:p>
          </p:txBody>
        </p:sp>
        <p:sp>
          <p:nvSpPr>
            <p:cNvPr id="24596" name="Line 57"/>
            <p:cNvSpPr>
              <a:spLocks noChangeShapeType="1"/>
            </p:cNvSpPr>
            <p:nvPr/>
          </p:nvSpPr>
          <p:spPr bwMode="auto">
            <a:xfrm flipH="1">
              <a:off x="4479" y="1159"/>
              <a:ext cx="119" cy="453"/>
            </a:xfrm>
            <a:prstGeom prst="line">
              <a:avLst/>
            </a:prstGeom>
            <a:noFill/>
            <a:ln w="12700">
              <a:solidFill>
                <a:schemeClr val="tx2"/>
              </a:solidFill>
              <a:round/>
              <a:headEnd/>
              <a:tailEnd type="triangle" w="med" len="med"/>
            </a:ln>
          </p:spPr>
          <p:txBody>
            <a:bodyPr wrap="none" anchor="ctr"/>
            <a:lstStyle/>
            <a:p>
              <a:endParaRPr lang="zh-CN" altLang="en-US"/>
            </a:p>
          </p:txBody>
        </p:sp>
        <p:sp>
          <p:nvSpPr>
            <p:cNvPr id="24597" name="Line 58"/>
            <p:cNvSpPr>
              <a:spLocks noChangeShapeType="1"/>
            </p:cNvSpPr>
            <p:nvPr/>
          </p:nvSpPr>
          <p:spPr bwMode="auto">
            <a:xfrm flipV="1">
              <a:off x="2950" y="255"/>
              <a:ext cx="0" cy="1551"/>
            </a:xfrm>
            <a:prstGeom prst="line">
              <a:avLst/>
            </a:prstGeom>
            <a:noFill/>
            <a:ln w="38100">
              <a:solidFill>
                <a:schemeClr val="tx1"/>
              </a:solidFill>
              <a:round/>
              <a:headEnd/>
              <a:tailEnd type="triangle" w="med" len="med"/>
            </a:ln>
          </p:spPr>
          <p:txBody>
            <a:bodyPr/>
            <a:lstStyle/>
            <a:p>
              <a:endParaRPr lang="zh-CN" altLang="en-US"/>
            </a:p>
          </p:txBody>
        </p:sp>
        <p:sp>
          <p:nvSpPr>
            <p:cNvPr id="24598" name="Line 59"/>
            <p:cNvSpPr>
              <a:spLocks noChangeShapeType="1"/>
            </p:cNvSpPr>
            <p:nvPr/>
          </p:nvSpPr>
          <p:spPr bwMode="auto">
            <a:xfrm flipV="1">
              <a:off x="2950" y="1676"/>
              <a:ext cx="2637" cy="64"/>
            </a:xfrm>
            <a:prstGeom prst="line">
              <a:avLst/>
            </a:prstGeom>
            <a:noFill/>
            <a:ln w="38100">
              <a:solidFill>
                <a:schemeClr val="tx1"/>
              </a:solidFill>
              <a:round/>
              <a:headEnd/>
              <a:tailEnd type="triangle" w="med" len="med"/>
            </a:ln>
          </p:spPr>
          <p:txBody>
            <a:bodyPr/>
            <a:lstStyle/>
            <a:p>
              <a:endParaRPr lang="zh-CN" altLang="en-US"/>
            </a:p>
          </p:txBody>
        </p:sp>
        <p:sp>
          <p:nvSpPr>
            <p:cNvPr id="24599" name="Text Box 60"/>
            <p:cNvSpPr txBox="1">
              <a:spLocks noChangeArrowheads="1"/>
            </p:cNvSpPr>
            <p:nvPr/>
          </p:nvSpPr>
          <p:spPr bwMode="auto">
            <a:xfrm>
              <a:off x="3016" y="1702"/>
              <a:ext cx="2058" cy="250"/>
            </a:xfrm>
            <a:prstGeom prst="rect">
              <a:avLst/>
            </a:prstGeom>
            <a:noFill/>
            <a:ln w="9525">
              <a:noFill/>
              <a:miter lim="800000"/>
              <a:headEnd/>
              <a:tailEnd/>
            </a:ln>
          </p:spPr>
          <p:txBody>
            <a:bodyPr>
              <a:spAutoFit/>
            </a:bodyPr>
            <a:lstStyle/>
            <a:p>
              <a:pPr>
                <a:spcBef>
                  <a:spcPct val="50000"/>
                </a:spcBef>
              </a:pPr>
              <a:r>
                <a:rPr lang="en-US" altLang="zh-CN" sz="2000" b="1">
                  <a:solidFill>
                    <a:srgbClr val="FF0066"/>
                  </a:solidFill>
                </a:rPr>
                <a:t>10.12                30.14</a:t>
              </a:r>
            </a:p>
          </p:txBody>
        </p:sp>
        <p:sp>
          <p:nvSpPr>
            <p:cNvPr id="24600" name="Line 61"/>
            <p:cNvSpPr>
              <a:spLocks noChangeShapeType="1"/>
            </p:cNvSpPr>
            <p:nvPr/>
          </p:nvSpPr>
          <p:spPr bwMode="auto">
            <a:xfrm>
              <a:off x="4373" y="1353"/>
              <a:ext cx="0" cy="323"/>
            </a:xfrm>
            <a:prstGeom prst="line">
              <a:avLst/>
            </a:prstGeom>
            <a:noFill/>
            <a:ln w="38100">
              <a:solidFill>
                <a:srgbClr val="FF0066"/>
              </a:solidFill>
              <a:round/>
              <a:headEnd/>
              <a:tailEnd/>
            </a:ln>
          </p:spPr>
          <p:txBody>
            <a:bodyPr/>
            <a:lstStyle/>
            <a:p>
              <a:endParaRPr lang="zh-CN" altLang="en-US"/>
            </a:p>
          </p:txBody>
        </p:sp>
        <p:sp>
          <p:nvSpPr>
            <p:cNvPr id="24601" name="Line 62"/>
            <p:cNvSpPr>
              <a:spLocks noChangeShapeType="1"/>
            </p:cNvSpPr>
            <p:nvPr/>
          </p:nvSpPr>
          <p:spPr bwMode="auto">
            <a:xfrm flipH="1">
              <a:off x="4377" y="1930"/>
              <a:ext cx="0" cy="387"/>
            </a:xfrm>
            <a:prstGeom prst="line">
              <a:avLst/>
            </a:prstGeom>
            <a:noFill/>
            <a:ln w="38100">
              <a:solidFill>
                <a:srgbClr val="FF0066"/>
              </a:solidFill>
              <a:round/>
              <a:headEnd/>
              <a:tailEnd/>
            </a:ln>
          </p:spPr>
          <p:txBody>
            <a:bodyPr/>
            <a:lstStyle/>
            <a:p>
              <a:endParaRPr lang="zh-CN" altLang="en-US"/>
            </a:p>
          </p:txBody>
        </p:sp>
        <p:sp>
          <p:nvSpPr>
            <p:cNvPr id="24602" name="Line 63"/>
            <p:cNvSpPr>
              <a:spLocks noChangeShapeType="1"/>
            </p:cNvSpPr>
            <p:nvPr/>
          </p:nvSpPr>
          <p:spPr bwMode="auto">
            <a:xfrm>
              <a:off x="4426" y="2031"/>
              <a:ext cx="653" cy="1"/>
            </a:xfrm>
            <a:prstGeom prst="line">
              <a:avLst/>
            </a:prstGeom>
            <a:noFill/>
            <a:ln w="28575">
              <a:solidFill>
                <a:srgbClr val="CC0099"/>
              </a:solidFill>
              <a:round/>
              <a:headEnd/>
              <a:tailEnd type="triangle" w="med" len="med"/>
            </a:ln>
          </p:spPr>
          <p:txBody>
            <a:bodyPr/>
            <a:lstStyle/>
            <a:p>
              <a:endParaRPr lang="zh-CN" altLang="en-US"/>
            </a:p>
          </p:txBody>
        </p:sp>
        <p:sp>
          <p:nvSpPr>
            <p:cNvPr id="24603" name="Line 64"/>
            <p:cNvSpPr>
              <a:spLocks noChangeShapeType="1"/>
            </p:cNvSpPr>
            <p:nvPr/>
          </p:nvSpPr>
          <p:spPr bwMode="auto">
            <a:xfrm flipH="1">
              <a:off x="3265" y="2063"/>
              <a:ext cx="710" cy="1"/>
            </a:xfrm>
            <a:prstGeom prst="line">
              <a:avLst/>
            </a:prstGeom>
            <a:noFill/>
            <a:ln w="28575">
              <a:solidFill>
                <a:srgbClr val="3333FF"/>
              </a:solidFill>
              <a:round/>
              <a:headEnd/>
              <a:tailEnd type="triangle" w="med" len="med"/>
            </a:ln>
          </p:spPr>
          <p:txBody>
            <a:bodyPr/>
            <a:lstStyle/>
            <a:p>
              <a:endParaRPr lang="zh-CN" altLang="en-US"/>
            </a:p>
          </p:txBody>
        </p:sp>
        <p:sp>
          <p:nvSpPr>
            <p:cNvPr id="24604" name="Text Box 65"/>
            <p:cNvSpPr txBox="1">
              <a:spLocks noChangeArrowheads="1"/>
            </p:cNvSpPr>
            <p:nvPr/>
          </p:nvSpPr>
          <p:spPr bwMode="auto">
            <a:xfrm>
              <a:off x="2789" y="2132"/>
              <a:ext cx="2787" cy="232"/>
            </a:xfrm>
            <a:prstGeom prst="rect">
              <a:avLst/>
            </a:prstGeom>
            <a:noFill/>
            <a:ln w="9525">
              <a:noFill/>
              <a:miter lim="800000"/>
              <a:headEnd/>
              <a:tailEnd/>
            </a:ln>
          </p:spPr>
          <p:txBody>
            <a:bodyPr>
              <a:spAutoFit/>
            </a:bodyPr>
            <a:lstStyle/>
            <a:p>
              <a:pPr>
                <a:spcBef>
                  <a:spcPct val="50000"/>
                </a:spcBef>
              </a:pPr>
              <a:r>
                <a:rPr lang="zh-CN" altLang="en-US" b="1">
                  <a:solidFill>
                    <a:srgbClr val="FF0066"/>
                  </a:solidFill>
                </a:rPr>
                <a:t>拒绝         </a:t>
              </a:r>
              <a:r>
                <a:rPr lang="zh-CN" altLang="en-US" b="1">
                  <a:solidFill>
                    <a:srgbClr val="3333FF"/>
                  </a:solidFill>
                </a:rPr>
                <a:t>不能拒绝            </a:t>
              </a:r>
              <a:r>
                <a:rPr lang="zh-CN" altLang="en-US" b="1">
                  <a:solidFill>
                    <a:srgbClr val="FF0066"/>
                  </a:solidFill>
                </a:rPr>
                <a:t>拒绝域</a:t>
              </a:r>
            </a:p>
          </p:txBody>
        </p:sp>
        <p:sp>
          <p:nvSpPr>
            <p:cNvPr id="24605" name="Line 66"/>
            <p:cNvSpPr>
              <a:spLocks noChangeShapeType="1"/>
            </p:cNvSpPr>
            <p:nvPr/>
          </p:nvSpPr>
          <p:spPr bwMode="auto">
            <a:xfrm>
              <a:off x="3265" y="1095"/>
              <a:ext cx="0" cy="645"/>
            </a:xfrm>
            <a:prstGeom prst="line">
              <a:avLst/>
            </a:prstGeom>
            <a:noFill/>
            <a:ln w="38100">
              <a:solidFill>
                <a:srgbClr val="FF0066"/>
              </a:solidFill>
              <a:round/>
              <a:headEnd/>
              <a:tailEnd/>
            </a:ln>
          </p:spPr>
          <p:txBody>
            <a:bodyPr/>
            <a:lstStyle/>
            <a:p>
              <a:endParaRPr lang="zh-CN" altLang="en-US"/>
            </a:p>
          </p:txBody>
        </p:sp>
        <p:sp>
          <p:nvSpPr>
            <p:cNvPr id="24606" name="Line 67"/>
            <p:cNvSpPr>
              <a:spLocks noChangeShapeType="1"/>
            </p:cNvSpPr>
            <p:nvPr/>
          </p:nvSpPr>
          <p:spPr bwMode="auto">
            <a:xfrm flipH="1">
              <a:off x="3265" y="1933"/>
              <a:ext cx="0" cy="387"/>
            </a:xfrm>
            <a:prstGeom prst="line">
              <a:avLst/>
            </a:prstGeom>
            <a:noFill/>
            <a:ln w="38100">
              <a:solidFill>
                <a:srgbClr val="FF0066"/>
              </a:solidFill>
              <a:round/>
              <a:headEnd/>
              <a:tailEnd/>
            </a:ln>
          </p:spPr>
          <p:txBody>
            <a:bodyPr/>
            <a:lstStyle/>
            <a:p>
              <a:endParaRPr lang="zh-CN" altLang="en-US"/>
            </a:p>
          </p:txBody>
        </p:sp>
        <p:sp>
          <p:nvSpPr>
            <p:cNvPr id="24607" name="Line 68"/>
            <p:cNvSpPr>
              <a:spLocks noChangeShapeType="1"/>
            </p:cNvSpPr>
            <p:nvPr/>
          </p:nvSpPr>
          <p:spPr bwMode="auto">
            <a:xfrm>
              <a:off x="3845" y="2064"/>
              <a:ext cx="516" cy="5"/>
            </a:xfrm>
            <a:prstGeom prst="line">
              <a:avLst/>
            </a:prstGeom>
            <a:noFill/>
            <a:ln w="38100">
              <a:solidFill>
                <a:srgbClr val="3333FF"/>
              </a:solidFill>
              <a:round/>
              <a:headEnd/>
              <a:tailEnd type="triangle" w="med" len="med"/>
            </a:ln>
          </p:spPr>
          <p:txBody>
            <a:bodyPr/>
            <a:lstStyle/>
            <a:p>
              <a:endParaRPr lang="zh-CN" altLang="en-US"/>
            </a:p>
          </p:txBody>
        </p:sp>
        <p:sp>
          <p:nvSpPr>
            <p:cNvPr id="24608" name="Line 69"/>
            <p:cNvSpPr>
              <a:spLocks noChangeShapeType="1"/>
            </p:cNvSpPr>
            <p:nvPr/>
          </p:nvSpPr>
          <p:spPr bwMode="auto">
            <a:xfrm flipH="1">
              <a:off x="2843" y="2031"/>
              <a:ext cx="414" cy="1"/>
            </a:xfrm>
            <a:prstGeom prst="line">
              <a:avLst/>
            </a:prstGeom>
            <a:noFill/>
            <a:ln w="28575">
              <a:solidFill>
                <a:srgbClr val="CC0099"/>
              </a:solidFill>
              <a:round/>
              <a:headEnd/>
              <a:tailEnd type="triangle" w="med" len="med"/>
            </a:ln>
          </p:spPr>
          <p:txBody>
            <a:bodyPr/>
            <a:lstStyle/>
            <a:p>
              <a:endParaRPr lang="zh-CN" altLang="en-US"/>
            </a:p>
          </p:txBody>
        </p:sp>
      </p:grpSp>
      <p:sp>
        <p:nvSpPr>
          <p:cNvPr id="24584" name="Text Box 71"/>
          <p:cNvSpPr txBox="1">
            <a:spLocks noChangeArrowheads="1"/>
          </p:cNvSpPr>
          <p:nvPr/>
        </p:nvSpPr>
        <p:spPr bwMode="auto">
          <a:xfrm>
            <a:off x="1992314" y="3068638"/>
            <a:ext cx="3455987" cy="519112"/>
          </a:xfrm>
          <a:prstGeom prst="rect">
            <a:avLst/>
          </a:prstGeom>
          <a:noFill/>
          <a:ln w="9525">
            <a:noFill/>
            <a:miter lim="800000"/>
            <a:headEnd/>
            <a:tailEnd/>
          </a:ln>
        </p:spPr>
        <p:txBody>
          <a:bodyPr>
            <a:spAutoFit/>
          </a:bodyPr>
          <a:lstStyle/>
          <a:p>
            <a:pPr>
              <a:spcBef>
                <a:spcPct val="50000"/>
              </a:spcBef>
            </a:pPr>
            <a:r>
              <a:rPr lang="zh-CN" altLang="en-US" sz="2800" b="1">
                <a:solidFill>
                  <a:srgbClr val="FF33CC"/>
                </a:solidFill>
              </a:rPr>
              <a:t>检验统计量的值：</a:t>
            </a:r>
          </a:p>
        </p:txBody>
      </p:sp>
      <p:sp>
        <p:nvSpPr>
          <p:cNvPr id="78921" name="Rectangle 73"/>
          <p:cNvSpPr>
            <a:spLocks noChangeArrowheads="1"/>
          </p:cNvSpPr>
          <p:nvPr/>
        </p:nvSpPr>
        <p:spPr bwMode="auto">
          <a:xfrm>
            <a:off x="1847851" y="5229226"/>
            <a:ext cx="2327275" cy="519113"/>
          </a:xfrm>
          <a:prstGeom prst="rect">
            <a:avLst/>
          </a:prstGeom>
          <a:noFill/>
          <a:ln w="9525">
            <a:noFill/>
            <a:miter lim="800000"/>
            <a:headEnd/>
            <a:tailEnd/>
          </a:ln>
        </p:spPr>
        <p:txBody>
          <a:bodyPr wrap="none">
            <a:spAutoFit/>
          </a:bodyPr>
          <a:lstStyle/>
          <a:p>
            <a:r>
              <a:rPr lang="zh-CN" altLang="en-US" sz="2800" b="1">
                <a:solidFill>
                  <a:srgbClr val="FF33CC"/>
                </a:solidFill>
              </a:rPr>
              <a:t>决策和结论：</a:t>
            </a:r>
          </a:p>
        </p:txBody>
      </p:sp>
    </p:spTree>
    <p:extLst>
      <p:ext uri="{BB962C8B-B14F-4D97-AF65-F5344CB8AC3E}">
        <p14:creationId xmlns:p14="http://schemas.microsoft.com/office/powerpoint/2010/main" val="2093921248"/>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77190"/>
                                        </p:tgtEl>
                                        <p:attrNameLst>
                                          <p:attrName>style.visibility</p:attrName>
                                        </p:attrNameLst>
                                      </p:cBhvr>
                                      <p:to>
                                        <p:strVal val="visible"/>
                                      </p:to>
                                    </p:set>
                                    <p:animEffect transition="in" filter="wipe(left)">
                                      <p:cBhvr>
                                        <p:cTn id="7" dur="500"/>
                                        <p:tgtEl>
                                          <p:spTgt spid="47719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78921">
                                            <p:txEl>
                                              <p:pRg st="0" end="0"/>
                                            </p:txEl>
                                          </p:spTgt>
                                        </p:tgtEl>
                                        <p:attrNameLst>
                                          <p:attrName>style.visibility</p:attrName>
                                        </p:attrNameLst>
                                      </p:cBhvr>
                                      <p:to>
                                        <p:strVal val="visible"/>
                                      </p:to>
                                    </p:set>
                                    <p:animEffect transition="in" filter="wipe(down)">
                                      <p:cBhvr>
                                        <p:cTn id="12" dur="500"/>
                                        <p:tgtEl>
                                          <p:spTgt spid="78921">
                                            <p:txEl>
                                              <p:pRg st="0" end="0"/>
                                            </p:txEl>
                                          </p:spTgt>
                                        </p:tgtEl>
                                      </p:cBhvr>
                                    </p:animEffect>
                                  </p:childTnLst>
                                </p:cTn>
                              </p:par>
                              <p:par>
                                <p:cTn id="13" presetID="22" presetClass="entr" presetSubtype="8" fill="hold" grpId="0" nodeType="withEffect">
                                  <p:stCondLst>
                                    <p:cond delay="0"/>
                                  </p:stCondLst>
                                  <p:childTnLst>
                                    <p:set>
                                      <p:cBhvr>
                                        <p:cTn id="14" dur="1" fill="hold">
                                          <p:stCondLst>
                                            <p:cond delay="0"/>
                                          </p:stCondLst>
                                        </p:cTn>
                                        <p:tgtEl>
                                          <p:spTgt spid="78854">
                                            <p:txEl>
                                              <p:pRg st="0" end="0"/>
                                            </p:txEl>
                                          </p:spTgt>
                                        </p:tgtEl>
                                        <p:attrNameLst>
                                          <p:attrName>style.visibility</p:attrName>
                                        </p:attrNameLst>
                                      </p:cBhvr>
                                      <p:to>
                                        <p:strVal val="visible"/>
                                      </p:to>
                                    </p:set>
                                    <p:animEffect transition="in" filter="wipe(left)">
                                      <p:cBhvr>
                                        <p:cTn id="15" dur="500"/>
                                        <p:tgtEl>
                                          <p:spTgt spid="7885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854" grpId="0" build="p" autoUpdateAnimBg="0"/>
    </p:bldLst>
  </p:timing>
</p:sld>
</file>

<file path=ppt/slides/slide5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5604" name="灯片编号占位符 6"/>
          <p:cNvSpPr>
            <a:spLocks noGrp="1"/>
          </p:cNvSpPr>
          <p:nvPr>
            <p:ph type="sldNum" sz="quarter" idx="12"/>
          </p:nvPr>
        </p:nvSpPr>
        <p:spPr>
          <a:noFill/>
        </p:spPr>
        <p:txBody>
          <a:bodyPr/>
          <a:lstStyle/>
          <a:p>
            <a:r>
              <a:rPr lang="en-US" altLang="zh-CN">
                <a:ea typeface="宋体" pitchFamily="2" charset="-122"/>
              </a:rPr>
              <a:t>8--</a:t>
            </a:r>
            <a:fld id="{4390781B-BC44-4E81-AEDC-94F74CA3ADD5}" type="slidenum">
              <a:rPr lang="en-US" altLang="zh-CN" smtClean="0">
                <a:ea typeface="宋体" pitchFamily="2" charset="-122"/>
              </a:rPr>
              <a:pPr/>
              <a:t>59</a:t>
            </a:fld>
            <a:endParaRPr lang="en-US" altLang="zh-CN">
              <a:ea typeface="宋体" pitchFamily="2" charset="-122"/>
            </a:endParaRPr>
          </a:p>
        </p:txBody>
      </p:sp>
      <p:sp>
        <p:nvSpPr>
          <p:cNvPr id="389122" name="Rectangle 2"/>
          <p:cNvSpPr>
            <a:spLocks noChangeArrowheads="1"/>
          </p:cNvSpPr>
          <p:nvPr/>
        </p:nvSpPr>
        <p:spPr bwMode="auto">
          <a:xfrm>
            <a:off x="1992313" y="4868863"/>
            <a:ext cx="8280400" cy="1205458"/>
          </a:xfrm>
          <a:prstGeom prst="rect">
            <a:avLst/>
          </a:prstGeom>
          <a:noFill/>
          <a:ln w="12700">
            <a:noFill/>
            <a:miter lim="800000"/>
            <a:headEnd/>
            <a:tailEnd/>
          </a:ln>
        </p:spPr>
        <p:txBody>
          <a:bodyPr lIns="90488" tIns="44450" rIns="90488" bIns="44450">
            <a:spAutoFit/>
          </a:bodyPr>
          <a:lstStyle/>
          <a:p>
            <a:pPr eaLnBrk="0" hangingPunct="0">
              <a:lnSpc>
                <a:spcPct val="125000"/>
              </a:lnSpc>
              <a:spcBef>
                <a:spcPts val="600"/>
              </a:spcBef>
            </a:pPr>
            <a:r>
              <a:rPr kumimoji="1" lang="en-US" altLang="zh-CN" sz="2600" b="1">
                <a:solidFill>
                  <a:srgbClr val="000000"/>
                </a:solidFill>
              </a:rPr>
              <a:t>   </a:t>
            </a:r>
            <a:r>
              <a:rPr kumimoji="1" lang="zh-CN" altLang="en-US" sz="2600" b="1">
                <a:solidFill>
                  <a:srgbClr val="000000"/>
                </a:solidFill>
              </a:rPr>
              <a:t>即：在</a:t>
            </a:r>
            <a:r>
              <a:rPr kumimoji="1" lang="zh-CN" altLang="en-US" sz="2600" b="1">
                <a:solidFill>
                  <a:srgbClr val="000000"/>
                </a:solidFill>
                <a:latin typeface="Symbol" pitchFamily="18" charset="2"/>
              </a:rPr>
              <a:t></a:t>
            </a:r>
            <a:r>
              <a:rPr kumimoji="1" lang="en-US" altLang="zh-CN" sz="2600" b="1">
                <a:solidFill>
                  <a:srgbClr val="000000"/>
                </a:solidFill>
              </a:rPr>
              <a:t>=0.1 </a:t>
            </a:r>
            <a:r>
              <a:rPr kumimoji="1" lang="zh-CN" altLang="en-US" sz="2600" b="1">
                <a:solidFill>
                  <a:srgbClr val="000000"/>
                </a:solidFill>
              </a:rPr>
              <a:t>的</a:t>
            </a:r>
            <a:r>
              <a:rPr kumimoji="1" lang="zh-CN" altLang="en-US" sz="2800" b="1">
                <a:solidFill>
                  <a:srgbClr val="000000"/>
                </a:solidFill>
              </a:rPr>
              <a:t>显著性</a:t>
            </a:r>
            <a:r>
              <a:rPr kumimoji="1" lang="zh-CN" altLang="en-US" sz="2600" b="1">
                <a:solidFill>
                  <a:srgbClr val="000000"/>
                </a:solidFill>
              </a:rPr>
              <a:t>水平上拒绝</a:t>
            </a:r>
            <a:r>
              <a:rPr kumimoji="1" lang="en-US" altLang="zh-CN" sz="2600" b="1">
                <a:solidFill>
                  <a:srgbClr val="000000"/>
                </a:solidFill>
              </a:rPr>
              <a:t>H</a:t>
            </a:r>
            <a:r>
              <a:rPr kumimoji="1" lang="en-US" altLang="zh-CN" sz="2600" b="1" baseline="-25000">
                <a:solidFill>
                  <a:srgbClr val="000000"/>
                </a:solidFill>
              </a:rPr>
              <a:t>0</a:t>
            </a:r>
            <a:r>
              <a:rPr kumimoji="1" lang="zh-CN" altLang="en-US" sz="2600" b="1">
                <a:solidFill>
                  <a:srgbClr val="000000"/>
                </a:solidFill>
              </a:rPr>
              <a:t>，</a:t>
            </a:r>
            <a:endParaRPr kumimoji="1" lang="en-US" altLang="zh-CN" sz="2600" b="1">
              <a:solidFill>
                <a:srgbClr val="000000"/>
              </a:solidFill>
            </a:endParaRPr>
          </a:p>
          <a:p>
            <a:pPr eaLnBrk="0" hangingPunct="0">
              <a:lnSpc>
                <a:spcPct val="125000"/>
              </a:lnSpc>
              <a:spcBef>
                <a:spcPts val="600"/>
              </a:spcBef>
            </a:pPr>
            <a:r>
              <a:rPr kumimoji="1" lang="zh-CN" altLang="en-US" sz="2600" b="1">
                <a:solidFill>
                  <a:srgbClr val="000000"/>
                </a:solidFill>
              </a:rPr>
              <a:t>     有充足证据表明该日纤度的波动比平时有显著差异。</a:t>
            </a:r>
          </a:p>
        </p:txBody>
      </p:sp>
      <p:sp>
        <p:nvSpPr>
          <p:cNvPr id="389123" name="Text Box 3"/>
          <p:cNvSpPr txBox="1">
            <a:spLocks noChangeArrowheads="1"/>
          </p:cNvSpPr>
          <p:nvPr/>
        </p:nvSpPr>
        <p:spPr bwMode="auto">
          <a:xfrm>
            <a:off x="5638800" y="2514600"/>
            <a:ext cx="3124200" cy="457200"/>
          </a:xfrm>
          <a:prstGeom prst="rect">
            <a:avLst/>
          </a:prstGeom>
          <a:noFill/>
          <a:ln w="12700">
            <a:noFill/>
            <a:miter lim="800000"/>
            <a:headEnd/>
            <a:tailEnd/>
          </a:ln>
          <a:effectLst/>
        </p:spPr>
        <p:txBody>
          <a:bodyPr>
            <a:spAutoFit/>
          </a:bodyPr>
          <a:lstStyle/>
          <a:p>
            <a:pPr eaLnBrk="0" hangingPunct="0">
              <a:spcBef>
                <a:spcPct val="50000"/>
              </a:spcBef>
              <a:defRPr/>
            </a:pPr>
            <a:endParaRPr kumimoji="1" lang="zh-CN" altLang="zh-CN" sz="2400">
              <a:effectLst>
                <a:outerShdw blurRad="38100" dist="38100" dir="2700000" algn="tl">
                  <a:srgbClr val="C0C0C0"/>
                </a:outerShdw>
              </a:effectLst>
              <a:latin typeface="Arial" charset="0"/>
              <a:ea typeface="宋体" charset="-122"/>
            </a:endParaRPr>
          </a:p>
        </p:txBody>
      </p:sp>
      <p:graphicFrame>
        <p:nvGraphicFramePr>
          <p:cNvPr id="25602" name="Object 4">
            <a:hlinkClick r:id="" action="ppaction://ole?verb=0"/>
          </p:cNvPr>
          <p:cNvGraphicFramePr>
            <a:graphicFrameLocks/>
          </p:cNvGraphicFramePr>
          <p:nvPr/>
        </p:nvGraphicFramePr>
        <p:xfrm>
          <a:off x="2927351" y="1989138"/>
          <a:ext cx="1825625" cy="646112"/>
        </p:xfrm>
        <a:graphic>
          <a:graphicData uri="http://schemas.openxmlformats.org/presentationml/2006/ole">
            <mc:AlternateContent xmlns:mc="http://schemas.openxmlformats.org/markup-compatibility/2006">
              <mc:Choice xmlns:v="urn:schemas-microsoft-com:vml" Requires="v">
                <p:oleObj name="公式" r:id="rId3" imgW="711000" imgH="228600" progId="Equation.3">
                  <p:embed/>
                </p:oleObj>
              </mc:Choice>
              <mc:Fallback>
                <p:oleObj name="公式" r:id="rId3" imgW="711000" imgH="228600" progId="Equation.3">
                  <p:embed/>
                  <p:pic>
                    <p:nvPicPr>
                      <p:cNvPr id="25602" name="Object 4">
                        <a:hlinkClick r:id="" action="ppaction://ole?verb=0"/>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27351" y="1989138"/>
                        <a:ext cx="1825625" cy="646112"/>
                      </a:xfrm>
                      <a:prstGeom prst="rect">
                        <a:avLst/>
                      </a:prstGeom>
                      <a:noFill/>
                      <a:ln>
                        <a:noFill/>
                      </a:ln>
                      <a:effectLst>
                        <a:outerShdw dist="1796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Lst>
                    </p:spPr>
                  </p:pic>
                </p:oleObj>
              </mc:Fallback>
            </mc:AlternateContent>
          </a:graphicData>
        </a:graphic>
      </p:graphicFrame>
      <p:sp>
        <p:nvSpPr>
          <p:cNvPr id="25607" name="Text Box 5"/>
          <p:cNvSpPr txBox="1">
            <a:spLocks noChangeArrowheads="1"/>
          </p:cNvSpPr>
          <p:nvPr/>
        </p:nvSpPr>
        <p:spPr bwMode="auto">
          <a:xfrm>
            <a:off x="2135189" y="1484313"/>
            <a:ext cx="3455987" cy="519112"/>
          </a:xfrm>
          <a:prstGeom prst="rect">
            <a:avLst/>
          </a:prstGeom>
          <a:noFill/>
          <a:ln w="9525">
            <a:noFill/>
            <a:miter lim="800000"/>
            <a:headEnd/>
            <a:tailEnd/>
          </a:ln>
        </p:spPr>
        <p:txBody>
          <a:bodyPr>
            <a:spAutoFit/>
          </a:bodyPr>
          <a:lstStyle/>
          <a:p>
            <a:pPr>
              <a:spcBef>
                <a:spcPct val="50000"/>
              </a:spcBef>
            </a:pPr>
            <a:r>
              <a:rPr lang="zh-CN" altLang="en-US" sz="2800" b="1">
                <a:solidFill>
                  <a:srgbClr val="FF33CC"/>
                </a:solidFill>
              </a:rPr>
              <a:t>检验统计量的值：</a:t>
            </a:r>
          </a:p>
        </p:txBody>
      </p:sp>
      <p:sp>
        <p:nvSpPr>
          <p:cNvPr id="25608" name="Rectangle 6"/>
          <p:cNvSpPr>
            <a:spLocks noGrp="1" noChangeArrowheads="1"/>
          </p:cNvSpPr>
          <p:nvPr>
            <p:ph type="title"/>
          </p:nvPr>
        </p:nvSpPr>
        <p:spPr>
          <a:xfrm>
            <a:off x="2424113" y="333375"/>
            <a:ext cx="7772400" cy="990600"/>
          </a:xfrm>
        </p:spPr>
        <p:txBody>
          <a:bodyPr/>
          <a:lstStyle/>
          <a:p>
            <a:pPr eaLnBrk="1" hangingPunct="1"/>
            <a:r>
              <a:rPr lang="zh-CN" altLang="en-US">
                <a:solidFill>
                  <a:srgbClr val="0000FF"/>
                </a:solidFill>
              </a:rPr>
              <a:t>计算结果</a:t>
            </a:r>
            <a:r>
              <a:rPr lang="en-US" altLang="zh-CN">
                <a:solidFill>
                  <a:srgbClr val="0000FF"/>
                </a:solidFill>
                <a:latin typeface="Arial" pitchFamily="34" charset="0"/>
              </a:rPr>
              <a:t>——</a:t>
            </a:r>
            <a:r>
              <a:rPr lang="en-US" altLang="zh-CN"/>
              <a:t>P</a:t>
            </a:r>
            <a:r>
              <a:rPr lang="zh-CN" altLang="en-US"/>
              <a:t>值</a:t>
            </a:r>
          </a:p>
        </p:txBody>
      </p:sp>
      <p:grpSp>
        <p:nvGrpSpPr>
          <p:cNvPr id="2" name="Group 7"/>
          <p:cNvGrpSpPr>
            <a:grpSpLocks/>
          </p:cNvGrpSpPr>
          <p:nvPr/>
        </p:nvGrpSpPr>
        <p:grpSpPr bwMode="auto">
          <a:xfrm>
            <a:off x="6600826" y="1412876"/>
            <a:ext cx="3529013" cy="2735263"/>
            <a:chOff x="3288" y="1117"/>
            <a:chExt cx="2223" cy="1723"/>
          </a:xfrm>
        </p:grpSpPr>
        <p:sp>
          <p:nvSpPr>
            <p:cNvPr id="389128" name="Freeform 8"/>
            <p:cNvSpPr>
              <a:spLocks/>
            </p:cNvSpPr>
            <p:nvPr/>
          </p:nvSpPr>
          <p:spPr bwMode="auto">
            <a:xfrm>
              <a:off x="3509" y="1773"/>
              <a:ext cx="233" cy="387"/>
            </a:xfrm>
            <a:custGeom>
              <a:avLst/>
              <a:gdLst/>
              <a:ahLst/>
              <a:cxnLst>
                <a:cxn ang="0">
                  <a:pos x="0" y="378"/>
                </a:cxn>
                <a:cxn ang="0">
                  <a:pos x="69" y="325"/>
                </a:cxn>
                <a:cxn ang="0">
                  <a:pos x="113" y="261"/>
                </a:cxn>
                <a:cxn ang="0">
                  <a:pos x="148" y="181"/>
                </a:cxn>
                <a:cxn ang="0">
                  <a:pos x="182" y="71"/>
                </a:cxn>
                <a:cxn ang="0">
                  <a:pos x="207" y="0"/>
                </a:cxn>
                <a:cxn ang="0">
                  <a:pos x="207" y="386"/>
                </a:cxn>
                <a:cxn ang="0">
                  <a:pos x="0" y="386"/>
                </a:cxn>
                <a:cxn ang="0">
                  <a:pos x="0" y="378"/>
                </a:cxn>
              </a:cxnLst>
              <a:rect l="0" t="0" r="r" b="b"/>
              <a:pathLst>
                <a:path w="208" h="387">
                  <a:moveTo>
                    <a:pt x="0" y="378"/>
                  </a:moveTo>
                  <a:lnTo>
                    <a:pt x="69" y="325"/>
                  </a:lnTo>
                  <a:lnTo>
                    <a:pt x="113" y="261"/>
                  </a:lnTo>
                  <a:lnTo>
                    <a:pt x="148" y="181"/>
                  </a:lnTo>
                  <a:lnTo>
                    <a:pt x="182" y="71"/>
                  </a:lnTo>
                  <a:lnTo>
                    <a:pt x="207" y="0"/>
                  </a:lnTo>
                  <a:lnTo>
                    <a:pt x="207" y="386"/>
                  </a:lnTo>
                  <a:lnTo>
                    <a:pt x="0" y="386"/>
                  </a:lnTo>
                  <a:lnTo>
                    <a:pt x="0" y="378"/>
                  </a:lnTo>
                </a:path>
              </a:pathLst>
            </a:custGeom>
            <a:solidFill>
              <a:srgbClr val="FFCC66"/>
            </a:solidFill>
            <a:ln w="12700" cap="rnd" cmpd="sng">
              <a:solidFill>
                <a:srgbClr val="000000"/>
              </a:solidFill>
              <a:prstDash val="solid"/>
              <a:round/>
              <a:headEnd type="none" w="med" len="med"/>
              <a:tailEnd type="none" w="med" len="med"/>
            </a:ln>
            <a:effectLst>
              <a:outerShdw dist="35921" dir="2700000" algn="ctr" rotWithShape="0">
                <a:schemeClr val="bg2"/>
              </a:outerShdw>
            </a:effectLst>
          </p:spPr>
          <p:txBody>
            <a:bodyPr/>
            <a:lstStyle/>
            <a:p>
              <a:pPr>
                <a:defRPr/>
              </a:pPr>
              <a:endParaRPr lang="zh-CN" altLang="en-US">
                <a:latin typeface="Arial" charset="0"/>
                <a:ea typeface="宋体" charset="-122"/>
              </a:endParaRPr>
            </a:p>
          </p:txBody>
        </p:sp>
        <p:sp>
          <p:nvSpPr>
            <p:cNvPr id="389129" name="Freeform 9"/>
            <p:cNvSpPr>
              <a:spLocks/>
            </p:cNvSpPr>
            <p:nvPr/>
          </p:nvSpPr>
          <p:spPr bwMode="auto">
            <a:xfrm>
              <a:off x="4649" y="1888"/>
              <a:ext cx="464" cy="240"/>
            </a:xfrm>
            <a:custGeom>
              <a:avLst/>
              <a:gdLst/>
              <a:ahLst/>
              <a:cxnLst>
                <a:cxn ang="0">
                  <a:pos x="423" y="204"/>
                </a:cxn>
                <a:cxn ang="0">
                  <a:pos x="279" y="154"/>
                </a:cxn>
                <a:cxn ang="0">
                  <a:pos x="244" y="140"/>
                </a:cxn>
                <a:cxn ang="0">
                  <a:pos x="212" y="125"/>
                </a:cxn>
                <a:cxn ang="0">
                  <a:pos x="181" y="108"/>
                </a:cxn>
                <a:cxn ang="0">
                  <a:pos x="98" y="71"/>
                </a:cxn>
                <a:cxn ang="0">
                  <a:pos x="54" y="42"/>
                </a:cxn>
                <a:cxn ang="0">
                  <a:pos x="0" y="0"/>
                </a:cxn>
                <a:cxn ang="0">
                  <a:pos x="0" y="215"/>
                </a:cxn>
                <a:cxn ang="0">
                  <a:pos x="423" y="209"/>
                </a:cxn>
                <a:cxn ang="0">
                  <a:pos x="423" y="204"/>
                </a:cxn>
              </a:cxnLst>
              <a:rect l="0" t="0" r="r" b="b"/>
              <a:pathLst>
                <a:path w="424" h="216">
                  <a:moveTo>
                    <a:pt x="423" y="204"/>
                  </a:moveTo>
                  <a:lnTo>
                    <a:pt x="279" y="154"/>
                  </a:lnTo>
                  <a:lnTo>
                    <a:pt x="244" y="140"/>
                  </a:lnTo>
                  <a:lnTo>
                    <a:pt x="212" y="125"/>
                  </a:lnTo>
                  <a:lnTo>
                    <a:pt x="181" y="108"/>
                  </a:lnTo>
                  <a:lnTo>
                    <a:pt x="98" y="71"/>
                  </a:lnTo>
                  <a:lnTo>
                    <a:pt x="54" y="42"/>
                  </a:lnTo>
                  <a:lnTo>
                    <a:pt x="0" y="0"/>
                  </a:lnTo>
                  <a:lnTo>
                    <a:pt x="0" y="215"/>
                  </a:lnTo>
                  <a:lnTo>
                    <a:pt x="423" y="209"/>
                  </a:lnTo>
                  <a:lnTo>
                    <a:pt x="423" y="204"/>
                  </a:lnTo>
                </a:path>
              </a:pathLst>
            </a:custGeom>
            <a:solidFill>
              <a:srgbClr val="FFCC66"/>
            </a:solidFill>
            <a:ln w="12700" cap="rnd" cmpd="sng">
              <a:solidFill>
                <a:srgbClr val="000000"/>
              </a:solidFill>
              <a:prstDash val="solid"/>
              <a:round/>
              <a:headEnd type="none" w="med" len="med"/>
              <a:tailEnd type="none" w="med" len="med"/>
            </a:ln>
            <a:effectLst>
              <a:outerShdw dist="35921" dir="2700000" algn="ctr" rotWithShape="0">
                <a:schemeClr val="bg2"/>
              </a:outerShdw>
            </a:effectLst>
          </p:spPr>
          <p:txBody>
            <a:bodyPr/>
            <a:lstStyle/>
            <a:p>
              <a:pPr>
                <a:defRPr/>
              </a:pPr>
              <a:endParaRPr lang="zh-CN" altLang="en-US">
                <a:latin typeface="Arial" charset="0"/>
                <a:ea typeface="宋体" charset="-122"/>
              </a:endParaRPr>
            </a:p>
          </p:txBody>
        </p:sp>
        <p:sp>
          <p:nvSpPr>
            <p:cNvPr id="389130" name="Freeform 10"/>
            <p:cNvSpPr>
              <a:spLocks/>
            </p:cNvSpPr>
            <p:nvPr/>
          </p:nvSpPr>
          <p:spPr bwMode="auto">
            <a:xfrm>
              <a:off x="3873" y="1208"/>
              <a:ext cx="1481" cy="901"/>
            </a:xfrm>
            <a:custGeom>
              <a:avLst/>
              <a:gdLst/>
              <a:ahLst/>
              <a:cxnLst>
                <a:cxn ang="0">
                  <a:pos x="1480" y="900"/>
                </a:cxn>
                <a:cxn ang="0">
                  <a:pos x="1325" y="891"/>
                </a:cxn>
                <a:cxn ang="0">
                  <a:pos x="1246" y="879"/>
                </a:cxn>
                <a:cxn ang="0">
                  <a:pos x="1169" y="866"/>
                </a:cxn>
                <a:cxn ang="0">
                  <a:pos x="1090" y="844"/>
                </a:cxn>
                <a:cxn ang="0">
                  <a:pos x="1013" y="816"/>
                </a:cxn>
                <a:cxn ang="0">
                  <a:pos x="935" y="779"/>
                </a:cxn>
                <a:cxn ang="0">
                  <a:pos x="779" y="676"/>
                </a:cxn>
                <a:cxn ang="0">
                  <a:pos x="624" y="528"/>
                </a:cxn>
                <a:cxn ang="0">
                  <a:pos x="466" y="351"/>
                </a:cxn>
                <a:cxn ang="0">
                  <a:pos x="389" y="261"/>
                </a:cxn>
                <a:cxn ang="0">
                  <a:pos x="311" y="178"/>
                </a:cxn>
                <a:cxn ang="0">
                  <a:pos x="234" y="105"/>
                </a:cxn>
                <a:cxn ang="0">
                  <a:pos x="155" y="48"/>
                </a:cxn>
                <a:cxn ang="0">
                  <a:pos x="76" y="11"/>
                </a:cxn>
                <a:cxn ang="0">
                  <a:pos x="0" y="0"/>
                </a:cxn>
              </a:cxnLst>
              <a:rect l="0" t="0" r="r" b="b"/>
              <a:pathLst>
                <a:path w="1481" h="901">
                  <a:moveTo>
                    <a:pt x="1480" y="900"/>
                  </a:moveTo>
                  <a:lnTo>
                    <a:pt x="1325" y="891"/>
                  </a:lnTo>
                  <a:lnTo>
                    <a:pt x="1246" y="879"/>
                  </a:lnTo>
                  <a:lnTo>
                    <a:pt x="1169" y="866"/>
                  </a:lnTo>
                  <a:lnTo>
                    <a:pt x="1090" y="844"/>
                  </a:lnTo>
                  <a:lnTo>
                    <a:pt x="1013" y="816"/>
                  </a:lnTo>
                  <a:lnTo>
                    <a:pt x="935" y="779"/>
                  </a:lnTo>
                  <a:lnTo>
                    <a:pt x="779" y="676"/>
                  </a:lnTo>
                  <a:lnTo>
                    <a:pt x="624" y="528"/>
                  </a:lnTo>
                  <a:lnTo>
                    <a:pt x="466" y="351"/>
                  </a:lnTo>
                  <a:lnTo>
                    <a:pt x="389" y="261"/>
                  </a:lnTo>
                  <a:lnTo>
                    <a:pt x="311" y="178"/>
                  </a:lnTo>
                  <a:lnTo>
                    <a:pt x="234" y="105"/>
                  </a:lnTo>
                  <a:lnTo>
                    <a:pt x="155" y="48"/>
                  </a:lnTo>
                  <a:lnTo>
                    <a:pt x="76" y="11"/>
                  </a:lnTo>
                  <a:lnTo>
                    <a:pt x="0" y="0"/>
                  </a:lnTo>
                </a:path>
              </a:pathLst>
            </a:custGeom>
            <a:noFill/>
            <a:ln w="50800" cap="rnd" cmpd="sng">
              <a:solidFill>
                <a:srgbClr val="FF00FF"/>
              </a:solidFill>
              <a:prstDash val="solid"/>
              <a:round/>
              <a:headEnd type="none" w="med" len="med"/>
              <a:tailEnd type="none" w="med" len="med"/>
            </a:ln>
            <a:effectLst>
              <a:outerShdw dist="35921" dir="2700000" algn="ctr" rotWithShape="0">
                <a:schemeClr val="bg2"/>
              </a:outerShdw>
            </a:effectLst>
          </p:spPr>
          <p:txBody>
            <a:bodyPr/>
            <a:lstStyle/>
            <a:p>
              <a:pPr>
                <a:defRPr/>
              </a:pPr>
              <a:endParaRPr lang="zh-CN" altLang="en-US">
                <a:latin typeface="Arial" charset="0"/>
                <a:ea typeface="宋体" charset="-122"/>
              </a:endParaRPr>
            </a:p>
          </p:txBody>
        </p:sp>
        <p:sp>
          <p:nvSpPr>
            <p:cNvPr id="389131" name="Freeform 11"/>
            <p:cNvSpPr>
              <a:spLocks/>
            </p:cNvSpPr>
            <p:nvPr/>
          </p:nvSpPr>
          <p:spPr bwMode="auto">
            <a:xfrm>
              <a:off x="3465" y="1227"/>
              <a:ext cx="393" cy="901"/>
            </a:xfrm>
            <a:custGeom>
              <a:avLst/>
              <a:gdLst/>
              <a:ahLst/>
              <a:cxnLst>
                <a:cxn ang="0">
                  <a:pos x="0" y="900"/>
                </a:cxn>
                <a:cxn ang="0">
                  <a:pos x="42" y="891"/>
                </a:cxn>
                <a:cxn ang="0">
                  <a:pos x="61" y="879"/>
                </a:cxn>
                <a:cxn ang="0">
                  <a:pos x="82" y="866"/>
                </a:cxn>
                <a:cxn ang="0">
                  <a:pos x="104" y="844"/>
                </a:cxn>
                <a:cxn ang="0">
                  <a:pos x="123" y="816"/>
                </a:cxn>
                <a:cxn ang="0">
                  <a:pos x="144" y="779"/>
                </a:cxn>
                <a:cxn ang="0">
                  <a:pos x="186" y="676"/>
                </a:cxn>
                <a:cxn ang="0">
                  <a:pos x="227" y="528"/>
                </a:cxn>
                <a:cxn ang="0">
                  <a:pos x="267" y="351"/>
                </a:cxn>
                <a:cxn ang="0">
                  <a:pos x="288" y="261"/>
                </a:cxn>
                <a:cxn ang="0">
                  <a:pos x="309" y="178"/>
                </a:cxn>
                <a:cxn ang="0">
                  <a:pos x="330" y="105"/>
                </a:cxn>
                <a:cxn ang="0">
                  <a:pos x="349" y="48"/>
                </a:cxn>
                <a:cxn ang="0">
                  <a:pos x="371" y="11"/>
                </a:cxn>
                <a:cxn ang="0">
                  <a:pos x="392" y="0"/>
                </a:cxn>
              </a:cxnLst>
              <a:rect l="0" t="0" r="r" b="b"/>
              <a:pathLst>
                <a:path w="393" h="901">
                  <a:moveTo>
                    <a:pt x="0" y="900"/>
                  </a:moveTo>
                  <a:lnTo>
                    <a:pt x="42" y="891"/>
                  </a:lnTo>
                  <a:lnTo>
                    <a:pt x="61" y="879"/>
                  </a:lnTo>
                  <a:lnTo>
                    <a:pt x="82" y="866"/>
                  </a:lnTo>
                  <a:lnTo>
                    <a:pt x="104" y="844"/>
                  </a:lnTo>
                  <a:lnTo>
                    <a:pt x="123" y="816"/>
                  </a:lnTo>
                  <a:lnTo>
                    <a:pt x="144" y="779"/>
                  </a:lnTo>
                  <a:lnTo>
                    <a:pt x="186" y="676"/>
                  </a:lnTo>
                  <a:lnTo>
                    <a:pt x="227" y="528"/>
                  </a:lnTo>
                  <a:lnTo>
                    <a:pt x="267" y="351"/>
                  </a:lnTo>
                  <a:lnTo>
                    <a:pt x="288" y="261"/>
                  </a:lnTo>
                  <a:lnTo>
                    <a:pt x="309" y="178"/>
                  </a:lnTo>
                  <a:lnTo>
                    <a:pt x="330" y="105"/>
                  </a:lnTo>
                  <a:lnTo>
                    <a:pt x="349" y="48"/>
                  </a:lnTo>
                  <a:lnTo>
                    <a:pt x="371" y="11"/>
                  </a:lnTo>
                  <a:lnTo>
                    <a:pt x="392" y="0"/>
                  </a:lnTo>
                </a:path>
              </a:pathLst>
            </a:custGeom>
            <a:noFill/>
            <a:ln w="50800" cap="rnd" cmpd="sng">
              <a:solidFill>
                <a:srgbClr val="FF00FF"/>
              </a:solidFill>
              <a:prstDash val="solid"/>
              <a:round/>
              <a:headEnd type="none" w="med" len="med"/>
              <a:tailEnd type="none" w="med" len="med"/>
            </a:ln>
            <a:effectLst>
              <a:outerShdw dist="35921" dir="2700000" algn="ctr" rotWithShape="0">
                <a:schemeClr val="bg2"/>
              </a:outerShdw>
            </a:effectLst>
          </p:spPr>
          <p:txBody>
            <a:bodyPr/>
            <a:lstStyle/>
            <a:p>
              <a:pPr>
                <a:defRPr/>
              </a:pPr>
              <a:endParaRPr lang="zh-CN" altLang="en-US">
                <a:latin typeface="Arial" charset="0"/>
                <a:ea typeface="宋体" charset="-122"/>
              </a:endParaRPr>
            </a:p>
          </p:txBody>
        </p:sp>
        <p:sp>
          <p:nvSpPr>
            <p:cNvPr id="25615" name="Rectangle 12"/>
            <p:cNvSpPr>
              <a:spLocks noChangeArrowheads="1"/>
            </p:cNvSpPr>
            <p:nvPr/>
          </p:nvSpPr>
          <p:spPr bwMode="auto">
            <a:xfrm rot="-5400000">
              <a:off x="3299" y="1616"/>
              <a:ext cx="116" cy="58"/>
            </a:xfrm>
            <a:prstGeom prst="rect">
              <a:avLst/>
            </a:prstGeom>
            <a:noFill/>
            <a:ln w="12700">
              <a:noFill/>
              <a:miter lim="800000"/>
              <a:headEnd/>
              <a:tailEnd/>
            </a:ln>
          </p:spPr>
          <p:txBody>
            <a:bodyPr wrap="none" anchor="ctr"/>
            <a:lstStyle/>
            <a:p>
              <a:endParaRPr lang="zh-CN" altLang="en-US"/>
            </a:p>
          </p:txBody>
        </p:sp>
        <p:sp>
          <p:nvSpPr>
            <p:cNvPr id="389133" name="Rectangle 13"/>
            <p:cNvSpPr>
              <a:spLocks noChangeArrowheads="1"/>
            </p:cNvSpPr>
            <p:nvPr/>
          </p:nvSpPr>
          <p:spPr bwMode="auto">
            <a:xfrm>
              <a:off x="5160" y="2024"/>
              <a:ext cx="248" cy="347"/>
            </a:xfrm>
            <a:prstGeom prst="rect">
              <a:avLst/>
            </a:prstGeom>
            <a:noFill/>
            <a:ln w="12700">
              <a:noFill/>
              <a:miter lim="800000"/>
              <a:headEnd/>
              <a:tailEnd/>
            </a:ln>
            <a:effectLst>
              <a:outerShdw dist="35921" dir="2700000" algn="ctr" rotWithShape="0">
                <a:schemeClr val="bg2"/>
              </a:outerShdw>
            </a:effectLst>
          </p:spPr>
          <p:txBody>
            <a:bodyPr wrap="none" lIns="90488" tIns="44450" rIns="90488" bIns="44450">
              <a:spAutoFit/>
            </a:bodyPr>
            <a:lstStyle/>
            <a:p>
              <a:pPr eaLnBrk="0" hangingPunct="0">
                <a:defRPr/>
              </a:pPr>
              <a:r>
                <a:rPr kumimoji="1" lang="en-US" altLang="zh-CN" sz="3000" b="1">
                  <a:solidFill>
                    <a:srgbClr val="000000"/>
                  </a:solidFill>
                  <a:latin typeface="Symbol" pitchFamily="18" charset="2"/>
                  <a:ea typeface="宋体" charset="-122"/>
                </a:rPr>
                <a:t></a:t>
              </a:r>
            </a:p>
          </p:txBody>
        </p:sp>
        <p:sp>
          <p:nvSpPr>
            <p:cNvPr id="389134" name="Rectangle 14"/>
            <p:cNvSpPr>
              <a:spLocks noChangeArrowheads="1"/>
            </p:cNvSpPr>
            <p:nvPr/>
          </p:nvSpPr>
          <p:spPr bwMode="auto">
            <a:xfrm>
              <a:off x="5295" y="2069"/>
              <a:ext cx="205" cy="250"/>
            </a:xfrm>
            <a:prstGeom prst="rect">
              <a:avLst/>
            </a:prstGeom>
            <a:noFill/>
            <a:ln w="12700">
              <a:noFill/>
              <a:miter lim="800000"/>
              <a:headEnd/>
              <a:tailEnd/>
            </a:ln>
            <a:effectLst>
              <a:outerShdw dist="35921" dir="2700000" algn="ctr" rotWithShape="0">
                <a:schemeClr val="bg2"/>
              </a:outerShdw>
            </a:effectLst>
          </p:spPr>
          <p:txBody>
            <a:bodyPr wrap="none" lIns="90488" tIns="44450" rIns="90488" bIns="44450">
              <a:spAutoFit/>
            </a:bodyPr>
            <a:lstStyle/>
            <a:p>
              <a:pPr eaLnBrk="0" hangingPunct="0">
                <a:defRPr/>
              </a:pPr>
              <a:r>
                <a:rPr kumimoji="1" lang="en-US" altLang="zh-CN" sz="2000" b="1">
                  <a:solidFill>
                    <a:srgbClr val="000000"/>
                  </a:solidFill>
                  <a:latin typeface="Arial" charset="0"/>
                  <a:ea typeface="宋体" charset="-122"/>
                </a:rPr>
                <a:t>2</a:t>
              </a:r>
            </a:p>
          </p:txBody>
        </p:sp>
        <p:sp>
          <p:nvSpPr>
            <p:cNvPr id="389135" name="Rectangle 15"/>
            <p:cNvSpPr>
              <a:spLocks noChangeArrowheads="1"/>
            </p:cNvSpPr>
            <p:nvPr/>
          </p:nvSpPr>
          <p:spPr bwMode="auto">
            <a:xfrm>
              <a:off x="3288" y="2024"/>
              <a:ext cx="223" cy="289"/>
            </a:xfrm>
            <a:prstGeom prst="rect">
              <a:avLst/>
            </a:prstGeom>
            <a:noFill/>
            <a:ln w="12700">
              <a:noFill/>
              <a:miter lim="800000"/>
              <a:headEnd/>
              <a:tailEnd/>
            </a:ln>
            <a:effectLst>
              <a:outerShdw dist="35921" dir="2700000" algn="ctr" rotWithShape="0">
                <a:schemeClr val="bg2"/>
              </a:outerShdw>
            </a:effectLst>
          </p:spPr>
          <p:txBody>
            <a:bodyPr wrap="none" lIns="90488" tIns="44450" rIns="90488" bIns="44450">
              <a:spAutoFit/>
            </a:bodyPr>
            <a:lstStyle/>
            <a:p>
              <a:pPr eaLnBrk="0" hangingPunct="0">
                <a:defRPr/>
              </a:pPr>
              <a:r>
                <a:rPr kumimoji="1" lang="en-US" altLang="zh-CN" sz="2400" b="1">
                  <a:effectLst>
                    <a:outerShdw blurRad="38100" dist="38100" dir="2700000" algn="tl">
                      <a:srgbClr val="C0C0C0"/>
                    </a:outerShdw>
                  </a:effectLst>
                  <a:latin typeface="Arial" charset="0"/>
                  <a:ea typeface="宋体" charset="-122"/>
                </a:rPr>
                <a:t>0</a:t>
              </a:r>
            </a:p>
          </p:txBody>
        </p:sp>
        <p:sp>
          <p:nvSpPr>
            <p:cNvPr id="389136" name="Rectangle 16"/>
            <p:cNvSpPr>
              <a:spLocks noChangeArrowheads="1"/>
            </p:cNvSpPr>
            <p:nvPr/>
          </p:nvSpPr>
          <p:spPr bwMode="auto">
            <a:xfrm>
              <a:off x="4513" y="1344"/>
              <a:ext cx="951" cy="289"/>
            </a:xfrm>
            <a:prstGeom prst="rect">
              <a:avLst/>
            </a:prstGeom>
            <a:solidFill>
              <a:srgbClr val="FFCC66"/>
            </a:solidFill>
            <a:ln w="12700">
              <a:noFill/>
              <a:miter lim="800000"/>
              <a:headEnd/>
              <a:tailEnd/>
            </a:ln>
            <a:effectLst>
              <a:outerShdw dist="35921" dir="2700000" algn="ctr" rotWithShape="0">
                <a:schemeClr val="bg2"/>
              </a:outerShdw>
            </a:effectLst>
          </p:spPr>
          <p:txBody>
            <a:bodyPr lIns="90488" tIns="44450" rIns="90488" bIns="44450">
              <a:spAutoFit/>
            </a:bodyPr>
            <a:lstStyle/>
            <a:p>
              <a:pPr eaLnBrk="0" hangingPunct="0">
                <a:spcBef>
                  <a:spcPct val="50000"/>
                </a:spcBef>
                <a:defRPr/>
              </a:pPr>
              <a:r>
                <a:rPr kumimoji="1" lang="en-US" altLang="zh-CN" sz="2400" b="1">
                  <a:latin typeface="Symbol" pitchFamily="18" charset="2"/>
                  <a:ea typeface="宋体" charset="-122"/>
                </a:rPr>
                <a:t>/2</a:t>
              </a:r>
              <a:r>
                <a:rPr kumimoji="1" lang="en-US" altLang="zh-CN" sz="2400" b="1">
                  <a:latin typeface="Arial" charset="0"/>
                  <a:ea typeface="宋体" charset="-122"/>
                </a:rPr>
                <a:t>=0.05</a:t>
              </a:r>
            </a:p>
          </p:txBody>
        </p:sp>
        <p:sp>
          <p:nvSpPr>
            <p:cNvPr id="25620" name="Line 17"/>
            <p:cNvSpPr>
              <a:spLocks noChangeShapeType="1"/>
            </p:cNvSpPr>
            <p:nvPr/>
          </p:nvSpPr>
          <p:spPr bwMode="auto">
            <a:xfrm flipH="1">
              <a:off x="4694" y="1616"/>
              <a:ext cx="227" cy="408"/>
            </a:xfrm>
            <a:prstGeom prst="line">
              <a:avLst/>
            </a:prstGeom>
            <a:noFill/>
            <a:ln w="38100">
              <a:solidFill>
                <a:schemeClr val="tx2"/>
              </a:solidFill>
              <a:round/>
              <a:headEnd/>
              <a:tailEnd type="triangle" w="med" len="med"/>
            </a:ln>
          </p:spPr>
          <p:txBody>
            <a:bodyPr wrap="none" anchor="ctr"/>
            <a:lstStyle/>
            <a:p>
              <a:endParaRPr lang="zh-CN" altLang="en-US"/>
            </a:p>
          </p:txBody>
        </p:sp>
        <p:sp>
          <p:nvSpPr>
            <p:cNvPr id="25621" name="Line 18"/>
            <p:cNvSpPr>
              <a:spLocks noChangeShapeType="1"/>
            </p:cNvSpPr>
            <p:nvPr/>
          </p:nvSpPr>
          <p:spPr bwMode="auto">
            <a:xfrm flipV="1">
              <a:off x="3465" y="1117"/>
              <a:ext cx="0" cy="1089"/>
            </a:xfrm>
            <a:prstGeom prst="line">
              <a:avLst/>
            </a:prstGeom>
            <a:noFill/>
            <a:ln w="38100">
              <a:solidFill>
                <a:schemeClr val="tx1"/>
              </a:solidFill>
              <a:round/>
              <a:headEnd/>
              <a:tailEnd type="triangle" w="med" len="med"/>
            </a:ln>
          </p:spPr>
          <p:txBody>
            <a:bodyPr/>
            <a:lstStyle/>
            <a:p>
              <a:endParaRPr lang="zh-CN" altLang="en-US"/>
            </a:p>
          </p:txBody>
        </p:sp>
        <p:sp>
          <p:nvSpPr>
            <p:cNvPr id="25622" name="Line 19"/>
            <p:cNvSpPr>
              <a:spLocks noChangeShapeType="1"/>
            </p:cNvSpPr>
            <p:nvPr/>
          </p:nvSpPr>
          <p:spPr bwMode="auto">
            <a:xfrm flipV="1">
              <a:off x="3465" y="2115"/>
              <a:ext cx="2018" cy="45"/>
            </a:xfrm>
            <a:prstGeom prst="line">
              <a:avLst/>
            </a:prstGeom>
            <a:noFill/>
            <a:ln w="38100">
              <a:solidFill>
                <a:schemeClr val="tx1"/>
              </a:solidFill>
              <a:round/>
              <a:headEnd/>
              <a:tailEnd type="triangle" w="med" len="med"/>
            </a:ln>
          </p:spPr>
          <p:txBody>
            <a:bodyPr/>
            <a:lstStyle/>
            <a:p>
              <a:endParaRPr lang="zh-CN" altLang="en-US"/>
            </a:p>
          </p:txBody>
        </p:sp>
        <p:sp>
          <p:nvSpPr>
            <p:cNvPr id="25623" name="Line 20"/>
            <p:cNvSpPr>
              <a:spLocks noChangeShapeType="1"/>
            </p:cNvSpPr>
            <p:nvPr/>
          </p:nvSpPr>
          <p:spPr bwMode="auto">
            <a:xfrm flipH="1">
              <a:off x="4644" y="1888"/>
              <a:ext cx="5" cy="227"/>
            </a:xfrm>
            <a:prstGeom prst="line">
              <a:avLst/>
            </a:prstGeom>
            <a:noFill/>
            <a:ln w="38100">
              <a:solidFill>
                <a:srgbClr val="FF0066"/>
              </a:solidFill>
              <a:round/>
              <a:headEnd/>
              <a:tailEnd/>
            </a:ln>
          </p:spPr>
          <p:txBody>
            <a:bodyPr/>
            <a:lstStyle/>
            <a:p>
              <a:endParaRPr lang="zh-CN" altLang="en-US"/>
            </a:p>
          </p:txBody>
        </p:sp>
        <p:sp>
          <p:nvSpPr>
            <p:cNvPr id="25624" name="Line 21"/>
            <p:cNvSpPr>
              <a:spLocks noChangeShapeType="1"/>
            </p:cNvSpPr>
            <p:nvPr/>
          </p:nvSpPr>
          <p:spPr bwMode="auto">
            <a:xfrm>
              <a:off x="3736" y="1707"/>
              <a:ext cx="0" cy="453"/>
            </a:xfrm>
            <a:prstGeom prst="line">
              <a:avLst/>
            </a:prstGeom>
            <a:noFill/>
            <a:ln w="38100">
              <a:solidFill>
                <a:srgbClr val="FF0066"/>
              </a:solidFill>
              <a:round/>
              <a:headEnd/>
              <a:tailEnd/>
            </a:ln>
          </p:spPr>
          <p:txBody>
            <a:bodyPr/>
            <a:lstStyle/>
            <a:p>
              <a:endParaRPr lang="zh-CN" altLang="en-US"/>
            </a:p>
          </p:txBody>
        </p:sp>
        <p:sp>
          <p:nvSpPr>
            <p:cNvPr id="25625" name="Oval 22"/>
            <p:cNvSpPr>
              <a:spLocks noChangeArrowheads="1"/>
            </p:cNvSpPr>
            <p:nvPr/>
          </p:nvSpPr>
          <p:spPr bwMode="auto">
            <a:xfrm>
              <a:off x="4694" y="2069"/>
              <a:ext cx="136" cy="136"/>
            </a:xfrm>
            <a:prstGeom prst="ellipse">
              <a:avLst/>
            </a:prstGeom>
            <a:solidFill>
              <a:srgbClr val="FF0066"/>
            </a:solidFill>
            <a:ln w="9525">
              <a:solidFill>
                <a:srgbClr val="3333FF"/>
              </a:solidFill>
              <a:round/>
              <a:headEnd/>
              <a:tailEnd/>
            </a:ln>
          </p:spPr>
          <p:txBody>
            <a:bodyPr wrap="none" anchor="ctr"/>
            <a:lstStyle/>
            <a:p>
              <a:endParaRPr lang="zh-CN" altLang="en-US"/>
            </a:p>
          </p:txBody>
        </p:sp>
        <p:sp>
          <p:nvSpPr>
            <p:cNvPr id="25626" name="Freeform 23"/>
            <p:cNvSpPr>
              <a:spLocks/>
            </p:cNvSpPr>
            <p:nvPr/>
          </p:nvSpPr>
          <p:spPr bwMode="auto">
            <a:xfrm>
              <a:off x="4740" y="1933"/>
              <a:ext cx="408" cy="182"/>
            </a:xfrm>
            <a:custGeom>
              <a:avLst/>
              <a:gdLst>
                <a:gd name="T0" fmla="*/ 212 w 424"/>
                <a:gd name="T1" fmla="*/ 9 h 216"/>
                <a:gd name="T2" fmla="*/ 140 w 424"/>
                <a:gd name="T3" fmla="*/ 7 h 216"/>
                <a:gd name="T4" fmla="*/ 122 w 424"/>
                <a:gd name="T5" fmla="*/ 6 h 216"/>
                <a:gd name="T6" fmla="*/ 107 w 424"/>
                <a:gd name="T7" fmla="*/ 6 h 216"/>
                <a:gd name="T8" fmla="*/ 90 w 424"/>
                <a:gd name="T9" fmla="*/ 5 h 216"/>
                <a:gd name="T10" fmla="*/ 50 w 424"/>
                <a:gd name="T11" fmla="*/ 3 h 216"/>
                <a:gd name="T12" fmla="*/ 28 w 424"/>
                <a:gd name="T13" fmla="*/ 3 h 216"/>
                <a:gd name="T14" fmla="*/ 0 w 424"/>
                <a:gd name="T15" fmla="*/ 0 h 216"/>
                <a:gd name="T16" fmla="*/ 0 w 424"/>
                <a:gd name="T17" fmla="*/ 10 h 216"/>
                <a:gd name="T18" fmla="*/ 212 w 424"/>
                <a:gd name="T19" fmla="*/ 9 h 216"/>
                <a:gd name="T20" fmla="*/ 212 w 424"/>
                <a:gd name="T21" fmla="*/ 9 h 21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24"/>
                <a:gd name="T34" fmla="*/ 0 h 216"/>
                <a:gd name="T35" fmla="*/ 424 w 424"/>
                <a:gd name="T36" fmla="*/ 216 h 21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24" h="216">
                  <a:moveTo>
                    <a:pt x="423" y="204"/>
                  </a:moveTo>
                  <a:lnTo>
                    <a:pt x="279" y="154"/>
                  </a:lnTo>
                  <a:lnTo>
                    <a:pt x="244" y="140"/>
                  </a:lnTo>
                  <a:lnTo>
                    <a:pt x="212" y="125"/>
                  </a:lnTo>
                  <a:lnTo>
                    <a:pt x="181" y="108"/>
                  </a:lnTo>
                  <a:lnTo>
                    <a:pt x="98" y="71"/>
                  </a:lnTo>
                  <a:lnTo>
                    <a:pt x="54" y="42"/>
                  </a:lnTo>
                  <a:lnTo>
                    <a:pt x="0" y="0"/>
                  </a:lnTo>
                  <a:lnTo>
                    <a:pt x="0" y="215"/>
                  </a:lnTo>
                  <a:lnTo>
                    <a:pt x="423" y="209"/>
                  </a:lnTo>
                  <a:lnTo>
                    <a:pt x="423" y="204"/>
                  </a:lnTo>
                </a:path>
              </a:pathLst>
            </a:custGeom>
            <a:solidFill>
              <a:srgbClr val="00FF00"/>
            </a:solidFill>
            <a:ln w="12700" cap="rnd">
              <a:noFill/>
              <a:round/>
              <a:headEnd/>
              <a:tailEnd/>
            </a:ln>
          </p:spPr>
          <p:txBody>
            <a:bodyPr/>
            <a:lstStyle/>
            <a:p>
              <a:endParaRPr lang="zh-CN" altLang="en-US"/>
            </a:p>
          </p:txBody>
        </p:sp>
        <p:sp>
          <p:nvSpPr>
            <p:cNvPr id="25627" name="AutoShape 25"/>
            <p:cNvSpPr>
              <a:spLocks noChangeArrowheads="1"/>
            </p:cNvSpPr>
            <p:nvPr/>
          </p:nvSpPr>
          <p:spPr bwMode="auto">
            <a:xfrm>
              <a:off x="3630" y="2338"/>
              <a:ext cx="990" cy="405"/>
            </a:xfrm>
            <a:prstGeom prst="wedgeRoundRectCallout">
              <a:avLst>
                <a:gd name="adj1" fmla="val 62809"/>
                <a:gd name="adj2" fmla="val -85740"/>
                <a:gd name="adj3" fmla="val 16667"/>
              </a:avLst>
            </a:prstGeom>
            <a:noFill/>
            <a:ln w="9525">
              <a:solidFill>
                <a:srgbClr val="FF0066"/>
              </a:solidFill>
              <a:miter lim="800000"/>
              <a:headEnd/>
              <a:tailEnd/>
            </a:ln>
          </p:spPr>
          <p:txBody>
            <a:bodyPr/>
            <a:lstStyle/>
            <a:p>
              <a:pPr algn="ctr"/>
              <a:r>
                <a:rPr lang="zh-CN" altLang="en-US" b="1">
                  <a:solidFill>
                    <a:srgbClr val="C00000"/>
                  </a:solidFill>
                </a:rPr>
                <a:t>检验统计量的观察值</a:t>
              </a:r>
            </a:p>
          </p:txBody>
        </p:sp>
        <p:sp>
          <p:nvSpPr>
            <p:cNvPr id="25628" name="AutoShape 26"/>
            <p:cNvSpPr>
              <a:spLocks noChangeArrowheads="1"/>
            </p:cNvSpPr>
            <p:nvPr/>
          </p:nvSpPr>
          <p:spPr bwMode="auto">
            <a:xfrm>
              <a:off x="4785" y="2523"/>
              <a:ext cx="726" cy="317"/>
            </a:xfrm>
            <a:prstGeom prst="wedgeRectCallout">
              <a:avLst>
                <a:gd name="adj1" fmla="val -35949"/>
                <a:gd name="adj2" fmla="val -192588"/>
              </a:avLst>
            </a:prstGeom>
            <a:noFill/>
            <a:ln w="9525">
              <a:solidFill>
                <a:srgbClr val="3333FF"/>
              </a:solidFill>
              <a:miter lim="800000"/>
              <a:headEnd/>
              <a:tailEnd/>
            </a:ln>
          </p:spPr>
          <p:txBody>
            <a:bodyPr/>
            <a:lstStyle/>
            <a:p>
              <a:pPr algn="ctr"/>
              <a:r>
                <a:rPr lang="en-US" altLang="zh-CN" sz="2400" b="1">
                  <a:solidFill>
                    <a:srgbClr val="3333FF"/>
                  </a:solidFill>
                </a:rPr>
                <a:t>P</a:t>
              </a:r>
              <a:r>
                <a:rPr lang="zh-CN" altLang="en-US" sz="2400" b="1">
                  <a:solidFill>
                    <a:srgbClr val="3333FF"/>
                  </a:solidFill>
                </a:rPr>
                <a:t>值</a:t>
              </a:r>
              <a:r>
                <a:rPr lang="en-US" altLang="zh-CN" sz="2400" b="1" i="1">
                  <a:solidFill>
                    <a:srgbClr val="3333FF"/>
                  </a:solidFill>
                </a:rPr>
                <a:t>/2</a:t>
              </a:r>
            </a:p>
          </p:txBody>
        </p:sp>
      </p:grpSp>
      <p:graphicFrame>
        <p:nvGraphicFramePr>
          <p:cNvPr id="389147" name="Object 27"/>
          <p:cNvGraphicFramePr>
            <a:graphicFrameLocks noChangeAspect="1"/>
          </p:cNvGraphicFramePr>
          <p:nvPr>
            <p:extLst>
              <p:ext uri="{D42A27DB-BD31-4B8C-83A1-F6EECF244321}">
                <p14:modId xmlns:p14="http://schemas.microsoft.com/office/powerpoint/2010/main" val="3448716893"/>
              </p:ext>
            </p:extLst>
          </p:nvPr>
        </p:nvGraphicFramePr>
        <p:xfrm>
          <a:off x="1919288" y="2781301"/>
          <a:ext cx="4711700" cy="620713"/>
        </p:xfrm>
        <a:graphic>
          <a:graphicData uri="http://schemas.openxmlformats.org/presentationml/2006/ole">
            <mc:AlternateContent xmlns:mc="http://schemas.openxmlformats.org/markup-compatibility/2006">
              <mc:Choice xmlns:v="urn:schemas-microsoft-com:vml" Requires="v">
                <p:oleObj name="公式" r:id="rId5" imgW="1930320" imgH="253800" progId="Equation.3">
                  <p:embed/>
                </p:oleObj>
              </mc:Choice>
              <mc:Fallback>
                <p:oleObj name="公式" r:id="rId5" imgW="1930320" imgH="253800" progId="Equation.3">
                  <p:embed/>
                  <p:pic>
                    <p:nvPicPr>
                      <p:cNvPr id="389147" name="Object 2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19288" y="2781301"/>
                        <a:ext cx="4711700" cy="620713"/>
                      </a:xfrm>
                      <a:prstGeom prst="rect">
                        <a:avLst/>
                      </a:prstGeom>
                      <a:solidFill>
                        <a:schemeClr val="accent6">
                          <a:lumMod val="40000"/>
                          <a:lumOff val="60000"/>
                        </a:schemeClr>
                      </a:solidFill>
                    </p:spPr>
                  </p:pic>
                </p:oleObj>
              </mc:Fallback>
            </mc:AlternateContent>
          </a:graphicData>
        </a:graphic>
      </p:graphicFrame>
      <p:sp>
        <p:nvSpPr>
          <p:cNvPr id="389148" name="Text Box 28"/>
          <p:cNvSpPr txBox="1">
            <a:spLocks noChangeArrowheads="1"/>
          </p:cNvSpPr>
          <p:nvPr/>
        </p:nvSpPr>
        <p:spPr bwMode="auto">
          <a:xfrm>
            <a:off x="1992314" y="3644900"/>
            <a:ext cx="8523287" cy="1018740"/>
          </a:xfrm>
          <a:prstGeom prst="rect">
            <a:avLst/>
          </a:prstGeom>
          <a:noFill/>
          <a:ln w="12700">
            <a:noFill/>
            <a:miter lim="800000"/>
            <a:headEnd/>
            <a:tailEnd/>
          </a:ln>
        </p:spPr>
        <p:txBody>
          <a:bodyPr>
            <a:spAutoFit/>
          </a:bodyPr>
          <a:lstStyle/>
          <a:p>
            <a:pPr eaLnBrk="0" hangingPunct="0">
              <a:spcBef>
                <a:spcPct val="15000"/>
              </a:spcBef>
            </a:pPr>
            <a:r>
              <a:rPr kumimoji="1" lang="en-US" altLang="zh-CN" sz="2400" b="1" dirty="0"/>
              <a:t> </a:t>
            </a:r>
            <a:r>
              <a:rPr kumimoji="1" lang="en-US" altLang="zh-CN" sz="2800" b="1" dirty="0">
                <a:solidFill>
                  <a:srgbClr val="3333FF"/>
                </a:solidFill>
              </a:rPr>
              <a:t>P</a:t>
            </a:r>
            <a:r>
              <a:rPr kumimoji="1" lang="zh-CN" altLang="en-US" sz="2800" b="1" dirty="0">
                <a:solidFill>
                  <a:srgbClr val="3333FF"/>
                </a:solidFill>
              </a:rPr>
              <a:t>值</a:t>
            </a:r>
            <a:r>
              <a:rPr kumimoji="1" lang="en-US" altLang="zh-CN" sz="2800" b="1" dirty="0"/>
              <a:t>=</a:t>
            </a:r>
            <a:r>
              <a:rPr kumimoji="1" lang="en-US" altLang="zh-CN" sz="2800" b="1" dirty="0">
                <a:solidFill>
                  <a:srgbClr val="0000FF"/>
                </a:solidFill>
              </a:rPr>
              <a:t>2×</a:t>
            </a:r>
            <a:r>
              <a:rPr kumimoji="1" lang="en-US" altLang="zh-CN" sz="2800" b="1" dirty="0">
                <a:solidFill>
                  <a:srgbClr val="00B050"/>
                </a:solidFill>
              </a:rPr>
              <a:t>0.0319</a:t>
            </a:r>
            <a:r>
              <a:rPr kumimoji="1" lang="en-US" altLang="zh-CN" sz="2800" b="1" dirty="0"/>
              <a:t>=</a:t>
            </a:r>
            <a:r>
              <a:rPr kumimoji="1" lang="en-US" altLang="zh-CN" sz="2800" b="1" dirty="0">
                <a:solidFill>
                  <a:srgbClr val="000000"/>
                </a:solidFill>
              </a:rPr>
              <a:t>0.0638</a:t>
            </a:r>
            <a:r>
              <a:rPr kumimoji="1" lang="en-US" altLang="zh-CN" dirty="0"/>
              <a:t> </a:t>
            </a:r>
          </a:p>
          <a:p>
            <a:pPr eaLnBrk="0" hangingPunct="0">
              <a:spcBef>
                <a:spcPct val="15000"/>
              </a:spcBef>
            </a:pPr>
            <a:r>
              <a:rPr kumimoji="1" lang="zh-CN" altLang="en-US" sz="2800" b="1" dirty="0">
                <a:solidFill>
                  <a:srgbClr val="FF00FF"/>
                </a:solidFill>
              </a:rPr>
              <a:t>结论： </a:t>
            </a:r>
            <a:r>
              <a:rPr kumimoji="1" lang="en-US" altLang="zh-CN" sz="2800" b="1" dirty="0"/>
              <a:t>P</a:t>
            </a:r>
            <a:r>
              <a:rPr kumimoji="1" lang="zh-CN" altLang="en-US" sz="2800" b="1" dirty="0"/>
              <a:t>值</a:t>
            </a:r>
            <a:r>
              <a:rPr kumimoji="1" lang="en-US" altLang="zh-CN" sz="2800" b="1" dirty="0"/>
              <a:t>&lt; </a:t>
            </a:r>
            <a:r>
              <a:rPr kumimoji="1" lang="en-US" altLang="zh-CN" sz="2800" b="1" dirty="0">
                <a:solidFill>
                  <a:srgbClr val="000000"/>
                </a:solidFill>
                <a:latin typeface="Symbol" pitchFamily="18" charset="2"/>
              </a:rPr>
              <a:t></a:t>
            </a:r>
            <a:r>
              <a:rPr kumimoji="1" lang="zh-CN" altLang="en-US" sz="2800" b="1" dirty="0">
                <a:solidFill>
                  <a:srgbClr val="000000"/>
                </a:solidFill>
              </a:rPr>
              <a:t>＝</a:t>
            </a:r>
            <a:r>
              <a:rPr kumimoji="1" lang="en-US" altLang="zh-CN" sz="2800" b="1" dirty="0">
                <a:solidFill>
                  <a:srgbClr val="000000"/>
                </a:solidFill>
              </a:rPr>
              <a:t>0.1</a:t>
            </a:r>
            <a:r>
              <a:rPr kumimoji="1" lang="zh-CN" altLang="en-US" sz="2800" b="1" dirty="0"/>
              <a:t>，所以应该</a:t>
            </a:r>
            <a:r>
              <a:rPr kumimoji="1" lang="zh-CN" altLang="en-US" sz="2800" b="1" dirty="0">
                <a:solidFill>
                  <a:schemeClr val="tx2"/>
                </a:solidFill>
              </a:rPr>
              <a:t>拒绝</a:t>
            </a:r>
            <a:r>
              <a:rPr kumimoji="1" lang="en-US" altLang="zh-CN" sz="2800" b="1" dirty="0">
                <a:solidFill>
                  <a:schemeClr val="tx2"/>
                </a:solidFill>
              </a:rPr>
              <a:t>H</a:t>
            </a:r>
            <a:r>
              <a:rPr kumimoji="1" lang="en-US" altLang="zh-CN" sz="2800" b="1" baseline="-25000" dirty="0">
                <a:solidFill>
                  <a:schemeClr val="tx2"/>
                </a:solidFill>
              </a:rPr>
              <a:t>0</a:t>
            </a:r>
            <a:endParaRPr kumimoji="1" lang="en-US" altLang="zh-CN" sz="2800" b="1" dirty="0">
              <a:solidFill>
                <a:srgbClr val="FF00FF"/>
              </a:solidFill>
            </a:endParaRPr>
          </a:p>
        </p:txBody>
      </p:sp>
    </p:spTree>
    <p:extLst>
      <p:ext uri="{BB962C8B-B14F-4D97-AF65-F5344CB8AC3E}">
        <p14:creationId xmlns:p14="http://schemas.microsoft.com/office/powerpoint/2010/main" val="750134880"/>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389147"/>
                                        </p:tgtEl>
                                        <p:attrNameLst>
                                          <p:attrName>style.visibility</p:attrName>
                                        </p:attrNameLst>
                                      </p:cBhvr>
                                      <p:to>
                                        <p:strVal val="visible"/>
                                      </p:to>
                                    </p:set>
                                    <p:anim calcmode="lin" valueType="num">
                                      <p:cBhvr additive="base">
                                        <p:cTn id="12" dur="500" fill="hold"/>
                                        <p:tgtEl>
                                          <p:spTgt spid="389147"/>
                                        </p:tgtEl>
                                        <p:attrNameLst>
                                          <p:attrName>ppt_x</p:attrName>
                                        </p:attrNameLst>
                                      </p:cBhvr>
                                      <p:tavLst>
                                        <p:tav tm="0">
                                          <p:val>
                                            <p:strVal val="0-#ppt_w/2"/>
                                          </p:val>
                                        </p:tav>
                                        <p:tav tm="100000">
                                          <p:val>
                                            <p:strVal val="#ppt_x"/>
                                          </p:val>
                                        </p:tav>
                                      </p:tavLst>
                                    </p:anim>
                                    <p:anim calcmode="lin" valueType="num">
                                      <p:cBhvr additive="base">
                                        <p:cTn id="13" dur="500" fill="hold"/>
                                        <p:tgtEl>
                                          <p:spTgt spid="389147"/>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389148">
                                            <p:txEl>
                                              <p:pRg st="0" end="0"/>
                                            </p:txEl>
                                          </p:spTgt>
                                        </p:tgtEl>
                                        <p:attrNameLst>
                                          <p:attrName>style.visibility</p:attrName>
                                        </p:attrNameLst>
                                      </p:cBhvr>
                                      <p:to>
                                        <p:strVal val="visible"/>
                                      </p:to>
                                    </p:set>
                                    <p:animEffect transition="in" filter="wipe(left)">
                                      <p:cBhvr>
                                        <p:cTn id="18" dur="500"/>
                                        <p:tgtEl>
                                          <p:spTgt spid="389148">
                                            <p:txEl>
                                              <p:pRg st="0" end="0"/>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389148">
                                            <p:txEl>
                                              <p:pRg st="1" end="1"/>
                                            </p:txEl>
                                          </p:spTgt>
                                        </p:tgtEl>
                                        <p:attrNameLst>
                                          <p:attrName>style.visibility</p:attrName>
                                        </p:attrNameLst>
                                      </p:cBhvr>
                                      <p:to>
                                        <p:strVal val="visible"/>
                                      </p:to>
                                    </p:set>
                                    <p:animEffect transition="in" filter="wipe(left)">
                                      <p:cBhvr>
                                        <p:cTn id="23" dur="500"/>
                                        <p:tgtEl>
                                          <p:spTgt spid="389148">
                                            <p:txEl>
                                              <p:pRg st="1" end="1"/>
                                            </p:txEl>
                                          </p:spTgt>
                                        </p:tgtEl>
                                      </p:cBhvr>
                                    </p:animEffect>
                                  </p:childTnLst>
                                </p:cTn>
                              </p:par>
                              <p:par>
                                <p:cTn id="24" presetID="22" presetClass="entr" presetSubtype="8" fill="hold" grpId="0" nodeType="withEffect">
                                  <p:stCondLst>
                                    <p:cond delay="0"/>
                                  </p:stCondLst>
                                  <p:childTnLst>
                                    <p:set>
                                      <p:cBhvr>
                                        <p:cTn id="25" dur="1" fill="hold">
                                          <p:stCondLst>
                                            <p:cond delay="0"/>
                                          </p:stCondLst>
                                        </p:cTn>
                                        <p:tgtEl>
                                          <p:spTgt spid="389122">
                                            <p:txEl>
                                              <p:pRg st="0" end="0"/>
                                            </p:txEl>
                                          </p:spTgt>
                                        </p:tgtEl>
                                        <p:attrNameLst>
                                          <p:attrName>style.visibility</p:attrName>
                                        </p:attrNameLst>
                                      </p:cBhvr>
                                      <p:to>
                                        <p:strVal val="visible"/>
                                      </p:to>
                                    </p:set>
                                    <p:animEffect transition="in" filter="wipe(left)">
                                      <p:cBhvr>
                                        <p:cTn id="26" dur="500"/>
                                        <p:tgtEl>
                                          <p:spTgt spid="389122">
                                            <p:txEl>
                                              <p:pRg st="0" end="0"/>
                                            </p:txEl>
                                          </p:spTgt>
                                        </p:tgtEl>
                                      </p:cBhvr>
                                    </p:animEffect>
                                  </p:childTnLst>
                                </p:cTn>
                              </p:par>
                              <p:par>
                                <p:cTn id="27" presetID="22" presetClass="entr" presetSubtype="8" fill="hold" grpId="0" nodeType="withEffect">
                                  <p:stCondLst>
                                    <p:cond delay="0"/>
                                  </p:stCondLst>
                                  <p:childTnLst>
                                    <p:set>
                                      <p:cBhvr>
                                        <p:cTn id="28" dur="1" fill="hold">
                                          <p:stCondLst>
                                            <p:cond delay="0"/>
                                          </p:stCondLst>
                                        </p:cTn>
                                        <p:tgtEl>
                                          <p:spTgt spid="389122">
                                            <p:txEl>
                                              <p:pRg st="1" end="1"/>
                                            </p:txEl>
                                          </p:spTgt>
                                        </p:tgtEl>
                                        <p:attrNameLst>
                                          <p:attrName>style.visibility</p:attrName>
                                        </p:attrNameLst>
                                      </p:cBhvr>
                                      <p:to>
                                        <p:strVal val="visible"/>
                                      </p:to>
                                    </p:set>
                                    <p:animEffect transition="in" filter="wipe(left)">
                                      <p:cBhvr>
                                        <p:cTn id="29" dur="500"/>
                                        <p:tgtEl>
                                          <p:spTgt spid="38912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122" grpId="0" build="p" autoUpdateAnimBg="0"/>
      <p:bldP spid="389148" grpId="0" build="p" autoUpdateAnimBg="0"/>
    </p:bldLst>
  </p:timing>
</p:sld>
</file>

<file path=ppt/slides/slide6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26627" name="Object 2"/>
          <p:cNvGraphicFramePr>
            <a:graphicFrameLocks noChangeAspect="1"/>
          </p:cNvGraphicFramePr>
          <p:nvPr>
            <p:extLst>
              <p:ext uri="{D42A27DB-BD31-4B8C-83A1-F6EECF244321}">
                <p14:modId xmlns:p14="http://schemas.microsoft.com/office/powerpoint/2010/main" val="3644290742"/>
              </p:ext>
            </p:extLst>
          </p:nvPr>
        </p:nvGraphicFramePr>
        <p:xfrm>
          <a:off x="7710965" y="1958173"/>
          <a:ext cx="2368550" cy="987425"/>
        </p:xfrm>
        <a:graphic>
          <a:graphicData uri="http://schemas.openxmlformats.org/presentationml/2006/ole">
            <mc:AlternateContent xmlns:mc="http://schemas.openxmlformats.org/markup-compatibility/2006">
              <mc:Choice xmlns:v="urn:schemas-microsoft-com:vml" Requires="v">
                <p:oleObj name="公式" r:id="rId3" imgW="914400" imgH="419040" progId="Equation.3">
                  <p:embed/>
                </p:oleObj>
              </mc:Choice>
              <mc:Fallback>
                <p:oleObj name="公式" r:id="rId3" imgW="914400" imgH="419040" progId="Equation.3">
                  <p:embed/>
                  <p:pic>
                    <p:nvPicPr>
                      <p:cNvPr id="26627"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710965" y="1958173"/>
                        <a:ext cx="2368550" cy="9874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6628" name="灯片编号占位符 6"/>
          <p:cNvSpPr>
            <a:spLocks noGrp="1"/>
          </p:cNvSpPr>
          <p:nvPr>
            <p:ph type="sldNum" sz="quarter" idx="10"/>
          </p:nvPr>
        </p:nvSpPr>
        <p:spPr>
          <a:noFill/>
        </p:spPr>
        <p:txBody>
          <a:bodyPr/>
          <a:lstStyle/>
          <a:p>
            <a:r>
              <a:rPr lang="en-US" altLang="zh-CN">
                <a:ea typeface="宋体" pitchFamily="2" charset="-122"/>
              </a:rPr>
              <a:t>8--</a:t>
            </a:r>
            <a:fld id="{FDF4096E-FF85-4D15-82EA-28239F21965B}" type="slidenum">
              <a:rPr lang="en-US" altLang="zh-CN" smtClean="0">
                <a:ea typeface="宋体" pitchFamily="2" charset="-122"/>
              </a:rPr>
              <a:pPr/>
              <a:t>60</a:t>
            </a:fld>
            <a:endParaRPr lang="en-US" altLang="zh-CN">
              <a:ea typeface="宋体" pitchFamily="2" charset="-122"/>
            </a:endParaRPr>
          </a:p>
        </p:txBody>
      </p:sp>
      <p:sp>
        <p:nvSpPr>
          <p:cNvPr id="26629" name="Rectangle 2"/>
          <p:cNvSpPr>
            <a:spLocks noGrp="1" noChangeArrowheads="1"/>
          </p:cNvSpPr>
          <p:nvPr>
            <p:ph type="title" idx="4294967295"/>
          </p:nvPr>
        </p:nvSpPr>
        <p:spPr>
          <a:xfrm>
            <a:off x="1346201" y="506412"/>
            <a:ext cx="6896099" cy="990600"/>
          </a:xfrm>
          <a:noFill/>
        </p:spPr>
        <p:txBody>
          <a:bodyPr vert="horz" lIns="90488" tIns="44450" rIns="90488" bIns="44450" rtlCol="0" anchor="ctr" anchorCtr="1">
            <a:normAutofit fontScale="90000"/>
          </a:bodyPr>
          <a:lstStyle/>
          <a:p>
            <a:pPr eaLnBrk="1" hangingPunct="1"/>
            <a:r>
              <a:rPr lang="zh-CN" altLang="en-US" sz="3600" b="1" dirty="0">
                <a:effectLst/>
              </a:rPr>
              <a:t>正态总体标准差的 </a:t>
            </a:r>
            <a:r>
              <a:rPr lang="en-US" altLang="zh-CN" sz="3600" b="1" dirty="0">
                <a:effectLst/>
              </a:rPr>
              <a:t>Z </a:t>
            </a:r>
            <a:r>
              <a:rPr lang="zh-CN" altLang="en-US" sz="3600" b="1" dirty="0">
                <a:effectLst/>
              </a:rPr>
              <a:t>检验法</a:t>
            </a:r>
            <a:r>
              <a:rPr lang="zh-CN" altLang="en-US" sz="3100" dirty="0">
                <a:solidFill>
                  <a:schemeClr val="tx1">
                    <a:lumMod val="50000"/>
                    <a:lumOff val="50000"/>
                  </a:schemeClr>
                </a:solidFill>
                <a:effectLst/>
              </a:rPr>
              <a:t>（可略）</a:t>
            </a:r>
            <a:endParaRPr lang="zh-CN" altLang="en-US" sz="5300" dirty="0">
              <a:solidFill>
                <a:schemeClr val="tx1">
                  <a:lumMod val="50000"/>
                  <a:lumOff val="50000"/>
                </a:schemeClr>
              </a:solidFill>
              <a:effectLst/>
            </a:endParaRPr>
          </a:p>
        </p:txBody>
      </p:sp>
      <p:sp>
        <p:nvSpPr>
          <p:cNvPr id="173059" name="Rectangle 3"/>
          <p:cNvSpPr>
            <a:spLocks noGrp="1" noChangeArrowheads="1"/>
          </p:cNvSpPr>
          <p:nvPr>
            <p:ph type="body" sz="half" idx="4294967295"/>
          </p:nvPr>
        </p:nvSpPr>
        <p:spPr>
          <a:xfrm>
            <a:off x="1346201" y="2349500"/>
            <a:ext cx="7265988" cy="4103688"/>
          </a:xfrm>
          <a:noFill/>
        </p:spPr>
        <p:txBody>
          <a:bodyPr vert="horz" lIns="90488" tIns="44450" rIns="90488" bIns="44450" rtlCol="0">
            <a:normAutofit/>
          </a:bodyPr>
          <a:lstStyle/>
          <a:p>
            <a:pPr marL="266700" indent="-266700">
              <a:lnSpc>
                <a:spcPct val="120000"/>
              </a:lnSpc>
            </a:pPr>
            <a:r>
              <a:rPr lang="zh-CN" altLang="en-US" sz="2800" dirty="0"/>
              <a:t>原假设为 </a:t>
            </a:r>
            <a:r>
              <a:rPr lang="en-US" altLang="zh-CN" sz="2800" dirty="0"/>
              <a:t>H</a:t>
            </a:r>
            <a:r>
              <a:rPr lang="en-US" altLang="zh-CN" sz="2800" baseline="-25000" dirty="0"/>
              <a:t>0</a:t>
            </a:r>
            <a:r>
              <a:rPr lang="en-US" altLang="zh-CN" sz="2800" dirty="0"/>
              <a:t>: </a:t>
            </a:r>
            <a:r>
              <a:rPr lang="en-US" altLang="zh-CN" sz="2800" dirty="0">
                <a:latin typeface="Symbol" pitchFamily="18" charset="2"/>
              </a:rPr>
              <a:t></a:t>
            </a:r>
            <a:r>
              <a:rPr lang="en-US" altLang="zh-CN" sz="2800" dirty="0"/>
              <a:t> = </a:t>
            </a:r>
            <a:r>
              <a:rPr lang="en-US" altLang="zh-CN" sz="2800" i="1" dirty="0">
                <a:latin typeface="Symbol" pitchFamily="18" charset="2"/>
              </a:rPr>
              <a:t></a:t>
            </a:r>
            <a:r>
              <a:rPr lang="en-US" altLang="zh-CN" sz="2400" i="1" baseline="-25000" dirty="0"/>
              <a:t>0</a:t>
            </a:r>
            <a:r>
              <a:rPr lang="en-US" altLang="zh-CN" sz="2800" i="1" baseline="30000" dirty="0"/>
              <a:t> </a:t>
            </a:r>
            <a:r>
              <a:rPr lang="zh-CN" altLang="en-US" sz="2000" dirty="0">
                <a:solidFill>
                  <a:schemeClr val="tx1"/>
                </a:solidFill>
              </a:rPr>
              <a:t>，</a:t>
            </a:r>
            <a:r>
              <a:rPr lang="en-US" altLang="zh-CN" sz="2000" dirty="0">
                <a:solidFill>
                  <a:schemeClr val="tx1"/>
                </a:solidFill>
              </a:rPr>
              <a:t>(</a:t>
            </a:r>
            <a:r>
              <a:rPr lang="en-US" altLang="zh-CN" sz="2000" i="1" dirty="0">
                <a:solidFill>
                  <a:schemeClr val="tx1"/>
                </a:solidFill>
                <a:latin typeface="Symbol" pitchFamily="18" charset="2"/>
              </a:rPr>
              <a:t></a:t>
            </a:r>
            <a:r>
              <a:rPr lang="en-US" altLang="zh-CN" sz="2000" i="1" baseline="-25000" dirty="0">
                <a:solidFill>
                  <a:schemeClr val="tx1"/>
                </a:solidFill>
              </a:rPr>
              <a:t>0</a:t>
            </a:r>
            <a:r>
              <a:rPr lang="en-US" altLang="zh-CN" sz="2000" i="1" dirty="0">
                <a:solidFill>
                  <a:schemeClr val="tx1"/>
                </a:solidFill>
              </a:rPr>
              <a:t> </a:t>
            </a:r>
            <a:r>
              <a:rPr lang="zh-CN" altLang="en-US" sz="2000" dirty="0">
                <a:solidFill>
                  <a:schemeClr val="tx1"/>
                </a:solidFill>
              </a:rPr>
              <a:t>为一已知数）</a:t>
            </a:r>
            <a:endParaRPr lang="zh-CN" altLang="en-US" sz="2000" i="1" baseline="30000" dirty="0">
              <a:solidFill>
                <a:schemeClr val="tx1"/>
              </a:solidFill>
            </a:endParaRPr>
          </a:p>
          <a:p>
            <a:pPr marL="266700" indent="-266700">
              <a:lnSpc>
                <a:spcPct val="120000"/>
              </a:lnSpc>
            </a:pPr>
            <a:r>
              <a:rPr lang="zh-CN" altLang="en-US" sz="2800" dirty="0"/>
              <a:t>检验统计量</a:t>
            </a:r>
            <a:r>
              <a:rPr lang="en-US" altLang="zh-CN" sz="2800" dirty="0"/>
              <a:t>:</a:t>
            </a:r>
          </a:p>
          <a:p>
            <a:pPr marL="266700" lvl="1" indent="-266700">
              <a:lnSpc>
                <a:spcPct val="120000"/>
              </a:lnSpc>
            </a:pPr>
            <a:endParaRPr lang="en-US" altLang="zh-CN" sz="2400" dirty="0"/>
          </a:p>
          <a:p>
            <a:pPr marL="266700" lvl="2" indent="-266700">
              <a:lnSpc>
                <a:spcPct val="120000"/>
              </a:lnSpc>
            </a:pPr>
            <a:endParaRPr lang="en-US" altLang="zh-CN" sz="2000" dirty="0"/>
          </a:p>
          <a:p>
            <a:pPr marL="266700" indent="-266700">
              <a:lnSpc>
                <a:spcPct val="120000"/>
              </a:lnSpc>
            </a:pPr>
            <a:r>
              <a:rPr lang="zh-CN" altLang="en-US" sz="2800" dirty="0"/>
              <a:t>对总体标准差的 </a:t>
            </a:r>
            <a:r>
              <a:rPr lang="en-US" altLang="zh-CN" sz="2800" dirty="0">
                <a:latin typeface="Symbol" pitchFamily="18" charset="2"/>
              </a:rPr>
              <a:t>Z</a:t>
            </a:r>
            <a:r>
              <a:rPr lang="en-US" altLang="zh-CN" sz="2800" dirty="0"/>
              <a:t> </a:t>
            </a:r>
            <a:r>
              <a:rPr lang="zh-CN" altLang="en-US" sz="2800" dirty="0"/>
              <a:t>检验适用于：</a:t>
            </a:r>
          </a:p>
          <a:p>
            <a:pPr marL="355600" lvl="1" indent="266700">
              <a:lnSpc>
                <a:spcPct val="120000"/>
              </a:lnSpc>
            </a:pPr>
            <a:r>
              <a:rPr lang="zh-CN" altLang="en-US" sz="2400" dirty="0"/>
              <a:t>总体服从（或近似服从</a:t>
            </a:r>
            <a:r>
              <a:rPr lang="en-US" altLang="zh-CN" sz="2400" dirty="0"/>
              <a:t>)</a:t>
            </a:r>
            <a:r>
              <a:rPr lang="zh-CN" altLang="en-US" sz="2400" dirty="0"/>
              <a:t>正态分布 </a:t>
            </a:r>
          </a:p>
          <a:p>
            <a:pPr marL="355600" lvl="1" indent="266700">
              <a:lnSpc>
                <a:spcPct val="120000"/>
              </a:lnSpc>
            </a:pPr>
            <a:r>
              <a:rPr lang="zh-CN" altLang="en-US" sz="2400" dirty="0"/>
              <a:t>大样本，即</a:t>
            </a:r>
            <a:r>
              <a:rPr lang="zh-CN" altLang="en-US" sz="2400" i="1" dirty="0">
                <a:latin typeface="Times New Roman" pitchFamily="18" charset="0"/>
              </a:rPr>
              <a:t> </a:t>
            </a:r>
            <a:r>
              <a:rPr lang="en-US" altLang="zh-CN" sz="2400" i="1" dirty="0">
                <a:latin typeface="Times New Roman" pitchFamily="18" charset="0"/>
              </a:rPr>
              <a:t>n</a:t>
            </a:r>
            <a:r>
              <a:rPr lang="en-US" altLang="zh-CN" sz="2400" dirty="0">
                <a:latin typeface="宋体" pitchFamily="2" charset="-122"/>
              </a:rPr>
              <a:t> </a:t>
            </a:r>
            <a:r>
              <a:rPr lang="en-US" altLang="zh-CN" sz="2400" dirty="0">
                <a:latin typeface="宋体" pitchFamily="2" charset="-122"/>
                <a:sym typeface="Symbol" pitchFamily="18" charset="2"/>
              </a:rPr>
              <a:t> </a:t>
            </a:r>
            <a:r>
              <a:rPr lang="en-US" altLang="zh-CN" sz="2400" dirty="0">
                <a:latin typeface="宋体" pitchFamily="2" charset="-122"/>
              </a:rPr>
              <a:t>30 </a:t>
            </a:r>
            <a:r>
              <a:rPr lang="zh-CN" altLang="en-US" sz="2400" dirty="0">
                <a:latin typeface="宋体" pitchFamily="2" charset="-122"/>
              </a:rPr>
              <a:t>。</a:t>
            </a:r>
            <a:endParaRPr lang="zh-CN" altLang="en-US" sz="2400" dirty="0"/>
          </a:p>
        </p:txBody>
      </p:sp>
      <p:sp>
        <p:nvSpPr>
          <p:cNvPr id="173060" name="Text Box 4"/>
          <p:cNvSpPr txBox="1">
            <a:spLocks noChangeArrowheads="1"/>
          </p:cNvSpPr>
          <p:nvPr/>
        </p:nvSpPr>
        <p:spPr bwMode="auto">
          <a:xfrm>
            <a:off x="3886200" y="4648200"/>
            <a:ext cx="2133600" cy="457200"/>
          </a:xfrm>
          <a:prstGeom prst="rect">
            <a:avLst/>
          </a:prstGeom>
          <a:noFill/>
          <a:ln w="12700">
            <a:noFill/>
            <a:miter lim="800000"/>
            <a:headEnd/>
            <a:tailEnd/>
          </a:ln>
          <a:effectLst/>
        </p:spPr>
        <p:txBody>
          <a:bodyPr>
            <a:spAutoFit/>
          </a:bodyPr>
          <a:lstStyle/>
          <a:p>
            <a:pPr eaLnBrk="0" hangingPunct="0">
              <a:spcBef>
                <a:spcPct val="50000"/>
              </a:spcBef>
              <a:defRPr/>
            </a:pPr>
            <a:endParaRPr kumimoji="1" lang="zh-CN" altLang="zh-CN" sz="2400">
              <a:effectLst>
                <a:outerShdw blurRad="38100" dist="38100" dir="2700000" algn="tl">
                  <a:srgbClr val="C0C0C0"/>
                </a:outerShdw>
              </a:effectLst>
              <a:latin typeface="Arial" charset="0"/>
              <a:ea typeface="宋体" charset="-122"/>
            </a:endParaRPr>
          </a:p>
        </p:txBody>
      </p:sp>
      <p:sp>
        <p:nvSpPr>
          <p:cNvPr id="26632" name="Rectangle 10"/>
          <p:cNvSpPr>
            <a:spLocks noChangeArrowheads="1"/>
          </p:cNvSpPr>
          <p:nvPr/>
        </p:nvSpPr>
        <p:spPr bwMode="auto">
          <a:xfrm>
            <a:off x="1524001" y="-184666"/>
            <a:ext cx="184731" cy="369332"/>
          </a:xfrm>
          <a:prstGeom prst="rect">
            <a:avLst/>
          </a:prstGeom>
          <a:noFill/>
          <a:ln w="9525">
            <a:noFill/>
            <a:miter lim="800000"/>
            <a:headEnd/>
            <a:tailEnd/>
          </a:ln>
        </p:spPr>
        <p:txBody>
          <a:bodyPr wrap="none" anchor="ctr">
            <a:spAutoFit/>
          </a:bodyPr>
          <a:lstStyle/>
          <a:p>
            <a:endParaRPr lang="zh-CN" altLang="en-US"/>
          </a:p>
        </p:txBody>
      </p:sp>
      <p:graphicFrame>
        <p:nvGraphicFramePr>
          <p:cNvPr id="173065" name="Object 9"/>
          <p:cNvGraphicFramePr>
            <a:graphicFrameLocks noChangeAspect="1"/>
          </p:cNvGraphicFramePr>
          <p:nvPr>
            <p:extLst>
              <p:ext uri="{D42A27DB-BD31-4B8C-83A1-F6EECF244321}">
                <p14:modId xmlns:p14="http://schemas.microsoft.com/office/powerpoint/2010/main" val="1372864022"/>
              </p:ext>
            </p:extLst>
          </p:nvPr>
        </p:nvGraphicFramePr>
        <p:xfrm>
          <a:off x="3710466" y="3112294"/>
          <a:ext cx="4790598" cy="1296988"/>
        </p:xfrm>
        <a:graphic>
          <a:graphicData uri="http://schemas.openxmlformats.org/presentationml/2006/ole">
            <mc:AlternateContent xmlns:mc="http://schemas.openxmlformats.org/markup-compatibility/2006">
              <mc:Choice xmlns:v="urn:schemas-microsoft-com:vml" Requires="v">
                <p:oleObj name="公式" r:id="rId5" imgW="1422360" imgH="444240" progId="Equation.3">
                  <p:embed/>
                </p:oleObj>
              </mc:Choice>
              <mc:Fallback>
                <p:oleObj name="公式" r:id="rId5" imgW="1422360" imgH="444240" progId="Equation.3">
                  <p:embed/>
                  <p:pic>
                    <p:nvPicPr>
                      <p:cNvPr id="173065" name="Object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710466" y="3112294"/>
                        <a:ext cx="4790598" cy="1296988"/>
                      </a:xfrm>
                      <a:prstGeom prst="rect">
                        <a:avLst/>
                      </a:prstGeom>
                      <a:noFill/>
                      <a:ln w="28575">
                        <a:noFill/>
                        <a:miter lim="800000"/>
                        <a:headEnd/>
                        <a:tailEnd/>
                      </a:ln>
                    </p:spPr>
                  </p:pic>
                </p:oleObj>
              </mc:Fallback>
            </mc:AlternateContent>
          </a:graphicData>
        </a:graphic>
      </p:graphicFrame>
      <p:sp>
        <p:nvSpPr>
          <p:cNvPr id="26633" name="Rectangle 3"/>
          <p:cNvSpPr>
            <a:spLocks noChangeArrowheads="1"/>
          </p:cNvSpPr>
          <p:nvPr/>
        </p:nvSpPr>
        <p:spPr bwMode="auto">
          <a:xfrm>
            <a:off x="984251" y="1461286"/>
            <a:ext cx="9623147" cy="584775"/>
          </a:xfrm>
          <a:prstGeom prst="rect">
            <a:avLst/>
          </a:prstGeom>
          <a:noFill/>
          <a:ln w="9525">
            <a:noFill/>
            <a:miter lim="800000"/>
            <a:headEnd/>
            <a:tailEnd/>
          </a:ln>
        </p:spPr>
        <p:txBody>
          <a:bodyPr wrap="none" anchor="ctr">
            <a:spAutoFit/>
          </a:bodyPr>
          <a:lstStyle/>
          <a:p>
            <a:r>
              <a:rPr lang="zh-CN" altLang="en-US" sz="3200" b="1" dirty="0">
                <a:solidFill>
                  <a:srgbClr val="0000FF"/>
                </a:solidFill>
                <a:latin typeface="Times New Roman" pitchFamily="18" charset="0"/>
                <a:cs typeface="Times New Roman" pitchFamily="18" charset="0"/>
              </a:rPr>
              <a:t>大样本条件下</a:t>
            </a:r>
            <a:r>
              <a:rPr lang="zh-CN" altLang="en-US" sz="3200" b="1" dirty="0">
                <a:latin typeface="Times New Roman" pitchFamily="18" charset="0"/>
                <a:cs typeface="Times New Roman" pitchFamily="18" charset="0"/>
              </a:rPr>
              <a:t>，样本标准差近似服从正态分布，即：</a:t>
            </a:r>
            <a:endParaRPr lang="zh-CN" altLang="en-US" sz="3200" b="1" dirty="0"/>
          </a:p>
        </p:txBody>
      </p:sp>
      <p:sp>
        <p:nvSpPr>
          <p:cNvPr id="26634" name="Rectangle 4"/>
          <p:cNvSpPr>
            <a:spLocks noChangeArrowheads="1"/>
          </p:cNvSpPr>
          <p:nvPr/>
        </p:nvSpPr>
        <p:spPr bwMode="auto">
          <a:xfrm>
            <a:off x="4606925" y="3630613"/>
            <a:ext cx="222250" cy="260350"/>
          </a:xfrm>
          <a:prstGeom prst="rect">
            <a:avLst/>
          </a:prstGeom>
          <a:noFill/>
          <a:ln w="9525">
            <a:noFill/>
            <a:miter lim="800000"/>
            <a:headEnd/>
            <a:tailEnd/>
          </a:ln>
        </p:spPr>
        <p:txBody>
          <a:bodyPr wrap="none" anchor="ctr">
            <a:spAutoFit/>
          </a:bodyPr>
          <a:lstStyle/>
          <a:p>
            <a:r>
              <a:rPr lang="en-US" altLang="zh-CN" sz="1100"/>
              <a:t> </a:t>
            </a:r>
            <a:endParaRPr lang="en-US" altLang="zh-CN"/>
          </a:p>
        </p:txBody>
      </p:sp>
      <p:sp>
        <p:nvSpPr>
          <p:cNvPr id="11" name="椭圆 10"/>
          <p:cNvSpPr/>
          <p:nvPr/>
        </p:nvSpPr>
        <p:spPr>
          <a:xfrm>
            <a:off x="8112125" y="2260600"/>
            <a:ext cx="58738" cy="57150"/>
          </a:xfrm>
          <a:prstGeom prst="ellipse">
            <a:avLst/>
          </a:prstGeom>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Tree>
    <p:extLst>
      <p:ext uri="{BB962C8B-B14F-4D97-AF65-F5344CB8AC3E}">
        <p14:creationId xmlns:p14="http://schemas.microsoft.com/office/powerpoint/2010/main" val="22565890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73059">
                                            <p:txEl>
                                              <p:pRg st="0" end="0"/>
                                            </p:txEl>
                                          </p:spTgt>
                                        </p:tgtEl>
                                        <p:attrNameLst>
                                          <p:attrName>style.visibility</p:attrName>
                                        </p:attrNameLst>
                                      </p:cBhvr>
                                      <p:to>
                                        <p:strVal val="visible"/>
                                      </p:to>
                                    </p:set>
                                    <p:animEffect transition="in" filter="wipe(left)">
                                      <p:cBhvr>
                                        <p:cTn id="7" dur="500"/>
                                        <p:tgtEl>
                                          <p:spTgt spid="173059">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73059">
                                            <p:txEl>
                                              <p:pRg st="1" end="1"/>
                                            </p:txEl>
                                          </p:spTgt>
                                        </p:tgtEl>
                                        <p:attrNameLst>
                                          <p:attrName>style.visibility</p:attrName>
                                        </p:attrNameLst>
                                      </p:cBhvr>
                                      <p:to>
                                        <p:strVal val="visible"/>
                                      </p:to>
                                    </p:set>
                                    <p:animEffect transition="in" filter="wipe(left)">
                                      <p:cBhvr>
                                        <p:cTn id="11" dur="500"/>
                                        <p:tgtEl>
                                          <p:spTgt spid="173059">
                                            <p:txEl>
                                              <p:pRg st="1" end="1"/>
                                            </p:txEl>
                                          </p:spTgt>
                                        </p:tgtEl>
                                      </p:cBhvr>
                                    </p:animEffect>
                                  </p:childTnLst>
                                </p:cTn>
                              </p:par>
                            </p:childTnLst>
                          </p:cTn>
                        </p:par>
                        <p:par>
                          <p:cTn id="12" fill="hold">
                            <p:stCondLst>
                              <p:cond delay="1000"/>
                            </p:stCondLst>
                            <p:childTnLst>
                              <p:par>
                                <p:cTn id="13" presetID="3" presetClass="entr" presetSubtype="10" fill="hold" nodeType="afterEffect">
                                  <p:stCondLst>
                                    <p:cond delay="0"/>
                                  </p:stCondLst>
                                  <p:childTnLst>
                                    <p:set>
                                      <p:cBhvr>
                                        <p:cTn id="14" dur="1" fill="hold">
                                          <p:stCondLst>
                                            <p:cond delay="0"/>
                                          </p:stCondLst>
                                        </p:cTn>
                                        <p:tgtEl>
                                          <p:spTgt spid="173065"/>
                                        </p:tgtEl>
                                        <p:attrNameLst>
                                          <p:attrName>style.visibility</p:attrName>
                                        </p:attrNameLst>
                                      </p:cBhvr>
                                      <p:to>
                                        <p:strVal val="visible"/>
                                      </p:to>
                                    </p:set>
                                    <p:animEffect transition="in" filter="blinds(horizontal)">
                                      <p:cBhvr>
                                        <p:cTn id="15" dur="500"/>
                                        <p:tgtEl>
                                          <p:spTgt spid="173065"/>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173059">
                                            <p:txEl>
                                              <p:pRg st="4" end="4"/>
                                            </p:txEl>
                                          </p:spTgt>
                                        </p:tgtEl>
                                        <p:attrNameLst>
                                          <p:attrName>style.visibility</p:attrName>
                                        </p:attrNameLst>
                                      </p:cBhvr>
                                      <p:to>
                                        <p:strVal val="visible"/>
                                      </p:to>
                                    </p:set>
                                    <p:animEffect transition="in" filter="wipe(left)">
                                      <p:cBhvr>
                                        <p:cTn id="20" dur="500"/>
                                        <p:tgtEl>
                                          <p:spTgt spid="173059">
                                            <p:txEl>
                                              <p:pRg st="4" end="4"/>
                                            </p:txEl>
                                          </p:spTgt>
                                        </p:tgtEl>
                                      </p:cBhvr>
                                    </p:animEffect>
                                  </p:childTnLst>
                                </p:cTn>
                              </p:par>
                              <p:par>
                                <p:cTn id="21" presetID="22" presetClass="entr" presetSubtype="8" fill="hold" grpId="0" nodeType="withEffect">
                                  <p:stCondLst>
                                    <p:cond delay="0"/>
                                  </p:stCondLst>
                                  <p:childTnLst>
                                    <p:set>
                                      <p:cBhvr>
                                        <p:cTn id="22" dur="1" fill="hold">
                                          <p:stCondLst>
                                            <p:cond delay="0"/>
                                          </p:stCondLst>
                                        </p:cTn>
                                        <p:tgtEl>
                                          <p:spTgt spid="173059">
                                            <p:txEl>
                                              <p:pRg st="5" end="5"/>
                                            </p:txEl>
                                          </p:spTgt>
                                        </p:tgtEl>
                                        <p:attrNameLst>
                                          <p:attrName>style.visibility</p:attrName>
                                        </p:attrNameLst>
                                      </p:cBhvr>
                                      <p:to>
                                        <p:strVal val="visible"/>
                                      </p:to>
                                    </p:set>
                                    <p:animEffect transition="in" filter="wipe(left)">
                                      <p:cBhvr>
                                        <p:cTn id="23" dur="500"/>
                                        <p:tgtEl>
                                          <p:spTgt spid="173059">
                                            <p:txEl>
                                              <p:pRg st="5" end="5"/>
                                            </p:txEl>
                                          </p:spTgt>
                                        </p:tgtEl>
                                      </p:cBhvr>
                                    </p:animEffect>
                                  </p:childTnLst>
                                </p:cTn>
                              </p:par>
                              <p:par>
                                <p:cTn id="24" presetID="22" presetClass="entr" presetSubtype="8" fill="hold" grpId="0" nodeType="withEffect">
                                  <p:stCondLst>
                                    <p:cond delay="0"/>
                                  </p:stCondLst>
                                  <p:childTnLst>
                                    <p:set>
                                      <p:cBhvr>
                                        <p:cTn id="25" dur="1" fill="hold">
                                          <p:stCondLst>
                                            <p:cond delay="0"/>
                                          </p:stCondLst>
                                        </p:cTn>
                                        <p:tgtEl>
                                          <p:spTgt spid="173059">
                                            <p:txEl>
                                              <p:pRg st="6" end="6"/>
                                            </p:txEl>
                                          </p:spTgt>
                                        </p:tgtEl>
                                        <p:attrNameLst>
                                          <p:attrName>style.visibility</p:attrName>
                                        </p:attrNameLst>
                                      </p:cBhvr>
                                      <p:to>
                                        <p:strVal val="visible"/>
                                      </p:to>
                                    </p:set>
                                    <p:animEffect transition="in" filter="wipe(left)">
                                      <p:cBhvr>
                                        <p:cTn id="26" dur="500"/>
                                        <p:tgtEl>
                                          <p:spTgt spid="173059">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3059" grpId="0" build="p"/>
    </p:bldLst>
  </p:timing>
</p:sld>
</file>

<file path=ppt/slides/slide6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3186" name="灯片编号占位符 5"/>
          <p:cNvSpPr>
            <a:spLocks noGrp="1"/>
          </p:cNvSpPr>
          <p:nvPr>
            <p:ph type="sldNum" sz="quarter" idx="4294967295"/>
          </p:nvPr>
        </p:nvSpPr>
        <p:spPr>
          <a:noFill/>
        </p:spPr>
        <p:txBody>
          <a:bodyPr/>
          <a:lstStyle/>
          <a:p>
            <a:r>
              <a:rPr lang="en-US" altLang="zh-CN">
                <a:ea typeface="宋体" pitchFamily="2" charset="-122"/>
              </a:rPr>
              <a:t>8--</a:t>
            </a:r>
            <a:fld id="{F3B8D03C-1668-403E-81E0-C731D7ED2DD0}" type="slidenum">
              <a:rPr lang="en-US" altLang="zh-CN" smtClean="0">
                <a:ea typeface="宋体" pitchFamily="2" charset="-122"/>
              </a:rPr>
              <a:pPr/>
              <a:t>61</a:t>
            </a:fld>
            <a:endParaRPr lang="en-US" altLang="zh-CN">
              <a:ea typeface="宋体" pitchFamily="2" charset="-122"/>
            </a:endParaRPr>
          </a:p>
        </p:txBody>
      </p:sp>
      <p:sp>
        <p:nvSpPr>
          <p:cNvPr id="93187" name="Rectangle 2"/>
          <p:cNvSpPr>
            <a:spLocks noGrp="1" noChangeArrowheads="1"/>
          </p:cNvSpPr>
          <p:nvPr>
            <p:ph type="title"/>
          </p:nvPr>
        </p:nvSpPr>
        <p:spPr>
          <a:xfrm>
            <a:off x="1016000" y="438151"/>
            <a:ext cx="7772400" cy="990600"/>
          </a:xfrm>
          <a:noFill/>
        </p:spPr>
        <p:txBody>
          <a:bodyPr vert="horz" lIns="90488" tIns="44450" rIns="90488" bIns="44450" rtlCol="0" anchor="ctr" anchorCtr="1">
            <a:normAutofit/>
          </a:bodyPr>
          <a:lstStyle/>
          <a:p>
            <a:pPr eaLnBrk="1" hangingPunct="1"/>
            <a:r>
              <a:rPr lang="en-US" altLang="zh-CN" sz="4000" b="1" dirty="0">
                <a:solidFill>
                  <a:schemeClr val="accent1"/>
                </a:solidFill>
                <a:effectLst/>
                <a:latin typeface="Tahoma" pitchFamily="34" charset="0"/>
              </a:rPr>
              <a:t>8.2.3 </a:t>
            </a:r>
            <a:r>
              <a:rPr lang="zh-CN" altLang="en-US" sz="4000" b="1" dirty="0">
                <a:solidFill>
                  <a:schemeClr val="accent1"/>
                </a:solidFill>
                <a:effectLst/>
                <a:latin typeface="Tahoma" pitchFamily="34" charset="0"/>
              </a:rPr>
              <a:t>一个总体成数的检验</a:t>
            </a:r>
          </a:p>
        </p:txBody>
      </p:sp>
      <p:sp>
        <p:nvSpPr>
          <p:cNvPr id="82947" name="Rectangle 3"/>
          <p:cNvSpPr>
            <a:spLocks noGrp="1" noChangeArrowheads="1"/>
          </p:cNvSpPr>
          <p:nvPr>
            <p:ph type="body" idx="1"/>
          </p:nvPr>
        </p:nvSpPr>
        <p:spPr>
          <a:xfrm>
            <a:off x="1776413" y="1404938"/>
            <a:ext cx="8424862" cy="4752975"/>
          </a:xfrm>
          <a:noFill/>
        </p:spPr>
        <p:txBody>
          <a:bodyPr vert="horz" lIns="90488" tIns="44450" rIns="90488" bIns="44450" rtlCol="0">
            <a:normAutofit/>
          </a:bodyPr>
          <a:lstStyle/>
          <a:p>
            <a:pPr marL="609600" indent="-609600">
              <a:spcBef>
                <a:spcPct val="25000"/>
              </a:spcBef>
              <a:buFontTx/>
              <a:buAutoNum type="arabicPeriod"/>
            </a:pPr>
            <a:r>
              <a:rPr lang="pt-BR" altLang="zh-CN" b="1" i="1" dirty="0">
                <a:solidFill>
                  <a:srgbClr val="7030A0"/>
                </a:solidFill>
                <a:latin typeface="Times New Roman" pitchFamily="18" charset="0"/>
                <a:cs typeface="Times New Roman" pitchFamily="18" charset="0"/>
              </a:rPr>
              <a:t>H</a:t>
            </a:r>
            <a:r>
              <a:rPr lang="pt-BR" altLang="zh-CN" b="1" i="1" baseline="-25000" dirty="0">
                <a:solidFill>
                  <a:srgbClr val="7030A0"/>
                </a:solidFill>
                <a:latin typeface="Times New Roman" pitchFamily="18" charset="0"/>
                <a:cs typeface="Times New Roman" pitchFamily="18" charset="0"/>
              </a:rPr>
              <a:t>O</a:t>
            </a:r>
            <a:r>
              <a:rPr lang="zh-CN" altLang="pt-BR" b="1" dirty="0">
                <a:solidFill>
                  <a:srgbClr val="7030A0"/>
                </a:solidFill>
                <a:latin typeface="Times New Roman" pitchFamily="18" charset="0"/>
                <a:cs typeface="Times New Roman" pitchFamily="18" charset="0"/>
              </a:rPr>
              <a:t>：</a:t>
            </a:r>
            <a:r>
              <a:rPr lang="pt-BR" altLang="zh-CN" b="1" i="1" dirty="0">
                <a:solidFill>
                  <a:srgbClr val="7030A0"/>
                </a:solidFill>
                <a:latin typeface="Times New Roman" pitchFamily="18" charset="0"/>
                <a:cs typeface="Times New Roman" pitchFamily="18" charset="0"/>
              </a:rPr>
              <a:t>P</a:t>
            </a:r>
            <a:r>
              <a:rPr lang="en-US" altLang="zh-CN" b="1" i="1" dirty="0">
                <a:solidFill>
                  <a:srgbClr val="7030A0"/>
                </a:solidFill>
                <a:latin typeface="Times New Roman" pitchFamily="18" charset="0"/>
                <a:cs typeface="Times New Roman" pitchFamily="18" charset="0"/>
              </a:rPr>
              <a:t>=</a:t>
            </a:r>
            <a:r>
              <a:rPr lang="pt-BR" altLang="zh-CN" b="1" i="1" dirty="0">
                <a:solidFill>
                  <a:srgbClr val="7030A0"/>
                </a:solidFill>
                <a:latin typeface="Times New Roman" pitchFamily="18" charset="0"/>
                <a:cs typeface="Times New Roman" pitchFamily="18" charset="0"/>
              </a:rPr>
              <a:t>P</a:t>
            </a:r>
            <a:r>
              <a:rPr lang="pt-BR" altLang="zh-CN" b="1" i="1" baseline="-25000" dirty="0">
                <a:solidFill>
                  <a:srgbClr val="7030A0"/>
                </a:solidFill>
                <a:latin typeface="Times New Roman" pitchFamily="18" charset="0"/>
                <a:cs typeface="Times New Roman" pitchFamily="18" charset="0"/>
              </a:rPr>
              <a:t>0</a:t>
            </a:r>
            <a:r>
              <a:rPr lang="zh-CN" altLang="pt-BR" b="1" dirty="0">
                <a:solidFill>
                  <a:srgbClr val="7030A0"/>
                </a:solidFill>
                <a:latin typeface="Times New Roman" pitchFamily="18" charset="0"/>
                <a:cs typeface="Times New Roman" pitchFamily="18" charset="0"/>
              </a:rPr>
              <a:t>， </a:t>
            </a:r>
            <a:r>
              <a:rPr lang="pt-BR" altLang="zh-CN" b="1" i="1" dirty="0">
                <a:solidFill>
                  <a:srgbClr val="7030A0"/>
                </a:solidFill>
                <a:latin typeface="Times New Roman" pitchFamily="18" charset="0"/>
                <a:cs typeface="Times New Roman" pitchFamily="18" charset="0"/>
              </a:rPr>
              <a:t>H</a:t>
            </a:r>
            <a:r>
              <a:rPr lang="pt-BR" altLang="zh-CN" b="1" i="1" baseline="-25000" dirty="0">
                <a:solidFill>
                  <a:srgbClr val="7030A0"/>
                </a:solidFill>
                <a:latin typeface="Times New Roman" pitchFamily="18" charset="0"/>
                <a:cs typeface="Times New Roman" pitchFamily="18" charset="0"/>
              </a:rPr>
              <a:t>1</a:t>
            </a:r>
            <a:r>
              <a:rPr lang="zh-CN" altLang="pt-BR" b="1" dirty="0">
                <a:solidFill>
                  <a:srgbClr val="7030A0"/>
                </a:solidFill>
                <a:latin typeface="Times New Roman" pitchFamily="18" charset="0"/>
                <a:cs typeface="Times New Roman" pitchFamily="18" charset="0"/>
              </a:rPr>
              <a:t>：</a:t>
            </a:r>
            <a:r>
              <a:rPr lang="pt-BR" altLang="zh-CN" b="1" i="1" dirty="0">
                <a:solidFill>
                  <a:srgbClr val="7030A0"/>
                </a:solidFill>
                <a:latin typeface="Times New Roman" pitchFamily="18" charset="0"/>
                <a:cs typeface="Times New Roman" pitchFamily="18" charset="0"/>
              </a:rPr>
              <a:t>P≠</a:t>
            </a:r>
            <a:r>
              <a:rPr lang="en-US" altLang="zh-CN" b="1" dirty="0">
                <a:solidFill>
                  <a:srgbClr val="7030A0"/>
                </a:solidFill>
                <a:latin typeface="Times New Roman" pitchFamily="18" charset="0"/>
                <a:cs typeface="Times New Roman" pitchFamily="18" charset="0"/>
              </a:rPr>
              <a:t>(</a:t>
            </a:r>
            <a:r>
              <a:rPr lang="zh-CN" altLang="en-US" sz="2400" b="1" dirty="0">
                <a:solidFill>
                  <a:srgbClr val="7030A0"/>
                </a:solidFill>
                <a:latin typeface="Times New Roman" pitchFamily="18" charset="0"/>
                <a:cs typeface="Times New Roman" pitchFamily="18" charset="0"/>
              </a:rPr>
              <a:t>或</a:t>
            </a:r>
            <a:r>
              <a:rPr lang="pt-BR" altLang="zh-CN" b="1" dirty="0">
                <a:solidFill>
                  <a:srgbClr val="7030A0"/>
                </a:solidFill>
                <a:latin typeface="Times New Roman" pitchFamily="18" charset="0"/>
                <a:cs typeface="Times New Roman" pitchFamily="18" charset="0"/>
              </a:rPr>
              <a:t>&gt;</a:t>
            </a:r>
            <a:r>
              <a:rPr lang="en-US" altLang="zh-CN" b="1" dirty="0">
                <a:solidFill>
                  <a:srgbClr val="7030A0"/>
                </a:solidFill>
                <a:latin typeface="Times New Roman" pitchFamily="18" charset="0"/>
                <a:cs typeface="Times New Roman" pitchFamily="18" charset="0"/>
              </a:rPr>
              <a:t>, &lt;)</a:t>
            </a:r>
            <a:r>
              <a:rPr lang="pt-BR" altLang="zh-CN" b="1" i="1" dirty="0">
                <a:solidFill>
                  <a:srgbClr val="7030A0"/>
                </a:solidFill>
                <a:latin typeface="Times New Roman" pitchFamily="18" charset="0"/>
                <a:cs typeface="Times New Roman" pitchFamily="18" charset="0"/>
              </a:rPr>
              <a:t> P</a:t>
            </a:r>
            <a:r>
              <a:rPr lang="pt-BR" altLang="zh-CN" b="1" i="1" baseline="-25000" dirty="0">
                <a:solidFill>
                  <a:srgbClr val="7030A0"/>
                </a:solidFill>
                <a:latin typeface="Times New Roman" pitchFamily="18" charset="0"/>
                <a:cs typeface="Times New Roman" pitchFamily="18" charset="0"/>
              </a:rPr>
              <a:t>0</a:t>
            </a:r>
            <a:endParaRPr lang="pt-BR" altLang="zh-CN" b="1" dirty="0">
              <a:solidFill>
                <a:srgbClr val="7030A0"/>
              </a:solidFill>
              <a:latin typeface="Times New Roman" pitchFamily="18" charset="0"/>
              <a:cs typeface="Times New Roman" pitchFamily="18" charset="0"/>
            </a:endParaRPr>
          </a:p>
          <a:p>
            <a:pPr marL="609600" indent="-609600">
              <a:spcBef>
                <a:spcPct val="25000"/>
              </a:spcBef>
              <a:buFontTx/>
              <a:buAutoNum type="arabicPeriod"/>
            </a:pPr>
            <a:r>
              <a:rPr lang="zh-CN" altLang="en-US" b="1" dirty="0"/>
              <a:t>假定条件</a:t>
            </a:r>
          </a:p>
          <a:p>
            <a:pPr marL="1219200" lvl="1" indent="-533400">
              <a:spcBef>
                <a:spcPct val="25000"/>
              </a:spcBef>
            </a:pPr>
            <a:r>
              <a:rPr lang="zh-CN" altLang="en-US" b="1" dirty="0"/>
              <a:t>只有两类结果（总体服从二点分布）</a:t>
            </a:r>
            <a:endParaRPr lang="zh-CN" altLang="en-US" sz="2200" b="1" dirty="0"/>
          </a:p>
          <a:p>
            <a:pPr marL="1219200" lvl="1" indent="-533400">
              <a:spcBef>
                <a:spcPct val="25000"/>
              </a:spcBef>
            </a:pPr>
            <a:r>
              <a:rPr lang="zh-CN" altLang="en-US" b="1" dirty="0"/>
              <a:t>大样本下</a:t>
            </a:r>
            <a:r>
              <a:rPr lang="en-US" altLang="zh-CN" b="1" dirty="0"/>
              <a:t>【</a:t>
            </a:r>
            <a:r>
              <a:rPr lang="en-US" altLang="zh-CN" b="1" i="1" dirty="0"/>
              <a:t>n</a:t>
            </a:r>
            <a:r>
              <a:rPr lang="en-US" altLang="zh-CN" b="1" dirty="0"/>
              <a:t>≥30</a:t>
            </a:r>
            <a:r>
              <a:rPr lang="zh-CN" altLang="en-US" b="1" dirty="0"/>
              <a:t>，</a:t>
            </a:r>
            <a:r>
              <a:rPr lang="en-US" altLang="zh-CN" b="1" i="1" dirty="0"/>
              <a:t>np</a:t>
            </a:r>
            <a:r>
              <a:rPr lang="en-US" altLang="zh-CN" b="1" dirty="0"/>
              <a:t>≥5</a:t>
            </a:r>
            <a:r>
              <a:rPr lang="zh-CN" altLang="en-US" b="1" dirty="0"/>
              <a:t>且</a:t>
            </a:r>
            <a:r>
              <a:rPr lang="en-US" altLang="zh-CN" b="1" i="1" dirty="0"/>
              <a:t>n(1-p)</a:t>
            </a:r>
            <a:r>
              <a:rPr lang="en-US" altLang="zh-CN" b="1" dirty="0"/>
              <a:t>≥5 】,</a:t>
            </a:r>
            <a:r>
              <a:rPr lang="zh-CN" altLang="en-US" b="1" dirty="0"/>
              <a:t>可用正态分布来近似</a:t>
            </a:r>
          </a:p>
          <a:p>
            <a:pPr marL="609600" indent="-609600">
              <a:spcBef>
                <a:spcPct val="25000"/>
              </a:spcBef>
              <a:buNone/>
            </a:pPr>
            <a:r>
              <a:rPr lang="en-US" altLang="zh-CN" b="1" dirty="0">
                <a:latin typeface="Times New Roman" pitchFamily="18" charset="0"/>
              </a:rPr>
              <a:t>3. </a:t>
            </a:r>
            <a:r>
              <a:rPr lang="zh-CN" altLang="en-US" b="1" dirty="0">
                <a:latin typeface="Times New Roman" pitchFamily="18" charset="0"/>
              </a:rPr>
              <a:t>检验统计量</a:t>
            </a:r>
            <a:r>
              <a:rPr lang="en-US" altLang="zh-CN" b="1" dirty="0">
                <a:solidFill>
                  <a:schemeClr val="tx1"/>
                </a:solidFill>
                <a:latin typeface="Times New Roman" pitchFamily="18" charset="0"/>
              </a:rPr>
              <a:t>——Z </a:t>
            </a:r>
            <a:r>
              <a:rPr lang="zh-CN" altLang="en-US" b="1" dirty="0">
                <a:solidFill>
                  <a:schemeClr val="tx1"/>
                </a:solidFill>
                <a:latin typeface="Times New Roman" pitchFamily="18" charset="0"/>
              </a:rPr>
              <a:t>统计量</a:t>
            </a:r>
          </a:p>
        </p:txBody>
      </p:sp>
      <p:pic>
        <p:nvPicPr>
          <p:cNvPr id="22536" name="Picture 8"/>
          <p:cNvPicPr>
            <a:picLocks noChangeAspect="1" noChangeArrowheads="1"/>
          </p:cNvPicPr>
          <p:nvPr/>
        </p:nvPicPr>
        <p:blipFill>
          <a:blip r:embed="rId3" cstate="print"/>
          <a:srcRect/>
          <a:stretch>
            <a:fillRect/>
          </a:stretch>
        </p:blipFill>
        <p:spPr bwMode="auto">
          <a:xfrm>
            <a:off x="1666875" y="4786313"/>
            <a:ext cx="4071938" cy="1371600"/>
          </a:xfrm>
          <a:prstGeom prst="rect">
            <a:avLst/>
          </a:prstGeom>
          <a:noFill/>
          <a:ln w="9525">
            <a:noFill/>
            <a:miter lim="800000"/>
            <a:headEnd/>
            <a:tailEnd/>
          </a:ln>
          <a:effectLst>
            <a:prstShdw prst="shdw17" dist="17961" dir="2700000">
              <a:schemeClr val="accent1">
                <a:gamma/>
                <a:shade val="60000"/>
                <a:invGamma/>
              </a:schemeClr>
            </a:prstShdw>
          </a:effectLst>
        </p:spPr>
      </p:pic>
      <p:pic>
        <p:nvPicPr>
          <p:cNvPr id="22537" name="Picture 9"/>
          <p:cNvPicPr>
            <a:picLocks noChangeAspect="1" noChangeArrowheads="1"/>
          </p:cNvPicPr>
          <p:nvPr/>
        </p:nvPicPr>
        <p:blipFill>
          <a:blip r:embed="rId4" cstate="print"/>
          <a:srcRect/>
          <a:stretch>
            <a:fillRect/>
          </a:stretch>
        </p:blipFill>
        <p:spPr bwMode="auto">
          <a:xfrm>
            <a:off x="6167438" y="4786314"/>
            <a:ext cx="4286250" cy="1316037"/>
          </a:xfrm>
          <a:prstGeom prst="rect">
            <a:avLst/>
          </a:prstGeom>
          <a:noFill/>
          <a:ln w="9525">
            <a:noFill/>
            <a:miter lim="800000"/>
            <a:headEnd/>
            <a:tailEnd/>
          </a:ln>
          <a:effectLst>
            <a:prstShdw prst="shdw17" dist="17961" dir="2700000">
              <a:schemeClr val="accent1">
                <a:gamma/>
                <a:shade val="60000"/>
                <a:invGamma/>
              </a:schemeClr>
            </a:prstShdw>
          </a:effectLst>
        </p:spPr>
      </p:pic>
      <p:sp>
        <p:nvSpPr>
          <p:cNvPr id="93191" name="TextBox 9"/>
          <p:cNvSpPr txBox="1">
            <a:spLocks noChangeArrowheads="1"/>
          </p:cNvSpPr>
          <p:nvPr/>
        </p:nvSpPr>
        <p:spPr bwMode="auto">
          <a:xfrm>
            <a:off x="5810250" y="5119689"/>
            <a:ext cx="357188" cy="523220"/>
          </a:xfrm>
          <a:prstGeom prst="rect">
            <a:avLst/>
          </a:prstGeom>
          <a:noFill/>
          <a:ln w="9525">
            <a:noFill/>
            <a:miter lim="800000"/>
            <a:headEnd/>
            <a:tailEnd/>
          </a:ln>
        </p:spPr>
        <p:txBody>
          <a:bodyPr>
            <a:spAutoFit/>
          </a:bodyPr>
          <a:lstStyle/>
          <a:p>
            <a:pPr algn="ctr"/>
            <a:r>
              <a:rPr lang="zh-CN" altLang="en-US" sz="2800" dirty="0">
                <a:solidFill>
                  <a:srgbClr val="002060"/>
                </a:solidFill>
              </a:rPr>
              <a:t>或</a:t>
            </a:r>
          </a:p>
        </p:txBody>
      </p:sp>
    </p:spTree>
    <p:extLst>
      <p:ext uri="{BB962C8B-B14F-4D97-AF65-F5344CB8AC3E}">
        <p14:creationId xmlns:p14="http://schemas.microsoft.com/office/powerpoint/2010/main" val="15873864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82947">
                                            <p:txEl>
                                              <p:pRg st="2" end="2"/>
                                            </p:txEl>
                                          </p:spTgt>
                                        </p:tgtEl>
                                        <p:attrNameLst>
                                          <p:attrName>style.visibility</p:attrName>
                                        </p:attrNameLst>
                                      </p:cBhvr>
                                      <p:to>
                                        <p:strVal val="visible"/>
                                      </p:to>
                                    </p:set>
                                    <p:animEffect transition="in" filter="wipe(left)">
                                      <p:cBhvr>
                                        <p:cTn id="7" dur="500"/>
                                        <p:tgtEl>
                                          <p:spTgt spid="82947">
                                            <p:txEl>
                                              <p:pRg st="2" end="2"/>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82947">
                                            <p:txEl>
                                              <p:pRg st="3" end="3"/>
                                            </p:txEl>
                                          </p:spTgt>
                                        </p:tgtEl>
                                        <p:attrNameLst>
                                          <p:attrName>style.visibility</p:attrName>
                                        </p:attrNameLst>
                                      </p:cBhvr>
                                      <p:to>
                                        <p:strVal val="visible"/>
                                      </p:to>
                                    </p:set>
                                    <p:animEffect transition="in" filter="wipe(left)">
                                      <p:cBhvr>
                                        <p:cTn id="10" dur="500"/>
                                        <p:tgtEl>
                                          <p:spTgt spid="82947">
                                            <p:txEl>
                                              <p:pRg st="3" end="3"/>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82947">
                                            <p:txEl>
                                              <p:pRg st="4" end="4"/>
                                            </p:txEl>
                                          </p:spTgt>
                                        </p:tgtEl>
                                        <p:attrNameLst>
                                          <p:attrName>style.visibility</p:attrName>
                                        </p:attrNameLst>
                                      </p:cBhvr>
                                      <p:to>
                                        <p:strVal val="visible"/>
                                      </p:to>
                                    </p:set>
                                    <p:animEffect transition="in" filter="wipe(left)">
                                      <p:cBhvr>
                                        <p:cTn id="15" dur="500"/>
                                        <p:tgtEl>
                                          <p:spTgt spid="82947">
                                            <p:txEl>
                                              <p:pRg st="4" end="4"/>
                                            </p:txEl>
                                          </p:spTgt>
                                        </p:tgtEl>
                                      </p:cBhvr>
                                    </p:animEffect>
                                  </p:childTnLst>
                                </p:cTn>
                              </p:par>
                            </p:childTnLst>
                          </p:cTn>
                        </p:par>
                        <p:par>
                          <p:cTn id="16" fill="hold">
                            <p:stCondLst>
                              <p:cond delay="500"/>
                            </p:stCondLst>
                            <p:childTnLst>
                              <p:par>
                                <p:cTn id="17" presetID="2" presetClass="entr" presetSubtype="4" fill="hold" nodeType="afterEffect">
                                  <p:stCondLst>
                                    <p:cond delay="0"/>
                                  </p:stCondLst>
                                  <p:childTnLst>
                                    <p:set>
                                      <p:cBhvr>
                                        <p:cTn id="18" dur="1" fill="hold">
                                          <p:stCondLst>
                                            <p:cond delay="0"/>
                                          </p:stCondLst>
                                        </p:cTn>
                                        <p:tgtEl>
                                          <p:spTgt spid="22536"/>
                                        </p:tgtEl>
                                        <p:attrNameLst>
                                          <p:attrName>style.visibility</p:attrName>
                                        </p:attrNameLst>
                                      </p:cBhvr>
                                      <p:to>
                                        <p:strVal val="visible"/>
                                      </p:to>
                                    </p:set>
                                    <p:anim calcmode="lin" valueType="num">
                                      <p:cBhvr additive="base">
                                        <p:cTn id="19" dur="250" fill="hold"/>
                                        <p:tgtEl>
                                          <p:spTgt spid="22536"/>
                                        </p:tgtEl>
                                        <p:attrNameLst>
                                          <p:attrName>ppt_x</p:attrName>
                                        </p:attrNameLst>
                                      </p:cBhvr>
                                      <p:tavLst>
                                        <p:tav tm="0">
                                          <p:val>
                                            <p:strVal val="#ppt_x"/>
                                          </p:val>
                                        </p:tav>
                                        <p:tav tm="100000">
                                          <p:val>
                                            <p:strVal val="#ppt_x"/>
                                          </p:val>
                                        </p:tav>
                                      </p:tavLst>
                                    </p:anim>
                                    <p:anim calcmode="lin" valueType="num">
                                      <p:cBhvr additive="base">
                                        <p:cTn id="20" dur="250" fill="hold"/>
                                        <p:tgtEl>
                                          <p:spTgt spid="22536"/>
                                        </p:tgtEl>
                                        <p:attrNameLst>
                                          <p:attrName>ppt_y</p:attrName>
                                        </p:attrNameLst>
                                      </p:cBhvr>
                                      <p:tavLst>
                                        <p:tav tm="0">
                                          <p:val>
                                            <p:strVal val="1+#ppt_h/2"/>
                                          </p:val>
                                        </p:tav>
                                        <p:tav tm="100000">
                                          <p:val>
                                            <p:strVal val="#ppt_y"/>
                                          </p:val>
                                        </p:tav>
                                      </p:tavLst>
                                    </p:anim>
                                  </p:childTnLst>
                                </p:cTn>
                              </p:par>
                            </p:childTnLst>
                          </p:cTn>
                        </p:par>
                        <p:par>
                          <p:cTn id="21" fill="hold">
                            <p:stCondLst>
                              <p:cond delay="750"/>
                            </p:stCondLst>
                            <p:childTnLst>
                              <p:par>
                                <p:cTn id="22" presetID="2" presetClass="entr" presetSubtype="4" fill="hold" nodeType="afterEffect">
                                  <p:stCondLst>
                                    <p:cond delay="0"/>
                                  </p:stCondLst>
                                  <p:childTnLst>
                                    <p:set>
                                      <p:cBhvr>
                                        <p:cTn id="23" dur="1" fill="hold">
                                          <p:stCondLst>
                                            <p:cond delay="0"/>
                                          </p:stCondLst>
                                        </p:cTn>
                                        <p:tgtEl>
                                          <p:spTgt spid="22537"/>
                                        </p:tgtEl>
                                        <p:attrNameLst>
                                          <p:attrName>style.visibility</p:attrName>
                                        </p:attrNameLst>
                                      </p:cBhvr>
                                      <p:to>
                                        <p:strVal val="visible"/>
                                      </p:to>
                                    </p:set>
                                    <p:anim calcmode="lin" valueType="num">
                                      <p:cBhvr additive="base">
                                        <p:cTn id="24" dur="250" fill="hold"/>
                                        <p:tgtEl>
                                          <p:spTgt spid="22537"/>
                                        </p:tgtEl>
                                        <p:attrNameLst>
                                          <p:attrName>ppt_x</p:attrName>
                                        </p:attrNameLst>
                                      </p:cBhvr>
                                      <p:tavLst>
                                        <p:tav tm="0">
                                          <p:val>
                                            <p:strVal val="#ppt_x"/>
                                          </p:val>
                                        </p:tav>
                                        <p:tav tm="100000">
                                          <p:val>
                                            <p:strVal val="#ppt_x"/>
                                          </p:val>
                                        </p:tav>
                                      </p:tavLst>
                                    </p:anim>
                                    <p:anim calcmode="lin" valueType="num">
                                      <p:cBhvr additive="base">
                                        <p:cTn id="25" dur="250" fill="hold"/>
                                        <p:tgtEl>
                                          <p:spTgt spid="2253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947" grpId="0" build="p" autoUpdateAnimBg="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灯片编号占位符 5"/>
          <p:cNvSpPr>
            <a:spLocks noGrp="1"/>
          </p:cNvSpPr>
          <p:nvPr>
            <p:ph type="sldNum" sz="quarter" idx="4294967295"/>
          </p:nvPr>
        </p:nvSpPr>
        <p:spPr>
          <a:noFill/>
        </p:spPr>
        <p:txBody>
          <a:bodyPr/>
          <a:lstStyle/>
          <a:p>
            <a:r>
              <a:rPr lang="en-US" altLang="zh-CN">
                <a:ea typeface="宋体" pitchFamily="2" charset="-122"/>
              </a:rPr>
              <a:t>8--</a:t>
            </a:r>
            <a:fld id="{28CB6138-3B44-4730-81A8-8CAF84913B58}" type="slidenum">
              <a:rPr lang="en-US" altLang="zh-CN" smtClean="0">
                <a:ea typeface="宋体" pitchFamily="2" charset="-122"/>
              </a:rPr>
              <a:pPr/>
              <a:t>62</a:t>
            </a:fld>
            <a:endParaRPr lang="en-US" altLang="zh-CN">
              <a:ea typeface="宋体" pitchFamily="2" charset="-122"/>
            </a:endParaRPr>
          </a:p>
        </p:txBody>
      </p:sp>
      <p:sp>
        <p:nvSpPr>
          <p:cNvPr id="94211" name="Rectangle 2"/>
          <p:cNvSpPr>
            <a:spLocks noGrp="1" noChangeArrowheads="1"/>
          </p:cNvSpPr>
          <p:nvPr>
            <p:ph type="title"/>
          </p:nvPr>
        </p:nvSpPr>
        <p:spPr>
          <a:xfrm>
            <a:off x="2152650" y="576025"/>
            <a:ext cx="9493250" cy="662782"/>
          </a:xfrm>
        </p:spPr>
        <p:txBody>
          <a:bodyPr/>
          <a:lstStyle/>
          <a:p>
            <a:pPr eaLnBrk="1" hangingPunct="1"/>
            <a:r>
              <a:rPr lang="en-US" altLang="zh-CN" b="1" dirty="0">
                <a:effectLst/>
              </a:rPr>
              <a:t>[</a:t>
            </a:r>
            <a:r>
              <a:rPr lang="zh-CN" altLang="en-US" b="1" dirty="0">
                <a:effectLst/>
              </a:rPr>
              <a:t>例</a:t>
            </a:r>
            <a:r>
              <a:rPr lang="en-US" altLang="zh-CN" b="1" dirty="0">
                <a:effectLst/>
              </a:rPr>
              <a:t>8-5]</a:t>
            </a:r>
          </a:p>
        </p:txBody>
      </p:sp>
      <p:sp>
        <p:nvSpPr>
          <p:cNvPr id="94212" name="Rectangle 3"/>
          <p:cNvSpPr>
            <a:spLocks noGrp="1" noChangeArrowheads="1"/>
          </p:cNvSpPr>
          <p:nvPr>
            <p:ph type="body" idx="1"/>
          </p:nvPr>
        </p:nvSpPr>
        <p:spPr>
          <a:xfrm>
            <a:off x="963495" y="1238807"/>
            <a:ext cx="9158405" cy="4724400"/>
          </a:xfrm>
        </p:spPr>
        <p:txBody>
          <a:bodyPr>
            <a:normAutofit fontScale="92500" lnSpcReduction="10000"/>
          </a:bodyPr>
          <a:lstStyle/>
          <a:p>
            <a:pPr marL="0" indent="0">
              <a:lnSpc>
                <a:spcPct val="150000"/>
              </a:lnSpc>
              <a:spcBef>
                <a:spcPts val="1200"/>
              </a:spcBef>
              <a:spcAft>
                <a:spcPts val="0"/>
              </a:spcAft>
              <a:buNone/>
            </a:pPr>
            <a:r>
              <a:rPr lang="en-US" altLang="zh-CN" dirty="0"/>
              <a:t>       </a:t>
            </a:r>
            <a:r>
              <a:rPr lang="zh-CN" altLang="zh-CN" dirty="0"/>
              <a:t>一医学专家认为，某地区居民乱用抗生素的情况比较严重，治疗儿童感冒的过程中，乱用抗生素的病例高达</a:t>
            </a:r>
            <a:r>
              <a:rPr lang="en-US" altLang="zh-CN" dirty="0"/>
              <a:t>1/5</a:t>
            </a:r>
            <a:r>
              <a:rPr lang="zh-CN" altLang="zh-CN" dirty="0"/>
              <a:t>以上。</a:t>
            </a:r>
            <a:r>
              <a:rPr lang="en-US" altLang="zh-CN" dirty="0"/>
              <a:t>   </a:t>
            </a:r>
          </a:p>
          <a:p>
            <a:pPr marL="0" indent="0">
              <a:lnSpc>
                <a:spcPct val="150000"/>
              </a:lnSpc>
              <a:spcBef>
                <a:spcPts val="1200"/>
              </a:spcBef>
              <a:spcAft>
                <a:spcPts val="0"/>
              </a:spcAft>
              <a:buNone/>
            </a:pPr>
            <a:r>
              <a:rPr lang="en-US" altLang="zh-CN" dirty="0"/>
              <a:t>      </a:t>
            </a:r>
            <a:r>
              <a:rPr lang="zh-CN" altLang="zh-CN" dirty="0"/>
              <a:t>为了检验这种说法，某医疗机构从该地区患感冒的儿童中随机调查了</a:t>
            </a:r>
            <a:r>
              <a:rPr lang="en-US" altLang="zh-CN" dirty="0"/>
              <a:t>100</a:t>
            </a:r>
            <a:r>
              <a:rPr lang="zh-CN" altLang="zh-CN" dirty="0"/>
              <a:t>个病例，发现其中有</a:t>
            </a:r>
            <a:r>
              <a:rPr lang="en-US" altLang="zh-CN" dirty="0"/>
              <a:t>26</a:t>
            </a:r>
            <a:r>
              <a:rPr lang="zh-CN" altLang="zh-CN" dirty="0"/>
              <a:t>例乱用抗生素。试问调查结果是否支持专家的看法</a:t>
            </a:r>
            <a:r>
              <a:rPr lang="zh-CN" altLang="zh-CN" sz="2800" dirty="0"/>
              <a:t>（分别以</a:t>
            </a:r>
            <a:r>
              <a:rPr lang="en-US" altLang="zh-CN" sz="2800" dirty="0"/>
              <a:t>0.05</a:t>
            </a:r>
            <a:r>
              <a:rPr lang="zh-CN" altLang="zh-CN" sz="2800" dirty="0"/>
              <a:t>和</a:t>
            </a:r>
            <a:r>
              <a:rPr lang="en-US" altLang="zh-CN" sz="2800" dirty="0"/>
              <a:t>0.10</a:t>
            </a:r>
            <a:r>
              <a:rPr lang="zh-CN" altLang="zh-CN" sz="2800" dirty="0"/>
              <a:t>的显著性水平进行检验）</a:t>
            </a:r>
            <a:r>
              <a:rPr lang="zh-CN" altLang="zh-CN" dirty="0"/>
              <a:t>？</a:t>
            </a:r>
            <a:endParaRPr lang="zh-CN" altLang="en-US" dirty="0"/>
          </a:p>
        </p:txBody>
      </p:sp>
    </p:spTree>
    <p:extLst>
      <p:ext uri="{BB962C8B-B14F-4D97-AF65-F5344CB8AC3E}">
        <p14:creationId xmlns:p14="http://schemas.microsoft.com/office/powerpoint/2010/main" val="149216235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灯片编号占位符 5"/>
          <p:cNvSpPr>
            <a:spLocks noGrp="1"/>
          </p:cNvSpPr>
          <p:nvPr>
            <p:ph type="sldNum" sz="quarter" idx="4294967295"/>
          </p:nvPr>
        </p:nvSpPr>
        <p:spPr>
          <a:noFill/>
        </p:spPr>
        <p:txBody>
          <a:bodyPr/>
          <a:lstStyle/>
          <a:p>
            <a:r>
              <a:rPr lang="en-US" altLang="zh-CN">
                <a:ea typeface="宋体" pitchFamily="2" charset="-122"/>
              </a:rPr>
              <a:t>8--</a:t>
            </a:r>
            <a:fld id="{397A9D3E-8AAC-4384-A64C-80606C79BE18}" type="slidenum">
              <a:rPr lang="en-US" altLang="zh-CN" smtClean="0">
                <a:ea typeface="宋体" pitchFamily="2" charset="-122"/>
              </a:rPr>
              <a:pPr/>
              <a:t>63</a:t>
            </a:fld>
            <a:endParaRPr lang="en-US" altLang="zh-CN">
              <a:ea typeface="宋体" pitchFamily="2" charset="-122"/>
            </a:endParaRPr>
          </a:p>
        </p:txBody>
      </p:sp>
      <p:sp>
        <p:nvSpPr>
          <p:cNvPr id="27652" name="Rectangle 2"/>
          <p:cNvSpPr>
            <a:spLocks noGrp="1" noChangeArrowheads="1"/>
          </p:cNvSpPr>
          <p:nvPr>
            <p:ph type="title"/>
          </p:nvPr>
        </p:nvSpPr>
        <p:spPr>
          <a:xfrm>
            <a:off x="1992313" y="155974"/>
            <a:ext cx="8224044" cy="662782"/>
          </a:xfrm>
        </p:spPr>
        <p:txBody>
          <a:bodyPr/>
          <a:lstStyle/>
          <a:p>
            <a:pPr eaLnBrk="1" hangingPunct="1"/>
            <a:r>
              <a:rPr lang="en-US" altLang="zh-CN" b="1" dirty="0">
                <a:effectLst/>
              </a:rPr>
              <a:t>[</a:t>
            </a:r>
            <a:r>
              <a:rPr lang="zh-CN" altLang="en-US" b="1" dirty="0">
                <a:effectLst/>
              </a:rPr>
              <a:t>例</a:t>
            </a:r>
            <a:r>
              <a:rPr lang="en-US" altLang="zh-CN" b="1" dirty="0">
                <a:effectLst/>
              </a:rPr>
              <a:t>8-5] </a:t>
            </a:r>
            <a:r>
              <a:rPr lang="zh-CN" altLang="en-US" b="1" dirty="0">
                <a:effectLst/>
              </a:rPr>
              <a:t>解</a:t>
            </a:r>
          </a:p>
        </p:txBody>
      </p:sp>
      <p:sp>
        <p:nvSpPr>
          <p:cNvPr id="480259" name="Rectangle 3"/>
          <p:cNvSpPr>
            <a:spLocks noGrp="1" noChangeArrowheads="1"/>
          </p:cNvSpPr>
          <p:nvPr>
            <p:ph type="body" idx="1"/>
          </p:nvPr>
        </p:nvSpPr>
        <p:spPr>
          <a:xfrm>
            <a:off x="1992313" y="970479"/>
            <a:ext cx="8066087" cy="4857750"/>
          </a:xfrm>
        </p:spPr>
        <p:txBody>
          <a:bodyPr>
            <a:normAutofit lnSpcReduction="10000"/>
          </a:bodyPr>
          <a:lstStyle/>
          <a:p>
            <a:pPr eaLnBrk="1" hangingPunct="1">
              <a:lnSpc>
                <a:spcPct val="110000"/>
              </a:lnSpc>
              <a:spcBef>
                <a:spcPts val="1200"/>
              </a:spcBef>
              <a:spcAft>
                <a:spcPts val="0"/>
              </a:spcAft>
              <a:buClr>
                <a:srgbClr val="0070C0"/>
              </a:buClr>
              <a:buSzPct val="65000"/>
            </a:pPr>
            <a:r>
              <a:rPr lang="pt-BR" altLang="zh-CN" sz="3000" i="1" dirty="0">
                <a:solidFill>
                  <a:srgbClr val="000000"/>
                </a:solidFill>
                <a:latin typeface="Times New Roman" pitchFamily="18" charset="0"/>
                <a:cs typeface="Times New Roman" pitchFamily="18" charset="0"/>
              </a:rPr>
              <a:t>H</a:t>
            </a:r>
            <a:r>
              <a:rPr lang="pt-BR" altLang="zh-CN" sz="3000" i="1" baseline="-25000" dirty="0">
                <a:solidFill>
                  <a:srgbClr val="000000"/>
                </a:solidFill>
                <a:latin typeface="Times New Roman" pitchFamily="18" charset="0"/>
                <a:cs typeface="Times New Roman" pitchFamily="18" charset="0"/>
              </a:rPr>
              <a:t>O</a:t>
            </a:r>
            <a:r>
              <a:rPr lang="zh-CN" altLang="pt-BR" sz="3000" dirty="0">
                <a:solidFill>
                  <a:srgbClr val="000000"/>
                </a:solidFill>
                <a:latin typeface="Times New Roman" pitchFamily="18" charset="0"/>
                <a:cs typeface="Times New Roman" pitchFamily="18" charset="0"/>
              </a:rPr>
              <a:t>：</a:t>
            </a:r>
            <a:r>
              <a:rPr lang="pt-BR" altLang="zh-CN" sz="3000" i="1" dirty="0">
                <a:solidFill>
                  <a:srgbClr val="000000"/>
                </a:solidFill>
                <a:latin typeface="Times New Roman" pitchFamily="18" charset="0"/>
                <a:cs typeface="Times New Roman" pitchFamily="18" charset="0"/>
              </a:rPr>
              <a:t>P</a:t>
            </a:r>
            <a:r>
              <a:rPr lang="pt-BR" altLang="zh-CN" sz="3000" dirty="0">
                <a:solidFill>
                  <a:srgbClr val="000000"/>
                </a:solidFill>
                <a:latin typeface="Times New Roman" pitchFamily="18" charset="0"/>
                <a:cs typeface="Times New Roman" pitchFamily="18" charset="0"/>
              </a:rPr>
              <a:t>≤1/5</a:t>
            </a:r>
            <a:r>
              <a:rPr lang="zh-CN" altLang="pt-BR" sz="3000" dirty="0">
                <a:solidFill>
                  <a:srgbClr val="000000"/>
                </a:solidFill>
                <a:latin typeface="Times New Roman" pitchFamily="18" charset="0"/>
                <a:cs typeface="Times New Roman" pitchFamily="18" charset="0"/>
              </a:rPr>
              <a:t>， </a:t>
            </a:r>
            <a:r>
              <a:rPr lang="pt-BR" altLang="zh-CN" sz="3000" i="1" dirty="0">
                <a:solidFill>
                  <a:srgbClr val="000000"/>
                </a:solidFill>
                <a:latin typeface="Times New Roman" pitchFamily="18" charset="0"/>
                <a:cs typeface="Times New Roman" pitchFamily="18" charset="0"/>
              </a:rPr>
              <a:t>H</a:t>
            </a:r>
            <a:r>
              <a:rPr lang="pt-BR" altLang="zh-CN" sz="3000" i="1" baseline="-25000" dirty="0">
                <a:solidFill>
                  <a:srgbClr val="000000"/>
                </a:solidFill>
                <a:latin typeface="Times New Roman" pitchFamily="18" charset="0"/>
                <a:cs typeface="Times New Roman" pitchFamily="18" charset="0"/>
              </a:rPr>
              <a:t>1</a:t>
            </a:r>
            <a:r>
              <a:rPr lang="zh-CN" altLang="pt-BR" sz="3000" dirty="0">
                <a:solidFill>
                  <a:srgbClr val="000000"/>
                </a:solidFill>
                <a:latin typeface="Times New Roman" pitchFamily="18" charset="0"/>
                <a:cs typeface="Times New Roman" pitchFamily="18" charset="0"/>
              </a:rPr>
              <a:t>：</a:t>
            </a:r>
            <a:r>
              <a:rPr lang="pt-BR" altLang="zh-CN" sz="3000" i="1" dirty="0">
                <a:solidFill>
                  <a:srgbClr val="000000"/>
                </a:solidFill>
                <a:latin typeface="Times New Roman" pitchFamily="18" charset="0"/>
                <a:cs typeface="Times New Roman" pitchFamily="18" charset="0"/>
              </a:rPr>
              <a:t>P</a:t>
            </a:r>
            <a:r>
              <a:rPr lang="pt-BR" altLang="zh-CN" sz="3000" dirty="0">
                <a:solidFill>
                  <a:srgbClr val="000000"/>
                </a:solidFill>
                <a:latin typeface="Times New Roman" pitchFamily="18" charset="0"/>
                <a:cs typeface="Times New Roman" pitchFamily="18" charset="0"/>
              </a:rPr>
              <a:t>&gt;1/5</a:t>
            </a:r>
          </a:p>
          <a:p>
            <a:pPr eaLnBrk="1" hangingPunct="1">
              <a:lnSpc>
                <a:spcPct val="110000"/>
              </a:lnSpc>
              <a:spcBef>
                <a:spcPts val="1200"/>
              </a:spcBef>
              <a:spcAft>
                <a:spcPts val="0"/>
              </a:spcAft>
              <a:buClr>
                <a:srgbClr val="0070C0"/>
              </a:buClr>
              <a:buSzPct val="65000"/>
            </a:pPr>
            <a:r>
              <a:rPr lang="en-US" altLang="zh-CN" sz="3000" i="1" dirty="0">
                <a:solidFill>
                  <a:schemeClr val="tx1"/>
                </a:solidFill>
              </a:rPr>
              <a:t>n</a:t>
            </a:r>
            <a:r>
              <a:rPr lang="en-US" altLang="zh-CN" sz="3000" dirty="0">
                <a:solidFill>
                  <a:schemeClr val="tx1"/>
                </a:solidFill>
              </a:rPr>
              <a:t>&gt;30</a:t>
            </a:r>
            <a:r>
              <a:rPr lang="zh-CN" altLang="en-US" sz="3000" dirty="0">
                <a:solidFill>
                  <a:schemeClr val="tx1"/>
                </a:solidFill>
              </a:rPr>
              <a:t>且</a:t>
            </a:r>
            <a:r>
              <a:rPr lang="en-US" altLang="zh-CN" sz="3000" i="1" dirty="0" err="1">
                <a:solidFill>
                  <a:schemeClr val="tx1"/>
                </a:solidFill>
              </a:rPr>
              <a:t>np</a:t>
            </a:r>
            <a:r>
              <a:rPr lang="en-US" altLang="zh-CN" sz="3000" dirty="0">
                <a:solidFill>
                  <a:schemeClr val="tx1"/>
                </a:solidFill>
              </a:rPr>
              <a:t>=26&gt;5,</a:t>
            </a:r>
            <a:r>
              <a:rPr lang="en-US" altLang="zh-CN" sz="3000" i="1" dirty="0">
                <a:solidFill>
                  <a:schemeClr val="tx1"/>
                </a:solidFill>
              </a:rPr>
              <a:t> n(1-p)</a:t>
            </a:r>
            <a:r>
              <a:rPr lang="en-US" altLang="zh-CN" sz="3000" dirty="0">
                <a:solidFill>
                  <a:schemeClr val="tx1"/>
                </a:solidFill>
              </a:rPr>
              <a:t>=74&gt;5</a:t>
            </a:r>
          </a:p>
          <a:p>
            <a:pPr eaLnBrk="1" hangingPunct="1">
              <a:lnSpc>
                <a:spcPct val="110000"/>
              </a:lnSpc>
              <a:spcBef>
                <a:spcPts val="1200"/>
              </a:spcBef>
              <a:spcAft>
                <a:spcPts val="0"/>
              </a:spcAft>
              <a:buClr>
                <a:srgbClr val="0070C0"/>
              </a:buClr>
              <a:buSzPct val="65000"/>
            </a:pPr>
            <a:r>
              <a:rPr lang="zh-CN" altLang="en-US" sz="3000" dirty="0">
                <a:solidFill>
                  <a:srgbClr val="000000"/>
                </a:solidFill>
              </a:rPr>
              <a:t>检验统计量的值：</a:t>
            </a:r>
          </a:p>
          <a:p>
            <a:pPr eaLnBrk="1" hangingPunct="1">
              <a:lnSpc>
                <a:spcPct val="110000"/>
              </a:lnSpc>
              <a:spcBef>
                <a:spcPts val="1200"/>
              </a:spcBef>
              <a:spcAft>
                <a:spcPts val="0"/>
              </a:spcAft>
              <a:buClr>
                <a:srgbClr val="0070C0"/>
              </a:buClr>
              <a:buSzPct val="65000"/>
            </a:pPr>
            <a:endParaRPr lang="zh-CN" altLang="en-US" sz="3000" dirty="0">
              <a:solidFill>
                <a:schemeClr val="tx1"/>
              </a:solidFill>
            </a:endParaRPr>
          </a:p>
          <a:p>
            <a:pPr eaLnBrk="1" hangingPunct="1">
              <a:lnSpc>
                <a:spcPct val="110000"/>
              </a:lnSpc>
              <a:spcBef>
                <a:spcPts val="1200"/>
              </a:spcBef>
              <a:spcAft>
                <a:spcPts val="0"/>
              </a:spcAft>
              <a:buClr>
                <a:srgbClr val="0070C0"/>
              </a:buClr>
              <a:buSzPct val="65000"/>
            </a:pPr>
            <a:endParaRPr lang="zh-CN" altLang="en-US" sz="3000" dirty="0">
              <a:solidFill>
                <a:schemeClr val="tx1"/>
              </a:solidFill>
            </a:endParaRPr>
          </a:p>
          <a:p>
            <a:pPr eaLnBrk="1" hangingPunct="1">
              <a:lnSpc>
                <a:spcPct val="110000"/>
              </a:lnSpc>
              <a:spcBef>
                <a:spcPts val="1200"/>
              </a:spcBef>
              <a:spcAft>
                <a:spcPts val="0"/>
              </a:spcAft>
              <a:buClr>
                <a:srgbClr val="0070C0"/>
              </a:buClr>
              <a:buSzPct val="65000"/>
            </a:pPr>
            <a:r>
              <a:rPr lang="en-US" altLang="zh-CN" sz="3000" dirty="0">
                <a:solidFill>
                  <a:srgbClr val="000000"/>
                </a:solidFill>
              </a:rPr>
              <a:t>P</a:t>
            </a:r>
            <a:r>
              <a:rPr lang="zh-CN" altLang="en-US" sz="3000" dirty="0">
                <a:solidFill>
                  <a:srgbClr val="000000"/>
                </a:solidFill>
              </a:rPr>
              <a:t>值</a:t>
            </a:r>
            <a:r>
              <a:rPr lang="zh-CN" altLang="en-US" sz="3000" dirty="0">
                <a:solidFill>
                  <a:schemeClr val="tx1"/>
                </a:solidFill>
              </a:rPr>
              <a:t>＝</a:t>
            </a:r>
            <a:r>
              <a:rPr lang="en-US" altLang="zh-CN" sz="3000" dirty="0">
                <a:solidFill>
                  <a:schemeClr val="tx1"/>
                </a:solidFill>
              </a:rPr>
              <a:t>P{Z≥1.5}</a:t>
            </a:r>
            <a:r>
              <a:rPr lang="zh-CN" altLang="en-US" sz="3000" dirty="0">
                <a:solidFill>
                  <a:schemeClr val="tx1"/>
                </a:solidFill>
              </a:rPr>
              <a:t>＝</a:t>
            </a:r>
            <a:r>
              <a:rPr lang="en-US" altLang="zh-CN" sz="3000" dirty="0">
                <a:solidFill>
                  <a:schemeClr val="tx1"/>
                </a:solidFill>
              </a:rPr>
              <a:t>0.067</a:t>
            </a:r>
          </a:p>
          <a:p>
            <a:pPr eaLnBrk="1" hangingPunct="1">
              <a:lnSpc>
                <a:spcPct val="110000"/>
              </a:lnSpc>
              <a:spcBef>
                <a:spcPts val="1200"/>
              </a:spcBef>
              <a:spcAft>
                <a:spcPts val="0"/>
              </a:spcAft>
              <a:buClr>
                <a:srgbClr val="0070C0"/>
              </a:buClr>
              <a:buSzPct val="65000"/>
            </a:pPr>
            <a:r>
              <a:rPr lang="zh-CN" altLang="en-US" sz="2800" dirty="0">
                <a:solidFill>
                  <a:srgbClr val="000000"/>
                </a:solidFill>
              </a:rPr>
              <a:t>若</a:t>
            </a:r>
            <a:r>
              <a:rPr lang="el-GR" altLang="zh-CN" sz="2800" i="1" dirty="0">
                <a:solidFill>
                  <a:srgbClr val="000000"/>
                </a:solidFill>
                <a:latin typeface="Times New Roman" pitchFamily="18" charset="0"/>
                <a:cs typeface="Tahoma" pitchFamily="34" charset="0"/>
              </a:rPr>
              <a:t>α</a:t>
            </a:r>
            <a:r>
              <a:rPr lang="en-US" altLang="zh-CN" sz="2800" dirty="0">
                <a:solidFill>
                  <a:srgbClr val="000000"/>
                </a:solidFill>
              </a:rPr>
              <a:t>=0.1</a:t>
            </a:r>
            <a:r>
              <a:rPr lang="zh-CN" altLang="en-US" sz="2800" dirty="0">
                <a:solidFill>
                  <a:srgbClr val="000000"/>
                </a:solidFill>
              </a:rPr>
              <a:t>，应拒绝原假设即支持经理的看法。</a:t>
            </a:r>
          </a:p>
          <a:p>
            <a:pPr eaLnBrk="1" hangingPunct="1">
              <a:lnSpc>
                <a:spcPct val="110000"/>
              </a:lnSpc>
              <a:spcBef>
                <a:spcPts val="1200"/>
              </a:spcBef>
              <a:spcAft>
                <a:spcPts val="0"/>
              </a:spcAft>
              <a:buClr>
                <a:srgbClr val="0070C0"/>
              </a:buClr>
              <a:buSzPct val="65000"/>
            </a:pPr>
            <a:r>
              <a:rPr lang="zh-CN" altLang="en-US" sz="2800" dirty="0">
                <a:solidFill>
                  <a:srgbClr val="000000"/>
                </a:solidFill>
              </a:rPr>
              <a:t>若</a:t>
            </a:r>
            <a:r>
              <a:rPr lang="el-GR" altLang="zh-CN" sz="2800" i="1" dirty="0">
                <a:solidFill>
                  <a:srgbClr val="000000"/>
                </a:solidFill>
                <a:latin typeface="Times New Roman" pitchFamily="18" charset="0"/>
                <a:cs typeface="Tahoma" pitchFamily="34" charset="0"/>
              </a:rPr>
              <a:t>α</a:t>
            </a:r>
            <a:r>
              <a:rPr lang="en-US" altLang="zh-CN" sz="2800" dirty="0">
                <a:solidFill>
                  <a:srgbClr val="000000"/>
                </a:solidFill>
              </a:rPr>
              <a:t>=0.05</a:t>
            </a:r>
            <a:r>
              <a:rPr lang="zh-CN" altLang="en-US" sz="2800" dirty="0">
                <a:solidFill>
                  <a:srgbClr val="000000"/>
                </a:solidFill>
              </a:rPr>
              <a:t>，则不能拒绝原假设即不能支持</a:t>
            </a:r>
            <a:r>
              <a:rPr lang="en-US" altLang="zh-CN" sz="2800" dirty="0">
                <a:solidFill>
                  <a:srgbClr val="000000"/>
                </a:solidFill>
                <a:latin typeface="Arial" pitchFamily="34" charset="0"/>
              </a:rPr>
              <a:t>…</a:t>
            </a:r>
            <a:endParaRPr lang="en-US" altLang="zh-CN" sz="2800" dirty="0">
              <a:solidFill>
                <a:srgbClr val="000000"/>
              </a:solidFill>
            </a:endParaRPr>
          </a:p>
        </p:txBody>
      </p:sp>
      <p:sp>
        <p:nvSpPr>
          <p:cNvPr id="27654" name="Rectangle 5"/>
          <p:cNvSpPr>
            <a:spLocks noChangeArrowheads="1"/>
          </p:cNvSpPr>
          <p:nvPr/>
        </p:nvSpPr>
        <p:spPr bwMode="auto">
          <a:xfrm>
            <a:off x="1524001" y="3030022"/>
            <a:ext cx="184731" cy="369332"/>
          </a:xfrm>
          <a:prstGeom prst="rect">
            <a:avLst/>
          </a:prstGeom>
          <a:noFill/>
          <a:ln w="9525">
            <a:noFill/>
            <a:miter lim="800000"/>
            <a:headEnd/>
            <a:tailEnd/>
          </a:ln>
        </p:spPr>
        <p:txBody>
          <a:bodyPr wrap="none" anchor="ctr">
            <a:spAutoFit/>
          </a:bodyPr>
          <a:lstStyle/>
          <a:p>
            <a:endParaRPr lang="zh-CN" altLang="en-US"/>
          </a:p>
        </p:txBody>
      </p:sp>
      <p:graphicFrame>
        <p:nvGraphicFramePr>
          <p:cNvPr id="480260" name="Object 4"/>
          <p:cNvGraphicFramePr>
            <a:graphicFrameLocks noChangeAspect="1"/>
          </p:cNvGraphicFramePr>
          <p:nvPr>
            <p:extLst>
              <p:ext uri="{D42A27DB-BD31-4B8C-83A1-F6EECF244321}">
                <p14:modId xmlns:p14="http://schemas.microsoft.com/office/powerpoint/2010/main" val="2653710923"/>
              </p:ext>
            </p:extLst>
          </p:nvPr>
        </p:nvGraphicFramePr>
        <p:xfrm>
          <a:off x="3236913" y="2657476"/>
          <a:ext cx="6661150" cy="1304925"/>
        </p:xfrm>
        <a:graphic>
          <a:graphicData uri="http://schemas.openxmlformats.org/presentationml/2006/ole">
            <mc:AlternateContent xmlns:mc="http://schemas.openxmlformats.org/markup-compatibility/2006">
              <mc:Choice xmlns:v="urn:schemas-microsoft-com:vml" Requires="v">
                <p:oleObj name="公式" r:id="rId2" imgW="2540000" imgH="431800" progId="Equation.3">
                  <p:embed/>
                </p:oleObj>
              </mc:Choice>
              <mc:Fallback>
                <p:oleObj name="公式" r:id="rId2" imgW="2540000" imgH="431800" progId="Equation.3">
                  <p:embed/>
                  <p:pic>
                    <p:nvPicPr>
                      <p:cNvPr id="48026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36913" y="2657476"/>
                        <a:ext cx="6661150" cy="13049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9882634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80259">
                                            <p:txEl>
                                              <p:pRg st="1" end="1"/>
                                            </p:txEl>
                                          </p:spTgt>
                                        </p:tgtEl>
                                        <p:attrNameLst>
                                          <p:attrName>style.visibility</p:attrName>
                                        </p:attrNameLst>
                                      </p:cBhvr>
                                      <p:to>
                                        <p:strVal val="visible"/>
                                      </p:to>
                                    </p:set>
                                    <p:animEffect transition="in" filter="wipe(left)">
                                      <p:cBhvr>
                                        <p:cTn id="7" dur="500"/>
                                        <p:tgtEl>
                                          <p:spTgt spid="480259">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80259">
                                            <p:txEl>
                                              <p:pRg st="2" end="2"/>
                                            </p:txEl>
                                          </p:spTgt>
                                        </p:tgtEl>
                                        <p:attrNameLst>
                                          <p:attrName>style.visibility</p:attrName>
                                        </p:attrNameLst>
                                      </p:cBhvr>
                                      <p:to>
                                        <p:strVal val="visible"/>
                                      </p:to>
                                    </p:set>
                                    <p:animEffect transition="in" filter="wipe(left)">
                                      <p:cBhvr>
                                        <p:cTn id="12" dur="500"/>
                                        <p:tgtEl>
                                          <p:spTgt spid="480259">
                                            <p:txEl>
                                              <p:pRg st="2" end="2"/>
                                            </p:txEl>
                                          </p:spTgt>
                                        </p:tgtEl>
                                      </p:cBhvr>
                                    </p:animEffect>
                                  </p:childTnLst>
                                </p:cTn>
                              </p:par>
                            </p:childTnLst>
                          </p:cTn>
                        </p:par>
                        <p:par>
                          <p:cTn id="13" fill="hold">
                            <p:stCondLst>
                              <p:cond delay="500"/>
                            </p:stCondLst>
                            <p:childTnLst>
                              <p:par>
                                <p:cTn id="14" presetID="22" presetClass="entr" presetSubtype="8" fill="hold" nodeType="afterEffect">
                                  <p:stCondLst>
                                    <p:cond delay="0"/>
                                  </p:stCondLst>
                                  <p:childTnLst>
                                    <p:set>
                                      <p:cBhvr>
                                        <p:cTn id="15" dur="1" fill="hold">
                                          <p:stCondLst>
                                            <p:cond delay="0"/>
                                          </p:stCondLst>
                                        </p:cTn>
                                        <p:tgtEl>
                                          <p:spTgt spid="480260"/>
                                        </p:tgtEl>
                                        <p:attrNameLst>
                                          <p:attrName>style.visibility</p:attrName>
                                        </p:attrNameLst>
                                      </p:cBhvr>
                                      <p:to>
                                        <p:strVal val="visible"/>
                                      </p:to>
                                    </p:set>
                                    <p:animEffect transition="in" filter="wipe(left)">
                                      <p:cBhvr>
                                        <p:cTn id="16" dur="2000"/>
                                        <p:tgtEl>
                                          <p:spTgt spid="480260"/>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480259">
                                            <p:txEl>
                                              <p:pRg st="5" end="5"/>
                                            </p:txEl>
                                          </p:spTgt>
                                        </p:tgtEl>
                                        <p:attrNameLst>
                                          <p:attrName>style.visibility</p:attrName>
                                        </p:attrNameLst>
                                      </p:cBhvr>
                                      <p:to>
                                        <p:strVal val="visible"/>
                                      </p:to>
                                    </p:set>
                                    <p:animEffect transition="in" filter="wipe(left)">
                                      <p:cBhvr>
                                        <p:cTn id="21" dur="500"/>
                                        <p:tgtEl>
                                          <p:spTgt spid="480259">
                                            <p:txEl>
                                              <p:pRg st="5" end="5"/>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480259">
                                            <p:txEl>
                                              <p:pRg st="6" end="6"/>
                                            </p:txEl>
                                          </p:spTgt>
                                        </p:tgtEl>
                                        <p:attrNameLst>
                                          <p:attrName>style.visibility</p:attrName>
                                        </p:attrNameLst>
                                      </p:cBhvr>
                                      <p:to>
                                        <p:strVal val="visible"/>
                                      </p:to>
                                    </p:set>
                                    <p:animEffect transition="in" filter="wipe(left)">
                                      <p:cBhvr>
                                        <p:cTn id="26" dur="500"/>
                                        <p:tgtEl>
                                          <p:spTgt spid="480259">
                                            <p:txEl>
                                              <p:pRg st="6" end="6"/>
                                            </p:txEl>
                                          </p:spTgt>
                                        </p:tgtEl>
                                      </p:cBhvr>
                                    </p:animEffect>
                                  </p:childTnLst>
                                </p:cTn>
                              </p:par>
                            </p:childTnLst>
                          </p:cTn>
                        </p:par>
                        <p:par>
                          <p:cTn id="27" fill="hold">
                            <p:stCondLst>
                              <p:cond delay="500"/>
                            </p:stCondLst>
                            <p:childTnLst>
                              <p:par>
                                <p:cTn id="28" presetID="22" presetClass="entr" presetSubtype="8" fill="hold" grpId="0" nodeType="afterEffect">
                                  <p:stCondLst>
                                    <p:cond delay="0"/>
                                  </p:stCondLst>
                                  <p:childTnLst>
                                    <p:set>
                                      <p:cBhvr>
                                        <p:cTn id="29" dur="1" fill="hold">
                                          <p:stCondLst>
                                            <p:cond delay="0"/>
                                          </p:stCondLst>
                                        </p:cTn>
                                        <p:tgtEl>
                                          <p:spTgt spid="480259">
                                            <p:txEl>
                                              <p:pRg st="7" end="7"/>
                                            </p:txEl>
                                          </p:spTgt>
                                        </p:tgtEl>
                                        <p:attrNameLst>
                                          <p:attrName>style.visibility</p:attrName>
                                        </p:attrNameLst>
                                      </p:cBhvr>
                                      <p:to>
                                        <p:strVal val="visible"/>
                                      </p:to>
                                    </p:set>
                                    <p:animEffect transition="in" filter="wipe(left)">
                                      <p:cBhvr>
                                        <p:cTn id="30" dur="500"/>
                                        <p:tgtEl>
                                          <p:spTgt spid="480259">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0259" grpId="0" build="p"/>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灯片编号占位符 5"/>
          <p:cNvSpPr>
            <a:spLocks noGrp="1"/>
          </p:cNvSpPr>
          <p:nvPr>
            <p:ph type="sldNum" sz="quarter" idx="4294967295"/>
          </p:nvPr>
        </p:nvSpPr>
        <p:spPr>
          <a:xfrm>
            <a:off x="9448800" y="6311900"/>
            <a:ext cx="2743200" cy="365125"/>
          </a:xfrm>
          <a:noFill/>
        </p:spPr>
        <p:txBody>
          <a:bodyPr/>
          <a:lstStyle/>
          <a:p>
            <a:r>
              <a:rPr lang="en-US" altLang="zh-CN">
                <a:ea typeface="宋体" pitchFamily="2" charset="-122"/>
              </a:rPr>
              <a:t>8--</a:t>
            </a:r>
            <a:fld id="{4C008E13-B1C4-4A8C-8975-41EE7BBADC99}" type="slidenum">
              <a:rPr lang="en-US" altLang="zh-CN" smtClean="0">
                <a:ea typeface="宋体" pitchFamily="2" charset="-122"/>
              </a:rPr>
              <a:pPr/>
              <a:t>64</a:t>
            </a:fld>
            <a:endParaRPr lang="en-US" altLang="zh-CN">
              <a:ea typeface="宋体" pitchFamily="2" charset="-122"/>
            </a:endParaRPr>
          </a:p>
        </p:txBody>
      </p:sp>
      <p:sp>
        <p:nvSpPr>
          <p:cNvPr id="95235" name="Rectangle 2"/>
          <p:cNvSpPr>
            <a:spLocks noGrp="1" noChangeArrowheads="1"/>
          </p:cNvSpPr>
          <p:nvPr>
            <p:ph type="title" idx="4294967295"/>
          </p:nvPr>
        </p:nvSpPr>
        <p:spPr>
          <a:xfrm>
            <a:off x="2138363" y="785811"/>
            <a:ext cx="7920037" cy="1277938"/>
          </a:xfrm>
        </p:spPr>
        <p:txBody>
          <a:bodyPr/>
          <a:lstStyle/>
          <a:p>
            <a:pPr eaLnBrk="1" hangingPunct="1"/>
            <a:r>
              <a:rPr lang="en-US" altLang="zh-CN" sz="4000" dirty="0"/>
              <a:t>【</a:t>
            </a:r>
            <a:r>
              <a:rPr lang="zh-CN" altLang="en-US" sz="4000" dirty="0"/>
              <a:t>附</a:t>
            </a:r>
            <a:r>
              <a:rPr lang="en-US" altLang="zh-CN" sz="4000" dirty="0"/>
              <a:t>】 </a:t>
            </a:r>
            <a:r>
              <a:rPr lang="zh-CN" altLang="en-US" sz="4000" dirty="0"/>
              <a:t>怎样提出假设</a:t>
            </a:r>
            <a:br>
              <a:rPr lang="zh-CN" altLang="en-US" sz="4000" dirty="0"/>
            </a:br>
            <a:r>
              <a:rPr lang="en-US" altLang="zh-CN" sz="4000" dirty="0"/>
              <a:t>(</a:t>
            </a:r>
            <a:r>
              <a:rPr lang="zh-CN" altLang="en-US" sz="3600" dirty="0">
                <a:solidFill>
                  <a:srgbClr val="000000"/>
                </a:solidFill>
                <a:latin typeface="Times New Roman" pitchFamily="18" charset="0"/>
              </a:rPr>
              <a:t>怎样提出原假设和备择假设？</a:t>
            </a:r>
            <a:r>
              <a:rPr lang="en-US" altLang="zh-CN" sz="4000" dirty="0"/>
              <a:t>)</a:t>
            </a:r>
          </a:p>
        </p:txBody>
      </p:sp>
      <p:sp>
        <p:nvSpPr>
          <p:cNvPr id="111619" name="Rectangle 3"/>
          <p:cNvSpPr>
            <a:spLocks noGrp="1" noChangeArrowheads="1"/>
          </p:cNvSpPr>
          <p:nvPr>
            <p:ph type="body" idx="4294967295"/>
          </p:nvPr>
        </p:nvSpPr>
        <p:spPr>
          <a:xfrm>
            <a:off x="1943100" y="2246312"/>
            <a:ext cx="7772400" cy="4248150"/>
          </a:xfrm>
        </p:spPr>
        <p:txBody>
          <a:bodyPr/>
          <a:lstStyle/>
          <a:p>
            <a:pPr marL="0" indent="0" algn="just">
              <a:lnSpc>
                <a:spcPct val="135000"/>
              </a:lnSpc>
              <a:buNone/>
            </a:pPr>
            <a:r>
              <a:rPr lang="en-US" altLang="zh-CN" dirty="0">
                <a:latin typeface="Times New Roman" pitchFamily="18" charset="0"/>
              </a:rPr>
              <a:t>(1) </a:t>
            </a:r>
            <a:r>
              <a:rPr lang="zh-CN" altLang="en-US" dirty="0">
                <a:latin typeface="Times New Roman" pitchFamily="18" charset="0"/>
              </a:rPr>
              <a:t>明确所要检验的总体参数是什么</a:t>
            </a:r>
          </a:p>
          <a:p>
            <a:pPr marL="0" indent="0" algn="just">
              <a:lnSpc>
                <a:spcPct val="135000"/>
              </a:lnSpc>
              <a:buNone/>
            </a:pPr>
            <a:r>
              <a:rPr lang="en-US" altLang="zh-CN" dirty="0">
                <a:latin typeface="Times New Roman" pitchFamily="18" charset="0"/>
              </a:rPr>
              <a:t>(2) </a:t>
            </a:r>
            <a:r>
              <a:rPr lang="zh-CN" altLang="en-US" dirty="0">
                <a:latin typeface="Times New Roman" pitchFamily="18" charset="0"/>
              </a:rPr>
              <a:t>根据研究问题确定假设的形式</a:t>
            </a:r>
            <a:r>
              <a:rPr lang="en-US" altLang="zh-CN" dirty="0">
                <a:latin typeface="Times New Roman" pitchFamily="18" charset="0"/>
              </a:rPr>
              <a:t>(</a:t>
            </a:r>
            <a:r>
              <a:rPr lang="zh-CN" altLang="en-US" dirty="0">
                <a:latin typeface="Times New Roman" pitchFamily="18" charset="0"/>
              </a:rPr>
              <a:t>类型</a:t>
            </a:r>
            <a:r>
              <a:rPr lang="en-US" altLang="zh-CN" dirty="0">
                <a:latin typeface="Times New Roman" pitchFamily="18" charset="0"/>
              </a:rPr>
              <a:t>)</a:t>
            </a:r>
          </a:p>
          <a:p>
            <a:pPr marL="971550" lvl="1" algn="just">
              <a:lnSpc>
                <a:spcPct val="135000"/>
              </a:lnSpc>
            </a:pPr>
            <a:r>
              <a:rPr lang="en-US" altLang="zh-CN" sz="2400" dirty="0">
                <a:latin typeface="Times New Roman" pitchFamily="18" charset="0"/>
              </a:rPr>
              <a:t>—</a:t>
            </a:r>
            <a:r>
              <a:rPr lang="zh-CN" altLang="en-US" sz="2400" dirty="0">
                <a:latin typeface="Times New Roman" pitchFamily="18" charset="0"/>
              </a:rPr>
              <a:t>双侧：关心总体参数与某值有无差异。</a:t>
            </a:r>
          </a:p>
          <a:p>
            <a:pPr marL="971550" lvl="1" algn="just">
              <a:lnSpc>
                <a:spcPct val="135000"/>
              </a:lnSpc>
            </a:pPr>
            <a:r>
              <a:rPr lang="en-US" altLang="zh-CN" sz="2400" dirty="0">
                <a:latin typeface="Times New Roman" pitchFamily="18" charset="0"/>
              </a:rPr>
              <a:t>—</a:t>
            </a:r>
            <a:r>
              <a:rPr lang="zh-CN" altLang="en-US" sz="2400" dirty="0">
                <a:latin typeface="Times New Roman" pitchFamily="18" charset="0"/>
              </a:rPr>
              <a:t>单侧：关心总体参数是否比某值偏大或偏小（不仅在乎有无差异，也关心差异的方向）</a:t>
            </a:r>
          </a:p>
        </p:txBody>
      </p:sp>
    </p:spTree>
    <p:extLst>
      <p:ext uri="{BB962C8B-B14F-4D97-AF65-F5344CB8AC3E}">
        <p14:creationId xmlns:p14="http://schemas.microsoft.com/office/powerpoint/2010/main" val="19556052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11619">
                                            <p:txEl>
                                              <p:pRg st="0" end="0"/>
                                            </p:txEl>
                                          </p:spTgt>
                                        </p:tgtEl>
                                        <p:attrNameLst>
                                          <p:attrName>style.visibility</p:attrName>
                                        </p:attrNameLst>
                                      </p:cBhvr>
                                      <p:to>
                                        <p:strVal val="visible"/>
                                      </p:to>
                                    </p:set>
                                    <p:animEffect transition="in" filter="box(in)">
                                      <p:cBhvr>
                                        <p:cTn id="7" dur="500"/>
                                        <p:tgtEl>
                                          <p:spTgt spid="11161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111619">
                                            <p:txEl>
                                              <p:pRg st="1" end="1"/>
                                            </p:txEl>
                                          </p:spTgt>
                                        </p:tgtEl>
                                        <p:attrNameLst>
                                          <p:attrName>style.visibility</p:attrName>
                                        </p:attrNameLst>
                                      </p:cBhvr>
                                      <p:to>
                                        <p:strVal val="visible"/>
                                      </p:to>
                                    </p:set>
                                    <p:animEffect transition="in" filter="box(in)">
                                      <p:cBhvr>
                                        <p:cTn id="12" dur="500"/>
                                        <p:tgtEl>
                                          <p:spTgt spid="111619">
                                            <p:txEl>
                                              <p:pRg st="1" end="1"/>
                                            </p:txEl>
                                          </p:spTgt>
                                        </p:tgtEl>
                                      </p:cBhvr>
                                    </p:animEffect>
                                  </p:childTnLst>
                                </p:cTn>
                              </p:par>
                              <p:par>
                                <p:cTn id="13" presetID="4" presetClass="entr" presetSubtype="16" fill="hold" grpId="0" nodeType="withEffect">
                                  <p:stCondLst>
                                    <p:cond delay="0"/>
                                  </p:stCondLst>
                                  <p:childTnLst>
                                    <p:set>
                                      <p:cBhvr>
                                        <p:cTn id="14" dur="1" fill="hold">
                                          <p:stCondLst>
                                            <p:cond delay="0"/>
                                          </p:stCondLst>
                                        </p:cTn>
                                        <p:tgtEl>
                                          <p:spTgt spid="111619">
                                            <p:txEl>
                                              <p:pRg st="2" end="2"/>
                                            </p:txEl>
                                          </p:spTgt>
                                        </p:tgtEl>
                                        <p:attrNameLst>
                                          <p:attrName>style.visibility</p:attrName>
                                        </p:attrNameLst>
                                      </p:cBhvr>
                                      <p:to>
                                        <p:strVal val="visible"/>
                                      </p:to>
                                    </p:set>
                                    <p:animEffect transition="in" filter="box(in)">
                                      <p:cBhvr>
                                        <p:cTn id="15" dur="500"/>
                                        <p:tgtEl>
                                          <p:spTgt spid="111619">
                                            <p:txEl>
                                              <p:pRg st="2" end="2"/>
                                            </p:txEl>
                                          </p:spTgt>
                                        </p:tgtEl>
                                      </p:cBhvr>
                                    </p:animEffect>
                                  </p:childTnLst>
                                </p:cTn>
                              </p:par>
                              <p:par>
                                <p:cTn id="16" presetID="4" presetClass="entr" presetSubtype="16" fill="hold" grpId="0" nodeType="withEffect">
                                  <p:stCondLst>
                                    <p:cond delay="0"/>
                                  </p:stCondLst>
                                  <p:childTnLst>
                                    <p:set>
                                      <p:cBhvr>
                                        <p:cTn id="17" dur="1" fill="hold">
                                          <p:stCondLst>
                                            <p:cond delay="0"/>
                                          </p:stCondLst>
                                        </p:cTn>
                                        <p:tgtEl>
                                          <p:spTgt spid="111619">
                                            <p:txEl>
                                              <p:pRg st="3" end="3"/>
                                            </p:txEl>
                                          </p:spTgt>
                                        </p:tgtEl>
                                        <p:attrNameLst>
                                          <p:attrName>style.visibility</p:attrName>
                                        </p:attrNameLst>
                                      </p:cBhvr>
                                      <p:to>
                                        <p:strVal val="visible"/>
                                      </p:to>
                                    </p:set>
                                    <p:animEffect transition="in" filter="box(in)">
                                      <p:cBhvr>
                                        <p:cTn id="18" dur="500"/>
                                        <p:tgtEl>
                                          <p:spTgt spid="11161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619" grpId="0" build="p"/>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灯片编号占位符 5"/>
          <p:cNvSpPr>
            <a:spLocks noGrp="1"/>
          </p:cNvSpPr>
          <p:nvPr>
            <p:ph type="sldNum" sz="quarter" idx="4294967295"/>
          </p:nvPr>
        </p:nvSpPr>
        <p:spPr>
          <a:xfrm>
            <a:off x="9448800" y="6311900"/>
            <a:ext cx="2743200" cy="365125"/>
          </a:xfrm>
          <a:noFill/>
        </p:spPr>
        <p:txBody>
          <a:bodyPr/>
          <a:lstStyle/>
          <a:p>
            <a:r>
              <a:rPr lang="en-US" altLang="zh-CN">
                <a:ea typeface="宋体" pitchFamily="2" charset="-122"/>
              </a:rPr>
              <a:t>8--</a:t>
            </a:r>
            <a:fld id="{B27C18CB-C477-4DDB-B242-00E32ABD8D97}" type="slidenum">
              <a:rPr lang="en-US" altLang="zh-CN" smtClean="0">
                <a:ea typeface="宋体" pitchFamily="2" charset="-122"/>
              </a:rPr>
              <a:pPr/>
              <a:t>65</a:t>
            </a:fld>
            <a:endParaRPr lang="en-US" altLang="zh-CN">
              <a:ea typeface="宋体" pitchFamily="2" charset="-122"/>
            </a:endParaRPr>
          </a:p>
        </p:txBody>
      </p:sp>
      <p:sp>
        <p:nvSpPr>
          <p:cNvPr id="96259" name="Rectangle 2"/>
          <p:cNvSpPr>
            <a:spLocks noGrp="1" noChangeArrowheads="1"/>
          </p:cNvSpPr>
          <p:nvPr>
            <p:ph type="title" idx="4294967295"/>
          </p:nvPr>
        </p:nvSpPr>
        <p:spPr>
          <a:xfrm>
            <a:off x="2514600" y="141288"/>
            <a:ext cx="7772400" cy="990600"/>
          </a:xfrm>
        </p:spPr>
        <p:txBody>
          <a:bodyPr>
            <a:normAutofit/>
          </a:bodyPr>
          <a:lstStyle/>
          <a:p>
            <a:pPr eaLnBrk="1" hangingPunct="1"/>
            <a:r>
              <a:rPr lang="zh-CN" altLang="en-US" sz="3600" b="0" dirty="0"/>
              <a:t>怎样提出假设（</a:t>
            </a:r>
            <a:r>
              <a:rPr lang="zh-CN" altLang="en-US" sz="3600" dirty="0"/>
              <a:t>续</a:t>
            </a:r>
            <a:r>
              <a:rPr lang="zh-CN" altLang="en-US" sz="3600" b="0" dirty="0"/>
              <a:t>）</a:t>
            </a:r>
          </a:p>
        </p:txBody>
      </p:sp>
      <p:sp>
        <p:nvSpPr>
          <p:cNvPr id="113667" name="Rectangle 3"/>
          <p:cNvSpPr>
            <a:spLocks noGrp="1" noChangeArrowheads="1"/>
          </p:cNvSpPr>
          <p:nvPr>
            <p:ph type="body" idx="4294967295"/>
          </p:nvPr>
        </p:nvSpPr>
        <p:spPr>
          <a:xfrm>
            <a:off x="1828800" y="1312863"/>
            <a:ext cx="8353425" cy="5545137"/>
          </a:xfrm>
        </p:spPr>
        <p:txBody>
          <a:bodyPr/>
          <a:lstStyle/>
          <a:p>
            <a:pPr marL="0" indent="0">
              <a:lnSpc>
                <a:spcPct val="120000"/>
              </a:lnSpc>
              <a:buNone/>
            </a:pPr>
            <a:r>
              <a:rPr lang="en-US" altLang="zh-CN" sz="3600" dirty="0">
                <a:latin typeface="Times New Roman" pitchFamily="18" charset="0"/>
              </a:rPr>
              <a:t>(3) </a:t>
            </a:r>
            <a:r>
              <a:rPr lang="zh-CN" altLang="en-US" sz="3600" dirty="0">
                <a:latin typeface="Times New Roman" pitchFamily="18" charset="0"/>
              </a:rPr>
              <a:t>采用左侧还是右侧</a:t>
            </a:r>
            <a:r>
              <a:rPr lang="en-US" altLang="zh-CN" sz="3600" dirty="0">
                <a:latin typeface="Times New Roman" pitchFamily="18" charset="0"/>
              </a:rPr>
              <a:t>?</a:t>
            </a:r>
          </a:p>
          <a:p>
            <a:pPr marL="514350" lvl="1" indent="0">
              <a:lnSpc>
                <a:spcPct val="120000"/>
              </a:lnSpc>
              <a:buNone/>
            </a:pPr>
            <a:r>
              <a:rPr lang="en-US" altLang="zh-CN" sz="3200" dirty="0">
                <a:solidFill>
                  <a:srgbClr val="7030A0"/>
                </a:solidFill>
                <a:latin typeface="Times New Roman" pitchFamily="18" charset="0"/>
              </a:rPr>
              <a:t>(a) </a:t>
            </a:r>
            <a:r>
              <a:rPr lang="zh-CN" altLang="en-US" sz="3200" dirty="0">
                <a:solidFill>
                  <a:srgbClr val="7030A0"/>
                </a:solidFill>
                <a:latin typeface="Times New Roman" pitchFamily="18" charset="0"/>
              </a:rPr>
              <a:t>本着“保守”或“不轻易拒绝 </a:t>
            </a:r>
            <a:r>
              <a:rPr lang="en-US" altLang="zh-CN" sz="2400" i="1" dirty="0">
                <a:solidFill>
                  <a:srgbClr val="7030A0"/>
                </a:solidFill>
              </a:rPr>
              <a:t>H</a:t>
            </a:r>
            <a:r>
              <a:rPr lang="en-US" altLang="zh-CN" sz="2400" i="1" baseline="-25000" dirty="0">
                <a:solidFill>
                  <a:srgbClr val="7030A0"/>
                </a:solidFill>
                <a:latin typeface="Times New Roman" pitchFamily="18" charset="0"/>
              </a:rPr>
              <a:t>0</a:t>
            </a:r>
            <a:r>
              <a:rPr lang="en-US" altLang="zh-CN" sz="2400" dirty="0">
                <a:solidFill>
                  <a:srgbClr val="7030A0"/>
                </a:solidFill>
                <a:latin typeface="Times New Roman" pitchFamily="18" charset="0"/>
              </a:rPr>
              <a:t> </a:t>
            </a:r>
            <a:r>
              <a:rPr lang="en-US" altLang="zh-CN" sz="3200" dirty="0">
                <a:solidFill>
                  <a:srgbClr val="7030A0"/>
                </a:solidFill>
                <a:latin typeface="Times New Roman" pitchFamily="18" charset="0"/>
              </a:rPr>
              <a:t>”</a:t>
            </a:r>
            <a:r>
              <a:rPr lang="zh-CN" altLang="en-US" sz="3200" dirty="0">
                <a:solidFill>
                  <a:srgbClr val="7030A0"/>
                </a:solidFill>
                <a:latin typeface="Times New Roman" pitchFamily="18" charset="0"/>
              </a:rPr>
              <a:t>的原则</a:t>
            </a:r>
          </a:p>
          <a:p>
            <a:pPr marL="1314450" lvl="2" algn="just">
              <a:lnSpc>
                <a:spcPct val="120000"/>
              </a:lnSpc>
            </a:pPr>
            <a:r>
              <a:rPr lang="en-US" altLang="zh-CN" i="1" dirty="0">
                <a:solidFill>
                  <a:srgbClr val="CC0099"/>
                </a:solidFill>
              </a:rPr>
              <a:t>H</a:t>
            </a:r>
            <a:r>
              <a:rPr lang="en-US" altLang="zh-CN" i="1" baseline="-25000" dirty="0">
                <a:solidFill>
                  <a:srgbClr val="CC0099"/>
                </a:solidFill>
                <a:latin typeface="Times New Roman" pitchFamily="18" charset="0"/>
              </a:rPr>
              <a:t>0 </a:t>
            </a:r>
            <a:r>
              <a:rPr lang="zh-CN" altLang="en-US" sz="2800" dirty="0">
                <a:solidFill>
                  <a:srgbClr val="000000"/>
                </a:solidFill>
                <a:latin typeface="Times New Roman" pitchFamily="18" charset="0"/>
              </a:rPr>
              <a:t>代表一种久以存在的状态，一般是理论设计或是以前大量资料所证明了的。</a:t>
            </a:r>
            <a:endParaRPr lang="en-US" altLang="zh-CN" sz="2800" dirty="0">
              <a:solidFill>
                <a:srgbClr val="000000"/>
              </a:solidFill>
              <a:latin typeface="Times New Roman" pitchFamily="18" charset="0"/>
            </a:endParaRPr>
          </a:p>
          <a:p>
            <a:pPr marL="1314450" lvl="2" algn="just">
              <a:lnSpc>
                <a:spcPct val="120000"/>
              </a:lnSpc>
            </a:pPr>
            <a:r>
              <a:rPr lang="zh-CN" altLang="en-US" sz="2800" dirty="0">
                <a:solidFill>
                  <a:srgbClr val="000000"/>
                </a:solidFill>
                <a:latin typeface="Times New Roman" pitchFamily="18" charset="0"/>
              </a:rPr>
              <a:t>拒绝</a:t>
            </a:r>
            <a:r>
              <a:rPr lang="en-US" altLang="zh-CN" sz="2800" i="1" dirty="0">
                <a:solidFill>
                  <a:srgbClr val="000000"/>
                </a:solidFill>
              </a:rPr>
              <a:t>H</a:t>
            </a:r>
            <a:r>
              <a:rPr lang="en-US" altLang="zh-CN" sz="2800" i="1" baseline="-25000" dirty="0">
                <a:solidFill>
                  <a:srgbClr val="000000"/>
                </a:solidFill>
                <a:latin typeface="Times New Roman" pitchFamily="18" charset="0"/>
              </a:rPr>
              <a:t>0 </a:t>
            </a:r>
            <a:r>
              <a:rPr lang="zh-CN" altLang="en-US" sz="2800" dirty="0">
                <a:solidFill>
                  <a:srgbClr val="000000"/>
                </a:solidFill>
                <a:latin typeface="Times New Roman" pitchFamily="18" charset="0"/>
              </a:rPr>
              <a:t>时所犯错误的概率</a:t>
            </a:r>
            <a:r>
              <a:rPr lang="en-US" altLang="zh-CN" sz="2800" dirty="0">
                <a:solidFill>
                  <a:srgbClr val="000000"/>
                </a:solidFill>
                <a:latin typeface="Times New Roman" pitchFamily="18" charset="0"/>
              </a:rPr>
              <a:t>α</a:t>
            </a:r>
            <a:r>
              <a:rPr lang="zh-CN" altLang="en-US" sz="2800" dirty="0">
                <a:solidFill>
                  <a:srgbClr val="000000"/>
                </a:solidFill>
                <a:latin typeface="Times New Roman" pitchFamily="18" charset="0"/>
              </a:rPr>
              <a:t>是受控制的、明确的、通常是很小的，说明</a:t>
            </a:r>
            <a:r>
              <a:rPr lang="en-US" altLang="zh-CN" sz="2800" i="1" dirty="0">
                <a:solidFill>
                  <a:srgbClr val="000000"/>
                </a:solidFill>
              </a:rPr>
              <a:t>H</a:t>
            </a:r>
            <a:r>
              <a:rPr lang="en-US" altLang="zh-CN" sz="2800" i="1" baseline="-25000" dirty="0">
                <a:solidFill>
                  <a:srgbClr val="000000"/>
                </a:solidFill>
                <a:latin typeface="Times New Roman" pitchFamily="18" charset="0"/>
              </a:rPr>
              <a:t>0 </a:t>
            </a:r>
            <a:r>
              <a:rPr lang="zh-CN" altLang="en-US" sz="2800" dirty="0">
                <a:solidFill>
                  <a:srgbClr val="000000"/>
                </a:solidFill>
                <a:latin typeface="Times New Roman" pitchFamily="18" charset="0"/>
              </a:rPr>
              <a:t>是受保护的，不至于轻易被否定。</a:t>
            </a:r>
          </a:p>
        </p:txBody>
      </p:sp>
    </p:spTree>
    <p:extLst>
      <p:ext uri="{BB962C8B-B14F-4D97-AF65-F5344CB8AC3E}">
        <p14:creationId xmlns:p14="http://schemas.microsoft.com/office/powerpoint/2010/main" val="5967511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113667">
                                            <p:txEl>
                                              <p:pRg st="1" end="1"/>
                                            </p:txEl>
                                          </p:spTgt>
                                        </p:tgtEl>
                                        <p:attrNameLst>
                                          <p:attrName>style.visibility</p:attrName>
                                        </p:attrNameLst>
                                      </p:cBhvr>
                                      <p:to>
                                        <p:strVal val="visible"/>
                                      </p:to>
                                    </p:set>
                                    <p:animEffect transition="in" filter="diamond(in)">
                                      <p:cBhvr>
                                        <p:cTn id="7" dur="2000"/>
                                        <p:tgtEl>
                                          <p:spTgt spid="113667">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grpId="0" nodeType="clickEffect">
                                  <p:stCondLst>
                                    <p:cond delay="0"/>
                                  </p:stCondLst>
                                  <p:childTnLst>
                                    <p:set>
                                      <p:cBhvr>
                                        <p:cTn id="11" dur="1" fill="hold">
                                          <p:stCondLst>
                                            <p:cond delay="0"/>
                                          </p:stCondLst>
                                        </p:cTn>
                                        <p:tgtEl>
                                          <p:spTgt spid="113667">
                                            <p:txEl>
                                              <p:pRg st="2" end="2"/>
                                            </p:txEl>
                                          </p:spTgt>
                                        </p:tgtEl>
                                        <p:attrNameLst>
                                          <p:attrName>style.visibility</p:attrName>
                                        </p:attrNameLst>
                                      </p:cBhvr>
                                      <p:to>
                                        <p:strVal val="visible"/>
                                      </p:to>
                                    </p:set>
                                    <p:animEffect transition="in" filter="diamond(in)">
                                      <p:cBhvr>
                                        <p:cTn id="12" dur="2000"/>
                                        <p:tgtEl>
                                          <p:spTgt spid="113667">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8" presetClass="entr" presetSubtype="16" fill="hold" grpId="0" nodeType="clickEffect">
                                  <p:stCondLst>
                                    <p:cond delay="0"/>
                                  </p:stCondLst>
                                  <p:childTnLst>
                                    <p:set>
                                      <p:cBhvr>
                                        <p:cTn id="16" dur="1" fill="hold">
                                          <p:stCondLst>
                                            <p:cond delay="0"/>
                                          </p:stCondLst>
                                        </p:cTn>
                                        <p:tgtEl>
                                          <p:spTgt spid="113667">
                                            <p:txEl>
                                              <p:pRg st="3" end="3"/>
                                            </p:txEl>
                                          </p:spTgt>
                                        </p:tgtEl>
                                        <p:attrNameLst>
                                          <p:attrName>style.visibility</p:attrName>
                                        </p:attrNameLst>
                                      </p:cBhvr>
                                      <p:to>
                                        <p:strVal val="visible"/>
                                      </p:to>
                                    </p:set>
                                    <p:animEffect transition="in" filter="diamond(in)">
                                      <p:cBhvr>
                                        <p:cTn id="17" dur="2000"/>
                                        <p:tgtEl>
                                          <p:spTgt spid="11366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667" grpId="0" build="p" bldLvl="3"/>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灯片编号占位符 5"/>
          <p:cNvSpPr>
            <a:spLocks noGrp="1"/>
          </p:cNvSpPr>
          <p:nvPr>
            <p:ph type="sldNum" sz="quarter" idx="4294967295"/>
          </p:nvPr>
        </p:nvSpPr>
        <p:spPr>
          <a:xfrm>
            <a:off x="9448800" y="6311900"/>
            <a:ext cx="2743200" cy="365125"/>
          </a:xfrm>
          <a:noFill/>
        </p:spPr>
        <p:txBody>
          <a:bodyPr/>
          <a:lstStyle/>
          <a:p>
            <a:r>
              <a:rPr lang="en-US" altLang="zh-CN">
                <a:ea typeface="宋体" pitchFamily="2" charset="-122"/>
              </a:rPr>
              <a:t>8--</a:t>
            </a:r>
            <a:fld id="{BAEB6D50-0869-4D80-9CFF-62B80DF36A05}" type="slidenum">
              <a:rPr lang="en-US" altLang="zh-CN" smtClean="0">
                <a:ea typeface="宋体" pitchFamily="2" charset="-122"/>
              </a:rPr>
              <a:pPr/>
              <a:t>66</a:t>
            </a:fld>
            <a:endParaRPr lang="en-US" altLang="zh-CN">
              <a:ea typeface="宋体" pitchFamily="2" charset="-122"/>
            </a:endParaRPr>
          </a:p>
        </p:txBody>
      </p:sp>
      <p:sp>
        <p:nvSpPr>
          <p:cNvPr id="97283" name="Rectangle 2"/>
          <p:cNvSpPr>
            <a:spLocks noGrp="1" noChangeArrowheads="1"/>
          </p:cNvSpPr>
          <p:nvPr>
            <p:ph type="title" idx="4294967295"/>
          </p:nvPr>
        </p:nvSpPr>
        <p:spPr>
          <a:xfrm>
            <a:off x="2070100" y="527050"/>
            <a:ext cx="8750300" cy="663575"/>
          </a:xfrm>
        </p:spPr>
        <p:txBody>
          <a:bodyPr>
            <a:normAutofit/>
          </a:bodyPr>
          <a:lstStyle/>
          <a:p>
            <a:pPr eaLnBrk="1" hangingPunct="1"/>
            <a:r>
              <a:rPr lang="zh-CN" altLang="en-US" sz="3600" b="0" dirty="0"/>
              <a:t>怎样提出假设（</a:t>
            </a:r>
            <a:r>
              <a:rPr lang="zh-CN" altLang="en-US" sz="3600" dirty="0"/>
              <a:t>续</a:t>
            </a:r>
            <a:r>
              <a:rPr lang="zh-CN" altLang="en-US" sz="3600" b="0" dirty="0"/>
              <a:t>）</a:t>
            </a:r>
            <a:endParaRPr lang="zh-CN" altLang="en-US" sz="3600" dirty="0"/>
          </a:p>
        </p:txBody>
      </p:sp>
      <p:sp>
        <p:nvSpPr>
          <p:cNvPr id="114691" name="Rectangle 3"/>
          <p:cNvSpPr>
            <a:spLocks noGrp="1" noChangeArrowheads="1"/>
          </p:cNvSpPr>
          <p:nvPr>
            <p:ph type="body" idx="4294967295"/>
          </p:nvPr>
        </p:nvSpPr>
        <p:spPr>
          <a:xfrm>
            <a:off x="1816100" y="1450975"/>
            <a:ext cx="8132763" cy="4752975"/>
          </a:xfrm>
        </p:spPr>
        <p:txBody>
          <a:bodyPr/>
          <a:lstStyle/>
          <a:p>
            <a:pPr marL="571500" indent="-571500" algn="just">
              <a:lnSpc>
                <a:spcPct val="120000"/>
              </a:lnSpc>
              <a:buNone/>
            </a:pPr>
            <a:r>
              <a:rPr lang="zh-CN" altLang="en-US" dirty="0">
                <a:solidFill>
                  <a:srgbClr val="CC0099"/>
                </a:solidFill>
                <a:latin typeface="Times New Roman" pitchFamily="18" charset="0"/>
              </a:rPr>
              <a:t>假设检验与对被告是否犯罪的审判很相似</a:t>
            </a:r>
            <a:r>
              <a:rPr lang="en-US" altLang="zh-CN" dirty="0">
                <a:solidFill>
                  <a:srgbClr val="CC0099"/>
                </a:solidFill>
                <a:latin typeface="Times New Roman" pitchFamily="18" charset="0"/>
              </a:rPr>
              <a:t>—</a:t>
            </a:r>
          </a:p>
          <a:p>
            <a:pPr marL="971550" lvl="1" algn="just">
              <a:lnSpc>
                <a:spcPct val="120000"/>
              </a:lnSpc>
            </a:pPr>
            <a:r>
              <a:rPr lang="zh-CN" altLang="en-US" dirty="0">
                <a:solidFill>
                  <a:srgbClr val="0070C0"/>
                </a:solidFill>
                <a:latin typeface="Times New Roman" pitchFamily="18" charset="0"/>
              </a:rPr>
              <a:t>原假设：被告是清白的</a:t>
            </a:r>
            <a:r>
              <a:rPr lang="en-US" altLang="zh-CN" dirty="0">
                <a:latin typeface="Times New Roman" pitchFamily="18" charset="0"/>
              </a:rPr>
              <a:t>——</a:t>
            </a:r>
            <a:r>
              <a:rPr lang="zh-CN" altLang="en-US" dirty="0">
                <a:latin typeface="Times New Roman" pitchFamily="18" charset="0"/>
              </a:rPr>
              <a:t>无罪推定的原则</a:t>
            </a:r>
          </a:p>
          <a:p>
            <a:pPr marL="971550" lvl="1" algn="just">
              <a:lnSpc>
                <a:spcPct val="120000"/>
              </a:lnSpc>
            </a:pPr>
            <a:r>
              <a:rPr lang="zh-CN" altLang="en-US" dirty="0">
                <a:solidFill>
                  <a:srgbClr val="0070C0"/>
                </a:solidFill>
                <a:latin typeface="Times New Roman" pitchFamily="18" charset="0"/>
              </a:rPr>
              <a:t>备择假设：被告是有罪的。</a:t>
            </a:r>
          </a:p>
          <a:p>
            <a:pPr marL="1314450" lvl="2" algn="just">
              <a:lnSpc>
                <a:spcPct val="120000"/>
              </a:lnSpc>
            </a:pPr>
            <a:r>
              <a:rPr lang="zh-CN" altLang="en-US" sz="2800" dirty="0">
                <a:latin typeface="Times New Roman" pitchFamily="18" charset="0"/>
              </a:rPr>
              <a:t>本着不轻易冤枉人的原则进行审判。</a:t>
            </a:r>
          </a:p>
          <a:p>
            <a:pPr marL="1314450" lvl="2" algn="just">
              <a:lnSpc>
                <a:spcPct val="120000"/>
              </a:lnSpc>
            </a:pPr>
            <a:r>
              <a:rPr lang="zh-CN" altLang="en-US" sz="2800" dirty="0">
                <a:latin typeface="Times New Roman" pitchFamily="18" charset="0"/>
              </a:rPr>
              <a:t>样本信息就象所获取的证据和证词。</a:t>
            </a:r>
          </a:p>
          <a:p>
            <a:pPr marL="1314450" lvl="2" algn="just">
              <a:lnSpc>
                <a:spcPct val="120000"/>
              </a:lnSpc>
            </a:pPr>
            <a:r>
              <a:rPr lang="zh-CN" altLang="en-US" sz="2800" dirty="0">
                <a:latin typeface="Times New Roman" pitchFamily="18" charset="0"/>
              </a:rPr>
              <a:t>当判有罪时，必须有充足的证据或理由；当证据不足时，只能判无罪或重新搜集新的证据。</a:t>
            </a:r>
          </a:p>
        </p:txBody>
      </p:sp>
    </p:spTree>
    <p:extLst>
      <p:ext uri="{BB962C8B-B14F-4D97-AF65-F5344CB8AC3E}">
        <p14:creationId xmlns:p14="http://schemas.microsoft.com/office/powerpoint/2010/main" val="12624692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14691">
                                            <p:txEl>
                                              <p:pRg st="1" end="1"/>
                                            </p:txEl>
                                          </p:spTgt>
                                        </p:tgtEl>
                                        <p:attrNameLst>
                                          <p:attrName>style.visibility</p:attrName>
                                        </p:attrNameLst>
                                      </p:cBhvr>
                                      <p:to>
                                        <p:strVal val="visible"/>
                                      </p:to>
                                    </p:set>
                                    <p:animEffect transition="in" filter="blinds(horizontal)">
                                      <p:cBhvr>
                                        <p:cTn id="7" dur="500"/>
                                        <p:tgtEl>
                                          <p:spTgt spid="114691">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14691">
                                            <p:txEl>
                                              <p:pRg st="2" end="2"/>
                                            </p:txEl>
                                          </p:spTgt>
                                        </p:tgtEl>
                                        <p:attrNameLst>
                                          <p:attrName>style.visibility</p:attrName>
                                        </p:attrNameLst>
                                      </p:cBhvr>
                                      <p:to>
                                        <p:strVal val="visible"/>
                                      </p:to>
                                    </p:set>
                                    <p:animEffect transition="in" filter="blinds(horizontal)">
                                      <p:cBhvr>
                                        <p:cTn id="12" dur="500"/>
                                        <p:tgtEl>
                                          <p:spTgt spid="114691">
                                            <p:txEl>
                                              <p:pRg st="2" end="2"/>
                                            </p:txEl>
                                          </p:spTgt>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114691">
                                            <p:txEl>
                                              <p:pRg st="3" end="3"/>
                                            </p:txEl>
                                          </p:spTgt>
                                        </p:tgtEl>
                                        <p:attrNameLst>
                                          <p:attrName>style.visibility</p:attrName>
                                        </p:attrNameLst>
                                      </p:cBhvr>
                                      <p:to>
                                        <p:strVal val="visible"/>
                                      </p:to>
                                    </p:set>
                                    <p:animEffect transition="in" filter="blinds(horizontal)">
                                      <p:cBhvr>
                                        <p:cTn id="15" dur="500"/>
                                        <p:tgtEl>
                                          <p:spTgt spid="114691">
                                            <p:txEl>
                                              <p:pRg st="3" end="3"/>
                                            </p:txEl>
                                          </p:spTgt>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114691">
                                            <p:txEl>
                                              <p:pRg st="4" end="4"/>
                                            </p:txEl>
                                          </p:spTgt>
                                        </p:tgtEl>
                                        <p:attrNameLst>
                                          <p:attrName>style.visibility</p:attrName>
                                        </p:attrNameLst>
                                      </p:cBhvr>
                                      <p:to>
                                        <p:strVal val="visible"/>
                                      </p:to>
                                    </p:set>
                                    <p:animEffect transition="in" filter="blinds(horizontal)">
                                      <p:cBhvr>
                                        <p:cTn id="18" dur="500"/>
                                        <p:tgtEl>
                                          <p:spTgt spid="114691">
                                            <p:txEl>
                                              <p:pRg st="4" end="4"/>
                                            </p:txEl>
                                          </p:spTgt>
                                        </p:tgtEl>
                                      </p:cBhvr>
                                    </p:animEffect>
                                  </p:childTnLst>
                                </p:cTn>
                              </p:par>
                              <p:par>
                                <p:cTn id="19" presetID="3" presetClass="entr" presetSubtype="10" fill="hold" grpId="0" nodeType="withEffect">
                                  <p:stCondLst>
                                    <p:cond delay="0"/>
                                  </p:stCondLst>
                                  <p:childTnLst>
                                    <p:set>
                                      <p:cBhvr>
                                        <p:cTn id="20" dur="1" fill="hold">
                                          <p:stCondLst>
                                            <p:cond delay="0"/>
                                          </p:stCondLst>
                                        </p:cTn>
                                        <p:tgtEl>
                                          <p:spTgt spid="114691">
                                            <p:txEl>
                                              <p:pRg st="5" end="5"/>
                                            </p:txEl>
                                          </p:spTgt>
                                        </p:tgtEl>
                                        <p:attrNameLst>
                                          <p:attrName>style.visibility</p:attrName>
                                        </p:attrNameLst>
                                      </p:cBhvr>
                                      <p:to>
                                        <p:strVal val="visible"/>
                                      </p:to>
                                    </p:set>
                                    <p:animEffect transition="in" filter="blinds(horizontal)">
                                      <p:cBhvr>
                                        <p:cTn id="21" dur="500"/>
                                        <p:tgtEl>
                                          <p:spTgt spid="114691">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691" grpId="0" build="p" bldLvl="2"/>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灯片编号占位符 5"/>
          <p:cNvSpPr>
            <a:spLocks noGrp="1"/>
          </p:cNvSpPr>
          <p:nvPr>
            <p:ph type="sldNum" sz="quarter" idx="4294967295"/>
          </p:nvPr>
        </p:nvSpPr>
        <p:spPr>
          <a:xfrm>
            <a:off x="9448800" y="6311900"/>
            <a:ext cx="2743200" cy="365125"/>
          </a:xfrm>
          <a:noFill/>
        </p:spPr>
        <p:txBody>
          <a:bodyPr/>
          <a:lstStyle/>
          <a:p>
            <a:r>
              <a:rPr lang="en-US" altLang="zh-CN">
                <a:ea typeface="宋体" pitchFamily="2" charset="-122"/>
              </a:rPr>
              <a:t>8--</a:t>
            </a:r>
            <a:fld id="{2AF2BF31-812B-4B7C-9C14-12F19B72E724}" type="slidenum">
              <a:rPr lang="en-US" altLang="zh-CN" smtClean="0">
                <a:ea typeface="宋体" pitchFamily="2" charset="-122"/>
              </a:rPr>
              <a:pPr/>
              <a:t>67</a:t>
            </a:fld>
            <a:endParaRPr lang="en-US" altLang="zh-CN">
              <a:ea typeface="宋体" pitchFamily="2" charset="-122"/>
            </a:endParaRPr>
          </a:p>
        </p:txBody>
      </p:sp>
      <p:sp>
        <p:nvSpPr>
          <p:cNvPr id="98307" name="Rectangle 2"/>
          <p:cNvSpPr>
            <a:spLocks noGrp="1" noChangeArrowheads="1"/>
          </p:cNvSpPr>
          <p:nvPr>
            <p:ph type="title" idx="4294967295"/>
          </p:nvPr>
        </p:nvSpPr>
        <p:spPr>
          <a:xfrm>
            <a:off x="2286000" y="696913"/>
            <a:ext cx="8534400" cy="663575"/>
          </a:xfrm>
        </p:spPr>
        <p:txBody>
          <a:bodyPr>
            <a:normAutofit/>
          </a:bodyPr>
          <a:lstStyle/>
          <a:p>
            <a:pPr eaLnBrk="1" hangingPunct="1"/>
            <a:r>
              <a:rPr lang="zh-CN" altLang="en-US" sz="3600" b="0" dirty="0"/>
              <a:t>怎样提出假设（</a:t>
            </a:r>
            <a:r>
              <a:rPr lang="zh-CN" altLang="en-US" sz="3600" dirty="0"/>
              <a:t>续</a:t>
            </a:r>
            <a:r>
              <a:rPr lang="zh-CN" altLang="en-US" sz="3600" b="0" dirty="0"/>
              <a:t>）</a:t>
            </a:r>
            <a:endParaRPr lang="zh-CN" altLang="en-US" sz="3600" dirty="0"/>
          </a:p>
        </p:txBody>
      </p:sp>
      <p:sp>
        <p:nvSpPr>
          <p:cNvPr id="98308" name="Rectangle 3"/>
          <p:cNvSpPr>
            <a:spLocks noGrp="1" noChangeArrowheads="1"/>
          </p:cNvSpPr>
          <p:nvPr>
            <p:ph type="body" idx="4294967295"/>
          </p:nvPr>
        </p:nvSpPr>
        <p:spPr>
          <a:xfrm>
            <a:off x="2019300" y="1519238"/>
            <a:ext cx="7772400" cy="4475162"/>
          </a:xfrm>
        </p:spPr>
        <p:txBody>
          <a:bodyPr/>
          <a:lstStyle/>
          <a:p>
            <a:pPr marL="571500" indent="-571500" algn="just">
              <a:lnSpc>
                <a:spcPct val="120000"/>
              </a:lnSpc>
            </a:pPr>
            <a:r>
              <a:rPr lang="en-US" altLang="zh-CN" sz="4000" dirty="0">
                <a:latin typeface="Times New Roman" pitchFamily="18" charset="0"/>
              </a:rPr>
              <a:t>(b) </a:t>
            </a:r>
            <a:r>
              <a:rPr lang="zh-CN" altLang="en-US" dirty="0"/>
              <a:t>检验某项权威声明的有效性</a:t>
            </a:r>
          </a:p>
          <a:p>
            <a:pPr marL="971550" lvl="1" algn="just">
              <a:lnSpc>
                <a:spcPct val="120000"/>
              </a:lnSpc>
            </a:pPr>
            <a:r>
              <a:rPr lang="zh-CN" altLang="en-US" dirty="0">
                <a:latin typeface="Times New Roman" pitchFamily="18" charset="0"/>
              </a:rPr>
              <a:t>指导思想：除非我们有证据表明声明无效，否则就应认为此项声明是有效的</a:t>
            </a:r>
          </a:p>
          <a:p>
            <a:pPr marL="971550" lvl="1" algn="just">
              <a:lnSpc>
                <a:spcPct val="120000"/>
              </a:lnSpc>
            </a:pPr>
            <a:r>
              <a:rPr lang="zh-CN" altLang="en-US" dirty="0">
                <a:latin typeface="Times New Roman" pitchFamily="18" charset="0"/>
              </a:rPr>
              <a:t>具体方法：</a:t>
            </a:r>
          </a:p>
          <a:p>
            <a:pPr marL="1314450" lvl="2" algn="just">
              <a:lnSpc>
                <a:spcPct val="120000"/>
              </a:lnSpc>
            </a:pPr>
            <a:r>
              <a:rPr lang="zh-CN" altLang="en-US" sz="2600" dirty="0">
                <a:solidFill>
                  <a:schemeClr val="tx1"/>
                </a:solidFill>
                <a:latin typeface="Times New Roman" pitchFamily="18" charset="0"/>
              </a:rPr>
              <a:t>将权威声明（或承诺）作为 </a:t>
            </a:r>
            <a:r>
              <a:rPr lang="en-US" altLang="zh-CN" sz="2600" i="1" dirty="0">
                <a:solidFill>
                  <a:srgbClr val="CC0099"/>
                </a:solidFill>
              </a:rPr>
              <a:t>H</a:t>
            </a:r>
            <a:r>
              <a:rPr lang="en-US" altLang="zh-CN" sz="2600" i="1" baseline="-25000" dirty="0">
                <a:solidFill>
                  <a:srgbClr val="CC0099"/>
                </a:solidFill>
                <a:latin typeface="Times New Roman" pitchFamily="18" charset="0"/>
              </a:rPr>
              <a:t>0</a:t>
            </a:r>
            <a:endParaRPr lang="en-US" altLang="zh-CN" sz="2600" dirty="0">
              <a:solidFill>
                <a:srgbClr val="CC0099"/>
              </a:solidFill>
              <a:latin typeface="Times New Roman" pitchFamily="18" charset="0"/>
            </a:endParaRPr>
          </a:p>
          <a:p>
            <a:pPr marL="1314450" lvl="2" algn="just">
              <a:lnSpc>
                <a:spcPct val="120000"/>
              </a:lnSpc>
            </a:pPr>
            <a:r>
              <a:rPr lang="zh-CN" altLang="en-US" sz="2600" dirty="0">
                <a:solidFill>
                  <a:schemeClr val="tx1"/>
                </a:solidFill>
                <a:latin typeface="Times New Roman" pitchFamily="18" charset="0"/>
              </a:rPr>
              <a:t>先确立</a:t>
            </a:r>
            <a:r>
              <a:rPr lang="en-US" altLang="zh-CN" sz="2600" i="1" dirty="0">
                <a:solidFill>
                  <a:srgbClr val="CC0099"/>
                </a:solidFill>
              </a:rPr>
              <a:t>H</a:t>
            </a:r>
            <a:r>
              <a:rPr lang="en-US" altLang="zh-CN" sz="2600" i="1" baseline="-25000" dirty="0">
                <a:solidFill>
                  <a:srgbClr val="CC0099"/>
                </a:solidFill>
                <a:latin typeface="Times New Roman" pitchFamily="18" charset="0"/>
              </a:rPr>
              <a:t>0</a:t>
            </a:r>
            <a:r>
              <a:rPr lang="zh-CN" altLang="en-US" sz="2600" dirty="0">
                <a:solidFill>
                  <a:schemeClr val="tx1"/>
                </a:solidFill>
                <a:latin typeface="Times New Roman" pitchFamily="18" charset="0"/>
              </a:rPr>
              <a:t>，再将相反的陈述（对该声明的质疑）作为  </a:t>
            </a:r>
            <a:r>
              <a:rPr lang="en-US" altLang="zh-CN" sz="2600" i="1" dirty="0">
                <a:solidFill>
                  <a:srgbClr val="CC0099"/>
                </a:solidFill>
              </a:rPr>
              <a:t>H</a:t>
            </a:r>
            <a:r>
              <a:rPr lang="en-US" altLang="zh-CN" sz="2600" i="1" baseline="-25000" dirty="0">
                <a:solidFill>
                  <a:srgbClr val="CC0099"/>
                </a:solidFill>
                <a:latin typeface="Times New Roman" pitchFamily="18" charset="0"/>
              </a:rPr>
              <a:t>1</a:t>
            </a:r>
          </a:p>
        </p:txBody>
      </p:sp>
    </p:spTree>
    <p:extLst>
      <p:ext uri="{BB962C8B-B14F-4D97-AF65-F5344CB8AC3E}">
        <p14:creationId xmlns:p14="http://schemas.microsoft.com/office/powerpoint/2010/main" val="322493187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灯片编号占位符 5"/>
          <p:cNvSpPr>
            <a:spLocks noGrp="1"/>
          </p:cNvSpPr>
          <p:nvPr>
            <p:ph type="sldNum" sz="quarter" idx="4294967295"/>
          </p:nvPr>
        </p:nvSpPr>
        <p:spPr>
          <a:xfrm>
            <a:off x="9448800" y="6311900"/>
            <a:ext cx="2743200" cy="365125"/>
          </a:xfrm>
          <a:noFill/>
        </p:spPr>
        <p:txBody>
          <a:bodyPr/>
          <a:lstStyle/>
          <a:p>
            <a:r>
              <a:rPr lang="en-US" altLang="zh-CN">
                <a:ea typeface="宋体" pitchFamily="2" charset="-122"/>
              </a:rPr>
              <a:t>8--</a:t>
            </a:r>
            <a:fld id="{877DE6B8-995A-40D8-B278-5486E4DEA51A}" type="slidenum">
              <a:rPr lang="en-US" altLang="zh-CN" smtClean="0">
                <a:ea typeface="宋体" pitchFamily="2" charset="-122"/>
              </a:rPr>
              <a:pPr/>
              <a:t>68</a:t>
            </a:fld>
            <a:endParaRPr lang="en-US" altLang="zh-CN">
              <a:ea typeface="宋体" pitchFamily="2" charset="-122"/>
            </a:endParaRPr>
          </a:p>
        </p:txBody>
      </p:sp>
      <p:sp>
        <p:nvSpPr>
          <p:cNvPr id="100355" name="Rectangle 2"/>
          <p:cNvSpPr>
            <a:spLocks noGrp="1" noChangeArrowheads="1"/>
          </p:cNvSpPr>
          <p:nvPr>
            <p:ph type="title" idx="4294967295"/>
          </p:nvPr>
        </p:nvSpPr>
        <p:spPr>
          <a:xfrm>
            <a:off x="1892300" y="476250"/>
            <a:ext cx="7454900" cy="663575"/>
          </a:xfrm>
        </p:spPr>
        <p:txBody>
          <a:bodyPr>
            <a:normAutofit/>
          </a:bodyPr>
          <a:lstStyle/>
          <a:p>
            <a:pPr eaLnBrk="1" hangingPunct="1"/>
            <a:r>
              <a:rPr lang="zh-CN" altLang="en-US" sz="3600" b="0" dirty="0"/>
              <a:t>怎样提出假设（</a:t>
            </a:r>
            <a:r>
              <a:rPr lang="zh-CN" altLang="en-US" sz="3600" dirty="0"/>
              <a:t>续</a:t>
            </a:r>
            <a:r>
              <a:rPr lang="zh-CN" altLang="en-US" sz="3600" b="0" dirty="0"/>
              <a:t>）</a:t>
            </a:r>
          </a:p>
        </p:txBody>
      </p:sp>
      <p:sp>
        <p:nvSpPr>
          <p:cNvPr id="119811" name="Rectangle 3"/>
          <p:cNvSpPr>
            <a:spLocks noGrp="1" noChangeArrowheads="1"/>
          </p:cNvSpPr>
          <p:nvPr>
            <p:ph type="body" idx="4294967295"/>
          </p:nvPr>
        </p:nvSpPr>
        <p:spPr>
          <a:xfrm>
            <a:off x="1257299" y="1331913"/>
            <a:ext cx="8807237" cy="4857750"/>
          </a:xfrm>
        </p:spPr>
        <p:txBody>
          <a:bodyPr/>
          <a:lstStyle/>
          <a:p>
            <a:pPr marL="0" indent="0" algn="just">
              <a:lnSpc>
                <a:spcPct val="120000"/>
              </a:lnSpc>
              <a:spcBef>
                <a:spcPct val="30000"/>
              </a:spcBef>
              <a:buNone/>
            </a:pPr>
            <a:r>
              <a:rPr lang="en-US" altLang="zh-CN" sz="4000" dirty="0">
                <a:latin typeface="Times New Roman" pitchFamily="18" charset="0"/>
              </a:rPr>
              <a:t>(c)</a:t>
            </a:r>
            <a:r>
              <a:rPr lang="en-US" altLang="zh-CN" dirty="0"/>
              <a:t> </a:t>
            </a:r>
            <a:r>
              <a:rPr lang="zh-CN" altLang="en-US" dirty="0"/>
              <a:t>把希望证明的假设作为备择假设</a:t>
            </a:r>
          </a:p>
          <a:p>
            <a:pPr marL="685800" lvl="1" indent="0" algn="just">
              <a:lnSpc>
                <a:spcPct val="120000"/>
              </a:lnSpc>
              <a:spcBef>
                <a:spcPct val="30000"/>
              </a:spcBef>
              <a:buNone/>
            </a:pPr>
            <a:r>
              <a:rPr lang="zh-CN" altLang="en-US" dirty="0"/>
              <a:t>先确定备择假设，再将相反的命题作为原假设</a:t>
            </a:r>
            <a:r>
              <a:rPr lang="en-US" altLang="zh-CN" i="1" dirty="0"/>
              <a:t>H</a:t>
            </a:r>
            <a:r>
              <a:rPr lang="en-US" altLang="zh-CN" i="1" baseline="-25000" dirty="0"/>
              <a:t>0</a:t>
            </a:r>
            <a:endParaRPr lang="en-US" altLang="zh-CN" i="1" dirty="0"/>
          </a:p>
          <a:p>
            <a:pPr marL="1085850" lvl="2" indent="0" algn="just">
              <a:lnSpc>
                <a:spcPct val="120000"/>
              </a:lnSpc>
              <a:spcBef>
                <a:spcPct val="30000"/>
              </a:spcBef>
              <a:buNone/>
            </a:pPr>
            <a:r>
              <a:rPr lang="zh-CN" altLang="en-US" sz="2600" dirty="0"/>
              <a:t>例如，改进生产工艺后，会使产品的平均成本降低到</a:t>
            </a:r>
            <a:r>
              <a:rPr lang="en-US" altLang="zh-CN" sz="2600" dirty="0"/>
              <a:t>20</a:t>
            </a:r>
            <a:r>
              <a:rPr lang="zh-CN" altLang="en-US" sz="2600" dirty="0"/>
              <a:t>元以下。</a:t>
            </a:r>
          </a:p>
          <a:p>
            <a:pPr marL="1085850" lvl="2" indent="0" algn="just">
              <a:lnSpc>
                <a:spcPct val="120000"/>
              </a:lnSpc>
              <a:spcBef>
                <a:spcPct val="30000"/>
              </a:spcBef>
              <a:buNone/>
            </a:pPr>
            <a:r>
              <a:rPr lang="zh-CN" altLang="en-US" sz="2600" dirty="0"/>
              <a:t>相应的原假设与备择假设应为：</a:t>
            </a:r>
            <a:endParaRPr lang="en-US" altLang="zh-CN" sz="2600" dirty="0"/>
          </a:p>
          <a:p>
            <a:pPr marL="1085850" lvl="2" indent="0" algn="just">
              <a:lnSpc>
                <a:spcPct val="120000"/>
              </a:lnSpc>
              <a:spcBef>
                <a:spcPct val="30000"/>
              </a:spcBef>
              <a:buNone/>
            </a:pPr>
            <a:r>
              <a:rPr lang="en-US" altLang="zh-CN" sz="2800" dirty="0">
                <a:solidFill>
                  <a:srgbClr val="008000"/>
                </a:solidFill>
              </a:rPr>
              <a:t>H</a:t>
            </a:r>
            <a:r>
              <a:rPr lang="en-US" altLang="zh-CN" sz="2800" baseline="-25000" dirty="0">
                <a:solidFill>
                  <a:srgbClr val="008000"/>
                </a:solidFill>
              </a:rPr>
              <a:t>0</a:t>
            </a:r>
            <a:r>
              <a:rPr lang="en-US" altLang="zh-CN" sz="2800" dirty="0">
                <a:solidFill>
                  <a:srgbClr val="008000"/>
                </a:solidFill>
              </a:rPr>
              <a:t>: </a:t>
            </a:r>
            <a:r>
              <a:rPr lang="zh-CN" altLang="en-US" sz="2800" dirty="0">
                <a:solidFill>
                  <a:srgbClr val="008000"/>
                </a:solidFill>
              </a:rPr>
              <a:t>平均成本</a:t>
            </a:r>
            <a:r>
              <a:rPr lang="zh-CN" altLang="en-US" sz="2800" dirty="0">
                <a:latin typeface="宋体" pitchFamily="2" charset="-122"/>
              </a:rPr>
              <a:t>≥</a:t>
            </a:r>
            <a:r>
              <a:rPr lang="en-US" altLang="zh-CN" sz="2800" dirty="0">
                <a:solidFill>
                  <a:srgbClr val="008000"/>
                </a:solidFill>
              </a:rPr>
              <a:t>20    H</a:t>
            </a:r>
            <a:r>
              <a:rPr lang="en-US" altLang="zh-CN" sz="2800" baseline="-25000" dirty="0">
                <a:solidFill>
                  <a:srgbClr val="008000"/>
                </a:solidFill>
              </a:rPr>
              <a:t>1</a:t>
            </a:r>
            <a:r>
              <a:rPr lang="en-US" altLang="zh-CN" sz="2800" dirty="0">
                <a:solidFill>
                  <a:srgbClr val="008000"/>
                </a:solidFill>
              </a:rPr>
              <a:t>: </a:t>
            </a:r>
            <a:r>
              <a:rPr lang="zh-CN" altLang="en-US" sz="2800" dirty="0">
                <a:solidFill>
                  <a:srgbClr val="008000"/>
                </a:solidFill>
              </a:rPr>
              <a:t>平均成本</a:t>
            </a:r>
            <a:r>
              <a:rPr lang="en-US" altLang="zh-CN" sz="2800" dirty="0">
                <a:solidFill>
                  <a:srgbClr val="008000"/>
                </a:solidFill>
                <a:latin typeface="Symbol" pitchFamily="18" charset="2"/>
              </a:rPr>
              <a:t>&lt;</a:t>
            </a:r>
            <a:r>
              <a:rPr lang="en-US" altLang="zh-CN" sz="2800" dirty="0">
                <a:solidFill>
                  <a:srgbClr val="008000"/>
                </a:solidFill>
              </a:rPr>
              <a:t> 20</a:t>
            </a:r>
          </a:p>
        </p:txBody>
      </p:sp>
    </p:spTree>
    <p:extLst>
      <p:ext uri="{BB962C8B-B14F-4D97-AF65-F5344CB8AC3E}">
        <p14:creationId xmlns:p14="http://schemas.microsoft.com/office/powerpoint/2010/main" val="32176200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8" fill="hold" grpId="0" nodeType="clickEffect">
                                  <p:stCondLst>
                                    <p:cond delay="0"/>
                                  </p:stCondLst>
                                  <p:childTnLst>
                                    <p:set>
                                      <p:cBhvr>
                                        <p:cTn id="6" dur="1" fill="hold">
                                          <p:stCondLst>
                                            <p:cond delay="0"/>
                                          </p:stCondLst>
                                        </p:cTn>
                                        <p:tgtEl>
                                          <p:spTgt spid="119811">
                                            <p:txEl>
                                              <p:pRg st="2" end="2"/>
                                            </p:txEl>
                                          </p:spTgt>
                                        </p:tgtEl>
                                        <p:attrNameLst>
                                          <p:attrName>style.visibility</p:attrName>
                                        </p:attrNameLst>
                                      </p:cBhvr>
                                      <p:to>
                                        <p:strVal val="visible"/>
                                      </p:to>
                                    </p:set>
                                    <p:animEffect transition="in" filter="slide(fromLeft)">
                                      <p:cBhvr>
                                        <p:cTn id="7" dur="500"/>
                                        <p:tgtEl>
                                          <p:spTgt spid="119811">
                                            <p:txEl>
                                              <p:pRg st="2" end="2"/>
                                            </p:txEl>
                                          </p:spTgt>
                                        </p:tgtEl>
                                      </p:cBhvr>
                                    </p:animEffect>
                                  </p:childTnLst>
                                </p:cTn>
                              </p:par>
                              <p:par>
                                <p:cTn id="8" presetID="12" presetClass="entr" presetSubtype="8" fill="hold" grpId="0" nodeType="withEffect">
                                  <p:stCondLst>
                                    <p:cond delay="0"/>
                                  </p:stCondLst>
                                  <p:childTnLst>
                                    <p:set>
                                      <p:cBhvr>
                                        <p:cTn id="9" dur="1" fill="hold">
                                          <p:stCondLst>
                                            <p:cond delay="0"/>
                                          </p:stCondLst>
                                        </p:cTn>
                                        <p:tgtEl>
                                          <p:spTgt spid="119811">
                                            <p:txEl>
                                              <p:pRg st="3" end="3"/>
                                            </p:txEl>
                                          </p:spTgt>
                                        </p:tgtEl>
                                        <p:attrNameLst>
                                          <p:attrName>style.visibility</p:attrName>
                                        </p:attrNameLst>
                                      </p:cBhvr>
                                      <p:to>
                                        <p:strVal val="visible"/>
                                      </p:to>
                                    </p:set>
                                    <p:animEffect transition="in" filter="slide(fromLeft)">
                                      <p:cBhvr>
                                        <p:cTn id="10" dur="500"/>
                                        <p:tgtEl>
                                          <p:spTgt spid="119811">
                                            <p:txEl>
                                              <p:pRg st="3" end="3"/>
                                            </p:txEl>
                                          </p:spTgt>
                                        </p:tgtEl>
                                      </p:cBhvr>
                                    </p:animEffect>
                                  </p:childTnLst>
                                </p:cTn>
                              </p:par>
                              <p:par>
                                <p:cTn id="11" presetID="12" presetClass="entr" presetSubtype="8" fill="hold" grpId="0" nodeType="withEffect">
                                  <p:stCondLst>
                                    <p:cond delay="0"/>
                                  </p:stCondLst>
                                  <p:childTnLst>
                                    <p:set>
                                      <p:cBhvr>
                                        <p:cTn id="12" dur="1" fill="hold">
                                          <p:stCondLst>
                                            <p:cond delay="0"/>
                                          </p:stCondLst>
                                        </p:cTn>
                                        <p:tgtEl>
                                          <p:spTgt spid="119811">
                                            <p:txEl>
                                              <p:pRg st="4" end="4"/>
                                            </p:txEl>
                                          </p:spTgt>
                                        </p:tgtEl>
                                        <p:attrNameLst>
                                          <p:attrName>style.visibility</p:attrName>
                                        </p:attrNameLst>
                                      </p:cBhvr>
                                      <p:to>
                                        <p:strVal val="visible"/>
                                      </p:to>
                                    </p:set>
                                    <p:animEffect transition="in" filter="slide(fromLeft)">
                                      <p:cBhvr>
                                        <p:cTn id="13" dur="500"/>
                                        <p:tgtEl>
                                          <p:spTgt spid="119811">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9811" grpId="0" build="p" bldLvl="2"/>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灯片编号占位符 5"/>
          <p:cNvSpPr>
            <a:spLocks noGrp="1"/>
          </p:cNvSpPr>
          <p:nvPr>
            <p:ph type="sldNum" sz="quarter" idx="4294967295"/>
          </p:nvPr>
        </p:nvSpPr>
        <p:spPr>
          <a:xfrm>
            <a:off x="9448800" y="6311900"/>
            <a:ext cx="2743200" cy="365125"/>
          </a:xfrm>
          <a:noFill/>
        </p:spPr>
        <p:txBody>
          <a:bodyPr/>
          <a:lstStyle/>
          <a:p>
            <a:r>
              <a:rPr lang="en-US" altLang="zh-CN">
                <a:ea typeface="宋体" pitchFamily="2" charset="-122"/>
              </a:rPr>
              <a:t>8--</a:t>
            </a:r>
            <a:fld id="{CA904C98-7FC7-416C-BDAC-0B93C86747C1}" type="slidenum">
              <a:rPr lang="en-US" altLang="zh-CN" smtClean="0">
                <a:ea typeface="宋体" pitchFamily="2" charset="-122"/>
              </a:rPr>
              <a:pPr/>
              <a:t>69</a:t>
            </a:fld>
            <a:endParaRPr lang="en-US" altLang="zh-CN">
              <a:ea typeface="宋体" pitchFamily="2" charset="-122"/>
            </a:endParaRPr>
          </a:p>
        </p:txBody>
      </p:sp>
      <p:sp>
        <p:nvSpPr>
          <p:cNvPr id="101379" name="Rectangle 2"/>
          <p:cNvSpPr>
            <a:spLocks noGrp="1" noChangeArrowheads="1"/>
          </p:cNvSpPr>
          <p:nvPr>
            <p:ph type="title" idx="4294967295"/>
          </p:nvPr>
        </p:nvSpPr>
        <p:spPr>
          <a:xfrm>
            <a:off x="1752600" y="527050"/>
            <a:ext cx="6464300" cy="663575"/>
          </a:xfrm>
        </p:spPr>
        <p:txBody>
          <a:bodyPr>
            <a:normAutofit/>
          </a:bodyPr>
          <a:lstStyle/>
          <a:p>
            <a:pPr eaLnBrk="1" hangingPunct="1"/>
            <a:r>
              <a:rPr lang="zh-CN" altLang="en-US" sz="3600" dirty="0"/>
              <a:t>怎样提出假设（续）</a:t>
            </a:r>
          </a:p>
        </p:txBody>
      </p:sp>
      <p:sp>
        <p:nvSpPr>
          <p:cNvPr id="101380" name="Rectangle 3"/>
          <p:cNvSpPr>
            <a:spLocks noGrp="1" noChangeArrowheads="1"/>
          </p:cNvSpPr>
          <p:nvPr>
            <p:ph type="body" idx="4294967295"/>
          </p:nvPr>
        </p:nvSpPr>
        <p:spPr>
          <a:xfrm>
            <a:off x="1382712" y="1460500"/>
            <a:ext cx="9203462" cy="4724400"/>
          </a:xfrm>
        </p:spPr>
        <p:txBody>
          <a:bodyPr/>
          <a:lstStyle/>
          <a:p>
            <a:pPr marL="0" indent="0" algn="just">
              <a:lnSpc>
                <a:spcPct val="115000"/>
              </a:lnSpc>
              <a:spcBef>
                <a:spcPct val="30000"/>
              </a:spcBef>
              <a:buNone/>
            </a:pPr>
            <a:r>
              <a:rPr lang="en-US" altLang="zh-CN" dirty="0">
                <a:latin typeface="Times New Roman" pitchFamily="18" charset="0"/>
              </a:rPr>
              <a:t>(d) </a:t>
            </a:r>
            <a:r>
              <a:rPr lang="zh-CN" altLang="en-US" dirty="0"/>
              <a:t>把样本显示的信息作为</a:t>
            </a:r>
            <a:r>
              <a:rPr lang="en-US" altLang="zh-CN" dirty="0"/>
              <a:t>H</a:t>
            </a:r>
            <a:r>
              <a:rPr lang="en-US" altLang="zh-CN" baseline="-25000" dirty="0"/>
              <a:t>1</a:t>
            </a:r>
          </a:p>
          <a:p>
            <a:pPr marL="177800" lvl="1" indent="508000" algn="just">
              <a:lnSpc>
                <a:spcPct val="115000"/>
              </a:lnSpc>
              <a:spcBef>
                <a:spcPct val="30000"/>
              </a:spcBef>
              <a:buNone/>
            </a:pPr>
            <a:r>
              <a:rPr lang="zh-CN" altLang="en-US" sz="3200" dirty="0"/>
              <a:t>先确定</a:t>
            </a:r>
            <a:r>
              <a:rPr lang="en-US" altLang="zh-CN" sz="3200" dirty="0"/>
              <a:t>H</a:t>
            </a:r>
            <a:r>
              <a:rPr lang="en-US" altLang="zh-CN" sz="3200" baseline="-25000" dirty="0"/>
              <a:t>1</a:t>
            </a:r>
            <a:r>
              <a:rPr lang="zh-CN" altLang="en-US" sz="3200" dirty="0"/>
              <a:t>，再将相反的命题作为原假设</a:t>
            </a:r>
            <a:r>
              <a:rPr lang="en-US" altLang="zh-CN" sz="3200" i="1" dirty="0"/>
              <a:t>H</a:t>
            </a:r>
            <a:r>
              <a:rPr lang="en-US" altLang="zh-CN" sz="3200" i="1" baseline="-25000" dirty="0"/>
              <a:t>0</a:t>
            </a:r>
          </a:p>
          <a:p>
            <a:pPr marL="177800" lvl="1" indent="508000" algn="just">
              <a:lnSpc>
                <a:spcPct val="115000"/>
              </a:lnSpc>
              <a:spcBef>
                <a:spcPct val="30000"/>
              </a:spcBef>
              <a:buNone/>
            </a:pPr>
            <a:r>
              <a:rPr lang="zh-CN" altLang="en-US" sz="3200" dirty="0"/>
              <a:t>教材上的例题</a:t>
            </a:r>
          </a:p>
          <a:p>
            <a:pPr marL="177800" lvl="1" indent="508000" algn="just">
              <a:lnSpc>
                <a:spcPct val="115000"/>
              </a:lnSpc>
              <a:spcBef>
                <a:spcPct val="30000"/>
              </a:spcBef>
              <a:buNone/>
            </a:pPr>
            <a:r>
              <a:rPr lang="zh-CN" altLang="en-US" sz="3200" dirty="0"/>
              <a:t>统计软件计算</a:t>
            </a:r>
            <a:r>
              <a:rPr lang="en-US" altLang="zh-CN" sz="3200" i="1" dirty="0"/>
              <a:t>P-</a:t>
            </a:r>
            <a:r>
              <a:rPr lang="zh-CN" altLang="en-US" sz="3200" dirty="0"/>
              <a:t>值时一般自动把样本信息显示的方向作为</a:t>
            </a:r>
            <a:r>
              <a:rPr lang="en-US" altLang="zh-CN" sz="3200" dirty="0"/>
              <a:t>H</a:t>
            </a:r>
            <a:r>
              <a:rPr lang="en-US" altLang="zh-CN" sz="3200" baseline="-25000" dirty="0"/>
              <a:t>1</a:t>
            </a:r>
            <a:r>
              <a:rPr lang="zh-CN" altLang="en-US" sz="3200" dirty="0"/>
              <a:t>的方向</a:t>
            </a:r>
            <a:r>
              <a:rPr lang="en-US" altLang="zh-CN" sz="3200" dirty="0"/>
              <a:t>.</a:t>
            </a:r>
          </a:p>
        </p:txBody>
      </p:sp>
    </p:spTree>
    <p:extLst>
      <p:ext uri="{BB962C8B-B14F-4D97-AF65-F5344CB8AC3E}">
        <p14:creationId xmlns:p14="http://schemas.microsoft.com/office/powerpoint/2010/main" val="215893415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灯片编号占位符 5"/>
          <p:cNvSpPr>
            <a:spLocks noGrp="1"/>
          </p:cNvSpPr>
          <p:nvPr>
            <p:ph type="sldNum" sz="quarter" idx="4294967295"/>
          </p:nvPr>
        </p:nvSpPr>
        <p:spPr>
          <a:xfrm>
            <a:off x="9448800" y="6311900"/>
            <a:ext cx="2743200" cy="365125"/>
          </a:xfrm>
          <a:noFill/>
        </p:spPr>
        <p:txBody>
          <a:bodyPr/>
          <a:lstStyle/>
          <a:p>
            <a:r>
              <a:rPr lang="en-US" altLang="zh-CN">
                <a:ea typeface="宋体" pitchFamily="2" charset="-122"/>
              </a:rPr>
              <a:t>8--</a:t>
            </a:r>
            <a:fld id="{8F392014-6C74-415A-B133-0138770E9DCE}" type="slidenum">
              <a:rPr lang="en-US" altLang="zh-CN" smtClean="0">
                <a:ea typeface="宋体" pitchFamily="2" charset="-122"/>
              </a:rPr>
              <a:pPr/>
              <a:t>70</a:t>
            </a:fld>
            <a:endParaRPr lang="en-US" altLang="zh-CN">
              <a:ea typeface="宋体" pitchFamily="2" charset="-122"/>
            </a:endParaRPr>
          </a:p>
        </p:txBody>
      </p:sp>
      <p:sp>
        <p:nvSpPr>
          <p:cNvPr id="103427" name="Rectangle 2"/>
          <p:cNvSpPr>
            <a:spLocks noGrp="1" noChangeArrowheads="1"/>
          </p:cNvSpPr>
          <p:nvPr>
            <p:ph type="title" idx="4294967295"/>
          </p:nvPr>
        </p:nvSpPr>
        <p:spPr>
          <a:xfrm>
            <a:off x="1606550" y="847725"/>
            <a:ext cx="11650662" cy="663575"/>
          </a:xfrm>
        </p:spPr>
        <p:txBody>
          <a:bodyPr/>
          <a:lstStyle/>
          <a:p>
            <a:r>
              <a:rPr lang="en-US" altLang="zh-CN" sz="3600" dirty="0"/>
              <a:t>【</a:t>
            </a:r>
            <a:r>
              <a:rPr lang="zh-CN" altLang="en-US" sz="3600" dirty="0"/>
              <a:t>附</a:t>
            </a:r>
            <a:r>
              <a:rPr lang="en-US" altLang="zh-CN" sz="3600" dirty="0"/>
              <a:t>】</a:t>
            </a:r>
            <a:r>
              <a:rPr lang="zh-CN" altLang="en-US" sz="3600" dirty="0">
                <a:solidFill>
                  <a:srgbClr val="00B0F0"/>
                </a:solidFill>
              </a:rPr>
              <a:t>区间估计与假设检验的关系</a:t>
            </a:r>
          </a:p>
        </p:txBody>
      </p:sp>
      <p:sp>
        <p:nvSpPr>
          <p:cNvPr id="208899" name="Rectangle 3"/>
          <p:cNvSpPr>
            <a:spLocks noGrp="1" noChangeArrowheads="1"/>
          </p:cNvSpPr>
          <p:nvPr>
            <p:ph type="body" idx="4294967295"/>
          </p:nvPr>
        </p:nvSpPr>
        <p:spPr>
          <a:xfrm>
            <a:off x="1428750" y="1819275"/>
            <a:ext cx="7842250" cy="4857750"/>
          </a:xfrm>
        </p:spPr>
        <p:txBody>
          <a:bodyPr>
            <a:normAutofit/>
          </a:bodyPr>
          <a:lstStyle/>
          <a:p>
            <a:pPr marL="0" indent="0" eaLnBrk="1" hangingPunct="1">
              <a:lnSpc>
                <a:spcPct val="110000"/>
              </a:lnSpc>
              <a:buNone/>
            </a:pPr>
            <a:r>
              <a:rPr lang="zh-CN" altLang="en-US" sz="3600" b="1" dirty="0"/>
              <a:t>联系</a:t>
            </a:r>
            <a:endParaRPr lang="en-US" altLang="zh-CN" sz="3600" dirty="0"/>
          </a:p>
          <a:p>
            <a:pPr lvl="2">
              <a:lnSpc>
                <a:spcPct val="110000"/>
              </a:lnSpc>
            </a:pPr>
            <a:r>
              <a:rPr lang="zh-CN" altLang="en-US" sz="3200" dirty="0"/>
              <a:t>对同一参数的估计和检验，所依据的抽样分布理论相同；</a:t>
            </a:r>
          </a:p>
          <a:p>
            <a:pPr lvl="2">
              <a:lnSpc>
                <a:spcPct val="110000"/>
              </a:lnSpc>
            </a:pPr>
            <a:r>
              <a:rPr lang="zh-CN" altLang="en-US" sz="3200" dirty="0"/>
              <a:t>推断结果都有一定的可信程度或风险；</a:t>
            </a:r>
          </a:p>
          <a:p>
            <a:pPr lvl="2">
              <a:lnSpc>
                <a:spcPct val="110000"/>
              </a:lnSpc>
            </a:pPr>
            <a:r>
              <a:rPr lang="zh-CN" altLang="en-US" sz="3200" dirty="0"/>
              <a:t>可相互转化</a:t>
            </a:r>
          </a:p>
          <a:p>
            <a:pPr marL="108000" lvl="3" indent="0">
              <a:lnSpc>
                <a:spcPct val="110000"/>
              </a:lnSpc>
              <a:buNone/>
            </a:pPr>
            <a:r>
              <a:rPr lang="zh-CN" altLang="en-US" sz="3200" dirty="0"/>
              <a:t>   </a:t>
            </a:r>
            <a:r>
              <a:rPr lang="en-US" altLang="zh-CN" sz="3200" dirty="0"/>
              <a:t>——</a:t>
            </a:r>
            <a:r>
              <a:rPr lang="zh-CN" altLang="en-US" sz="3200" dirty="0"/>
              <a:t>如利用置信区间可进行假设检验</a:t>
            </a:r>
          </a:p>
        </p:txBody>
      </p:sp>
    </p:spTree>
    <p:extLst>
      <p:ext uri="{BB962C8B-B14F-4D97-AF65-F5344CB8AC3E}">
        <p14:creationId xmlns:p14="http://schemas.microsoft.com/office/powerpoint/2010/main" val="29575814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208899">
                                            <p:txEl>
                                              <p:pRg st="1" end="1"/>
                                            </p:txEl>
                                          </p:spTgt>
                                        </p:tgtEl>
                                        <p:attrNameLst>
                                          <p:attrName>style.visibility</p:attrName>
                                        </p:attrNameLst>
                                      </p:cBhvr>
                                      <p:to>
                                        <p:strVal val="visible"/>
                                      </p:to>
                                    </p:set>
                                    <p:animEffect transition="in" filter="checkerboard(across)">
                                      <p:cBhvr>
                                        <p:cTn id="7" dur="500"/>
                                        <p:tgtEl>
                                          <p:spTgt spid="208899">
                                            <p:txEl>
                                              <p:pRg st="1" end="1"/>
                                            </p:txEl>
                                          </p:spTgt>
                                        </p:tgtEl>
                                      </p:cBhvr>
                                    </p:animEffect>
                                  </p:childTnLst>
                                </p:cTn>
                              </p:par>
                              <p:par>
                                <p:cTn id="8" presetID="5" presetClass="entr" presetSubtype="10" fill="hold" grpId="0" nodeType="withEffect">
                                  <p:stCondLst>
                                    <p:cond delay="0"/>
                                  </p:stCondLst>
                                  <p:childTnLst>
                                    <p:set>
                                      <p:cBhvr>
                                        <p:cTn id="9" dur="1" fill="hold">
                                          <p:stCondLst>
                                            <p:cond delay="0"/>
                                          </p:stCondLst>
                                        </p:cTn>
                                        <p:tgtEl>
                                          <p:spTgt spid="208899">
                                            <p:txEl>
                                              <p:pRg st="2" end="2"/>
                                            </p:txEl>
                                          </p:spTgt>
                                        </p:tgtEl>
                                        <p:attrNameLst>
                                          <p:attrName>style.visibility</p:attrName>
                                        </p:attrNameLst>
                                      </p:cBhvr>
                                      <p:to>
                                        <p:strVal val="visible"/>
                                      </p:to>
                                    </p:set>
                                    <p:animEffect transition="in" filter="checkerboard(across)">
                                      <p:cBhvr>
                                        <p:cTn id="10" dur="500"/>
                                        <p:tgtEl>
                                          <p:spTgt spid="208899">
                                            <p:txEl>
                                              <p:pRg st="2" end="2"/>
                                            </p:txEl>
                                          </p:spTgt>
                                        </p:tgtEl>
                                      </p:cBhvr>
                                    </p:animEffect>
                                  </p:childTnLst>
                                </p:cTn>
                              </p:par>
                              <p:par>
                                <p:cTn id="11" presetID="5" presetClass="entr" presetSubtype="10" fill="hold" grpId="0" nodeType="withEffect">
                                  <p:stCondLst>
                                    <p:cond delay="0"/>
                                  </p:stCondLst>
                                  <p:childTnLst>
                                    <p:set>
                                      <p:cBhvr>
                                        <p:cTn id="12" dur="1" fill="hold">
                                          <p:stCondLst>
                                            <p:cond delay="0"/>
                                          </p:stCondLst>
                                        </p:cTn>
                                        <p:tgtEl>
                                          <p:spTgt spid="208899">
                                            <p:txEl>
                                              <p:pRg st="3" end="3"/>
                                            </p:txEl>
                                          </p:spTgt>
                                        </p:tgtEl>
                                        <p:attrNameLst>
                                          <p:attrName>style.visibility</p:attrName>
                                        </p:attrNameLst>
                                      </p:cBhvr>
                                      <p:to>
                                        <p:strVal val="visible"/>
                                      </p:to>
                                    </p:set>
                                    <p:animEffect transition="in" filter="checkerboard(across)">
                                      <p:cBhvr>
                                        <p:cTn id="13" dur="500"/>
                                        <p:tgtEl>
                                          <p:spTgt spid="208899">
                                            <p:txEl>
                                              <p:pRg st="3" end="3"/>
                                            </p:txEl>
                                          </p:spTgt>
                                        </p:tgtEl>
                                      </p:cBhvr>
                                    </p:animEffect>
                                  </p:childTnLst>
                                </p:cTn>
                              </p:par>
                              <p:par>
                                <p:cTn id="14" presetID="5" presetClass="entr" presetSubtype="10" fill="hold" grpId="0" nodeType="withEffect">
                                  <p:stCondLst>
                                    <p:cond delay="0"/>
                                  </p:stCondLst>
                                  <p:childTnLst>
                                    <p:set>
                                      <p:cBhvr>
                                        <p:cTn id="15" dur="1" fill="hold">
                                          <p:stCondLst>
                                            <p:cond delay="0"/>
                                          </p:stCondLst>
                                        </p:cTn>
                                        <p:tgtEl>
                                          <p:spTgt spid="208899">
                                            <p:txEl>
                                              <p:pRg st="4" end="4"/>
                                            </p:txEl>
                                          </p:spTgt>
                                        </p:tgtEl>
                                        <p:attrNameLst>
                                          <p:attrName>style.visibility</p:attrName>
                                        </p:attrNameLst>
                                      </p:cBhvr>
                                      <p:to>
                                        <p:strVal val="visible"/>
                                      </p:to>
                                    </p:set>
                                    <p:animEffect transition="in" filter="checkerboard(across)">
                                      <p:cBhvr>
                                        <p:cTn id="16" dur="500"/>
                                        <p:tgtEl>
                                          <p:spTgt spid="20889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8899" grpId="0" build="p" bldLvl="2"/>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灯片编号占位符 5"/>
          <p:cNvSpPr>
            <a:spLocks noGrp="1"/>
          </p:cNvSpPr>
          <p:nvPr>
            <p:ph type="sldNum" sz="quarter" idx="4294967295"/>
          </p:nvPr>
        </p:nvSpPr>
        <p:spPr>
          <a:xfrm>
            <a:off x="9448800" y="6311900"/>
            <a:ext cx="2743200" cy="365125"/>
          </a:xfrm>
          <a:noFill/>
        </p:spPr>
        <p:txBody>
          <a:bodyPr/>
          <a:lstStyle/>
          <a:p>
            <a:r>
              <a:rPr lang="en-US" altLang="zh-CN">
                <a:ea typeface="宋体" pitchFamily="2" charset="-122"/>
              </a:rPr>
              <a:t>8--</a:t>
            </a:r>
            <a:fld id="{E8CBBDB6-95A1-46F8-BA04-B8AA39B1EA17}" type="slidenum">
              <a:rPr lang="en-US" altLang="zh-CN" smtClean="0">
                <a:ea typeface="宋体" pitchFamily="2" charset="-122"/>
              </a:rPr>
              <a:pPr/>
              <a:t>71</a:t>
            </a:fld>
            <a:endParaRPr lang="en-US" altLang="zh-CN">
              <a:ea typeface="宋体" pitchFamily="2" charset="-122"/>
            </a:endParaRPr>
          </a:p>
        </p:txBody>
      </p:sp>
      <p:sp>
        <p:nvSpPr>
          <p:cNvPr id="104451" name="Rectangle 2"/>
          <p:cNvSpPr>
            <a:spLocks noGrp="1" noChangeArrowheads="1"/>
          </p:cNvSpPr>
          <p:nvPr>
            <p:ph type="title" idx="4294967295"/>
          </p:nvPr>
        </p:nvSpPr>
        <p:spPr>
          <a:xfrm>
            <a:off x="1600200" y="392907"/>
            <a:ext cx="9537700" cy="661988"/>
          </a:xfrm>
        </p:spPr>
        <p:txBody>
          <a:bodyPr/>
          <a:lstStyle/>
          <a:p>
            <a:r>
              <a:rPr lang="en-US" altLang="zh-CN" sz="3600" dirty="0"/>
              <a:t>【</a:t>
            </a:r>
            <a:r>
              <a:rPr lang="zh-CN" altLang="en-US" sz="3600" dirty="0"/>
              <a:t>附</a:t>
            </a:r>
            <a:r>
              <a:rPr lang="en-US" altLang="zh-CN" sz="3600" dirty="0"/>
              <a:t>】</a:t>
            </a:r>
            <a:r>
              <a:rPr lang="zh-CN" altLang="en-US" sz="3600" dirty="0">
                <a:solidFill>
                  <a:srgbClr val="00B0F0"/>
                </a:solidFill>
              </a:rPr>
              <a:t>区间估计与假设检验的关系</a:t>
            </a:r>
            <a:endParaRPr lang="zh-CN" altLang="en-US" sz="3600" dirty="0">
              <a:solidFill>
                <a:srgbClr val="FF33CC"/>
              </a:solidFill>
            </a:endParaRPr>
          </a:p>
        </p:txBody>
      </p:sp>
      <p:sp>
        <p:nvSpPr>
          <p:cNvPr id="209923" name="Rectangle 3"/>
          <p:cNvSpPr>
            <a:spLocks noGrp="1" noChangeArrowheads="1"/>
          </p:cNvSpPr>
          <p:nvPr>
            <p:ph type="body" idx="4294967295"/>
          </p:nvPr>
        </p:nvSpPr>
        <p:spPr>
          <a:xfrm>
            <a:off x="1955800" y="1199754"/>
            <a:ext cx="8293100" cy="4967287"/>
          </a:xfrm>
        </p:spPr>
        <p:txBody>
          <a:bodyPr>
            <a:normAutofit/>
          </a:bodyPr>
          <a:lstStyle/>
          <a:p>
            <a:pPr marL="0" indent="0">
              <a:spcBef>
                <a:spcPts val="600"/>
              </a:spcBef>
              <a:buNone/>
            </a:pPr>
            <a:r>
              <a:rPr lang="zh-CN" altLang="en-US" sz="3600" b="1" dirty="0"/>
              <a:t>区别</a:t>
            </a:r>
            <a:endParaRPr lang="en-US" altLang="zh-CN" sz="3600" b="1" dirty="0"/>
          </a:p>
          <a:p>
            <a:pPr lvl="1">
              <a:spcBef>
                <a:spcPts val="600"/>
              </a:spcBef>
            </a:pPr>
            <a:r>
              <a:rPr lang="zh-CN" altLang="en-US" sz="2400" b="1" dirty="0"/>
              <a:t>区间估计</a:t>
            </a:r>
            <a:r>
              <a:rPr lang="en-US" altLang="zh-CN" sz="2400" dirty="0">
                <a:latin typeface="Arial" pitchFamily="34" charset="0"/>
              </a:rPr>
              <a:t>——</a:t>
            </a:r>
            <a:endParaRPr lang="en-US" altLang="zh-CN" sz="2400" dirty="0"/>
          </a:p>
          <a:p>
            <a:pPr marL="323850" lvl="2" indent="31750">
              <a:spcBef>
                <a:spcPts val="600"/>
              </a:spcBef>
            </a:pPr>
            <a:r>
              <a:rPr lang="zh-CN" altLang="en-US" sz="2000" dirty="0"/>
              <a:t>是根据样本信息估计总体参数的置信区间；</a:t>
            </a:r>
          </a:p>
          <a:p>
            <a:pPr marL="323850" lvl="2" indent="31750">
              <a:spcBef>
                <a:spcPts val="600"/>
              </a:spcBef>
            </a:pPr>
            <a:r>
              <a:rPr lang="zh-CN" altLang="en-US" sz="2000" dirty="0"/>
              <a:t>以样本估计量为决策的主要参考点（置信区间以样本估计值为中心）；</a:t>
            </a:r>
          </a:p>
          <a:p>
            <a:pPr marL="323850" lvl="2" indent="31750">
              <a:spcBef>
                <a:spcPts val="600"/>
              </a:spcBef>
            </a:pPr>
            <a:r>
              <a:rPr lang="zh-CN" altLang="en-US" sz="2000" dirty="0"/>
              <a:t>着眼于大概率；</a:t>
            </a:r>
          </a:p>
          <a:p>
            <a:pPr marL="323850" lvl="2" indent="31750">
              <a:spcBef>
                <a:spcPts val="600"/>
              </a:spcBef>
            </a:pPr>
            <a:r>
              <a:rPr lang="zh-CN" altLang="en-US" sz="2000" dirty="0"/>
              <a:t>通常为双侧。</a:t>
            </a:r>
          </a:p>
          <a:p>
            <a:pPr lvl="1">
              <a:spcBef>
                <a:spcPts val="600"/>
              </a:spcBef>
            </a:pPr>
            <a:r>
              <a:rPr lang="zh-CN" altLang="en-US" sz="2400" b="1" dirty="0"/>
              <a:t>假设检验</a:t>
            </a:r>
            <a:r>
              <a:rPr lang="en-US" altLang="zh-CN" sz="2400" dirty="0">
                <a:latin typeface="Arial" pitchFamily="34" charset="0"/>
              </a:rPr>
              <a:t>——</a:t>
            </a:r>
            <a:endParaRPr lang="en-US" altLang="zh-CN" sz="2400" dirty="0"/>
          </a:p>
          <a:p>
            <a:pPr marL="323850" lvl="2" indent="-57150">
              <a:spcBef>
                <a:spcPts val="600"/>
              </a:spcBef>
            </a:pPr>
            <a:r>
              <a:rPr lang="zh-CN" altLang="en-US" sz="2000" dirty="0"/>
              <a:t>根据样本信息判断原假设是否成立；</a:t>
            </a:r>
          </a:p>
          <a:p>
            <a:pPr marL="323850" lvl="2" indent="-57150">
              <a:spcBef>
                <a:spcPts val="600"/>
              </a:spcBef>
            </a:pPr>
            <a:r>
              <a:rPr lang="zh-CN" altLang="en-US" sz="2000" dirty="0"/>
              <a:t>以原假设为主要决策参考点；</a:t>
            </a:r>
          </a:p>
          <a:p>
            <a:pPr marL="323850" lvl="2" indent="-57150">
              <a:spcBef>
                <a:spcPts val="600"/>
              </a:spcBef>
            </a:pPr>
            <a:r>
              <a:rPr lang="zh-CN" altLang="en-US" sz="2000" dirty="0"/>
              <a:t>着眼于小概率；</a:t>
            </a:r>
          </a:p>
          <a:p>
            <a:pPr marL="323850" lvl="2" indent="-57150">
              <a:spcBef>
                <a:spcPts val="600"/>
              </a:spcBef>
            </a:pPr>
            <a:r>
              <a:rPr lang="zh-CN" altLang="en-US" sz="2000" dirty="0"/>
              <a:t>有单侧、也有双侧。</a:t>
            </a:r>
          </a:p>
        </p:txBody>
      </p:sp>
    </p:spTree>
    <p:extLst>
      <p:ext uri="{BB962C8B-B14F-4D97-AF65-F5344CB8AC3E}">
        <p14:creationId xmlns:p14="http://schemas.microsoft.com/office/powerpoint/2010/main" val="2480687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withEffect">
                                  <p:stCondLst>
                                    <p:cond delay="0"/>
                                  </p:stCondLst>
                                  <p:childTnLst>
                                    <p:set>
                                      <p:cBhvr>
                                        <p:cTn id="6" dur="1" fill="hold">
                                          <p:stCondLst>
                                            <p:cond delay="0"/>
                                          </p:stCondLst>
                                        </p:cTn>
                                        <p:tgtEl>
                                          <p:spTgt spid="209923">
                                            <p:txEl>
                                              <p:pRg st="2" end="2"/>
                                            </p:txEl>
                                          </p:spTgt>
                                        </p:tgtEl>
                                        <p:attrNameLst>
                                          <p:attrName>style.visibility</p:attrName>
                                        </p:attrNameLst>
                                      </p:cBhvr>
                                      <p:to>
                                        <p:strVal val="visible"/>
                                      </p:to>
                                    </p:set>
                                    <p:animEffect transition="in" filter="slide(fromBottom)">
                                      <p:cBhvr>
                                        <p:cTn id="7" dur="500"/>
                                        <p:tgtEl>
                                          <p:spTgt spid="209923">
                                            <p:txEl>
                                              <p:pRg st="2" end="2"/>
                                            </p:txEl>
                                          </p:spTgt>
                                        </p:tgtEl>
                                      </p:cBhvr>
                                    </p:animEffect>
                                  </p:childTnLst>
                                </p:cTn>
                              </p:par>
                              <p:par>
                                <p:cTn id="8" presetID="12" presetClass="entr" presetSubtype="4" fill="hold" grpId="0" nodeType="withEffect">
                                  <p:stCondLst>
                                    <p:cond delay="0"/>
                                  </p:stCondLst>
                                  <p:childTnLst>
                                    <p:set>
                                      <p:cBhvr>
                                        <p:cTn id="9" dur="1" fill="hold">
                                          <p:stCondLst>
                                            <p:cond delay="0"/>
                                          </p:stCondLst>
                                        </p:cTn>
                                        <p:tgtEl>
                                          <p:spTgt spid="209923">
                                            <p:txEl>
                                              <p:pRg st="3" end="3"/>
                                            </p:txEl>
                                          </p:spTgt>
                                        </p:tgtEl>
                                        <p:attrNameLst>
                                          <p:attrName>style.visibility</p:attrName>
                                        </p:attrNameLst>
                                      </p:cBhvr>
                                      <p:to>
                                        <p:strVal val="visible"/>
                                      </p:to>
                                    </p:set>
                                    <p:animEffect transition="in" filter="slide(fromBottom)">
                                      <p:cBhvr>
                                        <p:cTn id="10" dur="500"/>
                                        <p:tgtEl>
                                          <p:spTgt spid="209923">
                                            <p:txEl>
                                              <p:pRg st="3" end="3"/>
                                            </p:txEl>
                                          </p:spTgt>
                                        </p:tgtEl>
                                      </p:cBhvr>
                                    </p:animEffect>
                                  </p:childTnLst>
                                </p:cTn>
                              </p:par>
                              <p:par>
                                <p:cTn id="11" presetID="12" presetClass="entr" presetSubtype="4" fill="hold" grpId="0" nodeType="withEffect">
                                  <p:stCondLst>
                                    <p:cond delay="0"/>
                                  </p:stCondLst>
                                  <p:childTnLst>
                                    <p:set>
                                      <p:cBhvr>
                                        <p:cTn id="12" dur="1" fill="hold">
                                          <p:stCondLst>
                                            <p:cond delay="0"/>
                                          </p:stCondLst>
                                        </p:cTn>
                                        <p:tgtEl>
                                          <p:spTgt spid="209923">
                                            <p:txEl>
                                              <p:pRg st="4" end="4"/>
                                            </p:txEl>
                                          </p:spTgt>
                                        </p:tgtEl>
                                        <p:attrNameLst>
                                          <p:attrName>style.visibility</p:attrName>
                                        </p:attrNameLst>
                                      </p:cBhvr>
                                      <p:to>
                                        <p:strVal val="visible"/>
                                      </p:to>
                                    </p:set>
                                    <p:animEffect transition="in" filter="slide(fromBottom)">
                                      <p:cBhvr>
                                        <p:cTn id="13" dur="500"/>
                                        <p:tgtEl>
                                          <p:spTgt spid="209923">
                                            <p:txEl>
                                              <p:pRg st="4" end="4"/>
                                            </p:txEl>
                                          </p:spTgt>
                                        </p:tgtEl>
                                      </p:cBhvr>
                                    </p:animEffect>
                                  </p:childTnLst>
                                </p:cTn>
                              </p:par>
                              <p:par>
                                <p:cTn id="14" presetID="12" presetClass="entr" presetSubtype="4" fill="hold" grpId="0" nodeType="withEffect">
                                  <p:stCondLst>
                                    <p:cond delay="0"/>
                                  </p:stCondLst>
                                  <p:childTnLst>
                                    <p:set>
                                      <p:cBhvr>
                                        <p:cTn id="15" dur="1" fill="hold">
                                          <p:stCondLst>
                                            <p:cond delay="0"/>
                                          </p:stCondLst>
                                        </p:cTn>
                                        <p:tgtEl>
                                          <p:spTgt spid="209923">
                                            <p:txEl>
                                              <p:pRg st="5" end="5"/>
                                            </p:txEl>
                                          </p:spTgt>
                                        </p:tgtEl>
                                        <p:attrNameLst>
                                          <p:attrName>style.visibility</p:attrName>
                                        </p:attrNameLst>
                                      </p:cBhvr>
                                      <p:to>
                                        <p:strVal val="visible"/>
                                      </p:to>
                                    </p:set>
                                    <p:animEffect transition="in" filter="slide(fromBottom)">
                                      <p:cBhvr>
                                        <p:cTn id="16" dur="500"/>
                                        <p:tgtEl>
                                          <p:spTgt spid="209923">
                                            <p:txEl>
                                              <p:pRg st="5" end="5"/>
                                            </p:txEl>
                                          </p:spTgt>
                                        </p:tgtEl>
                                      </p:cBhvr>
                                    </p:animEffect>
                                  </p:childTnLst>
                                </p:cTn>
                              </p:par>
                              <p:par>
                                <p:cTn id="17" presetID="12" presetClass="entr" presetSubtype="4" fill="hold" grpId="0" nodeType="withEffect">
                                  <p:stCondLst>
                                    <p:cond delay="0"/>
                                  </p:stCondLst>
                                  <p:childTnLst>
                                    <p:set>
                                      <p:cBhvr>
                                        <p:cTn id="18" dur="1" fill="hold">
                                          <p:stCondLst>
                                            <p:cond delay="0"/>
                                          </p:stCondLst>
                                        </p:cTn>
                                        <p:tgtEl>
                                          <p:spTgt spid="209923">
                                            <p:txEl>
                                              <p:pRg st="6" end="6"/>
                                            </p:txEl>
                                          </p:spTgt>
                                        </p:tgtEl>
                                        <p:attrNameLst>
                                          <p:attrName>style.visibility</p:attrName>
                                        </p:attrNameLst>
                                      </p:cBhvr>
                                      <p:to>
                                        <p:strVal val="visible"/>
                                      </p:to>
                                    </p:set>
                                    <p:animEffect transition="in" filter="slide(fromBottom)">
                                      <p:cBhvr>
                                        <p:cTn id="19" dur="500"/>
                                        <p:tgtEl>
                                          <p:spTgt spid="209923">
                                            <p:txEl>
                                              <p:pRg st="6" end="6"/>
                                            </p:txEl>
                                          </p:spTgt>
                                        </p:tgtEl>
                                      </p:cBhvr>
                                    </p:animEffect>
                                  </p:childTnLst>
                                </p:cTn>
                              </p:par>
                              <p:par>
                                <p:cTn id="20" presetID="12" presetClass="entr" presetSubtype="4" fill="hold" grpId="0" nodeType="withEffect">
                                  <p:stCondLst>
                                    <p:cond delay="0"/>
                                  </p:stCondLst>
                                  <p:childTnLst>
                                    <p:set>
                                      <p:cBhvr>
                                        <p:cTn id="21" dur="1" fill="hold">
                                          <p:stCondLst>
                                            <p:cond delay="0"/>
                                          </p:stCondLst>
                                        </p:cTn>
                                        <p:tgtEl>
                                          <p:spTgt spid="209923">
                                            <p:txEl>
                                              <p:pRg st="7" end="7"/>
                                            </p:txEl>
                                          </p:spTgt>
                                        </p:tgtEl>
                                        <p:attrNameLst>
                                          <p:attrName>style.visibility</p:attrName>
                                        </p:attrNameLst>
                                      </p:cBhvr>
                                      <p:to>
                                        <p:strVal val="visible"/>
                                      </p:to>
                                    </p:set>
                                    <p:animEffect transition="in" filter="slide(fromBottom)">
                                      <p:cBhvr>
                                        <p:cTn id="22" dur="500"/>
                                        <p:tgtEl>
                                          <p:spTgt spid="209923">
                                            <p:txEl>
                                              <p:pRg st="7" end="7"/>
                                            </p:txEl>
                                          </p:spTgt>
                                        </p:tgtEl>
                                      </p:cBhvr>
                                    </p:animEffect>
                                  </p:childTnLst>
                                </p:cTn>
                              </p:par>
                              <p:par>
                                <p:cTn id="23" presetID="12" presetClass="entr" presetSubtype="4" fill="hold" grpId="0" nodeType="withEffect">
                                  <p:stCondLst>
                                    <p:cond delay="0"/>
                                  </p:stCondLst>
                                  <p:childTnLst>
                                    <p:set>
                                      <p:cBhvr>
                                        <p:cTn id="24" dur="1" fill="hold">
                                          <p:stCondLst>
                                            <p:cond delay="0"/>
                                          </p:stCondLst>
                                        </p:cTn>
                                        <p:tgtEl>
                                          <p:spTgt spid="209923">
                                            <p:txEl>
                                              <p:pRg st="8" end="8"/>
                                            </p:txEl>
                                          </p:spTgt>
                                        </p:tgtEl>
                                        <p:attrNameLst>
                                          <p:attrName>style.visibility</p:attrName>
                                        </p:attrNameLst>
                                      </p:cBhvr>
                                      <p:to>
                                        <p:strVal val="visible"/>
                                      </p:to>
                                    </p:set>
                                    <p:animEffect transition="in" filter="slide(fromBottom)">
                                      <p:cBhvr>
                                        <p:cTn id="25" dur="500"/>
                                        <p:tgtEl>
                                          <p:spTgt spid="209923">
                                            <p:txEl>
                                              <p:pRg st="8" end="8"/>
                                            </p:txEl>
                                          </p:spTgt>
                                        </p:tgtEl>
                                      </p:cBhvr>
                                    </p:animEffect>
                                  </p:childTnLst>
                                </p:cTn>
                              </p:par>
                              <p:par>
                                <p:cTn id="26" presetID="12" presetClass="entr" presetSubtype="4" fill="hold" grpId="0" nodeType="withEffect">
                                  <p:stCondLst>
                                    <p:cond delay="0"/>
                                  </p:stCondLst>
                                  <p:childTnLst>
                                    <p:set>
                                      <p:cBhvr>
                                        <p:cTn id="27" dur="1" fill="hold">
                                          <p:stCondLst>
                                            <p:cond delay="0"/>
                                          </p:stCondLst>
                                        </p:cTn>
                                        <p:tgtEl>
                                          <p:spTgt spid="209923">
                                            <p:txEl>
                                              <p:pRg st="9" end="9"/>
                                            </p:txEl>
                                          </p:spTgt>
                                        </p:tgtEl>
                                        <p:attrNameLst>
                                          <p:attrName>style.visibility</p:attrName>
                                        </p:attrNameLst>
                                      </p:cBhvr>
                                      <p:to>
                                        <p:strVal val="visible"/>
                                      </p:to>
                                    </p:set>
                                    <p:animEffect transition="in" filter="slide(fromBottom)">
                                      <p:cBhvr>
                                        <p:cTn id="28" dur="500"/>
                                        <p:tgtEl>
                                          <p:spTgt spid="209923">
                                            <p:txEl>
                                              <p:pRg st="9" end="9"/>
                                            </p:txEl>
                                          </p:spTgt>
                                        </p:tgtEl>
                                      </p:cBhvr>
                                    </p:animEffect>
                                  </p:childTnLst>
                                </p:cTn>
                              </p:par>
                              <p:par>
                                <p:cTn id="29" presetID="12" presetClass="entr" presetSubtype="4" fill="hold" grpId="0" nodeType="withEffect">
                                  <p:stCondLst>
                                    <p:cond delay="0"/>
                                  </p:stCondLst>
                                  <p:childTnLst>
                                    <p:set>
                                      <p:cBhvr>
                                        <p:cTn id="30" dur="1" fill="hold">
                                          <p:stCondLst>
                                            <p:cond delay="0"/>
                                          </p:stCondLst>
                                        </p:cTn>
                                        <p:tgtEl>
                                          <p:spTgt spid="209923">
                                            <p:txEl>
                                              <p:pRg st="10" end="10"/>
                                            </p:txEl>
                                          </p:spTgt>
                                        </p:tgtEl>
                                        <p:attrNameLst>
                                          <p:attrName>style.visibility</p:attrName>
                                        </p:attrNameLst>
                                      </p:cBhvr>
                                      <p:to>
                                        <p:strVal val="visible"/>
                                      </p:to>
                                    </p:set>
                                    <p:animEffect transition="in" filter="slide(fromBottom)">
                                      <p:cBhvr>
                                        <p:cTn id="31" dur="500"/>
                                        <p:tgtEl>
                                          <p:spTgt spid="20992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9923" grpId="0" build="p"/>
    </p:bldLst>
  </p:timing>
</p:sld>
</file>

<file path=ppt/slides/slide7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8676" name="灯片编号占位符 5"/>
          <p:cNvSpPr>
            <a:spLocks noGrp="1"/>
          </p:cNvSpPr>
          <p:nvPr>
            <p:ph type="sldNum" sz="quarter" idx="4294967295"/>
          </p:nvPr>
        </p:nvSpPr>
        <p:spPr>
          <a:xfrm>
            <a:off x="9448800" y="6311900"/>
            <a:ext cx="2743200" cy="365125"/>
          </a:xfrm>
          <a:noFill/>
        </p:spPr>
        <p:txBody>
          <a:bodyPr/>
          <a:lstStyle/>
          <a:p>
            <a:r>
              <a:rPr lang="en-US" altLang="zh-CN">
                <a:ea typeface="宋体" pitchFamily="2" charset="-122"/>
              </a:rPr>
              <a:t>8--</a:t>
            </a:r>
            <a:fld id="{B38D9113-CEB0-401F-B57A-B323F39526F9}" type="slidenum">
              <a:rPr lang="en-US" altLang="zh-CN" smtClean="0">
                <a:ea typeface="宋体" pitchFamily="2" charset="-122"/>
              </a:rPr>
              <a:pPr/>
              <a:t>72</a:t>
            </a:fld>
            <a:endParaRPr lang="en-US" altLang="zh-CN">
              <a:ea typeface="宋体" pitchFamily="2" charset="-122"/>
            </a:endParaRPr>
          </a:p>
        </p:txBody>
      </p:sp>
      <p:sp>
        <p:nvSpPr>
          <p:cNvPr id="28677" name="Rectangle 2"/>
          <p:cNvSpPr>
            <a:spLocks noGrp="1" noChangeArrowheads="1"/>
          </p:cNvSpPr>
          <p:nvPr>
            <p:ph type="title" idx="4294967295"/>
          </p:nvPr>
        </p:nvSpPr>
        <p:spPr>
          <a:xfrm>
            <a:off x="2066925" y="397669"/>
            <a:ext cx="6972300" cy="1008062"/>
          </a:xfrm>
          <a:noFill/>
        </p:spPr>
        <p:txBody>
          <a:bodyPr vert="horz" lIns="90488" tIns="44450" rIns="90488" bIns="44450" rtlCol="0" anchor="ctr" anchorCtr="1">
            <a:normAutofit/>
          </a:bodyPr>
          <a:lstStyle/>
          <a:p>
            <a:pPr eaLnBrk="1" hangingPunct="1"/>
            <a:r>
              <a:rPr lang="zh-CN" altLang="en-US" sz="4000" b="1" dirty="0">
                <a:effectLst/>
              </a:rPr>
              <a:t>利用置信区间进行假设检验</a:t>
            </a:r>
            <a:endParaRPr lang="zh-CN" altLang="en-US" sz="3600" b="1" dirty="0">
              <a:solidFill>
                <a:schemeClr val="hlink"/>
              </a:solidFill>
              <a:effectLst/>
            </a:endParaRPr>
          </a:p>
        </p:txBody>
      </p:sp>
      <p:sp>
        <p:nvSpPr>
          <p:cNvPr id="129027" name="Rectangle 3"/>
          <p:cNvSpPr>
            <a:spLocks noGrp="1" noChangeArrowheads="1"/>
          </p:cNvSpPr>
          <p:nvPr>
            <p:ph type="body" idx="4294967295"/>
          </p:nvPr>
        </p:nvSpPr>
        <p:spPr>
          <a:xfrm>
            <a:off x="1704975" y="1465263"/>
            <a:ext cx="6959600" cy="1246188"/>
          </a:xfrm>
          <a:noFill/>
        </p:spPr>
        <p:txBody>
          <a:bodyPr vert="horz" lIns="90488" tIns="44450" rIns="90488" bIns="44450" rtlCol="0">
            <a:normAutofit/>
          </a:bodyPr>
          <a:lstStyle/>
          <a:p>
            <a:pPr marL="812800" indent="-812800">
              <a:spcBef>
                <a:spcPct val="24000"/>
              </a:spcBef>
              <a:buNone/>
            </a:pPr>
            <a:r>
              <a:rPr lang="zh-CN" altLang="en-US" sz="2800" dirty="0">
                <a:solidFill>
                  <a:srgbClr val="0070C0"/>
                </a:solidFill>
                <a:sym typeface="Wingdings" pitchFamily="2" charset="2"/>
              </a:rPr>
              <a:t>对总体均值进行双侧检验：</a:t>
            </a:r>
          </a:p>
          <a:p>
            <a:pPr marL="0" indent="0">
              <a:spcBef>
                <a:spcPct val="24000"/>
              </a:spcBef>
              <a:buNone/>
            </a:pPr>
            <a:r>
              <a:rPr lang="en-US" altLang="zh-CN" sz="2800" dirty="0">
                <a:solidFill>
                  <a:srgbClr val="0070C0"/>
                </a:solidFill>
                <a:sym typeface="Wingdings" pitchFamily="2" charset="2"/>
              </a:rPr>
              <a:t>1. </a:t>
            </a:r>
            <a:r>
              <a:rPr lang="zh-CN" altLang="en-US" sz="2800" dirty="0">
                <a:solidFill>
                  <a:srgbClr val="0070C0"/>
                </a:solidFill>
                <a:sym typeface="Wingdings" pitchFamily="2" charset="2"/>
              </a:rPr>
              <a:t>求出均值的置信区间</a:t>
            </a:r>
          </a:p>
        </p:txBody>
      </p:sp>
      <p:sp>
        <p:nvSpPr>
          <p:cNvPr id="129029" name="Text Box 5"/>
          <p:cNvSpPr txBox="1">
            <a:spLocks noChangeArrowheads="1"/>
          </p:cNvSpPr>
          <p:nvPr/>
        </p:nvSpPr>
        <p:spPr bwMode="auto">
          <a:xfrm>
            <a:off x="2855914" y="2781300"/>
            <a:ext cx="2016125" cy="641350"/>
          </a:xfrm>
          <a:prstGeom prst="rect">
            <a:avLst/>
          </a:prstGeom>
          <a:noFill/>
          <a:ln w="12700">
            <a:noFill/>
            <a:miter lim="800000"/>
            <a:headEnd/>
            <a:tailEnd/>
          </a:ln>
        </p:spPr>
        <p:txBody>
          <a:bodyPr>
            <a:spAutoFit/>
          </a:bodyPr>
          <a:lstStyle/>
          <a:p>
            <a:pPr eaLnBrk="0" hangingPunct="0">
              <a:spcBef>
                <a:spcPct val="50000"/>
              </a:spcBef>
            </a:pPr>
            <a:r>
              <a:rPr kumimoji="1" lang="en-US" altLang="zh-CN" sz="3600" b="1">
                <a:solidFill>
                  <a:srgbClr val="000000"/>
                </a:solidFill>
                <a:latin typeface="Symbol" pitchFamily="18" charset="2"/>
              </a:rPr>
              <a:t></a:t>
            </a:r>
            <a:r>
              <a:rPr kumimoji="1" lang="zh-CN" altLang="en-US" sz="2800" b="1">
                <a:solidFill>
                  <a:srgbClr val="000000"/>
                </a:solidFill>
              </a:rPr>
              <a:t>已知时：</a:t>
            </a:r>
          </a:p>
        </p:txBody>
      </p:sp>
      <p:graphicFrame>
        <p:nvGraphicFramePr>
          <p:cNvPr id="449538" name="Object 2">
            <a:hlinkClick r:id="" action="ppaction://ole?verb=0"/>
          </p:cNvPr>
          <p:cNvGraphicFramePr>
            <a:graphicFrameLocks/>
          </p:cNvGraphicFramePr>
          <p:nvPr/>
        </p:nvGraphicFramePr>
        <p:xfrm>
          <a:off x="4775200" y="2663826"/>
          <a:ext cx="4184650" cy="1084263"/>
        </p:xfrm>
        <a:graphic>
          <a:graphicData uri="http://schemas.openxmlformats.org/presentationml/2006/ole">
            <mc:AlternateContent xmlns:mc="http://schemas.openxmlformats.org/markup-compatibility/2006">
              <mc:Choice xmlns:v="urn:schemas-microsoft-com:vml" Requires="v">
                <p:oleObj name="公式" r:id="rId3" imgW="1752480" imgH="457200" progId="Equation.3">
                  <p:embed/>
                </p:oleObj>
              </mc:Choice>
              <mc:Fallback>
                <p:oleObj name="公式" r:id="rId3" imgW="1752480" imgH="457200" progId="Equation.3">
                  <p:embed/>
                  <p:pic>
                    <p:nvPicPr>
                      <p:cNvPr id="449538" name="Object 2">
                        <a:hlinkClick r:id="" action="ppaction://ole?verb=0"/>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75200" y="2663826"/>
                        <a:ext cx="4184650" cy="1084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pic>
                </p:oleObj>
              </mc:Fallback>
            </mc:AlternateContent>
          </a:graphicData>
        </a:graphic>
      </p:graphicFrame>
      <p:graphicFrame>
        <p:nvGraphicFramePr>
          <p:cNvPr id="449539" name="Object 3">
            <a:hlinkClick r:id="" action="ppaction://ole?verb=0"/>
          </p:cNvPr>
          <p:cNvGraphicFramePr>
            <a:graphicFrameLocks/>
          </p:cNvGraphicFramePr>
          <p:nvPr/>
        </p:nvGraphicFramePr>
        <p:xfrm>
          <a:off x="4633914" y="3887788"/>
          <a:ext cx="4365625" cy="1103312"/>
        </p:xfrm>
        <a:graphic>
          <a:graphicData uri="http://schemas.openxmlformats.org/presentationml/2006/ole">
            <mc:AlternateContent xmlns:mc="http://schemas.openxmlformats.org/markup-compatibility/2006">
              <mc:Choice xmlns:v="urn:schemas-microsoft-com:vml" Requires="v">
                <p:oleObj name="公式" r:id="rId5" imgW="1625400" imgH="457200" progId="Equation.3">
                  <p:embed/>
                </p:oleObj>
              </mc:Choice>
              <mc:Fallback>
                <p:oleObj name="公式" r:id="rId5" imgW="1625400" imgH="457200" progId="Equation.3">
                  <p:embed/>
                  <p:pic>
                    <p:nvPicPr>
                      <p:cNvPr id="449539" name="Object 3">
                        <a:hlinkClick r:id="" action="ppaction://ole?verb=0"/>
                      </p:cNvPr>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633914" y="3887788"/>
                        <a:ext cx="4365625" cy="1103312"/>
                      </a:xfrm>
                      <a:prstGeom prst="rect">
                        <a:avLst/>
                      </a:prstGeom>
                      <a:noFill/>
                      <a:ln>
                        <a:noFill/>
                      </a:ln>
                      <a:effectLst>
                        <a:outerShdw dist="1796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Lst>
                    </p:spPr>
                  </p:pic>
                </p:oleObj>
              </mc:Fallback>
            </mc:AlternateContent>
          </a:graphicData>
        </a:graphic>
      </p:graphicFrame>
      <p:sp>
        <p:nvSpPr>
          <p:cNvPr id="129034" name="Rectangle 10"/>
          <p:cNvSpPr>
            <a:spLocks noChangeArrowheads="1"/>
          </p:cNvSpPr>
          <p:nvPr/>
        </p:nvSpPr>
        <p:spPr bwMode="auto">
          <a:xfrm>
            <a:off x="1708150" y="5130799"/>
            <a:ext cx="8604250" cy="1193800"/>
          </a:xfrm>
          <a:prstGeom prst="rect">
            <a:avLst/>
          </a:prstGeom>
          <a:noFill/>
          <a:ln w="12700">
            <a:noFill/>
            <a:miter lim="800000"/>
            <a:headEnd/>
            <a:tailEnd/>
          </a:ln>
        </p:spPr>
        <p:txBody>
          <a:bodyPr lIns="90488" tIns="44450" rIns="90488" bIns="44450"/>
          <a:lstStyle/>
          <a:p>
            <a:pPr marL="444500" indent="-444500" eaLnBrk="0" hangingPunct="0">
              <a:spcBef>
                <a:spcPct val="24000"/>
              </a:spcBef>
              <a:buFontTx/>
              <a:buAutoNum type="arabicPeriod" startAt="2"/>
            </a:pPr>
            <a:r>
              <a:rPr kumimoji="1" lang="zh-CN" altLang="en-US" sz="2800" b="1" dirty="0">
                <a:solidFill>
                  <a:srgbClr val="0070C0"/>
                </a:solidFill>
                <a:sym typeface="Wingdings" pitchFamily="2" charset="2"/>
              </a:rPr>
              <a:t>若总体参数的原假设值</a:t>
            </a:r>
            <a:r>
              <a:rPr kumimoji="1" lang="el-GR" altLang="zh-CN" sz="2800" b="1" i="1" dirty="0">
                <a:solidFill>
                  <a:srgbClr val="0070C0"/>
                </a:solidFill>
                <a:ea typeface="华文中宋" pitchFamily="2" charset="-122"/>
                <a:cs typeface="Arial" pitchFamily="34" charset="0"/>
                <a:sym typeface="Wingdings" pitchFamily="2" charset="2"/>
              </a:rPr>
              <a:t>μ</a:t>
            </a:r>
            <a:r>
              <a:rPr kumimoji="1" lang="en-US" altLang="zh-CN" sz="2800" b="1" baseline="-25000" dirty="0">
                <a:solidFill>
                  <a:srgbClr val="0070C0"/>
                </a:solidFill>
                <a:cs typeface="Arial" pitchFamily="34" charset="0"/>
                <a:sym typeface="Wingdings" pitchFamily="2" charset="2"/>
              </a:rPr>
              <a:t>0</a:t>
            </a:r>
            <a:r>
              <a:rPr kumimoji="1" lang="zh-CN" altLang="en-US" sz="2800" b="1" dirty="0">
                <a:solidFill>
                  <a:srgbClr val="0070C0"/>
                </a:solidFill>
                <a:sym typeface="Wingdings" pitchFamily="2" charset="2"/>
              </a:rPr>
              <a:t>在置信区间外，则拒绝</a:t>
            </a:r>
            <a:r>
              <a:rPr kumimoji="1" lang="en-US" altLang="zh-CN" sz="2800" b="1" dirty="0">
                <a:solidFill>
                  <a:srgbClr val="0070C0"/>
                </a:solidFill>
                <a:sym typeface="Wingdings" pitchFamily="2" charset="2"/>
              </a:rPr>
              <a:t>H</a:t>
            </a:r>
            <a:r>
              <a:rPr kumimoji="1" lang="en-US" altLang="zh-CN" sz="2800" b="1" baseline="-25000" dirty="0">
                <a:solidFill>
                  <a:srgbClr val="0070C0"/>
                </a:solidFill>
                <a:sym typeface="Wingdings" pitchFamily="2" charset="2"/>
              </a:rPr>
              <a:t>0   </a:t>
            </a:r>
            <a:r>
              <a:rPr kumimoji="1" lang="zh-CN" altLang="en-US" sz="2800" b="1" dirty="0">
                <a:solidFill>
                  <a:srgbClr val="0070C0"/>
                </a:solidFill>
                <a:sym typeface="Wingdings" pitchFamily="2" charset="2"/>
              </a:rPr>
              <a:t>；反之则接受原假设。</a:t>
            </a:r>
          </a:p>
        </p:txBody>
      </p:sp>
      <p:sp>
        <p:nvSpPr>
          <p:cNvPr id="129035" name="Text Box 11"/>
          <p:cNvSpPr txBox="1">
            <a:spLocks noChangeArrowheads="1"/>
          </p:cNvSpPr>
          <p:nvPr/>
        </p:nvSpPr>
        <p:spPr bwMode="auto">
          <a:xfrm>
            <a:off x="2855914" y="3933825"/>
            <a:ext cx="1944687" cy="641350"/>
          </a:xfrm>
          <a:prstGeom prst="rect">
            <a:avLst/>
          </a:prstGeom>
          <a:noFill/>
          <a:ln w="12700">
            <a:noFill/>
            <a:miter lim="800000"/>
            <a:headEnd/>
            <a:tailEnd/>
          </a:ln>
        </p:spPr>
        <p:txBody>
          <a:bodyPr>
            <a:spAutoFit/>
          </a:bodyPr>
          <a:lstStyle/>
          <a:p>
            <a:pPr eaLnBrk="0" hangingPunct="0">
              <a:spcBef>
                <a:spcPct val="50000"/>
              </a:spcBef>
            </a:pPr>
            <a:r>
              <a:rPr kumimoji="1" lang="en-US" altLang="zh-CN" sz="3600" b="1">
                <a:solidFill>
                  <a:srgbClr val="000000"/>
                </a:solidFill>
                <a:latin typeface="Symbol" pitchFamily="18" charset="2"/>
              </a:rPr>
              <a:t></a:t>
            </a:r>
            <a:r>
              <a:rPr kumimoji="1" lang="zh-CN" altLang="en-US" sz="2800" b="1">
                <a:solidFill>
                  <a:srgbClr val="000000"/>
                </a:solidFill>
              </a:rPr>
              <a:t>未知时：</a:t>
            </a:r>
          </a:p>
        </p:txBody>
      </p:sp>
    </p:spTree>
    <p:extLst>
      <p:ext uri="{BB962C8B-B14F-4D97-AF65-F5344CB8AC3E}">
        <p14:creationId xmlns:p14="http://schemas.microsoft.com/office/powerpoint/2010/main" val="42307582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9027">
                                            <p:txEl>
                                              <p:pRg st="1" end="1"/>
                                            </p:txEl>
                                          </p:spTgt>
                                        </p:tgtEl>
                                        <p:attrNameLst>
                                          <p:attrName>style.visibility</p:attrName>
                                        </p:attrNameLst>
                                      </p:cBhvr>
                                      <p:to>
                                        <p:strVal val="visible"/>
                                      </p:to>
                                    </p:set>
                                    <p:animEffect transition="in" filter="wipe(left)">
                                      <p:cBhvr>
                                        <p:cTn id="7" dur="500"/>
                                        <p:tgtEl>
                                          <p:spTgt spid="129027">
                                            <p:txEl>
                                              <p:pRg st="1" end="1"/>
                                            </p:txEl>
                                          </p:spTgt>
                                        </p:tgtEl>
                                      </p:cBhvr>
                                    </p:animEffect>
                                  </p:childTnLst>
                                  <p:subTnLst>
                                    <p:animClr clrSpc="rgb" dir="cw">
                                      <p:cBhvr override="childStyle">
                                        <p:cTn dur="1" fill="hold" display="0" masterRel="nextClick" afterEffect="1"/>
                                        <p:tgtEl>
                                          <p:spTgt spid="129027">
                                            <p:txEl>
                                              <p:pRg st="1" end="1"/>
                                            </p:txEl>
                                          </p:spTgt>
                                        </p:tgtEl>
                                        <p:attrNameLst>
                                          <p:attrName>ppt_c</p:attrName>
                                        </p:attrNameLst>
                                      </p:cBhvr>
                                      <p:to>
                                        <a:schemeClr val="folHlink"/>
                                      </p:to>
                                    </p:animClr>
                                  </p:subTnLst>
                                </p:cTn>
                              </p:par>
                            </p:childTnLst>
                          </p:cTn>
                        </p:par>
                        <p:par>
                          <p:cTn id="8" fill="hold">
                            <p:stCondLst>
                              <p:cond delay="500"/>
                            </p:stCondLst>
                            <p:childTnLst>
                              <p:par>
                                <p:cTn id="9" presetID="3" presetClass="entr" presetSubtype="5" fill="hold" grpId="0" nodeType="afterEffect">
                                  <p:stCondLst>
                                    <p:cond delay="0"/>
                                  </p:stCondLst>
                                  <p:childTnLst>
                                    <p:set>
                                      <p:cBhvr>
                                        <p:cTn id="10" dur="1" fill="hold">
                                          <p:stCondLst>
                                            <p:cond delay="0"/>
                                          </p:stCondLst>
                                        </p:cTn>
                                        <p:tgtEl>
                                          <p:spTgt spid="129029"/>
                                        </p:tgtEl>
                                        <p:attrNameLst>
                                          <p:attrName>style.visibility</p:attrName>
                                        </p:attrNameLst>
                                      </p:cBhvr>
                                      <p:to>
                                        <p:strVal val="visible"/>
                                      </p:to>
                                    </p:set>
                                    <p:animEffect transition="in" filter="blinds(vertical)">
                                      <p:cBhvr>
                                        <p:cTn id="11" dur="2000"/>
                                        <p:tgtEl>
                                          <p:spTgt spid="129029"/>
                                        </p:tgtEl>
                                      </p:cBhvr>
                                    </p:animEffect>
                                  </p:childTnLst>
                                </p:cTn>
                              </p:par>
                              <p:par>
                                <p:cTn id="12" presetID="3" presetClass="entr" presetSubtype="5" fill="hold" nodeType="withEffect">
                                  <p:stCondLst>
                                    <p:cond delay="0"/>
                                  </p:stCondLst>
                                  <p:childTnLst>
                                    <p:set>
                                      <p:cBhvr>
                                        <p:cTn id="13" dur="1" fill="hold">
                                          <p:stCondLst>
                                            <p:cond delay="0"/>
                                          </p:stCondLst>
                                        </p:cTn>
                                        <p:tgtEl>
                                          <p:spTgt spid="449538"/>
                                        </p:tgtEl>
                                        <p:attrNameLst>
                                          <p:attrName>style.visibility</p:attrName>
                                        </p:attrNameLst>
                                      </p:cBhvr>
                                      <p:to>
                                        <p:strVal val="visible"/>
                                      </p:to>
                                    </p:set>
                                    <p:animEffect transition="in" filter="blinds(vertical)">
                                      <p:cBhvr>
                                        <p:cTn id="14" dur="2000"/>
                                        <p:tgtEl>
                                          <p:spTgt spid="449538"/>
                                        </p:tgtEl>
                                      </p:cBhvr>
                                    </p:animEffect>
                                  </p:childTnLst>
                                </p:cTn>
                              </p:par>
                            </p:childTnLst>
                          </p:cTn>
                        </p:par>
                        <p:par>
                          <p:cTn id="15" fill="hold">
                            <p:stCondLst>
                              <p:cond delay="2500"/>
                            </p:stCondLst>
                            <p:childTnLst>
                              <p:par>
                                <p:cTn id="16" presetID="3" presetClass="entr" presetSubtype="5" fill="hold" grpId="0" nodeType="afterEffect">
                                  <p:stCondLst>
                                    <p:cond delay="0"/>
                                  </p:stCondLst>
                                  <p:childTnLst>
                                    <p:set>
                                      <p:cBhvr>
                                        <p:cTn id="17" dur="1" fill="hold">
                                          <p:stCondLst>
                                            <p:cond delay="0"/>
                                          </p:stCondLst>
                                        </p:cTn>
                                        <p:tgtEl>
                                          <p:spTgt spid="129035"/>
                                        </p:tgtEl>
                                        <p:attrNameLst>
                                          <p:attrName>style.visibility</p:attrName>
                                        </p:attrNameLst>
                                      </p:cBhvr>
                                      <p:to>
                                        <p:strVal val="visible"/>
                                      </p:to>
                                    </p:set>
                                    <p:animEffect transition="in" filter="blinds(vertical)">
                                      <p:cBhvr>
                                        <p:cTn id="18" dur="2000"/>
                                        <p:tgtEl>
                                          <p:spTgt spid="129035"/>
                                        </p:tgtEl>
                                      </p:cBhvr>
                                    </p:animEffect>
                                  </p:childTnLst>
                                </p:cTn>
                              </p:par>
                            </p:childTnLst>
                          </p:cTn>
                        </p:par>
                        <p:par>
                          <p:cTn id="19" fill="hold">
                            <p:stCondLst>
                              <p:cond delay="4500"/>
                            </p:stCondLst>
                            <p:childTnLst>
                              <p:par>
                                <p:cTn id="20" presetID="3" presetClass="entr" presetSubtype="5" fill="hold" nodeType="afterEffect">
                                  <p:stCondLst>
                                    <p:cond delay="0"/>
                                  </p:stCondLst>
                                  <p:childTnLst>
                                    <p:set>
                                      <p:cBhvr>
                                        <p:cTn id="21" dur="1" fill="hold">
                                          <p:stCondLst>
                                            <p:cond delay="0"/>
                                          </p:stCondLst>
                                        </p:cTn>
                                        <p:tgtEl>
                                          <p:spTgt spid="449539"/>
                                        </p:tgtEl>
                                        <p:attrNameLst>
                                          <p:attrName>style.visibility</p:attrName>
                                        </p:attrNameLst>
                                      </p:cBhvr>
                                      <p:to>
                                        <p:strVal val="visible"/>
                                      </p:to>
                                    </p:set>
                                    <p:animEffect transition="in" filter="blinds(vertical)">
                                      <p:cBhvr>
                                        <p:cTn id="22" dur="2000"/>
                                        <p:tgtEl>
                                          <p:spTgt spid="44953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29034">
                                            <p:txEl>
                                              <p:pRg st="0" end="0"/>
                                            </p:txEl>
                                          </p:spTgt>
                                        </p:tgtEl>
                                        <p:attrNameLst>
                                          <p:attrName>style.visibility</p:attrName>
                                        </p:attrNameLst>
                                      </p:cBhvr>
                                      <p:to>
                                        <p:strVal val="visible"/>
                                      </p:to>
                                    </p:set>
                                    <p:animEffect transition="in" filter="wipe(left)">
                                      <p:cBhvr>
                                        <p:cTn id="27" dur="500"/>
                                        <p:tgtEl>
                                          <p:spTgt spid="129034">
                                            <p:txEl>
                                              <p:pRg st="0" end="0"/>
                                            </p:txEl>
                                          </p:spTgt>
                                        </p:tgtEl>
                                      </p:cBhvr>
                                    </p:animEffect>
                                  </p:childTnLst>
                                  <p:subTnLst>
                                    <p:animClr clrSpc="rgb" dir="cw">
                                      <p:cBhvr override="childStyle">
                                        <p:cTn dur="1" fill="hold" display="0" masterRel="nextClick" afterEffect="1"/>
                                        <p:tgtEl>
                                          <p:spTgt spid="129034">
                                            <p:txEl>
                                              <p:pRg st="0" end="0"/>
                                            </p:txEl>
                                          </p:spTgt>
                                        </p:tgtEl>
                                        <p:attrNameLst>
                                          <p:attrName>ppt_c</p:attrName>
                                        </p:attrNameLst>
                                      </p:cBhvr>
                                      <p:to>
                                        <a:schemeClr val="folHlink"/>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9027" grpId="0" build="p" autoUpdateAnimBg="0"/>
      <p:bldP spid="129029" grpId="0"/>
      <p:bldP spid="129034" grpId="0" build="p" autoUpdateAnimBg="0"/>
      <p:bldP spid="129035" grpId="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灯片编号占位符 6"/>
          <p:cNvSpPr>
            <a:spLocks noGrp="1"/>
          </p:cNvSpPr>
          <p:nvPr>
            <p:ph type="sldNum" sz="quarter" idx="4294967295"/>
          </p:nvPr>
        </p:nvSpPr>
        <p:spPr>
          <a:xfrm>
            <a:off x="9448800" y="6311900"/>
            <a:ext cx="2743200" cy="365125"/>
          </a:xfrm>
          <a:noFill/>
        </p:spPr>
        <p:txBody>
          <a:bodyPr/>
          <a:lstStyle/>
          <a:p>
            <a:r>
              <a:rPr lang="en-US" altLang="zh-CN">
                <a:ea typeface="宋体" pitchFamily="2" charset="-122"/>
              </a:rPr>
              <a:t>8--</a:t>
            </a:r>
            <a:fld id="{AC783B03-0700-49FF-B740-C23BC80BCDDA}" type="slidenum">
              <a:rPr lang="en-US" altLang="zh-CN" smtClean="0">
                <a:ea typeface="宋体" pitchFamily="2" charset="-122"/>
              </a:rPr>
              <a:pPr/>
              <a:t>73</a:t>
            </a:fld>
            <a:endParaRPr lang="en-US" altLang="zh-CN">
              <a:ea typeface="宋体" pitchFamily="2" charset="-122"/>
            </a:endParaRPr>
          </a:p>
        </p:txBody>
      </p:sp>
      <p:sp>
        <p:nvSpPr>
          <p:cNvPr id="105475" name="Rectangle 1026"/>
          <p:cNvSpPr>
            <a:spLocks noGrp="1" noChangeArrowheads="1"/>
          </p:cNvSpPr>
          <p:nvPr>
            <p:ph type="title" idx="4294967295"/>
          </p:nvPr>
        </p:nvSpPr>
        <p:spPr>
          <a:xfrm>
            <a:off x="1651000" y="760413"/>
            <a:ext cx="7239000" cy="1143000"/>
          </a:xfrm>
          <a:noFill/>
        </p:spPr>
        <p:txBody>
          <a:bodyPr vert="horz" lIns="90488" tIns="44450" rIns="90488" bIns="44450" rtlCol="0" anchor="ctr" anchorCtr="1">
            <a:normAutofit/>
          </a:bodyPr>
          <a:lstStyle/>
          <a:p>
            <a:pPr eaLnBrk="1" hangingPunct="1"/>
            <a:r>
              <a:rPr lang="en-US" altLang="zh-CN" sz="4000" b="1" dirty="0">
                <a:effectLst/>
              </a:rPr>
              <a:t>t </a:t>
            </a:r>
            <a:r>
              <a:rPr lang="zh-CN" altLang="en-US" sz="4000" b="1" dirty="0">
                <a:effectLst/>
              </a:rPr>
              <a:t>检验与相应的置信区间（例）</a:t>
            </a:r>
          </a:p>
        </p:txBody>
      </p:sp>
      <p:sp>
        <p:nvSpPr>
          <p:cNvPr id="105476" name="Rectangle 1027"/>
          <p:cNvSpPr>
            <a:spLocks noGrp="1" noChangeArrowheads="1"/>
          </p:cNvSpPr>
          <p:nvPr>
            <p:ph type="body" sz="half" idx="4294967295"/>
          </p:nvPr>
        </p:nvSpPr>
        <p:spPr>
          <a:xfrm>
            <a:off x="2011363" y="2181225"/>
            <a:ext cx="7081837" cy="4495800"/>
          </a:xfrm>
        </p:spPr>
        <p:txBody>
          <a:bodyPr/>
          <a:lstStyle/>
          <a:p>
            <a:pPr marL="0" indent="0" algn="just">
              <a:lnSpc>
                <a:spcPct val="120000"/>
              </a:lnSpc>
              <a:buNone/>
            </a:pPr>
            <a:r>
              <a:rPr lang="en-US" altLang="zh-CN" dirty="0"/>
              <a:t>【</a:t>
            </a:r>
            <a:r>
              <a:rPr lang="zh-CN" altLang="en-US" dirty="0"/>
              <a:t>例</a:t>
            </a:r>
            <a:r>
              <a:rPr lang="en-US" altLang="zh-CN" b="0" dirty="0"/>
              <a:t>+</a:t>
            </a:r>
            <a:r>
              <a:rPr lang="en-US" altLang="zh-CN" dirty="0"/>
              <a:t>】</a:t>
            </a:r>
            <a:r>
              <a:rPr lang="zh-CN" altLang="en-US" sz="3000" dirty="0">
                <a:solidFill>
                  <a:srgbClr val="000000"/>
                </a:solidFill>
              </a:rPr>
              <a:t>某厂采用自动包装机分装产品，假定每包产品的重量服从正态分布，每包标准重量为</a:t>
            </a:r>
            <a:r>
              <a:rPr lang="en-US" altLang="zh-CN" sz="3000" dirty="0">
                <a:solidFill>
                  <a:srgbClr val="000000"/>
                </a:solidFill>
              </a:rPr>
              <a:t>1000</a:t>
            </a:r>
            <a:r>
              <a:rPr lang="zh-CN" altLang="en-US" sz="3000" dirty="0">
                <a:solidFill>
                  <a:srgbClr val="000000"/>
                </a:solidFill>
              </a:rPr>
              <a:t>克。某日随机抽查９包，测得样本平均重量为</a:t>
            </a:r>
            <a:r>
              <a:rPr lang="en-US" altLang="zh-CN" sz="3000" dirty="0">
                <a:solidFill>
                  <a:srgbClr val="000000"/>
                </a:solidFill>
              </a:rPr>
              <a:t>986</a:t>
            </a:r>
            <a:r>
              <a:rPr lang="zh-CN" altLang="en-US" sz="3000" dirty="0">
                <a:solidFill>
                  <a:srgbClr val="000000"/>
                </a:solidFill>
              </a:rPr>
              <a:t>克，样本标准差为</a:t>
            </a:r>
            <a:r>
              <a:rPr lang="en-US" altLang="zh-CN" sz="3000" dirty="0">
                <a:solidFill>
                  <a:srgbClr val="000000"/>
                </a:solidFill>
              </a:rPr>
              <a:t>24</a:t>
            </a:r>
            <a:r>
              <a:rPr lang="zh-CN" altLang="en-US" sz="3000" dirty="0">
                <a:solidFill>
                  <a:srgbClr val="000000"/>
                </a:solidFill>
              </a:rPr>
              <a:t>克。试问在</a:t>
            </a:r>
            <a:r>
              <a:rPr lang="en-US" altLang="zh-CN" sz="3000" dirty="0">
                <a:solidFill>
                  <a:srgbClr val="000000"/>
                </a:solidFill>
              </a:rPr>
              <a:t>0.05</a:t>
            </a:r>
            <a:r>
              <a:rPr lang="zh-CN" altLang="en-US" sz="3000" dirty="0">
                <a:solidFill>
                  <a:srgbClr val="000000"/>
                </a:solidFill>
              </a:rPr>
              <a:t>的检验水平上，能否认为这天自动包装机工作正常？</a:t>
            </a:r>
          </a:p>
        </p:txBody>
      </p:sp>
    </p:spTree>
    <p:extLst>
      <p:ext uri="{BB962C8B-B14F-4D97-AF65-F5344CB8AC3E}">
        <p14:creationId xmlns:p14="http://schemas.microsoft.com/office/powerpoint/2010/main" val="97680071"/>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9701" name="灯片编号占位符 7"/>
          <p:cNvSpPr>
            <a:spLocks noGrp="1"/>
          </p:cNvSpPr>
          <p:nvPr>
            <p:ph type="sldNum" sz="quarter" idx="12"/>
          </p:nvPr>
        </p:nvSpPr>
        <p:spPr>
          <a:noFill/>
        </p:spPr>
        <p:txBody>
          <a:bodyPr/>
          <a:lstStyle/>
          <a:p>
            <a:r>
              <a:rPr lang="en-US" altLang="zh-CN">
                <a:ea typeface="宋体" pitchFamily="2" charset="-122"/>
              </a:rPr>
              <a:t>8--</a:t>
            </a:r>
            <a:fld id="{01ABB4D3-B5E4-4739-BE51-0FB177B8A9E2}" type="slidenum">
              <a:rPr lang="en-US" altLang="zh-CN" smtClean="0">
                <a:ea typeface="宋体" pitchFamily="2" charset="-122"/>
              </a:rPr>
              <a:pPr/>
              <a:t>74</a:t>
            </a:fld>
            <a:endParaRPr lang="en-US" altLang="zh-CN">
              <a:ea typeface="宋体" pitchFamily="2" charset="-122"/>
            </a:endParaRPr>
          </a:p>
        </p:txBody>
      </p:sp>
      <p:sp>
        <p:nvSpPr>
          <p:cNvPr id="29702" name="Rectangle 2"/>
          <p:cNvSpPr>
            <a:spLocks noGrp="1" noChangeArrowheads="1"/>
          </p:cNvSpPr>
          <p:nvPr>
            <p:ph type="title"/>
          </p:nvPr>
        </p:nvSpPr>
        <p:spPr>
          <a:xfrm>
            <a:off x="2351088" y="260350"/>
            <a:ext cx="7772400" cy="990600"/>
          </a:xfrm>
          <a:noFill/>
        </p:spPr>
        <p:txBody>
          <a:bodyPr vert="horz" lIns="90488" tIns="44450" rIns="90488" bIns="44450" rtlCol="0" anchor="ctr" anchorCtr="1">
            <a:normAutofit/>
          </a:bodyPr>
          <a:lstStyle/>
          <a:p>
            <a:pPr eaLnBrk="1" hangingPunct="1"/>
            <a:r>
              <a:rPr lang="zh-CN" altLang="en-US" sz="4000"/>
              <a:t>（</a:t>
            </a:r>
            <a:r>
              <a:rPr lang="zh-CN" altLang="en-US" sz="3600"/>
              <a:t>置信区间</a:t>
            </a:r>
            <a:r>
              <a:rPr lang="en-US" altLang="zh-CN">
                <a:latin typeface="Arial" pitchFamily="34" charset="0"/>
              </a:rPr>
              <a:t>——</a:t>
            </a:r>
            <a:r>
              <a:rPr lang="zh-CN" altLang="en-US"/>
              <a:t>双侧 </a:t>
            </a:r>
            <a:r>
              <a:rPr lang="en-US" altLang="zh-CN"/>
              <a:t>t </a:t>
            </a:r>
            <a:r>
              <a:rPr lang="zh-CN" altLang="en-US"/>
              <a:t>检验</a:t>
            </a:r>
            <a:r>
              <a:rPr lang="zh-CN" altLang="en-US" sz="3600"/>
              <a:t>）</a:t>
            </a:r>
          </a:p>
        </p:txBody>
      </p:sp>
      <p:sp>
        <p:nvSpPr>
          <p:cNvPr id="29703" name="Rectangle 3"/>
          <p:cNvSpPr>
            <a:spLocks noGrp="1" noChangeArrowheads="1"/>
          </p:cNvSpPr>
          <p:nvPr>
            <p:ph type="body" sz="half" idx="1"/>
          </p:nvPr>
        </p:nvSpPr>
        <p:spPr>
          <a:xfrm>
            <a:off x="2063750" y="1350963"/>
            <a:ext cx="7913688" cy="1223962"/>
          </a:xfrm>
          <a:noFill/>
        </p:spPr>
        <p:txBody>
          <a:bodyPr vert="horz" lIns="90488" tIns="44450" rIns="90488" bIns="44450" rtlCol="0">
            <a:normAutofit/>
          </a:bodyPr>
          <a:lstStyle/>
          <a:p>
            <a:pPr marL="0" indent="0"/>
            <a:r>
              <a:rPr lang="en-US" altLang="zh-CN" sz="2800">
                <a:solidFill>
                  <a:srgbClr val="FF00FF"/>
                </a:solidFill>
              </a:rPr>
              <a:t> H</a:t>
            </a:r>
            <a:r>
              <a:rPr lang="en-US" altLang="zh-CN" sz="2000">
                <a:solidFill>
                  <a:srgbClr val="FF00FF"/>
                </a:solidFill>
              </a:rPr>
              <a:t>0</a:t>
            </a:r>
            <a:r>
              <a:rPr lang="en-US" altLang="zh-CN" sz="2800">
                <a:solidFill>
                  <a:srgbClr val="FF00FF"/>
                </a:solidFill>
              </a:rPr>
              <a:t>:                </a:t>
            </a:r>
            <a:r>
              <a:rPr lang="zh-CN" altLang="en-US" sz="2800">
                <a:solidFill>
                  <a:srgbClr val="FF00FF"/>
                </a:solidFill>
              </a:rPr>
              <a:t>；</a:t>
            </a:r>
            <a:r>
              <a:rPr lang="en-US" altLang="zh-CN" sz="2800">
                <a:solidFill>
                  <a:srgbClr val="FF00FF"/>
                </a:solidFill>
              </a:rPr>
              <a:t>H</a:t>
            </a:r>
            <a:r>
              <a:rPr lang="en-US" altLang="zh-CN" sz="2000">
                <a:solidFill>
                  <a:srgbClr val="FF00FF"/>
                </a:solidFill>
              </a:rPr>
              <a:t>1</a:t>
            </a:r>
            <a:r>
              <a:rPr lang="en-US" altLang="zh-CN" sz="2800">
                <a:solidFill>
                  <a:srgbClr val="FF00FF"/>
                </a:solidFill>
              </a:rPr>
              <a:t>:</a:t>
            </a:r>
            <a:endParaRPr lang="en-US" altLang="zh-CN" sz="2800"/>
          </a:p>
          <a:p>
            <a:pPr marL="0" indent="0"/>
            <a:r>
              <a:rPr lang="en-US" altLang="zh-CN" i="1">
                <a:solidFill>
                  <a:srgbClr val="CC0099"/>
                </a:solidFill>
                <a:latin typeface="Times New Roman" pitchFamily="18" charset="0"/>
              </a:rPr>
              <a:t>n</a:t>
            </a:r>
            <a:r>
              <a:rPr lang="en-US" altLang="zh-CN" sz="2800">
                <a:solidFill>
                  <a:srgbClr val="000000"/>
                </a:solidFill>
                <a:latin typeface="Times New Roman" pitchFamily="18" charset="0"/>
              </a:rPr>
              <a:t>=</a:t>
            </a:r>
            <a:r>
              <a:rPr lang="en-US" altLang="zh-CN" sz="2800">
                <a:solidFill>
                  <a:srgbClr val="000000"/>
                </a:solidFill>
              </a:rPr>
              <a:t> 9</a:t>
            </a:r>
            <a:r>
              <a:rPr lang="zh-CN" altLang="en-US" sz="2800">
                <a:solidFill>
                  <a:srgbClr val="000000"/>
                </a:solidFill>
              </a:rPr>
              <a:t>，</a:t>
            </a:r>
            <a:r>
              <a:rPr lang="zh-CN" altLang="en-US" sz="2800">
                <a:solidFill>
                  <a:srgbClr val="CC0099"/>
                </a:solidFill>
              </a:rPr>
              <a:t> </a:t>
            </a:r>
            <a:r>
              <a:rPr lang="zh-CN" altLang="en-US" sz="2800">
                <a:solidFill>
                  <a:srgbClr val="CC0099"/>
                </a:solidFill>
                <a:latin typeface="Symbol" pitchFamily="18" charset="2"/>
              </a:rPr>
              <a:t></a:t>
            </a:r>
            <a:r>
              <a:rPr lang="zh-CN" altLang="en-US" sz="2800">
                <a:solidFill>
                  <a:srgbClr val="FF00FF"/>
                </a:solidFill>
              </a:rPr>
              <a:t> </a:t>
            </a:r>
            <a:r>
              <a:rPr lang="zh-CN" altLang="en-US" sz="2800">
                <a:solidFill>
                  <a:srgbClr val="000000"/>
                </a:solidFill>
                <a:latin typeface="Symbol" pitchFamily="18" charset="2"/>
              </a:rPr>
              <a:t></a:t>
            </a:r>
            <a:r>
              <a:rPr lang="zh-CN" altLang="en-US" sz="2800">
                <a:solidFill>
                  <a:srgbClr val="000000"/>
                </a:solidFill>
              </a:rPr>
              <a:t> </a:t>
            </a:r>
            <a:r>
              <a:rPr lang="en-US" altLang="zh-CN" sz="2800">
                <a:solidFill>
                  <a:srgbClr val="000000"/>
                </a:solidFill>
              </a:rPr>
              <a:t>0.05</a:t>
            </a:r>
            <a:r>
              <a:rPr lang="zh-CN" altLang="en-US" sz="2800">
                <a:solidFill>
                  <a:srgbClr val="000000"/>
                </a:solidFill>
              </a:rPr>
              <a:t>，</a:t>
            </a:r>
            <a:r>
              <a:rPr lang="en-US" altLang="zh-CN" sz="2400" i="1">
                <a:solidFill>
                  <a:srgbClr val="CC0099"/>
                </a:solidFill>
                <a:sym typeface="Symbol" pitchFamily="18" charset="2"/>
              </a:rPr>
              <a:t>t</a:t>
            </a:r>
            <a:r>
              <a:rPr lang="el-GR" altLang="zh-CN" sz="2400" i="1" baseline="-25000">
                <a:solidFill>
                  <a:srgbClr val="CC0099"/>
                </a:solidFill>
                <a:latin typeface="宋体" pitchFamily="2" charset="-122"/>
              </a:rPr>
              <a:t>α</a:t>
            </a:r>
            <a:r>
              <a:rPr lang="en-US" altLang="zh-CN" sz="2400" i="1" baseline="-25000">
                <a:solidFill>
                  <a:srgbClr val="CC0099"/>
                </a:solidFill>
                <a:latin typeface="宋体" pitchFamily="2" charset="-122"/>
              </a:rPr>
              <a:t>/2</a:t>
            </a:r>
            <a:r>
              <a:rPr lang="en-US" altLang="zh-CN" sz="2400" i="1">
                <a:solidFill>
                  <a:srgbClr val="CC0099"/>
                </a:solidFill>
                <a:latin typeface="宋体" pitchFamily="2" charset="-122"/>
              </a:rPr>
              <a:t>(n-1) </a:t>
            </a:r>
            <a:r>
              <a:rPr lang="en-US" altLang="zh-CN" sz="2800">
                <a:solidFill>
                  <a:schemeClr val="tx1"/>
                </a:solidFill>
              </a:rPr>
              <a:t>=</a:t>
            </a:r>
            <a:r>
              <a:rPr lang="en-US" altLang="zh-CN" sz="2800" i="1">
                <a:solidFill>
                  <a:srgbClr val="000000"/>
                </a:solidFill>
                <a:sym typeface="Symbol" pitchFamily="18" charset="2"/>
              </a:rPr>
              <a:t>t</a:t>
            </a:r>
            <a:r>
              <a:rPr lang="en-US" altLang="zh-CN" sz="2400" baseline="-25000">
                <a:solidFill>
                  <a:srgbClr val="000000"/>
                </a:solidFill>
                <a:latin typeface="宋体" pitchFamily="2" charset="-122"/>
              </a:rPr>
              <a:t>0.025</a:t>
            </a:r>
            <a:r>
              <a:rPr lang="en-US" altLang="zh-CN" sz="2400">
                <a:solidFill>
                  <a:srgbClr val="000000"/>
                </a:solidFill>
                <a:latin typeface="宋体" pitchFamily="2" charset="-122"/>
              </a:rPr>
              <a:t>(9-1)</a:t>
            </a:r>
            <a:r>
              <a:rPr lang="zh-CN" altLang="en-US" sz="2400">
                <a:solidFill>
                  <a:srgbClr val="000000"/>
                </a:solidFill>
                <a:latin typeface="宋体" pitchFamily="2" charset="-122"/>
              </a:rPr>
              <a:t>＝</a:t>
            </a:r>
            <a:r>
              <a:rPr lang="en-US" altLang="zh-CN" sz="2400">
                <a:solidFill>
                  <a:srgbClr val="000000"/>
                </a:solidFill>
                <a:latin typeface="宋体" pitchFamily="2" charset="-122"/>
              </a:rPr>
              <a:t>2.2306</a:t>
            </a:r>
            <a:endParaRPr lang="en-US" altLang="zh-CN" sz="2800">
              <a:solidFill>
                <a:schemeClr val="tx1"/>
              </a:solidFill>
            </a:endParaRPr>
          </a:p>
        </p:txBody>
      </p:sp>
      <p:graphicFrame>
        <p:nvGraphicFramePr>
          <p:cNvPr id="29698" name="Object 4"/>
          <p:cNvGraphicFramePr>
            <a:graphicFrameLocks noGrp="1" noChangeAspect="1"/>
          </p:cNvGraphicFramePr>
          <p:nvPr>
            <p:ph sz="quarter" idx="2"/>
          </p:nvPr>
        </p:nvGraphicFramePr>
        <p:xfrm>
          <a:off x="3136900" y="1350963"/>
          <a:ext cx="1512888" cy="527050"/>
        </p:xfrm>
        <a:graphic>
          <a:graphicData uri="http://schemas.openxmlformats.org/presentationml/2006/ole">
            <mc:AlternateContent xmlns:mc="http://schemas.openxmlformats.org/markup-compatibility/2006">
              <mc:Choice xmlns:v="urn:schemas-microsoft-com:vml" Requires="v">
                <p:oleObj name="公式" r:id="rId3" imgW="583920" imgH="203040" progId="Equation.3">
                  <p:embed/>
                </p:oleObj>
              </mc:Choice>
              <mc:Fallback>
                <p:oleObj name="公式" r:id="rId3" imgW="583920" imgH="203040" progId="Equation.3">
                  <p:embed/>
                  <p:pic>
                    <p:nvPicPr>
                      <p:cNvPr id="29698"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36900" y="1350963"/>
                        <a:ext cx="1512888" cy="5270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81286" name="Text Box 6"/>
          <p:cNvSpPr txBox="1">
            <a:spLocks noChangeArrowheads="1"/>
          </p:cNvSpPr>
          <p:nvPr/>
        </p:nvSpPr>
        <p:spPr bwMode="auto">
          <a:xfrm>
            <a:off x="5735639" y="5734051"/>
            <a:ext cx="3805237" cy="519113"/>
          </a:xfrm>
          <a:prstGeom prst="rect">
            <a:avLst/>
          </a:prstGeom>
          <a:noFill/>
          <a:ln w="12700">
            <a:noFill/>
            <a:miter lim="800000"/>
            <a:headEnd/>
            <a:tailEnd/>
          </a:ln>
        </p:spPr>
        <p:txBody>
          <a:bodyPr>
            <a:spAutoFit/>
          </a:bodyPr>
          <a:lstStyle/>
          <a:p>
            <a:pPr algn="just" eaLnBrk="0" hangingPunct="0">
              <a:spcBef>
                <a:spcPct val="50000"/>
              </a:spcBef>
            </a:pPr>
            <a:r>
              <a:rPr lang="zh-CN" altLang="en-US" sz="2800" b="1">
                <a:solidFill>
                  <a:srgbClr val="000000"/>
                </a:solidFill>
                <a:latin typeface="Tahoma" pitchFamily="34" charset="0"/>
              </a:rPr>
              <a:t>即</a:t>
            </a:r>
            <a:r>
              <a:rPr lang="zh-CN" altLang="en-US" sz="2400" b="1">
                <a:solidFill>
                  <a:srgbClr val="000000"/>
                </a:solidFill>
                <a:latin typeface="Tahoma" pitchFamily="34" charset="0"/>
              </a:rPr>
              <a:t>：自动包装机运转正常</a:t>
            </a:r>
          </a:p>
        </p:txBody>
      </p:sp>
      <p:graphicFrame>
        <p:nvGraphicFramePr>
          <p:cNvPr id="29699" name="Object 7"/>
          <p:cNvGraphicFramePr>
            <a:graphicFrameLocks noGrp="1" noChangeAspect="1"/>
          </p:cNvGraphicFramePr>
          <p:nvPr>
            <p:ph sz="quarter" idx="3"/>
          </p:nvPr>
        </p:nvGraphicFramePr>
        <p:xfrm>
          <a:off x="5802314" y="1341438"/>
          <a:ext cx="1800225" cy="514350"/>
        </p:xfrm>
        <a:graphic>
          <a:graphicData uri="http://schemas.openxmlformats.org/presentationml/2006/ole">
            <mc:AlternateContent xmlns:mc="http://schemas.openxmlformats.org/markup-compatibility/2006">
              <mc:Choice xmlns:v="urn:schemas-microsoft-com:vml" Requires="v">
                <p:oleObj name="公式" r:id="rId5" imgW="596880" imgH="203040" progId="Equation.3">
                  <p:embed/>
                </p:oleObj>
              </mc:Choice>
              <mc:Fallback>
                <p:oleObj name="公式" r:id="rId5" imgW="596880" imgH="203040" progId="Equation.3">
                  <p:embed/>
                  <p:pic>
                    <p:nvPicPr>
                      <p:cNvPr id="29699"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802314" y="1341438"/>
                        <a:ext cx="1800225" cy="5143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2" name="Group 8"/>
          <p:cNvGrpSpPr>
            <a:grpSpLocks/>
          </p:cNvGrpSpPr>
          <p:nvPr/>
        </p:nvGrpSpPr>
        <p:grpSpPr bwMode="auto">
          <a:xfrm>
            <a:off x="1558925" y="3141664"/>
            <a:ext cx="3600450" cy="2395537"/>
            <a:chOff x="204" y="1888"/>
            <a:chExt cx="2268" cy="1509"/>
          </a:xfrm>
        </p:grpSpPr>
        <p:sp>
          <p:nvSpPr>
            <p:cNvPr id="481289" name="Line 9"/>
            <p:cNvSpPr>
              <a:spLocks noChangeShapeType="1"/>
            </p:cNvSpPr>
            <p:nvPr/>
          </p:nvSpPr>
          <p:spPr bwMode="auto">
            <a:xfrm>
              <a:off x="204" y="2977"/>
              <a:ext cx="2268" cy="0"/>
            </a:xfrm>
            <a:prstGeom prst="line">
              <a:avLst/>
            </a:prstGeom>
            <a:noFill/>
            <a:ln w="57150">
              <a:solidFill>
                <a:schemeClr val="tx1"/>
              </a:solidFill>
              <a:miter lim="800000"/>
              <a:headEnd/>
              <a:tailEnd type="triangle" w="med" len="med"/>
            </a:ln>
            <a:effectLst>
              <a:outerShdw dist="35921" dir="2700000" algn="ctr" rotWithShape="0">
                <a:srgbClr val="808080"/>
              </a:outerShdw>
            </a:effectLst>
          </p:spPr>
          <p:txBody>
            <a:bodyPr wrap="none"/>
            <a:lstStyle/>
            <a:p>
              <a:pPr>
                <a:defRPr/>
              </a:pPr>
              <a:endParaRPr lang="zh-CN" altLang="en-US">
                <a:latin typeface="Arial" charset="0"/>
                <a:ea typeface="宋体" charset="-122"/>
              </a:endParaRPr>
            </a:p>
          </p:txBody>
        </p:sp>
        <p:sp>
          <p:nvSpPr>
            <p:cNvPr id="481290" name="Rectangle 10"/>
            <p:cNvSpPr>
              <a:spLocks noChangeArrowheads="1"/>
            </p:cNvSpPr>
            <p:nvPr/>
          </p:nvSpPr>
          <p:spPr bwMode="auto">
            <a:xfrm>
              <a:off x="1837" y="2341"/>
              <a:ext cx="404" cy="192"/>
            </a:xfrm>
            <a:prstGeom prst="rect">
              <a:avLst/>
            </a:prstGeom>
            <a:solidFill>
              <a:schemeClr val="hlink"/>
            </a:solidFill>
            <a:ln w="9525">
              <a:noFill/>
              <a:miter lim="800000"/>
              <a:headEnd/>
              <a:tailEnd/>
            </a:ln>
            <a:effectLst>
              <a:outerShdw dist="17961" dir="2700000" algn="ctr" rotWithShape="0">
                <a:schemeClr val="bg2"/>
              </a:outerShdw>
            </a:effectLst>
          </p:spPr>
          <p:txBody>
            <a:bodyPr wrap="none" lIns="0" tIns="0" rIns="0" bIns="0">
              <a:spAutoFit/>
            </a:bodyPr>
            <a:lstStyle/>
            <a:p>
              <a:pPr eaLnBrk="0" hangingPunct="0">
                <a:defRPr/>
              </a:pPr>
              <a:r>
                <a:rPr kumimoji="1" lang="en-US" altLang="zh-CN" sz="2000" b="1">
                  <a:latin typeface="Symbol" pitchFamily="18" charset="2"/>
                  <a:ea typeface="宋体" charset="-122"/>
                </a:rPr>
                <a:t>0.025</a:t>
              </a:r>
              <a:r>
                <a:rPr kumimoji="1" lang="en-US" altLang="zh-CN" sz="2000" b="1">
                  <a:latin typeface="Arial" charset="0"/>
                  <a:ea typeface="宋体" charset="-122"/>
                </a:rPr>
                <a:t> </a:t>
              </a:r>
            </a:p>
          </p:txBody>
        </p:sp>
        <p:sp>
          <p:nvSpPr>
            <p:cNvPr id="481291" name="Rectangle 11"/>
            <p:cNvSpPr>
              <a:spLocks noChangeArrowheads="1"/>
            </p:cNvSpPr>
            <p:nvPr/>
          </p:nvSpPr>
          <p:spPr bwMode="auto">
            <a:xfrm>
              <a:off x="253" y="2361"/>
              <a:ext cx="417" cy="233"/>
            </a:xfrm>
            <a:prstGeom prst="rect">
              <a:avLst/>
            </a:prstGeom>
            <a:solidFill>
              <a:schemeClr val="hlink"/>
            </a:solidFill>
            <a:ln w="9525">
              <a:noFill/>
              <a:miter lim="800000"/>
              <a:headEnd/>
              <a:tailEnd/>
            </a:ln>
            <a:effectLst>
              <a:outerShdw dist="17961" dir="2700000" algn="ctr" rotWithShape="0">
                <a:schemeClr val="bg2"/>
              </a:outerShdw>
            </a:effectLst>
          </p:spPr>
          <p:txBody>
            <a:bodyPr wrap="none" lIns="0" tIns="0" rIns="0" bIns="0">
              <a:spAutoFit/>
            </a:bodyPr>
            <a:lstStyle/>
            <a:p>
              <a:pPr eaLnBrk="0" hangingPunct="0">
                <a:defRPr/>
              </a:pPr>
              <a:r>
                <a:rPr kumimoji="1" lang="en-US" altLang="zh-CN" sz="2000" b="1">
                  <a:latin typeface="Symbol" pitchFamily="18" charset="2"/>
                  <a:ea typeface="宋体" charset="-122"/>
                </a:rPr>
                <a:t>0.025</a:t>
              </a:r>
              <a:r>
                <a:rPr kumimoji="1" lang="en-US" altLang="zh-CN" sz="2400" b="1">
                  <a:solidFill>
                    <a:srgbClr val="CDCDCD"/>
                  </a:solidFill>
                  <a:latin typeface="Arial" charset="0"/>
                  <a:ea typeface="宋体" charset="-122"/>
                </a:rPr>
                <a:t> </a:t>
              </a:r>
            </a:p>
          </p:txBody>
        </p:sp>
        <p:sp>
          <p:nvSpPr>
            <p:cNvPr id="481292" name="Line 12"/>
            <p:cNvSpPr>
              <a:spLocks noChangeShapeType="1"/>
            </p:cNvSpPr>
            <p:nvPr/>
          </p:nvSpPr>
          <p:spPr bwMode="auto">
            <a:xfrm>
              <a:off x="1794" y="2620"/>
              <a:ext cx="0" cy="367"/>
            </a:xfrm>
            <a:prstGeom prst="line">
              <a:avLst/>
            </a:prstGeom>
            <a:noFill/>
            <a:ln w="38100">
              <a:solidFill>
                <a:srgbClr val="CC0066"/>
              </a:solidFill>
              <a:round/>
              <a:headEnd/>
              <a:tailEnd/>
            </a:ln>
            <a:effectLst>
              <a:outerShdw dist="28398" dir="20006097" algn="ctr" rotWithShape="0">
                <a:schemeClr val="bg2"/>
              </a:outerShdw>
            </a:effectLst>
          </p:spPr>
          <p:txBody>
            <a:bodyPr wrap="none" anchor="ctr"/>
            <a:lstStyle/>
            <a:p>
              <a:pPr>
                <a:defRPr/>
              </a:pPr>
              <a:endParaRPr lang="zh-CN" altLang="en-US">
                <a:latin typeface="Arial" charset="0"/>
                <a:ea typeface="宋体" charset="-122"/>
              </a:endParaRPr>
            </a:p>
          </p:txBody>
        </p:sp>
        <p:sp>
          <p:nvSpPr>
            <p:cNvPr id="481293" name="Line 13"/>
            <p:cNvSpPr>
              <a:spLocks noChangeShapeType="1"/>
            </p:cNvSpPr>
            <p:nvPr/>
          </p:nvSpPr>
          <p:spPr bwMode="auto">
            <a:xfrm>
              <a:off x="789" y="2987"/>
              <a:ext cx="0" cy="140"/>
            </a:xfrm>
            <a:prstGeom prst="line">
              <a:avLst/>
            </a:prstGeom>
            <a:noFill/>
            <a:ln w="28575">
              <a:solidFill>
                <a:srgbClr val="CC3399"/>
              </a:solidFill>
              <a:round/>
              <a:headEnd type="triangle" w="med" len="med"/>
              <a:tailEnd/>
            </a:ln>
            <a:effectLst>
              <a:outerShdw dist="12700" algn="ctr" rotWithShape="0">
                <a:schemeClr val="bg2"/>
              </a:outerShdw>
            </a:effectLst>
          </p:spPr>
          <p:txBody>
            <a:bodyPr wrap="none" anchor="ctr"/>
            <a:lstStyle/>
            <a:p>
              <a:pPr>
                <a:defRPr/>
              </a:pPr>
              <a:endParaRPr lang="zh-CN" altLang="en-US">
                <a:latin typeface="Arial" charset="0"/>
                <a:ea typeface="宋体" charset="-122"/>
              </a:endParaRPr>
            </a:p>
          </p:txBody>
        </p:sp>
        <p:sp>
          <p:nvSpPr>
            <p:cNvPr id="481294" name="Line 14"/>
            <p:cNvSpPr>
              <a:spLocks noChangeShapeType="1"/>
            </p:cNvSpPr>
            <p:nvPr/>
          </p:nvSpPr>
          <p:spPr bwMode="auto">
            <a:xfrm>
              <a:off x="1794" y="2987"/>
              <a:ext cx="0" cy="140"/>
            </a:xfrm>
            <a:prstGeom prst="line">
              <a:avLst/>
            </a:prstGeom>
            <a:noFill/>
            <a:ln w="28575">
              <a:solidFill>
                <a:srgbClr val="CC3399"/>
              </a:solidFill>
              <a:round/>
              <a:headEnd type="triangle" w="med" len="med"/>
              <a:tailEnd/>
            </a:ln>
            <a:effectLst>
              <a:outerShdw dist="12700" algn="ctr" rotWithShape="0">
                <a:schemeClr val="bg2"/>
              </a:outerShdw>
            </a:effectLst>
          </p:spPr>
          <p:txBody>
            <a:bodyPr wrap="none" anchor="ctr"/>
            <a:lstStyle/>
            <a:p>
              <a:pPr>
                <a:defRPr/>
              </a:pPr>
              <a:endParaRPr lang="zh-CN" altLang="en-US">
                <a:latin typeface="Arial" charset="0"/>
                <a:ea typeface="宋体" charset="-122"/>
              </a:endParaRPr>
            </a:p>
          </p:txBody>
        </p:sp>
        <p:sp>
          <p:nvSpPr>
            <p:cNvPr id="481295" name="Freeform 15"/>
            <p:cNvSpPr>
              <a:spLocks/>
            </p:cNvSpPr>
            <p:nvPr/>
          </p:nvSpPr>
          <p:spPr bwMode="auto">
            <a:xfrm>
              <a:off x="1247" y="1888"/>
              <a:ext cx="1103" cy="1050"/>
            </a:xfrm>
            <a:custGeom>
              <a:avLst/>
              <a:gdLst/>
              <a:ahLst/>
              <a:cxnLst>
                <a:cxn ang="0">
                  <a:pos x="1942" y="1430"/>
                </a:cxn>
                <a:cxn ang="0">
                  <a:pos x="1737" y="1412"/>
                </a:cxn>
                <a:cxn ang="0">
                  <a:pos x="1636" y="1396"/>
                </a:cxn>
                <a:cxn ang="0">
                  <a:pos x="1532" y="1373"/>
                </a:cxn>
                <a:cxn ang="0">
                  <a:pos x="1431" y="1342"/>
                </a:cxn>
                <a:cxn ang="0">
                  <a:pos x="1328" y="1298"/>
                </a:cxn>
                <a:cxn ang="0">
                  <a:pos x="1227" y="1238"/>
                </a:cxn>
                <a:cxn ang="0">
                  <a:pos x="1022" y="1073"/>
                </a:cxn>
                <a:cxn ang="0">
                  <a:pos x="818" y="838"/>
                </a:cxn>
                <a:cxn ang="0">
                  <a:pos x="613" y="559"/>
                </a:cxn>
                <a:cxn ang="0">
                  <a:pos x="512" y="416"/>
                </a:cxn>
                <a:cxn ang="0">
                  <a:pos x="409" y="282"/>
                </a:cxn>
                <a:cxn ang="0">
                  <a:pos x="308" y="166"/>
                </a:cxn>
                <a:cxn ang="0">
                  <a:pos x="204" y="78"/>
                </a:cxn>
                <a:cxn ang="0">
                  <a:pos x="103" y="21"/>
                </a:cxn>
                <a:cxn ang="0">
                  <a:pos x="0" y="0"/>
                </a:cxn>
              </a:cxnLst>
              <a:rect l="0" t="0" r="r" b="b"/>
              <a:pathLst>
                <a:path w="1942" h="1430">
                  <a:moveTo>
                    <a:pt x="1942" y="1430"/>
                  </a:moveTo>
                  <a:lnTo>
                    <a:pt x="1737" y="1412"/>
                  </a:lnTo>
                  <a:lnTo>
                    <a:pt x="1636" y="1396"/>
                  </a:lnTo>
                  <a:lnTo>
                    <a:pt x="1532" y="1373"/>
                  </a:lnTo>
                  <a:lnTo>
                    <a:pt x="1431" y="1342"/>
                  </a:lnTo>
                  <a:lnTo>
                    <a:pt x="1328" y="1298"/>
                  </a:lnTo>
                  <a:lnTo>
                    <a:pt x="1227" y="1238"/>
                  </a:lnTo>
                  <a:lnTo>
                    <a:pt x="1022" y="1073"/>
                  </a:lnTo>
                  <a:lnTo>
                    <a:pt x="818" y="838"/>
                  </a:lnTo>
                  <a:lnTo>
                    <a:pt x="613" y="559"/>
                  </a:lnTo>
                  <a:lnTo>
                    <a:pt x="512" y="416"/>
                  </a:lnTo>
                  <a:lnTo>
                    <a:pt x="409" y="282"/>
                  </a:lnTo>
                  <a:lnTo>
                    <a:pt x="308" y="166"/>
                  </a:lnTo>
                  <a:lnTo>
                    <a:pt x="204" y="78"/>
                  </a:lnTo>
                  <a:lnTo>
                    <a:pt x="103" y="21"/>
                  </a:lnTo>
                  <a:lnTo>
                    <a:pt x="0" y="0"/>
                  </a:lnTo>
                </a:path>
              </a:pathLst>
            </a:custGeom>
            <a:noFill/>
            <a:ln w="76200" cmpd="sng">
              <a:solidFill>
                <a:srgbClr val="FF00FF"/>
              </a:solidFill>
              <a:prstDash val="solid"/>
              <a:round/>
              <a:headEnd/>
              <a:tailEnd/>
            </a:ln>
            <a:effectLst>
              <a:outerShdw dist="38100" dir="5400000" algn="ctr" rotWithShape="0">
                <a:schemeClr val="bg2"/>
              </a:outerShdw>
            </a:effectLst>
          </p:spPr>
          <p:txBody>
            <a:bodyPr/>
            <a:lstStyle/>
            <a:p>
              <a:pPr>
                <a:defRPr/>
              </a:pPr>
              <a:endParaRPr lang="zh-CN" altLang="en-US">
                <a:latin typeface="Arial" charset="0"/>
                <a:ea typeface="宋体" charset="-122"/>
              </a:endParaRPr>
            </a:p>
          </p:txBody>
        </p:sp>
        <p:sp>
          <p:nvSpPr>
            <p:cNvPr id="481296" name="Freeform 16"/>
            <p:cNvSpPr>
              <a:spLocks/>
            </p:cNvSpPr>
            <p:nvPr/>
          </p:nvSpPr>
          <p:spPr bwMode="auto">
            <a:xfrm>
              <a:off x="249" y="1888"/>
              <a:ext cx="1052" cy="1066"/>
            </a:xfrm>
            <a:custGeom>
              <a:avLst/>
              <a:gdLst/>
              <a:ahLst/>
              <a:cxnLst>
                <a:cxn ang="0">
                  <a:pos x="0" y="1430"/>
                </a:cxn>
                <a:cxn ang="0">
                  <a:pos x="205" y="1412"/>
                </a:cxn>
                <a:cxn ang="0">
                  <a:pos x="309" y="1396"/>
                </a:cxn>
                <a:cxn ang="0">
                  <a:pos x="410" y="1373"/>
                </a:cxn>
                <a:cxn ang="0">
                  <a:pos x="511" y="1342"/>
                </a:cxn>
                <a:cxn ang="0">
                  <a:pos x="614" y="1298"/>
                </a:cxn>
                <a:cxn ang="0">
                  <a:pos x="715" y="1238"/>
                </a:cxn>
                <a:cxn ang="0">
                  <a:pos x="922" y="1073"/>
                </a:cxn>
                <a:cxn ang="0">
                  <a:pos x="1124" y="838"/>
                </a:cxn>
                <a:cxn ang="0">
                  <a:pos x="1329" y="559"/>
                </a:cxn>
                <a:cxn ang="0">
                  <a:pos x="1432" y="416"/>
                </a:cxn>
                <a:cxn ang="0">
                  <a:pos x="1533" y="282"/>
                </a:cxn>
                <a:cxn ang="0">
                  <a:pos x="1637" y="166"/>
                </a:cxn>
                <a:cxn ang="0">
                  <a:pos x="1738" y="78"/>
                </a:cxn>
                <a:cxn ang="0">
                  <a:pos x="1842" y="21"/>
                </a:cxn>
                <a:cxn ang="0">
                  <a:pos x="1943" y="0"/>
                </a:cxn>
              </a:cxnLst>
              <a:rect l="0" t="0" r="r" b="b"/>
              <a:pathLst>
                <a:path w="1943" h="1430">
                  <a:moveTo>
                    <a:pt x="0" y="1430"/>
                  </a:moveTo>
                  <a:lnTo>
                    <a:pt x="205" y="1412"/>
                  </a:lnTo>
                  <a:lnTo>
                    <a:pt x="309" y="1396"/>
                  </a:lnTo>
                  <a:lnTo>
                    <a:pt x="410" y="1373"/>
                  </a:lnTo>
                  <a:lnTo>
                    <a:pt x="511" y="1342"/>
                  </a:lnTo>
                  <a:lnTo>
                    <a:pt x="614" y="1298"/>
                  </a:lnTo>
                  <a:lnTo>
                    <a:pt x="715" y="1238"/>
                  </a:lnTo>
                  <a:lnTo>
                    <a:pt x="922" y="1073"/>
                  </a:lnTo>
                  <a:lnTo>
                    <a:pt x="1124" y="838"/>
                  </a:lnTo>
                  <a:lnTo>
                    <a:pt x="1329" y="559"/>
                  </a:lnTo>
                  <a:lnTo>
                    <a:pt x="1432" y="416"/>
                  </a:lnTo>
                  <a:lnTo>
                    <a:pt x="1533" y="282"/>
                  </a:lnTo>
                  <a:lnTo>
                    <a:pt x="1637" y="166"/>
                  </a:lnTo>
                  <a:lnTo>
                    <a:pt x="1738" y="78"/>
                  </a:lnTo>
                  <a:lnTo>
                    <a:pt x="1842" y="21"/>
                  </a:lnTo>
                  <a:lnTo>
                    <a:pt x="1943" y="0"/>
                  </a:lnTo>
                </a:path>
              </a:pathLst>
            </a:custGeom>
            <a:noFill/>
            <a:ln w="76200" cmpd="sng">
              <a:solidFill>
                <a:srgbClr val="FF00FF"/>
              </a:solidFill>
              <a:prstDash val="solid"/>
              <a:round/>
              <a:headEnd/>
              <a:tailEnd/>
            </a:ln>
            <a:effectLst>
              <a:outerShdw dist="38100" dir="5400000" algn="ctr" rotWithShape="0">
                <a:schemeClr val="bg2"/>
              </a:outerShdw>
            </a:effectLst>
          </p:spPr>
          <p:txBody>
            <a:bodyPr/>
            <a:lstStyle/>
            <a:p>
              <a:pPr>
                <a:defRPr/>
              </a:pPr>
              <a:endParaRPr lang="zh-CN" altLang="en-US">
                <a:latin typeface="Arial" charset="0"/>
                <a:ea typeface="宋体" charset="-122"/>
              </a:endParaRPr>
            </a:p>
          </p:txBody>
        </p:sp>
        <p:sp>
          <p:nvSpPr>
            <p:cNvPr id="481297" name="Line 17"/>
            <p:cNvSpPr>
              <a:spLocks noChangeShapeType="1"/>
            </p:cNvSpPr>
            <p:nvPr/>
          </p:nvSpPr>
          <p:spPr bwMode="auto">
            <a:xfrm>
              <a:off x="789" y="2620"/>
              <a:ext cx="0" cy="367"/>
            </a:xfrm>
            <a:prstGeom prst="line">
              <a:avLst/>
            </a:prstGeom>
            <a:noFill/>
            <a:ln w="38100">
              <a:solidFill>
                <a:srgbClr val="CC0066"/>
              </a:solidFill>
              <a:round/>
              <a:headEnd/>
              <a:tailEnd/>
            </a:ln>
            <a:effectLst>
              <a:outerShdw dist="28398" dir="20006097" algn="ctr" rotWithShape="0">
                <a:schemeClr val="bg2"/>
              </a:outerShdw>
            </a:effectLst>
          </p:spPr>
          <p:txBody>
            <a:bodyPr wrap="none" anchor="ctr"/>
            <a:lstStyle/>
            <a:p>
              <a:pPr>
                <a:defRPr/>
              </a:pPr>
              <a:endParaRPr lang="zh-CN" altLang="en-US">
                <a:latin typeface="Arial" charset="0"/>
                <a:ea typeface="宋体" charset="-122"/>
              </a:endParaRPr>
            </a:p>
          </p:txBody>
        </p:sp>
        <p:sp>
          <p:nvSpPr>
            <p:cNvPr id="481298" name="Freeform 18"/>
            <p:cNvSpPr>
              <a:spLocks/>
            </p:cNvSpPr>
            <p:nvPr/>
          </p:nvSpPr>
          <p:spPr bwMode="auto">
            <a:xfrm>
              <a:off x="274" y="2654"/>
              <a:ext cx="515" cy="333"/>
            </a:xfrm>
            <a:custGeom>
              <a:avLst/>
              <a:gdLst/>
              <a:ahLst/>
              <a:cxnLst>
                <a:cxn ang="0">
                  <a:pos x="1129" y="0"/>
                </a:cxn>
                <a:cxn ang="0">
                  <a:pos x="1129" y="735"/>
                </a:cxn>
                <a:cxn ang="0">
                  <a:pos x="0" y="735"/>
                </a:cxn>
                <a:cxn ang="0">
                  <a:pos x="124" y="698"/>
                </a:cxn>
                <a:cxn ang="0">
                  <a:pos x="246" y="657"/>
                </a:cxn>
                <a:cxn ang="0">
                  <a:pos x="362" y="610"/>
                </a:cxn>
                <a:cxn ang="0">
                  <a:pos x="474" y="559"/>
                </a:cxn>
                <a:cxn ang="0">
                  <a:pos x="580" y="504"/>
                </a:cxn>
                <a:cxn ang="0">
                  <a:pos x="681" y="442"/>
                </a:cxn>
                <a:cxn ang="0">
                  <a:pos x="774" y="378"/>
                </a:cxn>
                <a:cxn ang="0">
                  <a:pos x="860" y="308"/>
                </a:cxn>
                <a:cxn ang="0">
                  <a:pos x="940" y="236"/>
                </a:cxn>
                <a:cxn ang="0">
                  <a:pos x="1010" y="161"/>
                </a:cxn>
                <a:cxn ang="0">
                  <a:pos x="1074" y="81"/>
                </a:cxn>
                <a:cxn ang="0">
                  <a:pos x="1129" y="0"/>
                </a:cxn>
              </a:cxnLst>
              <a:rect l="0" t="0" r="r" b="b"/>
              <a:pathLst>
                <a:path w="1129" h="735">
                  <a:moveTo>
                    <a:pt x="1129" y="0"/>
                  </a:moveTo>
                  <a:lnTo>
                    <a:pt x="1129" y="735"/>
                  </a:lnTo>
                  <a:lnTo>
                    <a:pt x="0" y="735"/>
                  </a:lnTo>
                  <a:lnTo>
                    <a:pt x="124" y="698"/>
                  </a:lnTo>
                  <a:lnTo>
                    <a:pt x="246" y="657"/>
                  </a:lnTo>
                  <a:lnTo>
                    <a:pt x="362" y="610"/>
                  </a:lnTo>
                  <a:lnTo>
                    <a:pt x="474" y="559"/>
                  </a:lnTo>
                  <a:lnTo>
                    <a:pt x="580" y="504"/>
                  </a:lnTo>
                  <a:lnTo>
                    <a:pt x="681" y="442"/>
                  </a:lnTo>
                  <a:lnTo>
                    <a:pt x="774" y="378"/>
                  </a:lnTo>
                  <a:lnTo>
                    <a:pt x="860" y="308"/>
                  </a:lnTo>
                  <a:lnTo>
                    <a:pt x="940" y="236"/>
                  </a:lnTo>
                  <a:lnTo>
                    <a:pt x="1010" y="161"/>
                  </a:lnTo>
                  <a:lnTo>
                    <a:pt x="1074" y="81"/>
                  </a:lnTo>
                  <a:lnTo>
                    <a:pt x="1129" y="0"/>
                  </a:lnTo>
                  <a:close/>
                </a:path>
              </a:pathLst>
            </a:custGeom>
            <a:solidFill>
              <a:schemeClr val="hlink"/>
            </a:solidFill>
            <a:ln w="9525">
              <a:noFill/>
              <a:round/>
              <a:headEnd/>
              <a:tailEnd/>
            </a:ln>
            <a:effectLst>
              <a:outerShdw algn="ctr" rotWithShape="0">
                <a:srgbClr val="808080"/>
              </a:outerShdw>
            </a:effectLst>
          </p:spPr>
          <p:txBody>
            <a:bodyPr/>
            <a:lstStyle/>
            <a:p>
              <a:pPr>
                <a:defRPr/>
              </a:pPr>
              <a:endParaRPr lang="zh-CN" altLang="en-US">
                <a:latin typeface="Arial" charset="0"/>
                <a:ea typeface="宋体" charset="-122"/>
              </a:endParaRPr>
            </a:p>
          </p:txBody>
        </p:sp>
        <p:sp>
          <p:nvSpPr>
            <p:cNvPr id="481299" name="Freeform 19"/>
            <p:cNvSpPr>
              <a:spLocks/>
            </p:cNvSpPr>
            <p:nvPr/>
          </p:nvSpPr>
          <p:spPr bwMode="auto">
            <a:xfrm>
              <a:off x="1791" y="2659"/>
              <a:ext cx="542" cy="333"/>
            </a:xfrm>
            <a:custGeom>
              <a:avLst/>
              <a:gdLst/>
              <a:ahLst/>
              <a:cxnLst>
                <a:cxn ang="0">
                  <a:pos x="0" y="0"/>
                </a:cxn>
                <a:cxn ang="0">
                  <a:pos x="0" y="734"/>
                </a:cxn>
                <a:cxn ang="0">
                  <a:pos x="1129" y="734"/>
                </a:cxn>
                <a:cxn ang="0">
                  <a:pos x="1002" y="700"/>
                </a:cxn>
                <a:cxn ang="0">
                  <a:pos x="880" y="659"/>
                </a:cxn>
                <a:cxn ang="0">
                  <a:pos x="764" y="612"/>
                </a:cxn>
                <a:cxn ang="0">
                  <a:pos x="652" y="561"/>
                </a:cxn>
                <a:cxn ang="0">
                  <a:pos x="546" y="504"/>
                </a:cxn>
                <a:cxn ang="0">
                  <a:pos x="445" y="444"/>
                </a:cxn>
                <a:cxn ang="0">
                  <a:pos x="352" y="380"/>
                </a:cxn>
                <a:cxn ang="0">
                  <a:pos x="267" y="310"/>
                </a:cxn>
                <a:cxn ang="0">
                  <a:pos x="189" y="237"/>
                </a:cxn>
                <a:cxn ang="0">
                  <a:pos x="116" y="162"/>
                </a:cxn>
                <a:cxn ang="0">
                  <a:pos x="54" y="82"/>
                </a:cxn>
                <a:cxn ang="0">
                  <a:pos x="0" y="0"/>
                </a:cxn>
              </a:cxnLst>
              <a:rect l="0" t="0" r="r" b="b"/>
              <a:pathLst>
                <a:path w="1129" h="734">
                  <a:moveTo>
                    <a:pt x="0" y="0"/>
                  </a:moveTo>
                  <a:lnTo>
                    <a:pt x="0" y="734"/>
                  </a:lnTo>
                  <a:lnTo>
                    <a:pt x="1129" y="734"/>
                  </a:lnTo>
                  <a:lnTo>
                    <a:pt x="1002" y="700"/>
                  </a:lnTo>
                  <a:lnTo>
                    <a:pt x="880" y="659"/>
                  </a:lnTo>
                  <a:lnTo>
                    <a:pt x="764" y="612"/>
                  </a:lnTo>
                  <a:lnTo>
                    <a:pt x="652" y="561"/>
                  </a:lnTo>
                  <a:lnTo>
                    <a:pt x="546" y="504"/>
                  </a:lnTo>
                  <a:lnTo>
                    <a:pt x="445" y="444"/>
                  </a:lnTo>
                  <a:lnTo>
                    <a:pt x="352" y="380"/>
                  </a:lnTo>
                  <a:lnTo>
                    <a:pt x="267" y="310"/>
                  </a:lnTo>
                  <a:lnTo>
                    <a:pt x="189" y="237"/>
                  </a:lnTo>
                  <a:lnTo>
                    <a:pt x="116" y="162"/>
                  </a:lnTo>
                  <a:lnTo>
                    <a:pt x="54" y="82"/>
                  </a:lnTo>
                  <a:lnTo>
                    <a:pt x="0" y="0"/>
                  </a:lnTo>
                  <a:close/>
                </a:path>
              </a:pathLst>
            </a:custGeom>
            <a:solidFill>
              <a:schemeClr val="hlink"/>
            </a:solidFill>
            <a:ln w="9525">
              <a:noFill/>
              <a:round/>
              <a:headEnd/>
              <a:tailEnd/>
            </a:ln>
            <a:effectLst>
              <a:outerShdw algn="ctr" rotWithShape="0">
                <a:srgbClr val="808080"/>
              </a:outerShdw>
            </a:effectLst>
          </p:spPr>
          <p:txBody>
            <a:bodyPr/>
            <a:lstStyle/>
            <a:p>
              <a:pPr>
                <a:defRPr/>
              </a:pPr>
              <a:endParaRPr lang="zh-CN" altLang="en-US">
                <a:latin typeface="Arial" charset="0"/>
                <a:ea typeface="宋体" charset="-122"/>
              </a:endParaRPr>
            </a:p>
          </p:txBody>
        </p:sp>
        <p:sp>
          <p:nvSpPr>
            <p:cNvPr id="481300" name="Line 20"/>
            <p:cNvSpPr>
              <a:spLocks noChangeShapeType="1"/>
            </p:cNvSpPr>
            <p:nvPr/>
          </p:nvSpPr>
          <p:spPr bwMode="auto">
            <a:xfrm flipH="1">
              <a:off x="1837" y="2523"/>
              <a:ext cx="206" cy="251"/>
            </a:xfrm>
            <a:prstGeom prst="line">
              <a:avLst/>
            </a:prstGeom>
            <a:noFill/>
            <a:ln w="25400">
              <a:solidFill>
                <a:schemeClr val="tx2"/>
              </a:solidFill>
              <a:round/>
              <a:headEnd/>
              <a:tailEnd type="triangle" w="med" len="med"/>
            </a:ln>
            <a:effectLst>
              <a:outerShdw algn="ctr" rotWithShape="0">
                <a:schemeClr val="bg2"/>
              </a:outerShdw>
            </a:effectLst>
          </p:spPr>
          <p:txBody>
            <a:bodyPr wrap="none" anchor="ctr"/>
            <a:lstStyle/>
            <a:p>
              <a:pPr>
                <a:defRPr/>
              </a:pPr>
              <a:endParaRPr lang="zh-CN" altLang="en-US">
                <a:latin typeface="Arial" charset="0"/>
                <a:ea typeface="宋体" charset="-122"/>
              </a:endParaRPr>
            </a:p>
          </p:txBody>
        </p:sp>
        <p:sp>
          <p:nvSpPr>
            <p:cNvPr id="481301" name="Line 21"/>
            <p:cNvSpPr>
              <a:spLocks noChangeShapeType="1"/>
            </p:cNvSpPr>
            <p:nvPr/>
          </p:nvSpPr>
          <p:spPr bwMode="auto">
            <a:xfrm>
              <a:off x="507" y="2654"/>
              <a:ext cx="180" cy="234"/>
            </a:xfrm>
            <a:prstGeom prst="line">
              <a:avLst/>
            </a:prstGeom>
            <a:noFill/>
            <a:ln w="25400">
              <a:solidFill>
                <a:schemeClr val="tx2"/>
              </a:solidFill>
              <a:round/>
              <a:headEnd/>
              <a:tailEnd type="triangle" w="med" len="med"/>
            </a:ln>
            <a:effectLst>
              <a:outerShdw algn="ctr" rotWithShape="0">
                <a:schemeClr val="bg2"/>
              </a:outerShdw>
            </a:effectLst>
          </p:spPr>
          <p:txBody>
            <a:bodyPr wrap="none" anchor="ctr"/>
            <a:lstStyle/>
            <a:p>
              <a:pPr>
                <a:defRPr/>
              </a:pPr>
              <a:endParaRPr lang="zh-CN" altLang="en-US">
                <a:latin typeface="Arial" charset="0"/>
                <a:ea typeface="宋体" charset="-122"/>
              </a:endParaRPr>
            </a:p>
          </p:txBody>
        </p:sp>
        <p:sp>
          <p:nvSpPr>
            <p:cNvPr id="481302" name="Text Box 22"/>
            <p:cNvSpPr txBox="1">
              <a:spLocks noChangeArrowheads="1"/>
            </p:cNvSpPr>
            <p:nvPr/>
          </p:nvSpPr>
          <p:spPr bwMode="auto">
            <a:xfrm>
              <a:off x="1202" y="3022"/>
              <a:ext cx="230" cy="288"/>
            </a:xfrm>
            <a:prstGeom prst="rect">
              <a:avLst/>
            </a:prstGeom>
            <a:noFill/>
            <a:ln w="12700">
              <a:noFill/>
              <a:miter lim="800000"/>
              <a:headEnd/>
              <a:tailEnd/>
            </a:ln>
            <a:effectLst/>
          </p:spPr>
          <p:txBody>
            <a:bodyPr>
              <a:spAutoFit/>
            </a:bodyPr>
            <a:lstStyle/>
            <a:p>
              <a:pPr algn="ctr" eaLnBrk="0" hangingPunct="0">
                <a:spcBef>
                  <a:spcPct val="50000"/>
                </a:spcBef>
                <a:defRPr/>
              </a:pPr>
              <a:r>
                <a:rPr kumimoji="1" lang="en-US" altLang="zh-CN" sz="2400" b="1">
                  <a:solidFill>
                    <a:srgbClr val="FF33CC"/>
                  </a:solidFill>
                  <a:effectLst>
                    <a:outerShdw blurRad="38100" dist="38100" dir="2700000" algn="tl">
                      <a:srgbClr val="C0C0C0"/>
                    </a:outerShdw>
                  </a:effectLst>
                  <a:latin typeface="Arial" charset="0"/>
                  <a:ea typeface="宋体" charset="-122"/>
                </a:rPr>
                <a:t>0</a:t>
              </a:r>
            </a:p>
          </p:txBody>
        </p:sp>
        <p:sp>
          <p:nvSpPr>
            <p:cNvPr id="29728" name="Text Box 23"/>
            <p:cNvSpPr txBox="1">
              <a:spLocks noChangeArrowheads="1"/>
            </p:cNvSpPr>
            <p:nvPr/>
          </p:nvSpPr>
          <p:spPr bwMode="auto">
            <a:xfrm>
              <a:off x="385" y="3113"/>
              <a:ext cx="473" cy="239"/>
            </a:xfrm>
            <a:prstGeom prst="rect">
              <a:avLst/>
            </a:prstGeom>
            <a:solidFill>
              <a:srgbClr val="FFFF9B"/>
            </a:solidFill>
            <a:ln w="12700">
              <a:solidFill>
                <a:srgbClr val="FF33CC"/>
              </a:solidFill>
              <a:miter lim="800000"/>
              <a:headEnd/>
              <a:tailEnd/>
            </a:ln>
          </p:spPr>
          <p:txBody>
            <a:bodyPr>
              <a:spAutoFit/>
            </a:bodyPr>
            <a:lstStyle/>
            <a:p>
              <a:pPr algn="ctr" eaLnBrk="0" hangingPunct="0">
                <a:spcBef>
                  <a:spcPct val="50000"/>
                </a:spcBef>
              </a:pPr>
              <a:r>
                <a:rPr kumimoji="1" lang="en-US" altLang="zh-CN" b="1"/>
                <a:t>-2.23</a:t>
              </a:r>
            </a:p>
          </p:txBody>
        </p:sp>
        <p:sp>
          <p:nvSpPr>
            <p:cNvPr id="29729" name="Text Box 24"/>
            <p:cNvSpPr txBox="1">
              <a:spLocks noChangeArrowheads="1"/>
            </p:cNvSpPr>
            <p:nvPr/>
          </p:nvSpPr>
          <p:spPr bwMode="auto">
            <a:xfrm>
              <a:off x="1656" y="3158"/>
              <a:ext cx="408" cy="239"/>
            </a:xfrm>
            <a:prstGeom prst="rect">
              <a:avLst/>
            </a:prstGeom>
            <a:solidFill>
              <a:srgbClr val="FFFF9B"/>
            </a:solidFill>
            <a:ln w="12700">
              <a:solidFill>
                <a:srgbClr val="FF33CC"/>
              </a:solidFill>
              <a:miter lim="800000"/>
              <a:headEnd/>
              <a:tailEnd/>
            </a:ln>
          </p:spPr>
          <p:txBody>
            <a:bodyPr>
              <a:spAutoFit/>
            </a:bodyPr>
            <a:lstStyle/>
            <a:p>
              <a:pPr algn="ctr" eaLnBrk="0" hangingPunct="0">
                <a:spcBef>
                  <a:spcPct val="50000"/>
                </a:spcBef>
              </a:pPr>
              <a:r>
                <a:rPr kumimoji="1" lang="en-US" altLang="zh-CN" b="1"/>
                <a:t>2.23</a:t>
              </a:r>
            </a:p>
          </p:txBody>
        </p:sp>
      </p:grpSp>
      <p:sp>
        <p:nvSpPr>
          <p:cNvPr id="481305" name="Rectangle 25"/>
          <p:cNvSpPr>
            <a:spLocks noChangeArrowheads="1"/>
          </p:cNvSpPr>
          <p:nvPr/>
        </p:nvSpPr>
        <p:spPr bwMode="auto">
          <a:xfrm>
            <a:off x="5519738" y="5084763"/>
            <a:ext cx="3600450" cy="609600"/>
          </a:xfrm>
          <a:prstGeom prst="rect">
            <a:avLst/>
          </a:prstGeom>
          <a:noFill/>
          <a:ln w="12700">
            <a:noFill/>
            <a:miter lim="800000"/>
            <a:headEnd/>
            <a:tailEnd/>
          </a:ln>
        </p:spPr>
        <p:txBody>
          <a:bodyPr lIns="90488" tIns="44450" rIns="90488" bIns="44450"/>
          <a:lstStyle/>
          <a:p>
            <a:pPr eaLnBrk="0" hangingPunct="0">
              <a:spcBef>
                <a:spcPct val="20000"/>
              </a:spcBef>
            </a:pPr>
            <a:r>
              <a:rPr kumimoji="1" lang="zh-CN" altLang="en-US" sz="2800" b="1">
                <a:solidFill>
                  <a:srgbClr val="FF00FF"/>
                </a:solidFill>
              </a:rPr>
              <a:t>结论</a:t>
            </a:r>
            <a:r>
              <a:rPr kumimoji="1" lang="en-US" altLang="zh-CN" sz="2800" b="1">
                <a:solidFill>
                  <a:srgbClr val="FF00FF"/>
                </a:solidFill>
              </a:rPr>
              <a:t>: </a:t>
            </a:r>
            <a:r>
              <a:rPr kumimoji="1" lang="zh-CN" altLang="en-US" sz="2600" b="1">
                <a:solidFill>
                  <a:srgbClr val="008000"/>
                </a:solidFill>
              </a:rPr>
              <a:t>不能拒绝 </a:t>
            </a:r>
            <a:r>
              <a:rPr kumimoji="1" lang="en-US" altLang="zh-CN" sz="2600" b="1">
                <a:solidFill>
                  <a:srgbClr val="008000"/>
                </a:solidFill>
              </a:rPr>
              <a:t>H</a:t>
            </a:r>
            <a:r>
              <a:rPr kumimoji="1" lang="en-US" altLang="zh-CN" sz="2600" b="1" baseline="-25000">
                <a:solidFill>
                  <a:srgbClr val="008000"/>
                </a:solidFill>
              </a:rPr>
              <a:t>0</a:t>
            </a:r>
            <a:r>
              <a:rPr kumimoji="1" lang="en-US" altLang="zh-CN" sz="2400" b="1">
                <a:solidFill>
                  <a:srgbClr val="FF00FF"/>
                </a:solidFill>
              </a:rPr>
              <a:t> </a:t>
            </a:r>
          </a:p>
        </p:txBody>
      </p:sp>
      <p:grpSp>
        <p:nvGrpSpPr>
          <p:cNvPr id="3" name="Group 26"/>
          <p:cNvGrpSpPr>
            <a:grpSpLocks/>
          </p:cNvGrpSpPr>
          <p:nvPr/>
        </p:nvGrpSpPr>
        <p:grpSpPr bwMode="auto">
          <a:xfrm>
            <a:off x="2782889" y="4797425"/>
            <a:ext cx="1944687" cy="1728788"/>
            <a:chOff x="884" y="2931"/>
            <a:chExt cx="1089" cy="1089"/>
          </a:xfrm>
          <a:noFill/>
        </p:grpSpPr>
        <p:sp>
          <p:nvSpPr>
            <p:cNvPr id="29712" name="Oval 27"/>
            <p:cNvSpPr>
              <a:spLocks noChangeArrowheads="1"/>
            </p:cNvSpPr>
            <p:nvPr/>
          </p:nvSpPr>
          <p:spPr bwMode="auto">
            <a:xfrm>
              <a:off x="884" y="2931"/>
              <a:ext cx="136" cy="136"/>
            </a:xfrm>
            <a:prstGeom prst="ellipse">
              <a:avLst/>
            </a:prstGeom>
            <a:grpFill/>
            <a:ln w="9525">
              <a:solidFill>
                <a:srgbClr val="3333FF"/>
              </a:solidFill>
              <a:round/>
              <a:headEnd/>
              <a:tailEnd/>
            </a:ln>
          </p:spPr>
          <p:txBody>
            <a:bodyPr wrap="none" anchor="ctr"/>
            <a:lstStyle/>
            <a:p>
              <a:endParaRPr lang="zh-CN" altLang="en-US"/>
            </a:p>
          </p:txBody>
        </p:sp>
        <p:sp>
          <p:nvSpPr>
            <p:cNvPr id="29713" name="AutoShape 28"/>
            <p:cNvSpPr>
              <a:spLocks noChangeArrowheads="1"/>
            </p:cNvSpPr>
            <p:nvPr/>
          </p:nvSpPr>
          <p:spPr bwMode="auto">
            <a:xfrm>
              <a:off x="1065" y="3567"/>
              <a:ext cx="908" cy="453"/>
            </a:xfrm>
            <a:prstGeom prst="wedgeRoundRectCallout">
              <a:avLst>
                <a:gd name="adj1" fmla="val -54185"/>
                <a:gd name="adj2" fmla="val -150884"/>
                <a:gd name="adj3" fmla="val 16667"/>
              </a:avLst>
            </a:prstGeom>
            <a:grpFill/>
            <a:ln w="9525">
              <a:solidFill>
                <a:srgbClr val="FF0066"/>
              </a:solidFill>
              <a:miter lim="800000"/>
              <a:headEnd/>
              <a:tailEnd/>
            </a:ln>
          </p:spPr>
          <p:txBody>
            <a:bodyPr/>
            <a:lstStyle/>
            <a:p>
              <a:pPr algn="ctr"/>
              <a:r>
                <a:rPr lang="zh-CN" altLang="en-US">
                  <a:solidFill>
                    <a:srgbClr val="CC0099"/>
                  </a:solidFill>
                </a:rPr>
                <a:t>检验统计量的值</a:t>
              </a:r>
              <a:r>
                <a:rPr lang="en-US" altLang="zh-CN" sz="2000" b="1">
                  <a:solidFill>
                    <a:srgbClr val="CC0099"/>
                  </a:solidFill>
                </a:rPr>
                <a:t>-1.75</a:t>
              </a:r>
            </a:p>
          </p:txBody>
        </p:sp>
      </p:grpSp>
      <p:sp>
        <p:nvSpPr>
          <p:cNvPr id="481309" name="AutoShape 29"/>
          <p:cNvSpPr>
            <a:spLocks noChangeArrowheads="1"/>
          </p:cNvSpPr>
          <p:nvPr/>
        </p:nvSpPr>
        <p:spPr bwMode="auto">
          <a:xfrm rot="19720262">
            <a:off x="4619626" y="5481638"/>
            <a:ext cx="1008063" cy="360362"/>
          </a:xfrm>
          <a:prstGeom prst="rightArrow">
            <a:avLst>
              <a:gd name="adj1" fmla="val 50000"/>
              <a:gd name="adj2" fmla="val 69934"/>
            </a:avLst>
          </a:prstGeom>
          <a:solidFill>
            <a:schemeClr val="accent1">
              <a:lumMod val="60000"/>
              <a:lumOff val="40000"/>
            </a:schemeClr>
          </a:solidFill>
          <a:ln w="9525">
            <a:solidFill>
              <a:schemeClr val="accent1">
                <a:lumMod val="20000"/>
                <a:lumOff val="80000"/>
              </a:schemeClr>
            </a:solidFill>
            <a:miter lim="800000"/>
            <a:headEnd/>
            <a:tailEnd/>
          </a:ln>
        </p:spPr>
        <p:txBody>
          <a:bodyPr wrap="none" anchor="ctr"/>
          <a:lstStyle/>
          <a:p>
            <a:endParaRPr lang="zh-CN" altLang="en-US"/>
          </a:p>
        </p:txBody>
      </p:sp>
      <p:sp>
        <p:nvSpPr>
          <p:cNvPr id="29709" name="Rectangle 30"/>
          <p:cNvSpPr>
            <a:spLocks noChangeArrowheads="1"/>
          </p:cNvSpPr>
          <p:nvPr/>
        </p:nvSpPr>
        <p:spPr bwMode="auto">
          <a:xfrm>
            <a:off x="1524001" y="3015734"/>
            <a:ext cx="184731" cy="369332"/>
          </a:xfrm>
          <a:prstGeom prst="rect">
            <a:avLst/>
          </a:prstGeom>
          <a:noFill/>
          <a:ln w="9525">
            <a:noFill/>
            <a:miter lim="800000"/>
            <a:headEnd/>
            <a:tailEnd/>
          </a:ln>
        </p:spPr>
        <p:txBody>
          <a:bodyPr wrap="none" anchor="ctr">
            <a:spAutoFit/>
          </a:bodyPr>
          <a:lstStyle/>
          <a:p>
            <a:endParaRPr lang="zh-CN" altLang="en-US"/>
          </a:p>
        </p:txBody>
      </p:sp>
      <p:graphicFrame>
        <p:nvGraphicFramePr>
          <p:cNvPr id="481312" name="Object 32">
            <a:hlinkClick r:id="" action="ppaction://ole?verb=0"/>
          </p:cNvPr>
          <p:cNvGraphicFramePr>
            <a:graphicFrameLocks/>
          </p:cNvGraphicFramePr>
          <p:nvPr/>
        </p:nvGraphicFramePr>
        <p:xfrm>
          <a:off x="5303838" y="2565401"/>
          <a:ext cx="5364162" cy="2303463"/>
        </p:xfrm>
        <a:graphic>
          <a:graphicData uri="http://schemas.openxmlformats.org/presentationml/2006/ole">
            <mc:AlternateContent xmlns:mc="http://schemas.openxmlformats.org/markup-compatibility/2006">
              <mc:Choice xmlns:v="urn:schemas-microsoft-com:vml" Requires="v">
                <p:oleObj name="公式" r:id="rId7" imgW="2628720" imgH="1155600" progId="Equation.3">
                  <p:embed/>
                </p:oleObj>
              </mc:Choice>
              <mc:Fallback>
                <p:oleObj name="公式" r:id="rId7" imgW="2628720" imgH="1155600" progId="Equation.3">
                  <p:embed/>
                  <p:pic>
                    <p:nvPicPr>
                      <p:cNvPr id="481312" name="Object 32">
                        <a:hlinkClick r:id="" action="ppaction://ole?verb=0"/>
                      </p:cNvPr>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303838" y="2565401"/>
                        <a:ext cx="5364162" cy="2303463"/>
                      </a:xfrm>
                      <a:prstGeom prst="rect">
                        <a:avLst/>
                      </a:prstGeom>
                      <a:noFill/>
                      <a:ln>
                        <a:noFill/>
                      </a:ln>
                      <a:effectLst>
                        <a:outerShdw dist="1796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Lst>
                    </p:spPr>
                  </p:pic>
                </p:oleObj>
              </mc:Fallback>
            </mc:AlternateContent>
          </a:graphicData>
        </a:graphic>
      </p:graphicFrame>
      <p:sp>
        <p:nvSpPr>
          <p:cNvPr id="481326" name="AutoShape 46"/>
          <p:cNvSpPr>
            <a:spLocks noChangeArrowheads="1"/>
          </p:cNvSpPr>
          <p:nvPr/>
        </p:nvSpPr>
        <p:spPr bwMode="auto">
          <a:xfrm rot="20862138">
            <a:off x="8543925" y="4437064"/>
            <a:ext cx="935038" cy="936625"/>
          </a:xfrm>
          <a:prstGeom prst="curvedLeftArrow">
            <a:avLst>
              <a:gd name="adj1" fmla="val 20034"/>
              <a:gd name="adj2" fmla="val 40068"/>
              <a:gd name="adj3" fmla="val 33333"/>
            </a:avLst>
          </a:prstGeom>
          <a:solidFill>
            <a:srgbClr val="00B0F0"/>
          </a:solidFill>
          <a:ln w="9525">
            <a:solidFill>
              <a:srgbClr val="00B0F0"/>
            </a:solidFill>
            <a:miter lim="800000"/>
            <a:headEnd/>
            <a:tailEnd/>
          </a:ln>
        </p:spPr>
        <p:txBody>
          <a:bodyPr wrap="none" anchor="ctr"/>
          <a:lstStyle/>
          <a:p>
            <a:endParaRPr lang="zh-CN" altLang="en-US"/>
          </a:p>
        </p:txBody>
      </p:sp>
      <p:sp>
        <p:nvSpPr>
          <p:cNvPr id="481327" name="Rectangle 47"/>
          <p:cNvSpPr>
            <a:spLocks noChangeArrowheads="1"/>
          </p:cNvSpPr>
          <p:nvPr/>
        </p:nvSpPr>
        <p:spPr bwMode="auto">
          <a:xfrm>
            <a:off x="3648076" y="2565400"/>
            <a:ext cx="1800225" cy="425450"/>
          </a:xfrm>
          <a:prstGeom prst="rect">
            <a:avLst/>
          </a:prstGeom>
          <a:noFill/>
          <a:ln w="12700">
            <a:noFill/>
            <a:miter lim="800000"/>
            <a:headEnd/>
            <a:tailEnd/>
          </a:ln>
        </p:spPr>
        <p:txBody>
          <a:bodyPr lIns="90488" tIns="44450" rIns="90488" bIns="44450"/>
          <a:lstStyle/>
          <a:p>
            <a:pPr eaLnBrk="0" hangingPunct="0">
              <a:spcBef>
                <a:spcPct val="20000"/>
              </a:spcBef>
            </a:pPr>
            <a:r>
              <a:rPr kumimoji="1" lang="zh-CN" altLang="en-US" sz="2800" b="1">
                <a:solidFill>
                  <a:srgbClr val="FF00FF"/>
                </a:solidFill>
              </a:rPr>
              <a:t>置信区间</a:t>
            </a:r>
            <a:r>
              <a:rPr kumimoji="1" lang="en-US" altLang="zh-CN" sz="2800" b="1">
                <a:solidFill>
                  <a:srgbClr val="FF00FF"/>
                </a:solidFill>
              </a:rPr>
              <a:t>:</a:t>
            </a:r>
          </a:p>
        </p:txBody>
      </p:sp>
    </p:spTree>
    <p:extLst>
      <p:ext uri="{BB962C8B-B14F-4D97-AF65-F5344CB8AC3E}">
        <p14:creationId xmlns:p14="http://schemas.microsoft.com/office/powerpoint/2010/main" val="955129306"/>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slide(fromBottom)">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8" fill="hold" grpId="0" nodeType="clickEffect">
                                  <p:stCondLst>
                                    <p:cond delay="0"/>
                                  </p:stCondLst>
                                  <p:childTnLst>
                                    <p:set>
                                      <p:cBhvr>
                                        <p:cTn id="16" dur="1" fill="hold">
                                          <p:stCondLst>
                                            <p:cond delay="0"/>
                                          </p:stCondLst>
                                        </p:cTn>
                                        <p:tgtEl>
                                          <p:spTgt spid="481309"/>
                                        </p:tgtEl>
                                        <p:attrNameLst>
                                          <p:attrName>style.visibility</p:attrName>
                                        </p:attrNameLst>
                                      </p:cBhvr>
                                      <p:to>
                                        <p:strVal val="visible"/>
                                      </p:to>
                                    </p:set>
                                    <p:animEffect transition="in" filter="slide(fromLeft)">
                                      <p:cBhvr>
                                        <p:cTn id="17" dur="500"/>
                                        <p:tgtEl>
                                          <p:spTgt spid="481309"/>
                                        </p:tgtEl>
                                      </p:cBhvr>
                                    </p:animEffect>
                                  </p:childTnLst>
                                </p:cTn>
                              </p:par>
                              <p:par>
                                <p:cTn id="18" presetID="12" presetClass="entr" presetSubtype="8" fill="hold" grpId="0" nodeType="withEffect">
                                  <p:stCondLst>
                                    <p:cond delay="0"/>
                                  </p:stCondLst>
                                  <p:childTnLst>
                                    <p:set>
                                      <p:cBhvr>
                                        <p:cTn id="19" dur="1" fill="hold">
                                          <p:stCondLst>
                                            <p:cond delay="0"/>
                                          </p:stCondLst>
                                        </p:cTn>
                                        <p:tgtEl>
                                          <p:spTgt spid="481305"/>
                                        </p:tgtEl>
                                        <p:attrNameLst>
                                          <p:attrName>style.visibility</p:attrName>
                                        </p:attrNameLst>
                                      </p:cBhvr>
                                      <p:to>
                                        <p:strVal val="visible"/>
                                      </p:to>
                                    </p:set>
                                    <p:animEffect transition="in" filter="slide(fromLeft)">
                                      <p:cBhvr>
                                        <p:cTn id="20" dur="500"/>
                                        <p:tgtEl>
                                          <p:spTgt spid="481305"/>
                                        </p:tgtEl>
                                      </p:cBhvr>
                                    </p:animEffect>
                                  </p:childTnLst>
                                </p:cTn>
                              </p:par>
                            </p:childTnLst>
                          </p:cTn>
                        </p:par>
                        <p:par>
                          <p:cTn id="21" fill="hold">
                            <p:stCondLst>
                              <p:cond delay="500"/>
                            </p:stCondLst>
                            <p:childTnLst>
                              <p:par>
                                <p:cTn id="22" presetID="22" presetClass="entr" presetSubtype="8" fill="hold" grpId="0" nodeType="afterEffect">
                                  <p:stCondLst>
                                    <p:cond delay="0"/>
                                  </p:stCondLst>
                                  <p:childTnLst>
                                    <p:set>
                                      <p:cBhvr>
                                        <p:cTn id="23" dur="1" fill="hold">
                                          <p:stCondLst>
                                            <p:cond delay="0"/>
                                          </p:stCondLst>
                                        </p:cTn>
                                        <p:tgtEl>
                                          <p:spTgt spid="481286">
                                            <p:txEl>
                                              <p:pRg st="0" end="0"/>
                                            </p:txEl>
                                          </p:spTgt>
                                        </p:tgtEl>
                                        <p:attrNameLst>
                                          <p:attrName>style.visibility</p:attrName>
                                        </p:attrNameLst>
                                      </p:cBhvr>
                                      <p:to>
                                        <p:strVal val="visible"/>
                                      </p:to>
                                    </p:set>
                                    <p:animEffect transition="in" filter="wipe(left)">
                                      <p:cBhvr>
                                        <p:cTn id="24" dur="5000"/>
                                        <p:tgtEl>
                                          <p:spTgt spid="481286">
                                            <p:txEl>
                                              <p:pRg st="0" end="0"/>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481327">
                                            <p:txEl>
                                              <p:pRg st="0" end="0"/>
                                            </p:txEl>
                                          </p:spTgt>
                                        </p:tgtEl>
                                        <p:attrNameLst>
                                          <p:attrName>style.visibility</p:attrName>
                                        </p:attrNameLst>
                                      </p:cBhvr>
                                      <p:to>
                                        <p:strVal val="visible"/>
                                      </p:to>
                                    </p:set>
                                    <p:animEffect transition="in" filter="wipe(left)">
                                      <p:cBhvr>
                                        <p:cTn id="29" dur="500"/>
                                        <p:tgtEl>
                                          <p:spTgt spid="481327">
                                            <p:txEl>
                                              <p:pRg st="0" end="0"/>
                                            </p:txEl>
                                          </p:spTgt>
                                        </p:tgtEl>
                                      </p:cBhvr>
                                    </p:animEffect>
                                  </p:childTnLst>
                                </p:cTn>
                              </p:par>
                            </p:childTnLst>
                          </p:cTn>
                        </p:par>
                        <p:par>
                          <p:cTn id="30" fill="hold">
                            <p:stCondLst>
                              <p:cond delay="500"/>
                            </p:stCondLst>
                            <p:childTnLst>
                              <p:par>
                                <p:cTn id="31" presetID="22" presetClass="entr" presetSubtype="8" fill="hold" nodeType="afterEffect">
                                  <p:stCondLst>
                                    <p:cond delay="0"/>
                                  </p:stCondLst>
                                  <p:childTnLst>
                                    <p:set>
                                      <p:cBhvr>
                                        <p:cTn id="32" dur="1" fill="hold">
                                          <p:stCondLst>
                                            <p:cond delay="0"/>
                                          </p:stCondLst>
                                        </p:cTn>
                                        <p:tgtEl>
                                          <p:spTgt spid="481312"/>
                                        </p:tgtEl>
                                        <p:attrNameLst>
                                          <p:attrName>style.visibility</p:attrName>
                                        </p:attrNameLst>
                                      </p:cBhvr>
                                      <p:to>
                                        <p:strVal val="visible"/>
                                      </p:to>
                                    </p:set>
                                    <p:animEffect transition="in" filter="wipe(left)">
                                      <p:cBhvr>
                                        <p:cTn id="33" dur="2000"/>
                                        <p:tgtEl>
                                          <p:spTgt spid="481312"/>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1" fill="hold" grpId="0" nodeType="clickEffect">
                                  <p:stCondLst>
                                    <p:cond delay="0"/>
                                  </p:stCondLst>
                                  <p:childTnLst>
                                    <p:set>
                                      <p:cBhvr>
                                        <p:cTn id="37" dur="1" fill="hold">
                                          <p:stCondLst>
                                            <p:cond delay="0"/>
                                          </p:stCondLst>
                                        </p:cTn>
                                        <p:tgtEl>
                                          <p:spTgt spid="481326"/>
                                        </p:tgtEl>
                                        <p:attrNameLst>
                                          <p:attrName>style.visibility</p:attrName>
                                        </p:attrNameLst>
                                      </p:cBhvr>
                                      <p:to>
                                        <p:strVal val="visible"/>
                                      </p:to>
                                    </p:set>
                                    <p:animEffect transition="in" filter="slide(fromTop)">
                                      <p:cBhvr>
                                        <p:cTn id="38" dur="1000"/>
                                        <p:tgtEl>
                                          <p:spTgt spid="481326"/>
                                        </p:tgtEl>
                                      </p:cBhvr>
                                    </p:animEffect>
                                  </p:childTnLst>
                                </p:cTn>
                              </p:par>
                            </p:childTnLst>
                          </p:cTn>
                        </p:par>
                        <p:par>
                          <p:cTn id="39" fill="hold">
                            <p:stCondLst>
                              <p:cond delay="1000"/>
                            </p:stCondLst>
                            <p:childTnLst>
                              <p:par>
                                <p:cTn id="40" presetID="3" presetClass="entr" presetSubtype="10" fill="hold" grpId="1" nodeType="afterEffect">
                                  <p:stCondLst>
                                    <p:cond delay="0"/>
                                  </p:stCondLst>
                                  <p:childTnLst>
                                    <p:set>
                                      <p:cBhvr>
                                        <p:cTn id="41" dur="1" fill="hold">
                                          <p:stCondLst>
                                            <p:cond delay="0"/>
                                          </p:stCondLst>
                                        </p:cTn>
                                        <p:tgtEl>
                                          <p:spTgt spid="481305"/>
                                        </p:tgtEl>
                                        <p:attrNameLst>
                                          <p:attrName>style.visibility</p:attrName>
                                        </p:attrNameLst>
                                      </p:cBhvr>
                                      <p:to>
                                        <p:strVal val="visible"/>
                                      </p:to>
                                    </p:set>
                                    <p:animEffect transition="in" filter="blinds(horizontal)">
                                      <p:cBhvr>
                                        <p:cTn id="42" dur="2000"/>
                                        <p:tgtEl>
                                          <p:spTgt spid="4813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1286" grpId="0" build="p" autoUpdateAnimBg="0"/>
      <p:bldP spid="481305" grpId="0"/>
      <p:bldP spid="481305" grpId="1"/>
      <p:bldP spid="481309" grpId="0" animBg="1"/>
      <p:bldP spid="481326" grpId="0" animBg="1"/>
      <p:bldP spid="481327" grpId="0" build="p" autoUpdateAnimBg="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副标题 1"/>
          <p:cNvSpPr>
            <a:spLocks noGrp="1"/>
          </p:cNvSpPr>
          <p:nvPr>
            <p:ph type="subTitle" idx="1"/>
          </p:nvPr>
        </p:nvSpPr>
        <p:spPr>
          <a:xfrm>
            <a:off x="2082800" y="1960879"/>
            <a:ext cx="8610600" cy="3817621"/>
          </a:xfrm>
        </p:spPr>
        <p:txBody>
          <a:bodyPr>
            <a:noAutofit/>
          </a:bodyPr>
          <a:lstStyle/>
          <a:p>
            <a:pPr algn="l"/>
            <a:r>
              <a:rPr kumimoji="1" lang="en-US" altLang="zh-CN" sz="3200" dirty="0">
                <a:solidFill>
                  <a:srgbClr val="0070C0"/>
                </a:solidFill>
              </a:rPr>
              <a:t> 8.3.1 </a:t>
            </a:r>
            <a:r>
              <a:rPr kumimoji="1" lang="zh-CN" altLang="en-US" sz="3200" dirty="0">
                <a:solidFill>
                  <a:srgbClr val="0070C0"/>
                </a:solidFill>
              </a:rPr>
              <a:t>两个正态总体均值之差的检验</a:t>
            </a:r>
          </a:p>
          <a:p>
            <a:pPr marL="1257300" lvl="2" algn="l"/>
            <a:r>
              <a:rPr kumimoji="1" lang="zh-CN" altLang="en-US" sz="2400" b="1" dirty="0">
                <a:solidFill>
                  <a:srgbClr val="002060"/>
                </a:solidFill>
              </a:rPr>
              <a:t>两个独立样本的情形</a:t>
            </a:r>
            <a:endParaRPr kumimoji="1" lang="en-US" altLang="zh-CN" sz="2400" b="1" dirty="0">
              <a:solidFill>
                <a:srgbClr val="002060"/>
              </a:solidFill>
            </a:endParaRPr>
          </a:p>
          <a:p>
            <a:pPr marL="1435100" lvl="3" algn="l">
              <a:buFontTx/>
              <a:buChar char="•"/>
            </a:pPr>
            <a:r>
              <a:rPr kumimoji="1" lang="zh-CN" altLang="en-US" sz="2400" b="1" dirty="0">
                <a:solidFill>
                  <a:srgbClr val="002060"/>
                </a:solidFill>
              </a:rPr>
              <a:t>方差已知时</a:t>
            </a:r>
            <a:r>
              <a:rPr kumimoji="1" lang="en-US" altLang="zh-CN" sz="2400" b="1" dirty="0">
                <a:solidFill>
                  <a:srgbClr val="002060"/>
                </a:solidFill>
              </a:rPr>
              <a:t>——</a:t>
            </a:r>
            <a:r>
              <a:rPr kumimoji="1" lang="en-US" altLang="zh-CN" sz="2400" b="1" dirty="0">
                <a:solidFill>
                  <a:srgbClr val="0070C0"/>
                </a:solidFill>
              </a:rPr>
              <a:t>z</a:t>
            </a:r>
            <a:r>
              <a:rPr kumimoji="1" lang="zh-CN" altLang="en-US" sz="2400" b="1" dirty="0">
                <a:solidFill>
                  <a:srgbClr val="0070C0"/>
                </a:solidFill>
              </a:rPr>
              <a:t>检验</a:t>
            </a:r>
          </a:p>
          <a:p>
            <a:pPr marL="1435100" lvl="3" algn="l">
              <a:buFontTx/>
              <a:buChar char="•"/>
            </a:pPr>
            <a:r>
              <a:rPr kumimoji="1" lang="zh-CN" altLang="en-US" sz="2400" b="1" dirty="0">
                <a:solidFill>
                  <a:srgbClr val="002060"/>
                </a:solidFill>
              </a:rPr>
              <a:t>方差未知时</a:t>
            </a:r>
            <a:r>
              <a:rPr kumimoji="1" lang="en-US" altLang="zh-CN" sz="2400" b="1" dirty="0">
                <a:solidFill>
                  <a:srgbClr val="002060"/>
                </a:solidFill>
              </a:rPr>
              <a:t>——</a:t>
            </a:r>
            <a:r>
              <a:rPr kumimoji="1" lang="en-US" altLang="zh-CN" sz="2400" b="1" dirty="0">
                <a:solidFill>
                  <a:srgbClr val="0070C0"/>
                </a:solidFill>
              </a:rPr>
              <a:t>t</a:t>
            </a:r>
            <a:r>
              <a:rPr kumimoji="1" lang="zh-CN" altLang="en-US" sz="2400" b="1" dirty="0">
                <a:solidFill>
                  <a:srgbClr val="0070C0"/>
                </a:solidFill>
              </a:rPr>
              <a:t>检验</a:t>
            </a:r>
            <a:endParaRPr kumimoji="1" lang="en-US" altLang="zh-CN" sz="2400" b="1" dirty="0">
              <a:solidFill>
                <a:srgbClr val="0070C0"/>
              </a:solidFill>
            </a:endParaRPr>
          </a:p>
          <a:p>
            <a:pPr marL="1257300" lvl="2" algn="l"/>
            <a:r>
              <a:rPr kumimoji="1" lang="zh-CN" altLang="en-US" sz="2400" b="1" dirty="0">
                <a:solidFill>
                  <a:srgbClr val="002060"/>
                </a:solidFill>
              </a:rPr>
              <a:t>两个成对样本的情形</a:t>
            </a:r>
            <a:endParaRPr kumimoji="1" lang="en-US" altLang="zh-CN" sz="2400" b="1" dirty="0">
              <a:solidFill>
                <a:srgbClr val="002060"/>
              </a:solidFill>
            </a:endParaRPr>
          </a:p>
          <a:p>
            <a:pPr algn="l"/>
            <a:r>
              <a:rPr kumimoji="1" lang="en-US" altLang="zh-CN" sz="3200" dirty="0">
                <a:solidFill>
                  <a:srgbClr val="0070C0"/>
                </a:solidFill>
              </a:rPr>
              <a:t>8.3.2 </a:t>
            </a:r>
            <a:r>
              <a:rPr kumimoji="1" lang="zh-CN" altLang="en-US" sz="3200" dirty="0">
                <a:solidFill>
                  <a:srgbClr val="0070C0"/>
                </a:solidFill>
              </a:rPr>
              <a:t>两个正态总体方差相等性的检验</a:t>
            </a:r>
            <a:r>
              <a:rPr kumimoji="1" lang="en-US" altLang="zh-CN" dirty="0">
                <a:solidFill>
                  <a:srgbClr val="0070C0"/>
                </a:solidFill>
              </a:rPr>
              <a:t>—F</a:t>
            </a:r>
            <a:r>
              <a:rPr kumimoji="1" lang="zh-CN" altLang="en-US" dirty="0">
                <a:solidFill>
                  <a:srgbClr val="0070C0"/>
                </a:solidFill>
              </a:rPr>
              <a:t>检验</a:t>
            </a:r>
            <a:endParaRPr kumimoji="1" lang="en-US" altLang="zh-CN" dirty="0">
              <a:solidFill>
                <a:srgbClr val="0070C0"/>
              </a:solidFill>
            </a:endParaRPr>
          </a:p>
          <a:p>
            <a:pPr algn="l"/>
            <a:r>
              <a:rPr kumimoji="1" lang="en-US" altLang="zh-CN" sz="3200" dirty="0">
                <a:solidFill>
                  <a:srgbClr val="0070C0"/>
                </a:solidFill>
              </a:rPr>
              <a:t>8.3.3 </a:t>
            </a:r>
            <a:r>
              <a:rPr kumimoji="1" lang="zh-CN" altLang="en-US" sz="3200" dirty="0">
                <a:solidFill>
                  <a:srgbClr val="0070C0"/>
                </a:solidFill>
              </a:rPr>
              <a:t>两个总体成数之差的检验</a:t>
            </a:r>
            <a:r>
              <a:rPr kumimoji="1" lang="en-US" altLang="zh-CN" sz="3200" dirty="0">
                <a:solidFill>
                  <a:srgbClr val="0070C0"/>
                </a:solidFill>
              </a:rPr>
              <a:t>——z</a:t>
            </a:r>
            <a:r>
              <a:rPr kumimoji="1" lang="zh-CN" altLang="en-US" sz="3200" dirty="0">
                <a:solidFill>
                  <a:srgbClr val="0070C0"/>
                </a:solidFill>
              </a:rPr>
              <a:t>检验</a:t>
            </a:r>
          </a:p>
          <a:p>
            <a:pPr lvl="2"/>
            <a:endParaRPr kumimoji="1" lang="en-US" altLang="zh-CN" sz="3200" b="1" dirty="0">
              <a:solidFill>
                <a:srgbClr val="0070C0"/>
              </a:solidFill>
            </a:endParaRPr>
          </a:p>
          <a:p>
            <a:endParaRPr lang="zh-CN" altLang="en-US" sz="3200" dirty="0">
              <a:solidFill>
                <a:srgbClr val="0070C0"/>
              </a:solidFill>
            </a:endParaRPr>
          </a:p>
        </p:txBody>
      </p:sp>
      <p:sp>
        <p:nvSpPr>
          <p:cNvPr id="106502" name="Rectangle 6"/>
          <p:cNvSpPr>
            <a:spLocks noGrp="1" noChangeArrowheads="1"/>
          </p:cNvSpPr>
          <p:nvPr>
            <p:ph type="ctrTitle"/>
          </p:nvPr>
        </p:nvSpPr>
        <p:spPr>
          <a:xfrm>
            <a:off x="469900" y="514033"/>
            <a:ext cx="12192000" cy="1746567"/>
          </a:xfrm>
        </p:spPr>
        <p:txBody>
          <a:bodyPr/>
          <a:lstStyle/>
          <a:p>
            <a:pPr eaLnBrk="1" hangingPunct="1"/>
            <a:r>
              <a:rPr kumimoji="1" lang="en-US" altLang="zh-CN" sz="4400" dirty="0"/>
              <a:t>8.3  </a:t>
            </a:r>
            <a:r>
              <a:rPr kumimoji="1" lang="zh-CN" altLang="en-US" sz="4400" dirty="0"/>
              <a:t>两个总体参数的假设检验</a:t>
            </a:r>
            <a:r>
              <a:rPr kumimoji="1" lang="en-US" altLang="zh-CN" sz="3600" dirty="0">
                <a:solidFill>
                  <a:schemeClr val="accent5">
                    <a:lumMod val="60000"/>
                    <a:lumOff val="40000"/>
                  </a:schemeClr>
                </a:solidFill>
              </a:rPr>
              <a:t>【</a:t>
            </a:r>
            <a:r>
              <a:rPr kumimoji="1" lang="zh-CN" altLang="en-US" sz="3600" dirty="0">
                <a:solidFill>
                  <a:schemeClr val="accent5">
                    <a:lumMod val="60000"/>
                    <a:lumOff val="40000"/>
                  </a:schemeClr>
                </a:solidFill>
              </a:rPr>
              <a:t>可略</a:t>
            </a:r>
            <a:r>
              <a:rPr kumimoji="1" lang="en-US" altLang="zh-CN" sz="3600" dirty="0">
                <a:solidFill>
                  <a:schemeClr val="accent5">
                    <a:lumMod val="60000"/>
                    <a:lumOff val="40000"/>
                  </a:schemeClr>
                </a:solidFill>
              </a:rPr>
              <a:t>】</a:t>
            </a:r>
            <a:r>
              <a:rPr kumimoji="1" lang="zh-CN" altLang="en-US" sz="3600" dirty="0">
                <a:solidFill>
                  <a:schemeClr val="accent5">
                    <a:lumMod val="60000"/>
                    <a:lumOff val="40000"/>
                  </a:schemeClr>
                </a:solidFill>
              </a:rPr>
              <a:t> </a:t>
            </a:r>
          </a:p>
        </p:txBody>
      </p:sp>
      <p:sp>
        <p:nvSpPr>
          <p:cNvPr id="106498" name="灯片编号占位符 3"/>
          <p:cNvSpPr>
            <a:spLocks noGrp="1"/>
          </p:cNvSpPr>
          <p:nvPr>
            <p:ph type="sldNum" sz="quarter" idx="4294967295"/>
          </p:nvPr>
        </p:nvSpPr>
        <p:spPr>
          <a:xfrm>
            <a:off x="9448800" y="6311900"/>
            <a:ext cx="2743200" cy="365125"/>
          </a:xfrm>
          <a:noFill/>
        </p:spPr>
        <p:txBody>
          <a:bodyPr/>
          <a:lstStyle/>
          <a:p>
            <a:r>
              <a:rPr lang="en-US" altLang="zh-CN">
                <a:ea typeface="宋体" pitchFamily="2" charset="-122"/>
              </a:rPr>
              <a:t>8--</a:t>
            </a:r>
            <a:fld id="{FA315354-121D-4E4D-94B9-6D4CEED73740}" type="slidenum">
              <a:rPr lang="en-US" altLang="zh-CN" smtClean="0">
                <a:ea typeface="宋体" pitchFamily="2" charset="-122"/>
              </a:rPr>
              <a:pPr/>
              <a:t>75</a:t>
            </a:fld>
            <a:endParaRPr lang="en-US" altLang="zh-CN">
              <a:ea typeface="宋体" pitchFamily="2" charset="-122"/>
            </a:endParaRPr>
          </a:p>
        </p:txBody>
      </p:sp>
    </p:spTree>
    <p:extLst>
      <p:ext uri="{BB962C8B-B14F-4D97-AF65-F5344CB8AC3E}">
        <p14:creationId xmlns:p14="http://schemas.microsoft.com/office/powerpoint/2010/main" val="133334596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0725" name="标题 1"/>
          <p:cNvSpPr>
            <a:spLocks noGrp="1"/>
          </p:cNvSpPr>
          <p:nvPr>
            <p:ph type="title"/>
          </p:nvPr>
        </p:nvSpPr>
        <p:spPr>
          <a:xfrm>
            <a:off x="1404939" y="469376"/>
            <a:ext cx="7772400" cy="990600"/>
          </a:xfrm>
        </p:spPr>
        <p:txBody>
          <a:bodyPr/>
          <a:lstStyle/>
          <a:p>
            <a:r>
              <a:rPr kumimoji="1" lang="en-US" altLang="zh-CN" sz="3600" b="1" dirty="0">
                <a:solidFill>
                  <a:srgbClr val="0070C0"/>
                </a:solidFill>
                <a:effectLst/>
              </a:rPr>
              <a:t>8.3.1 </a:t>
            </a:r>
            <a:r>
              <a:rPr lang="zh-CN" altLang="en-US" sz="3600" b="1" dirty="0">
                <a:solidFill>
                  <a:srgbClr val="0070C0"/>
                </a:solidFill>
                <a:effectLst/>
              </a:rPr>
              <a:t>两个正态总体均值差的检验</a:t>
            </a:r>
          </a:p>
        </p:txBody>
      </p:sp>
      <p:sp>
        <p:nvSpPr>
          <p:cNvPr id="3" name="内容占位符 2"/>
          <p:cNvSpPr>
            <a:spLocks noGrp="1"/>
          </p:cNvSpPr>
          <p:nvPr>
            <p:ph idx="1"/>
          </p:nvPr>
        </p:nvSpPr>
        <p:spPr>
          <a:xfrm>
            <a:off x="1524001" y="3000376"/>
            <a:ext cx="9025890" cy="500063"/>
          </a:xfrm>
        </p:spPr>
        <p:txBody>
          <a:bodyPr>
            <a:noAutofit/>
          </a:bodyPr>
          <a:lstStyle/>
          <a:p>
            <a:pPr>
              <a:buFontTx/>
              <a:buNone/>
            </a:pPr>
            <a:r>
              <a:rPr lang="zh-CN" altLang="en-US" b="1" dirty="0">
                <a:solidFill>
                  <a:srgbClr val="7030A0"/>
                </a:solidFill>
                <a:latin typeface="黑体" panose="02010609060101010101" pitchFamily="49" charset="-122"/>
                <a:ea typeface="黑体" panose="02010609060101010101" pitchFamily="49" charset="-122"/>
              </a:rPr>
              <a:t>（</a:t>
            </a:r>
            <a:r>
              <a:rPr lang="en-US" altLang="zh-CN" b="1" dirty="0">
                <a:solidFill>
                  <a:srgbClr val="7030A0"/>
                </a:solidFill>
                <a:latin typeface="黑体" panose="02010609060101010101" pitchFamily="49" charset="-122"/>
                <a:ea typeface="黑体" panose="02010609060101010101" pitchFamily="49" charset="-122"/>
              </a:rPr>
              <a:t>1</a:t>
            </a:r>
            <a:r>
              <a:rPr lang="zh-CN" altLang="en-US" b="1" dirty="0">
                <a:solidFill>
                  <a:srgbClr val="7030A0"/>
                </a:solidFill>
                <a:latin typeface="黑体" panose="02010609060101010101" pitchFamily="49" charset="-122"/>
                <a:ea typeface="黑体" panose="02010609060101010101" pitchFamily="49" charset="-122"/>
              </a:rPr>
              <a:t>）若两个正态总体的方差已知</a:t>
            </a:r>
            <a:r>
              <a:rPr lang="zh-CN" altLang="en-US" sz="2800" b="1" dirty="0">
                <a:solidFill>
                  <a:srgbClr val="7030A0"/>
                </a:solidFill>
                <a:latin typeface="黑体" panose="02010609060101010101" pitchFamily="49" charset="-122"/>
                <a:ea typeface="黑体" panose="02010609060101010101" pitchFamily="49" charset="-122"/>
              </a:rPr>
              <a:t>，</a:t>
            </a:r>
            <a:r>
              <a:rPr lang="zh-CN" altLang="en-US" b="1" dirty="0">
                <a:solidFill>
                  <a:srgbClr val="7030A0"/>
                </a:solidFill>
                <a:latin typeface="黑体" panose="02010609060101010101" pitchFamily="49" charset="-122"/>
                <a:ea typeface="黑体" panose="02010609060101010101" pitchFamily="49" charset="-122"/>
              </a:rPr>
              <a:t>检验统计量</a:t>
            </a:r>
            <a:r>
              <a:rPr lang="zh-CN" altLang="en-US" sz="2800" b="1" dirty="0">
                <a:solidFill>
                  <a:srgbClr val="7030A0"/>
                </a:solidFill>
                <a:latin typeface="黑体" panose="02010609060101010101" pitchFamily="49" charset="-122"/>
                <a:ea typeface="黑体" panose="02010609060101010101" pitchFamily="49" charset="-122"/>
              </a:rPr>
              <a:t>为：</a:t>
            </a:r>
            <a:endParaRPr lang="zh-CN" altLang="en-US" b="1" dirty="0">
              <a:solidFill>
                <a:srgbClr val="7030A0"/>
              </a:solidFill>
              <a:latin typeface="黑体" panose="02010609060101010101" pitchFamily="49" charset="-122"/>
              <a:ea typeface="黑体" panose="02010609060101010101" pitchFamily="49" charset="-122"/>
            </a:endParaRPr>
          </a:p>
        </p:txBody>
      </p:sp>
      <p:sp>
        <p:nvSpPr>
          <p:cNvPr id="30727" name="灯片编号占位符 3"/>
          <p:cNvSpPr>
            <a:spLocks noGrp="1"/>
          </p:cNvSpPr>
          <p:nvPr>
            <p:ph type="sldNum" sz="quarter" idx="4294967295"/>
          </p:nvPr>
        </p:nvSpPr>
        <p:spPr>
          <a:noFill/>
        </p:spPr>
        <p:txBody>
          <a:bodyPr/>
          <a:lstStyle/>
          <a:p>
            <a:r>
              <a:rPr lang="en-US" altLang="zh-CN">
                <a:ea typeface="宋体" pitchFamily="2" charset="-122"/>
              </a:rPr>
              <a:t>8--</a:t>
            </a:r>
            <a:fld id="{F406F817-1B16-4F82-A4BF-6CBD98CD8679}" type="slidenum">
              <a:rPr lang="en-US" altLang="zh-CN" smtClean="0">
                <a:ea typeface="宋体" pitchFamily="2" charset="-122"/>
              </a:rPr>
              <a:pPr/>
              <a:t>76</a:t>
            </a:fld>
            <a:endParaRPr lang="en-US" altLang="zh-CN">
              <a:ea typeface="宋体" pitchFamily="2" charset="-122"/>
            </a:endParaRPr>
          </a:p>
        </p:txBody>
      </p:sp>
      <p:sp>
        <p:nvSpPr>
          <p:cNvPr id="220162" name="Rectangle 2"/>
          <p:cNvSpPr>
            <a:spLocks noChangeArrowheads="1"/>
          </p:cNvSpPr>
          <p:nvPr/>
        </p:nvSpPr>
        <p:spPr bwMode="auto">
          <a:xfrm>
            <a:off x="1524001" y="-184666"/>
            <a:ext cx="184731" cy="369332"/>
          </a:xfrm>
          <a:prstGeom prst="rect">
            <a:avLst/>
          </a:prstGeom>
          <a:noFill/>
          <a:ln w="9525">
            <a:noFill/>
            <a:miter lim="800000"/>
            <a:headEnd/>
            <a:tailEnd/>
          </a:ln>
          <a:effectLst>
            <a:prstShdw prst="shdw17" dist="17961" dir="2700000">
              <a:schemeClr val="accent1">
                <a:gamma/>
                <a:shade val="60000"/>
                <a:invGamma/>
              </a:schemeClr>
            </a:prstShdw>
          </a:effectLst>
        </p:spPr>
        <p:txBody>
          <a:bodyPr wrap="none" anchor="ctr">
            <a:spAutoFit/>
          </a:bodyPr>
          <a:lstStyle/>
          <a:p>
            <a:pPr>
              <a:defRPr/>
            </a:pPr>
            <a:endParaRPr lang="zh-CN" altLang="en-US"/>
          </a:p>
        </p:txBody>
      </p:sp>
      <p:graphicFrame>
        <p:nvGraphicFramePr>
          <p:cNvPr id="30722" name="Object 1"/>
          <p:cNvGraphicFramePr>
            <a:graphicFrameLocks noChangeAspect="1"/>
          </p:cNvGraphicFramePr>
          <p:nvPr/>
        </p:nvGraphicFramePr>
        <p:xfrm>
          <a:off x="2881313" y="1428750"/>
          <a:ext cx="2762250" cy="571500"/>
        </p:xfrm>
        <a:graphic>
          <a:graphicData uri="http://schemas.openxmlformats.org/presentationml/2006/ole">
            <mc:AlternateContent xmlns:mc="http://schemas.openxmlformats.org/markup-compatibility/2006">
              <mc:Choice xmlns:v="urn:schemas-microsoft-com:vml" Requires="v">
                <p:oleObj name="公式" r:id="rId2" imgW="1104900" imgH="228600" progId="Equation.3">
                  <p:embed/>
                </p:oleObj>
              </mc:Choice>
              <mc:Fallback>
                <p:oleObj name="公式" r:id="rId2" imgW="1104900" imgH="228600" progId="Equation.3">
                  <p:embed/>
                  <p:pic>
                    <p:nvPicPr>
                      <p:cNvPr id="30722"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81313" y="1428750"/>
                        <a:ext cx="2762250" cy="571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20164" name="Rectangle 4"/>
          <p:cNvSpPr>
            <a:spLocks noChangeArrowheads="1"/>
          </p:cNvSpPr>
          <p:nvPr/>
        </p:nvSpPr>
        <p:spPr bwMode="auto">
          <a:xfrm>
            <a:off x="1524001" y="-184666"/>
            <a:ext cx="184731" cy="369332"/>
          </a:xfrm>
          <a:prstGeom prst="rect">
            <a:avLst/>
          </a:prstGeom>
          <a:noFill/>
          <a:ln w="9525">
            <a:noFill/>
            <a:miter lim="800000"/>
            <a:headEnd/>
            <a:tailEnd/>
          </a:ln>
          <a:effectLst>
            <a:prstShdw prst="shdw17" dist="17961" dir="2700000">
              <a:schemeClr val="accent1">
                <a:gamma/>
                <a:shade val="60000"/>
                <a:invGamma/>
              </a:schemeClr>
            </a:prstShdw>
          </a:effectLst>
        </p:spPr>
        <p:txBody>
          <a:bodyPr wrap="none" anchor="ctr">
            <a:spAutoFit/>
          </a:bodyPr>
          <a:lstStyle/>
          <a:p>
            <a:pPr>
              <a:defRPr/>
            </a:pPr>
            <a:endParaRPr lang="zh-CN" altLang="en-US"/>
          </a:p>
        </p:txBody>
      </p:sp>
      <p:graphicFrame>
        <p:nvGraphicFramePr>
          <p:cNvPr id="30723" name="Object 3"/>
          <p:cNvGraphicFramePr>
            <a:graphicFrameLocks noChangeAspect="1"/>
          </p:cNvGraphicFramePr>
          <p:nvPr/>
        </p:nvGraphicFramePr>
        <p:xfrm>
          <a:off x="6024564" y="1428750"/>
          <a:ext cx="3152775" cy="522288"/>
        </p:xfrm>
        <a:graphic>
          <a:graphicData uri="http://schemas.openxmlformats.org/presentationml/2006/ole">
            <mc:AlternateContent xmlns:mc="http://schemas.openxmlformats.org/markup-compatibility/2006">
              <mc:Choice xmlns:v="urn:schemas-microsoft-com:vml" Requires="v">
                <p:oleObj name="公式" r:id="rId4" imgW="1384200" imgH="228600" progId="Equation.3">
                  <p:embed/>
                </p:oleObj>
              </mc:Choice>
              <mc:Fallback>
                <p:oleObj name="公式" r:id="rId4" imgW="1384200" imgH="228600" progId="Equation.3">
                  <p:embed/>
                  <p:pic>
                    <p:nvPicPr>
                      <p:cNvPr id="30723"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24564" y="1428750"/>
                        <a:ext cx="3152775" cy="5222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20166" name="Rectangle 6"/>
          <p:cNvSpPr>
            <a:spLocks noChangeArrowheads="1"/>
          </p:cNvSpPr>
          <p:nvPr/>
        </p:nvSpPr>
        <p:spPr bwMode="auto">
          <a:xfrm>
            <a:off x="1524001" y="-184666"/>
            <a:ext cx="184731" cy="369332"/>
          </a:xfrm>
          <a:prstGeom prst="rect">
            <a:avLst/>
          </a:prstGeom>
          <a:noFill/>
          <a:ln w="9525">
            <a:noFill/>
            <a:miter lim="800000"/>
            <a:headEnd/>
            <a:tailEnd/>
          </a:ln>
          <a:effectLst>
            <a:prstShdw prst="shdw17" dist="17961" dir="2700000">
              <a:schemeClr val="accent1">
                <a:gamma/>
                <a:shade val="60000"/>
                <a:invGamma/>
              </a:schemeClr>
            </a:prstShdw>
          </a:effectLst>
        </p:spPr>
        <p:txBody>
          <a:bodyPr wrap="none" anchor="ctr">
            <a:spAutoFit/>
          </a:bodyPr>
          <a:lstStyle/>
          <a:p>
            <a:pPr>
              <a:defRPr/>
            </a:pPr>
            <a:endParaRPr lang="zh-CN" altLang="en-US"/>
          </a:p>
        </p:txBody>
      </p:sp>
      <p:graphicFrame>
        <p:nvGraphicFramePr>
          <p:cNvPr id="29700" name="Object 5"/>
          <p:cNvGraphicFramePr>
            <a:graphicFrameLocks noChangeAspect="1"/>
          </p:cNvGraphicFramePr>
          <p:nvPr>
            <p:extLst>
              <p:ext uri="{D42A27DB-BD31-4B8C-83A1-F6EECF244321}">
                <p14:modId xmlns:p14="http://schemas.microsoft.com/office/powerpoint/2010/main" val="754637419"/>
              </p:ext>
            </p:extLst>
          </p:nvPr>
        </p:nvGraphicFramePr>
        <p:xfrm>
          <a:off x="2357438" y="3789078"/>
          <a:ext cx="4214812" cy="1592262"/>
        </p:xfrm>
        <a:graphic>
          <a:graphicData uri="http://schemas.openxmlformats.org/presentationml/2006/ole">
            <mc:AlternateContent xmlns:mc="http://schemas.openxmlformats.org/markup-compatibility/2006">
              <mc:Choice xmlns:v="urn:schemas-microsoft-com:vml" Requires="v">
                <p:oleObj name="公式" r:id="rId6" imgW="1803400" imgH="698500" progId="Equation.3">
                  <p:embed/>
                </p:oleObj>
              </mc:Choice>
              <mc:Fallback>
                <p:oleObj name="公式" r:id="rId6" imgW="1803400" imgH="698500" progId="Equation.3">
                  <p:embed/>
                  <p:pic>
                    <p:nvPicPr>
                      <p:cNvPr id="29700"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357438" y="3789078"/>
                        <a:ext cx="4214812" cy="15922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20175" name="Rectangle 15"/>
          <p:cNvSpPr>
            <a:spLocks noChangeArrowheads="1"/>
          </p:cNvSpPr>
          <p:nvPr/>
        </p:nvSpPr>
        <p:spPr bwMode="auto">
          <a:xfrm>
            <a:off x="1524001" y="-184666"/>
            <a:ext cx="184731" cy="369332"/>
          </a:xfrm>
          <a:prstGeom prst="rect">
            <a:avLst/>
          </a:prstGeom>
          <a:noFill/>
          <a:ln w="9525">
            <a:noFill/>
            <a:miter lim="800000"/>
            <a:headEnd/>
            <a:tailEnd/>
          </a:ln>
          <a:effectLst>
            <a:prstShdw prst="shdw17" dist="17961" dir="2700000">
              <a:schemeClr val="accent1">
                <a:gamma/>
                <a:shade val="60000"/>
                <a:invGamma/>
              </a:schemeClr>
            </a:prstShdw>
          </a:effectLst>
        </p:spPr>
        <p:txBody>
          <a:bodyPr wrap="none" anchor="ctr">
            <a:spAutoFit/>
          </a:bodyPr>
          <a:lstStyle/>
          <a:p>
            <a:pPr>
              <a:defRPr/>
            </a:pPr>
            <a:endParaRPr lang="zh-CN" altLang="en-US"/>
          </a:p>
        </p:txBody>
      </p:sp>
      <p:sp>
        <p:nvSpPr>
          <p:cNvPr id="220177" name="Rectangle 17"/>
          <p:cNvSpPr>
            <a:spLocks noChangeArrowheads="1"/>
          </p:cNvSpPr>
          <p:nvPr/>
        </p:nvSpPr>
        <p:spPr bwMode="auto">
          <a:xfrm>
            <a:off x="1524001" y="-184666"/>
            <a:ext cx="184731" cy="369332"/>
          </a:xfrm>
          <a:prstGeom prst="rect">
            <a:avLst/>
          </a:prstGeom>
          <a:noFill/>
          <a:ln w="9525">
            <a:noFill/>
            <a:miter lim="800000"/>
            <a:headEnd/>
            <a:tailEnd/>
          </a:ln>
          <a:effectLst>
            <a:prstShdw prst="shdw17" dist="17961" dir="2700000">
              <a:schemeClr val="accent1">
                <a:gamma/>
                <a:shade val="60000"/>
                <a:invGamma/>
              </a:schemeClr>
            </a:prstShdw>
          </a:effectLst>
        </p:spPr>
        <p:txBody>
          <a:bodyPr wrap="none" anchor="ctr">
            <a:spAutoFit/>
          </a:bodyPr>
          <a:lstStyle/>
          <a:p>
            <a:pPr>
              <a:defRPr/>
            </a:pPr>
            <a:endParaRPr lang="zh-CN" altLang="en-US"/>
          </a:p>
        </p:txBody>
      </p:sp>
      <p:sp>
        <p:nvSpPr>
          <p:cNvPr id="23" name="矩形 22"/>
          <p:cNvSpPr/>
          <p:nvPr/>
        </p:nvSpPr>
        <p:spPr>
          <a:xfrm>
            <a:off x="7192305" y="3893240"/>
            <a:ext cx="3357586" cy="1488100"/>
          </a:xfrm>
          <a:prstGeom prst="rect">
            <a:avLst/>
          </a:prstGeom>
          <a:ln w="38100">
            <a:solidFill>
              <a:srgbClr val="0000FF"/>
            </a:solidFill>
          </a:ln>
        </p:spPr>
        <p:txBody>
          <a:bodyPr>
            <a:spAutoFit/>
          </a:bodyPr>
          <a:lstStyle/>
          <a:p>
            <a:pPr>
              <a:lnSpc>
                <a:spcPct val="105000"/>
              </a:lnSpc>
              <a:spcBef>
                <a:spcPts val="300"/>
              </a:spcBef>
              <a:defRPr/>
            </a:pPr>
            <a:r>
              <a:rPr lang="en-US" altLang="zh-CN" sz="2800" dirty="0">
                <a:ln>
                  <a:solidFill>
                    <a:srgbClr val="000000"/>
                  </a:solidFill>
                </a:ln>
                <a:solidFill>
                  <a:srgbClr val="000000"/>
                </a:solidFill>
              </a:rPr>
              <a:t>EXCEL</a:t>
            </a:r>
            <a:r>
              <a:rPr lang="zh-CN" altLang="en-US" sz="2800" dirty="0">
                <a:ln>
                  <a:solidFill>
                    <a:srgbClr val="000000"/>
                  </a:solidFill>
                </a:ln>
                <a:solidFill>
                  <a:srgbClr val="000000"/>
                </a:solidFill>
              </a:rPr>
              <a:t>数据分析</a:t>
            </a:r>
            <a:endParaRPr lang="en-US" altLang="zh-CN" sz="2800" dirty="0">
              <a:ln>
                <a:solidFill>
                  <a:srgbClr val="000000"/>
                </a:solidFill>
              </a:ln>
              <a:solidFill>
                <a:srgbClr val="000000"/>
              </a:solidFill>
            </a:endParaRPr>
          </a:p>
          <a:p>
            <a:pPr>
              <a:lnSpc>
                <a:spcPct val="105000"/>
              </a:lnSpc>
              <a:spcBef>
                <a:spcPts val="300"/>
              </a:spcBef>
              <a:defRPr/>
            </a:pPr>
            <a:r>
              <a:rPr lang="en-US" altLang="zh-CN" sz="2800" dirty="0">
                <a:ln>
                  <a:solidFill>
                    <a:srgbClr val="000000"/>
                  </a:solidFill>
                </a:ln>
                <a:solidFill>
                  <a:srgbClr val="000000"/>
                </a:solidFill>
              </a:rPr>
              <a:t>——</a:t>
            </a:r>
            <a:r>
              <a:rPr lang="en-US" altLang="zh-CN" sz="2800" dirty="0">
                <a:ln>
                  <a:solidFill>
                    <a:srgbClr val="000000"/>
                  </a:solidFill>
                </a:ln>
                <a:solidFill>
                  <a:srgbClr val="C00000"/>
                </a:solidFill>
              </a:rPr>
              <a:t>Z</a:t>
            </a:r>
            <a:r>
              <a:rPr lang="zh-CN" altLang="en-US" sz="2800" dirty="0">
                <a:ln>
                  <a:solidFill>
                    <a:srgbClr val="000000"/>
                  </a:solidFill>
                </a:ln>
                <a:solidFill>
                  <a:srgbClr val="C00000"/>
                </a:solidFill>
              </a:rPr>
              <a:t>检验</a:t>
            </a:r>
            <a:r>
              <a:rPr lang="en-US" altLang="zh-CN" sz="2800" dirty="0">
                <a:ln>
                  <a:solidFill>
                    <a:srgbClr val="000000"/>
                  </a:solidFill>
                </a:ln>
                <a:solidFill>
                  <a:srgbClr val="C00000"/>
                </a:solidFill>
              </a:rPr>
              <a:t>: </a:t>
            </a:r>
            <a:r>
              <a:rPr lang="zh-CN" altLang="en-US" sz="2800" dirty="0">
                <a:ln>
                  <a:solidFill>
                    <a:srgbClr val="000000"/>
                  </a:solidFill>
                </a:ln>
                <a:solidFill>
                  <a:srgbClr val="C00000"/>
                </a:solidFill>
              </a:rPr>
              <a:t>双样本平均差检验</a:t>
            </a:r>
          </a:p>
        </p:txBody>
      </p:sp>
      <p:sp>
        <p:nvSpPr>
          <p:cNvPr id="220178" name="Rectangle 18"/>
          <p:cNvSpPr>
            <a:spLocks noChangeArrowheads="1"/>
          </p:cNvSpPr>
          <p:nvPr/>
        </p:nvSpPr>
        <p:spPr bwMode="auto">
          <a:xfrm>
            <a:off x="1404939" y="2111573"/>
            <a:ext cx="5713744" cy="615553"/>
          </a:xfrm>
          <a:prstGeom prst="rect">
            <a:avLst/>
          </a:prstGeom>
          <a:solidFill>
            <a:schemeClr val="accent5">
              <a:lumMod val="20000"/>
              <a:lumOff val="80000"/>
            </a:schemeClr>
          </a:solidFill>
          <a:ln w="9525">
            <a:noFill/>
            <a:miter lim="800000"/>
            <a:headEnd/>
            <a:tailEnd/>
          </a:ln>
          <a:effectLst>
            <a:prstShdw prst="shdw17" dist="17961" dir="2700000">
              <a:schemeClr val="accent1">
                <a:gamma/>
                <a:shade val="60000"/>
                <a:invGamma/>
              </a:schemeClr>
            </a:prstShdw>
          </a:effectLst>
        </p:spPr>
        <p:txBody>
          <a:bodyPr wrap="none" anchor="ctr">
            <a:spAutoFit/>
          </a:bodyPr>
          <a:lstStyle/>
          <a:p>
            <a:pPr indent="401638" eaLnBrk="0" hangingPunct="0">
              <a:defRPr/>
            </a:pPr>
            <a:r>
              <a:rPr lang="en-US" altLang="zh-CN" sz="3400" b="1" dirty="0">
                <a:solidFill>
                  <a:srgbClr val="C00000"/>
                </a:solidFill>
                <a:latin typeface="Times New Roman" pitchFamily="18" charset="0"/>
                <a:cs typeface="Times New Roman" pitchFamily="18" charset="0"/>
              </a:rPr>
              <a:t>1.</a:t>
            </a:r>
            <a:r>
              <a:rPr lang="zh-CN" altLang="en-US" sz="3400" b="1" dirty="0">
                <a:solidFill>
                  <a:srgbClr val="C00000"/>
                </a:solidFill>
                <a:latin typeface="Times New Roman" pitchFamily="18" charset="0"/>
                <a:cs typeface="Times New Roman" pitchFamily="18" charset="0"/>
              </a:rPr>
              <a:t>两个样本相互独立的情形</a:t>
            </a:r>
            <a:endParaRPr lang="zh-CN" altLang="en-US" sz="3400" dirty="0">
              <a:solidFill>
                <a:srgbClr val="C00000"/>
              </a:solidFill>
            </a:endParaRPr>
          </a:p>
        </p:txBody>
      </p:sp>
    </p:spTree>
    <p:extLst>
      <p:ext uri="{BB962C8B-B14F-4D97-AF65-F5344CB8AC3E}">
        <p14:creationId xmlns:p14="http://schemas.microsoft.com/office/powerpoint/2010/main" val="5783302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29700"/>
                                        </p:tgtEl>
                                        <p:attrNameLst>
                                          <p:attrName>style.visibility</p:attrName>
                                        </p:attrNameLst>
                                      </p:cBhvr>
                                      <p:to>
                                        <p:strVal val="visible"/>
                                      </p:to>
                                    </p:set>
                                    <p:animEffect transition="in" filter="wipe(left)">
                                      <p:cBhvr>
                                        <p:cTn id="11" dur="500"/>
                                        <p:tgtEl>
                                          <p:spTgt spid="29700"/>
                                        </p:tgtEl>
                                      </p:cBhvr>
                                    </p:animEffect>
                                  </p:childTnLst>
                                </p:cTn>
                              </p:par>
                            </p:childTnLst>
                          </p:cTn>
                        </p:par>
                        <p:par>
                          <p:cTn id="12" fill="hold">
                            <p:stCondLst>
                              <p:cond delay="1000"/>
                            </p:stCondLst>
                            <p:childTnLst>
                              <p:par>
                                <p:cTn id="13" presetID="22" presetClass="entr" presetSubtype="1" fill="hold" nodeType="afterEffect">
                                  <p:stCondLst>
                                    <p:cond delay="0"/>
                                  </p:stCondLst>
                                  <p:childTnLst>
                                    <p:set>
                                      <p:cBhvr>
                                        <p:cTn id="14" dur="1" fill="hold">
                                          <p:stCondLst>
                                            <p:cond delay="0"/>
                                          </p:stCondLst>
                                        </p:cTn>
                                        <p:tgtEl>
                                          <p:spTgt spid="23"/>
                                        </p:tgtEl>
                                        <p:attrNameLst>
                                          <p:attrName>style.visibility</p:attrName>
                                        </p:attrNameLst>
                                      </p:cBhvr>
                                      <p:to>
                                        <p:strVal val="visible"/>
                                      </p:to>
                                    </p:set>
                                    <p:animEffect transition="in" filter="wipe(up)">
                                      <p:cBhvr>
                                        <p:cTn id="15" dur="25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utoUpdateAnimBg="0"/>
    </p:bldLst>
  </p:timing>
</p:sld>
</file>

<file path=ppt/slides/slide7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1750" name="标题 1"/>
          <p:cNvSpPr>
            <a:spLocks noGrp="1"/>
          </p:cNvSpPr>
          <p:nvPr>
            <p:ph type="title"/>
          </p:nvPr>
        </p:nvSpPr>
        <p:spPr>
          <a:xfrm>
            <a:off x="1616366" y="295892"/>
            <a:ext cx="7772400" cy="990600"/>
          </a:xfrm>
        </p:spPr>
        <p:txBody>
          <a:bodyPr/>
          <a:lstStyle/>
          <a:p>
            <a:r>
              <a:rPr lang="zh-CN" altLang="en-US" sz="3600" dirty="0">
                <a:solidFill>
                  <a:srgbClr val="0000FF"/>
                </a:solidFill>
              </a:rPr>
              <a:t>两个正态总体均值差的检验（续）</a:t>
            </a:r>
          </a:p>
        </p:txBody>
      </p:sp>
      <p:sp>
        <p:nvSpPr>
          <p:cNvPr id="31751" name="灯片编号占位符 3"/>
          <p:cNvSpPr>
            <a:spLocks noGrp="1"/>
          </p:cNvSpPr>
          <p:nvPr>
            <p:ph type="sldNum" sz="quarter" idx="4294967295"/>
          </p:nvPr>
        </p:nvSpPr>
        <p:spPr>
          <a:noFill/>
        </p:spPr>
        <p:txBody>
          <a:bodyPr/>
          <a:lstStyle/>
          <a:p>
            <a:r>
              <a:rPr lang="en-US" altLang="zh-CN">
                <a:ea typeface="宋体" pitchFamily="2" charset="-122"/>
              </a:rPr>
              <a:t>8--</a:t>
            </a:r>
            <a:fld id="{6FDB8F9B-4AE1-424F-96C1-BD0BCD047416}" type="slidenum">
              <a:rPr lang="en-US" altLang="zh-CN" smtClean="0">
                <a:ea typeface="宋体" pitchFamily="2" charset="-122"/>
              </a:rPr>
              <a:pPr/>
              <a:t>77</a:t>
            </a:fld>
            <a:endParaRPr lang="en-US" altLang="zh-CN">
              <a:ea typeface="宋体" pitchFamily="2" charset="-122"/>
            </a:endParaRPr>
          </a:p>
        </p:txBody>
      </p:sp>
      <p:sp>
        <p:nvSpPr>
          <p:cNvPr id="220162" name="Rectangle 2"/>
          <p:cNvSpPr>
            <a:spLocks noChangeArrowheads="1"/>
          </p:cNvSpPr>
          <p:nvPr/>
        </p:nvSpPr>
        <p:spPr bwMode="auto">
          <a:xfrm>
            <a:off x="1524001" y="-184666"/>
            <a:ext cx="184731" cy="369332"/>
          </a:xfrm>
          <a:prstGeom prst="rect">
            <a:avLst/>
          </a:prstGeom>
          <a:noFill/>
          <a:ln w="9525">
            <a:noFill/>
            <a:miter lim="800000"/>
            <a:headEnd/>
            <a:tailEnd/>
          </a:ln>
          <a:effectLst>
            <a:prstShdw prst="shdw17" dist="17961" dir="2700000">
              <a:schemeClr val="accent1">
                <a:gamma/>
                <a:shade val="60000"/>
                <a:invGamma/>
              </a:schemeClr>
            </a:prstShdw>
          </a:effectLst>
        </p:spPr>
        <p:txBody>
          <a:bodyPr wrap="none" anchor="ctr">
            <a:spAutoFit/>
          </a:bodyPr>
          <a:lstStyle/>
          <a:p>
            <a:pPr>
              <a:defRPr/>
            </a:pPr>
            <a:endParaRPr lang="zh-CN" altLang="en-US"/>
          </a:p>
        </p:txBody>
      </p:sp>
      <p:graphicFrame>
        <p:nvGraphicFramePr>
          <p:cNvPr id="31746" name="Object 2"/>
          <p:cNvGraphicFramePr>
            <a:graphicFrameLocks noChangeAspect="1"/>
          </p:cNvGraphicFramePr>
          <p:nvPr>
            <p:extLst>
              <p:ext uri="{D42A27DB-BD31-4B8C-83A1-F6EECF244321}">
                <p14:modId xmlns:p14="http://schemas.microsoft.com/office/powerpoint/2010/main" val="3509440488"/>
              </p:ext>
            </p:extLst>
          </p:nvPr>
        </p:nvGraphicFramePr>
        <p:xfrm>
          <a:off x="2740316" y="1331861"/>
          <a:ext cx="2762250" cy="571500"/>
        </p:xfrm>
        <a:graphic>
          <a:graphicData uri="http://schemas.openxmlformats.org/presentationml/2006/ole">
            <mc:AlternateContent xmlns:mc="http://schemas.openxmlformats.org/markup-compatibility/2006">
              <mc:Choice xmlns:v="urn:schemas-microsoft-com:vml" Requires="v">
                <p:oleObj name="公式" r:id="rId2" imgW="1104900" imgH="228600" progId="Equation.3">
                  <p:embed/>
                </p:oleObj>
              </mc:Choice>
              <mc:Fallback>
                <p:oleObj name="公式" r:id="rId2" imgW="1104900" imgH="228600" progId="Equation.3">
                  <p:embed/>
                  <p:pic>
                    <p:nvPicPr>
                      <p:cNvPr id="31746"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40316" y="1331861"/>
                        <a:ext cx="2762250" cy="571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20164" name="Rectangle 4"/>
          <p:cNvSpPr>
            <a:spLocks noChangeArrowheads="1"/>
          </p:cNvSpPr>
          <p:nvPr/>
        </p:nvSpPr>
        <p:spPr bwMode="auto">
          <a:xfrm>
            <a:off x="1524001" y="-184666"/>
            <a:ext cx="184731" cy="369332"/>
          </a:xfrm>
          <a:prstGeom prst="rect">
            <a:avLst/>
          </a:prstGeom>
          <a:noFill/>
          <a:ln w="9525">
            <a:noFill/>
            <a:miter lim="800000"/>
            <a:headEnd/>
            <a:tailEnd/>
          </a:ln>
          <a:effectLst>
            <a:prstShdw prst="shdw17" dist="17961" dir="2700000">
              <a:schemeClr val="accent1">
                <a:gamma/>
                <a:shade val="60000"/>
                <a:invGamma/>
              </a:schemeClr>
            </a:prstShdw>
          </a:effectLst>
        </p:spPr>
        <p:txBody>
          <a:bodyPr wrap="none" anchor="ctr">
            <a:spAutoFit/>
          </a:bodyPr>
          <a:lstStyle/>
          <a:p>
            <a:pPr>
              <a:defRPr/>
            </a:pPr>
            <a:endParaRPr lang="zh-CN" altLang="en-US"/>
          </a:p>
        </p:txBody>
      </p:sp>
      <p:graphicFrame>
        <p:nvGraphicFramePr>
          <p:cNvPr id="31747" name="Object 3"/>
          <p:cNvGraphicFramePr>
            <a:graphicFrameLocks noChangeAspect="1"/>
          </p:cNvGraphicFramePr>
          <p:nvPr>
            <p:extLst>
              <p:ext uri="{D42A27DB-BD31-4B8C-83A1-F6EECF244321}">
                <p14:modId xmlns:p14="http://schemas.microsoft.com/office/powerpoint/2010/main" val="3987948093"/>
              </p:ext>
            </p:extLst>
          </p:nvPr>
        </p:nvGraphicFramePr>
        <p:xfrm>
          <a:off x="5948363" y="1343957"/>
          <a:ext cx="3152775" cy="522287"/>
        </p:xfrm>
        <a:graphic>
          <a:graphicData uri="http://schemas.openxmlformats.org/presentationml/2006/ole">
            <mc:AlternateContent xmlns:mc="http://schemas.openxmlformats.org/markup-compatibility/2006">
              <mc:Choice xmlns:v="urn:schemas-microsoft-com:vml" Requires="v">
                <p:oleObj name="公式" r:id="rId4" imgW="1384200" imgH="228600" progId="Equation.3">
                  <p:embed/>
                </p:oleObj>
              </mc:Choice>
              <mc:Fallback>
                <p:oleObj name="公式" r:id="rId4" imgW="1384200" imgH="228600" progId="Equation.3">
                  <p:embed/>
                  <p:pic>
                    <p:nvPicPr>
                      <p:cNvPr id="31747"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948363" y="1343957"/>
                        <a:ext cx="3152775" cy="5222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20166" name="Rectangle 6"/>
          <p:cNvSpPr>
            <a:spLocks noChangeArrowheads="1"/>
          </p:cNvSpPr>
          <p:nvPr/>
        </p:nvSpPr>
        <p:spPr bwMode="auto">
          <a:xfrm>
            <a:off x="1524001" y="-184666"/>
            <a:ext cx="184731" cy="369332"/>
          </a:xfrm>
          <a:prstGeom prst="rect">
            <a:avLst/>
          </a:prstGeom>
          <a:noFill/>
          <a:ln w="9525">
            <a:noFill/>
            <a:miter lim="800000"/>
            <a:headEnd/>
            <a:tailEnd/>
          </a:ln>
          <a:effectLst>
            <a:prstShdw prst="shdw17" dist="17961" dir="2700000">
              <a:schemeClr val="accent1">
                <a:gamma/>
                <a:shade val="60000"/>
                <a:invGamma/>
              </a:schemeClr>
            </a:prstShdw>
          </a:effectLst>
        </p:spPr>
        <p:txBody>
          <a:bodyPr wrap="none" anchor="ctr">
            <a:spAutoFit/>
          </a:bodyPr>
          <a:lstStyle/>
          <a:p>
            <a:pPr>
              <a:defRPr/>
            </a:pPr>
            <a:endParaRPr lang="zh-CN" altLang="en-US"/>
          </a:p>
        </p:txBody>
      </p:sp>
      <p:sp>
        <p:nvSpPr>
          <p:cNvPr id="18" name="内容占位符 2"/>
          <p:cNvSpPr txBox="1">
            <a:spLocks/>
          </p:cNvSpPr>
          <p:nvPr/>
        </p:nvSpPr>
        <p:spPr bwMode="auto">
          <a:xfrm>
            <a:off x="1409303" y="2252034"/>
            <a:ext cx="9078120" cy="500062"/>
          </a:xfrm>
          <a:prstGeom prst="rect">
            <a:avLst/>
          </a:prstGeom>
          <a:noFill/>
          <a:ln w="9525">
            <a:noFill/>
            <a:miter lim="800000"/>
            <a:headEnd/>
            <a:tailEnd/>
          </a:ln>
        </p:spPr>
        <p:txBody>
          <a:bodyPr/>
          <a:lstStyle/>
          <a:p>
            <a:pPr marL="457200" indent="-457200" defTabSz="685783">
              <a:spcBef>
                <a:spcPts val="751"/>
              </a:spcBef>
              <a:spcAft>
                <a:spcPts val="225"/>
              </a:spcAft>
              <a:buSzPct val="80000"/>
              <a:defRPr/>
            </a:pPr>
            <a:r>
              <a:rPr lang="zh-CN" altLang="en-US" sz="3200" b="1" dirty="0">
                <a:solidFill>
                  <a:srgbClr val="7030A0"/>
                </a:solidFill>
                <a:latin typeface="黑体" panose="02010609060101010101" pitchFamily="49" charset="-122"/>
                <a:ea typeface="黑体" panose="02010609060101010101" pitchFamily="49" charset="-122"/>
              </a:rPr>
              <a:t>（</a:t>
            </a:r>
            <a:r>
              <a:rPr lang="en-US" sz="3200" b="1" dirty="0">
                <a:solidFill>
                  <a:srgbClr val="7030A0"/>
                </a:solidFill>
                <a:latin typeface="黑体" panose="02010609060101010101" pitchFamily="49" charset="-122"/>
                <a:ea typeface="黑体" panose="02010609060101010101" pitchFamily="49" charset="-122"/>
              </a:rPr>
              <a:t>2</a:t>
            </a:r>
            <a:r>
              <a:rPr lang="zh-CN" altLang="en-US" sz="3200" b="1" dirty="0">
                <a:solidFill>
                  <a:srgbClr val="7030A0"/>
                </a:solidFill>
                <a:latin typeface="黑体" panose="02010609060101010101" pitchFamily="49" charset="-122"/>
                <a:ea typeface="黑体" panose="02010609060101010101" pitchFamily="49" charset="-122"/>
              </a:rPr>
              <a:t>）若两正态总体方差未知但相等，检验统计量为：</a:t>
            </a:r>
          </a:p>
        </p:txBody>
      </p:sp>
      <p:sp>
        <p:nvSpPr>
          <p:cNvPr id="220175" name="Rectangle 15"/>
          <p:cNvSpPr>
            <a:spLocks noChangeArrowheads="1"/>
          </p:cNvSpPr>
          <p:nvPr/>
        </p:nvSpPr>
        <p:spPr bwMode="auto">
          <a:xfrm>
            <a:off x="1524001" y="-184666"/>
            <a:ext cx="184731" cy="369332"/>
          </a:xfrm>
          <a:prstGeom prst="rect">
            <a:avLst/>
          </a:prstGeom>
          <a:noFill/>
          <a:ln w="9525">
            <a:noFill/>
            <a:miter lim="800000"/>
            <a:headEnd/>
            <a:tailEnd/>
          </a:ln>
          <a:effectLst>
            <a:prstShdw prst="shdw17" dist="17961" dir="2700000">
              <a:schemeClr val="accent1">
                <a:gamma/>
                <a:shade val="60000"/>
                <a:invGamma/>
              </a:schemeClr>
            </a:prstShdw>
          </a:effectLst>
        </p:spPr>
        <p:txBody>
          <a:bodyPr wrap="none" anchor="ctr">
            <a:spAutoFit/>
          </a:bodyPr>
          <a:lstStyle/>
          <a:p>
            <a:pPr>
              <a:defRPr/>
            </a:pPr>
            <a:endParaRPr lang="zh-CN" altLang="en-US"/>
          </a:p>
        </p:txBody>
      </p:sp>
      <p:graphicFrame>
        <p:nvGraphicFramePr>
          <p:cNvPr id="30724" name="Object 5"/>
          <p:cNvGraphicFramePr>
            <a:graphicFrameLocks noChangeAspect="1"/>
          </p:cNvGraphicFramePr>
          <p:nvPr>
            <p:extLst>
              <p:ext uri="{D42A27DB-BD31-4B8C-83A1-F6EECF244321}">
                <p14:modId xmlns:p14="http://schemas.microsoft.com/office/powerpoint/2010/main" val="3352540535"/>
              </p:ext>
            </p:extLst>
          </p:nvPr>
        </p:nvGraphicFramePr>
        <p:xfrm>
          <a:off x="2374901" y="3339877"/>
          <a:ext cx="4568825" cy="1357313"/>
        </p:xfrm>
        <a:graphic>
          <a:graphicData uri="http://schemas.openxmlformats.org/presentationml/2006/ole">
            <mc:AlternateContent xmlns:mc="http://schemas.openxmlformats.org/markup-compatibility/2006">
              <mc:Choice xmlns:v="urn:schemas-microsoft-com:vml" Requires="v">
                <p:oleObj name="公式" r:id="rId6" imgW="2146300" imgH="673100" progId="Equation.3">
                  <p:embed/>
                </p:oleObj>
              </mc:Choice>
              <mc:Fallback>
                <p:oleObj name="公式" r:id="rId6" imgW="2146300" imgH="673100" progId="Equation.3">
                  <p:embed/>
                  <p:pic>
                    <p:nvPicPr>
                      <p:cNvPr id="30724"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374901" y="3339877"/>
                        <a:ext cx="4568825" cy="13573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20177" name="Rectangle 17"/>
          <p:cNvSpPr>
            <a:spLocks noChangeArrowheads="1"/>
          </p:cNvSpPr>
          <p:nvPr/>
        </p:nvSpPr>
        <p:spPr bwMode="auto">
          <a:xfrm>
            <a:off x="1524001" y="-184666"/>
            <a:ext cx="184731" cy="369332"/>
          </a:xfrm>
          <a:prstGeom prst="rect">
            <a:avLst/>
          </a:prstGeom>
          <a:noFill/>
          <a:ln w="9525">
            <a:noFill/>
            <a:miter lim="800000"/>
            <a:headEnd/>
            <a:tailEnd/>
          </a:ln>
          <a:effectLst>
            <a:prstShdw prst="shdw17" dist="17961" dir="2700000">
              <a:schemeClr val="accent1">
                <a:gamma/>
                <a:shade val="60000"/>
                <a:invGamma/>
              </a:schemeClr>
            </a:prstShdw>
          </a:effectLst>
        </p:spPr>
        <p:txBody>
          <a:bodyPr wrap="none" anchor="ctr">
            <a:spAutoFit/>
          </a:bodyPr>
          <a:lstStyle/>
          <a:p>
            <a:pPr>
              <a:defRPr/>
            </a:pPr>
            <a:endParaRPr lang="zh-CN" altLang="en-US"/>
          </a:p>
        </p:txBody>
      </p:sp>
      <p:graphicFrame>
        <p:nvGraphicFramePr>
          <p:cNvPr id="30725" name="Object 6"/>
          <p:cNvGraphicFramePr>
            <a:graphicFrameLocks noChangeAspect="1"/>
          </p:cNvGraphicFramePr>
          <p:nvPr>
            <p:extLst>
              <p:ext uri="{D42A27DB-BD31-4B8C-83A1-F6EECF244321}">
                <p14:modId xmlns:p14="http://schemas.microsoft.com/office/powerpoint/2010/main" val="3913347258"/>
              </p:ext>
            </p:extLst>
          </p:nvPr>
        </p:nvGraphicFramePr>
        <p:xfrm>
          <a:off x="7289800" y="3857626"/>
          <a:ext cx="3021013" cy="957263"/>
        </p:xfrm>
        <a:graphic>
          <a:graphicData uri="http://schemas.openxmlformats.org/presentationml/2006/ole">
            <mc:AlternateContent xmlns:mc="http://schemas.openxmlformats.org/markup-compatibility/2006">
              <mc:Choice xmlns:v="urn:schemas-microsoft-com:vml" Requires="v">
                <p:oleObj name="公式" r:id="rId8" imgW="1765300" imgH="457200" progId="Equation.3">
                  <p:embed/>
                </p:oleObj>
              </mc:Choice>
              <mc:Fallback>
                <p:oleObj name="公式" r:id="rId8" imgW="1765300" imgH="457200" progId="Equation.3">
                  <p:embed/>
                  <p:pic>
                    <p:nvPicPr>
                      <p:cNvPr id="30725" name="Object 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289800" y="3857626"/>
                        <a:ext cx="3021013" cy="957263"/>
                      </a:xfrm>
                      <a:prstGeom prst="rect">
                        <a:avLst/>
                      </a:prstGeom>
                      <a:noFill/>
                    </p:spPr>
                  </p:pic>
                </p:oleObj>
              </mc:Fallback>
            </mc:AlternateContent>
          </a:graphicData>
        </a:graphic>
      </p:graphicFrame>
      <p:sp>
        <p:nvSpPr>
          <p:cNvPr id="24" name="矩形 23"/>
          <p:cNvSpPr/>
          <p:nvPr/>
        </p:nvSpPr>
        <p:spPr>
          <a:xfrm>
            <a:off x="2787922" y="5073604"/>
            <a:ext cx="5429288" cy="1035668"/>
          </a:xfrm>
          <a:prstGeom prst="rect">
            <a:avLst/>
          </a:prstGeom>
          <a:ln w="38100">
            <a:solidFill>
              <a:srgbClr val="0000FF"/>
            </a:solidFill>
          </a:ln>
        </p:spPr>
        <p:txBody>
          <a:bodyPr>
            <a:spAutoFit/>
          </a:bodyPr>
          <a:lstStyle/>
          <a:p>
            <a:pPr marL="0" lvl="1">
              <a:lnSpc>
                <a:spcPct val="105000"/>
              </a:lnSpc>
              <a:spcBef>
                <a:spcPts val="300"/>
              </a:spcBef>
              <a:defRPr/>
            </a:pPr>
            <a:r>
              <a:rPr lang="en-US" altLang="zh-CN" sz="2800" dirty="0">
                <a:ln>
                  <a:solidFill>
                    <a:srgbClr val="000000"/>
                  </a:solidFill>
                </a:ln>
                <a:solidFill>
                  <a:srgbClr val="000000"/>
                </a:solidFill>
              </a:rPr>
              <a:t>EXCEL</a:t>
            </a:r>
            <a:r>
              <a:rPr lang="zh-CN" altLang="en-US" sz="2800" dirty="0">
                <a:ln>
                  <a:solidFill>
                    <a:srgbClr val="000000"/>
                  </a:solidFill>
                </a:ln>
                <a:solidFill>
                  <a:srgbClr val="000000"/>
                </a:solidFill>
              </a:rPr>
              <a:t>数据分析</a:t>
            </a:r>
            <a:endParaRPr lang="en-US" altLang="zh-CN" sz="2800" dirty="0">
              <a:ln>
                <a:solidFill>
                  <a:srgbClr val="000000"/>
                </a:solidFill>
              </a:ln>
              <a:solidFill>
                <a:srgbClr val="000000"/>
              </a:solidFill>
            </a:endParaRPr>
          </a:p>
          <a:p>
            <a:pPr marL="0" lvl="1">
              <a:lnSpc>
                <a:spcPct val="105000"/>
              </a:lnSpc>
              <a:spcBef>
                <a:spcPts val="300"/>
              </a:spcBef>
              <a:defRPr/>
            </a:pPr>
            <a:r>
              <a:rPr lang="en-US" altLang="zh-CN" sz="2800" dirty="0">
                <a:ln>
                  <a:solidFill>
                    <a:srgbClr val="000000"/>
                  </a:solidFill>
                </a:ln>
                <a:solidFill>
                  <a:srgbClr val="C00000"/>
                </a:solidFill>
                <a:latin typeface="+mn-ea"/>
              </a:rPr>
              <a:t>—— t </a:t>
            </a:r>
            <a:r>
              <a:rPr lang="zh-CN" altLang="en-US" sz="2800" dirty="0">
                <a:ln>
                  <a:solidFill>
                    <a:srgbClr val="000000"/>
                  </a:solidFill>
                </a:ln>
                <a:solidFill>
                  <a:srgbClr val="C00000"/>
                </a:solidFill>
                <a:latin typeface="+mn-ea"/>
              </a:rPr>
              <a:t>检验</a:t>
            </a:r>
            <a:r>
              <a:rPr lang="en-US" altLang="zh-CN" sz="2800" dirty="0">
                <a:ln>
                  <a:solidFill>
                    <a:srgbClr val="000000"/>
                  </a:solidFill>
                </a:ln>
                <a:solidFill>
                  <a:srgbClr val="C00000"/>
                </a:solidFill>
                <a:latin typeface="+mn-ea"/>
              </a:rPr>
              <a:t>: </a:t>
            </a:r>
            <a:r>
              <a:rPr lang="zh-CN" altLang="en-US" sz="2800" dirty="0">
                <a:ln>
                  <a:solidFill>
                    <a:srgbClr val="000000"/>
                  </a:solidFill>
                </a:ln>
                <a:solidFill>
                  <a:srgbClr val="C00000"/>
                </a:solidFill>
                <a:latin typeface="+mn-ea"/>
              </a:rPr>
              <a:t>双样本等方差假设</a:t>
            </a:r>
          </a:p>
        </p:txBody>
      </p:sp>
    </p:spTree>
    <p:extLst>
      <p:ext uri="{BB962C8B-B14F-4D97-AF65-F5344CB8AC3E}">
        <p14:creationId xmlns:p14="http://schemas.microsoft.com/office/powerpoint/2010/main" val="1393479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wipe(left)">
                                      <p:cBhvr>
                                        <p:cTn id="7" dur="500"/>
                                        <p:tgtEl>
                                          <p:spTgt spid="18"/>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30724"/>
                                        </p:tgtEl>
                                        <p:attrNameLst>
                                          <p:attrName>style.visibility</p:attrName>
                                        </p:attrNameLst>
                                      </p:cBhvr>
                                      <p:to>
                                        <p:strVal val="visible"/>
                                      </p:to>
                                    </p:set>
                                    <p:animEffect transition="in" filter="wipe(left)">
                                      <p:cBhvr>
                                        <p:cTn id="11" dur="500"/>
                                        <p:tgtEl>
                                          <p:spTgt spid="30724"/>
                                        </p:tgtEl>
                                      </p:cBhvr>
                                    </p:animEffect>
                                  </p:childTnLst>
                                </p:cTn>
                              </p:par>
                            </p:childTnLst>
                          </p:cTn>
                        </p:par>
                        <p:par>
                          <p:cTn id="12" fill="hold">
                            <p:stCondLst>
                              <p:cond delay="1000"/>
                            </p:stCondLst>
                            <p:childTnLst>
                              <p:par>
                                <p:cTn id="13" presetID="22" presetClass="entr" presetSubtype="4" fill="hold" nodeType="afterEffect">
                                  <p:stCondLst>
                                    <p:cond delay="0"/>
                                  </p:stCondLst>
                                  <p:childTnLst>
                                    <p:set>
                                      <p:cBhvr>
                                        <p:cTn id="14" dur="1" fill="hold">
                                          <p:stCondLst>
                                            <p:cond delay="0"/>
                                          </p:stCondLst>
                                        </p:cTn>
                                        <p:tgtEl>
                                          <p:spTgt spid="30725"/>
                                        </p:tgtEl>
                                        <p:attrNameLst>
                                          <p:attrName>style.visibility</p:attrName>
                                        </p:attrNameLst>
                                      </p:cBhvr>
                                      <p:to>
                                        <p:strVal val="visible"/>
                                      </p:to>
                                    </p:set>
                                    <p:animEffect transition="in" filter="wipe(down)">
                                      <p:cBhvr>
                                        <p:cTn id="15" dur="500"/>
                                        <p:tgtEl>
                                          <p:spTgt spid="30725"/>
                                        </p:tgtEl>
                                      </p:cBhvr>
                                    </p:animEffect>
                                  </p:childTnLst>
                                </p:cTn>
                              </p:par>
                            </p:childTnLst>
                          </p:cTn>
                        </p:par>
                        <p:par>
                          <p:cTn id="16" fill="hold">
                            <p:stCondLst>
                              <p:cond delay="1500"/>
                            </p:stCondLst>
                            <p:childTnLst>
                              <p:par>
                                <p:cTn id="17" presetID="22" presetClass="entr" presetSubtype="4" fill="hold" nodeType="afterEffect">
                                  <p:stCondLst>
                                    <p:cond delay="0"/>
                                  </p:stCondLst>
                                  <p:childTnLst>
                                    <p:set>
                                      <p:cBhvr>
                                        <p:cTn id="18" dur="1" fill="hold">
                                          <p:stCondLst>
                                            <p:cond delay="0"/>
                                          </p:stCondLst>
                                        </p:cTn>
                                        <p:tgtEl>
                                          <p:spTgt spid="24"/>
                                        </p:tgtEl>
                                        <p:attrNameLst>
                                          <p:attrName>style.visibility</p:attrName>
                                        </p:attrNameLst>
                                      </p:cBhvr>
                                      <p:to>
                                        <p:strVal val="visible"/>
                                      </p:to>
                                    </p:set>
                                    <p:animEffect transition="in" filter="wipe(down)">
                                      <p:cBhvr>
                                        <p:cTn id="19" dur="25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utoUpdateAnimBg="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4" name="标题 1"/>
          <p:cNvSpPr>
            <a:spLocks noGrp="1"/>
          </p:cNvSpPr>
          <p:nvPr>
            <p:ph type="title"/>
          </p:nvPr>
        </p:nvSpPr>
        <p:spPr>
          <a:xfrm>
            <a:off x="2362200" y="142875"/>
            <a:ext cx="7772400" cy="990600"/>
          </a:xfrm>
        </p:spPr>
        <p:txBody>
          <a:bodyPr/>
          <a:lstStyle/>
          <a:p>
            <a:r>
              <a:rPr lang="zh-CN" altLang="en-US" sz="3600"/>
              <a:t>两个正态总体均值差的检验（续）</a:t>
            </a:r>
          </a:p>
        </p:txBody>
      </p:sp>
      <p:sp>
        <p:nvSpPr>
          <p:cNvPr id="32775" name="灯片编号占位符 3"/>
          <p:cNvSpPr>
            <a:spLocks noGrp="1"/>
          </p:cNvSpPr>
          <p:nvPr>
            <p:ph type="sldNum" sz="quarter" idx="4294967295"/>
          </p:nvPr>
        </p:nvSpPr>
        <p:spPr>
          <a:noFill/>
        </p:spPr>
        <p:txBody>
          <a:bodyPr/>
          <a:lstStyle/>
          <a:p>
            <a:r>
              <a:rPr lang="en-US" altLang="zh-CN">
                <a:ea typeface="宋体" pitchFamily="2" charset="-122"/>
              </a:rPr>
              <a:t>8--</a:t>
            </a:r>
            <a:fld id="{4020A06A-35D4-4E16-AF8B-B6ABFD38688B}" type="slidenum">
              <a:rPr lang="en-US" altLang="zh-CN" smtClean="0">
                <a:ea typeface="宋体" pitchFamily="2" charset="-122"/>
              </a:rPr>
              <a:pPr/>
              <a:t>78</a:t>
            </a:fld>
            <a:endParaRPr lang="en-US" altLang="zh-CN">
              <a:ea typeface="宋体" pitchFamily="2" charset="-122"/>
            </a:endParaRPr>
          </a:p>
        </p:txBody>
      </p:sp>
      <p:sp>
        <p:nvSpPr>
          <p:cNvPr id="220162" name="Rectangle 2"/>
          <p:cNvSpPr>
            <a:spLocks noChangeArrowheads="1"/>
          </p:cNvSpPr>
          <p:nvPr/>
        </p:nvSpPr>
        <p:spPr bwMode="auto">
          <a:xfrm>
            <a:off x="1524001" y="-184666"/>
            <a:ext cx="184731" cy="369332"/>
          </a:xfrm>
          <a:prstGeom prst="rect">
            <a:avLst/>
          </a:prstGeom>
          <a:noFill/>
          <a:ln w="9525">
            <a:noFill/>
            <a:miter lim="800000"/>
            <a:headEnd/>
            <a:tailEnd/>
          </a:ln>
          <a:effectLst>
            <a:prstShdw prst="shdw17" dist="17961" dir="2700000">
              <a:schemeClr val="accent1">
                <a:gamma/>
                <a:shade val="60000"/>
                <a:invGamma/>
              </a:schemeClr>
            </a:prstShdw>
          </a:effectLst>
        </p:spPr>
        <p:txBody>
          <a:bodyPr wrap="none" anchor="ctr">
            <a:spAutoFit/>
          </a:bodyPr>
          <a:lstStyle/>
          <a:p>
            <a:pPr>
              <a:defRPr/>
            </a:pPr>
            <a:endParaRPr lang="zh-CN" altLang="en-US"/>
          </a:p>
        </p:txBody>
      </p:sp>
      <p:graphicFrame>
        <p:nvGraphicFramePr>
          <p:cNvPr id="32770" name="Object 2"/>
          <p:cNvGraphicFramePr>
            <a:graphicFrameLocks noChangeAspect="1"/>
          </p:cNvGraphicFramePr>
          <p:nvPr/>
        </p:nvGraphicFramePr>
        <p:xfrm>
          <a:off x="2881313" y="1214438"/>
          <a:ext cx="2762250" cy="571500"/>
        </p:xfrm>
        <a:graphic>
          <a:graphicData uri="http://schemas.openxmlformats.org/presentationml/2006/ole">
            <mc:AlternateContent xmlns:mc="http://schemas.openxmlformats.org/markup-compatibility/2006">
              <mc:Choice xmlns:v="urn:schemas-microsoft-com:vml" Requires="v">
                <p:oleObj name="公式" r:id="rId2" imgW="1104900" imgH="228600" progId="Equation.3">
                  <p:embed/>
                </p:oleObj>
              </mc:Choice>
              <mc:Fallback>
                <p:oleObj name="公式" r:id="rId2" imgW="1104900" imgH="228600" progId="Equation.3">
                  <p:embed/>
                  <p:pic>
                    <p:nvPicPr>
                      <p:cNvPr id="3277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81313" y="1214438"/>
                        <a:ext cx="2762250" cy="571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20164" name="Rectangle 4"/>
          <p:cNvSpPr>
            <a:spLocks noChangeArrowheads="1"/>
          </p:cNvSpPr>
          <p:nvPr/>
        </p:nvSpPr>
        <p:spPr bwMode="auto">
          <a:xfrm>
            <a:off x="1524001" y="-184666"/>
            <a:ext cx="184731" cy="369332"/>
          </a:xfrm>
          <a:prstGeom prst="rect">
            <a:avLst/>
          </a:prstGeom>
          <a:noFill/>
          <a:ln w="9525">
            <a:noFill/>
            <a:miter lim="800000"/>
            <a:headEnd/>
            <a:tailEnd/>
          </a:ln>
          <a:effectLst>
            <a:prstShdw prst="shdw17" dist="17961" dir="2700000">
              <a:schemeClr val="accent1">
                <a:gamma/>
                <a:shade val="60000"/>
                <a:invGamma/>
              </a:schemeClr>
            </a:prstShdw>
          </a:effectLst>
        </p:spPr>
        <p:txBody>
          <a:bodyPr wrap="none" anchor="ctr">
            <a:spAutoFit/>
          </a:bodyPr>
          <a:lstStyle/>
          <a:p>
            <a:pPr>
              <a:defRPr/>
            </a:pPr>
            <a:endParaRPr lang="zh-CN" altLang="en-US"/>
          </a:p>
        </p:txBody>
      </p:sp>
      <p:graphicFrame>
        <p:nvGraphicFramePr>
          <p:cNvPr id="32771" name="Object 3"/>
          <p:cNvGraphicFramePr>
            <a:graphicFrameLocks noChangeAspect="1"/>
          </p:cNvGraphicFramePr>
          <p:nvPr/>
        </p:nvGraphicFramePr>
        <p:xfrm>
          <a:off x="6021389" y="1214439"/>
          <a:ext cx="3152775" cy="522287"/>
        </p:xfrm>
        <a:graphic>
          <a:graphicData uri="http://schemas.openxmlformats.org/presentationml/2006/ole">
            <mc:AlternateContent xmlns:mc="http://schemas.openxmlformats.org/markup-compatibility/2006">
              <mc:Choice xmlns:v="urn:schemas-microsoft-com:vml" Requires="v">
                <p:oleObj name="公式" r:id="rId4" imgW="1384200" imgH="228600" progId="Equation.3">
                  <p:embed/>
                </p:oleObj>
              </mc:Choice>
              <mc:Fallback>
                <p:oleObj name="公式" r:id="rId4" imgW="1384200" imgH="228600" progId="Equation.3">
                  <p:embed/>
                  <p:pic>
                    <p:nvPicPr>
                      <p:cNvPr id="32771"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21389" y="1214439"/>
                        <a:ext cx="3152775" cy="5222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20166" name="Rectangle 6"/>
          <p:cNvSpPr>
            <a:spLocks noChangeArrowheads="1"/>
          </p:cNvSpPr>
          <p:nvPr/>
        </p:nvSpPr>
        <p:spPr bwMode="auto">
          <a:xfrm>
            <a:off x="1524001" y="-184666"/>
            <a:ext cx="184731" cy="369332"/>
          </a:xfrm>
          <a:prstGeom prst="rect">
            <a:avLst/>
          </a:prstGeom>
          <a:noFill/>
          <a:ln w="9525">
            <a:noFill/>
            <a:miter lim="800000"/>
            <a:headEnd/>
            <a:tailEnd/>
          </a:ln>
          <a:effectLst>
            <a:prstShdw prst="shdw17" dist="17961" dir="2700000">
              <a:schemeClr val="accent1">
                <a:gamma/>
                <a:shade val="60000"/>
                <a:invGamma/>
              </a:schemeClr>
            </a:prstShdw>
          </a:effectLst>
        </p:spPr>
        <p:txBody>
          <a:bodyPr wrap="none" anchor="ctr">
            <a:spAutoFit/>
          </a:bodyPr>
          <a:lstStyle/>
          <a:p>
            <a:pPr>
              <a:defRPr/>
            </a:pPr>
            <a:endParaRPr lang="zh-CN" altLang="en-US"/>
          </a:p>
        </p:txBody>
      </p:sp>
      <p:sp>
        <p:nvSpPr>
          <p:cNvPr id="18" name="内容占位符 2"/>
          <p:cNvSpPr txBox="1">
            <a:spLocks/>
          </p:cNvSpPr>
          <p:nvPr/>
        </p:nvSpPr>
        <p:spPr bwMode="auto">
          <a:xfrm>
            <a:off x="1481171" y="1724441"/>
            <a:ext cx="9215468" cy="1071562"/>
          </a:xfrm>
          <a:prstGeom prst="rect">
            <a:avLst/>
          </a:prstGeom>
          <a:noFill/>
          <a:ln w="9525">
            <a:noFill/>
            <a:miter lim="800000"/>
            <a:headEnd/>
            <a:tailEnd/>
          </a:ln>
        </p:spPr>
        <p:txBody>
          <a:bodyPr/>
          <a:lstStyle/>
          <a:p>
            <a:pPr indent="717550" eaLnBrk="0" hangingPunct="0">
              <a:lnSpc>
                <a:spcPct val="150000"/>
              </a:lnSpc>
              <a:spcBef>
                <a:spcPct val="20000"/>
              </a:spcBef>
              <a:buSzPct val="90000"/>
              <a:defRPr/>
            </a:pPr>
            <a:r>
              <a:rPr lang="zh-CN" altLang="en-US" sz="3200" b="1" dirty="0">
                <a:solidFill>
                  <a:srgbClr val="7030A0"/>
                </a:solidFill>
                <a:latin typeface="黑体" panose="02010609060101010101" pitchFamily="49" charset="-122"/>
                <a:ea typeface="黑体" panose="02010609060101010101" pitchFamily="49" charset="-122"/>
              </a:rPr>
              <a:t>（</a:t>
            </a:r>
            <a:r>
              <a:rPr lang="en-US" sz="3200" b="1" dirty="0">
                <a:solidFill>
                  <a:srgbClr val="7030A0"/>
                </a:solidFill>
                <a:latin typeface="黑体" panose="02010609060101010101" pitchFamily="49" charset="-122"/>
                <a:ea typeface="黑体" panose="02010609060101010101" pitchFamily="49" charset="-122"/>
              </a:rPr>
              <a:t>3</a:t>
            </a:r>
            <a:r>
              <a:rPr lang="zh-CN" altLang="en-US" sz="3200" b="1" dirty="0">
                <a:solidFill>
                  <a:srgbClr val="7030A0"/>
                </a:solidFill>
                <a:latin typeface="黑体" panose="02010609060101010101" pitchFamily="49" charset="-122"/>
                <a:ea typeface="黑体" panose="02010609060101010101" pitchFamily="49" charset="-122"/>
              </a:rPr>
              <a:t>）若两个正态总体的方差未知且不一定相等，</a:t>
            </a:r>
            <a:r>
              <a:rPr lang="zh-CN" altLang="en-US" sz="3200" b="1" dirty="0">
                <a:solidFill>
                  <a:srgbClr val="0070C0"/>
                </a:solidFill>
                <a:latin typeface="黑体" panose="02010609060101010101" pitchFamily="49" charset="-122"/>
                <a:ea typeface="黑体" panose="02010609060101010101" pitchFamily="49" charset="-122"/>
              </a:rPr>
              <a:t>检验统计量近似于</a:t>
            </a:r>
            <a:r>
              <a:rPr lang="en-US" sz="3200" b="1" dirty="0">
                <a:solidFill>
                  <a:srgbClr val="0070C0"/>
                </a:solidFill>
                <a:latin typeface="黑体" panose="02010609060101010101" pitchFamily="49" charset="-122"/>
                <a:ea typeface="黑体" panose="02010609060101010101" pitchFamily="49" charset="-122"/>
              </a:rPr>
              <a:t>t</a:t>
            </a:r>
            <a:r>
              <a:rPr lang="zh-CN" altLang="en-US" sz="3200" b="1" dirty="0">
                <a:solidFill>
                  <a:srgbClr val="0070C0"/>
                </a:solidFill>
                <a:latin typeface="黑体" panose="02010609060101010101" pitchFamily="49" charset="-122"/>
                <a:ea typeface="黑体" panose="02010609060101010101" pitchFamily="49" charset="-122"/>
              </a:rPr>
              <a:t>分布，其自由度为</a:t>
            </a:r>
            <a:r>
              <a:rPr lang="en-US" sz="3200" b="1" dirty="0">
                <a:solidFill>
                  <a:srgbClr val="0070C0"/>
                </a:solidFill>
                <a:latin typeface="黑体" panose="02010609060101010101" pitchFamily="49" charset="-122"/>
                <a:ea typeface="黑体" panose="02010609060101010101" pitchFamily="49" charset="-122"/>
              </a:rPr>
              <a:t>v</a:t>
            </a:r>
            <a:r>
              <a:rPr lang="zh-CN" altLang="en-US" sz="3200" b="1" dirty="0">
                <a:solidFill>
                  <a:srgbClr val="0070C0"/>
                </a:solidFill>
                <a:latin typeface="黑体" panose="02010609060101010101" pitchFamily="49" charset="-122"/>
                <a:ea typeface="黑体" panose="02010609060101010101" pitchFamily="49" charset="-122"/>
              </a:rPr>
              <a:t>：</a:t>
            </a:r>
          </a:p>
        </p:txBody>
      </p:sp>
      <p:sp>
        <p:nvSpPr>
          <p:cNvPr id="220175" name="Rectangle 15"/>
          <p:cNvSpPr>
            <a:spLocks noChangeArrowheads="1"/>
          </p:cNvSpPr>
          <p:nvPr/>
        </p:nvSpPr>
        <p:spPr bwMode="auto">
          <a:xfrm>
            <a:off x="1524001" y="-184666"/>
            <a:ext cx="184731" cy="369332"/>
          </a:xfrm>
          <a:prstGeom prst="rect">
            <a:avLst/>
          </a:prstGeom>
          <a:noFill/>
          <a:ln w="9525">
            <a:noFill/>
            <a:miter lim="800000"/>
            <a:headEnd/>
            <a:tailEnd/>
          </a:ln>
          <a:effectLst>
            <a:prstShdw prst="shdw17" dist="17961" dir="2700000">
              <a:schemeClr val="accent1">
                <a:gamma/>
                <a:shade val="60000"/>
                <a:invGamma/>
              </a:schemeClr>
            </a:prstShdw>
          </a:effectLst>
        </p:spPr>
        <p:txBody>
          <a:bodyPr wrap="none" anchor="ctr">
            <a:spAutoFit/>
          </a:bodyPr>
          <a:lstStyle/>
          <a:p>
            <a:pPr>
              <a:defRPr/>
            </a:pPr>
            <a:endParaRPr lang="zh-CN" altLang="en-US"/>
          </a:p>
        </p:txBody>
      </p:sp>
      <p:sp>
        <p:nvSpPr>
          <p:cNvPr id="220177" name="Rectangle 17"/>
          <p:cNvSpPr>
            <a:spLocks noChangeArrowheads="1"/>
          </p:cNvSpPr>
          <p:nvPr/>
        </p:nvSpPr>
        <p:spPr bwMode="auto">
          <a:xfrm>
            <a:off x="1524001" y="-184666"/>
            <a:ext cx="184731" cy="369332"/>
          </a:xfrm>
          <a:prstGeom prst="rect">
            <a:avLst/>
          </a:prstGeom>
          <a:noFill/>
          <a:ln w="9525">
            <a:noFill/>
            <a:miter lim="800000"/>
            <a:headEnd/>
            <a:tailEnd/>
          </a:ln>
          <a:effectLst>
            <a:prstShdw prst="shdw17" dist="17961" dir="2700000">
              <a:schemeClr val="accent1">
                <a:gamma/>
                <a:shade val="60000"/>
                <a:invGamma/>
              </a:schemeClr>
            </a:prstShdw>
          </a:effectLst>
        </p:spPr>
        <p:txBody>
          <a:bodyPr wrap="none" anchor="ctr">
            <a:spAutoFit/>
          </a:bodyPr>
          <a:lstStyle/>
          <a:p>
            <a:pPr>
              <a:defRPr/>
            </a:pPr>
            <a:endParaRPr lang="zh-CN" altLang="en-US"/>
          </a:p>
        </p:txBody>
      </p:sp>
      <p:sp>
        <p:nvSpPr>
          <p:cNvPr id="261128" name="Rectangle 8"/>
          <p:cNvSpPr>
            <a:spLocks noChangeArrowheads="1"/>
          </p:cNvSpPr>
          <p:nvPr/>
        </p:nvSpPr>
        <p:spPr bwMode="auto">
          <a:xfrm>
            <a:off x="1524001" y="-184666"/>
            <a:ext cx="184731" cy="369332"/>
          </a:xfrm>
          <a:prstGeom prst="rect">
            <a:avLst/>
          </a:prstGeom>
          <a:noFill/>
          <a:ln w="9525">
            <a:noFill/>
            <a:miter lim="800000"/>
            <a:headEnd/>
            <a:tailEnd/>
          </a:ln>
          <a:effectLst>
            <a:prstShdw prst="shdw17" dist="17961" dir="2700000">
              <a:schemeClr val="accent1">
                <a:gamma/>
                <a:shade val="60000"/>
                <a:invGamma/>
              </a:schemeClr>
            </a:prstShdw>
          </a:effectLst>
        </p:spPr>
        <p:txBody>
          <a:bodyPr wrap="none" anchor="ctr">
            <a:spAutoFit/>
          </a:bodyPr>
          <a:lstStyle/>
          <a:p>
            <a:pPr>
              <a:defRPr/>
            </a:pPr>
            <a:endParaRPr lang="zh-CN" altLang="en-US"/>
          </a:p>
        </p:txBody>
      </p:sp>
      <p:graphicFrame>
        <p:nvGraphicFramePr>
          <p:cNvPr id="261127" name="Object 7"/>
          <p:cNvGraphicFramePr>
            <a:graphicFrameLocks noChangeAspect="1"/>
          </p:cNvGraphicFramePr>
          <p:nvPr/>
        </p:nvGraphicFramePr>
        <p:xfrm>
          <a:off x="2381251" y="3357564"/>
          <a:ext cx="3935413" cy="1785937"/>
        </p:xfrm>
        <a:graphic>
          <a:graphicData uri="http://schemas.openxmlformats.org/presentationml/2006/ole">
            <mc:AlternateContent xmlns:mc="http://schemas.openxmlformats.org/markup-compatibility/2006">
              <mc:Choice xmlns:v="urn:schemas-microsoft-com:vml" Requires="v">
                <p:oleObj name="公式" r:id="rId6" imgW="1549400" imgH="698500" progId="Equation.3">
                  <p:embed/>
                </p:oleObj>
              </mc:Choice>
              <mc:Fallback>
                <p:oleObj name="公式" r:id="rId6" imgW="1549400" imgH="698500" progId="Equation.3">
                  <p:embed/>
                  <p:pic>
                    <p:nvPicPr>
                      <p:cNvPr id="261127" name="Object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381251" y="3357564"/>
                        <a:ext cx="3935413" cy="17859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61130" name="Rectangle 10"/>
          <p:cNvSpPr>
            <a:spLocks noChangeArrowheads="1"/>
          </p:cNvSpPr>
          <p:nvPr/>
        </p:nvSpPr>
        <p:spPr bwMode="auto">
          <a:xfrm>
            <a:off x="1524001" y="-184666"/>
            <a:ext cx="184731" cy="369332"/>
          </a:xfrm>
          <a:prstGeom prst="rect">
            <a:avLst/>
          </a:prstGeom>
          <a:noFill/>
          <a:ln w="9525">
            <a:noFill/>
            <a:miter lim="800000"/>
            <a:headEnd/>
            <a:tailEnd/>
          </a:ln>
          <a:effectLst>
            <a:prstShdw prst="shdw17" dist="17961" dir="2700000">
              <a:schemeClr val="accent1">
                <a:gamma/>
                <a:shade val="60000"/>
                <a:invGamma/>
              </a:schemeClr>
            </a:prstShdw>
          </a:effectLst>
        </p:spPr>
        <p:txBody>
          <a:bodyPr wrap="none" anchor="ctr">
            <a:spAutoFit/>
          </a:bodyPr>
          <a:lstStyle/>
          <a:p>
            <a:pPr>
              <a:defRPr/>
            </a:pPr>
            <a:endParaRPr lang="zh-CN" altLang="en-US"/>
          </a:p>
        </p:txBody>
      </p:sp>
      <p:graphicFrame>
        <p:nvGraphicFramePr>
          <p:cNvPr id="261129" name="Object 9"/>
          <p:cNvGraphicFramePr>
            <a:graphicFrameLocks noChangeAspect="1"/>
          </p:cNvGraphicFramePr>
          <p:nvPr>
            <p:extLst>
              <p:ext uri="{D42A27DB-BD31-4B8C-83A1-F6EECF244321}">
                <p14:modId xmlns:p14="http://schemas.microsoft.com/office/powerpoint/2010/main" val="3217306065"/>
              </p:ext>
            </p:extLst>
          </p:nvPr>
        </p:nvGraphicFramePr>
        <p:xfrm>
          <a:off x="7031833" y="3123367"/>
          <a:ext cx="3298825" cy="1933575"/>
        </p:xfrm>
        <a:graphic>
          <a:graphicData uri="http://schemas.openxmlformats.org/presentationml/2006/ole">
            <mc:AlternateContent xmlns:mc="http://schemas.openxmlformats.org/markup-compatibility/2006">
              <mc:Choice xmlns:v="urn:schemas-microsoft-com:vml" Requires="v">
                <p:oleObj name="公式" r:id="rId8" imgW="1511300" imgH="990600" progId="Equation.3">
                  <p:embed/>
                </p:oleObj>
              </mc:Choice>
              <mc:Fallback>
                <p:oleObj name="公式" r:id="rId8" imgW="1511300" imgH="990600" progId="Equation.3">
                  <p:embed/>
                  <p:pic>
                    <p:nvPicPr>
                      <p:cNvPr id="261129" name="Object 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031833" y="3123367"/>
                        <a:ext cx="3298825" cy="19335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1" name="矩形 20"/>
          <p:cNvSpPr/>
          <p:nvPr/>
        </p:nvSpPr>
        <p:spPr>
          <a:xfrm>
            <a:off x="2238348" y="5715017"/>
            <a:ext cx="7337452" cy="544765"/>
          </a:xfrm>
          <a:prstGeom prst="rect">
            <a:avLst/>
          </a:prstGeom>
          <a:ln w="38100">
            <a:solidFill>
              <a:srgbClr val="0000FF"/>
            </a:solidFill>
          </a:ln>
        </p:spPr>
        <p:txBody>
          <a:bodyPr wrap="square">
            <a:spAutoFit/>
          </a:bodyPr>
          <a:lstStyle/>
          <a:p>
            <a:pPr marL="0" lvl="1">
              <a:lnSpc>
                <a:spcPct val="105000"/>
              </a:lnSpc>
              <a:spcBef>
                <a:spcPts val="300"/>
              </a:spcBef>
              <a:defRPr/>
            </a:pPr>
            <a:r>
              <a:rPr lang="en-US" altLang="zh-CN" sz="2800" dirty="0">
                <a:ln>
                  <a:solidFill>
                    <a:srgbClr val="000000"/>
                  </a:solidFill>
                </a:ln>
                <a:solidFill>
                  <a:srgbClr val="000000"/>
                </a:solidFill>
              </a:rPr>
              <a:t>EXCEL</a:t>
            </a:r>
            <a:r>
              <a:rPr lang="zh-CN" altLang="en-US" sz="2800" dirty="0">
                <a:ln>
                  <a:solidFill>
                    <a:srgbClr val="000000"/>
                  </a:solidFill>
                </a:ln>
                <a:solidFill>
                  <a:srgbClr val="000000"/>
                </a:solidFill>
              </a:rPr>
              <a:t>数据分析</a:t>
            </a:r>
            <a:r>
              <a:rPr lang="en-US" altLang="zh-CN" sz="2800" dirty="0">
                <a:ln>
                  <a:solidFill>
                    <a:srgbClr val="000000"/>
                  </a:solidFill>
                </a:ln>
                <a:solidFill>
                  <a:srgbClr val="000000"/>
                </a:solidFill>
              </a:rPr>
              <a:t>—— </a:t>
            </a:r>
            <a:r>
              <a:rPr lang="en-US" altLang="zh-CN" sz="2800" dirty="0">
                <a:ln>
                  <a:solidFill>
                    <a:srgbClr val="000000"/>
                  </a:solidFill>
                </a:ln>
                <a:solidFill>
                  <a:srgbClr val="FF0066"/>
                </a:solidFill>
              </a:rPr>
              <a:t>t</a:t>
            </a:r>
            <a:r>
              <a:rPr lang="zh-CN" altLang="en-US" sz="2800" dirty="0">
                <a:ln>
                  <a:solidFill>
                    <a:srgbClr val="000000"/>
                  </a:solidFill>
                </a:ln>
                <a:solidFill>
                  <a:srgbClr val="FF0066"/>
                </a:solidFill>
              </a:rPr>
              <a:t>检验</a:t>
            </a:r>
            <a:r>
              <a:rPr lang="en-US" altLang="zh-CN" sz="2800" dirty="0">
                <a:ln>
                  <a:solidFill>
                    <a:srgbClr val="000000"/>
                  </a:solidFill>
                </a:ln>
                <a:solidFill>
                  <a:srgbClr val="FF0066"/>
                </a:solidFill>
              </a:rPr>
              <a:t>: </a:t>
            </a:r>
            <a:r>
              <a:rPr lang="zh-CN" altLang="en-US" sz="2800" dirty="0">
                <a:ln>
                  <a:solidFill>
                    <a:srgbClr val="000000"/>
                  </a:solidFill>
                </a:ln>
                <a:solidFill>
                  <a:srgbClr val="FF0066"/>
                </a:solidFill>
              </a:rPr>
              <a:t>双样本异方差假设</a:t>
            </a:r>
          </a:p>
        </p:txBody>
      </p:sp>
    </p:spTree>
    <p:extLst>
      <p:ext uri="{BB962C8B-B14F-4D97-AF65-F5344CB8AC3E}">
        <p14:creationId xmlns:p14="http://schemas.microsoft.com/office/powerpoint/2010/main" val="8281910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61127"/>
                                        </p:tgtEl>
                                        <p:attrNameLst>
                                          <p:attrName>style.visibility</p:attrName>
                                        </p:attrNameLst>
                                      </p:cBhvr>
                                      <p:to>
                                        <p:strVal val="visible"/>
                                      </p:to>
                                    </p:set>
                                    <p:animEffect transition="in" filter="wipe(left)">
                                      <p:cBhvr>
                                        <p:cTn id="7" dur="500"/>
                                        <p:tgtEl>
                                          <p:spTgt spid="261127"/>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261129"/>
                                        </p:tgtEl>
                                        <p:attrNameLst>
                                          <p:attrName>style.visibility</p:attrName>
                                        </p:attrNameLst>
                                      </p:cBhvr>
                                      <p:to>
                                        <p:strVal val="visible"/>
                                      </p:to>
                                    </p:set>
                                    <p:animEffect transition="in" filter="wipe(left)">
                                      <p:cBhvr>
                                        <p:cTn id="11" dur="500"/>
                                        <p:tgtEl>
                                          <p:spTgt spid="261129"/>
                                        </p:tgtEl>
                                      </p:cBhvr>
                                    </p:animEffect>
                                  </p:childTnLst>
                                </p:cTn>
                              </p:par>
                            </p:childTnLst>
                          </p:cTn>
                        </p:par>
                        <p:par>
                          <p:cTn id="12" fill="hold">
                            <p:stCondLst>
                              <p:cond delay="1000"/>
                            </p:stCondLst>
                            <p:childTnLst>
                              <p:par>
                                <p:cTn id="13" presetID="22" presetClass="entr" presetSubtype="4" fill="hold" nodeType="after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wipe(down)">
                                      <p:cBhvr>
                                        <p:cTn id="15" dur="10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9" name="标题 1"/>
          <p:cNvSpPr>
            <a:spLocks noGrp="1"/>
          </p:cNvSpPr>
          <p:nvPr>
            <p:ph type="title"/>
          </p:nvPr>
        </p:nvSpPr>
        <p:spPr>
          <a:xfrm>
            <a:off x="2362200" y="142875"/>
            <a:ext cx="7772400" cy="990600"/>
          </a:xfrm>
        </p:spPr>
        <p:txBody>
          <a:bodyPr/>
          <a:lstStyle/>
          <a:p>
            <a:r>
              <a:rPr lang="zh-CN" altLang="en-US" sz="3600"/>
              <a:t>两个正态总体均值差的检验（续）</a:t>
            </a:r>
          </a:p>
        </p:txBody>
      </p:sp>
      <p:sp>
        <p:nvSpPr>
          <p:cNvPr id="33800" name="灯片编号占位符 3"/>
          <p:cNvSpPr>
            <a:spLocks noGrp="1"/>
          </p:cNvSpPr>
          <p:nvPr>
            <p:ph type="sldNum" sz="quarter" idx="4294967295"/>
          </p:nvPr>
        </p:nvSpPr>
        <p:spPr>
          <a:noFill/>
        </p:spPr>
        <p:txBody>
          <a:bodyPr/>
          <a:lstStyle/>
          <a:p>
            <a:r>
              <a:rPr lang="en-US" altLang="zh-CN">
                <a:ea typeface="宋体" pitchFamily="2" charset="-122"/>
              </a:rPr>
              <a:t>8--</a:t>
            </a:r>
            <a:fld id="{0C4E417A-A57B-4754-9E63-59908A221A08}" type="slidenum">
              <a:rPr lang="en-US" altLang="zh-CN" smtClean="0">
                <a:ea typeface="宋体" pitchFamily="2" charset="-122"/>
              </a:rPr>
              <a:pPr/>
              <a:t>79</a:t>
            </a:fld>
            <a:endParaRPr lang="en-US" altLang="zh-CN">
              <a:ea typeface="宋体" pitchFamily="2" charset="-122"/>
            </a:endParaRPr>
          </a:p>
        </p:txBody>
      </p:sp>
      <p:sp>
        <p:nvSpPr>
          <p:cNvPr id="220162" name="Rectangle 2"/>
          <p:cNvSpPr>
            <a:spLocks noChangeArrowheads="1"/>
          </p:cNvSpPr>
          <p:nvPr/>
        </p:nvSpPr>
        <p:spPr bwMode="auto">
          <a:xfrm>
            <a:off x="1524001" y="-184666"/>
            <a:ext cx="184731" cy="369332"/>
          </a:xfrm>
          <a:prstGeom prst="rect">
            <a:avLst/>
          </a:prstGeom>
          <a:noFill/>
          <a:ln w="9525">
            <a:noFill/>
            <a:miter lim="800000"/>
            <a:headEnd/>
            <a:tailEnd/>
          </a:ln>
          <a:effectLst>
            <a:prstShdw prst="shdw17" dist="17961" dir="2700000">
              <a:schemeClr val="accent1">
                <a:gamma/>
                <a:shade val="60000"/>
                <a:invGamma/>
              </a:schemeClr>
            </a:prstShdw>
          </a:effectLst>
        </p:spPr>
        <p:txBody>
          <a:bodyPr wrap="none" anchor="ctr">
            <a:spAutoFit/>
          </a:bodyPr>
          <a:lstStyle/>
          <a:p>
            <a:pPr>
              <a:defRPr/>
            </a:pPr>
            <a:endParaRPr lang="zh-CN" altLang="en-US"/>
          </a:p>
        </p:txBody>
      </p:sp>
      <p:graphicFrame>
        <p:nvGraphicFramePr>
          <p:cNvPr id="33794" name="Object 2"/>
          <p:cNvGraphicFramePr>
            <a:graphicFrameLocks noChangeAspect="1"/>
          </p:cNvGraphicFramePr>
          <p:nvPr/>
        </p:nvGraphicFramePr>
        <p:xfrm>
          <a:off x="2881313" y="1214438"/>
          <a:ext cx="2762250" cy="571500"/>
        </p:xfrm>
        <a:graphic>
          <a:graphicData uri="http://schemas.openxmlformats.org/presentationml/2006/ole">
            <mc:AlternateContent xmlns:mc="http://schemas.openxmlformats.org/markup-compatibility/2006">
              <mc:Choice xmlns:v="urn:schemas-microsoft-com:vml" Requires="v">
                <p:oleObj name="公式" r:id="rId2" imgW="1104900" imgH="228600" progId="Equation.3">
                  <p:embed/>
                </p:oleObj>
              </mc:Choice>
              <mc:Fallback>
                <p:oleObj name="公式" r:id="rId2" imgW="1104900" imgH="228600" progId="Equation.3">
                  <p:embed/>
                  <p:pic>
                    <p:nvPicPr>
                      <p:cNvPr id="33794"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81313" y="1214438"/>
                        <a:ext cx="2762250" cy="571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20164" name="Rectangle 4"/>
          <p:cNvSpPr>
            <a:spLocks noChangeArrowheads="1"/>
          </p:cNvSpPr>
          <p:nvPr/>
        </p:nvSpPr>
        <p:spPr bwMode="auto">
          <a:xfrm>
            <a:off x="1524001" y="-184666"/>
            <a:ext cx="184731" cy="369332"/>
          </a:xfrm>
          <a:prstGeom prst="rect">
            <a:avLst/>
          </a:prstGeom>
          <a:noFill/>
          <a:ln w="9525">
            <a:noFill/>
            <a:miter lim="800000"/>
            <a:headEnd/>
            <a:tailEnd/>
          </a:ln>
          <a:effectLst>
            <a:prstShdw prst="shdw17" dist="17961" dir="2700000">
              <a:schemeClr val="accent1">
                <a:gamma/>
                <a:shade val="60000"/>
                <a:invGamma/>
              </a:schemeClr>
            </a:prstShdw>
          </a:effectLst>
        </p:spPr>
        <p:txBody>
          <a:bodyPr wrap="none" anchor="ctr">
            <a:spAutoFit/>
          </a:bodyPr>
          <a:lstStyle/>
          <a:p>
            <a:pPr>
              <a:defRPr/>
            </a:pPr>
            <a:endParaRPr lang="zh-CN" altLang="en-US"/>
          </a:p>
        </p:txBody>
      </p:sp>
      <p:graphicFrame>
        <p:nvGraphicFramePr>
          <p:cNvPr id="33795" name="Object 3"/>
          <p:cNvGraphicFramePr>
            <a:graphicFrameLocks noChangeAspect="1"/>
          </p:cNvGraphicFramePr>
          <p:nvPr/>
        </p:nvGraphicFramePr>
        <p:xfrm>
          <a:off x="6021389" y="1214439"/>
          <a:ext cx="3152775" cy="522287"/>
        </p:xfrm>
        <a:graphic>
          <a:graphicData uri="http://schemas.openxmlformats.org/presentationml/2006/ole">
            <mc:AlternateContent xmlns:mc="http://schemas.openxmlformats.org/markup-compatibility/2006">
              <mc:Choice xmlns:v="urn:schemas-microsoft-com:vml" Requires="v">
                <p:oleObj name="公式" r:id="rId4" imgW="1384200" imgH="228600" progId="Equation.3">
                  <p:embed/>
                </p:oleObj>
              </mc:Choice>
              <mc:Fallback>
                <p:oleObj name="公式" r:id="rId4" imgW="1384200" imgH="228600" progId="Equation.3">
                  <p:embed/>
                  <p:pic>
                    <p:nvPicPr>
                      <p:cNvPr id="33795"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21389" y="1214439"/>
                        <a:ext cx="3152775" cy="5222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20166" name="Rectangle 6"/>
          <p:cNvSpPr>
            <a:spLocks noChangeArrowheads="1"/>
          </p:cNvSpPr>
          <p:nvPr/>
        </p:nvSpPr>
        <p:spPr bwMode="auto">
          <a:xfrm>
            <a:off x="1524001" y="-184666"/>
            <a:ext cx="184731" cy="369332"/>
          </a:xfrm>
          <a:prstGeom prst="rect">
            <a:avLst/>
          </a:prstGeom>
          <a:noFill/>
          <a:ln w="9525">
            <a:noFill/>
            <a:miter lim="800000"/>
            <a:headEnd/>
            <a:tailEnd/>
          </a:ln>
          <a:effectLst>
            <a:prstShdw prst="shdw17" dist="17961" dir="2700000">
              <a:schemeClr val="accent1">
                <a:gamma/>
                <a:shade val="60000"/>
                <a:invGamma/>
              </a:schemeClr>
            </a:prstShdw>
          </a:effectLst>
        </p:spPr>
        <p:txBody>
          <a:bodyPr wrap="none" anchor="ctr">
            <a:spAutoFit/>
          </a:bodyPr>
          <a:lstStyle/>
          <a:p>
            <a:pPr>
              <a:defRPr/>
            </a:pPr>
            <a:endParaRPr lang="zh-CN" altLang="en-US"/>
          </a:p>
        </p:txBody>
      </p:sp>
      <p:sp>
        <p:nvSpPr>
          <p:cNvPr id="18" name="内容占位符 2"/>
          <p:cNvSpPr txBox="1">
            <a:spLocks/>
          </p:cNvSpPr>
          <p:nvPr/>
        </p:nvSpPr>
        <p:spPr bwMode="auto">
          <a:xfrm>
            <a:off x="1993899" y="1968500"/>
            <a:ext cx="5854701" cy="571500"/>
          </a:xfrm>
          <a:prstGeom prst="rect">
            <a:avLst/>
          </a:prstGeom>
          <a:solidFill>
            <a:schemeClr val="accent5">
              <a:lumMod val="20000"/>
              <a:lumOff val="80000"/>
            </a:schemeClr>
          </a:solidFill>
          <a:ln w="9525">
            <a:noFill/>
            <a:miter lim="800000"/>
            <a:headEnd/>
            <a:tailEnd/>
          </a:ln>
        </p:spPr>
        <p:txBody>
          <a:bodyPr/>
          <a:lstStyle/>
          <a:p>
            <a:pPr eaLnBrk="0" hangingPunct="0">
              <a:spcBef>
                <a:spcPct val="20000"/>
              </a:spcBef>
              <a:buSzPct val="90000"/>
              <a:defRPr/>
            </a:pPr>
            <a:r>
              <a:rPr lang="en-US" sz="3400" b="1" dirty="0">
                <a:solidFill>
                  <a:srgbClr val="C00000"/>
                </a:solidFill>
                <a:latin typeface="Times New Roman" pitchFamily="18" charset="0"/>
                <a:cs typeface="Times New Roman" pitchFamily="18" charset="0"/>
              </a:rPr>
              <a:t> 2.</a:t>
            </a:r>
            <a:r>
              <a:rPr lang="zh-CN" altLang="en-US" sz="3400" b="1" dirty="0">
                <a:solidFill>
                  <a:srgbClr val="C00000"/>
                </a:solidFill>
                <a:latin typeface="Times New Roman" pitchFamily="18" charset="0"/>
                <a:cs typeface="Times New Roman" pitchFamily="18" charset="0"/>
              </a:rPr>
              <a:t>两个样本为成对样本的情形</a:t>
            </a:r>
            <a:endParaRPr lang="en-US" altLang="zh-CN" sz="3400" b="1" dirty="0">
              <a:solidFill>
                <a:srgbClr val="C00000"/>
              </a:solidFill>
              <a:latin typeface="Times New Roman" pitchFamily="18" charset="0"/>
              <a:cs typeface="Times New Roman" pitchFamily="18" charset="0"/>
            </a:endParaRPr>
          </a:p>
        </p:txBody>
      </p:sp>
      <p:sp>
        <p:nvSpPr>
          <p:cNvPr id="220175" name="Rectangle 15"/>
          <p:cNvSpPr>
            <a:spLocks noChangeArrowheads="1"/>
          </p:cNvSpPr>
          <p:nvPr/>
        </p:nvSpPr>
        <p:spPr bwMode="auto">
          <a:xfrm>
            <a:off x="1524001" y="-184666"/>
            <a:ext cx="184731" cy="369332"/>
          </a:xfrm>
          <a:prstGeom prst="rect">
            <a:avLst/>
          </a:prstGeom>
          <a:noFill/>
          <a:ln w="9525">
            <a:noFill/>
            <a:miter lim="800000"/>
            <a:headEnd/>
            <a:tailEnd/>
          </a:ln>
          <a:effectLst>
            <a:prstShdw prst="shdw17" dist="17961" dir="2700000">
              <a:schemeClr val="accent1">
                <a:gamma/>
                <a:shade val="60000"/>
                <a:invGamma/>
              </a:schemeClr>
            </a:prstShdw>
          </a:effectLst>
        </p:spPr>
        <p:txBody>
          <a:bodyPr wrap="none" anchor="ctr">
            <a:spAutoFit/>
          </a:bodyPr>
          <a:lstStyle/>
          <a:p>
            <a:pPr>
              <a:defRPr/>
            </a:pPr>
            <a:endParaRPr lang="zh-CN" altLang="en-US"/>
          </a:p>
        </p:txBody>
      </p:sp>
      <p:sp>
        <p:nvSpPr>
          <p:cNvPr id="220177" name="Rectangle 17"/>
          <p:cNvSpPr>
            <a:spLocks noChangeArrowheads="1"/>
          </p:cNvSpPr>
          <p:nvPr/>
        </p:nvSpPr>
        <p:spPr bwMode="auto">
          <a:xfrm>
            <a:off x="1524001" y="-184666"/>
            <a:ext cx="184731" cy="369332"/>
          </a:xfrm>
          <a:prstGeom prst="rect">
            <a:avLst/>
          </a:prstGeom>
          <a:noFill/>
          <a:ln w="9525">
            <a:noFill/>
            <a:miter lim="800000"/>
            <a:headEnd/>
            <a:tailEnd/>
          </a:ln>
          <a:effectLst>
            <a:prstShdw prst="shdw17" dist="17961" dir="2700000">
              <a:schemeClr val="accent1">
                <a:gamma/>
                <a:shade val="60000"/>
                <a:invGamma/>
              </a:schemeClr>
            </a:prstShdw>
          </a:effectLst>
        </p:spPr>
        <p:txBody>
          <a:bodyPr wrap="none" anchor="ctr">
            <a:spAutoFit/>
          </a:bodyPr>
          <a:lstStyle/>
          <a:p>
            <a:pPr>
              <a:defRPr/>
            </a:pPr>
            <a:endParaRPr lang="zh-CN" altLang="en-US"/>
          </a:p>
        </p:txBody>
      </p:sp>
      <p:sp>
        <p:nvSpPr>
          <p:cNvPr id="261128" name="Rectangle 8"/>
          <p:cNvSpPr>
            <a:spLocks noChangeArrowheads="1"/>
          </p:cNvSpPr>
          <p:nvPr/>
        </p:nvSpPr>
        <p:spPr bwMode="auto">
          <a:xfrm>
            <a:off x="1524001" y="-184666"/>
            <a:ext cx="184731" cy="369332"/>
          </a:xfrm>
          <a:prstGeom prst="rect">
            <a:avLst/>
          </a:prstGeom>
          <a:noFill/>
          <a:ln w="9525">
            <a:noFill/>
            <a:miter lim="800000"/>
            <a:headEnd/>
            <a:tailEnd/>
          </a:ln>
          <a:effectLst>
            <a:prstShdw prst="shdw17" dist="17961" dir="2700000">
              <a:schemeClr val="accent1">
                <a:gamma/>
                <a:shade val="60000"/>
                <a:invGamma/>
              </a:schemeClr>
            </a:prstShdw>
          </a:effectLst>
        </p:spPr>
        <p:txBody>
          <a:bodyPr wrap="none" anchor="ctr">
            <a:spAutoFit/>
          </a:bodyPr>
          <a:lstStyle/>
          <a:p>
            <a:pPr>
              <a:defRPr/>
            </a:pPr>
            <a:endParaRPr lang="zh-CN" altLang="en-US"/>
          </a:p>
        </p:txBody>
      </p:sp>
      <p:sp>
        <p:nvSpPr>
          <p:cNvPr id="261130" name="Rectangle 10"/>
          <p:cNvSpPr>
            <a:spLocks noChangeArrowheads="1"/>
          </p:cNvSpPr>
          <p:nvPr/>
        </p:nvSpPr>
        <p:spPr bwMode="auto">
          <a:xfrm>
            <a:off x="1524001" y="-184666"/>
            <a:ext cx="184731" cy="369332"/>
          </a:xfrm>
          <a:prstGeom prst="rect">
            <a:avLst/>
          </a:prstGeom>
          <a:noFill/>
          <a:ln w="9525">
            <a:noFill/>
            <a:miter lim="800000"/>
            <a:headEnd/>
            <a:tailEnd/>
          </a:ln>
          <a:effectLst>
            <a:prstShdw prst="shdw17" dist="17961" dir="2700000">
              <a:schemeClr val="accent1">
                <a:gamma/>
                <a:shade val="60000"/>
                <a:invGamma/>
              </a:schemeClr>
            </a:prstShdw>
          </a:effectLst>
        </p:spPr>
        <p:txBody>
          <a:bodyPr wrap="none" anchor="ctr">
            <a:spAutoFit/>
          </a:bodyPr>
          <a:lstStyle/>
          <a:p>
            <a:pPr>
              <a:defRPr/>
            </a:pPr>
            <a:endParaRPr lang="zh-CN" altLang="en-US"/>
          </a:p>
        </p:txBody>
      </p:sp>
      <p:sp>
        <p:nvSpPr>
          <p:cNvPr id="21" name="矩形 20"/>
          <p:cNvSpPr/>
          <p:nvPr/>
        </p:nvSpPr>
        <p:spPr>
          <a:xfrm>
            <a:off x="2238348" y="5143512"/>
            <a:ext cx="6929486" cy="1035668"/>
          </a:xfrm>
          <a:prstGeom prst="rect">
            <a:avLst/>
          </a:prstGeom>
          <a:ln w="38100">
            <a:solidFill>
              <a:srgbClr val="0000FF"/>
            </a:solidFill>
          </a:ln>
        </p:spPr>
        <p:txBody>
          <a:bodyPr>
            <a:spAutoFit/>
          </a:bodyPr>
          <a:lstStyle/>
          <a:p>
            <a:pPr marL="0" lvl="1">
              <a:lnSpc>
                <a:spcPct val="105000"/>
              </a:lnSpc>
              <a:spcBef>
                <a:spcPts val="300"/>
              </a:spcBef>
              <a:defRPr/>
            </a:pPr>
            <a:r>
              <a:rPr lang="en-US" altLang="zh-CN" sz="2800" dirty="0">
                <a:ln>
                  <a:solidFill>
                    <a:srgbClr val="000000"/>
                  </a:solidFill>
                </a:ln>
                <a:solidFill>
                  <a:srgbClr val="000000"/>
                </a:solidFill>
              </a:rPr>
              <a:t>EXCEL</a:t>
            </a:r>
            <a:r>
              <a:rPr lang="zh-CN" altLang="en-US" sz="2800" dirty="0">
                <a:ln>
                  <a:solidFill>
                    <a:srgbClr val="000000"/>
                  </a:solidFill>
                </a:ln>
                <a:solidFill>
                  <a:srgbClr val="000000"/>
                </a:solidFill>
              </a:rPr>
              <a:t>数据分析</a:t>
            </a:r>
            <a:endParaRPr lang="en-US" altLang="zh-CN" sz="2800" dirty="0">
              <a:ln>
                <a:solidFill>
                  <a:srgbClr val="000000"/>
                </a:solidFill>
              </a:ln>
              <a:solidFill>
                <a:srgbClr val="000000"/>
              </a:solidFill>
            </a:endParaRPr>
          </a:p>
          <a:p>
            <a:pPr marL="0" lvl="1">
              <a:lnSpc>
                <a:spcPct val="105000"/>
              </a:lnSpc>
              <a:spcBef>
                <a:spcPts val="300"/>
              </a:spcBef>
              <a:defRPr/>
            </a:pPr>
            <a:r>
              <a:rPr lang="en-US" altLang="zh-CN" sz="2800" dirty="0">
                <a:ln>
                  <a:solidFill>
                    <a:srgbClr val="000000"/>
                  </a:solidFill>
                </a:ln>
                <a:solidFill>
                  <a:srgbClr val="000000"/>
                </a:solidFill>
              </a:rPr>
              <a:t>   —— </a:t>
            </a:r>
            <a:r>
              <a:rPr lang="en-US" altLang="zh-CN" sz="2800" dirty="0">
                <a:ln>
                  <a:solidFill>
                    <a:srgbClr val="000000"/>
                  </a:solidFill>
                </a:ln>
                <a:solidFill>
                  <a:srgbClr val="C00000"/>
                </a:solidFill>
              </a:rPr>
              <a:t>t</a:t>
            </a:r>
            <a:r>
              <a:rPr lang="zh-CN" altLang="en-US" sz="2800" dirty="0">
                <a:ln>
                  <a:solidFill>
                    <a:srgbClr val="000000"/>
                  </a:solidFill>
                </a:ln>
                <a:solidFill>
                  <a:srgbClr val="C00000"/>
                </a:solidFill>
              </a:rPr>
              <a:t>检验</a:t>
            </a:r>
            <a:r>
              <a:rPr lang="en-US" altLang="zh-CN" sz="2800" dirty="0">
                <a:ln>
                  <a:solidFill>
                    <a:srgbClr val="000000"/>
                  </a:solidFill>
                </a:ln>
                <a:solidFill>
                  <a:srgbClr val="C00000"/>
                </a:solidFill>
              </a:rPr>
              <a:t>:</a:t>
            </a:r>
            <a:r>
              <a:rPr lang="zh-CN" altLang="en-US" sz="2800" dirty="0">
                <a:ln>
                  <a:solidFill>
                    <a:srgbClr val="000000"/>
                  </a:solidFill>
                </a:ln>
                <a:solidFill>
                  <a:srgbClr val="C00000"/>
                </a:solidFill>
              </a:rPr>
              <a:t>平均值的成对二样本分析</a:t>
            </a:r>
          </a:p>
        </p:txBody>
      </p:sp>
      <p:sp>
        <p:nvSpPr>
          <p:cNvPr id="262151" name="Rectangle 7"/>
          <p:cNvSpPr>
            <a:spLocks noChangeArrowheads="1"/>
          </p:cNvSpPr>
          <p:nvPr/>
        </p:nvSpPr>
        <p:spPr bwMode="auto">
          <a:xfrm>
            <a:off x="1524001" y="-184666"/>
            <a:ext cx="184731" cy="369332"/>
          </a:xfrm>
          <a:prstGeom prst="rect">
            <a:avLst/>
          </a:prstGeom>
          <a:noFill/>
          <a:ln w="9525">
            <a:noFill/>
            <a:miter lim="800000"/>
            <a:headEnd/>
            <a:tailEnd/>
          </a:ln>
          <a:effectLst>
            <a:prstShdw prst="shdw17" dist="17961" dir="2700000">
              <a:schemeClr val="accent1">
                <a:gamma/>
                <a:shade val="60000"/>
                <a:invGamma/>
              </a:schemeClr>
            </a:prstShdw>
          </a:effectLst>
        </p:spPr>
        <p:txBody>
          <a:bodyPr wrap="none" anchor="ctr">
            <a:spAutoFit/>
          </a:bodyPr>
          <a:lstStyle/>
          <a:p>
            <a:pPr>
              <a:defRPr/>
            </a:pPr>
            <a:endParaRPr lang="zh-CN" altLang="en-US"/>
          </a:p>
        </p:txBody>
      </p:sp>
      <p:graphicFrame>
        <p:nvGraphicFramePr>
          <p:cNvPr id="33796" name="Object 6"/>
          <p:cNvGraphicFramePr>
            <a:graphicFrameLocks noChangeAspect="1"/>
          </p:cNvGraphicFramePr>
          <p:nvPr>
            <p:extLst>
              <p:ext uri="{D42A27DB-BD31-4B8C-83A1-F6EECF244321}">
                <p14:modId xmlns:p14="http://schemas.microsoft.com/office/powerpoint/2010/main" val="966853557"/>
              </p:ext>
            </p:extLst>
          </p:nvPr>
        </p:nvGraphicFramePr>
        <p:xfrm>
          <a:off x="3034505" y="3282869"/>
          <a:ext cx="3773488" cy="1449388"/>
        </p:xfrm>
        <a:graphic>
          <a:graphicData uri="http://schemas.openxmlformats.org/presentationml/2006/ole">
            <mc:AlternateContent xmlns:mc="http://schemas.openxmlformats.org/markup-compatibility/2006">
              <mc:Choice xmlns:v="urn:schemas-microsoft-com:vml" Requires="v">
                <p:oleObj name="公式" r:id="rId6" imgW="1295280" imgH="495000" progId="Equation.3">
                  <p:embed/>
                </p:oleObj>
              </mc:Choice>
              <mc:Fallback>
                <p:oleObj name="公式" r:id="rId6" imgW="1295280" imgH="495000" progId="Equation.3">
                  <p:embed/>
                  <p:pic>
                    <p:nvPicPr>
                      <p:cNvPr id="33796"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034505" y="3282869"/>
                        <a:ext cx="3773488" cy="14493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62153" name="Rectangle 9"/>
          <p:cNvSpPr>
            <a:spLocks noChangeArrowheads="1"/>
          </p:cNvSpPr>
          <p:nvPr/>
        </p:nvSpPr>
        <p:spPr bwMode="auto">
          <a:xfrm>
            <a:off x="1524001" y="-184666"/>
            <a:ext cx="184731" cy="369332"/>
          </a:xfrm>
          <a:prstGeom prst="rect">
            <a:avLst/>
          </a:prstGeom>
          <a:noFill/>
          <a:ln w="9525">
            <a:noFill/>
            <a:miter lim="800000"/>
            <a:headEnd/>
            <a:tailEnd/>
          </a:ln>
          <a:effectLst>
            <a:prstShdw prst="shdw17" dist="17961" dir="2700000">
              <a:schemeClr val="accent1">
                <a:gamma/>
                <a:shade val="60000"/>
                <a:invGamma/>
              </a:schemeClr>
            </a:prstShdw>
          </a:effectLst>
        </p:spPr>
        <p:txBody>
          <a:bodyPr wrap="none" anchor="ctr">
            <a:spAutoFit/>
          </a:bodyPr>
          <a:lstStyle/>
          <a:p>
            <a:pPr>
              <a:defRPr/>
            </a:pPr>
            <a:endParaRPr lang="zh-CN" altLang="en-US"/>
          </a:p>
        </p:txBody>
      </p:sp>
      <p:sp>
        <p:nvSpPr>
          <p:cNvPr id="262155" name="Rectangle 11"/>
          <p:cNvSpPr>
            <a:spLocks noChangeArrowheads="1"/>
          </p:cNvSpPr>
          <p:nvPr/>
        </p:nvSpPr>
        <p:spPr bwMode="auto">
          <a:xfrm>
            <a:off x="1524001" y="-184666"/>
            <a:ext cx="184731" cy="369332"/>
          </a:xfrm>
          <a:prstGeom prst="rect">
            <a:avLst/>
          </a:prstGeom>
          <a:noFill/>
          <a:ln w="9525">
            <a:noFill/>
            <a:miter lim="800000"/>
            <a:headEnd/>
            <a:tailEnd/>
          </a:ln>
          <a:effectLst>
            <a:prstShdw prst="shdw17" dist="17961" dir="2700000">
              <a:schemeClr val="accent1">
                <a:gamma/>
                <a:shade val="60000"/>
                <a:invGamma/>
              </a:schemeClr>
            </a:prstShdw>
          </a:effectLst>
        </p:spPr>
        <p:txBody>
          <a:bodyPr wrap="none" anchor="ctr">
            <a:spAutoFit/>
          </a:bodyPr>
          <a:lstStyle/>
          <a:p>
            <a:pPr>
              <a:defRPr/>
            </a:pPr>
            <a:endParaRPr lang="zh-CN" altLang="en-US"/>
          </a:p>
        </p:txBody>
      </p:sp>
      <p:graphicFrame>
        <p:nvGraphicFramePr>
          <p:cNvPr id="33797" name="Object 10"/>
          <p:cNvGraphicFramePr>
            <a:graphicFrameLocks noChangeAspect="1"/>
          </p:cNvGraphicFramePr>
          <p:nvPr>
            <p:extLst>
              <p:ext uri="{D42A27DB-BD31-4B8C-83A1-F6EECF244321}">
                <p14:modId xmlns:p14="http://schemas.microsoft.com/office/powerpoint/2010/main" val="4287859658"/>
              </p:ext>
            </p:extLst>
          </p:nvPr>
        </p:nvGraphicFramePr>
        <p:xfrm>
          <a:off x="7241381" y="2560403"/>
          <a:ext cx="1214438" cy="1116013"/>
        </p:xfrm>
        <a:graphic>
          <a:graphicData uri="http://schemas.openxmlformats.org/presentationml/2006/ole">
            <mc:AlternateContent xmlns:mc="http://schemas.openxmlformats.org/markup-compatibility/2006">
              <mc:Choice xmlns:v="urn:schemas-microsoft-com:vml" Requires="v">
                <p:oleObj name="公式" r:id="rId8" imgW="660113" imgH="609336" progId="Equation.3">
                  <p:embed/>
                </p:oleObj>
              </mc:Choice>
              <mc:Fallback>
                <p:oleObj name="公式" r:id="rId8" imgW="660113" imgH="609336" progId="Equation.3">
                  <p:embed/>
                  <p:pic>
                    <p:nvPicPr>
                      <p:cNvPr id="33797" name="Object 10"/>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241381" y="2560403"/>
                        <a:ext cx="1214438" cy="11160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62157" name="Rectangle 13"/>
          <p:cNvSpPr>
            <a:spLocks noChangeArrowheads="1"/>
          </p:cNvSpPr>
          <p:nvPr/>
        </p:nvSpPr>
        <p:spPr bwMode="auto">
          <a:xfrm>
            <a:off x="1524001" y="-184666"/>
            <a:ext cx="184731" cy="369332"/>
          </a:xfrm>
          <a:prstGeom prst="rect">
            <a:avLst/>
          </a:prstGeom>
          <a:noFill/>
          <a:ln w="9525">
            <a:noFill/>
            <a:miter lim="800000"/>
            <a:headEnd/>
            <a:tailEnd/>
          </a:ln>
          <a:effectLst>
            <a:prstShdw prst="shdw17" dist="17961" dir="2700000">
              <a:schemeClr val="accent1">
                <a:gamma/>
                <a:shade val="60000"/>
                <a:invGamma/>
              </a:schemeClr>
            </a:prstShdw>
          </a:effectLst>
        </p:spPr>
        <p:txBody>
          <a:bodyPr wrap="none" anchor="ctr">
            <a:spAutoFit/>
          </a:bodyPr>
          <a:lstStyle/>
          <a:p>
            <a:pPr>
              <a:defRPr/>
            </a:pPr>
            <a:endParaRPr lang="zh-CN" altLang="en-US"/>
          </a:p>
        </p:txBody>
      </p:sp>
      <p:graphicFrame>
        <p:nvGraphicFramePr>
          <p:cNvPr id="33798" name="Object 12"/>
          <p:cNvGraphicFramePr>
            <a:graphicFrameLocks noChangeAspect="1"/>
          </p:cNvGraphicFramePr>
          <p:nvPr/>
        </p:nvGraphicFramePr>
        <p:xfrm>
          <a:off x="7167564" y="3786189"/>
          <a:ext cx="1857375" cy="1031875"/>
        </p:xfrm>
        <a:graphic>
          <a:graphicData uri="http://schemas.openxmlformats.org/presentationml/2006/ole">
            <mc:AlternateContent xmlns:mc="http://schemas.openxmlformats.org/markup-compatibility/2006">
              <mc:Choice xmlns:v="urn:schemas-microsoft-com:vml" Requires="v">
                <p:oleObj name="公式" r:id="rId10" imgW="1129810" imgH="609336" progId="Equation.3">
                  <p:embed/>
                </p:oleObj>
              </mc:Choice>
              <mc:Fallback>
                <p:oleObj name="公式" r:id="rId10" imgW="1129810" imgH="609336" progId="Equation.3">
                  <p:embed/>
                  <p:pic>
                    <p:nvPicPr>
                      <p:cNvPr id="33798" name="Object 12"/>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167564" y="3786189"/>
                        <a:ext cx="1857375" cy="10318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矩形 1"/>
          <p:cNvSpPr/>
          <p:nvPr/>
        </p:nvSpPr>
        <p:spPr>
          <a:xfrm>
            <a:off x="1897315" y="2619047"/>
            <a:ext cx="3463128" cy="584775"/>
          </a:xfrm>
          <a:prstGeom prst="rect">
            <a:avLst/>
          </a:prstGeom>
        </p:spPr>
        <p:txBody>
          <a:bodyPr wrap="none">
            <a:spAutoFit/>
          </a:bodyPr>
          <a:lstStyle/>
          <a:p>
            <a:pPr indent="401638" eaLnBrk="0" hangingPunct="0">
              <a:spcBef>
                <a:spcPct val="20000"/>
              </a:spcBef>
              <a:buSzPct val="90000"/>
              <a:defRPr/>
            </a:pPr>
            <a:r>
              <a:rPr lang="zh-CN" altLang="en-US" sz="3200" b="1" dirty="0">
                <a:solidFill>
                  <a:srgbClr val="0070C0"/>
                </a:solidFill>
                <a:latin typeface="Times New Roman" pitchFamily="18" charset="0"/>
                <a:cs typeface="Times New Roman" pitchFamily="18" charset="0"/>
              </a:rPr>
              <a:t>检验统计量为：</a:t>
            </a:r>
          </a:p>
        </p:txBody>
      </p:sp>
    </p:spTree>
    <p:extLst>
      <p:ext uri="{BB962C8B-B14F-4D97-AF65-F5344CB8AC3E}">
        <p14:creationId xmlns:p14="http://schemas.microsoft.com/office/powerpoint/2010/main" val="1837565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wipe(down)">
                                      <p:cBhvr>
                                        <p:cTn id="7" dur="25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5" name="标题 1"/>
          <p:cNvSpPr>
            <a:spLocks noGrp="1"/>
          </p:cNvSpPr>
          <p:nvPr>
            <p:ph type="title"/>
          </p:nvPr>
        </p:nvSpPr>
        <p:spPr>
          <a:xfrm>
            <a:off x="1745197" y="521386"/>
            <a:ext cx="8985250" cy="662782"/>
          </a:xfrm>
        </p:spPr>
        <p:txBody>
          <a:bodyPr>
            <a:normAutofit/>
          </a:bodyPr>
          <a:lstStyle/>
          <a:p>
            <a:r>
              <a:rPr kumimoji="1" lang="en-US" altLang="zh-CN" sz="3600" b="1" dirty="0">
                <a:solidFill>
                  <a:srgbClr val="0070C0"/>
                </a:solidFill>
                <a:effectLst/>
              </a:rPr>
              <a:t>8.3.2 </a:t>
            </a:r>
            <a:r>
              <a:rPr kumimoji="1" lang="zh-CN" altLang="en-US" sz="3600" b="1" dirty="0">
                <a:solidFill>
                  <a:srgbClr val="0070C0"/>
                </a:solidFill>
                <a:effectLst/>
              </a:rPr>
              <a:t>两个正态总体方差相等性的检验</a:t>
            </a:r>
          </a:p>
        </p:txBody>
      </p:sp>
      <p:sp>
        <p:nvSpPr>
          <p:cNvPr id="34826" name="内容占位符 2"/>
          <p:cNvSpPr>
            <a:spLocks noGrp="1"/>
          </p:cNvSpPr>
          <p:nvPr>
            <p:ph idx="1"/>
          </p:nvPr>
        </p:nvSpPr>
        <p:spPr>
          <a:xfrm>
            <a:off x="2166910" y="2006554"/>
            <a:ext cx="7677150" cy="2214562"/>
          </a:xfrm>
        </p:spPr>
        <p:txBody>
          <a:bodyPr/>
          <a:lstStyle/>
          <a:p>
            <a:pPr marL="0" indent="0">
              <a:buNone/>
            </a:pPr>
            <a:r>
              <a:rPr lang="zh-CN" altLang="en-US" dirty="0"/>
              <a:t>    在原假设成立的条件下，检验统计量及其分布为：</a:t>
            </a:r>
            <a:endParaRPr lang="en-US" altLang="zh-CN" dirty="0"/>
          </a:p>
          <a:p>
            <a:pPr lvl="4"/>
            <a:endParaRPr lang="en-US" altLang="zh-CN" sz="2800" dirty="0"/>
          </a:p>
          <a:p>
            <a:pPr>
              <a:buFontTx/>
              <a:buNone/>
            </a:pPr>
            <a:r>
              <a:rPr lang="zh-CN" altLang="en-US" dirty="0"/>
              <a:t>   双侧检验的拒绝域为：</a:t>
            </a:r>
          </a:p>
        </p:txBody>
      </p:sp>
      <p:sp>
        <p:nvSpPr>
          <p:cNvPr id="34827" name="灯片编号占位符 3"/>
          <p:cNvSpPr>
            <a:spLocks noGrp="1"/>
          </p:cNvSpPr>
          <p:nvPr>
            <p:ph type="sldNum" sz="quarter" idx="4294967295"/>
          </p:nvPr>
        </p:nvSpPr>
        <p:spPr>
          <a:noFill/>
        </p:spPr>
        <p:txBody>
          <a:bodyPr/>
          <a:lstStyle/>
          <a:p>
            <a:r>
              <a:rPr lang="en-US" altLang="zh-CN">
                <a:ea typeface="宋体" pitchFamily="2" charset="-122"/>
              </a:rPr>
              <a:t>8--</a:t>
            </a:r>
            <a:fld id="{74D2A7A0-5F75-4F2E-8ADE-22A8404EDCD6}" type="slidenum">
              <a:rPr lang="en-US" altLang="zh-CN" smtClean="0">
                <a:ea typeface="宋体" pitchFamily="2" charset="-122"/>
              </a:rPr>
              <a:pPr/>
              <a:t>80</a:t>
            </a:fld>
            <a:endParaRPr lang="en-US" altLang="zh-CN">
              <a:ea typeface="宋体" pitchFamily="2" charset="-122"/>
            </a:endParaRPr>
          </a:p>
        </p:txBody>
      </p:sp>
      <p:sp>
        <p:nvSpPr>
          <p:cNvPr id="263170" name="Rectangle 2"/>
          <p:cNvSpPr>
            <a:spLocks noChangeArrowheads="1"/>
          </p:cNvSpPr>
          <p:nvPr/>
        </p:nvSpPr>
        <p:spPr bwMode="auto">
          <a:xfrm>
            <a:off x="1524001" y="-184666"/>
            <a:ext cx="184731" cy="369332"/>
          </a:xfrm>
          <a:prstGeom prst="rect">
            <a:avLst/>
          </a:prstGeom>
          <a:noFill/>
          <a:ln w="9525">
            <a:noFill/>
            <a:miter lim="800000"/>
            <a:headEnd/>
            <a:tailEnd/>
          </a:ln>
          <a:effectLst>
            <a:prstShdw prst="shdw17" dist="17961" dir="2700000">
              <a:schemeClr val="accent1">
                <a:gamma/>
                <a:shade val="60000"/>
                <a:invGamma/>
              </a:schemeClr>
            </a:prstShdw>
          </a:effectLst>
        </p:spPr>
        <p:txBody>
          <a:bodyPr wrap="none" anchor="ctr">
            <a:spAutoFit/>
          </a:bodyPr>
          <a:lstStyle/>
          <a:p>
            <a:pPr>
              <a:defRPr/>
            </a:pPr>
            <a:endParaRPr lang="zh-CN" altLang="en-US"/>
          </a:p>
        </p:txBody>
      </p:sp>
      <p:graphicFrame>
        <p:nvGraphicFramePr>
          <p:cNvPr id="34818" name="Object 1"/>
          <p:cNvGraphicFramePr>
            <a:graphicFrameLocks noChangeAspect="1"/>
          </p:cNvGraphicFramePr>
          <p:nvPr>
            <p:extLst>
              <p:ext uri="{D42A27DB-BD31-4B8C-83A1-F6EECF244321}">
                <p14:modId xmlns:p14="http://schemas.microsoft.com/office/powerpoint/2010/main" val="2283576148"/>
              </p:ext>
            </p:extLst>
          </p:nvPr>
        </p:nvGraphicFramePr>
        <p:xfrm>
          <a:off x="3132138" y="1177901"/>
          <a:ext cx="2119312" cy="635000"/>
        </p:xfrm>
        <a:graphic>
          <a:graphicData uri="http://schemas.openxmlformats.org/presentationml/2006/ole">
            <mc:AlternateContent xmlns:mc="http://schemas.openxmlformats.org/markup-compatibility/2006">
              <mc:Choice xmlns:v="urn:schemas-microsoft-com:vml" Requires="v">
                <p:oleObj name="公式" r:id="rId2" imgW="812447" imgH="241195" progId="Equation.3">
                  <p:embed/>
                </p:oleObj>
              </mc:Choice>
              <mc:Fallback>
                <p:oleObj name="公式" r:id="rId2" imgW="812447" imgH="241195" progId="Equation.3">
                  <p:embed/>
                  <p:pic>
                    <p:nvPicPr>
                      <p:cNvPr id="34818"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32138" y="1177901"/>
                        <a:ext cx="2119312" cy="635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63172" name="Rectangle 4"/>
          <p:cNvSpPr>
            <a:spLocks noChangeArrowheads="1"/>
          </p:cNvSpPr>
          <p:nvPr/>
        </p:nvSpPr>
        <p:spPr bwMode="auto">
          <a:xfrm>
            <a:off x="1524001" y="-184666"/>
            <a:ext cx="184731" cy="369332"/>
          </a:xfrm>
          <a:prstGeom prst="rect">
            <a:avLst/>
          </a:prstGeom>
          <a:noFill/>
          <a:ln w="9525">
            <a:noFill/>
            <a:miter lim="800000"/>
            <a:headEnd/>
            <a:tailEnd/>
          </a:ln>
          <a:effectLst>
            <a:prstShdw prst="shdw17" dist="17961" dir="2700000">
              <a:schemeClr val="accent1">
                <a:gamma/>
                <a:shade val="60000"/>
                <a:invGamma/>
              </a:schemeClr>
            </a:prstShdw>
          </a:effectLst>
        </p:spPr>
        <p:txBody>
          <a:bodyPr wrap="none" anchor="ctr">
            <a:spAutoFit/>
          </a:bodyPr>
          <a:lstStyle/>
          <a:p>
            <a:pPr>
              <a:defRPr/>
            </a:pPr>
            <a:endParaRPr lang="zh-CN" altLang="en-US"/>
          </a:p>
        </p:txBody>
      </p:sp>
      <p:graphicFrame>
        <p:nvGraphicFramePr>
          <p:cNvPr id="34819" name="Object 3"/>
          <p:cNvGraphicFramePr>
            <a:graphicFrameLocks noChangeAspect="1"/>
          </p:cNvGraphicFramePr>
          <p:nvPr>
            <p:extLst>
              <p:ext uri="{D42A27DB-BD31-4B8C-83A1-F6EECF244321}">
                <p14:modId xmlns:p14="http://schemas.microsoft.com/office/powerpoint/2010/main" val="2024770139"/>
              </p:ext>
            </p:extLst>
          </p:nvPr>
        </p:nvGraphicFramePr>
        <p:xfrm>
          <a:off x="5851525" y="1209651"/>
          <a:ext cx="2816225" cy="571500"/>
        </p:xfrm>
        <a:graphic>
          <a:graphicData uri="http://schemas.openxmlformats.org/presentationml/2006/ole">
            <mc:AlternateContent xmlns:mc="http://schemas.openxmlformats.org/markup-compatibility/2006">
              <mc:Choice xmlns:v="urn:schemas-microsoft-com:vml" Requires="v">
                <p:oleObj name="公式" r:id="rId4" imgW="1130040" imgH="228600" progId="Equation.3">
                  <p:embed/>
                </p:oleObj>
              </mc:Choice>
              <mc:Fallback>
                <p:oleObj name="公式" r:id="rId4" imgW="1130040" imgH="228600" progId="Equation.3">
                  <p:embed/>
                  <p:pic>
                    <p:nvPicPr>
                      <p:cNvPr id="34819"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851525" y="1209651"/>
                        <a:ext cx="2816225" cy="571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63174" name="Rectangle 6"/>
          <p:cNvSpPr>
            <a:spLocks noChangeArrowheads="1"/>
          </p:cNvSpPr>
          <p:nvPr/>
        </p:nvSpPr>
        <p:spPr bwMode="auto">
          <a:xfrm>
            <a:off x="1524001" y="-184666"/>
            <a:ext cx="184731" cy="369332"/>
          </a:xfrm>
          <a:prstGeom prst="rect">
            <a:avLst/>
          </a:prstGeom>
          <a:noFill/>
          <a:ln w="9525">
            <a:noFill/>
            <a:miter lim="800000"/>
            <a:headEnd/>
            <a:tailEnd/>
          </a:ln>
          <a:effectLst>
            <a:prstShdw prst="shdw17" dist="17961" dir="2700000">
              <a:schemeClr val="accent1">
                <a:gamma/>
                <a:shade val="60000"/>
                <a:invGamma/>
              </a:schemeClr>
            </a:prstShdw>
          </a:effectLst>
        </p:spPr>
        <p:txBody>
          <a:bodyPr wrap="none" anchor="ctr">
            <a:spAutoFit/>
          </a:bodyPr>
          <a:lstStyle/>
          <a:p>
            <a:pPr>
              <a:defRPr/>
            </a:pPr>
            <a:endParaRPr lang="zh-CN" altLang="en-US"/>
          </a:p>
        </p:txBody>
      </p:sp>
      <p:sp>
        <p:nvSpPr>
          <p:cNvPr id="263176" name="Rectangle 8"/>
          <p:cNvSpPr>
            <a:spLocks noChangeArrowheads="1"/>
          </p:cNvSpPr>
          <p:nvPr/>
        </p:nvSpPr>
        <p:spPr bwMode="auto">
          <a:xfrm>
            <a:off x="1524001" y="-184666"/>
            <a:ext cx="184731" cy="369332"/>
          </a:xfrm>
          <a:prstGeom prst="rect">
            <a:avLst/>
          </a:prstGeom>
          <a:noFill/>
          <a:ln w="9525">
            <a:noFill/>
            <a:miter lim="800000"/>
            <a:headEnd/>
            <a:tailEnd/>
          </a:ln>
          <a:effectLst>
            <a:prstShdw prst="shdw17" dist="17961" dir="2700000">
              <a:schemeClr val="accent1">
                <a:gamma/>
                <a:shade val="60000"/>
                <a:invGamma/>
              </a:schemeClr>
            </a:prstShdw>
          </a:effectLst>
        </p:spPr>
        <p:txBody>
          <a:bodyPr wrap="none" anchor="ctr">
            <a:spAutoFit/>
          </a:bodyPr>
          <a:lstStyle/>
          <a:p>
            <a:pPr>
              <a:defRPr/>
            </a:pPr>
            <a:endParaRPr lang="zh-CN" altLang="en-US"/>
          </a:p>
        </p:txBody>
      </p:sp>
      <p:grpSp>
        <p:nvGrpSpPr>
          <p:cNvPr id="34832" name="组合 18"/>
          <p:cNvGrpSpPr>
            <a:grpSpLocks/>
          </p:cNvGrpSpPr>
          <p:nvPr/>
        </p:nvGrpSpPr>
        <p:grpSpPr bwMode="auto">
          <a:xfrm>
            <a:off x="4738688" y="2506616"/>
            <a:ext cx="3929062" cy="1214438"/>
            <a:chOff x="3214678" y="2857496"/>
            <a:chExt cx="3929090" cy="1214002"/>
          </a:xfrm>
        </p:grpSpPr>
        <p:graphicFrame>
          <p:nvGraphicFramePr>
            <p:cNvPr id="34823" name="Object 5"/>
            <p:cNvGraphicFramePr>
              <a:graphicFrameLocks noChangeAspect="1"/>
            </p:cNvGraphicFramePr>
            <p:nvPr/>
          </p:nvGraphicFramePr>
          <p:xfrm>
            <a:off x="3214678" y="2857496"/>
            <a:ext cx="1357322" cy="1214002"/>
          </p:xfrm>
          <a:graphic>
            <a:graphicData uri="http://schemas.openxmlformats.org/presentationml/2006/ole">
              <mc:AlternateContent xmlns:mc="http://schemas.openxmlformats.org/markup-compatibility/2006">
                <mc:Choice xmlns:v="urn:schemas-microsoft-com:vml" Requires="v">
                  <p:oleObj name="公式" r:id="rId6" imgW="508000" imgH="457200" progId="Equation.3">
                    <p:embed/>
                  </p:oleObj>
                </mc:Choice>
                <mc:Fallback>
                  <p:oleObj name="公式" r:id="rId6" imgW="508000" imgH="457200" progId="Equation.3">
                    <p:embed/>
                    <p:pic>
                      <p:nvPicPr>
                        <p:cNvPr id="34823"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214678" y="2857496"/>
                          <a:ext cx="1357322" cy="121400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4824" name="Object 7"/>
            <p:cNvGraphicFramePr>
              <a:graphicFrameLocks noChangeAspect="1"/>
            </p:cNvGraphicFramePr>
            <p:nvPr/>
          </p:nvGraphicFramePr>
          <p:xfrm>
            <a:off x="4572000" y="3143248"/>
            <a:ext cx="2571768" cy="571504"/>
          </p:xfrm>
          <a:graphic>
            <a:graphicData uri="http://schemas.openxmlformats.org/presentationml/2006/ole">
              <mc:AlternateContent xmlns:mc="http://schemas.openxmlformats.org/markup-compatibility/2006">
                <mc:Choice xmlns:v="urn:schemas-microsoft-com:vml" Requires="v">
                  <p:oleObj name="公式" r:id="rId8" imgW="1091726" imgH="215806" progId="Equation.3">
                    <p:embed/>
                  </p:oleObj>
                </mc:Choice>
                <mc:Fallback>
                  <p:oleObj name="公式" r:id="rId8" imgW="1091726" imgH="215806" progId="Equation.3">
                    <p:embed/>
                    <p:pic>
                      <p:nvPicPr>
                        <p:cNvPr id="34824" name="Object 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572000" y="3143248"/>
                          <a:ext cx="2571768" cy="57150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263178" name="Rectangle 10"/>
          <p:cNvSpPr>
            <a:spLocks noChangeArrowheads="1"/>
          </p:cNvSpPr>
          <p:nvPr/>
        </p:nvSpPr>
        <p:spPr bwMode="auto">
          <a:xfrm>
            <a:off x="1524001" y="-184666"/>
            <a:ext cx="184731" cy="369332"/>
          </a:xfrm>
          <a:prstGeom prst="rect">
            <a:avLst/>
          </a:prstGeom>
          <a:noFill/>
          <a:ln w="9525">
            <a:noFill/>
            <a:miter lim="800000"/>
            <a:headEnd/>
            <a:tailEnd/>
          </a:ln>
          <a:effectLst>
            <a:prstShdw prst="shdw17" dist="17961" dir="2700000">
              <a:schemeClr val="accent1">
                <a:gamma/>
                <a:shade val="60000"/>
                <a:invGamma/>
              </a:schemeClr>
            </a:prstShdw>
          </a:effectLst>
        </p:spPr>
        <p:txBody>
          <a:bodyPr wrap="none" anchor="ctr">
            <a:spAutoFit/>
          </a:bodyPr>
          <a:lstStyle/>
          <a:p>
            <a:pPr>
              <a:defRPr/>
            </a:pPr>
            <a:endParaRPr lang="zh-CN" altLang="en-US"/>
          </a:p>
        </p:txBody>
      </p:sp>
      <p:graphicFrame>
        <p:nvGraphicFramePr>
          <p:cNvPr id="34820" name="Object 9"/>
          <p:cNvGraphicFramePr>
            <a:graphicFrameLocks noChangeAspect="1"/>
          </p:cNvGraphicFramePr>
          <p:nvPr>
            <p:extLst>
              <p:ext uri="{D42A27DB-BD31-4B8C-83A1-F6EECF244321}">
                <p14:modId xmlns:p14="http://schemas.microsoft.com/office/powerpoint/2010/main" val="3938621189"/>
              </p:ext>
            </p:extLst>
          </p:nvPr>
        </p:nvGraphicFramePr>
        <p:xfrm>
          <a:off x="2923591" y="4206887"/>
          <a:ext cx="3619500" cy="571500"/>
        </p:xfrm>
        <a:graphic>
          <a:graphicData uri="http://schemas.openxmlformats.org/presentationml/2006/ole">
            <mc:AlternateContent xmlns:mc="http://schemas.openxmlformats.org/markup-compatibility/2006">
              <mc:Choice xmlns:v="urn:schemas-microsoft-com:vml" Requires="v">
                <p:oleObj name="公式" r:id="rId10" imgW="1447800" imgH="228600" progId="Equation.3">
                  <p:embed/>
                </p:oleObj>
              </mc:Choice>
              <mc:Fallback>
                <p:oleObj name="公式" r:id="rId10" imgW="1447800" imgH="228600" progId="Equation.3">
                  <p:embed/>
                  <p:pic>
                    <p:nvPicPr>
                      <p:cNvPr id="34820" name="Object 9"/>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923591" y="4206887"/>
                        <a:ext cx="3619500" cy="571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63180" name="Rectangle 12"/>
          <p:cNvSpPr>
            <a:spLocks noChangeArrowheads="1"/>
          </p:cNvSpPr>
          <p:nvPr/>
        </p:nvSpPr>
        <p:spPr bwMode="auto">
          <a:xfrm>
            <a:off x="1524001" y="-184666"/>
            <a:ext cx="184731" cy="369332"/>
          </a:xfrm>
          <a:prstGeom prst="rect">
            <a:avLst/>
          </a:prstGeom>
          <a:noFill/>
          <a:ln w="9525">
            <a:noFill/>
            <a:miter lim="800000"/>
            <a:headEnd/>
            <a:tailEnd/>
          </a:ln>
          <a:effectLst>
            <a:prstShdw prst="shdw17" dist="17961" dir="2700000">
              <a:schemeClr val="accent1">
                <a:gamma/>
                <a:shade val="60000"/>
                <a:invGamma/>
              </a:schemeClr>
            </a:prstShdw>
          </a:effectLst>
        </p:spPr>
        <p:txBody>
          <a:bodyPr wrap="none" anchor="ctr">
            <a:spAutoFit/>
          </a:bodyPr>
          <a:lstStyle/>
          <a:p>
            <a:pPr>
              <a:defRPr/>
            </a:pPr>
            <a:endParaRPr lang="zh-CN" altLang="en-US"/>
          </a:p>
        </p:txBody>
      </p:sp>
      <p:graphicFrame>
        <p:nvGraphicFramePr>
          <p:cNvPr id="34821" name="Object 11"/>
          <p:cNvGraphicFramePr>
            <a:graphicFrameLocks noChangeAspect="1"/>
          </p:cNvGraphicFramePr>
          <p:nvPr>
            <p:extLst>
              <p:ext uri="{D42A27DB-BD31-4B8C-83A1-F6EECF244321}">
                <p14:modId xmlns:p14="http://schemas.microsoft.com/office/powerpoint/2010/main" val="1238807154"/>
              </p:ext>
            </p:extLst>
          </p:nvPr>
        </p:nvGraphicFramePr>
        <p:xfrm>
          <a:off x="6877518" y="4186552"/>
          <a:ext cx="3429000" cy="547688"/>
        </p:xfrm>
        <a:graphic>
          <a:graphicData uri="http://schemas.openxmlformats.org/presentationml/2006/ole">
            <mc:AlternateContent xmlns:mc="http://schemas.openxmlformats.org/markup-compatibility/2006">
              <mc:Choice xmlns:v="urn:schemas-microsoft-com:vml" Requires="v">
                <p:oleObj name="公式" r:id="rId12" imgW="1435100" imgH="228600" progId="Equation.3">
                  <p:embed/>
                </p:oleObj>
              </mc:Choice>
              <mc:Fallback>
                <p:oleObj name="公式" r:id="rId12" imgW="1435100" imgH="228600" progId="Equation.3">
                  <p:embed/>
                  <p:pic>
                    <p:nvPicPr>
                      <p:cNvPr id="34821" name="Object 11"/>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877518" y="4186552"/>
                        <a:ext cx="3429000" cy="5476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7" name="矩形 16"/>
          <p:cNvSpPr/>
          <p:nvPr/>
        </p:nvSpPr>
        <p:spPr>
          <a:xfrm>
            <a:off x="2589165" y="5037011"/>
            <a:ext cx="4288353" cy="584775"/>
          </a:xfrm>
          <a:prstGeom prst="rect">
            <a:avLst/>
          </a:prstGeom>
        </p:spPr>
        <p:txBody>
          <a:bodyPr wrap="none">
            <a:spAutoFit/>
          </a:bodyPr>
          <a:lstStyle/>
          <a:p>
            <a:pPr>
              <a:defRPr/>
            </a:pPr>
            <a:r>
              <a:rPr lang="zh-CN" altLang="en-US" sz="3200" dirty="0">
                <a:solidFill>
                  <a:srgbClr val="2F5597"/>
                </a:solidFill>
                <a:latin typeface="微软雅黑" panose="020B0503020204020204" pitchFamily="34" charset="-122"/>
                <a:ea typeface="微软雅黑" panose="020B0503020204020204" pitchFamily="34" charset="-122"/>
              </a:rPr>
              <a:t>右侧检验的拒绝域为：</a:t>
            </a:r>
          </a:p>
        </p:txBody>
      </p:sp>
      <p:graphicFrame>
        <p:nvGraphicFramePr>
          <p:cNvPr id="34822" name="Object 8"/>
          <p:cNvGraphicFramePr>
            <a:graphicFrameLocks noChangeAspect="1"/>
          </p:cNvGraphicFramePr>
          <p:nvPr/>
        </p:nvGraphicFramePr>
        <p:xfrm>
          <a:off x="6667501" y="5072064"/>
          <a:ext cx="3000375" cy="574675"/>
        </p:xfrm>
        <a:graphic>
          <a:graphicData uri="http://schemas.openxmlformats.org/presentationml/2006/ole">
            <mc:AlternateContent xmlns:mc="http://schemas.openxmlformats.org/markup-compatibility/2006">
              <mc:Choice xmlns:v="urn:schemas-microsoft-com:vml" Requires="v">
                <p:oleObj name="公式" r:id="rId14" imgW="1346040" imgH="228600" progId="Equation.3">
                  <p:embed/>
                </p:oleObj>
              </mc:Choice>
              <mc:Fallback>
                <p:oleObj name="公式" r:id="rId14" imgW="1346040" imgH="228600" progId="Equation.3">
                  <p:embed/>
                  <p:pic>
                    <p:nvPicPr>
                      <p:cNvPr id="34822" name="Object 8"/>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6667501" y="5072064"/>
                        <a:ext cx="3000375" cy="5746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0" name="矩形 19"/>
          <p:cNvSpPr/>
          <p:nvPr/>
        </p:nvSpPr>
        <p:spPr>
          <a:xfrm>
            <a:off x="2166910" y="5786455"/>
            <a:ext cx="7786742" cy="544765"/>
          </a:xfrm>
          <a:prstGeom prst="rect">
            <a:avLst/>
          </a:prstGeom>
          <a:ln w="38100">
            <a:solidFill>
              <a:srgbClr val="0000FF"/>
            </a:solidFill>
          </a:ln>
        </p:spPr>
        <p:txBody>
          <a:bodyPr>
            <a:spAutoFit/>
          </a:bodyPr>
          <a:lstStyle/>
          <a:p>
            <a:pPr marL="0" lvl="1">
              <a:lnSpc>
                <a:spcPct val="105000"/>
              </a:lnSpc>
              <a:spcBef>
                <a:spcPts val="300"/>
              </a:spcBef>
              <a:defRPr/>
            </a:pPr>
            <a:r>
              <a:rPr lang="en-US" altLang="zh-CN" sz="2800" dirty="0">
                <a:ln>
                  <a:solidFill>
                    <a:srgbClr val="000000"/>
                  </a:solidFill>
                </a:ln>
                <a:solidFill>
                  <a:srgbClr val="000000"/>
                </a:solidFill>
              </a:rPr>
              <a:t>EXCEL</a:t>
            </a:r>
            <a:r>
              <a:rPr lang="zh-CN" altLang="en-US" sz="2800" dirty="0">
                <a:ln>
                  <a:solidFill>
                    <a:srgbClr val="000000"/>
                  </a:solidFill>
                </a:ln>
                <a:solidFill>
                  <a:srgbClr val="000000"/>
                </a:solidFill>
              </a:rPr>
              <a:t>数据分析</a:t>
            </a:r>
            <a:r>
              <a:rPr lang="en-US" altLang="zh-CN" sz="2800" dirty="0">
                <a:ln>
                  <a:solidFill>
                    <a:srgbClr val="000000"/>
                  </a:solidFill>
                </a:ln>
                <a:solidFill>
                  <a:srgbClr val="000000"/>
                </a:solidFill>
              </a:rPr>
              <a:t>—— </a:t>
            </a:r>
            <a:r>
              <a:rPr lang="en-US" altLang="zh-CN" sz="2800" dirty="0">
                <a:ln>
                  <a:solidFill>
                    <a:srgbClr val="000000"/>
                  </a:solidFill>
                </a:ln>
                <a:solidFill>
                  <a:srgbClr val="C00000"/>
                </a:solidFill>
              </a:rPr>
              <a:t>F</a:t>
            </a:r>
            <a:r>
              <a:rPr lang="zh-CN" altLang="en-US" sz="2800" dirty="0">
                <a:ln>
                  <a:solidFill>
                    <a:srgbClr val="000000"/>
                  </a:solidFill>
                </a:ln>
                <a:solidFill>
                  <a:srgbClr val="C00000"/>
                </a:solidFill>
              </a:rPr>
              <a:t>检验</a:t>
            </a:r>
            <a:r>
              <a:rPr lang="en-US" altLang="zh-CN" sz="2800" dirty="0">
                <a:ln>
                  <a:solidFill>
                    <a:srgbClr val="000000"/>
                  </a:solidFill>
                </a:ln>
                <a:solidFill>
                  <a:srgbClr val="C00000"/>
                </a:solidFill>
              </a:rPr>
              <a:t>: </a:t>
            </a:r>
            <a:r>
              <a:rPr lang="zh-CN" altLang="en-US" sz="2800" dirty="0">
                <a:ln>
                  <a:solidFill>
                    <a:srgbClr val="000000"/>
                  </a:solidFill>
                </a:ln>
                <a:solidFill>
                  <a:srgbClr val="C00000"/>
                </a:solidFill>
              </a:rPr>
              <a:t>双样本方差分析</a:t>
            </a:r>
          </a:p>
        </p:txBody>
      </p:sp>
    </p:spTree>
    <p:extLst>
      <p:ext uri="{BB962C8B-B14F-4D97-AF65-F5344CB8AC3E}">
        <p14:creationId xmlns:p14="http://schemas.microsoft.com/office/powerpoint/2010/main" val="23627397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wipe(down)">
                                      <p:cBhvr>
                                        <p:cTn id="7" dur="10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灯片编号占位符 5"/>
          <p:cNvSpPr>
            <a:spLocks noGrp="1"/>
          </p:cNvSpPr>
          <p:nvPr>
            <p:ph type="sldNum" sz="quarter" idx="4294967295"/>
          </p:nvPr>
        </p:nvSpPr>
        <p:spPr>
          <a:noFill/>
        </p:spPr>
        <p:txBody>
          <a:bodyPr/>
          <a:lstStyle/>
          <a:p>
            <a:r>
              <a:rPr lang="en-US" altLang="zh-CN">
                <a:ea typeface="宋体" pitchFamily="2" charset="-122"/>
              </a:rPr>
              <a:t>8--</a:t>
            </a:r>
            <a:fld id="{52D63D49-BC8A-4BCD-90AE-76EFD14892C4}" type="slidenum">
              <a:rPr lang="en-US" altLang="zh-CN" smtClean="0">
                <a:ea typeface="宋体" pitchFamily="2" charset="-122"/>
              </a:rPr>
              <a:pPr/>
              <a:t>81</a:t>
            </a:fld>
            <a:endParaRPr lang="en-US" altLang="zh-CN">
              <a:ea typeface="宋体" pitchFamily="2" charset="-122"/>
            </a:endParaRPr>
          </a:p>
        </p:txBody>
      </p:sp>
      <p:sp>
        <p:nvSpPr>
          <p:cNvPr id="107523" name="Rectangle 2"/>
          <p:cNvSpPr>
            <a:spLocks noGrp="1" noChangeArrowheads="1"/>
          </p:cNvSpPr>
          <p:nvPr>
            <p:ph type="title"/>
          </p:nvPr>
        </p:nvSpPr>
        <p:spPr>
          <a:xfrm>
            <a:off x="2024063" y="236023"/>
            <a:ext cx="7772400" cy="823913"/>
          </a:xfrm>
        </p:spPr>
        <p:txBody>
          <a:bodyPr/>
          <a:lstStyle/>
          <a:p>
            <a:pPr eaLnBrk="1" hangingPunct="1"/>
            <a:r>
              <a:rPr lang="en-US" altLang="zh-CN" sz="3600" b="1" dirty="0">
                <a:solidFill>
                  <a:srgbClr val="0070C0"/>
                </a:solidFill>
                <a:effectLst/>
              </a:rPr>
              <a:t>Excel</a:t>
            </a:r>
            <a:r>
              <a:rPr lang="zh-CN" altLang="en-US" sz="3600" b="1" dirty="0">
                <a:solidFill>
                  <a:srgbClr val="0070C0"/>
                </a:solidFill>
                <a:effectLst/>
              </a:rPr>
              <a:t>中两总体参数的假设检验</a:t>
            </a:r>
          </a:p>
        </p:txBody>
      </p:sp>
      <p:sp>
        <p:nvSpPr>
          <p:cNvPr id="107524" name="Rectangle 3"/>
          <p:cNvSpPr>
            <a:spLocks noGrp="1" noChangeArrowheads="1"/>
          </p:cNvSpPr>
          <p:nvPr>
            <p:ph type="body" idx="1"/>
          </p:nvPr>
        </p:nvSpPr>
        <p:spPr>
          <a:xfrm>
            <a:off x="2024063" y="1143001"/>
            <a:ext cx="7772400" cy="5357813"/>
          </a:xfrm>
        </p:spPr>
        <p:txBody>
          <a:bodyPr>
            <a:normAutofit lnSpcReduction="10000"/>
          </a:bodyPr>
          <a:lstStyle/>
          <a:p>
            <a:pPr>
              <a:lnSpc>
                <a:spcPct val="105000"/>
              </a:lnSpc>
              <a:spcBef>
                <a:spcPts val="300"/>
              </a:spcBef>
              <a:buNone/>
            </a:pPr>
            <a:r>
              <a:rPr lang="en-US" altLang="zh-CN" dirty="0">
                <a:latin typeface="Arial" pitchFamily="34" charset="0"/>
              </a:rPr>
              <a:t>“</a:t>
            </a:r>
            <a:r>
              <a:rPr lang="zh-CN" altLang="en-US" dirty="0">
                <a:latin typeface="Arial" pitchFamily="34" charset="0"/>
              </a:rPr>
              <a:t>数据”</a:t>
            </a:r>
            <a:r>
              <a:rPr lang="en-US" altLang="zh-CN" dirty="0">
                <a:latin typeface="Arial" pitchFamily="34" charset="0"/>
              </a:rPr>
              <a:t>——“</a:t>
            </a:r>
            <a:r>
              <a:rPr lang="zh-CN" altLang="en-US" dirty="0"/>
              <a:t>数据分析</a:t>
            </a:r>
            <a:r>
              <a:rPr lang="zh-CN" altLang="en-US" dirty="0">
                <a:latin typeface="Arial" pitchFamily="34" charset="0"/>
              </a:rPr>
              <a:t>”</a:t>
            </a:r>
            <a:r>
              <a:rPr lang="en-US" altLang="zh-CN" dirty="0">
                <a:latin typeface="Arial" pitchFamily="34" charset="0"/>
              </a:rPr>
              <a:t>——</a:t>
            </a:r>
            <a:endParaRPr lang="en-US" altLang="zh-CN" dirty="0"/>
          </a:p>
          <a:p>
            <a:pPr lvl="1">
              <a:lnSpc>
                <a:spcPct val="105000"/>
              </a:lnSpc>
              <a:spcBef>
                <a:spcPts val="300"/>
              </a:spcBef>
            </a:pPr>
            <a:r>
              <a:rPr lang="en-US" altLang="zh-CN" dirty="0"/>
              <a:t>Z</a:t>
            </a:r>
            <a:r>
              <a:rPr lang="zh-CN" altLang="en-US" dirty="0"/>
              <a:t>检验</a:t>
            </a:r>
            <a:r>
              <a:rPr lang="en-US" altLang="zh-CN" dirty="0"/>
              <a:t>: </a:t>
            </a:r>
            <a:r>
              <a:rPr lang="zh-CN" altLang="en-US" dirty="0"/>
              <a:t>双样本平均差检验</a:t>
            </a:r>
          </a:p>
          <a:p>
            <a:pPr marL="533400" lvl="2" indent="0">
              <a:lnSpc>
                <a:spcPct val="105000"/>
              </a:lnSpc>
              <a:spcBef>
                <a:spcPts val="300"/>
              </a:spcBef>
            </a:pPr>
            <a:r>
              <a:rPr lang="zh-CN" altLang="en-US" dirty="0">
                <a:solidFill>
                  <a:schemeClr val="tx1"/>
                </a:solidFill>
              </a:rPr>
              <a:t>适用于两个正态总体方差已知的情形；</a:t>
            </a:r>
          </a:p>
          <a:p>
            <a:pPr lvl="1">
              <a:lnSpc>
                <a:spcPct val="105000"/>
              </a:lnSpc>
              <a:spcBef>
                <a:spcPts val="300"/>
              </a:spcBef>
            </a:pPr>
            <a:r>
              <a:rPr lang="en-US" altLang="zh-CN" dirty="0"/>
              <a:t>t</a:t>
            </a:r>
            <a:r>
              <a:rPr lang="zh-CN" altLang="en-US" dirty="0"/>
              <a:t>检验</a:t>
            </a:r>
            <a:r>
              <a:rPr lang="en-US" altLang="zh-CN" dirty="0"/>
              <a:t>: </a:t>
            </a:r>
            <a:r>
              <a:rPr lang="zh-CN" altLang="en-US" dirty="0"/>
              <a:t>双样本等方差假设</a:t>
            </a:r>
          </a:p>
          <a:p>
            <a:pPr marL="533400" lvl="2" indent="0">
              <a:lnSpc>
                <a:spcPct val="105000"/>
              </a:lnSpc>
              <a:spcBef>
                <a:spcPts val="300"/>
              </a:spcBef>
            </a:pPr>
            <a:r>
              <a:rPr lang="zh-CN" altLang="en-US" dirty="0">
                <a:solidFill>
                  <a:schemeClr val="tx1"/>
                </a:solidFill>
              </a:rPr>
              <a:t>适用于两个正态总体方差未知但相等的情形；</a:t>
            </a:r>
          </a:p>
          <a:p>
            <a:pPr lvl="1">
              <a:lnSpc>
                <a:spcPct val="105000"/>
              </a:lnSpc>
              <a:spcBef>
                <a:spcPts val="300"/>
              </a:spcBef>
            </a:pPr>
            <a:r>
              <a:rPr lang="en-US" altLang="zh-CN" dirty="0"/>
              <a:t>t</a:t>
            </a:r>
            <a:r>
              <a:rPr lang="zh-CN" altLang="en-US" dirty="0"/>
              <a:t>检验</a:t>
            </a:r>
            <a:r>
              <a:rPr lang="en-US" altLang="zh-CN" dirty="0"/>
              <a:t>: </a:t>
            </a:r>
            <a:r>
              <a:rPr lang="zh-CN" altLang="en-US" dirty="0"/>
              <a:t>双样本异方差假设</a:t>
            </a:r>
          </a:p>
          <a:p>
            <a:pPr marL="533400" lvl="2" indent="0">
              <a:lnSpc>
                <a:spcPct val="105000"/>
              </a:lnSpc>
              <a:spcBef>
                <a:spcPts val="300"/>
              </a:spcBef>
            </a:pPr>
            <a:r>
              <a:rPr lang="zh-CN" altLang="en-US" dirty="0">
                <a:solidFill>
                  <a:schemeClr val="tx1"/>
                </a:solidFill>
              </a:rPr>
              <a:t>适用于两个正态总体方差未知且不相等的情形；</a:t>
            </a:r>
          </a:p>
          <a:p>
            <a:pPr lvl="1">
              <a:lnSpc>
                <a:spcPct val="105000"/>
              </a:lnSpc>
              <a:spcBef>
                <a:spcPts val="300"/>
              </a:spcBef>
            </a:pPr>
            <a:r>
              <a:rPr lang="en-US" altLang="zh-CN" dirty="0"/>
              <a:t>t</a:t>
            </a:r>
            <a:r>
              <a:rPr lang="zh-CN" altLang="en-US" dirty="0"/>
              <a:t>检验</a:t>
            </a:r>
            <a:r>
              <a:rPr lang="en-US" altLang="zh-CN" dirty="0"/>
              <a:t>: </a:t>
            </a:r>
            <a:r>
              <a:rPr lang="zh-CN" altLang="en-US" dirty="0"/>
              <a:t>平均值的成对二样本分析</a:t>
            </a:r>
          </a:p>
          <a:p>
            <a:pPr marL="533400" lvl="2" indent="0">
              <a:lnSpc>
                <a:spcPct val="115000"/>
              </a:lnSpc>
              <a:spcBef>
                <a:spcPts val="300"/>
              </a:spcBef>
            </a:pPr>
            <a:r>
              <a:rPr lang="zh-CN" altLang="en-US" dirty="0">
                <a:solidFill>
                  <a:schemeClr val="tx1"/>
                </a:solidFill>
              </a:rPr>
              <a:t> 适用于成对样本时对两正态总体均值差的检验。</a:t>
            </a:r>
            <a:endParaRPr lang="en-US" altLang="zh-CN" dirty="0">
              <a:solidFill>
                <a:schemeClr val="tx1"/>
              </a:solidFill>
            </a:endParaRPr>
          </a:p>
          <a:p>
            <a:pPr lvl="1">
              <a:lnSpc>
                <a:spcPct val="105000"/>
              </a:lnSpc>
              <a:spcBef>
                <a:spcPts val="300"/>
              </a:spcBef>
            </a:pPr>
            <a:r>
              <a:rPr lang="en-US" altLang="zh-CN" dirty="0"/>
              <a:t>F-</a:t>
            </a:r>
            <a:r>
              <a:rPr lang="zh-CN" altLang="en-US" dirty="0"/>
              <a:t>检验 </a:t>
            </a:r>
            <a:r>
              <a:rPr lang="en-US" altLang="zh-CN" dirty="0"/>
              <a:t>:</a:t>
            </a:r>
            <a:r>
              <a:rPr lang="zh-CN" altLang="en-US" dirty="0"/>
              <a:t>双样本方差分析</a:t>
            </a:r>
            <a:endParaRPr lang="en-US" altLang="zh-CN" dirty="0"/>
          </a:p>
          <a:p>
            <a:pPr marL="533400" lvl="2" indent="0">
              <a:lnSpc>
                <a:spcPct val="125000"/>
              </a:lnSpc>
              <a:spcBef>
                <a:spcPts val="300"/>
              </a:spcBef>
            </a:pPr>
            <a:r>
              <a:rPr lang="zh-CN" altLang="en-US" dirty="0">
                <a:solidFill>
                  <a:schemeClr val="tx1"/>
                </a:solidFill>
              </a:rPr>
              <a:t>适用于两个正态总体方差相等性的检验</a:t>
            </a:r>
          </a:p>
        </p:txBody>
      </p:sp>
      <p:sp>
        <p:nvSpPr>
          <p:cNvPr id="107525" name="AutoShape 5"/>
          <p:cNvSpPr>
            <a:spLocks noChangeArrowheads="1"/>
          </p:cNvSpPr>
          <p:nvPr/>
        </p:nvSpPr>
        <p:spPr bwMode="auto">
          <a:xfrm>
            <a:off x="7990841" y="6145213"/>
            <a:ext cx="1187450" cy="620713"/>
          </a:xfrm>
          <a:custGeom>
            <a:avLst/>
            <a:gdLst>
              <a:gd name="T0" fmla="*/ 2147483647 w 21600"/>
              <a:gd name="T1" fmla="*/ 0 h 21600"/>
              <a:gd name="T2" fmla="*/ 0 w 21600"/>
              <a:gd name="T3" fmla="*/ 2147483647 h 21600"/>
              <a:gd name="T4" fmla="*/ 2147483647 w 21600"/>
              <a:gd name="T5" fmla="*/ 2147483647 h 21600"/>
              <a:gd name="T6" fmla="*/ 2147483647 w 21600"/>
              <a:gd name="T7" fmla="*/ 2147483647 h 21600"/>
              <a:gd name="T8" fmla="*/ 17694720 60000 65536"/>
              <a:gd name="T9" fmla="*/ 11796480 60000 65536"/>
              <a:gd name="T10" fmla="*/ 5898240 60000 65536"/>
              <a:gd name="T11" fmla="*/ 0 60000 65536"/>
              <a:gd name="T12" fmla="*/ 3375 w 21600"/>
              <a:gd name="T13" fmla="*/ 5400 h 21600"/>
              <a:gd name="T14" fmla="*/ 18900 w 21600"/>
              <a:gd name="T15" fmla="*/ 16200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solidFill>
            <a:schemeClr val="accent1"/>
          </a:solidFill>
          <a:ln w="9525">
            <a:solidFill>
              <a:schemeClr val="tx1"/>
            </a:solidFill>
            <a:miter lim="800000"/>
            <a:headEnd/>
            <a:tailEnd/>
          </a:ln>
        </p:spPr>
        <p:txBody>
          <a:bodyPr wrap="none" anchor="ctr"/>
          <a:lstStyle/>
          <a:p>
            <a:endParaRPr lang="zh-CN" altLang="en-US"/>
          </a:p>
        </p:txBody>
      </p:sp>
      <p:sp>
        <p:nvSpPr>
          <p:cNvPr id="107526" name="Text Box 6"/>
          <p:cNvSpPr txBox="1">
            <a:spLocks noChangeArrowheads="1"/>
          </p:cNvSpPr>
          <p:nvPr/>
        </p:nvSpPr>
        <p:spPr bwMode="auto">
          <a:xfrm>
            <a:off x="8278178" y="6305830"/>
            <a:ext cx="900113" cy="336550"/>
          </a:xfrm>
          <a:prstGeom prst="rect">
            <a:avLst/>
          </a:prstGeom>
          <a:noFill/>
          <a:ln w="9525">
            <a:noFill/>
            <a:miter lim="800000"/>
            <a:headEnd/>
            <a:tailEnd/>
          </a:ln>
        </p:spPr>
        <p:txBody>
          <a:bodyPr>
            <a:spAutoFit/>
          </a:bodyPr>
          <a:lstStyle/>
          <a:p>
            <a:pPr>
              <a:spcBef>
                <a:spcPct val="50000"/>
              </a:spcBef>
            </a:pPr>
            <a:r>
              <a:rPr lang="en-US" altLang="zh-CN" sz="1600" dirty="0">
                <a:solidFill>
                  <a:schemeClr val="tx2"/>
                </a:solidFill>
              </a:rPr>
              <a:t>EXCEL</a:t>
            </a:r>
          </a:p>
        </p:txBody>
      </p:sp>
    </p:spTree>
    <p:extLst>
      <p:ext uri="{BB962C8B-B14F-4D97-AF65-F5344CB8AC3E}">
        <p14:creationId xmlns:p14="http://schemas.microsoft.com/office/powerpoint/2010/main" val="1595896495"/>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350507" y="177800"/>
            <a:ext cx="7743191" cy="662782"/>
          </a:xfrm>
        </p:spPr>
        <p:txBody>
          <a:bodyPr>
            <a:normAutofit/>
          </a:bodyPr>
          <a:lstStyle/>
          <a:p>
            <a:r>
              <a:rPr lang="zh-CN" altLang="en-US" sz="3600" b="1" dirty="0">
                <a:solidFill>
                  <a:srgbClr val="0070C0"/>
                </a:solidFill>
                <a:effectLst/>
              </a:rPr>
              <a:t>假设检验小结</a:t>
            </a:r>
          </a:p>
        </p:txBody>
      </p:sp>
      <p:sp>
        <p:nvSpPr>
          <p:cNvPr id="4" name="灯片编号占位符 3"/>
          <p:cNvSpPr>
            <a:spLocks noGrp="1"/>
          </p:cNvSpPr>
          <p:nvPr>
            <p:ph type="sldNum" sz="quarter" idx="4294967295"/>
          </p:nvPr>
        </p:nvSpPr>
        <p:spPr/>
        <p:txBody>
          <a:bodyPr/>
          <a:lstStyle/>
          <a:p>
            <a:pPr>
              <a:defRPr/>
            </a:pPr>
            <a:r>
              <a:rPr lang="en-US" altLang="zh-CN"/>
              <a:t>8--</a:t>
            </a:r>
            <a:fld id="{97A183CF-5E87-4200-B056-C6B35C40A39F}" type="slidenum">
              <a:rPr lang="en-US" altLang="zh-CN" smtClean="0"/>
              <a:pPr>
                <a:defRPr/>
              </a:pPr>
              <a:t>82</a:t>
            </a:fld>
            <a:endParaRPr lang="en-US" altLang="zh-CN"/>
          </a:p>
        </p:txBody>
      </p:sp>
      <p:sp>
        <p:nvSpPr>
          <p:cNvPr id="5" name="Rectangle 3"/>
          <p:cNvSpPr txBox="1">
            <a:spLocks noChangeArrowheads="1"/>
          </p:cNvSpPr>
          <p:nvPr/>
        </p:nvSpPr>
        <p:spPr bwMode="auto">
          <a:xfrm>
            <a:off x="1308100" y="1120689"/>
            <a:ext cx="9359900" cy="5373216"/>
          </a:xfrm>
          <a:prstGeom prst="rect">
            <a:avLst/>
          </a:prstGeom>
          <a:noFill/>
          <a:ln w="9525">
            <a:noFill/>
            <a:miter lim="800000"/>
            <a:headEnd/>
            <a:tailEnd/>
          </a:ln>
        </p:spPr>
        <p:txBody>
          <a:bodyPr vert="horz" wrap="square" lIns="90488" tIns="44450" rIns="90488" bIns="44450" numCol="1" anchor="t" anchorCtr="0" compatLnSpc="1">
            <a:prstTxWarp prst="textNoShape">
              <a:avLst/>
            </a:prstTxWarp>
          </a:bodyPr>
          <a:lstStyle/>
          <a:p>
            <a:pPr indent="266700" eaLnBrk="0" hangingPunct="0">
              <a:lnSpc>
                <a:spcPct val="114000"/>
              </a:lnSpc>
              <a:spcBef>
                <a:spcPts val="600"/>
              </a:spcBef>
              <a:buSzPct val="90000"/>
              <a:buFont typeface="Wingdings" panose="05000000000000000000" pitchFamily="2" charset="2"/>
              <a:buChar char="Ø"/>
            </a:pPr>
            <a:r>
              <a:rPr lang="zh-CN" altLang="en-US" sz="2800" b="1" kern="0" dirty="0">
                <a:solidFill>
                  <a:srgbClr val="000000"/>
                </a:solidFill>
              </a:rPr>
              <a:t>假设检验的基本概念：</a:t>
            </a:r>
            <a:r>
              <a:rPr lang="zh-CN" altLang="en-US" sz="2800" kern="0" dirty="0">
                <a:solidFill>
                  <a:srgbClr val="000000"/>
                </a:solidFill>
              </a:rPr>
              <a:t>原假设，备择假设，检验统计量，单侧（左侧，右侧）检验，双侧检验，临界值，拒绝域，显著性水平，</a:t>
            </a:r>
            <a:r>
              <a:rPr lang="en-US" altLang="zh-CN" sz="2800" kern="0" dirty="0">
                <a:solidFill>
                  <a:srgbClr val="000000"/>
                </a:solidFill>
              </a:rPr>
              <a:t>P</a:t>
            </a:r>
            <a:r>
              <a:rPr lang="zh-CN" altLang="en-US" sz="2800" kern="0" dirty="0">
                <a:solidFill>
                  <a:srgbClr val="000000"/>
                </a:solidFill>
              </a:rPr>
              <a:t>值，两类错误</a:t>
            </a:r>
            <a:endParaRPr lang="en-US" altLang="zh-CN" sz="2800" kern="0" dirty="0">
              <a:solidFill>
                <a:srgbClr val="000000"/>
              </a:solidFill>
            </a:endParaRPr>
          </a:p>
          <a:p>
            <a:pPr indent="266700" eaLnBrk="0" hangingPunct="0">
              <a:lnSpc>
                <a:spcPct val="114000"/>
              </a:lnSpc>
              <a:spcBef>
                <a:spcPts val="600"/>
              </a:spcBef>
              <a:buSzPct val="90000"/>
              <a:buFont typeface="Wingdings" panose="05000000000000000000" pitchFamily="2" charset="2"/>
              <a:buChar char="Ø"/>
            </a:pPr>
            <a:r>
              <a:rPr lang="zh-CN" altLang="en-US" sz="2800" b="1" kern="0" dirty="0">
                <a:solidFill>
                  <a:srgbClr val="000000"/>
                </a:solidFill>
              </a:rPr>
              <a:t>假设检验基本思想，一般步骤，</a:t>
            </a:r>
            <a:r>
              <a:rPr lang="en-US" altLang="zh-CN" sz="2800" b="1" i="1" kern="0" dirty="0">
                <a:solidFill>
                  <a:srgbClr val="000000"/>
                </a:solidFill>
              </a:rPr>
              <a:t>α </a:t>
            </a:r>
            <a:r>
              <a:rPr lang="zh-CN" altLang="en-US" sz="2800" b="1" kern="0" dirty="0">
                <a:solidFill>
                  <a:srgbClr val="000000"/>
                </a:solidFill>
              </a:rPr>
              <a:t>和</a:t>
            </a:r>
            <a:r>
              <a:rPr lang="en-US" altLang="zh-CN" sz="2800" b="1" i="1" kern="0" dirty="0">
                <a:solidFill>
                  <a:srgbClr val="000000"/>
                </a:solidFill>
              </a:rPr>
              <a:t>β </a:t>
            </a:r>
            <a:r>
              <a:rPr lang="zh-CN" altLang="en-US" sz="2800" b="1" kern="0" dirty="0">
                <a:solidFill>
                  <a:srgbClr val="000000"/>
                </a:solidFill>
              </a:rPr>
              <a:t>的关系。</a:t>
            </a:r>
          </a:p>
          <a:p>
            <a:pPr indent="266700" eaLnBrk="0" fontAlgn="base" hangingPunct="0">
              <a:lnSpc>
                <a:spcPct val="114000"/>
              </a:lnSpc>
              <a:spcBef>
                <a:spcPts val="600"/>
              </a:spcBef>
              <a:spcAft>
                <a:spcPct val="0"/>
              </a:spcAft>
              <a:buSzPct val="90000"/>
              <a:buFont typeface="Wingdings" panose="05000000000000000000" pitchFamily="2" charset="2"/>
              <a:buChar char="Ø"/>
              <a:defRPr/>
            </a:pPr>
            <a:r>
              <a:rPr lang="zh-CN" altLang="en-US" sz="2800" b="1" kern="0" dirty="0">
                <a:solidFill>
                  <a:srgbClr val="000000"/>
                </a:solidFill>
              </a:rPr>
              <a:t>参数检验主要包括总体均值、总体方差和总体比例的检验。检验方法有</a:t>
            </a:r>
            <a:r>
              <a:rPr lang="en-US" altLang="zh-CN" sz="2800" b="1" kern="0" dirty="0">
                <a:solidFill>
                  <a:srgbClr val="000000"/>
                </a:solidFill>
              </a:rPr>
              <a:t>Z</a:t>
            </a:r>
            <a:r>
              <a:rPr lang="zh-CN" altLang="en-US" sz="2800" b="1" kern="0" dirty="0">
                <a:solidFill>
                  <a:srgbClr val="000000"/>
                </a:solidFill>
              </a:rPr>
              <a:t>检验、</a:t>
            </a:r>
            <a:r>
              <a:rPr lang="en-US" altLang="zh-CN" sz="2800" b="1" i="1" kern="0" dirty="0">
                <a:solidFill>
                  <a:srgbClr val="000000"/>
                </a:solidFill>
              </a:rPr>
              <a:t>t </a:t>
            </a:r>
            <a:r>
              <a:rPr lang="zh-CN" altLang="en-US" sz="2800" b="1" kern="0" dirty="0">
                <a:solidFill>
                  <a:srgbClr val="000000"/>
                </a:solidFill>
              </a:rPr>
              <a:t>检验、</a:t>
            </a:r>
            <a:r>
              <a:rPr lang="el-GR" altLang="zh-CN" sz="2800" b="1" kern="0" dirty="0">
                <a:solidFill>
                  <a:srgbClr val="000000"/>
                </a:solidFill>
                <a:latin typeface="Times New Roman"/>
                <a:cs typeface="Times New Roman"/>
              </a:rPr>
              <a:t>χ</a:t>
            </a:r>
            <a:r>
              <a:rPr lang="en-US" altLang="zh-CN" sz="2800" b="1" kern="0" dirty="0">
                <a:solidFill>
                  <a:srgbClr val="000000"/>
                </a:solidFill>
                <a:latin typeface="Times New Roman"/>
                <a:cs typeface="Times New Roman"/>
              </a:rPr>
              <a:t>2</a:t>
            </a:r>
            <a:r>
              <a:rPr lang="zh-CN" altLang="en-US" sz="2800" b="1" kern="0" dirty="0">
                <a:solidFill>
                  <a:srgbClr val="000000"/>
                </a:solidFill>
              </a:rPr>
              <a:t>检验、</a:t>
            </a:r>
            <a:r>
              <a:rPr lang="en-US" altLang="zh-CN" sz="2800" b="1" i="1" kern="0" dirty="0">
                <a:solidFill>
                  <a:srgbClr val="000000"/>
                </a:solidFill>
              </a:rPr>
              <a:t>F </a:t>
            </a:r>
            <a:r>
              <a:rPr lang="zh-CN" altLang="en-US" sz="2800" b="1" kern="0" dirty="0">
                <a:solidFill>
                  <a:srgbClr val="000000"/>
                </a:solidFill>
              </a:rPr>
              <a:t>检验等等</a:t>
            </a:r>
            <a:endParaRPr lang="en-US" altLang="zh-CN" sz="2800" b="1" kern="0" dirty="0">
              <a:solidFill>
                <a:srgbClr val="000000"/>
              </a:solidFill>
            </a:endParaRPr>
          </a:p>
          <a:p>
            <a:pPr indent="266700" eaLnBrk="0" fontAlgn="base" hangingPunct="0">
              <a:lnSpc>
                <a:spcPct val="114000"/>
              </a:lnSpc>
              <a:spcBef>
                <a:spcPts val="600"/>
              </a:spcBef>
              <a:spcAft>
                <a:spcPct val="0"/>
              </a:spcAft>
              <a:buSzPct val="80000"/>
              <a:buBlip>
                <a:blip r:embed="rId2"/>
              </a:buBlip>
              <a:defRPr/>
            </a:pPr>
            <a:r>
              <a:rPr lang="zh-CN" altLang="en-US" sz="2800" b="1" kern="0" dirty="0">
                <a:solidFill>
                  <a:srgbClr val="7030A0"/>
                </a:solidFill>
                <a:latin typeface="黑体" panose="02010609060101010101" pitchFamily="49" charset="-122"/>
                <a:ea typeface="黑体" panose="02010609060101010101" pitchFamily="49" charset="-122"/>
              </a:rPr>
              <a:t>要求：熟练掌握一个总体参数的假设检验</a:t>
            </a:r>
            <a:endParaRPr lang="en-US" altLang="zh-CN" sz="2800" b="1" kern="0" dirty="0">
              <a:solidFill>
                <a:srgbClr val="7030A0"/>
              </a:solidFill>
              <a:latin typeface="黑体" panose="02010609060101010101" pitchFamily="49" charset="-122"/>
              <a:ea typeface="黑体" panose="02010609060101010101" pitchFamily="49" charset="-122"/>
            </a:endParaRPr>
          </a:p>
          <a:p>
            <a:pPr marL="0" lvl="1" indent="266700" eaLnBrk="0" fontAlgn="base" hangingPunct="0">
              <a:lnSpc>
                <a:spcPct val="114000"/>
              </a:lnSpc>
              <a:spcBef>
                <a:spcPts val="600"/>
              </a:spcBef>
              <a:spcAft>
                <a:spcPct val="0"/>
              </a:spcAft>
              <a:buSzPct val="80000"/>
              <a:defRPr/>
            </a:pPr>
            <a:r>
              <a:rPr lang="zh-CN" altLang="en-US" sz="2400" b="1" kern="0" dirty="0"/>
              <a:t>（了解）两总体参数之差（或比）的检验</a:t>
            </a:r>
            <a:r>
              <a:rPr lang="en-US" altLang="zh-CN" sz="2400" b="1" kern="0" dirty="0"/>
              <a:t>——</a:t>
            </a:r>
            <a:r>
              <a:rPr lang="zh-CN" altLang="en-US" sz="2400" b="1" kern="0" dirty="0"/>
              <a:t>利用</a:t>
            </a:r>
            <a:r>
              <a:rPr lang="en-US" altLang="zh-CN" sz="2400" b="1" kern="0" dirty="0"/>
              <a:t>EXCEL</a:t>
            </a:r>
            <a:r>
              <a:rPr lang="zh-CN" altLang="en-US" sz="2400" b="1" kern="0" dirty="0"/>
              <a:t>得出计算结果；注意它们与单总体参数的假设检验之间的联系与区别</a:t>
            </a:r>
            <a:endParaRPr lang="en-US" altLang="zh-CN" sz="2400" b="1" kern="0" dirty="0"/>
          </a:p>
        </p:txBody>
      </p:sp>
    </p:spTree>
    <p:extLst>
      <p:ext uri="{BB962C8B-B14F-4D97-AF65-F5344CB8AC3E}">
        <p14:creationId xmlns:p14="http://schemas.microsoft.com/office/powerpoint/2010/main" val="2338743938"/>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33"/>
          <p:cNvSpPr>
            <a:spLocks noGrp="1" noChangeArrowheads="1"/>
          </p:cNvSpPr>
          <p:nvPr>
            <p:ph type="sldNum" sz="quarter" idx="4294967295"/>
          </p:nvPr>
        </p:nvSpPr>
        <p:spPr>
          <a:xfrm>
            <a:off x="8763000" y="6400800"/>
            <a:ext cx="1905000" cy="457200"/>
          </a:xfrm>
          <a:noFill/>
        </p:spPr>
        <p:txBody>
          <a:bodyPr/>
          <a:lstStyle/>
          <a:p>
            <a:r>
              <a:rPr lang="en-US" altLang="zh-CN">
                <a:ea typeface="宋体" pitchFamily="2" charset="-122"/>
              </a:rPr>
              <a:t>8.4--</a:t>
            </a:r>
            <a:fld id="{83B5F727-77D4-4C9A-A4B9-BDEA4535348E}" type="slidenum">
              <a:rPr lang="en-US" altLang="zh-CN">
                <a:ea typeface="宋体" pitchFamily="2" charset="-122"/>
              </a:rPr>
              <a:pPr/>
              <a:t>83</a:t>
            </a:fld>
            <a:endParaRPr lang="en-US" altLang="zh-CN">
              <a:ea typeface="宋体" pitchFamily="2" charset="-122"/>
            </a:endParaRPr>
          </a:p>
        </p:txBody>
      </p:sp>
      <p:sp>
        <p:nvSpPr>
          <p:cNvPr id="109571" name="Rectangle 2"/>
          <p:cNvSpPr>
            <a:spLocks noGrp="1" noChangeArrowheads="1"/>
          </p:cNvSpPr>
          <p:nvPr>
            <p:ph type="ctrTitle"/>
          </p:nvPr>
        </p:nvSpPr>
        <p:spPr>
          <a:xfrm>
            <a:off x="2046288" y="1306513"/>
            <a:ext cx="7777162" cy="2087562"/>
          </a:xfrm>
          <a:noFill/>
        </p:spPr>
        <p:txBody>
          <a:bodyPr>
            <a:noAutofit/>
          </a:bodyPr>
          <a:lstStyle/>
          <a:p>
            <a:pPr>
              <a:lnSpc>
                <a:spcPct val="110000"/>
              </a:lnSpc>
            </a:pPr>
            <a:r>
              <a:rPr lang="en-US" altLang="zh-CN" sz="4400" dirty="0"/>
              <a:t>8.4   </a:t>
            </a:r>
            <a:r>
              <a:rPr lang="zh-CN" altLang="en-US" sz="4400" dirty="0"/>
              <a:t>多个总体均值的比较</a:t>
            </a:r>
            <a:br>
              <a:rPr lang="zh-CN" altLang="en-US" sz="4400" dirty="0"/>
            </a:br>
            <a:r>
              <a:rPr lang="en-US" altLang="zh-CN" sz="4400" dirty="0">
                <a:latin typeface="Arial" pitchFamily="34" charset="0"/>
              </a:rPr>
              <a:t>——</a:t>
            </a:r>
            <a:r>
              <a:rPr lang="zh-CN" altLang="en-US" sz="4400" dirty="0"/>
              <a:t>单因素方差分析 </a:t>
            </a:r>
          </a:p>
        </p:txBody>
      </p:sp>
      <p:pic>
        <p:nvPicPr>
          <p:cNvPr id="109572" name="Picture 4" descr="GL_038">
            <a:hlinkClick r:id="" action="ppaction://noaction"/>
          </p:cNvPr>
          <p:cNvPicPr>
            <a:picLocks noChangeAspect="1" noChangeArrowheads="1" noCrop="1"/>
          </p:cNvPicPr>
          <p:nvPr/>
        </p:nvPicPr>
        <p:blipFill>
          <a:blip r:embed="rId2" cstate="print"/>
          <a:srcRect/>
          <a:stretch>
            <a:fillRect/>
          </a:stretch>
        </p:blipFill>
        <p:spPr bwMode="auto">
          <a:xfrm>
            <a:off x="190500" y="396875"/>
            <a:ext cx="819150" cy="819150"/>
          </a:xfrm>
          <a:prstGeom prst="rect">
            <a:avLst/>
          </a:prstGeom>
          <a:noFill/>
          <a:ln w="9525">
            <a:noFill/>
            <a:miter lim="800000"/>
            <a:headEnd/>
            <a:tailEnd/>
          </a:ln>
        </p:spPr>
      </p:pic>
      <p:sp>
        <p:nvSpPr>
          <p:cNvPr id="109573" name="Rectangle 5"/>
          <p:cNvSpPr>
            <a:spLocks noGrp="1" noChangeArrowheads="1"/>
          </p:cNvSpPr>
          <p:nvPr>
            <p:ph type="subTitle" idx="1"/>
          </p:nvPr>
        </p:nvSpPr>
        <p:spPr>
          <a:xfrm>
            <a:off x="3048000" y="3394075"/>
            <a:ext cx="6921500" cy="2219325"/>
          </a:xfrm>
          <a:noFill/>
        </p:spPr>
        <p:txBody>
          <a:bodyPr>
            <a:noAutofit/>
          </a:bodyPr>
          <a:lstStyle/>
          <a:p>
            <a:pPr algn="l"/>
            <a:r>
              <a:rPr lang="en-US" altLang="zh-CN" sz="3600" dirty="0">
                <a:solidFill>
                  <a:srgbClr val="0070C0"/>
                </a:solidFill>
              </a:rPr>
              <a:t>8.4.1 </a:t>
            </a:r>
            <a:r>
              <a:rPr lang="zh-CN" altLang="en-US" sz="3600" dirty="0">
                <a:solidFill>
                  <a:srgbClr val="0070C0"/>
                </a:solidFill>
              </a:rPr>
              <a:t>问题的提出</a:t>
            </a:r>
          </a:p>
          <a:p>
            <a:pPr algn="l"/>
            <a:r>
              <a:rPr lang="en-US" altLang="zh-CN" sz="3600" dirty="0">
                <a:solidFill>
                  <a:srgbClr val="0070C0"/>
                </a:solidFill>
              </a:rPr>
              <a:t>8.4.2 </a:t>
            </a:r>
            <a:r>
              <a:rPr lang="zh-CN" altLang="en-US" sz="3600" dirty="0">
                <a:solidFill>
                  <a:srgbClr val="0070C0"/>
                </a:solidFill>
              </a:rPr>
              <a:t>单因素方差分析的基本原理</a:t>
            </a:r>
          </a:p>
          <a:p>
            <a:pPr algn="l"/>
            <a:r>
              <a:rPr lang="en-US" altLang="zh-CN" sz="3600" dirty="0">
                <a:solidFill>
                  <a:srgbClr val="0070C0"/>
                </a:solidFill>
              </a:rPr>
              <a:t>8.4.3 </a:t>
            </a:r>
            <a:r>
              <a:rPr lang="zh-CN" altLang="en-US" sz="3600" dirty="0">
                <a:solidFill>
                  <a:srgbClr val="0070C0"/>
                </a:solidFill>
              </a:rPr>
              <a:t>单因素方差分析的的应用 </a:t>
            </a:r>
          </a:p>
        </p:txBody>
      </p:sp>
    </p:spTree>
    <p:extLst>
      <p:ext uri="{BB962C8B-B14F-4D97-AF65-F5344CB8AC3E}">
        <p14:creationId xmlns:p14="http://schemas.microsoft.com/office/powerpoint/2010/main" val="4219001064"/>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0596" name="Rectangle 3"/>
          <p:cNvSpPr>
            <a:spLocks noGrp="1" noChangeArrowheads="1"/>
          </p:cNvSpPr>
          <p:nvPr>
            <p:ph type="title"/>
          </p:nvPr>
        </p:nvSpPr>
        <p:spPr>
          <a:xfrm>
            <a:off x="1498600" y="455375"/>
            <a:ext cx="7340600" cy="662782"/>
          </a:xfrm>
        </p:spPr>
        <p:txBody>
          <a:bodyPr>
            <a:normAutofit/>
          </a:bodyPr>
          <a:lstStyle/>
          <a:p>
            <a:r>
              <a:rPr lang="zh-CN" altLang="en-US" sz="4000" b="1" dirty="0">
                <a:solidFill>
                  <a:srgbClr val="0070C0"/>
                </a:solidFill>
                <a:effectLst/>
              </a:rPr>
              <a:t>本节在推断统计中的地位</a:t>
            </a:r>
          </a:p>
        </p:txBody>
      </p:sp>
      <p:sp>
        <p:nvSpPr>
          <p:cNvPr id="14338" name="Rectangle 2"/>
          <p:cNvSpPr>
            <a:spLocks noGrp="1" noChangeArrowheads="1"/>
          </p:cNvSpPr>
          <p:nvPr>
            <p:ph idx="1"/>
          </p:nvPr>
        </p:nvSpPr>
        <p:spPr>
          <a:xfrm>
            <a:off x="1092199" y="1346200"/>
            <a:ext cx="8724901" cy="4737100"/>
          </a:xfrm>
          <a:noFill/>
        </p:spPr>
        <p:txBody>
          <a:bodyPr vert="horz" lIns="90488" tIns="44450" rIns="90488" bIns="44450" rtlCol="0">
            <a:noAutofit/>
          </a:bodyPr>
          <a:lstStyle/>
          <a:p>
            <a:pPr marL="533400" indent="-533400" algn="just">
              <a:lnSpc>
                <a:spcPct val="110000"/>
              </a:lnSpc>
              <a:spcBef>
                <a:spcPts val="600"/>
              </a:spcBef>
              <a:spcAft>
                <a:spcPts val="0"/>
              </a:spcAft>
            </a:pPr>
            <a:r>
              <a:rPr lang="zh-CN" altLang="en-US" b="1" dirty="0">
                <a:solidFill>
                  <a:schemeClr val="tx2"/>
                </a:solidFill>
                <a:latin typeface="Times New Roman" pitchFamily="18" charset="0"/>
              </a:rPr>
              <a:t>检验一个总体的均值</a:t>
            </a:r>
            <a:r>
              <a:rPr lang="en-US" altLang="zh-CN" b="1" dirty="0">
                <a:solidFill>
                  <a:schemeClr val="tx2"/>
                </a:solidFill>
                <a:latin typeface="Arial" pitchFamily="34" charset="0"/>
              </a:rPr>
              <a:t>——————</a:t>
            </a:r>
            <a:r>
              <a:rPr lang="zh-CN" altLang="en-US" b="1" dirty="0">
                <a:solidFill>
                  <a:schemeClr val="tx2"/>
                </a:solidFill>
                <a:latin typeface="Times New Roman" pitchFamily="18" charset="0"/>
              </a:rPr>
              <a:t>假设检验</a:t>
            </a:r>
          </a:p>
          <a:p>
            <a:pPr marL="533400" indent="-533400" algn="just">
              <a:lnSpc>
                <a:spcPct val="110000"/>
              </a:lnSpc>
              <a:spcBef>
                <a:spcPts val="600"/>
              </a:spcBef>
              <a:spcAft>
                <a:spcPts val="0"/>
              </a:spcAft>
            </a:pPr>
            <a:r>
              <a:rPr lang="zh-CN" altLang="en-US" b="1" dirty="0">
                <a:solidFill>
                  <a:schemeClr val="tx2"/>
                </a:solidFill>
                <a:latin typeface="Times New Roman" pitchFamily="18" charset="0"/>
              </a:rPr>
              <a:t>检验两个总体的均值是否相等</a:t>
            </a:r>
            <a:r>
              <a:rPr lang="en-US" altLang="zh-CN" b="1" dirty="0">
                <a:solidFill>
                  <a:schemeClr val="tx2"/>
                </a:solidFill>
                <a:latin typeface="Arial" pitchFamily="34" charset="0"/>
              </a:rPr>
              <a:t>——</a:t>
            </a:r>
            <a:r>
              <a:rPr lang="zh-CN" altLang="en-US" b="1" dirty="0">
                <a:solidFill>
                  <a:schemeClr val="tx2"/>
                </a:solidFill>
                <a:latin typeface="Times New Roman" pitchFamily="18" charset="0"/>
              </a:rPr>
              <a:t>假设检验</a:t>
            </a:r>
          </a:p>
          <a:p>
            <a:pPr marL="533400" indent="-533400" algn="just">
              <a:lnSpc>
                <a:spcPct val="110000"/>
              </a:lnSpc>
              <a:spcBef>
                <a:spcPts val="600"/>
              </a:spcBef>
              <a:spcAft>
                <a:spcPts val="0"/>
              </a:spcAft>
            </a:pPr>
            <a:r>
              <a:rPr lang="zh-CN" altLang="en-US" b="1" dirty="0">
                <a:latin typeface="Times New Roman" pitchFamily="18" charset="0"/>
              </a:rPr>
              <a:t>检验多个总体的均值是否相等</a:t>
            </a:r>
            <a:r>
              <a:rPr lang="en-US" altLang="zh-CN" b="1" dirty="0">
                <a:latin typeface="Arial" pitchFamily="34" charset="0"/>
              </a:rPr>
              <a:t>——</a:t>
            </a:r>
            <a:r>
              <a:rPr lang="zh-CN" altLang="en-US" b="1" dirty="0">
                <a:solidFill>
                  <a:srgbClr val="C00000"/>
                </a:solidFill>
                <a:latin typeface="Times New Roman" pitchFamily="18" charset="0"/>
              </a:rPr>
              <a:t>方差分析</a:t>
            </a:r>
          </a:p>
          <a:p>
            <a:pPr marL="723900" lvl="1" indent="-266700" algn="just">
              <a:lnSpc>
                <a:spcPct val="110000"/>
              </a:lnSpc>
              <a:spcBef>
                <a:spcPts val="600"/>
              </a:spcBef>
              <a:spcAft>
                <a:spcPts val="0"/>
              </a:spcAft>
              <a:buClr>
                <a:srgbClr val="7030A0"/>
              </a:buClr>
              <a:buSzPct val="70000"/>
            </a:pPr>
            <a:r>
              <a:rPr lang="zh-CN" altLang="en-US" sz="3000" dirty="0"/>
              <a:t>从形式上看，方差分析法是同时对多个总体均值的比较</a:t>
            </a:r>
          </a:p>
          <a:p>
            <a:pPr marL="723900" lvl="1" indent="-266700" algn="just">
              <a:lnSpc>
                <a:spcPct val="110000"/>
              </a:lnSpc>
              <a:spcBef>
                <a:spcPts val="600"/>
              </a:spcBef>
              <a:spcAft>
                <a:spcPts val="0"/>
              </a:spcAft>
              <a:buClr>
                <a:srgbClr val="7030A0"/>
              </a:buClr>
              <a:buSzPct val="70000"/>
            </a:pPr>
            <a:r>
              <a:rPr lang="zh-CN" altLang="en-US" sz="3000" dirty="0"/>
              <a:t>实质上，它是研究某个（或几个）定性变量对所观测的定量变量有无显著影响、</a:t>
            </a:r>
            <a:r>
              <a:rPr lang="zh-CN" altLang="en-US" sz="3000" dirty="0">
                <a:solidFill>
                  <a:srgbClr val="7030A0"/>
                </a:solidFill>
              </a:rPr>
              <a:t>鉴别因素效应</a:t>
            </a:r>
            <a:r>
              <a:rPr lang="zh-CN" altLang="en-US" sz="3000" dirty="0"/>
              <a:t>的一种常用方法。</a:t>
            </a:r>
          </a:p>
        </p:txBody>
      </p:sp>
      <p:sp>
        <p:nvSpPr>
          <p:cNvPr id="110594" name="灯片编号占位符 6"/>
          <p:cNvSpPr>
            <a:spLocks noGrp="1"/>
          </p:cNvSpPr>
          <p:nvPr>
            <p:ph type="sldNum" sz="quarter" idx="4"/>
          </p:nvPr>
        </p:nvSpPr>
        <p:spPr>
          <a:noFill/>
        </p:spPr>
        <p:txBody>
          <a:bodyPr/>
          <a:lstStyle/>
          <a:p>
            <a:r>
              <a:rPr lang="en-US" altLang="zh-CN">
                <a:ea typeface="宋体" pitchFamily="2" charset="-122"/>
              </a:rPr>
              <a:t>8.4--</a:t>
            </a:r>
            <a:fld id="{D20973ED-4906-4D30-BA56-1AA07ED24D95}" type="slidenum">
              <a:rPr lang="en-US" altLang="zh-CN" smtClean="0">
                <a:ea typeface="宋体" pitchFamily="2" charset="-122"/>
              </a:rPr>
              <a:pPr/>
              <a:t>84</a:t>
            </a:fld>
            <a:endParaRPr lang="en-US" altLang="zh-CN">
              <a:ea typeface="宋体" pitchFamily="2" charset="-122"/>
            </a:endParaRPr>
          </a:p>
        </p:txBody>
      </p:sp>
    </p:spTree>
    <p:extLst>
      <p:ext uri="{BB962C8B-B14F-4D97-AF65-F5344CB8AC3E}">
        <p14:creationId xmlns:p14="http://schemas.microsoft.com/office/powerpoint/2010/main" val="28632246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4338">
                                            <p:txEl>
                                              <p:pRg st="2" end="2"/>
                                            </p:txEl>
                                          </p:spTgt>
                                        </p:tgtEl>
                                        <p:attrNameLst>
                                          <p:attrName>style.visibility</p:attrName>
                                        </p:attrNameLst>
                                      </p:cBhvr>
                                      <p:to>
                                        <p:strVal val="visible"/>
                                      </p:to>
                                    </p:set>
                                    <p:animEffect transition="in" filter="wipe(left)">
                                      <p:cBhvr>
                                        <p:cTn id="7" dur="500"/>
                                        <p:tgtEl>
                                          <p:spTgt spid="14338">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4338">
                                            <p:txEl>
                                              <p:pRg st="3" end="3"/>
                                            </p:txEl>
                                          </p:spTgt>
                                        </p:tgtEl>
                                        <p:attrNameLst>
                                          <p:attrName>style.visibility</p:attrName>
                                        </p:attrNameLst>
                                      </p:cBhvr>
                                      <p:to>
                                        <p:strVal val="visible"/>
                                      </p:to>
                                    </p:set>
                                    <p:animEffect transition="in" filter="wipe(left)">
                                      <p:cBhvr>
                                        <p:cTn id="12" dur="500"/>
                                        <p:tgtEl>
                                          <p:spTgt spid="14338">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4338">
                                            <p:txEl>
                                              <p:pRg st="4" end="4"/>
                                            </p:txEl>
                                          </p:spTgt>
                                        </p:tgtEl>
                                        <p:attrNameLst>
                                          <p:attrName>style.visibility</p:attrName>
                                        </p:attrNameLst>
                                      </p:cBhvr>
                                      <p:to>
                                        <p:strVal val="visible"/>
                                      </p:to>
                                    </p:set>
                                    <p:animEffect transition="in" filter="wipe(left)">
                                      <p:cBhvr>
                                        <p:cTn id="17" dur="500"/>
                                        <p:tgtEl>
                                          <p:spTgt spid="14338">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8" grpId="0" build="p" bldLvl="2" autoUpdateAnimBg="0"/>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3" name="Rectangle 2"/>
          <p:cNvSpPr>
            <a:spLocks noGrp="1" noChangeArrowheads="1"/>
          </p:cNvSpPr>
          <p:nvPr>
            <p:ph type="title"/>
          </p:nvPr>
        </p:nvSpPr>
        <p:spPr>
          <a:xfrm>
            <a:off x="1299210" y="151951"/>
            <a:ext cx="6139180" cy="662782"/>
          </a:xfrm>
          <a:noFill/>
        </p:spPr>
        <p:txBody>
          <a:bodyPr vert="horz" lIns="90488" tIns="44450" rIns="90488" bIns="44450" rtlCol="0" anchor="ctr" anchorCtr="1">
            <a:normAutofit/>
          </a:bodyPr>
          <a:lstStyle/>
          <a:p>
            <a:r>
              <a:rPr lang="en-US" altLang="zh-CN" sz="4000" b="1" dirty="0">
                <a:solidFill>
                  <a:srgbClr val="0070C0"/>
                </a:solidFill>
                <a:effectLst/>
              </a:rPr>
              <a:t>8.4.1 </a:t>
            </a:r>
            <a:r>
              <a:rPr lang="zh-CN" altLang="en-US" sz="4000" b="1" dirty="0">
                <a:solidFill>
                  <a:srgbClr val="0070C0"/>
                </a:solidFill>
                <a:effectLst/>
              </a:rPr>
              <a:t>问题的提出</a:t>
            </a:r>
          </a:p>
        </p:txBody>
      </p:sp>
      <p:sp>
        <p:nvSpPr>
          <p:cNvPr id="112642" name="灯片编号占位符 5"/>
          <p:cNvSpPr>
            <a:spLocks noGrp="1"/>
          </p:cNvSpPr>
          <p:nvPr>
            <p:ph type="sldNum" sz="quarter" idx="4"/>
          </p:nvPr>
        </p:nvSpPr>
        <p:spPr>
          <a:noFill/>
        </p:spPr>
        <p:txBody>
          <a:bodyPr/>
          <a:lstStyle/>
          <a:p>
            <a:r>
              <a:rPr lang="en-US" altLang="zh-CN">
                <a:ea typeface="宋体" pitchFamily="2" charset="-122"/>
              </a:rPr>
              <a:t>8.4--</a:t>
            </a:r>
            <a:fld id="{EDB9BAEF-4E06-4076-87E1-252F9A7544E4}" type="slidenum">
              <a:rPr lang="en-US" altLang="zh-CN" smtClean="0">
                <a:ea typeface="宋体" pitchFamily="2" charset="-122"/>
              </a:rPr>
              <a:pPr/>
              <a:t>85</a:t>
            </a:fld>
            <a:endParaRPr lang="en-US" altLang="zh-CN">
              <a:ea typeface="宋体" pitchFamily="2" charset="-122"/>
            </a:endParaRPr>
          </a:p>
        </p:txBody>
      </p:sp>
      <p:sp>
        <p:nvSpPr>
          <p:cNvPr id="112644" name="Rectangle 3"/>
          <p:cNvSpPr>
            <a:spLocks noChangeArrowheads="1"/>
          </p:cNvSpPr>
          <p:nvPr/>
        </p:nvSpPr>
        <p:spPr bwMode="auto">
          <a:xfrm>
            <a:off x="1460501" y="814733"/>
            <a:ext cx="8443914" cy="2936188"/>
          </a:xfrm>
          <a:prstGeom prst="rect">
            <a:avLst/>
          </a:prstGeom>
          <a:noFill/>
          <a:ln w="12700">
            <a:noFill/>
            <a:miter lim="800000"/>
            <a:headEnd/>
            <a:tailEnd/>
          </a:ln>
        </p:spPr>
        <p:txBody>
          <a:bodyPr wrap="square" anchor="ctr">
            <a:spAutoFit/>
          </a:bodyPr>
          <a:lstStyle/>
          <a:p>
            <a:pPr>
              <a:lnSpc>
                <a:spcPct val="110000"/>
              </a:lnSpc>
              <a:spcBef>
                <a:spcPct val="10000"/>
              </a:spcBef>
            </a:pPr>
            <a:r>
              <a:rPr kumimoji="1" lang="en-US" altLang="zh-CN" sz="2800" b="1" dirty="0">
                <a:solidFill>
                  <a:srgbClr val="0070C0"/>
                </a:solidFill>
              </a:rPr>
              <a:t>【</a:t>
            </a:r>
            <a:r>
              <a:rPr kumimoji="1" lang="zh-CN" altLang="en-US" sz="2800" b="1" dirty="0">
                <a:solidFill>
                  <a:srgbClr val="0070C0"/>
                </a:solidFill>
              </a:rPr>
              <a:t>例</a:t>
            </a:r>
            <a:r>
              <a:rPr kumimoji="1" lang="en-US" altLang="zh-CN" sz="2800" b="1" dirty="0">
                <a:solidFill>
                  <a:srgbClr val="0070C0"/>
                </a:solidFill>
              </a:rPr>
              <a:t>8-11】</a:t>
            </a:r>
            <a:r>
              <a:rPr kumimoji="1" lang="zh-CN" altLang="en-US" sz="2800" b="1" dirty="0"/>
              <a:t>一研究小组为了研究</a:t>
            </a:r>
            <a:r>
              <a:rPr kumimoji="1" lang="zh-CN" altLang="en-US" sz="2800" b="1" dirty="0">
                <a:solidFill>
                  <a:srgbClr val="7030A0"/>
                </a:solidFill>
              </a:rPr>
              <a:t>三种不同施肥方案</a:t>
            </a:r>
            <a:r>
              <a:rPr kumimoji="1" lang="zh-CN" altLang="en-US" sz="2800" b="1" dirty="0"/>
              <a:t>对某种农作物收获量的影响，在</a:t>
            </a:r>
            <a:r>
              <a:rPr kumimoji="1" lang="en-US" altLang="zh-CN" sz="2800" b="1" dirty="0"/>
              <a:t>17</a:t>
            </a:r>
            <a:r>
              <a:rPr kumimoji="1" lang="zh-CN" altLang="en-US" sz="2800" b="1" dirty="0"/>
              <a:t>个试验地块上做了试验。每个地块上的土质、农作物品种、播种量和播种方法等影响该农作物收获量的因素均相同。试根据表</a:t>
            </a:r>
            <a:r>
              <a:rPr kumimoji="1" lang="en-US" altLang="zh-CN" sz="2800" b="1" dirty="0"/>
              <a:t>8-4</a:t>
            </a:r>
            <a:r>
              <a:rPr kumimoji="1" lang="zh-CN" altLang="en-US" sz="2800" b="1" dirty="0"/>
              <a:t>的收获量数据分析不同施肥方案是否对收获量有显著影响（显著性水平为</a:t>
            </a:r>
            <a:r>
              <a:rPr kumimoji="1" lang="en-US" altLang="zh-CN" sz="2800" b="1" dirty="0"/>
              <a:t>0.05</a:t>
            </a:r>
            <a:r>
              <a:rPr kumimoji="1" lang="zh-CN" altLang="en-US" sz="2800" b="1" dirty="0"/>
              <a:t>）。</a:t>
            </a:r>
            <a:endParaRPr kumimoji="1" lang="zh-CN" altLang="en-US" sz="2800" dirty="0"/>
          </a:p>
        </p:txBody>
      </p:sp>
      <p:graphicFrame>
        <p:nvGraphicFramePr>
          <p:cNvPr id="17592" name="Group 184"/>
          <p:cNvGraphicFramePr>
            <a:graphicFrameLocks noGrp="1"/>
          </p:cNvGraphicFramePr>
          <p:nvPr>
            <p:extLst>
              <p:ext uri="{D42A27DB-BD31-4B8C-83A1-F6EECF244321}">
                <p14:modId xmlns:p14="http://schemas.microsoft.com/office/powerpoint/2010/main" val="4180887722"/>
              </p:ext>
            </p:extLst>
          </p:nvPr>
        </p:nvGraphicFramePr>
        <p:xfrm>
          <a:off x="2063751" y="3786189"/>
          <a:ext cx="7993063" cy="2379661"/>
        </p:xfrm>
        <a:graphic>
          <a:graphicData uri="http://schemas.openxmlformats.org/drawingml/2006/table">
            <a:tbl>
              <a:tblPr/>
              <a:tblGrid>
                <a:gridCol w="2319338">
                  <a:extLst>
                    <a:ext uri="{9D8B030D-6E8A-4147-A177-3AD203B41FA5}">
                      <a16:colId xmlns:a16="http://schemas.microsoft.com/office/drawing/2014/main" val="20000"/>
                    </a:ext>
                  </a:extLst>
                </a:gridCol>
                <a:gridCol w="946150">
                  <a:extLst>
                    <a:ext uri="{9D8B030D-6E8A-4147-A177-3AD203B41FA5}">
                      <a16:colId xmlns:a16="http://schemas.microsoft.com/office/drawing/2014/main" val="20001"/>
                    </a:ext>
                  </a:extLst>
                </a:gridCol>
                <a:gridCol w="944562">
                  <a:extLst>
                    <a:ext uri="{9D8B030D-6E8A-4147-A177-3AD203B41FA5}">
                      <a16:colId xmlns:a16="http://schemas.microsoft.com/office/drawing/2014/main" val="20002"/>
                    </a:ext>
                  </a:extLst>
                </a:gridCol>
                <a:gridCol w="946150">
                  <a:extLst>
                    <a:ext uri="{9D8B030D-6E8A-4147-A177-3AD203B41FA5}">
                      <a16:colId xmlns:a16="http://schemas.microsoft.com/office/drawing/2014/main" val="20003"/>
                    </a:ext>
                  </a:extLst>
                </a:gridCol>
                <a:gridCol w="946150">
                  <a:extLst>
                    <a:ext uri="{9D8B030D-6E8A-4147-A177-3AD203B41FA5}">
                      <a16:colId xmlns:a16="http://schemas.microsoft.com/office/drawing/2014/main" val="20004"/>
                    </a:ext>
                  </a:extLst>
                </a:gridCol>
                <a:gridCol w="944563">
                  <a:extLst>
                    <a:ext uri="{9D8B030D-6E8A-4147-A177-3AD203B41FA5}">
                      <a16:colId xmlns:a16="http://schemas.microsoft.com/office/drawing/2014/main" val="20005"/>
                    </a:ext>
                  </a:extLst>
                </a:gridCol>
                <a:gridCol w="946150">
                  <a:extLst>
                    <a:ext uri="{9D8B030D-6E8A-4147-A177-3AD203B41FA5}">
                      <a16:colId xmlns:a16="http://schemas.microsoft.com/office/drawing/2014/main" val="20006"/>
                    </a:ext>
                  </a:extLst>
                </a:gridCol>
              </a:tblGrid>
              <a:tr h="838198">
                <a:tc>
                  <a:txBody>
                    <a:bodyPr/>
                    <a:lstStyle/>
                    <a:p>
                      <a:pPr marL="0" marR="0" lvl="0" indent="28575" algn="l"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dirty="0">
                          <a:ln>
                            <a:noFill/>
                          </a:ln>
                          <a:solidFill>
                            <a:schemeClr val="tx1"/>
                          </a:solidFill>
                          <a:effectLst/>
                          <a:latin typeface="Times New Roman" pitchFamily="18" charset="0"/>
                          <a:ea typeface="宋体" charset="-122"/>
                          <a:cs typeface="Times New Roman" pitchFamily="18" charset="0"/>
                        </a:rPr>
                        <a:t>           </a:t>
                      </a:r>
                      <a:r>
                        <a:rPr kumimoji="0" lang="zh-CN" altLang="en-US" sz="2400" b="1" i="0" u="none" strike="noStrike" cap="none" normalizeH="0" baseline="0" dirty="0">
                          <a:ln>
                            <a:noFill/>
                          </a:ln>
                          <a:solidFill>
                            <a:srgbClr val="000000"/>
                          </a:solidFill>
                          <a:effectLst/>
                          <a:latin typeface="Times New Roman" pitchFamily="18" charset="0"/>
                          <a:ea typeface="宋体" charset="-122"/>
                          <a:cs typeface="Times New Roman" pitchFamily="18" charset="0"/>
                        </a:rPr>
                        <a:t>地块编号</a:t>
                      </a:r>
                      <a:endParaRPr kumimoji="0" lang="zh-CN" altLang="en-US" sz="2400" b="1" i="0" u="none" strike="noStrike" cap="none" normalizeH="0" baseline="0" dirty="0">
                        <a:ln>
                          <a:noFill/>
                        </a:ln>
                        <a:solidFill>
                          <a:srgbClr val="000000"/>
                        </a:solidFill>
                        <a:effectLst/>
                        <a:latin typeface="Arial" charset="0"/>
                        <a:ea typeface="宋体" charset="-122"/>
                        <a:cs typeface="Times New Roman" pitchFamily="18" charset="0"/>
                      </a:endParaRPr>
                    </a:p>
                    <a:p>
                      <a:pPr marL="0" marR="0" lvl="0" indent="28575" algn="l" defTabSz="914400" rtl="0" eaLnBrk="0" fontAlgn="base" latinLnBrk="0" hangingPunct="0">
                        <a:lnSpc>
                          <a:spcPct val="100000"/>
                        </a:lnSpc>
                        <a:spcBef>
                          <a:spcPct val="0"/>
                        </a:spcBef>
                        <a:spcAft>
                          <a:spcPct val="0"/>
                        </a:spcAft>
                        <a:buClrTx/>
                        <a:buSzTx/>
                        <a:buFontTx/>
                        <a:buNone/>
                        <a:tabLst/>
                      </a:pPr>
                      <a:r>
                        <a:rPr kumimoji="0" lang="zh-CN" altLang="en-US" sz="2400" b="1" i="0" u="none" strike="noStrike" cap="none" normalizeH="0" baseline="0" dirty="0">
                          <a:ln>
                            <a:noFill/>
                          </a:ln>
                          <a:solidFill>
                            <a:srgbClr val="CC00CC"/>
                          </a:solidFill>
                          <a:effectLst/>
                          <a:latin typeface="Times New Roman" pitchFamily="18" charset="0"/>
                          <a:ea typeface="宋体" charset="-122"/>
                          <a:cs typeface="Times New Roman" pitchFamily="18" charset="0"/>
                        </a:rPr>
                        <a:t>施肥方案</a:t>
                      </a:r>
                      <a:endParaRPr kumimoji="0" lang="zh-CN" altLang="en-US" sz="2400" b="1" i="0" u="none" strike="noStrike" cap="none" normalizeH="0" baseline="0" dirty="0">
                        <a:ln>
                          <a:noFill/>
                        </a:ln>
                        <a:solidFill>
                          <a:srgbClr val="CC00CC"/>
                        </a:solidFill>
                        <a:effectLst/>
                        <a:latin typeface="Arial" charset="0"/>
                        <a:ea typeface="宋体"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dirty="0">
                          <a:ln>
                            <a:noFill/>
                          </a:ln>
                          <a:solidFill>
                            <a:srgbClr val="000000"/>
                          </a:solidFill>
                          <a:effectLst/>
                          <a:latin typeface="Times New Roman" pitchFamily="18" charset="0"/>
                          <a:ea typeface="宋体" charset="-122"/>
                          <a:cs typeface="Times New Roman" pitchFamily="18" charset="0"/>
                        </a:rPr>
                        <a:t>1</a:t>
                      </a:r>
                      <a:endParaRPr kumimoji="0" lang="en-US" altLang="zh-CN" sz="2400" b="1" i="0" u="none" strike="noStrike" cap="none" normalizeH="0" baseline="0" dirty="0">
                        <a:ln>
                          <a:noFill/>
                        </a:ln>
                        <a:solidFill>
                          <a:srgbClr val="000000"/>
                        </a:solidFill>
                        <a:effectLst/>
                        <a:latin typeface="Arial" charset="0"/>
                        <a:ea typeface="宋体"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dirty="0">
                          <a:ln>
                            <a:noFill/>
                          </a:ln>
                          <a:solidFill>
                            <a:srgbClr val="000000"/>
                          </a:solidFill>
                          <a:effectLst/>
                          <a:latin typeface="Times New Roman" pitchFamily="18" charset="0"/>
                          <a:ea typeface="宋体" charset="-122"/>
                          <a:cs typeface="Times New Roman" pitchFamily="18" charset="0"/>
                        </a:rPr>
                        <a:t>2</a:t>
                      </a:r>
                      <a:endParaRPr kumimoji="0" lang="en-US" altLang="zh-CN" sz="2400" b="1" i="0" u="none" strike="noStrike" cap="none" normalizeH="0" baseline="0" dirty="0">
                        <a:ln>
                          <a:noFill/>
                        </a:ln>
                        <a:solidFill>
                          <a:srgbClr val="000000"/>
                        </a:solidFill>
                        <a:effectLst/>
                        <a:latin typeface="Arial" charset="0"/>
                        <a:ea typeface="宋体"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dirty="0">
                          <a:ln>
                            <a:noFill/>
                          </a:ln>
                          <a:solidFill>
                            <a:srgbClr val="000000"/>
                          </a:solidFill>
                          <a:effectLst/>
                          <a:latin typeface="Times New Roman" pitchFamily="18" charset="0"/>
                          <a:ea typeface="宋体" charset="-122"/>
                          <a:cs typeface="Times New Roman" pitchFamily="18" charset="0"/>
                        </a:rPr>
                        <a:t>3</a:t>
                      </a:r>
                      <a:endParaRPr kumimoji="0" lang="en-US" altLang="zh-CN" sz="2400" b="1" i="0" u="none" strike="noStrike" cap="none" normalizeH="0" baseline="0" dirty="0">
                        <a:ln>
                          <a:noFill/>
                        </a:ln>
                        <a:solidFill>
                          <a:srgbClr val="000000"/>
                        </a:solidFill>
                        <a:effectLst/>
                        <a:latin typeface="Arial" charset="0"/>
                        <a:ea typeface="宋体"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dirty="0">
                          <a:ln>
                            <a:noFill/>
                          </a:ln>
                          <a:solidFill>
                            <a:srgbClr val="000000"/>
                          </a:solidFill>
                          <a:effectLst/>
                          <a:latin typeface="Times New Roman" pitchFamily="18" charset="0"/>
                          <a:ea typeface="宋体" charset="-122"/>
                          <a:cs typeface="Times New Roman" pitchFamily="18" charset="0"/>
                        </a:rPr>
                        <a:t>4</a:t>
                      </a:r>
                      <a:endParaRPr kumimoji="0" lang="en-US" altLang="zh-CN" sz="2400" b="1" i="0" u="none" strike="noStrike" cap="none" normalizeH="0" baseline="0" dirty="0">
                        <a:ln>
                          <a:noFill/>
                        </a:ln>
                        <a:solidFill>
                          <a:srgbClr val="000000"/>
                        </a:solidFill>
                        <a:effectLst/>
                        <a:latin typeface="Arial" charset="0"/>
                        <a:ea typeface="宋体"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dirty="0">
                          <a:ln>
                            <a:noFill/>
                          </a:ln>
                          <a:solidFill>
                            <a:srgbClr val="000000"/>
                          </a:solidFill>
                          <a:effectLst/>
                          <a:latin typeface="Times New Roman" pitchFamily="18" charset="0"/>
                          <a:ea typeface="宋体" charset="-122"/>
                          <a:cs typeface="Times New Roman" pitchFamily="18" charset="0"/>
                        </a:rPr>
                        <a:t>5</a:t>
                      </a:r>
                      <a:endParaRPr kumimoji="0" lang="en-US" altLang="zh-CN" sz="2400" b="1" i="0" u="none" strike="noStrike" cap="none" normalizeH="0" baseline="0" dirty="0">
                        <a:ln>
                          <a:noFill/>
                        </a:ln>
                        <a:solidFill>
                          <a:srgbClr val="000000"/>
                        </a:solidFill>
                        <a:effectLst/>
                        <a:latin typeface="Arial" charset="0"/>
                        <a:ea typeface="宋体"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dirty="0">
                          <a:ln>
                            <a:noFill/>
                          </a:ln>
                          <a:solidFill>
                            <a:srgbClr val="000000"/>
                          </a:solidFill>
                          <a:effectLst/>
                          <a:latin typeface="Times New Roman" pitchFamily="18" charset="0"/>
                          <a:ea typeface="宋体" charset="-122"/>
                          <a:cs typeface="Times New Roman" pitchFamily="18" charset="0"/>
                        </a:rPr>
                        <a:t>6</a:t>
                      </a:r>
                      <a:endParaRPr kumimoji="0" lang="en-US" altLang="zh-CN" sz="2400" b="1" i="0" u="none" strike="noStrike" cap="none" normalizeH="0" baseline="0" dirty="0">
                        <a:ln>
                          <a:noFill/>
                        </a:ln>
                        <a:solidFill>
                          <a:srgbClr val="000000"/>
                        </a:solidFill>
                        <a:effectLst/>
                        <a:latin typeface="Arial" charset="0"/>
                        <a:ea typeface="宋体" charset="-122"/>
                      </a:endParaRPr>
                    </a:p>
                  </a:txBody>
                  <a:tcPr anchor="ctr" horzOverflow="overflow">
                    <a:lnL w="12700" cap="flat" cmpd="sng" algn="ctr">
                      <a:solidFill>
                        <a:srgbClr val="000000"/>
                      </a:solidFill>
                      <a:prstDash val="solid"/>
                      <a:round/>
                      <a:headEnd type="none" w="med" len="med"/>
                      <a:tailEnd type="none" w="med" len="med"/>
                    </a:lnL>
                    <a:lnR cap="flat">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1435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dirty="0">
                          <a:ln>
                            <a:noFill/>
                          </a:ln>
                          <a:solidFill>
                            <a:srgbClr val="FF00FF"/>
                          </a:solidFill>
                          <a:effectLst/>
                          <a:latin typeface="Times New Roman" pitchFamily="18" charset="0"/>
                          <a:ea typeface="宋体" charset="-122"/>
                          <a:cs typeface="Times New Roman" pitchFamily="18" charset="0"/>
                        </a:rPr>
                        <a:t>A1</a:t>
                      </a:r>
                      <a:endParaRPr kumimoji="0" lang="en-US" altLang="zh-CN" sz="2400" b="1" i="0" u="none" strike="noStrike" cap="none" normalizeH="0" baseline="0" dirty="0">
                        <a:ln>
                          <a:noFill/>
                        </a:ln>
                        <a:solidFill>
                          <a:srgbClr val="FF00FF"/>
                        </a:solidFill>
                        <a:effectLst/>
                        <a:latin typeface="Arial" charset="0"/>
                        <a:ea typeface="宋体" charset="-122"/>
                      </a:endParaRPr>
                    </a:p>
                  </a:txBody>
                  <a:tcPr anchor="ctr" horzOverflow="overflow">
                    <a:lnL cap="flat">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5">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dirty="0">
                          <a:ln>
                            <a:noFill/>
                          </a:ln>
                          <a:solidFill>
                            <a:srgbClr val="000000"/>
                          </a:solidFill>
                          <a:effectLst/>
                          <a:latin typeface="Times New Roman" pitchFamily="18" charset="0"/>
                          <a:ea typeface="宋体" charset="-122"/>
                          <a:cs typeface="Times New Roman" pitchFamily="18" charset="0"/>
                        </a:rPr>
                        <a:t>55</a:t>
                      </a:r>
                      <a:endParaRPr kumimoji="0" lang="en-US" altLang="zh-CN" sz="2400" b="1" i="0" u="none" strike="noStrike" cap="none" normalizeH="0" baseline="0" dirty="0">
                        <a:ln>
                          <a:noFill/>
                        </a:ln>
                        <a:solidFill>
                          <a:srgbClr val="000000"/>
                        </a:solidFill>
                        <a:effectLst/>
                        <a:latin typeface="Arial" charset="0"/>
                        <a:ea typeface="宋体"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5">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dirty="0">
                          <a:ln>
                            <a:noFill/>
                          </a:ln>
                          <a:solidFill>
                            <a:srgbClr val="000000"/>
                          </a:solidFill>
                          <a:effectLst/>
                          <a:latin typeface="Times New Roman" pitchFamily="18" charset="0"/>
                          <a:ea typeface="宋体" charset="-122"/>
                          <a:cs typeface="Times New Roman" pitchFamily="18" charset="0"/>
                        </a:rPr>
                        <a:t>62</a:t>
                      </a:r>
                      <a:endParaRPr kumimoji="0" lang="en-US" altLang="zh-CN" sz="2400" b="1" i="0" u="none" strike="noStrike" cap="none" normalizeH="0" baseline="0" dirty="0">
                        <a:ln>
                          <a:noFill/>
                        </a:ln>
                        <a:solidFill>
                          <a:srgbClr val="000000"/>
                        </a:solidFill>
                        <a:effectLst/>
                        <a:latin typeface="Arial" charset="0"/>
                        <a:ea typeface="宋体"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5">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dirty="0">
                          <a:ln>
                            <a:noFill/>
                          </a:ln>
                          <a:solidFill>
                            <a:srgbClr val="000000"/>
                          </a:solidFill>
                          <a:effectLst/>
                          <a:latin typeface="Times New Roman" pitchFamily="18" charset="0"/>
                          <a:ea typeface="宋体" charset="-122"/>
                          <a:cs typeface="Times New Roman" pitchFamily="18" charset="0"/>
                        </a:rPr>
                        <a:t>76</a:t>
                      </a:r>
                      <a:endParaRPr kumimoji="0" lang="en-US" altLang="zh-CN" sz="2400" b="1" i="0" u="none" strike="noStrike" cap="none" normalizeH="0" baseline="0" dirty="0">
                        <a:ln>
                          <a:noFill/>
                        </a:ln>
                        <a:solidFill>
                          <a:srgbClr val="000000"/>
                        </a:solidFill>
                        <a:effectLst/>
                        <a:latin typeface="Arial" charset="0"/>
                        <a:ea typeface="宋体"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5">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dirty="0">
                          <a:ln>
                            <a:noFill/>
                          </a:ln>
                          <a:solidFill>
                            <a:srgbClr val="000000"/>
                          </a:solidFill>
                          <a:effectLst/>
                          <a:latin typeface="Times New Roman" pitchFamily="18" charset="0"/>
                          <a:ea typeface="宋体" charset="-122"/>
                          <a:cs typeface="Times New Roman" pitchFamily="18" charset="0"/>
                        </a:rPr>
                        <a:t>68</a:t>
                      </a:r>
                      <a:endParaRPr kumimoji="0" lang="en-US" altLang="zh-CN" sz="2400" b="1" i="0" u="none" strike="noStrike" cap="none" normalizeH="0" baseline="0" dirty="0">
                        <a:ln>
                          <a:noFill/>
                        </a:ln>
                        <a:solidFill>
                          <a:srgbClr val="000000"/>
                        </a:solidFill>
                        <a:effectLst/>
                        <a:latin typeface="Arial" charset="0"/>
                        <a:ea typeface="宋体"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5">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dirty="0">
                          <a:ln>
                            <a:noFill/>
                          </a:ln>
                          <a:solidFill>
                            <a:srgbClr val="000000"/>
                          </a:solidFill>
                          <a:effectLst/>
                          <a:latin typeface="Times New Roman" pitchFamily="18" charset="0"/>
                          <a:ea typeface="宋体" charset="-122"/>
                          <a:cs typeface="Times New Roman" pitchFamily="18" charset="0"/>
                        </a:rPr>
                        <a:t>60</a:t>
                      </a:r>
                      <a:endParaRPr kumimoji="0" lang="en-US" altLang="zh-CN" sz="2400" b="1" i="0" u="none" strike="noStrike" cap="none" normalizeH="0" baseline="0" dirty="0">
                        <a:ln>
                          <a:noFill/>
                        </a:ln>
                        <a:solidFill>
                          <a:srgbClr val="000000"/>
                        </a:solidFill>
                        <a:effectLst/>
                        <a:latin typeface="Arial" charset="0"/>
                        <a:ea typeface="宋体"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5">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dirty="0">
                          <a:ln>
                            <a:noFill/>
                          </a:ln>
                          <a:solidFill>
                            <a:srgbClr val="000000"/>
                          </a:solidFill>
                          <a:effectLst/>
                          <a:latin typeface="Times New Roman" pitchFamily="18" charset="0"/>
                          <a:ea typeface="宋体" charset="-122"/>
                          <a:cs typeface="Times New Roman" pitchFamily="18" charset="0"/>
                        </a:rPr>
                        <a:t>63</a:t>
                      </a:r>
                      <a:endParaRPr kumimoji="0" lang="en-US" altLang="zh-CN" sz="2400" b="1" i="0" u="none" strike="noStrike" cap="none" normalizeH="0" baseline="0" dirty="0">
                        <a:ln>
                          <a:noFill/>
                        </a:ln>
                        <a:solidFill>
                          <a:srgbClr val="000000"/>
                        </a:solidFill>
                        <a:effectLst/>
                        <a:latin typeface="Arial" charset="0"/>
                        <a:ea typeface="宋体" charset="-122"/>
                      </a:endParaRPr>
                    </a:p>
                  </a:txBody>
                  <a:tcPr anchor="ctr" horzOverflow="overflow">
                    <a:lnL w="12700" cap="flat" cmpd="sng" algn="ctr">
                      <a:solidFill>
                        <a:srgbClr val="000000"/>
                      </a:solidFill>
                      <a:prstDash val="solid"/>
                      <a:round/>
                      <a:headEnd type="none" w="med" len="med"/>
                      <a:tailEnd type="none" w="med" len="med"/>
                    </a:lnL>
                    <a:lnR cap="flat">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5">
                        <a:lumMod val="20000"/>
                        <a:lumOff val="80000"/>
                      </a:schemeClr>
                    </a:solidFill>
                  </a:tcPr>
                </a:tc>
                <a:extLst>
                  <a:ext uri="{0D108BD9-81ED-4DB2-BD59-A6C34878D82A}">
                    <a16:rowId xmlns:a16="http://schemas.microsoft.com/office/drawing/2014/main" val="10001"/>
                  </a:ext>
                </a:extLst>
              </a:tr>
              <a:tr h="51276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dirty="0">
                          <a:ln>
                            <a:noFill/>
                          </a:ln>
                          <a:solidFill>
                            <a:srgbClr val="FF00FF"/>
                          </a:solidFill>
                          <a:effectLst/>
                          <a:latin typeface="Times New Roman" pitchFamily="18" charset="0"/>
                          <a:ea typeface="宋体" charset="-122"/>
                          <a:cs typeface="Times New Roman" pitchFamily="18" charset="0"/>
                        </a:rPr>
                        <a:t>A2</a:t>
                      </a:r>
                      <a:endParaRPr kumimoji="0" lang="en-US" altLang="zh-CN" sz="2400" b="1" i="0" u="none" strike="noStrike" cap="none" normalizeH="0" baseline="0" dirty="0">
                        <a:ln>
                          <a:noFill/>
                        </a:ln>
                        <a:solidFill>
                          <a:srgbClr val="FF00FF"/>
                        </a:solidFill>
                        <a:effectLst/>
                        <a:latin typeface="Arial" charset="0"/>
                        <a:ea typeface="宋体" charset="-122"/>
                      </a:endParaRPr>
                    </a:p>
                  </a:txBody>
                  <a:tcPr anchor="ctr" horzOverflow="overflow">
                    <a:lnL cap="flat">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6">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dirty="0">
                          <a:ln>
                            <a:noFill/>
                          </a:ln>
                          <a:solidFill>
                            <a:srgbClr val="000000"/>
                          </a:solidFill>
                          <a:effectLst/>
                          <a:latin typeface="Times New Roman" pitchFamily="18" charset="0"/>
                          <a:ea typeface="宋体" charset="-122"/>
                          <a:cs typeface="Times New Roman" pitchFamily="18" charset="0"/>
                        </a:rPr>
                        <a:t>70</a:t>
                      </a:r>
                      <a:endParaRPr kumimoji="0" lang="en-US" altLang="zh-CN" sz="2400" b="1" i="0" u="none" strike="noStrike" cap="none" normalizeH="0" baseline="0" dirty="0">
                        <a:ln>
                          <a:noFill/>
                        </a:ln>
                        <a:solidFill>
                          <a:srgbClr val="000000"/>
                        </a:solidFill>
                        <a:effectLst/>
                        <a:latin typeface="Arial" charset="0"/>
                        <a:ea typeface="宋体"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6">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dirty="0">
                          <a:ln>
                            <a:noFill/>
                          </a:ln>
                          <a:solidFill>
                            <a:srgbClr val="000000"/>
                          </a:solidFill>
                          <a:effectLst/>
                          <a:latin typeface="Times New Roman" pitchFamily="18" charset="0"/>
                          <a:ea typeface="宋体" charset="-122"/>
                          <a:cs typeface="Times New Roman" pitchFamily="18" charset="0"/>
                        </a:rPr>
                        <a:t>58</a:t>
                      </a:r>
                      <a:endParaRPr kumimoji="0" lang="en-US" altLang="zh-CN" sz="2400" b="1" i="0" u="none" strike="noStrike" cap="none" normalizeH="0" baseline="0" dirty="0">
                        <a:ln>
                          <a:noFill/>
                        </a:ln>
                        <a:solidFill>
                          <a:srgbClr val="000000"/>
                        </a:solidFill>
                        <a:effectLst/>
                        <a:latin typeface="Arial" charset="0"/>
                        <a:ea typeface="宋体"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6">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dirty="0">
                          <a:ln>
                            <a:noFill/>
                          </a:ln>
                          <a:solidFill>
                            <a:srgbClr val="000000"/>
                          </a:solidFill>
                          <a:effectLst/>
                          <a:latin typeface="Times New Roman" pitchFamily="18" charset="0"/>
                          <a:ea typeface="宋体" charset="-122"/>
                          <a:cs typeface="Times New Roman" pitchFamily="18" charset="0"/>
                        </a:rPr>
                        <a:t>62</a:t>
                      </a:r>
                      <a:endParaRPr kumimoji="0" lang="en-US" altLang="zh-CN" sz="2400" b="1" i="0" u="none" strike="noStrike" cap="none" normalizeH="0" baseline="0" dirty="0">
                        <a:ln>
                          <a:noFill/>
                        </a:ln>
                        <a:solidFill>
                          <a:srgbClr val="000000"/>
                        </a:solidFill>
                        <a:effectLst/>
                        <a:latin typeface="Arial" charset="0"/>
                        <a:ea typeface="宋体"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6">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dirty="0">
                          <a:ln>
                            <a:noFill/>
                          </a:ln>
                          <a:solidFill>
                            <a:srgbClr val="000000"/>
                          </a:solidFill>
                          <a:effectLst/>
                          <a:latin typeface="Times New Roman" pitchFamily="18" charset="0"/>
                          <a:ea typeface="宋体" charset="-122"/>
                          <a:cs typeface="Times New Roman" pitchFamily="18" charset="0"/>
                        </a:rPr>
                        <a:t>50</a:t>
                      </a:r>
                      <a:endParaRPr kumimoji="0" lang="en-US" altLang="zh-CN" sz="2400" b="1" i="0" u="none" strike="noStrike" cap="none" normalizeH="0" baseline="0" dirty="0">
                        <a:ln>
                          <a:noFill/>
                        </a:ln>
                        <a:solidFill>
                          <a:srgbClr val="000000"/>
                        </a:solidFill>
                        <a:effectLst/>
                        <a:latin typeface="Arial" charset="0"/>
                        <a:ea typeface="宋体"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6">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dirty="0">
                          <a:ln>
                            <a:noFill/>
                          </a:ln>
                          <a:solidFill>
                            <a:srgbClr val="000000"/>
                          </a:solidFill>
                          <a:effectLst/>
                          <a:latin typeface="Times New Roman" pitchFamily="18" charset="0"/>
                          <a:ea typeface="宋体" charset="-122"/>
                          <a:cs typeface="Times New Roman" pitchFamily="18" charset="0"/>
                        </a:rPr>
                        <a:t>65</a:t>
                      </a:r>
                      <a:endParaRPr kumimoji="0" lang="en-US" altLang="zh-CN" sz="2400" b="1" i="0" u="none" strike="noStrike" cap="none" normalizeH="0" baseline="0" dirty="0">
                        <a:ln>
                          <a:noFill/>
                        </a:ln>
                        <a:solidFill>
                          <a:srgbClr val="000000"/>
                        </a:solidFill>
                        <a:effectLst/>
                        <a:latin typeface="Arial" charset="0"/>
                        <a:ea typeface="宋体"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6">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zh-CN" sz="2400" b="1" i="0" u="none" strike="noStrike" cap="none" normalizeH="0" baseline="0" dirty="0">
                        <a:ln>
                          <a:noFill/>
                        </a:ln>
                        <a:solidFill>
                          <a:srgbClr val="000000"/>
                        </a:solidFill>
                        <a:effectLst/>
                        <a:latin typeface="Arial" charset="0"/>
                        <a:ea typeface="宋体" charset="-122"/>
                      </a:endParaRPr>
                    </a:p>
                  </a:txBody>
                  <a:tcPr anchor="ctr" horzOverflow="overflow">
                    <a:lnL w="12700" cap="flat" cmpd="sng" algn="ctr">
                      <a:solidFill>
                        <a:srgbClr val="000000"/>
                      </a:solidFill>
                      <a:prstDash val="solid"/>
                      <a:round/>
                      <a:headEnd type="none" w="med" len="med"/>
                      <a:tailEnd type="none" w="med" len="med"/>
                    </a:lnL>
                    <a:lnR cap="flat">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6">
                        <a:lumMod val="20000"/>
                        <a:lumOff val="80000"/>
                      </a:schemeClr>
                    </a:solidFill>
                  </a:tcPr>
                </a:tc>
                <a:extLst>
                  <a:ext uri="{0D108BD9-81ED-4DB2-BD59-A6C34878D82A}">
                    <a16:rowId xmlns:a16="http://schemas.microsoft.com/office/drawing/2014/main" val="10002"/>
                  </a:ext>
                </a:extLst>
              </a:tr>
              <a:tr h="51435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dirty="0">
                          <a:ln>
                            <a:noFill/>
                          </a:ln>
                          <a:solidFill>
                            <a:srgbClr val="FF00FF"/>
                          </a:solidFill>
                          <a:effectLst/>
                          <a:latin typeface="Times New Roman" pitchFamily="18" charset="0"/>
                          <a:ea typeface="宋体" charset="-122"/>
                          <a:cs typeface="Times New Roman" pitchFamily="18" charset="0"/>
                        </a:rPr>
                        <a:t>A3</a:t>
                      </a:r>
                      <a:endParaRPr kumimoji="0" lang="en-US" altLang="zh-CN" sz="2400" b="1" i="0" u="none" strike="noStrike" cap="none" normalizeH="0" baseline="0" dirty="0">
                        <a:ln>
                          <a:noFill/>
                        </a:ln>
                        <a:solidFill>
                          <a:srgbClr val="FF00FF"/>
                        </a:solidFill>
                        <a:effectLst/>
                        <a:latin typeface="Arial" charset="0"/>
                        <a:ea typeface="宋体" charset="-122"/>
                      </a:endParaRPr>
                    </a:p>
                  </a:txBody>
                  <a:tcPr anchor="ctr" horzOverflow="overflow">
                    <a:lnL cap="flat">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2">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dirty="0">
                          <a:ln>
                            <a:noFill/>
                          </a:ln>
                          <a:solidFill>
                            <a:srgbClr val="000000"/>
                          </a:solidFill>
                          <a:effectLst/>
                          <a:latin typeface="Times New Roman" pitchFamily="18" charset="0"/>
                          <a:ea typeface="宋体" charset="-122"/>
                          <a:cs typeface="Times New Roman" pitchFamily="18" charset="0"/>
                        </a:rPr>
                        <a:t>78</a:t>
                      </a:r>
                      <a:endParaRPr kumimoji="0" lang="en-US" altLang="zh-CN" sz="2400" b="1" i="0" u="none" strike="noStrike" cap="none" normalizeH="0" baseline="0" dirty="0">
                        <a:ln>
                          <a:noFill/>
                        </a:ln>
                        <a:solidFill>
                          <a:srgbClr val="000000"/>
                        </a:solidFill>
                        <a:effectLst/>
                        <a:latin typeface="Arial" charset="0"/>
                        <a:ea typeface="宋体"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2">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dirty="0">
                          <a:ln>
                            <a:noFill/>
                          </a:ln>
                          <a:solidFill>
                            <a:srgbClr val="000000"/>
                          </a:solidFill>
                          <a:effectLst/>
                          <a:latin typeface="Times New Roman" pitchFamily="18" charset="0"/>
                          <a:ea typeface="宋体" charset="-122"/>
                          <a:cs typeface="Times New Roman" pitchFamily="18" charset="0"/>
                        </a:rPr>
                        <a:t>80</a:t>
                      </a:r>
                      <a:endParaRPr kumimoji="0" lang="en-US" altLang="zh-CN" sz="2400" b="1" i="0" u="none" strike="noStrike" cap="none" normalizeH="0" baseline="0" dirty="0">
                        <a:ln>
                          <a:noFill/>
                        </a:ln>
                        <a:solidFill>
                          <a:srgbClr val="000000"/>
                        </a:solidFill>
                        <a:effectLst/>
                        <a:latin typeface="Arial" charset="0"/>
                        <a:ea typeface="宋体"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2">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dirty="0">
                          <a:ln>
                            <a:noFill/>
                          </a:ln>
                          <a:solidFill>
                            <a:srgbClr val="000000"/>
                          </a:solidFill>
                          <a:effectLst/>
                          <a:latin typeface="Times New Roman" pitchFamily="18" charset="0"/>
                          <a:ea typeface="宋体" charset="-122"/>
                          <a:cs typeface="Times New Roman" pitchFamily="18" charset="0"/>
                        </a:rPr>
                        <a:t>68</a:t>
                      </a:r>
                      <a:endParaRPr kumimoji="0" lang="en-US" altLang="zh-CN" sz="2400" b="1" i="0" u="none" strike="noStrike" cap="none" normalizeH="0" baseline="0" dirty="0">
                        <a:ln>
                          <a:noFill/>
                        </a:ln>
                        <a:solidFill>
                          <a:srgbClr val="000000"/>
                        </a:solidFill>
                        <a:effectLst/>
                        <a:latin typeface="Arial" charset="0"/>
                        <a:ea typeface="宋体"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2">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dirty="0">
                          <a:ln>
                            <a:noFill/>
                          </a:ln>
                          <a:solidFill>
                            <a:srgbClr val="000000"/>
                          </a:solidFill>
                          <a:effectLst/>
                          <a:latin typeface="Times New Roman" pitchFamily="18" charset="0"/>
                          <a:ea typeface="宋体" charset="-122"/>
                          <a:cs typeface="Times New Roman" pitchFamily="18" charset="0"/>
                        </a:rPr>
                        <a:t>82</a:t>
                      </a:r>
                      <a:endParaRPr kumimoji="0" lang="en-US" altLang="zh-CN" sz="2400" b="1" i="0" u="none" strike="noStrike" cap="none" normalizeH="0" baseline="0" dirty="0">
                        <a:ln>
                          <a:noFill/>
                        </a:ln>
                        <a:solidFill>
                          <a:srgbClr val="000000"/>
                        </a:solidFill>
                        <a:effectLst/>
                        <a:latin typeface="Arial" charset="0"/>
                        <a:ea typeface="宋体"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2">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dirty="0">
                          <a:ln>
                            <a:noFill/>
                          </a:ln>
                          <a:solidFill>
                            <a:srgbClr val="000000"/>
                          </a:solidFill>
                          <a:effectLst/>
                          <a:latin typeface="Times New Roman" pitchFamily="18" charset="0"/>
                          <a:ea typeface="宋体" charset="-122"/>
                          <a:cs typeface="Times New Roman" pitchFamily="18" charset="0"/>
                        </a:rPr>
                        <a:t>75</a:t>
                      </a:r>
                      <a:endParaRPr kumimoji="0" lang="en-US" altLang="zh-CN" sz="2400" b="1" i="0" u="none" strike="noStrike" cap="none" normalizeH="0" baseline="0" dirty="0">
                        <a:ln>
                          <a:noFill/>
                        </a:ln>
                        <a:solidFill>
                          <a:srgbClr val="000000"/>
                        </a:solidFill>
                        <a:effectLst/>
                        <a:latin typeface="Arial" charset="0"/>
                        <a:ea typeface="宋体"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2">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dirty="0">
                          <a:ln>
                            <a:noFill/>
                          </a:ln>
                          <a:solidFill>
                            <a:srgbClr val="000000"/>
                          </a:solidFill>
                          <a:effectLst/>
                          <a:latin typeface="Times New Roman" pitchFamily="18" charset="0"/>
                          <a:ea typeface="宋体" charset="-122"/>
                          <a:cs typeface="Times New Roman" pitchFamily="18" charset="0"/>
                        </a:rPr>
                        <a:t>64</a:t>
                      </a:r>
                    </a:p>
                  </a:txBody>
                  <a:tcPr anchor="ctr" horzOverflow="overflow">
                    <a:lnL w="12700" cap="flat" cmpd="sng" algn="ctr">
                      <a:solidFill>
                        <a:srgbClr val="000000"/>
                      </a:solidFill>
                      <a:prstDash val="solid"/>
                      <a:round/>
                      <a:headEnd type="none" w="med" len="med"/>
                      <a:tailEnd type="none" w="med" len="med"/>
                    </a:lnL>
                    <a:lnR cap="flat">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2">
                        <a:lumMod val="20000"/>
                        <a:lumOff val="80000"/>
                      </a:schemeClr>
                    </a:solidFill>
                  </a:tcPr>
                </a:tc>
                <a:extLst>
                  <a:ext uri="{0D108BD9-81ED-4DB2-BD59-A6C34878D82A}">
                    <a16:rowId xmlns:a16="http://schemas.microsoft.com/office/drawing/2014/main" val="10003"/>
                  </a:ext>
                </a:extLst>
              </a:tr>
            </a:tbl>
          </a:graphicData>
        </a:graphic>
      </p:graphicFrame>
      <p:sp>
        <p:nvSpPr>
          <p:cNvPr id="112686" name="Line 175"/>
          <p:cNvSpPr>
            <a:spLocks noChangeShapeType="1"/>
          </p:cNvSpPr>
          <p:nvPr/>
        </p:nvSpPr>
        <p:spPr bwMode="auto">
          <a:xfrm>
            <a:off x="2063750" y="3778251"/>
            <a:ext cx="2305050" cy="790575"/>
          </a:xfrm>
          <a:prstGeom prst="line">
            <a:avLst/>
          </a:prstGeom>
          <a:noFill/>
          <a:ln w="9525">
            <a:solidFill>
              <a:schemeClr val="tx1"/>
            </a:solidFill>
            <a:round/>
            <a:headEnd/>
            <a:tailEnd/>
          </a:ln>
        </p:spPr>
        <p:txBody>
          <a:bodyPr/>
          <a:lstStyle/>
          <a:p>
            <a:endParaRPr lang="zh-CN" altLang="en-US"/>
          </a:p>
        </p:txBody>
      </p:sp>
    </p:spTree>
    <p:extLst>
      <p:ext uri="{BB962C8B-B14F-4D97-AF65-F5344CB8AC3E}">
        <p14:creationId xmlns:p14="http://schemas.microsoft.com/office/powerpoint/2010/main" val="2870152149"/>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3666" name="灯片编号占位符 6"/>
          <p:cNvSpPr>
            <a:spLocks noGrp="1"/>
          </p:cNvSpPr>
          <p:nvPr>
            <p:ph type="sldNum" sz="quarter" idx="10"/>
          </p:nvPr>
        </p:nvSpPr>
        <p:spPr>
          <a:noFill/>
        </p:spPr>
        <p:txBody>
          <a:bodyPr/>
          <a:lstStyle/>
          <a:p>
            <a:r>
              <a:rPr lang="en-US" altLang="zh-CN">
                <a:ea typeface="宋体" pitchFamily="2" charset="-122"/>
              </a:rPr>
              <a:t>8.4--</a:t>
            </a:r>
            <a:fld id="{D4BC7A65-C2CA-486F-AFC1-346FAC01FD53}" type="slidenum">
              <a:rPr lang="en-US" altLang="zh-CN" smtClean="0">
                <a:ea typeface="宋体" pitchFamily="2" charset="-122"/>
              </a:rPr>
              <a:pPr/>
              <a:t>86</a:t>
            </a:fld>
            <a:endParaRPr lang="en-US" altLang="zh-CN">
              <a:ea typeface="宋体" pitchFamily="2" charset="-122"/>
            </a:endParaRPr>
          </a:p>
        </p:txBody>
      </p:sp>
      <p:sp>
        <p:nvSpPr>
          <p:cNvPr id="19459" name="Rectangle 3"/>
          <p:cNvSpPr>
            <a:spLocks noGrp="1" noChangeArrowheads="1"/>
          </p:cNvSpPr>
          <p:nvPr>
            <p:ph type="body" sz="half" idx="4294967295"/>
          </p:nvPr>
        </p:nvSpPr>
        <p:spPr>
          <a:xfrm>
            <a:off x="1670050" y="1219200"/>
            <a:ext cx="7931150" cy="4800600"/>
          </a:xfrm>
          <a:noFill/>
        </p:spPr>
        <p:txBody>
          <a:bodyPr vert="horz" lIns="90488" tIns="44450" rIns="90488" bIns="44450" rtlCol="0">
            <a:normAutofit/>
          </a:bodyPr>
          <a:lstStyle/>
          <a:p>
            <a:pPr marL="533400" indent="-533400" algn="just">
              <a:lnSpc>
                <a:spcPct val="120000"/>
              </a:lnSpc>
              <a:buFontTx/>
              <a:buAutoNum type="arabicPeriod"/>
            </a:pPr>
            <a:r>
              <a:rPr lang="zh-CN" altLang="en-US" sz="2800" b="1" dirty="0">
                <a:solidFill>
                  <a:srgbClr val="000000"/>
                </a:solidFill>
                <a:latin typeface="Times New Roman" pitchFamily="18" charset="0"/>
              </a:rPr>
              <a:t>检验施肥方案对收获量是否有影响，也就是检验三种施肥方案的平均收获量是否相同；</a:t>
            </a:r>
          </a:p>
          <a:p>
            <a:pPr marL="533400" indent="-533400" algn="just">
              <a:lnSpc>
                <a:spcPct val="120000"/>
              </a:lnSpc>
              <a:buFontTx/>
              <a:buAutoNum type="arabicPeriod"/>
            </a:pPr>
            <a:r>
              <a:rPr lang="zh-CN" altLang="en-US" sz="2800" b="1" dirty="0">
                <a:solidFill>
                  <a:srgbClr val="000000"/>
                </a:solidFill>
                <a:latin typeface="Times New Roman" pitchFamily="18" charset="0"/>
              </a:rPr>
              <a:t>设三种施肥方案的总体平均收获量分别为：</a:t>
            </a:r>
          </a:p>
          <a:p>
            <a:pPr marL="533400" indent="-533400" algn="just">
              <a:lnSpc>
                <a:spcPct val="120000"/>
              </a:lnSpc>
              <a:buNone/>
            </a:pPr>
            <a:r>
              <a:rPr lang="zh-CN" altLang="en-US" sz="2800" b="1" dirty="0">
                <a:solidFill>
                  <a:srgbClr val="000000"/>
                </a:solidFill>
                <a:latin typeface="Times New Roman" pitchFamily="18" charset="0"/>
                <a:sym typeface="Symbol" pitchFamily="18" charset="2"/>
              </a:rPr>
              <a:t>       </a:t>
            </a:r>
            <a:r>
              <a:rPr lang="zh-CN" altLang="en-US" sz="2800" b="1" i="1" dirty="0">
                <a:solidFill>
                  <a:srgbClr val="000000"/>
                </a:solidFill>
                <a:latin typeface="Times New Roman" pitchFamily="18" charset="0"/>
                <a:sym typeface="Symbol" pitchFamily="18" charset="2"/>
              </a:rPr>
              <a:t></a:t>
            </a:r>
            <a:r>
              <a:rPr lang="en-US" altLang="zh-CN" sz="2800" b="1" i="1" baseline="-25000" dirty="0">
                <a:solidFill>
                  <a:srgbClr val="000000"/>
                </a:solidFill>
                <a:latin typeface="Times New Roman" pitchFamily="18" charset="0"/>
                <a:sym typeface="Symbol" pitchFamily="18" charset="2"/>
              </a:rPr>
              <a:t>1  </a:t>
            </a:r>
            <a:r>
              <a:rPr lang="zh-CN" altLang="en-US" sz="2800" b="1" i="1" baseline="-25000" dirty="0">
                <a:solidFill>
                  <a:srgbClr val="000000"/>
                </a:solidFill>
                <a:latin typeface="Times New Roman" pitchFamily="18" charset="0"/>
                <a:sym typeface="Symbol" pitchFamily="18" charset="2"/>
              </a:rPr>
              <a:t>、</a:t>
            </a:r>
            <a:r>
              <a:rPr lang="zh-CN" altLang="en-US" sz="2800" b="1" i="1" dirty="0">
                <a:solidFill>
                  <a:srgbClr val="000000"/>
                </a:solidFill>
                <a:latin typeface="Times New Roman" pitchFamily="18" charset="0"/>
                <a:sym typeface="Symbol" pitchFamily="18" charset="2"/>
              </a:rPr>
              <a:t></a:t>
            </a:r>
            <a:r>
              <a:rPr lang="en-US" altLang="zh-CN" sz="2800" b="1" i="1" baseline="-25000" dirty="0">
                <a:solidFill>
                  <a:srgbClr val="000000"/>
                </a:solidFill>
                <a:latin typeface="Times New Roman" pitchFamily="18" charset="0"/>
                <a:sym typeface="Symbol" pitchFamily="18" charset="2"/>
              </a:rPr>
              <a:t>2 </a:t>
            </a:r>
            <a:r>
              <a:rPr lang="zh-CN" altLang="en-US" sz="2800" b="1" i="1" baseline="-25000" dirty="0">
                <a:solidFill>
                  <a:srgbClr val="000000"/>
                </a:solidFill>
                <a:latin typeface="Times New Roman" pitchFamily="18" charset="0"/>
                <a:sym typeface="Symbol" pitchFamily="18" charset="2"/>
              </a:rPr>
              <a:t>、</a:t>
            </a:r>
            <a:r>
              <a:rPr lang="zh-CN" altLang="en-US" sz="2800" b="1" i="1" dirty="0">
                <a:solidFill>
                  <a:srgbClr val="000000"/>
                </a:solidFill>
                <a:latin typeface="Times New Roman" pitchFamily="18" charset="0"/>
                <a:sym typeface="Symbol" pitchFamily="18" charset="2"/>
              </a:rPr>
              <a:t></a:t>
            </a:r>
            <a:r>
              <a:rPr lang="en-US" altLang="zh-CN" sz="2800" b="1" i="1" baseline="-25000" dirty="0">
                <a:solidFill>
                  <a:srgbClr val="000000"/>
                </a:solidFill>
                <a:latin typeface="Times New Roman" pitchFamily="18" charset="0"/>
                <a:sym typeface="Symbol" pitchFamily="18" charset="2"/>
              </a:rPr>
              <a:t>3</a:t>
            </a:r>
            <a:r>
              <a:rPr lang="en-US" altLang="zh-CN" sz="2800" b="1" baseline="-25000" dirty="0">
                <a:solidFill>
                  <a:srgbClr val="000000"/>
                </a:solidFill>
                <a:latin typeface="Times New Roman" pitchFamily="18" charset="0"/>
                <a:sym typeface="Symbol" pitchFamily="18" charset="2"/>
              </a:rPr>
              <a:t> </a:t>
            </a:r>
            <a:r>
              <a:rPr lang="zh-CN" altLang="en-US" sz="2800" b="1" baseline="-25000" dirty="0">
                <a:solidFill>
                  <a:srgbClr val="000000"/>
                </a:solidFill>
                <a:latin typeface="Times New Roman" pitchFamily="18" charset="0"/>
                <a:sym typeface="Symbol" pitchFamily="18" charset="2"/>
              </a:rPr>
              <a:t>，</a:t>
            </a:r>
            <a:r>
              <a:rPr lang="zh-CN" altLang="en-US" sz="2800" b="1" dirty="0">
                <a:solidFill>
                  <a:srgbClr val="000000"/>
                </a:solidFill>
                <a:latin typeface="Times New Roman" pitchFamily="18" charset="0"/>
              </a:rPr>
              <a:t>也就是检验下面的假设：</a:t>
            </a:r>
          </a:p>
          <a:p>
            <a:pPr marL="1143000" lvl="1" indent="-419100" algn="just">
              <a:lnSpc>
                <a:spcPct val="120000"/>
              </a:lnSpc>
              <a:buSzPct val="120000"/>
              <a:buFont typeface="Wingdings" pitchFamily="2" charset="2"/>
              <a:buChar char="§"/>
            </a:pPr>
            <a:r>
              <a:rPr lang="en-US" altLang="zh-CN" b="1" i="1" dirty="0">
                <a:solidFill>
                  <a:srgbClr val="7030A0"/>
                </a:solidFill>
                <a:latin typeface="Times New Roman" pitchFamily="18" charset="0"/>
                <a:sym typeface="Symbol" pitchFamily="18" charset="2"/>
              </a:rPr>
              <a:t>H</a:t>
            </a:r>
            <a:r>
              <a:rPr lang="en-US" altLang="zh-CN" b="1" baseline="-25000" dirty="0">
                <a:solidFill>
                  <a:srgbClr val="7030A0"/>
                </a:solidFill>
                <a:sym typeface="Symbol" pitchFamily="18" charset="2"/>
              </a:rPr>
              <a:t>0</a:t>
            </a:r>
            <a:r>
              <a:rPr lang="en-US" altLang="zh-CN" b="1" dirty="0">
                <a:solidFill>
                  <a:srgbClr val="7030A0"/>
                </a:solidFill>
                <a:sym typeface="Symbol" pitchFamily="18" charset="2"/>
              </a:rPr>
              <a:t>: </a:t>
            </a:r>
            <a:r>
              <a:rPr lang="en-US" altLang="zh-CN" b="1" i="1" dirty="0">
                <a:solidFill>
                  <a:srgbClr val="7030A0"/>
                </a:solidFill>
                <a:sym typeface="Symbol" pitchFamily="18" charset="2"/>
              </a:rPr>
              <a:t></a:t>
            </a:r>
            <a:r>
              <a:rPr lang="en-US" altLang="zh-CN" b="1" i="1" baseline="-25000" dirty="0">
                <a:solidFill>
                  <a:srgbClr val="7030A0"/>
                </a:solidFill>
                <a:latin typeface="Symbol" pitchFamily="18" charset="2"/>
              </a:rPr>
              <a:t>1</a:t>
            </a:r>
            <a:r>
              <a:rPr lang="en-US" altLang="zh-CN" b="1" i="1" dirty="0">
                <a:solidFill>
                  <a:srgbClr val="7030A0"/>
                </a:solidFill>
                <a:sym typeface="Symbol" pitchFamily="18" charset="2"/>
              </a:rPr>
              <a:t>  </a:t>
            </a:r>
            <a:r>
              <a:rPr lang="en-US" altLang="zh-CN" b="1" i="1" baseline="-25000" dirty="0">
                <a:solidFill>
                  <a:srgbClr val="7030A0"/>
                </a:solidFill>
                <a:latin typeface="Symbol" pitchFamily="18" charset="2"/>
              </a:rPr>
              <a:t>2</a:t>
            </a:r>
            <a:r>
              <a:rPr lang="en-US" altLang="zh-CN" b="1" i="1" dirty="0">
                <a:solidFill>
                  <a:srgbClr val="7030A0"/>
                </a:solidFill>
                <a:sym typeface="Symbol" pitchFamily="18" charset="2"/>
              </a:rPr>
              <a:t>  </a:t>
            </a:r>
            <a:r>
              <a:rPr lang="en-US" altLang="zh-CN" b="1" i="1" baseline="-25000" dirty="0">
                <a:solidFill>
                  <a:srgbClr val="7030A0"/>
                </a:solidFill>
                <a:latin typeface="Symbol" pitchFamily="18" charset="2"/>
              </a:rPr>
              <a:t>3</a:t>
            </a:r>
            <a:endParaRPr lang="en-US" altLang="zh-CN" b="1" i="1" dirty="0">
              <a:solidFill>
                <a:srgbClr val="7030A0"/>
              </a:solidFill>
              <a:sym typeface="Symbol" pitchFamily="18" charset="2"/>
            </a:endParaRPr>
          </a:p>
          <a:p>
            <a:pPr marL="1143000" lvl="1" indent="-419100" algn="just">
              <a:lnSpc>
                <a:spcPct val="120000"/>
              </a:lnSpc>
              <a:buSzPct val="120000"/>
              <a:buNone/>
            </a:pPr>
            <a:endParaRPr lang="en-US" altLang="zh-CN" sz="800" b="1" i="1" dirty="0">
              <a:solidFill>
                <a:srgbClr val="7030A0"/>
              </a:solidFill>
              <a:sym typeface="Symbol" pitchFamily="18" charset="2"/>
            </a:endParaRPr>
          </a:p>
          <a:p>
            <a:pPr marL="1143000" lvl="1" indent="-419100" algn="just">
              <a:lnSpc>
                <a:spcPct val="120000"/>
              </a:lnSpc>
              <a:buSzPct val="120000"/>
              <a:buFont typeface="Wingdings" pitchFamily="2" charset="2"/>
              <a:buChar char="§"/>
            </a:pPr>
            <a:r>
              <a:rPr lang="en-US" altLang="zh-CN" b="1" i="1" dirty="0">
                <a:solidFill>
                  <a:srgbClr val="7030A0"/>
                </a:solidFill>
                <a:latin typeface="Times New Roman" pitchFamily="18" charset="0"/>
                <a:sym typeface="Symbol" pitchFamily="18" charset="2"/>
              </a:rPr>
              <a:t>H</a:t>
            </a:r>
            <a:r>
              <a:rPr lang="en-US" altLang="zh-CN" b="1" baseline="-25000" dirty="0">
                <a:solidFill>
                  <a:srgbClr val="7030A0"/>
                </a:solidFill>
                <a:sym typeface="Symbol" pitchFamily="18" charset="2"/>
              </a:rPr>
              <a:t>1</a:t>
            </a:r>
            <a:r>
              <a:rPr lang="en-US" altLang="zh-CN" b="1" dirty="0">
                <a:solidFill>
                  <a:srgbClr val="7030A0"/>
                </a:solidFill>
                <a:sym typeface="Symbol" pitchFamily="18" charset="2"/>
              </a:rPr>
              <a:t>: </a:t>
            </a:r>
            <a:r>
              <a:rPr lang="en-US" altLang="zh-CN" b="1" i="1" dirty="0">
                <a:solidFill>
                  <a:srgbClr val="7030A0"/>
                </a:solidFill>
                <a:sym typeface="Symbol" pitchFamily="18" charset="2"/>
              </a:rPr>
              <a:t></a:t>
            </a:r>
            <a:r>
              <a:rPr lang="en-US" altLang="zh-CN" b="1" i="1" baseline="-25000" dirty="0">
                <a:solidFill>
                  <a:srgbClr val="7030A0"/>
                </a:solidFill>
                <a:latin typeface="Symbol" pitchFamily="18" charset="2"/>
              </a:rPr>
              <a:t>1</a:t>
            </a:r>
            <a:r>
              <a:rPr lang="en-US" altLang="zh-CN" b="1" i="1" dirty="0">
                <a:solidFill>
                  <a:srgbClr val="7030A0"/>
                </a:solidFill>
                <a:sym typeface="Symbol" pitchFamily="18" charset="2"/>
              </a:rPr>
              <a:t> </a:t>
            </a:r>
            <a:r>
              <a:rPr lang="en-US" altLang="zh-CN" b="1" i="1" dirty="0">
                <a:solidFill>
                  <a:srgbClr val="7030A0"/>
                </a:solidFill>
                <a:latin typeface="Times New Roman" pitchFamily="18" charset="0"/>
                <a:cs typeface="Times New Roman" pitchFamily="18" charset="0"/>
                <a:sym typeface="Symbol" pitchFamily="18" charset="2"/>
              </a:rPr>
              <a:t>,</a:t>
            </a:r>
            <a:r>
              <a:rPr lang="en-US" altLang="zh-CN" b="1" i="1" dirty="0">
                <a:solidFill>
                  <a:srgbClr val="7030A0"/>
                </a:solidFill>
                <a:sym typeface="Symbol" pitchFamily="18" charset="2"/>
              </a:rPr>
              <a:t> </a:t>
            </a:r>
            <a:r>
              <a:rPr lang="en-US" altLang="zh-CN" b="1" i="1" baseline="-25000" dirty="0">
                <a:solidFill>
                  <a:srgbClr val="7030A0"/>
                </a:solidFill>
                <a:latin typeface="Symbol" pitchFamily="18" charset="2"/>
              </a:rPr>
              <a:t>2</a:t>
            </a:r>
            <a:r>
              <a:rPr lang="en-US" altLang="zh-CN" b="1" i="1" dirty="0">
                <a:solidFill>
                  <a:srgbClr val="7030A0"/>
                </a:solidFill>
                <a:sym typeface="Symbol" pitchFamily="18" charset="2"/>
              </a:rPr>
              <a:t> </a:t>
            </a:r>
            <a:r>
              <a:rPr lang="en-US" altLang="zh-CN" b="1" i="1" dirty="0">
                <a:solidFill>
                  <a:srgbClr val="7030A0"/>
                </a:solidFill>
                <a:latin typeface="Times New Roman" pitchFamily="18" charset="0"/>
                <a:cs typeface="Times New Roman" pitchFamily="18" charset="0"/>
                <a:sym typeface="Symbol" pitchFamily="18" charset="2"/>
              </a:rPr>
              <a:t>,</a:t>
            </a:r>
            <a:r>
              <a:rPr lang="en-US" altLang="zh-CN" b="1" i="1" dirty="0">
                <a:solidFill>
                  <a:srgbClr val="7030A0"/>
                </a:solidFill>
                <a:sym typeface="Symbol" pitchFamily="18" charset="2"/>
              </a:rPr>
              <a:t> </a:t>
            </a:r>
            <a:r>
              <a:rPr lang="en-US" altLang="zh-CN" b="1" i="1" baseline="-25000" dirty="0">
                <a:solidFill>
                  <a:srgbClr val="7030A0"/>
                </a:solidFill>
                <a:latin typeface="Symbol" pitchFamily="18" charset="2"/>
              </a:rPr>
              <a:t>3</a:t>
            </a:r>
            <a:r>
              <a:rPr lang="en-US" altLang="zh-CN" b="1" dirty="0">
                <a:solidFill>
                  <a:srgbClr val="7030A0"/>
                </a:solidFill>
                <a:sym typeface="Symbol" pitchFamily="18" charset="2"/>
              </a:rPr>
              <a:t> </a:t>
            </a:r>
            <a:r>
              <a:rPr lang="zh-CN" altLang="en-US" b="1" dirty="0">
                <a:solidFill>
                  <a:srgbClr val="7030A0"/>
                </a:solidFill>
                <a:latin typeface="Symbol" pitchFamily="18" charset="2"/>
              </a:rPr>
              <a:t>不全相等</a:t>
            </a:r>
          </a:p>
          <a:p>
            <a:pPr marL="1143000" lvl="1" indent="-685800" algn="just">
              <a:lnSpc>
                <a:spcPct val="120000"/>
              </a:lnSpc>
              <a:buSzPct val="120000"/>
              <a:buNone/>
            </a:pPr>
            <a:endParaRPr lang="zh-CN" altLang="en-US" sz="800" b="1" dirty="0">
              <a:solidFill>
                <a:srgbClr val="FF00FF"/>
              </a:solidFill>
              <a:latin typeface="Symbol" pitchFamily="18" charset="2"/>
            </a:endParaRPr>
          </a:p>
          <a:p>
            <a:pPr marL="533400" indent="-533400" algn="just">
              <a:lnSpc>
                <a:spcPct val="120000"/>
              </a:lnSpc>
              <a:buFontTx/>
              <a:buAutoNum type="arabicPeriod" startAt="3"/>
            </a:pPr>
            <a:r>
              <a:rPr lang="zh-CN" altLang="en-US" sz="2800" b="1" dirty="0">
                <a:solidFill>
                  <a:srgbClr val="000000"/>
                </a:solidFill>
                <a:latin typeface="Times New Roman" pitchFamily="18" charset="0"/>
              </a:rPr>
              <a:t>检验上述假设就可采用方差分析。</a:t>
            </a:r>
          </a:p>
        </p:txBody>
      </p:sp>
      <p:sp>
        <p:nvSpPr>
          <p:cNvPr id="113668" name="Rectangle 4"/>
          <p:cNvSpPr>
            <a:spLocks noGrp="1" noChangeArrowheads="1"/>
          </p:cNvSpPr>
          <p:nvPr>
            <p:ph type="title" idx="4294967295"/>
          </p:nvPr>
        </p:nvSpPr>
        <p:spPr>
          <a:xfrm>
            <a:off x="1828800" y="228600"/>
            <a:ext cx="6223000" cy="990600"/>
          </a:xfrm>
        </p:spPr>
        <p:txBody>
          <a:bodyPr>
            <a:normAutofit/>
          </a:bodyPr>
          <a:lstStyle/>
          <a:p>
            <a:r>
              <a:rPr lang="en-US" altLang="zh-CN" sz="3600" b="1" dirty="0">
                <a:solidFill>
                  <a:srgbClr val="0070C0"/>
                </a:solidFill>
                <a:effectLst/>
              </a:rPr>
              <a:t>8.4.1 </a:t>
            </a:r>
            <a:r>
              <a:rPr lang="zh-CN" altLang="en-US" sz="3600" b="1" dirty="0">
                <a:solidFill>
                  <a:srgbClr val="0070C0"/>
                </a:solidFill>
                <a:effectLst/>
              </a:rPr>
              <a:t>问题的提出（续）</a:t>
            </a:r>
          </a:p>
        </p:txBody>
      </p:sp>
    </p:spTree>
    <p:extLst>
      <p:ext uri="{BB962C8B-B14F-4D97-AF65-F5344CB8AC3E}">
        <p14:creationId xmlns:p14="http://schemas.microsoft.com/office/powerpoint/2010/main" val="16702168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9459">
                                            <p:txEl>
                                              <p:pRg st="1" end="1"/>
                                            </p:txEl>
                                          </p:spTgt>
                                        </p:tgtEl>
                                        <p:attrNameLst>
                                          <p:attrName>style.visibility</p:attrName>
                                        </p:attrNameLst>
                                      </p:cBhvr>
                                      <p:to>
                                        <p:strVal val="visible"/>
                                      </p:to>
                                    </p:set>
                                    <p:animEffect transition="in" filter="wipe(left)">
                                      <p:cBhvr>
                                        <p:cTn id="7" dur="500"/>
                                        <p:tgtEl>
                                          <p:spTgt spid="19459">
                                            <p:txEl>
                                              <p:pRg st="1" end="1"/>
                                            </p:txEl>
                                          </p:spTgt>
                                        </p:tgtEl>
                                      </p:cBhvr>
                                    </p:animEffect>
                                  </p:childTnLst>
                                  <p:subTnLst>
                                    <p:animClr clrSpc="rgb" dir="cw">
                                      <p:cBhvr override="childStyle">
                                        <p:cTn dur="1" fill="hold" display="0" masterRel="nextClick" afterEffect="1"/>
                                        <p:tgtEl>
                                          <p:spTgt spid="19459">
                                            <p:txEl>
                                              <p:pRg st="1" end="1"/>
                                            </p:txEl>
                                          </p:spTgt>
                                        </p:tgtEl>
                                        <p:attrNameLst>
                                          <p:attrName>ppt_c</p:attrName>
                                        </p:attrNameLst>
                                      </p:cBhvr>
                                      <p:to>
                                        <a:schemeClr val="folHlink"/>
                                      </p:to>
                                    </p:animClr>
                                  </p:sub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9459">
                                            <p:txEl>
                                              <p:pRg st="2" end="2"/>
                                            </p:txEl>
                                          </p:spTgt>
                                        </p:tgtEl>
                                        <p:attrNameLst>
                                          <p:attrName>style.visibility</p:attrName>
                                        </p:attrNameLst>
                                      </p:cBhvr>
                                      <p:to>
                                        <p:strVal val="visible"/>
                                      </p:to>
                                    </p:set>
                                    <p:animEffect transition="in" filter="wipe(left)">
                                      <p:cBhvr>
                                        <p:cTn id="12" dur="500"/>
                                        <p:tgtEl>
                                          <p:spTgt spid="19459">
                                            <p:txEl>
                                              <p:pRg st="2" end="2"/>
                                            </p:txEl>
                                          </p:spTgt>
                                        </p:tgtEl>
                                      </p:cBhvr>
                                    </p:animEffect>
                                  </p:childTnLst>
                                  <p:subTnLst>
                                    <p:animClr clrSpc="rgb" dir="cw">
                                      <p:cBhvr override="childStyle">
                                        <p:cTn dur="1" fill="hold" display="0" masterRel="nextClick" afterEffect="1"/>
                                        <p:tgtEl>
                                          <p:spTgt spid="19459">
                                            <p:txEl>
                                              <p:pRg st="2" end="2"/>
                                            </p:txEl>
                                          </p:spTgt>
                                        </p:tgtEl>
                                        <p:attrNameLst>
                                          <p:attrName>ppt_c</p:attrName>
                                        </p:attrNameLst>
                                      </p:cBhvr>
                                      <p:to>
                                        <a:schemeClr val="folHlink"/>
                                      </p:to>
                                    </p:animClr>
                                  </p:subTnLst>
                                </p:cTn>
                              </p:par>
                              <p:par>
                                <p:cTn id="13" presetID="22" presetClass="entr" presetSubtype="8" fill="hold" grpId="0" nodeType="withEffect">
                                  <p:stCondLst>
                                    <p:cond delay="0"/>
                                  </p:stCondLst>
                                  <p:childTnLst>
                                    <p:set>
                                      <p:cBhvr>
                                        <p:cTn id="14" dur="1" fill="hold">
                                          <p:stCondLst>
                                            <p:cond delay="0"/>
                                          </p:stCondLst>
                                        </p:cTn>
                                        <p:tgtEl>
                                          <p:spTgt spid="19459">
                                            <p:txEl>
                                              <p:pRg st="3" end="3"/>
                                            </p:txEl>
                                          </p:spTgt>
                                        </p:tgtEl>
                                        <p:attrNameLst>
                                          <p:attrName>style.visibility</p:attrName>
                                        </p:attrNameLst>
                                      </p:cBhvr>
                                      <p:to>
                                        <p:strVal val="visible"/>
                                      </p:to>
                                    </p:set>
                                    <p:animEffect transition="in" filter="wipe(left)">
                                      <p:cBhvr>
                                        <p:cTn id="15" dur="500"/>
                                        <p:tgtEl>
                                          <p:spTgt spid="19459">
                                            <p:txEl>
                                              <p:pRg st="3" end="3"/>
                                            </p:txEl>
                                          </p:spTgt>
                                        </p:tgtEl>
                                      </p:cBhvr>
                                    </p:animEffect>
                                  </p:childTnLst>
                                  <p:subTnLst>
                                    <p:animClr clrSpc="rgb" dir="cw">
                                      <p:cBhvr override="childStyle">
                                        <p:cTn dur="1" fill="hold" display="0" masterRel="nextClick" afterEffect="1"/>
                                        <p:tgtEl>
                                          <p:spTgt spid="19459">
                                            <p:txEl>
                                              <p:pRg st="3" end="3"/>
                                            </p:txEl>
                                          </p:spTgt>
                                        </p:tgtEl>
                                        <p:attrNameLst>
                                          <p:attrName>ppt_c</p:attrName>
                                        </p:attrNameLst>
                                      </p:cBhvr>
                                      <p:to>
                                        <a:schemeClr val="folHlink"/>
                                      </p:to>
                                    </p:animClr>
                                  </p:subTnLst>
                                </p:cTn>
                              </p:par>
                              <p:par>
                                <p:cTn id="16" presetID="22" presetClass="entr" presetSubtype="8" fill="hold" grpId="0" nodeType="withEffect">
                                  <p:stCondLst>
                                    <p:cond delay="0"/>
                                  </p:stCondLst>
                                  <p:childTnLst>
                                    <p:set>
                                      <p:cBhvr>
                                        <p:cTn id="17" dur="1" fill="hold">
                                          <p:stCondLst>
                                            <p:cond delay="0"/>
                                          </p:stCondLst>
                                        </p:cTn>
                                        <p:tgtEl>
                                          <p:spTgt spid="19459">
                                            <p:txEl>
                                              <p:pRg st="5" end="5"/>
                                            </p:txEl>
                                          </p:spTgt>
                                        </p:tgtEl>
                                        <p:attrNameLst>
                                          <p:attrName>style.visibility</p:attrName>
                                        </p:attrNameLst>
                                      </p:cBhvr>
                                      <p:to>
                                        <p:strVal val="visible"/>
                                      </p:to>
                                    </p:set>
                                    <p:animEffect transition="in" filter="wipe(left)">
                                      <p:cBhvr>
                                        <p:cTn id="18" dur="500"/>
                                        <p:tgtEl>
                                          <p:spTgt spid="19459">
                                            <p:txEl>
                                              <p:pRg st="5" end="5"/>
                                            </p:txEl>
                                          </p:spTgt>
                                        </p:tgtEl>
                                      </p:cBhvr>
                                    </p:animEffect>
                                  </p:childTnLst>
                                  <p:subTnLst>
                                    <p:animClr clrSpc="rgb" dir="cw">
                                      <p:cBhvr override="childStyle">
                                        <p:cTn dur="1" fill="hold" display="0" masterRel="nextClick" afterEffect="1"/>
                                        <p:tgtEl>
                                          <p:spTgt spid="19459">
                                            <p:txEl>
                                              <p:pRg st="5" end="5"/>
                                            </p:txEl>
                                          </p:spTgt>
                                        </p:tgtEl>
                                        <p:attrNameLst>
                                          <p:attrName>ppt_c</p:attrName>
                                        </p:attrNameLst>
                                      </p:cBhvr>
                                      <p:to>
                                        <a:schemeClr val="folHlink"/>
                                      </p:to>
                                    </p:animClr>
                                  </p:sub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9459">
                                            <p:txEl>
                                              <p:pRg st="7" end="7"/>
                                            </p:txEl>
                                          </p:spTgt>
                                        </p:tgtEl>
                                        <p:attrNameLst>
                                          <p:attrName>style.visibility</p:attrName>
                                        </p:attrNameLst>
                                      </p:cBhvr>
                                      <p:to>
                                        <p:strVal val="visible"/>
                                      </p:to>
                                    </p:set>
                                    <p:animEffect transition="in" filter="wipe(left)">
                                      <p:cBhvr>
                                        <p:cTn id="23" dur="500"/>
                                        <p:tgtEl>
                                          <p:spTgt spid="19459">
                                            <p:txEl>
                                              <p:pRg st="7" end="7"/>
                                            </p:txEl>
                                          </p:spTgt>
                                        </p:tgtEl>
                                      </p:cBhvr>
                                    </p:animEffect>
                                  </p:childTnLst>
                                  <p:subTnLst>
                                    <p:animClr clrSpc="rgb" dir="cw">
                                      <p:cBhvr override="childStyle">
                                        <p:cTn dur="1" fill="hold" display="0" masterRel="nextClick" afterEffect="1"/>
                                        <p:tgtEl>
                                          <p:spTgt spid="19459">
                                            <p:txEl>
                                              <p:pRg st="7" end="7"/>
                                            </p:txEl>
                                          </p:spTgt>
                                        </p:tgtEl>
                                        <p:attrNameLst>
                                          <p:attrName>ppt_c</p:attrName>
                                        </p:attrNameLst>
                                      </p:cBhvr>
                                      <p:to>
                                        <a:schemeClr val="folHlink"/>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59" grpId="0" build="p" autoUpdateAnimBg="0"/>
    </p:bldLst>
  </p:timing>
</p:sld>
</file>

<file path=ppt/slides/slide8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4690" name="灯片编号占位符 6"/>
          <p:cNvSpPr>
            <a:spLocks noGrp="1"/>
          </p:cNvSpPr>
          <p:nvPr>
            <p:ph type="sldNum" sz="quarter" idx="10"/>
          </p:nvPr>
        </p:nvSpPr>
        <p:spPr>
          <a:noFill/>
        </p:spPr>
        <p:txBody>
          <a:bodyPr/>
          <a:lstStyle/>
          <a:p>
            <a:r>
              <a:rPr lang="en-US" altLang="zh-CN">
                <a:ea typeface="宋体" pitchFamily="2" charset="-122"/>
              </a:rPr>
              <a:t>8.4--</a:t>
            </a:r>
            <a:fld id="{8D63A4BB-C521-4EB3-B658-8003500C1140}" type="slidenum">
              <a:rPr lang="en-US" altLang="zh-CN" smtClean="0">
                <a:ea typeface="宋体" pitchFamily="2" charset="-122"/>
              </a:rPr>
              <a:pPr/>
              <a:t>87</a:t>
            </a:fld>
            <a:endParaRPr lang="en-US" altLang="zh-CN">
              <a:ea typeface="宋体" pitchFamily="2" charset="-122"/>
            </a:endParaRPr>
          </a:p>
        </p:txBody>
      </p:sp>
      <p:sp>
        <p:nvSpPr>
          <p:cNvPr id="114691" name="Rectangle 2"/>
          <p:cNvSpPr>
            <a:spLocks noGrp="1" noChangeArrowheads="1"/>
          </p:cNvSpPr>
          <p:nvPr>
            <p:ph type="title" idx="4294967295"/>
          </p:nvPr>
        </p:nvSpPr>
        <p:spPr>
          <a:xfrm>
            <a:off x="1412241" y="205261"/>
            <a:ext cx="6286500" cy="1400175"/>
          </a:xfrm>
          <a:noFill/>
        </p:spPr>
        <p:txBody>
          <a:bodyPr vert="horz" lIns="90488" tIns="44450" rIns="90488" bIns="44450" rtlCol="0" anchor="ctr" anchorCtr="1">
            <a:normAutofit/>
          </a:bodyPr>
          <a:lstStyle/>
          <a:p>
            <a:r>
              <a:rPr lang="zh-CN" altLang="en-US" b="1" dirty="0">
                <a:solidFill>
                  <a:srgbClr val="0070C0"/>
                </a:solidFill>
                <a:effectLst/>
              </a:rPr>
              <a:t>方差分析的</a:t>
            </a:r>
            <a:r>
              <a:rPr lang="zh-CN" altLang="en-US" sz="4000" b="1" dirty="0">
                <a:solidFill>
                  <a:srgbClr val="0070C0"/>
                </a:solidFill>
                <a:effectLst/>
              </a:rPr>
              <a:t>几个基本概念</a:t>
            </a:r>
          </a:p>
        </p:txBody>
      </p:sp>
      <p:sp>
        <p:nvSpPr>
          <p:cNvPr id="114692" name="Rectangle 3"/>
          <p:cNvSpPr>
            <a:spLocks noGrp="1" noChangeArrowheads="1"/>
          </p:cNvSpPr>
          <p:nvPr>
            <p:ph type="body" sz="half" idx="4294967295"/>
          </p:nvPr>
        </p:nvSpPr>
        <p:spPr>
          <a:xfrm>
            <a:off x="1912304" y="1596468"/>
            <a:ext cx="7850187" cy="4897437"/>
          </a:xfrm>
          <a:noFill/>
        </p:spPr>
        <p:txBody>
          <a:bodyPr vert="horz" lIns="90488" tIns="44450" rIns="90488" bIns="44450" rtlCol="0">
            <a:normAutofit/>
          </a:bodyPr>
          <a:lstStyle/>
          <a:p>
            <a:pPr marL="533400" indent="-533400" algn="just">
              <a:lnSpc>
                <a:spcPct val="105000"/>
              </a:lnSpc>
              <a:buNone/>
            </a:pPr>
            <a:r>
              <a:rPr lang="zh-CN" altLang="en-US" b="1" dirty="0">
                <a:solidFill>
                  <a:srgbClr val="C00000"/>
                </a:solidFill>
                <a:latin typeface="Times New Roman" pitchFamily="18" charset="0"/>
              </a:rPr>
              <a:t>因素或因子</a:t>
            </a:r>
          </a:p>
          <a:p>
            <a:pPr marL="457200" lvl="1" indent="0" algn="just">
              <a:lnSpc>
                <a:spcPct val="105000"/>
              </a:lnSpc>
              <a:buSzPct val="120000"/>
              <a:buNone/>
            </a:pPr>
            <a:r>
              <a:rPr lang="en-US" altLang="zh-CN" sz="2400" b="1" dirty="0">
                <a:latin typeface="Times New Roman" pitchFamily="18" charset="0"/>
              </a:rPr>
              <a:t>——</a:t>
            </a:r>
            <a:r>
              <a:rPr lang="zh-CN" altLang="en-US" sz="2600" b="1" dirty="0">
                <a:latin typeface="Times New Roman" pitchFamily="18" charset="0"/>
              </a:rPr>
              <a:t>所要检验的对象称为因子，是</a:t>
            </a:r>
            <a:r>
              <a:rPr lang="zh-CN" altLang="en-US" sz="2600" b="1" dirty="0"/>
              <a:t>定性变量 </a:t>
            </a:r>
            <a:endParaRPr lang="zh-CN" altLang="en-US" sz="2600" b="1" dirty="0">
              <a:latin typeface="Times New Roman" pitchFamily="18" charset="0"/>
            </a:endParaRPr>
          </a:p>
          <a:p>
            <a:pPr marL="1079500" lvl="2" indent="0" algn="just">
              <a:lnSpc>
                <a:spcPct val="105000"/>
              </a:lnSpc>
              <a:buSzPct val="120000"/>
              <a:buNone/>
            </a:pPr>
            <a:r>
              <a:rPr lang="zh-CN" altLang="en-US" sz="2000" b="1" dirty="0">
                <a:latin typeface="Times New Roman" pitchFamily="18" charset="0"/>
              </a:rPr>
              <a:t>如上例中的</a:t>
            </a:r>
            <a:r>
              <a:rPr lang="zh-CN" altLang="en-US" sz="2000" b="1" dirty="0">
                <a:solidFill>
                  <a:srgbClr val="CC66FF"/>
                </a:solidFill>
                <a:latin typeface="Times New Roman" pitchFamily="18" charset="0"/>
              </a:rPr>
              <a:t>施肥方案</a:t>
            </a:r>
            <a:r>
              <a:rPr lang="zh-CN" altLang="en-US" sz="2000" b="1" dirty="0">
                <a:latin typeface="Times New Roman" pitchFamily="18" charset="0"/>
              </a:rPr>
              <a:t>。</a:t>
            </a:r>
          </a:p>
          <a:p>
            <a:pPr marL="177800" lvl="1" indent="0" algn="just">
              <a:lnSpc>
                <a:spcPct val="105000"/>
              </a:lnSpc>
              <a:buSzPct val="120000"/>
              <a:buNone/>
            </a:pPr>
            <a:r>
              <a:rPr lang="zh-CN" altLang="en-US" b="1" dirty="0">
                <a:solidFill>
                  <a:srgbClr val="993366"/>
                </a:solidFill>
              </a:rPr>
              <a:t>根据所涉及的因素多少，方差分析分为：</a:t>
            </a:r>
          </a:p>
          <a:p>
            <a:pPr marL="1257300" lvl="2" indent="-342900" algn="just">
              <a:lnSpc>
                <a:spcPct val="105000"/>
              </a:lnSpc>
              <a:buSzPct val="120000"/>
              <a:buFont typeface="Wingdings" pitchFamily="2" charset="2"/>
              <a:buChar char="§"/>
            </a:pPr>
            <a:r>
              <a:rPr lang="zh-CN" altLang="en-US" b="1" u="sng" dirty="0">
                <a:solidFill>
                  <a:srgbClr val="0070C0"/>
                </a:solidFill>
              </a:rPr>
              <a:t>单因素方差分析</a:t>
            </a:r>
          </a:p>
          <a:p>
            <a:pPr marL="1257300" lvl="2" indent="-342900" algn="just">
              <a:lnSpc>
                <a:spcPct val="105000"/>
              </a:lnSpc>
              <a:buSzPct val="120000"/>
              <a:buFont typeface="Wingdings" pitchFamily="2" charset="2"/>
              <a:buChar char="§"/>
            </a:pPr>
            <a:r>
              <a:rPr lang="zh-CN" altLang="en-US" b="1" dirty="0">
                <a:solidFill>
                  <a:srgbClr val="0070C0"/>
                </a:solidFill>
              </a:rPr>
              <a:t>双因素方差分析</a:t>
            </a:r>
            <a:r>
              <a:rPr lang="en-US" altLang="zh-CN" dirty="0">
                <a:solidFill>
                  <a:srgbClr val="002060"/>
                </a:solidFill>
              </a:rPr>
              <a:t>——</a:t>
            </a:r>
            <a:r>
              <a:rPr lang="zh-CN" altLang="en-US" dirty="0">
                <a:solidFill>
                  <a:srgbClr val="002060"/>
                </a:solidFill>
              </a:rPr>
              <a:t>本课程略</a:t>
            </a:r>
          </a:p>
          <a:p>
            <a:pPr marL="1612900" lvl="5" indent="-266700" algn="just">
              <a:lnSpc>
                <a:spcPct val="105000"/>
              </a:lnSpc>
              <a:buSzPct val="50000"/>
              <a:buFont typeface="Wingdings" panose="05000000000000000000" pitchFamily="2" charset="2"/>
              <a:buChar char="l"/>
            </a:pPr>
            <a:r>
              <a:rPr lang="zh-CN" altLang="en-US" sz="2400" b="1" dirty="0"/>
              <a:t>无交互影响</a:t>
            </a:r>
          </a:p>
          <a:p>
            <a:pPr marL="1612900" lvl="5" indent="-266700" algn="just">
              <a:lnSpc>
                <a:spcPct val="105000"/>
              </a:lnSpc>
              <a:buSzPct val="50000"/>
              <a:buFont typeface="Wingdings" panose="05000000000000000000" pitchFamily="2" charset="2"/>
              <a:buChar char="l"/>
            </a:pPr>
            <a:r>
              <a:rPr lang="zh-CN" altLang="en-US" sz="2400" b="1" dirty="0"/>
              <a:t>有交互影响</a:t>
            </a:r>
          </a:p>
          <a:p>
            <a:pPr marL="1257300" lvl="2" indent="-342900" algn="just">
              <a:lnSpc>
                <a:spcPct val="105000"/>
              </a:lnSpc>
              <a:buSzPct val="120000"/>
              <a:buFont typeface="Wingdings" pitchFamily="2" charset="2"/>
              <a:buChar char="§"/>
            </a:pPr>
            <a:r>
              <a:rPr lang="zh-CN" altLang="en-US" b="1" dirty="0">
                <a:solidFill>
                  <a:srgbClr val="0070C0"/>
                </a:solidFill>
              </a:rPr>
              <a:t>多因素方差分析</a:t>
            </a:r>
            <a:r>
              <a:rPr lang="en-US" altLang="zh-CN" dirty="0">
                <a:solidFill>
                  <a:srgbClr val="002060"/>
                </a:solidFill>
              </a:rPr>
              <a:t>——</a:t>
            </a:r>
            <a:r>
              <a:rPr lang="zh-CN" altLang="en-US" dirty="0">
                <a:solidFill>
                  <a:srgbClr val="002060"/>
                </a:solidFill>
              </a:rPr>
              <a:t>本课程略</a:t>
            </a:r>
            <a:endParaRPr lang="zh-CN" altLang="en-US" b="1" dirty="0">
              <a:solidFill>
                <a:srgbClr val="0070C0"/>
              </a:solidFill>
            </a:endParaRPr>
          </a:p>
        </p:txBody>
      </p:sp>
    </p:spTree>
    <p:extLst>
      <p:ext uri="{BB962C8B-B14F-4D97-AF65-F5344CB8AC3E}">
        <p14:creationId xmlns:p14="http://schemas.microsoft.com/office/powerpoint/2010/main" val="2062964"/>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5714" name="灯片编号占位符 6"/>
          <p:cNvSpPr>
            <a:spLocks noGrp="1"/>
          </p:cNvSpPr>
          <p:nvPr>
            <p:ph type="sldNum" sz="quarter" idx="10"/>
          </p:nvPr>
        </p:nvSpPr>
        <p:spPr>
          <a:noFill/>
        </p:spPr>
        <p:txBody>
          <a:bodyPr/>
          <a:lstStyle/>
          <a:p>
            <a:r>
              <a:rPr lang="en-US" altLang="zh-CN">
                <a:ea typeface="宋体" pitchFamily="2" charset="-122"/>
              </a:rPr>
              <a:t>8.4--</a:t>
            </a:r>
            <a:fld id="{15E28293-D8A7-40EF-9963-52D3D886BE69}" type="slidenum">
              <a:rPr lang="en-US" altLang="zh-CN" smtClean="0">
                <a:ea typeface="宋体" pitchFamily="2" charset="-122"/>
              </a:rPr>
              <a:pPr/>
              <a:t>88</a:t>
            </a:fld>
            <a:endParaRPr lang="en-US" altLang="zh-CN">
              <a:ea typeface="宋体" pitchFamily="2" charset="-122"/>
            </a:endParaRPr>
          </a:p>
        </p:txBody>
      </p:sp>
      <p:sp>
        <p:nvSpPr>
          <p:cNvPr id="115715" name="Rectangle 2"/>
          <p:cNvSpPr>
            <a:spLocks noGrp="1" noChangeArrowheads="1"/>
          </p:cNvSpPr>
          <p:nvPr>
            <p:ph type="title" idx="4294967295"/>
          </p:nvPr>
        </p:nvSpPr>
        <p:spPr>
          <a:xfrm>
            <a:off x="1373188" y="244475"/>
            <a:ext cx="7910512" cy="1400175"/>
          </a:xfrm>
          <a:noFill/>
        </p:spPr>
        <p:txBody>
          <a:bodyPr vert="horz" lIns="90488" tIns="44450" rIns="90488" bIns="44450" rtlCol="0" anchor="ctr" anchorCtr="1">
            <a:normAutofit/>
          </a:bodyPr>
          <a:lstStyle/>
          <a:p>
            <a:r>
              <a:rPr lang="zh-CN" altLang="en-US" sz="3600" b="1" dirty="0">
                <a:solidFill>
                  <a:srgbClr val="0070C0"/>
                </a:solidFill>
                <a:effectLst/>
              </a:rPr>
              <a:t>方差分析的几个基本概念（续）</a:t>
            </a:r>
          </a:p>
        </p:txBody>
      </p:sp>
      <p:sp>
        <p:nvSpPr>
          <p:cNvPr id="2" name="Rectangle 3"/>
          <p:cNvSpPr>
            <a:spLocks noGrp="1" noChangeArrowheads="1"/>
          </p:cNvSpPr>
          <p:nvPr>
            <p:ph type="body" sz="half" idx="4294967295"/>
          </p:nvPr>
        </p:nvSpPr>
        <p:spPr>
          <a:xfrm>
            <a:off x="1270000" y="1619250"/>
            <a:ext cx="8674100" cy="4476750"/>
          </a:xfrm>
          <a:noFill/>
        </p:spPr>
        <p:txBody>
          <a:bodyPr vert="horz" lIns="90488" tIns="44450" rIns="90488" bIns="44450" rtlCol="0">
            <a:normAutofit/>
          </a:bodyPr>
          <a:lstStyle/>
          <a:p>
            <a:pPr marL="533400" indent="-533400" algn="just">
              <a:lnSpc>
                <a:spcPct val="105000"/>
              </a:lnSpc>
              <a:buNone/>
            </a:pPr>
            <a:r>
              <a:rPr lang="zh-CN" altLang="en-US" sz="2800" dirty="0">
                <a:latin typeface="Times New Roman" pitchFamily="18" charset="0"/>
              </a:rPr>
              <a:t>    </a:t>
            </a:r>
            <a:r>
              <a:rPr lang="zh-CN" altLang="en-US" b="1" dirty="0">
                <a:solidFill>
                  <a:srgbClr val="C00000"/>
                </a:solidFill>
                <a:latin typeface="Times New Roman" pitchFamily="18" charset="0"/>
              </a:rPr>
              <a:t>水平</a:t>
            </a:r>
          </a:p>
          <a:p>
            <a:pPr marL="901700" lvl="1" indent="-279400" algn="just">
              <a:buSzPct val="120000"/>
              <a:buFont typeface="Wingdings" pitchFamily="2" charset="2"/>
              <a:buChar char="§"/>
            </a:pPr>
            <a:r>
              <a:rPr lang="zh-CN" altLang="en-US" sz="2400" dirty="0">
                <a:latin typeface="Times New Roman" pitchFamily="18" charset="0"/>
              </a:rPr>
              <a:t>因素的具体表现称为</a:t>
            </a:r>
            <a:r>
              <a:rPr lang="zh-CN" altLang="en-US" sz="2400" b="1" dirty="0">
                <a:solidFill>
                  <a:srgbClr val="0070C0"/>
                </a:solidFill>
                <a:latin typeface="Times New Roman" pitchFamily="18" charset="0"/>
              </a:rPr>
              <a:t>水平</a:t>
            </a:r>
            <a:r>
              <a:rPr lang="zh-CN" altLang="en-US" sz="2400" dirty="0">
                <a:latin typeface="Times New Roman" pitchFamily="18" charset="0"/>
              </a:rPr>
              <a:t>（也称为</a:t>
            </a:r>
            <a:r>
              <a:rPr lang="zh-CN" altLang="en-US" sz="2400" dirty="0">
                <a:solidFill>
                  <a:schemeClr val="tx2"/>
                </a:solidFill>
                <a:latin typeface="Times New Roman" pitchFamily="18" charset="0"/>
              </a:rPr>
              <a:t>类别或处理方案</a:t>
            </a:r>
            <a:r>
              <a:rPr lang="zh-CN" altLang="en-US" sz="2400" dirty="0">
                <a:latin typeface="Times New Roman" pitchFamily="18" charset="0"/>
              </a:rPr>
              <a:t>）</a:t>
            </a:r>
            <a:r>
              <a:rPr lang="en-US" altLang="zh-CN" sz="2400" dirty="0">
                <a:latin typeface="Times New Roman" pitchFamily="18" charset="0"/>
              </a:rPr>
              <a:t>.</a:t>
            </a:r>
          </a:p>
          <a:p>
            <a:pPr marL="901700" lvl="1" indent="-279400" algn="just">
              <a:buSzPct val="120000"/>
              <a:buFont typeface="Wingdings" pitchFamily="2" charset="2"/>
              <a:buChar char="§"/>
            </a:pPr>
            <a:r>
              <a:rPr lang="zh-CN" altLang="en-US" sz="2400" dirty="0">
                <a:latin typeface="Times New Roman" pitchFamily="18" charset="0"/>
              </a:rPr>
              <a:t>在上例中三种施肥方案就是因素的三个水平。</a:t>
            </a:r>
          </a:p>
          <a:p>
            <a:pPr marL="901700" lvl="1" indent="-279400" algn="just">
              <a:buSzPct val="120000"/>
              <a:buFont typeface="Wingdings" pitchFamily="2" charset="2"/>
              <a:buChar char="§"/>
            </a:pPr>
            <a:r>
              <a:rPr lang="zh-CN" altLang="en-US" sz="2400" dirty="0"/>
              <a:t>每个水平下的所有可能结果构成一个</a:t>
            </a:r>
            <a:r>
              <a:rPr lang="zh-CN" altLang="en-US" sz="2400" b="1" dirty="0">
                <a:solidFill>
                  <a:srgbClr val="0070C0"/>
                </a:solidFill>
              </a:rPr>
              <a:t>总体</a:t>
            </a:r>
            <a:r>
              <a:rPr lang="zh-CN" altLang="en-US" sz="2400" dirty="0"/>
              <a:t>。 </a:t>
            </a:r>
          </a:p>
          <a:p>
            <a:pPr marL="533400" indent="-533400" algn="just">
              <a:buSzPct val="120000"/>
              <a:buNone/>
            </a:pPr>
            <a:r>
              <a:rPr lang="zh-CN" altLang="en-US" sz="2800" dirty="0">
                <a:latin typeface="Times New Roman" pitchFamily="18" charset="0"/>
              </a:rPr>
              <a:t>    </a:t>
            </a:r>
            <a:r>
              <a:rPr lang="zh-CN" altLang="en-US" b="1" dirty="0">
                <a:solidFill>
                  <a:srgbClr val="C00000"/>
                </a:solidFill>
                <a:latin typeface="Times New Roman" pitchFamily="18" charset="0"/>
              </a:rPr>
              <a:t>观察值</a:t>
            </a:r>
          </a:p>
          <a:p>
            <a:pPr marL="901700" lvl="1" indent="-279400" algn="just">
              <a:buSzPct val="120000"/>
              <a:buFont typeface="Wingdings" pitchFamily="2" charset="2"/>
              <a:buChar char="§"/>
            </a:pPr>
            <a:r>
              <a:rPr lang="zh-CN" altLang="en-US" sz="2400" dirty="0">
                <a:solidFill>
                  <a:srgbClr val="0070C0"/>
                </a:solidFill>
              </a:rPr>
              <a:t>样本</a:t>
            </a:r>
            <a:r>
              <a:rPr lang="zh-CN" altLang="en-US" sz="2400" dirty="0"/>
              <a:t>是分别从每个水平（总体）中随机抽取的。 </a:t>
            </a:r>
            <a:endParaRPr lang="zh-CN" altLang="en-US" sz="2400" dirty="0">
              <a:latin typeface="Times New Roman" pitchFamily="18" charset="0"/>
            </a:endParaRPr>
          </a:p>
          <a:p>
            <a:pPr marL="901700" lvl="1" indent="-279400" algn="just">
              <a:buSzPct val="120000"/>
              <a:buFont typeface="Wingdings" pitchFamily="2" charset="2"/>
              <a:buChar char="§"/>
            </a:pPr>
            <a:r>
              <a:rPr lang="zh-CN" altLang="en-US" sz="2400" dirty="0">
                <a:latin typeface="Times New Roman" pitchFamily="18" charset="0"/>
              </a:rPr>
              <a:t>在第 </a:t>
            </a:r>
            <a:r>
              <a:rPr lang="en-US" altLang="zh-CN" sz="2400" dirty="0" err="1">
                <a:latin typeface="Times New Roman" pitchFamily="18" charset="0"/>
              </a:rPr>
              <a:t>i</a:t>
            </a:r>
            <a:r>
              <a:rPr lang="en-US" altLang="zh-CN" sz="2400" dirty="0">
                <a:latin typeface="Times New Roman" pitchFamily="18" charset="0"/>
              </a:rPr>
              <a:t> </a:t>
            </a:r>
            <a:r>
              <a:rPr lang="zh-CN" altLang="en-US" sz="2400" dirty="0">
                <a:latin typeface="Times New Roman" pitchFamily="18" charset="0"/>
              </a:rPr>
              <a:t>个水平下的 </a:t>
            </a:r>
            <a:r>
              <a:rPr lang="en-US" altLang="zh-CN" sz="2400" dirty="0">
                <a:latin typeface="Times New Roman" pitchFamily="18" charset="0"/>
              </a:rPr>
              <a:t>j </a:t>
            </a:r>
            <a:r>
              <a:rPr lang="zh-CN" altLang="en-US" sz="2400" dirty="0">
                <a:latin typeface="Times New Roman" pitchFamily="18" charset="0"/>
              </a:rPr>
              <a:t>个</a:t>
            </a:r>
            <a:r>
              <a:rPr lang="zh-CN" altLang="en-US" sz="2400" b="1" dirty="0">
                <a:solidFill>
                  <a:srgbClr val="0070C0"/>
                </a:solidFill>
                <a:latin typeface="Times New Roman" pitchFamily="18" charset="0"/>
              </a:rPr>
              <a:t>观察值</a:t>
            </a:r>
            <a:r>
              <a:rPr lang="zh-CN" altLang="en-US" sz="2400" dirty="0">
                <a:latin typeface="Times New Roman" pitchFamily="18" charset="0"/>
              </a:rPr>
              <a:t>，记为 </a:t>
            </a:r>
            <a:r>
              <a:rPr lang="en-US" altLang="zh-CN" sz="3200" b="1" i="1" dirty="0" err="1">
                <a:solidFill>
                  <a:srgbClr val="0070C0"/>
                </a:solidFill>
                <a:latin typeface="Times New Roman" pitchFamily="18" charset="0"/>
              </a:rPr>
              <a:t>x</a:t>
            </a:r>
            <a:r>
              <a:rPr lang="en-US" altLang="zh-CN" sz="3200" b="1" i="1" baseline="-25000" dirty="0" err="1">
                <a:solidFill>
                  <a:srgbClr val="0070C0"/>
                </a:solidFill>
                <a:latin typeface="Times New Roman" pitchFamily="18" charset="0"/>
              </a:rPr>
              <a:t>ij</a:t>
            </a:r>
            <a:endParaRPr lang="en-US" altLang="zh-CN" sz="3200" b="1" i="1" baseline="-25000" dirty="0">
              <a:solidFill>
                <a:srgbClr val="0070C0"/>
              </a:solidFill>
              <a:latin typeface="Times New Roman" pitchFamily="18" charset="0"/>
            </a:endParaRPr>
          </a:p>
          <a:p>
            <a:pPr marL="901700" lvl="1" indent="-279400" algn="just">
              <a:buSzPct val="120000"/>
              <a:buFont typeface="Wingdings" pitchFamily="2" charset="2"/>
              <a:buChar char="§"/>
            </a:pPr>
            <a:r>
              <a:rPr lang="zh-CN" altLang="en-US" sz="2400" dirty="0">
                <a:latin typeface="Times New Roman" pitchFamily="18" charset="0"/>
              </a:rPr>
              <a:t>例</a:t>
            </a:r>
            <a:r>
              <a:rPr lang="en-US" altLang="zh-CN" sz="2400" dirty="0">
                <a:latin typeface="Times New Roman" pitchFamily="18" charset="0"/>
              </a:rPr>
              <a:t>8-11</a:t>
            </a:r>
            <a:r>
              <a:rPr lang="zh-CN" altLang="en-US" sz="2400" dirty="0">
                <a:latin typeface="Times New Roman" pitchFamily="18" charset="0"/>
              </a:rPr>
              <a:t>中，每种施肥方案中各个地块的收获量就是观察值</a:t>
            </a:r>
            <a:endParaRPr lang="en-US" altLang="zh-CN" sz="2400" dirty="0">
              <a:latin typeface="Times New Roman" pitchFamily="18" charset="0"/>
            </a:endParaRPr>
          </a:p>
        </p:txBody>
      </p:sp>
    </p:spTree>
    <p:extLst>
      <p:ext uri="{BB962C8B-B14F-4D97-AF65-F5344CB8AC3E}">
        <p14:creationId xmlns:p14="http://schemas.microsoft.com/office/powerpoint/2010/main" val="26454371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250"/>
                                        <p:tgtEl>
                                          <p:spTgt spid="2">
                                            <p:txEl>
                                              <p:pRg st="0" end="0"/>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
                                            <p:txEl>
                                              <p:pRg st="1" end="1"/>
                                            </p:txEl>
                                          </p:spTgt>
                                        </p:tgtEl>
                                        <p:attrNameLst>
                                          <p:attrName>style.visibility</p:attrName>
                                        </p:attrNameLst>
                                      </p:cBhvr>
                                      <p:to>
                                        <p:strVal val="visible"/>
                                      </p:to>
                                    </p:set>
                                    <p:animEffect transition="in" filter="wipe(left)">
                                      <p:cBhvr>
                                        <p:cTn id="10" dur="250"/>
                                        <p:tgtEl>
                                          <p:spTgt spid="2">
                                            <p:txEl>
                                              <p:pRg st="1" end="1"/>
                                            </p:txEl>
                                          </p:spTgt>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Effect transition="in" filter="wipe(left)">
                                      <p:cBhvr>
                                        <p:cTn id="13" dur="250"/>
                                        <p:tgtEl>
                                          <p:spTgt spid="2">
                                            <p:txEl>
                                              <p:pRg st="2" end="2"/>
                                            </p:txEl>
                                          </p:spTgt>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2">
                                            <p:txEl>
                                              <p:pRg st="3" end="3"/>
                                            </p:txEl>
                                          </p:spTgt>
                                        </p:tgtEl>
                                        <p:attrNameLst>
                                          <p:attrName>style.visibility</p:attrName>
                                        </p:attrNameLst>
                                      </p:cBhvr>
                                      <p:to>
                                        <p:strVal val="visible"/>
                                      </p:to>
                                    </p:set>
                                    <p:animEffect transition="in" filter="wipe(left)">
                                      <p:cBhvr>
                                        <p:cTn id="16" dur="250"/>
                                        <p:tgtEl>
                                          <p:spTgt spid="2">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2">
                                            <p:txEl>
                                              <p:pRg st="4" end="4"/>
                                            </p:txEl>
                                          </p:spTgt>
                                        </p:tgtEl>
                                        <p:attrNameLst>
                                          <p:attrName>style.visibility</p:attrName>
                                        </p:attrNameLst>
                                      </p:cBhvr>
                                      <p:to>
                                        <p:strVal val="visible"/>
                                      </p:to>
                                    </p:set>
                                    <p:animEffect transition="in" filter="wipe(left)">
                                      <p:cBhvr>
                                        <p:cTn id="21" dur="250"/>
                                        <p:tgtEl>
                                          <p:spTgt spid="2">
                                            <p:txEl>
                                              <p:pRg st="4" end="4"/>
                                            </p:txEl>
                                          </p:spTgt>
                                        </p:tgtEl>
                                      </p:cBhvr>
                                    </p:animEffect>
                                  </p:childTnLst>
                                </p:cTn>
                              </p:par>
                              <p:par>
                                <p:cTn id="22" presetID="22" presetClass="entr" presetSubtype="8" fill="hold" grpId="0" nodeType="withEffect">
                                  <p:stCondLst>
                                    <p:cond delay="0"/>
                                  </p:stCondLst>
                                  <p:childTnLst>
                                    <p:set>
                                      <p:cBhvr>
                                        <p:cTn id="23" dur="1" fill="hold">
                                          <p:stCondLst>
                                            <p:cond delay="0"/>
                                          </p:stCondLst>
                                        </p:cTn>
                                        <p:tgtEl>
                                          <p:spTgt spid="2">
                                            <p:txEl>
                                              <p:pRg st="5" end="5"/>
                                            </p:txEl>
                                          </p:spTgt>
                                        </p:tgtEl>
                                        <p:attrNameLst>
                                          <p:attrName>style.visibility</p:attrName>
                                        </p:attrNameLst>
                                      </p:cBhvr>
                                      <p:to>
                                        <p:strVal val="visible"/>
                                      </p:to>
                                    </p:set>
                                    <p:animEffect transition="in" filter="wipe(left)">
                                      <p:cBhvr>
                                        <p:cTn id="24" dur="250"/>
                                        <p:tgtEl>
                                          <p:spTgt spid="2">
                                            <p:txEl>
                                              <p:pRg st="5" end="5"/>
                                            </p:txEl>
                                          </p:spTgt>
                                        </p:tgtEl>
                                      </p:cBhvr>
                                    </p:animEffect>
                                  </p:childTnLst>
                                </p:cTn>
                              </p:par>
                              <p:par>
                                <p:cTn id="25" presetID="22" presetClass="entr" presetSubtype="8" fill="hold" grpId="0" nodeType="withEffect">
                                  <p:stCondLst>
                                    <p:cond delay="0"/>
                                  </p:stCondLst>
                                  <p:childTnLst>
                                    <p:set>
                                      <p:cBhvr>
                                        <p:cTn id="26" dur="1" fill="hold">
                                          <p:stCondLst>
                                            <p:cond delay="0"/>
                                          </p:stCondLst>
                                        </p:cTn>
                                        <p:tgtEl>
                                          <p:spTgt spid="2">
                                            <p:txEl>
                                              <p:pRg st="6" end="6"/>
                                            </p:txEl>
                                          </p:spTgt>
                                        </p:tgtEl>
                                        <p:attrNameLst>
                                          <p:attrName>style.visibility</p:attrName>
                                        </p:attrNameLst>
                                      </p:cBhvr>
                                      <p:to>
                                        <p:strVal val="visible"/>
                                      </p:to>
                                    </p:set>
                                    <p:animEffect transition="in" filter="wipe(left)">
                                      <p:cBhvr>
                                        <p:cTn id="27" dur="250"/>
                                        <p:tgtEl>
                                          <p:spTgt spid="2">
                                            <p:txEl>
                                              <p:pRg st="6" end="6"/>
                                            </p:txEl>
                                          </p:spTgt>
                                        </p:tgtEl>
                                      </p:cBhvr>
                                    </p:animEffect>
                                  </p:childTnLst>
                                </p:cTn>
                              </p:par>
                              <p:par>
                                <p:cTn id="28" presetID="22" presetClass="entr" presetSubtype="8" fill="hold" grpId="0" nodeType="withEffect">
                                  <p:stCondLst>
                                    <p:cond delay="0"/>
                                  </p:stCondLst>
                                  <p:childTnLst>
                                    <p:set>
                                      <p:cBhvr>
                                        <p:cTn id="29" dur="1" fill="hold">
                                          <p:stCondLst>
                                            <p:cond delay="0"/>
                                          </p:stCondLst>
                                        </p:cTn>
                                        <p:tgtEl>
                                          <p:spTgt spid="2">
                                            <p:txEl>
                                              <p:pRg st="7" end="7"/>
                                            </p:txEl>
                                          </p:spTgt>
                                        </p:tgtEl>
                                        <p:attrNameLst>
                                          <p:attrName>style.visibility</p:attrName>
                                        </p:attrNameLst>
                                      </p:cBhvr>
                                      <p:to>
                                        <p:strVal val="visible"/>
                                      </p:to>
                                    </p:set>
                                    <p:animEffect transition="in" filter="wipe(left)">
                                      <p:cBhvr>
                                        <p:cTn id="30" dur="250"/>
                                        <p:tgtEl>
                                          <p:spTgt spid="2">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autoUpdateAnimBg="0"/>
    </p:bldLst>
  </p:timing>
</p:sld>
</file>

<file path=ppt/slides/slide8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5843" name="灯片编号占位符 5"/>
          <p:cNvSpPr>
            <a:spLocks noGrp="1"/>
          </p:cNvSpPr>
          <p:nvPr>
            <p:ph type="sldNum" sz="quarter" idx="4294967295"/>
          </p:nvPr>
        </p:nvSpPr>
        <p:spPr>
          <a:noFill/>
        </p:spPr>
        <p:txBody>
          <a:bodyPr/>
          <a:lstStyle/>
          <a:p>
            <a:r>
              <a:rPr lang="en-US" altLang="zh-CN">
                <a:ea typeface="宋体" pitchFamily="2" charset="-122"/>
              </a:rPr>
              <a:t>8.4--</a:t>
            </a:r>
            <a:fld id="{C88E713B-339E-4070-8FC5-A5F2A859EF55}" type="slidenum">
              <a:rPr lang="en-US" altLang="zh-CN" smtClean="0">
                <a:ea typeface="宋体" pitchFamily="2" charset="-122"/>
              </a:rPr>
              <a:pPr/>
              <a:t>89</a:t>
            </a:fld>
            <a:endParaRPr lang="en-US" altLang="zh-CN">
              <a:ea typeface="宋体" pitchFamily="2" charset="-122"/>
            </a:endParaRPr>
          </a:p>
        </p:txBody>
      </p:sp>
      <p:sp>
        <p:nvSpPr>
          <p:cNvPr id="35844" name="Rectangle 2"/>
          <p:cNvSpPr>
            <a:spLocks noGrp="1" noChangeArrowheads="1"/>
          </p:cNvSpPr>
          <p:nvPr>
            <p:ph type="title"/>
          </p:nvPr>
        </p:nvSpPr>
        <p:spPr>
          <a:xfrm>
            <a:off x="1803400" y="507208"/>
            <a:ext cx="8131176" cy="990600"/>
          </a:xfrm>
        </p:spPr>
        <p:txBody>
          <a:bodyPr/>
          <a:lstStyle/>
          <a:p>
            <a:r>
              <a:rPr lang="en-US" altLang="zh-CN" sz="4000" b="1" dirty="0">
                <a:solidFill>
                  <a:srgbClr val="0070C0"/>
                </a:solidFill>
                <a:effectLst/>
              </a:rPr>
              <a:t>8.4.2</a:t>
            </a:r>
            <a:r>
              <a:rPr lang="zh-CN" altLang="en-US" sz="4000" b="1" dirty="0">
                <a:solidFill>
                  <a:srgbClr val="0070C0"/>
                </a:solidFill>
                <a:effectLst/>
              </a:rPr>
              <a:t>单因素方差分析的基本原理</a:t>
            </a:r>
          </a:p>
        </p:txBody>
      </p:sp>
      <p:sp>
        <p:nvSpPr>
          <p:cNvPr id="35845" name="Rectangle 3"/>
          <p:cNvSpPr>
            <a:spLocks noGrp="1" noChangeArrowheads="1"/>
          </p:cNvSpPr>
          <p:nvPr>
            <p:ph type="body" idx="1"/>
          </p:nvPr>
        </p:nvSpPr>
        <p:spPr>
          <a:xfrm>
            <a:off x="2238375" y="1643064"/>
            <a:ext cx="7848600" cy="4243387"/>
          </a:xfrm>
        </p:spPr>
        <p:txBody>
          <a:bodyPr/>
          <a:lstStyle/>
          <a:p>
            <a:pPr marL="0" indent="0">
              <a:buNone/>
            </a:pPr>
            <a:r>
              <a:rPr lang="zh-CN" altLang="en-US" dirty="0">
                <a:solidFill>
                  <a:srgbClr val="000000"/>
                </a:solidFill>
              </a:rPr>
              <a:t>设各水平下的观察值表示为：</a:t>
            </a:r>
          </a:p>
          <a:p>
            <a:endParaRPr lang="en-US" altLang="zh-CN" dirty="0">
              <a:solidFill>
                <a:srgbClr val="000000"/>
              </a:solidFill>
            </a:endParaRPr>
          </a:p>
        </p:txBody>
      </p:sp>
      <p:graphicFrame>
        <p:nvGraphicFramePr>
          <p:cNvPr id="35842" name="Object 2"/>
          <p:cNvGraphicFramePr>
            <a:graphicFrameLocks noChangeAspect="1"/>
          </p:cNvGraphicFramePr>
          <p:nvPr/>
        </p:nvGraphicFramePr>
        <p:xfrm>
          <a:off x="2595563" y="2214563"/>
          <a:ext cx="5143500" cy="1219200"/>
        </p:xfrm>
        <a:graphic>
          <a:graphicData uri="http://schemas.openxmlformats.org/presentationml/2006/ole">
            <mc:AlternateContent xmlns:mc="http://schemas.openxmlformats.org/markup-compatibility/2006">
              <mc:Choice xmlns:v="urn:schemas-microsoft-com:vml" Requires="v">
                <p:oleObj name="Equation" r:id="rId2" imgW="736560" imgH="241200" progId="Equation.DSMT4">
                  <p:embed/>
                </p:oleObj>
              </mc:Choice>
              <mc:Fallback>
                <p:oleObj name="Equation" r:id="rId2" imgW="736560" imgH="241200" progId="Equation.DSMT4">
                  <p:embed/>
                  <p:pic>
                    <p:nvPicPr>
                      <p:cNvPr id="35842"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95563" y="2214563"/>
                        <a:ext cx="5143500" cy="1219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5846" name="Text Box 5"/>
          <p:cNvSpPr txBox="1">
            <a:spLocks noChangeArrowheads="1"/>
          </p:cNvSpPr>
          <p:nvPr/>
        </p:nvSpPr>
        <p:spPr bwMode="auto">
          <a:xfrm>
            <a:off x="2881314" y="3643313"/>
            <a:ext cx="6264275" cy="646112"/>
          </a:xfrm>
          <a:prstGeom prst="rect">
            <a:avLst/>
          </a:prstGeom>
          <a:noFill/>
          <a:ln w="12700">
            <a:noFill/>
            <a:miter lim="800000"/>
            <a:headEnd/>
            <a:tailEnd/>
          </a:ln>
        </p:spPr>
        <p:txBody>
          <a:bodyPr>
            <a:spAutoFit/>
          </a:bodyPr>
          <a:lstStyle/>
          <a:p>
            <a:pPr eaLnBrk="0" hangingPunct="0">
              <a:spcBef>
                <a:spcPct val="50000"/>
              </a:spcBef>
            </a:pPr>
            <a:r>
              <a:rPr kumimoji="1" lang="zh-CN" altLang="en-US" sz="3600" b="1">
                <a:solidFill>
                  <a:srgbClr val="3333FF"/>
                </a:solidFill>
              </a:rPr>
              <a:t>  该水平的总体均值    </a:t>
            </a:r>
            <a:r>
              <a:rPr kumimoji="1" lang="en-US" altLang="zh-CN" sz="3600" b="1"/>
              <a:t> </a:t>
            </a:r>
            <a:r>
              <a:rPr kumimoji="1" lang="zh-CN" altLang="en-US" sz="3600" b="1">
                <a:solidFill>
                  <a:srgbClr val="993366"/>
                </a:solidFill>
              </a:rPr>
              <a:t>随机项</a:t>
            </a:r>
          </a:p>
        </p:txBody>
      </p:sp>
      <p:sp>
        <p:nvSpPr>
          <p:cNvPr id="68615" name="Text Box 7"/>
          <p:cNvSpPr txBox="1">
            <a:spLocks noChangeArrowheads="1"/>
          </p:cNvSpPr>
          <p:nvPr/>
        </p:nvSpPr>
        <p:spPr bwMode="auto">
          <a:xfrm>
            <a:off x="2381250" y="4714875"/>
            <a:ext cx="6572250" cy="1106778"/>
          </a:xfrm>
          <a:prstGeom prst="rect">
            <a:avLst/>
          </a:prstGeom>
          <a:noFill/>
          <a:ln w="9525">
            <a:noFill/>
            <a:miter lim="800000"/>
            <a:headEnd/>
            <a:tailEnd/>
          </a:ln>
        </p:spPr>
        <p:txBody>
          <a:bodyPr>
            <a:spAutoFit/>
          </a:bodyPr>
          <a:lstStyle/>
          <a:p>
            <a:pPr eaLnBrk="0" hangingPunct="0">
              <a:lnSpc>
                <a:spcPct val="105000"/>
              </a:lnSpc>
              <a:spcBef>
                <a:spcPct val="50000"/>
              </a:spcBef>
            </a:pPr>
            <a:r>
              <a:rPr kumimoji="1" lang="zh-CN" altLang="en-US" sz="3200" b="1">
                <a:solidFill>
                  <a:srgbClr val="000000"/>
                </a:solidFill>
              </a:rPr>
              <a:t>因此，所有观察值</a:t>
            </a:r>
            <a:r>
              <a:rPr kumimoji="1" lang="zh-CN" altLang="en-US" sz="3200">
                <a:solidFill>
                  <a:srgbClr val="000000"/>
                </a:solidFill>
              </a:rPr>
              <a:t> </a:t>
            </a:r>
            <a:r>
              <a:rPr lang="en-US" altLang="zh-CN" sz="3200" b="1" i="1">
                <a:solidFill>
                  <a:srgbClr val="000000"/>
                </a:solidFill>
                <a:latin typeface="Times New Roman" pitchFamily="18" charset="0"/>
              </a:rPr>
              <a:t>x</a:t>
            </a:r>
            <a:r>
              <a:rPr lang="en-US" altLang="zh-CN" sz="3200" b="1" baseline="-25000">
                <a:solidFill>
                  <a:srgbClr val="000000"/>
                </a:solidFill>
                <a:latin typeface="Times New Roman" pitchFamily="18" charset="0"/>
              </a:rPr>
              <a:t>ij </a:t>
            </a:r>
            <a:r>
              <a:rPr kumimoji="1" lang="zh-CN" altLang="en-US" sz="3200" b="1">
                <a:solidFill>
                  <a:srgbClr val="000000"/>
                </a:solidFill>
              </a:rPr>
              <a:t>之间的差异，可能来源于两个方面：</a:t>
            </a:r>
            <a:endParaRPr lang="zh-CN" altLang="en-US" sz="3200">
              <a:solidFill>
                <a:srgbClr val="000000"/>
              </a:solidFill>
            </a:endParaRPr>
          </a:p>
        </p:txBody>
      </p:sp>
      <p:sp>
        <p:nvSpPr>
          <p:cNvPr id="8" name="右箭头 7"/>
          <p:cNvSpPr/>
          <p:nvPr/>
        </p:nvSpPr>
        <p:spPr>
          <a:xfrm rot="5057791">
            <a:off x="4968082" y="3331370"/>
            <a:ext cx="428625" cy="214312"/>
          </a:xfrm>
          <a:prstGeom prst="rightArrow">
            <a:avLst/>
          </a:prstGeom>
          <a:no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9" name="右箭头 8"/>
          <p:cNvSpPr/>
          <p:nvPr/>
        </p:nvSpPr>
        <p:spPr>
          <a:xfrm rot="3166886">
            <a:off x="7025482" y="3413920"/>
            <a:ext cx="428625" cy="214312"/>
          </a:xfrm>
          <a:prstGeom prst="rightArrow">
            <a:avLst/>
          </a:prstGeom>
          <a:no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Tree>
    <p:extLst>
      <p:ext uri="{BB962C8B-B14F-4D97-AF65-F5344CB8AC3E}">
        <p14:creationId xmlns:p14="http://schemas.microsoft.com/office/powerpoint/2010/main" val="29299731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8615"/>
                                        </p:tgtEl>
                                        <p:attrNameLst>
                                          <p:attrName>style.visibility</p:attrName>
                                        </p:attrNameLst>
                                      </p:cBhvr>
                                      <p:to>
                                        <p:strVal val="visible"/>
                                      </p:to>
                                    </p:set>
                                    <p:animEffect transition="in" filter="blinds(horizontal)">
                                      <p:cBhvr>
                                        <p:cTn id="7" dur="500"/>
                                        <p:tgtEl>
                                          <p:spTgt spid="686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615" grpId="0"/>
    </p:bldLst>
  </p:timing>
</p:sld>
</file>

<file path=ppt/slides/slide9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6738" name="灯片编号占位符 5"/>
          <p:cNvSpPr>
            <a:spLocks noGrp="1"/>
          </p:cNvSpPr>
          <p:nvPr>
            <p:ph type="sldNum" sz="quarter" idx="4294967295"/>
          </p:nvPr>
        </p:nvSpPr>
        <p:spPr>
          <a:noFill/>
        </p:spPr>
        <p:txBody>
          <a:bodyPr/>
          <a:lstStyle/>
          <a:p>
            <a:r>
              <a:rPr lang="en-US" altLang="zh-CN">
                <a:ea typeface="宋体" pitchFamily="2" charset="-122"/>
              </a:rPr>
              <a:t>8.4--</a:t>
            </a:r>
            <a:fld id="{9FFD75FC-212B-48AC-BECA-49C988E5BF6E}" type="slidenum">
              <a:rPr lang="en-US" altLang="zh-CN" smtClean="0">
                <a:ea typeface="宋体" pitchFamily="2" charset="-122"/>
              </a:rPr>
              <a:pPr/>
              <a:t>90</a:t>
            </a:fld>
            <a:endParaRPr lang="en-US" altLang="zh-CN">
              <a:ea typeface="宋体" pitchFamily="2" charset="-122"/>
            </a:endParaRPr>
          </a:p>
        </p:txBody>
      </p:sp>
      <p:sp>
        <p:nvSpPr>
          <p:cNvPr id="116739" name="Rectangle 2"/>
          <p:cNvSpPr>
            <a:spLocks noGrp="1" noChangeArrowheads="1"/>
          </p:cNvSpPr>
          <p:nvPr>
            <p:ph type="title"/>
          </p:nvPr>
        </p:nvSpPr>
        <p:spPr>
          <a:xfrm>
            <a:off x="2117091" y="370863"/>
            <a:ext cx="5718809" cy="662782"/>
          </a:xfrm>
        </p:spPr>
        <p:txBody>
          <a:bodyPr>
            <a:normAutofit/>
          </a:bodyPr>
          <a:lstStyle/>
          <a:p>
            <a:r>
              <a:rPr lang="zh-CN" altLang="en-US" sz="3600" b="1" dirty="0">
                <a:solidFill>
                  <a:srgbClr val="0070C0"/>
                </a:solidFill>
                <a:effectLst/>
              </a:rPr>
              <a:t>观察值的两种误差</a:t>
            </a:r>
          </a:p>
        </p:txBody>
      </p:sp>
      <p:sp>
        <p:nvSpPr>
          <p:cNvPr id="25606" name="Text Box 6"/>
          <p:cNvSpPr txBox="1">
            <a:spLocks noChangeArrowheads="1"/>
          </p:cNvSpPr>
          <p:nvPr/>
        </p:nvSpPr>
        <p:spPr bwMode="auto">
          <a:xfrm>
            <a:off x="1919288" y="1018854"/>
            <a:ext cx="8064500" cy="5228226"/>
          </a:xfrm>
          <a:prstGeom prst="rect">
            <a:avLst/>
          </a:prstGeom>
          <a:noFill/>
          <a:ln w="12700">
            <a:noFill/>
            <a:miter lim="800000"/>
            <a:headEnd/>
            <a:tailEnd/>
          </a:ln>
        </p:spPr>
        <p:txBody>
          <a:bodyPr>
            <a:spAutoFit/>
          </a:bodyPr>
          <a:lstStyle/>
          <a:p>
            <a:pPr eaLnBrk="0" hangingPunct="0">
              <a:lnSpc>
                <a:spcPct val="120000"/>
              </a:lnSpc>
              <a:spcBef>
                <a:spcPct val="50000"/>
              </a:spcBef>
            </a:pPr>
            <a:r>
              <a:rPr kumimoji="1" lang="en-US" altLang="zh-CN" sz="2800" b="1" dirty="0">
                <a:solidFill>
                  <a:srgbClr val="C00000"/>
                </a:solidFill>
              </a:rPr>
              <a:t>   </a:t>
            </a:r>
            <a:r>
              <a:rPr kumimoji="1" lang="en-US" altLang="zh-CN" sz="2800" b="1" dirty="0">
                <a:solidFill>
                  <a:srgbClr val="C00000"/>
                </a:solidFill>
                <a:latin typeface="黑体" panose="02010609060101010101" pitchFamily="49" charset="-122"/>
                <a:ea typeface="黑体" panose="02010609060101010101" pitchFamily="49" charset="-122"/>
              </a:rPr>
              <a:t>1.</a:t>
            </a:r>
            <a:r>
              <a:rPr kumimoji="1" lang="zh-CN" altLang="en-US" sz="2800" b="1" dirty="0">
                <a:solidFill>
                  <a:srgbClr val="C00000"/>
                </a:solidFill>
                <a:latin typeface="黑体" panose="02010609060101010101" pitchFamily="49" charset="-122"/>
                <a:ea typeface="黑体" panose="02010609060101010101" pitchFamily="49" charset="-122"/>
              </a:rPr>
              <a:t>系统误差（条件误差）</a:t>
            </a:r>
          </a:p>
          <a:p>
            <a:pPr lvl="1" algn="just" eaLnBrk="0" hangingPunct="0">
              <a:lnSpc>
                <a:spcPct val="120000"/>
              </a:lnSpc>
              <a:spcBef>
                <a:spcPct val="20000"/>
              </a:spcBef>
              <a:buClr>
                <a:schemeClr val="hlink"/>
              </a:buClr>
              <a:buSzPct val="120000"/>
              <a:buFont typeface="Wingdings" pitchFamily="2" charset="2"/>
              <a:buChar char="§"/>
            </a:pPr>
            <a:r>
              <a:rPr kumimoji="1" lang="zh-CN" altLang="en-US" sz="2400" b="1" dirty="0">
                <a:solidFill>
                  <a:schemeClr val="tx2"/>
                </a:solidFill>
              </a:rPr>
              <a:t>各水平的总体均值</a:t>
            </a:r>
            <a:r>
              <a:rPr kumimoji="1" lang="zh-CN" altLang="en-US" sz="2800" b="1" dirty="0">
                <a:solidFill>
                  <a:schemeClr val="tx2"/>
                </a:solidFill>
              </a:rPr>
              <a:t> </a:t>
            </a:r>
            <a:r>
              <a:rPr kumimoji="1" lang="en-US" altLang="zh-CN" sz="2800" b="1" i="1" dirty="0">
                <a:solidFill>
                  <a:srgbClr val="FF0000"/>
                </a:solidFill>
                <a:latin typeface="Times New Roman" pitchFamily="18" charset="0"/>
                <a:cs typeface="Arial" pitchFamily="34" charset="0"/>
              </a:rPr>
              <a:t>µ</a:t>
            </a:r>
            <a:r>
              <a:rPr kumimoji="1" lang="en-US" altLang="zh-CN" sz="2800" b="1" i="1" baseline="-25000" dirty="0" err="1">
                <a:solidFill>
                  <a:srgbClr val="FF0000"/>
                </a:solidFill>
                <a:latin typeface="Times New Roman" pitchFamily="18" charset="0"/>
                <a:cs typeface="Arial" pitchFamily="34" charset="0"/>
              </a:rPr>
              <a:t>i</a:t>
            </a:r>
            <a:r>
              <a:rPr kumimoji="1" lang="en-US" altLang="zh-CN" sz="2800" b="1" i="1" baseline="-25000" dirty="0">
                <a:solidFill>
                  <a:srgbClr val="FF0000"/>
                </a:solidFill>
                <a:latin typeface="Times New Roman" pitchFamily="18" charset="0"/>
                <a:cs typeface="Arial" pitchFamily="34" charset="0"/>
              </a:rPr>
              <a:t> </a:t>
            </a:r>
            <a:r>
              <a:rPr kumimoji="1" lang="zh-CN" altLang="en-US" sz="2400" b="1" dirty="0">
                <a:solidFill>
                  <a:schemeClr val="tx2"/>
                </a:solidFill>
              </a:rPr>
              <a:t>不同导致的差异；</a:t>
            </a:r>
            <a:endParaRPr kumimoji="1" lang="zh-CN" altLang="en-US" sz="2400" b="1" dirty="0">
              <a:solidFill>
                <a:schemeClr val="tx2"/>
              </a:solidFill>
              <a:latin typeface="Times New Roman" pitchFamily="18" charset="0"/>
            </a:endParaRPr>
          </a:p>
          <a:p>
            <a:pPr lvl="1" algn="just" eaLnBrk="0" hangingPunct="0">
              <a:lnSpc>
                <a:spcPct val="120000"/>
              </a:lnSpc>
              <a:spcBef>
                <a:spcPct val="20000"/>
              </a:spcBef>
              <a:buClr>
                <a:schemeClr val="hlink"/>
              </a:buClr>
              <a:buSzPct val="120000"/>
              <a:buFont typeface="Wingdings" pitchFamily="2" charset="2"/>
              <a:buChar char="§"/>
            </a:pPr>
            <a:r>
              <a:rPr kumimoji="1" lang="zh-CN" altLang="en-US" sz="2400" b="1" dirty="0">
                <a:solidFill>
                  <a:schemeClr val="tx2"/>
                </a:solidFill>
                <a:latin typeface="Times New Roman" pitchFamily="18" charset="0"/>
              </a:rPr>
              <a:t>它是由于所研究因素条件改变而产生的差异</a:t>
            </a:r>
          </a:p>
          <a:p>
            <a:pPr lvl="2" algn="just" eaLnBrk="0" hangingPunct="0">
              <a:lnSpc>
                <a:spcPct val="120000"/>
              </a:lnSpc>
              <a:spcBef>
                <a:spcPct val="20000"/>
              </a:spcBef>
              <a:buClr>
                <a:schemeClr val="hlink"/>
              </a:buClr>
              <a:buSzPct val="120000"/>
              <a:buFont typeface="Wingdings" pitchFamily="2" charset="2"/>
              <a:buChar char="§"/>
            </a:pPr>
            <a:r>
              <a:rPr kumimoji="1" lang="zh-CN" altLang="en-US" sz="2000" b="1" dirty="0">
                <a:latin typeface="Times New Roman" pitchFamily="18" charset="0"/>
              </a:rPr>
              <a:t>比如，对任一地块来说，不同施肥方案的收获量可能都有明显差异，这可能是由于所研究因素</a:t>
            </a:r>
            <a:r>
              <a:rPr kumimoji="1" lang="en-US" altLang="zh-CN" sz="2000" b="1" dirty="0">
                <a:latin typeface="Times New Roman" pitchFamily="18" charset="0"/>
              </a:rPr>
              <a:t>——</a:t>
            </a:r>
            <a:r>
              <a:rPr kumimoji="1" lang="zh-CN" altLang="en-US" sz="2000" b="1" dirty="0">
                <a:latin typeface="Times New Roman" pitchFamily="18" charset="0"/>
              </a:rPr>
              <a:t>施肥方案不同而造成的</a:t>
            </a:r>
          </a:p>
          <a:p>
            <a:pPr eaLnBrk="0" hangingPunct="0">
              <a:lnSpc>
                <a:spcPct val="120000"/>
              </a:lnSpc>
              <a:spcBef>
                <a:spcPct val="50000"/>
              </a:spcBef>
              <a:buClr>
                <a:schemeClr val="hlink"/>
              </a:buClr>
              <a:buSzPct val="120000"/>
              <a:buFont typeface="Wingdings" pitchFamily="2" charset="2"/>
              <a:buNone/>
            </a:pPr>
            <a:r>
              <a:rPr kumimoji="1" lang="en-US" altLang="zh-CN" sz="2800" b="1" dirty="0">
                <a:solidFill>
                  <a:srgbClr val="C00000"/>
                </a:solidFill>
              </a:rPr>
              <a:t>   </a:t>
            </a:r>
            <a:r>
              <a:rPr kumimoji="1" lang="en-US" altLang="zh-CN" sz="2800" b="1" dirty="0">
                <a:solidFill>
                  <a:srgbClr val="C00000"/>
                </a:solidFill>
                <a:latin typeface="黑体" panose="02010609060101010101" pitchFamily="49" charset="-122"/>
                <a:ea typeface="黑体" panose="02010609060101010101" pitchFamily="49" charset="-122"/>
              </a:rPr>
              <a:t>2.</a:t>
            </a:r>
            <a:r>
              <a:rPr kumimoji="1" lang="zh-CN" altLang="en-US" sz="2800" b="1" dirty="0">
                <a:solidFill>
                  <a:srgbClr val="C00000"/>
                </a:solidFill>
                <a:latin typeface="黑体" panose="02010609060101010101" pitchFamily="49" charset="-122"/>
                <a:ea typeface="黑体" panose="02010609060101010101" pitchFamily="49" charset="-122"/>
              </a:rPr>
              <a:t>随机误差</a:t>
            </a:r>
          </a:p>
          <a:p>
            <a:pPr lvl="1" algn="just" eaLnBrk="0" hangingPunct="0">
              <a:lnSpc>
                <a:spcPct val="120000"/>
              </a:lnSpc>
              <a:spcBef>
                <a:spcPct val="20000"/>
              </a:spcBef>
              <a:buClr>
                <a:schemeClr val="hlink"/>
              </a:buClr>
              <a:buSzPct val="120000"/>
              <a:buFont typeface="Wingdings" pitchFamily="2" charset="2"/>
              <a:buChar char="§"/>
            </a:pPr>
            <a:r>
              <a:rPr kumimoji="1" lang="zh-CN" altLang="en-US" sz="2400" b="1" dirty="0">
                <a:solidFill>
                  <a:schemeClr val="tx2"/>
                </a:solidFill>
              </a:rPr>
              <a:t>由于抽样的随机性或试验过程中各种随机因素的影响所造成的；</a:t>
            </a:r>
          </a:p>
          <a:p>
            <a:pPr lvl="1" algn="just" eaLnBrk="0" hangingPunct="0">
              <a:lnSpc>
                <a:spcPct val="120000"/>
              </a:lnSpc>
              <a:spcBef>
                <a:spcPct val="20000"/>
              </a:spcBef>
              <a:buClr>
                <a:schemeClr val="hlink"/>
              </a:buClr>
              <a:buSzPct val="120000"/>
              <a:buFont typeface="Wingdings" pitchFamily="2" charset="2"/>
              <a:buChar char="§"/>
            </a:pPr>
            <a:r>
              <a:rPr kumimoji="1" lang="zh-CN" altLang="en-US" sz="2400" b="1" dirty="0">
                <a:solidFill>
                  <a:schemeClr val="tx2"/>
                </a:solidFill>
              </a:rPr>
              <a:t>在同一水平下，观察值之间总是存在随机波动；</a:t>
            </a:r>
          </a:p>
          <a:p>
            <a:pPr lvl="1" algn="just" eaLnBrk="0" hangingPunct="0">
              <a:lnSpc>
                <a:spcPct val="120000"/>
              </a:lnSpc>
              <a:spcBef>
                <a:spcPct val="20000"/>
              </a:spcBef>
              <a:buClr>
                <a:schemeClr val="hlink"/>
              </a:buClr>
              <a:buSzPct val="120000"/>
              <a:buFont typeface="Wingdings" pitchFamily="2" charset="2"/>
              <a:buChar char="§"/>
            </a:pPr>
            <a:r>
              <a:rPr kumimoji="1" lang="zh-CN" altLang="en-US" sz="2400" b="1" dirty="0">
                <a:solidFill>
                  <a:schemeClr val="tx2"/>
                </a:solidFill>
              </a:rPr>
              <a:t> </a:t>
            </a:r>
            <a:r>
              <a:rPr lang="zh-CN" altLang="en-US" sz="2000" b="1" dirty="0"/>
              <a:t>比如，同一种施肥方案的各个地块的收获量是有差异的</a:t>
            </a:r>
          </a:p>
        </p:txBody>
      </p:sp>
    </p:spTree>
    <p:extLst>
      <p:ext uri="{BB962C8B-B14F-4D97-AF65-F5344CB8AC3E}">
        <p14:creationId xmlns:p14="http://schemas.microsoft.com/office/powerpoint/2010/main" val="22798760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25606">
                                            <p:txEl>
                                              <p:pRg st="3" end="3"/>
                                            </p:txEl>
                                          </p:spTgt>
                                        </p:tgtEl>
                                        <p:attrNameLst>
                                          <p:attrName>style.visibility</p:attrName>
                                        </p:attrNameLst>
                                      </p:cBhvr>
                                      <p:to>
                                        <p:strVal val="visible"/>
                                      </p:to>
                                    </p:set>
                                    <p:anim calcmode="lin" valueType="num">
                                      <p:cBhvr additive="base">
                                        <p:cTn id="7" dur="500" fill="hold"/>
                                        <p:tgtEl>
                                          <p:spTgt spid="25606">
                                            <p:txEl>
                                              <p:pRg st="3" end="3"/>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5606">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5606">
                                            <p:txEl>
                                              <p:pRg st="4" end="4"/>
                                            </p:txEl>
                                          </p:spTgt>
                                        </p:tgtEl>
                                        <p:attrNameLst>
                                          <p:attrName>style.visibility</p:attrName>
                                        </p:attrNameLst>
                                      </p:cBhvr>
                                      <p:to>
                                        <p:strVal val="visible"/>
                                      </p:to>
                                    </p:set>
                                    <p:anim calcmode="lin" valueType="num">
                                      <p:cBhvr additive="base">
                                        <p:cTn id="13" dur="500" fill="hold"/>
                                        <p:tgtEl>
                                          <p:spTgt spid="25606">
                                            <p:txEl>
                                              <p:pRg st="4" end="4"/>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5606">
                                            <p:txEl>
                                              <p:pRg st="4" end="4"/>
                                            </p:txEl>
                                          </p:spTgt>
                                        </p:tgtEl>
                                        <p:attrNameLst>
                                          <p:attrName>ppt_y</p:attrName>
                                        </p:attrNameLst>
                                      </p:cBhvr>
                                      <p:tavLst>
                                        <p:tav tm="0">
                                          <p:val>
                                            <p:strVal val="#ppt_y"/>
                                          </p:val>
                                        </p:tav>
                                        <p:tav tm="100000">
                                          <p:val>
                                            <p:strVal val="#ppt_y"/>
                                          </p:val>
                                        </p:tav>
                                      </p:tavLst>
                                    </p:anim>
                                  </p:childTnLst>
                                </p:cTn>
                              </p:par>
                            </p:childTnLst>
                          </p:cTn>
                        </p:par>
                        <p:par>
                          <p:cTn id="15" fill="hold">
                            <p:stCondLst>
                              <p:cond delay="500"/>
                            </p:stCondLst>
                            <p:childTnLst>
                              <p:par>
                                <p:cTn id="16" presetID="2" presetClass="entr" presetSubtype="8" fill="hold" grpId="0" nodeType="afterEffect">
                                  <p:stCondLst>
                                    <p:cond delay="0"/>
                                  </p:stCondLst>
                                  <p:childTnLst>
                                    <p:set>
                                      <p:cBhvr>
                                        <p:cTn id="17" dur="1" fill="hold">
                                          <p:stCondLst>
                                            <p:cond delay="0"/>
                                          </p:stCondLst>
                                        </p:cTn>
                                        <p:tgtEl>
                                          <p:spTgt spid="25606">
                                            <p:txEl>
                                              <p:pRg st="5" end="5"/>
                                            </p:txEl>
                                          </p:spTgt>
                                        </p:tgtEl>
                                        <p:attrNameLst>
                                          <p:attrName>style.visibility</p:attrName>
                                        </p:attrNameLst>
                                      </p:cBhvr>
                                      <p:to>
                                        <p:strVal val="visible"/>
                                      </p:to>
                                    </p:set>
                                    <p:anim calcmode="lin" valueType="num">
                                      <p:cBhvr additive="base">
                                        <p:cTn id="18" dur="500" fill="hold"/>
                                        <p:tgtEl>
                                          <p:spTgt spid="25606">
                                            <p:txEl>
                                              <p:pRg st="5" end="5"/>
                                            </p:txEl>
                                          </p:spTgt>
                                        </p:tgtEl>
                                        <p:attrNameLst>
                                          <p:attrName>ppt_x</p:attrName>
                                        </p:attrNameLst>
                                      </p:cBhvr>
                                      <p:tavLst>
                                        <p:tav tm="0">
                                          <p:val>
                                            <p:strVal val="0-#ppt_w/2"/>
                                          </p:val>
                                        </p:tav>
                                        <p:tav tm="100000">
                                          <p:val>
                                            <p:strVal val="#ppt_x"/>
                                          </p:val>
                                        </p:tav>
                                      </p:tavLst>
                                    </p:anim>
                                    <p:anim calcmode="lin" valueType="num">
                                      <p:cBhvr additive="base">
                                        <p:cTn id="19" dur="500" fill="hold"/>
                                        <p:tgtEl>
                                          <p:spTgt spid="25606">
                                            <p:txEl>
                                              <p:pRg st="5" end="5"/>
                                            </p:txEl>
                                          </p:spTgt>
                                        </p:tgtEl>
                                        <p:attrNameLst>
                                          <p:attrName>ppt_y</p:attrName>
                                        </p:attrNameLst>
                                      </p:cBhvr>
                                      <p:tavLst>
                                        <p:tav tm="0">
                                          <p:val>
                                            <p:strVal val="#ppt_y"/>
                                          </p:val>
                                        </p:tav>
                                        <p:tav tm="100000">
                                          <p:val>
                                            <p:strVal val="#ppt_y"/>
                                          </p:val>
                                        </p:tav>
                                      </p:tavLst>
                                    </p:anim>
                                  </p:childTnLst>
                                </p:cTn>
                              </p:par>
                            </p:childTnLst>
                          </p:cTn>
                        </p:par>
                        <p:par>
                          <p:cTn id="20" fill="hold">
                            <p:stCondLst>
                              <p:cond delay="1000"/>
                            </p:stCondLst>
                            <p:childTnLst>
                              <p:par>
                                <p:cTn id="21" presetID="2" presetClass="entr" presetSubtype="8" fill="hold" grpId="0" nodeType="afterEffect">
                                  <p:stCondLst>
                                    <p:cond delay="0"/>
                                  </p:stCondLst>
                                  <p:childTnLst>
                                    <p:set>
                                      <p:cBhvr>
                                        <p:cTn id="22" dur="1" fill="hold">
                                          <p:stCondLst>
                                            <p:cond delay="0"/>
                                          </p:stCondLst>
                                        </p:cTn>
                                        <p:tgtEl>
                                          <p:spTgt spid="25606">
                                            <p:txEl>
                                              <p:pRg st="6" end="6"/>
                                            </p:txEl>
                                          </p:spTgt>
                                        </p:tgtEl>
                                        <p:attrNameLst>
                                          <p:attrName>style.visibility</p:attrName>
                                        </p:attrNameLst>
                                      </p:cBhvr>
                                      <p:to>
                                        <p:strVal val="visible"/>
                                      </p:to>
                                    </p:set>
                                    <p:anim calcmode="lin" valueType="num">
                                      <p:cBhvr additive="base">
                                        <p:cTn id="23" dur="500" fill="hold"/>
                                        <p:tgtEl>
                                          <p:spTgt spid="25606">
                                            <p:txEl>
                                              <p:pRg st="6" end="6"/>
                                            </p:txEl>
                                          </p:spTgt>
                                        </p:tgtEl>
                                        <p:attrNameLst>
                                          <p:attrName>ppt_x</p:attrName>
                                        </p:attrNameLst>
                                      </p:cBhvr>
                                      <p:tavLst>
                                        <p:tav tm="0">
                                          <p:val>
                                            <p:strVal val="0-#ppt_w/2"/>
                                          </p:val>
                                        </p:tav>
                                        <p:tav tm="100000">
                                          <p:val>
                                            <p:strVal val="#ppt_x"/>
                                          </p:val>
                                        </p:tav>
                                      </p:tavLst>
                                    </p:anim>
                                    <p:anim calcmode="lin" valueType="num">
                                      <p:cBhvr additive="base">
                                        <p:cTn id="24" dur="500" fill="hold"/>
                                        <p:tgtEl>
                                          <p:spTgt spid="25606">
                                            <p:txEl>
                                              <p:pRg st="6" end="6"/>
                                            </p:txEl>
                                          </p:spTgt>
                                        </p:tgtEl>
                                        <p:attrNameLst>
                                          <p:attrName>ppt_y</p:attrName>
                                        </p:attrNameLst>
                                      </p:cBhvr>
                                      <p:tavLst>
                                        <p:tav tm="0">
                                          <p:val>
                                            <p:strVal val="#ppt_y"/>
                                          </p:val>
                                        </p:tav>
                                        <p:tav tm="100000">
                                          <p:val>
                                            <p:strVal val="#ppt_y"/>
                                          </p:val>
                                        </p:tav>
                                      </p:tavLst>
                                    </p:anim>
                                  </p:childTnLst>
                                </p:cTn>
                              </p:par>
                            </p:childTnLst>
                          </p:cTn>
                        </p:par>
                        <p:par>
                          <p:cTn id="25" fill="hold">
                            <p:stCondLst>
                              <p:cond delay="1500"/>
                            </p:stCondLst>
                            <p:childTnLst>
                              <p:par>
                                <p:cTn id="26" presetID="2" presetClass="entr" presetSubtype="8" fill="hold" grpId="0" nodeType="afterEffect">
                                  <p:stCondLst>
                                    <p:cond delay="0"/>
                                  </p:stCondLst>
                                  <p:childTnLst>
                                    <p:set>
                                      <p:cBhvr>
                                        <p:cTn id="27" dur="1" fill="hold">
                                          <p:stCondLst>
                                            <p:cond delay="0"/>
                                          </p:stCondLst>
                                        </p:cTn>
                                        <p:tgtEl>
                                          <p:spTgt spid="25606">
                                            <p:txEl>
                                              <p:pRg st="7" end="7"/>
                                            </p:txEl>
                                          </p:spTgt>
                                        </p:tgtEl>
                                        <p:attrNameLst>
                                          <p:attrName>style.visibility</p:attrName>
                                        </p:attrNameLst>
                                      </p:cBhvr>
                                      <p:to>
                                        <p:strVal val="visible"/>
                                      </p:to>
                                    </p:set>
                                    <p:anim calcmode="lin" valueType="num">
                                      <p:cBhvr additive="base">
                                        <p:cTn id="28" dur="500" fill="hold"/>
                                        <p:tgtEl>
                                          <p:spTgt spid="25606">
                                            <p:txEl>
                                              <p:pRg st="7" end="7"/>
                                            </p:txEl>
                                          </p:spTgt>
                                        </p:tgtEl>
                                        <p:attrNameLst>
                                          <p:attrName>ppt_x</p:attrName>
                                        </p:attrNameLst>
                                      </p:cBhvr>
                                      <p:tavLst>
                                        <p:tav tm="0">
                                          <p:val>
                                            <p:strVal val="0-#ppt_w/2"/>
                                          </p:val>
                                        </p:tav>
                                        <p:tav tm="100000">
                                          <p:val>
                                            <p:strVal val="#ppt_x"/>
                                          </p:val>
                                        </p:tav>
                                      </p:tavLst>
                                    </p:anim>
                                    <p:anim calcmode="lin" valueType="num">
                                      <p:cBhvr additive="base">
                                        <p:cTn id="29" dur="500" fill="hold"/>
                                        <p:tgtEl>
                                          <p:spTgt spid="25606">
                                            <p:txEl>
                                              <p:pRg st="7" end="7"/>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6" grpId="0" build="p" bldLvl="2" autoUpdateAnimBg="0"/>
    </p:bldLst>
  </p:timing>
</p:sld>
</file>

<file path=ppt/slides/slide9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7762" name="灯片编号占位符 6"/>
          <p:cNvSpPr>
            <a:spLocks noGrp="1"/>
          </p:cNvSpPr>
          <p:nvPr>
            <p:ph type="sldNum" sz="quarter" idx="10"/>
          </p:nvPr>
        </p:nvSpPr>
        <p:spPr>
          <a:noFill/>
        </p:spPr>
        <p:txBody>
          <a:bodyPr/>
          <a:lstStyle/>
          <a:p>
            <a:r>
              <a:rPr lang="en-US" altLang="zh-CN">
                <a:ea typeface="宋体" pitchFamily="2" charset="-122"/>
              </a:rPr>
              <a:t>8.4--</a:t>
            </a:r>
            <a:fld id="{1DB92E3D-3A0A-4665-9BD1-ED4CD2AD410A}" type="slidenum">
              <a:rPr lang="en-US" altLang="zh-CN" smtClean="0">
                <a:ea typeface="宋体" pitchFamily="2" charset="-122"/>
              </a:rPr>
              <a:pPr/>
              <a:t>91</a:t>
            </a:fld>
            <a:endParaRPr lang="en-US" altLang="zh-CN">
              <a:ea typeface="宋体" pitchFamily="2" charset="-122"/>
            </a:endParaRPr>
          </a:p>
        </p:txBody>
      </p:sp>
      <p:sp>
        <p:nvSpPr>
          <p:cNvPr id="117763" name="Rectangle 2"/>
          <p:cNvSpPr>
            <a:spLocks noGrp="1" noChangeArrowheads="1"/>
          </p:cNvSpPr>
          <p:nvPr>
            <p:ph type="title" idx="4294967295"/>
          </p:nvPr>
        </p:nvSpPr>
        <p:spPr>
          <a:xfrm>
            <a:off x="1511300" y="419100"/>
            <a:ext cx="5410200" cy="990600"/>
          </a:xfrm>
          <a:noFill/>
        </p:spPr>
        <p:txBody>
          <a:bodyPr vert="horz" lIns="90488" tIns="44450" rIns="90488" bIns="44450" rtlCol="0" anchor="ctr" anchorCtr="1">
            <a:normAutofit/>
          </a:bodyPr>
          <a:lstStyle/>
          <a:p>
            <a:r>
              <a:rPr lang="zh-CN" altLang="en-US" sz="3600" b="1" dirty="0">
                <a:effectLst/>
              </a:rPr>
              <a:t>观察值的两种误差（续）</a:t>
            </a:r>
          </a:p>
        </p:txBody>
      </p:sp>
      <p:sp>
        <p:nvSpPr>
          <p:cNvPr id="117764" name="Rectangle 3"/>
          <p:cNvSpPr>
            <a:spLocks noGrp="1" noChangeArrowheads="1"/>
          </p:cNvSpPr>
          <p:nvPr>
            <p:ph type="body" sz="half" idx="4294967295"/>
          </p:nvPr>
        </p:nvSpPr>
        <p:spPr>
          <a:xfrm>
            <a:off x="1386841" y="1293813"/>
            <a:ext cx="7791450" cy="4462462"/>
          </a:xfrm>
          <a:noFill/>
        </p:spPr>
        <p:txBody>
          <a:bodyPr vert="horz" lIns="90488" tIns="44450" rIns="90488" bIns="44450" rtlCol="0">
            <a:normAutofit/>
          </a:bodyPr>
          <a:lstStyle/>
          <a:p>
            <a:pPr marL="0" indent="539750" algn="just">
              <a:lnSpc>
                <a:spcPct val="150000"/>
              </a:lnSpc>
              <a:spcBef>
                <a:spcPct val="40000"/>
              </a:spcBef>
              <a:buSzPct val="130000"/>
              <a:buNone/>
            </a:pPr>
            <a:r>
              <a:rPr lang="zh-CN" altLang="en-US" sz="3000" b="1" dirty="0">
                <a:solidFill>
                  <a:srgbClr val="993366"/>
                </a:solidFill>
                <a:latin typeface="Times New Roman" pitchFamily="18" charset="0"/>
              </a:rPr>
              <a:t>方差分析就是要判断有无系统误差存在。</a:t>
            </a:r>
            <a:r>
              <a:rPr lang="zh-CN" altLang="en-US" sz="3000" b="1" dirty="0">
                <a:solidFill>
                  <a:srgbClr val="000000"/>
                </a:solidFill>
                <a:latin typeface="Times New Roman" pitchFamily="18" charset="0"/>
              </a:rPr>
              <a:t>若观察值的差异不仅来源于随机误差，也包含系统误差，则说明不同水平下的总体均值存在显著性差异（即所研究因素存在明显的影响效应）。</a:t>
            </a:r>
          </a:p>
          <a:p>
            <a:pPr marL="0" indent="539750" algn="just">
              <a:lnSpc>
                <a:spcPct val="150000"/>
              </a:lnSpc>
              <a:spcBef>
                <a:spcPct val="40000"/>
              </a:spcBef>
              <a:buSzPct val="130000"/>
              <a:buNone/>
            </a:pPr>
            <a:r>
              <a:rPr lang="zh-CN" altLang="en-US" sz="3000" b="1" dirty="0">
                <a:solidFill>
                  <a:srgbClr val="000000"/>
                </a:solidFill>
                <a:latin typeface="Times New Roman" pitchFamily="18" charset="0"/>
              </a:rPr>
              <a:t>为此，</a:t>
            </a:r>
            <a:r>
              <a:rPr lang="zh-CN" altLang="en-US" sz="3000" b="1" dirty="0">
                <a:solidFill>
                  <a:srgbClr val="0070C0"/>
                </a:solidFill>
                <a:latin typeface="Times New Roman" pitchFamily="18" charset="0"/>
              </a:rPr>
              <a:t>要对观察值的差异进行分析</a:t>
            </a:r>
            <a:r>
              <a:rPr lang="zh-CN" altLang="en-US" sz="3000" b="1" dirty="0">
                <a:solidFill>
                  <a:srgbClr val="000000"/>
                </a:solidFill>
                <a:latin typeface="Times New Roman" pitchFamily="18" charset="0"/>
              </a:rPr>
              <a:t>。</a:t>
            </a:r>
          </a:p>
        </p:txBody>
      </p:sp>
    </p:spTree>
    <p:extLst>
      <p:ext uri="{BB962C8B-B14F-4D97-AF65-F5344CB8AC3E}">
        <p14:creationId xmlns:p14="http://schemas.microsoft.com/office/powerpoint/2010/main" val="2953215267"/>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71" name="灯片编号占位符 5"/>
          <p:cNvSpPr>
            <a:spLocks noGrp="1"/>
          </p:cNvSpPr>
          <p:nvPr>
            <p:ph type="sldNum" sz="quarter" idx="4294967295"/>
          </p:nvPr>
        </p:nvSpPr>
        <p:spPr>
          <a:noFill/>
        </p:spPr>
        <p:txBody>
          <a:bodyPr/>
          <a:lstStyle/>
          <a:p>
            <a:r>
              <a:rPr lang="en-US" altLang="zh-CN">
                <a:ea typeface="宋体" pitchFamily="2" charset="-122"/>
              </a:rPr>
              <a:t>8.4--</a:t>
            </a:r>
            <a:fld id="{9E0B6549-48D0-40FA-8048-0B757E8BF1A8}" type="slidenum">
              <a:rPr lang="en-US" altLang="zh-CN" smtClean="0">
                <a:ea typeface="宋体" pitchFamily="2" charset="-122"/>
              </a:rPr>
              <a:pPr/>
              <a:t>92</a:t>
            </a:fld>
            <a:endParaRPr lang="en-US" altLang="zh-CN">
              <a:ea typeface="宋体" pitchFamily="2" charset="-122"/>
            </a:endParaRPr>
          </a:p>
        </p:txBody>
      </p:sp>
      <p:sp>
        <p:nvSpPr>
          <p:cNvPr id="36872" name="Rectangle 2"/>
          <p:cNvSpPr>
            <a:spLocks noGrp="1" noChangeArrowheads="1"/>
          </p:cNvSpPr>
          <p:nvPr>
            <p:ph type="title"/>
          </p:nvPr>
        </p:nvSpPr>
        <p:spPr>
          <a:xfrm>
            <a:off x="2024063" y="123033"/>
            <a:ext cx="6597650" cy="896937"/>
          </a:xfrm>
        </p:spPr>
        <p:txBody>
          <a:bodyPr>
            <a:normAutofit/>
          </a:bodyPr>
          <a:lstStyle/>
          <a:p>
            <a:r>
              <a:rPr lang="zh-CN" altLang="en-US" sz="4000" b="1" dirty="0">
                <a:solidFill>
                  <a:srgbClr val="0070C0"/>
                </a:solidFill>
                <a:effectLst/>
              </a:rPr>
              <a:t>总离差的分解</a:t>
            </a:r>
          </a:p>
        </p:txBody>
      </p:sp>
      <p:sp>
        <p:nvSpPr>
          <p:cNvPr id="36873" name="Rectangle 3"/>
          <p:cNvSpPr>
            <a:spLocks noGrp="1" noChangeArrowheads="1"/>
          </p:cNvSpPr>
          <p:nvPr>
            <p:ph type="body" idx="1"/>
          </p:nvPr>
        </p:nvSpPr>
        <p:spPr>
          <a:xfrm>
            <a:off x="1708732" y="914402"/>
            <a:ext cx="8969496" cy="1781174"/>
          </a:xfrm>
        </p:spPr>
        <p:txBody>
          <a:bodyPr>
            <a:normAutofit fontScale="85000" lnSpcReduction="20000"/>
          </a:bodyPr>
          <a:lstStyle/>
          <a:p>
            <a:pPr marL="0" indent="803275">
              <a:lnSpc>
                <a:spcPct val="160000"/>
              </a:lnSpc>
              <a:buNone/>
            </a:pPr>
            <a:r>
              <a:rPr lang="zh-CN" altLang="en-US" dirty="0">
                <a:solidFill>
                  <a:srgbClr val="000000"/>
                </a:solidFill>
              </a:rPr>
              <a:t>样本观测值之间的差异大小可用离差来衡量，这个离差习惯上也称为总离差，因为它可以分解为两个离差之总和，即：</a:t>
            </a:r>
          </a:p>
        </p:txBody>
      </p:sp>
      <p:grpSp>
        <p:nvGrpSpPr>
          <p:cNvPr id="2" name="Group 11"/>
          <p:cNvGrpSpPr>
            <a:grpSpLocks/>
          </p:cNvGrpSpPr>
          <p:nvPr/>
        </p:nvGrpSpPr>
        <p:grpSpPr bwMode="auto">
          <a:xfrm>
            <a:off x="2738438" y="2714626"/>
            <a:ext cx="6553200" cy="1019175"/>
            <a:chOff x="776" y="2024"/>
            <a:chExt cx="3738" cy="506"/>
          </a:xfrm>
        </p:grpSpPr>
        <p:graphicFrame>
          <p:nvGraphicFramePr>
            <p:cNvPr id="36868" name="Object 4"/>
            <p:cNvGraphicFramePr>
              <a:graphicFrameLocks noChangeAspect="1"/>
            </p:cNvGraphicFramePr>
            <p:nvPr/>
          </p:nvGraphicFramePr>
          <p:xfrm>
            <a:off x="776" y="2024"/>
            <a:ext cx="1350" cy="506"/>
          </p:xfrm>
          <a:graphic>
            <a:graphicData uri="http://schemas.openxmlformats.org/presentationml/2006/ole">
              <mc:AlternateContent xmlns:mc="http://schemas.openxmlformats.org/markup-compatibility/2006">
                <mc:Choice xmlns:v="urn:schemas-microsoft-com:vml" Requires="v">
                  <p:oleObj name="Equation" r:id="rId2" imgW="634680" imgH="241200" progId="Equation.DSMT4">
                    <p:embed/>
                  </p:oleObj>
                </mc:Choice>
                <mc:Fallback>
                  <p:oleObj name="Equation" r:id="rId2" imgW="634680" imgH="241200" progId="Equation.DSMT4">
                    <p:embed/>
                    <p:pic>
                      <p:nvPicPr>
                        <p:cNvPr id="36868"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6" y="2024"/>
                          <a:ext cx="1350" cy="50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6869" name="Object 5"/>
            <p:cNvGraphicFramePr>
              <a:graphicFrameLocks noChangeAspect="1"/>
            </p:cNvGraphicFramePr>
            <p:nvPr/>
          </p:nvGraphicFramePr>
          <p:xfrm>
            <a:off x="2169" y="2024"/>
            <a:ext cx="1286" cy="473"/>
          </p:xfrm>
          <a:graphic>
            <a:graphicData uri="http://schemas.openxmlformats.org/presentationml/2006/ole">
              <mc:AlternateContent xmlns:mc="http://schemas.openxmlformats.org/markup-compatibility/2006">
                <mc:Choice xmlns:v="urn:schemas-microsoft-com:vml" Requires="v">
                  <p:oleObj name="Equation" r:id="rId4" imgW="647640" imgH="241200" progId="Equation.DSMT4">
                    <p:embed/>
                  </p:oleObj>
                </mc:Choice>
                <mc:Fallback>
                  <p:oleObj name="Equation" r:id="rId4" imgW="647640" imgH="241200" progId="Equation.DSMT4">
                    <p:embed/>
                    <p:pic>
                      <p:nvPicPr>
                        <p:cNvPr id="36869"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69" y="2024"/>
                          <a:ext cx="1286" cy="47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6870" name="Object 6"/>
            <p:cNvGraphicFramePr>
              <a:graphicFrameLocks noChangeAspect="1"/>
            </p:cNvGraphicFramePr>
            <p:nvPr/>
          </p:nvGraphicFramePr>
          <p:xfrm>
            <a:off x="3470" y="2024"/>
            <a:ext cx="1044" cy="481"/>
          </p:xfrm>
          <a:graphic>
            <a:graphicData uri="http://schemas.openxmlformats.org/presentationml/2006/ole">
              <mc:AlternateContent xmlns:mc="http://schemas.openxmlformats.org/markup-compatibility/2006">
                <mc:Choice xmlns:v="urn:schemas-microsoft-com:vml" Requires="v">
                  <p:oleObj name="Equation" r:id="rId6" imgW="495085" imgH="228501" progId="Equation.DSMT4">
                    <p:embed/>
                  </p:oleObj>
                </mc:Choice>
                <mc:Fallback>
                  <p:oleObj name="Equation" r:id="rId6" imgW="495085" imgH="228501" progId="Equation.DSMT4">
                    <p:embed/>
                    <p:pic>
                      <p:nvPicPr>
                        <p:cNvPr id="36870"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470" y="2024"/>
                          <a:ext cx="1044" cy="48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36875" name="Rectangle 13"/>
          <p:cNvSpPr>
            <a:spLocks noChangeArrowheads="1"/>
          </p:cNvSpPr>
          <p:nvPr/>
        </p:nvSpPr>
        <p:spPr bwMode="auto">
          <a:xfrm>
            <a:off x="1524001" y="2906197"/>
            <a:ext cx="184731" cy="369332"/>
          </a:xfrm>
          <a:prstGeom prst="rect">
            <a:avLst/>
          </a:prstGeom>
          <a:noFill/>
          <a:ln w="9525">
            <a:noFill/>
            <a:miter lim="800000"/>
            <a:headEnd/>
            <a:tailEnd/>
          </a:ln>
        </p:spPr>
        <p:txBody>
          <a:bodyPr wrap="none" anchor="ctr">
            <a:spAutoFit/>
          </a:bodyPr>
          <a:lstStyle/>
          <a:p>
            <a:endParaRPr lang="zh-CN" altLang="en-US"/>
          </a:p>
        </p:txBody>
      </p:sp>
      <p:graphicFrame>
        <p:nvGraphicFramePr>
          <p:cNvPr id="36866" name="Object 2"/>
          <p:cNvGraphicFramePr>
            <a:graphicFrameLocks noChangeAspect="1"/>
          </p:cNvGraphicFramePr>
          <p:nvPr/>
        </p:nvGraphicFramePr>
        <p:xfrm>
          <a:off x="2166939" y="4143376"/>
          <a:ext cx="3671887" cy="1781175"/>
        </p:xfrm>
        <a:graphic>
          <a:graphicData uri="http://schemas.openxmlformats.org/presentationml/2006/ole">
            <mc:AlternateContent xmlns:mc="http://schemas.openxmlformats.org/markup-compatibility/2006">
              <mc:Choice xmlns:v="urn:schemas-microsoft-com:vml" Requires="v">
                <p:oleObj name="Equation" r:id="rId8" imgW="1473200" imgH="673100" progId="Equation.DSMT4">
                  <p:embed/>
                </p:oleObj>
              </mc:Choice>
              <mc:Fallback>
                <p:oleObj name="Equation" r:id="rId8" imgW="1473200" imgH="673100" progId="Equation.DSMT4">
                  <p:embed/>
                  <p:pic>
                    <p:nvPicPr>
                      <p:cNvPr id="36866" name="Object 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166939" y="4143376"/>
                        <a:ext cx="3671887" cy="17811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6876" name="Rectangle 15"/>
          <p:cNvSpPr>
            <a:spLocks noChangeArrowheads="1"/>
          </p:cNvSpPr>
          <p:nvPr/>
        </p:nvSpPr>
        <p:spPr bwMode="auto">
          <a:xfrm>
            <a:off x="1524001" y="2925247"/>
            <a:ext cx="184731" cy="369332"/>
          </a:xfrm>
          <a:prstGeom prst="rect">
            <a:avLst/>
          </a:prstGeom>
          <a:noFill/>
          <a:ln w="9525">
            <a:noFill/>
            <a:miter lim="800000"/>
            <a:headEnd/>
            <a:tailEnd/>
          </a:ln>
        </p:spPr>
        <p:txBody>
          <a:bodyPr wrap="none" anchor="ctr">
            <a:spAutoFit/>
          </a:bodyPr>
          <a:lstStyle/>
          <a:p>
            <a:endParaRPr lang="zh-CN" altLang="en-US"/>
          </a:p>
        </p:txBody>
      </p:sp>
      <p:graphicFrame>
        <p:nvGraphicFramePr>
          <p:cNvPr id="36867" name="Object 3"/>
          <p:cNvGraphicFramePr>
            <a:graphicFrameLocks noChangeAspect="1"/>
          </p:cNvGraphicFramePr>
          <p:nvPr/>
        </p:nvGraphicFramePr>
        <p:xfrm>
          <a:off x="6310314" y="4143376"/>
          <a:ext cx="3851275" cy="1762125"/>
        </p:xfrm>
        <a:graphic>
          <a:graphicData uri="http://schemas.openxmlformats.org/presentationml/2006/ole">
            <mc:AlternateContent xmlns:mc="http://schemas.openxmlformats.org/markup-compatibility/2006">
              <mc:Choice xmlns:v="urn:schemas-microsoft-com:vml" Requires="v">
                <p:oleObj name="Equation" r:id="rId10" imgW="1447172" imgH="634725" progId="Equation.DSMT4">
                  <p:embed/>
                </p:oleObj>
              </mc:Choice>
              <mc:Fallback>
                <p:oleObj name="Equation" r:id="rId10" imgW="1447172" imgH="634725" progId="Equation.DSMT4">
                  <p:embed/>
                  <p:pic>
                    <p:nvPicPr>
                      <p:cNvPr id="36867" name="Object 3"/>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310314" y="4143376"/>
                        <a:ext cx="3851275" cy="17621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6877" name="Text Box 16"/>
          <p:cNvSpPr txBox="1">
            <a:spLocks noChangeArrowheads="1"/>
          </p:cNvSpPr>
          <p:nvPr/>
        </p:nvSpPr>
        <p:spPr bwMode="auto">
          <a:xfrm>
            <a:off x="2024063" y="3714750"/>
            <a:ext cx="1295400" cy="523220"/>
          </a:xfrm>
          <a:prstGeom prst="rect">
            <a:avLst/>
          </a:prstGeom>
          <a:noFill/>
          <a:ln w="9525">
            <a:noFill/>
            <a:miter lim="800000"/>
            <a:headEnd/>
            <a:tailEnd/>
          </a:ln>
        </p:spPr>
        <p:txBody>
          <a:bodyPr>
            <a:spAutoFit/>
          </a:bodyPr>
          <a:lstStyle/>
          <a:p>
            <a:pPr>
              <a:spcBef>
                <a:spcPct val="50000"/>
              </a:spcBef>
            </a:pPr>
            <a:r>
              <a:rPr lang="zh-CN" altLang="en-US" sz="2800" b="1" dirty="0">
                <a:solidFill>
                  <a:schemeClr val="tx2"/>
                </a:solidFill>
              </a:rPr>
              <a:t>其中，</a:t>
            </a:r>
          </a:p>
        </p:txBody>
      </p:sp>
    </p:spTree>
    <p:extLst>
      <p:ext uri="{BB962C8B-B14F-4D97-AF65-F5344CB8AC3E}">
        <p14:creationId xmlns:p14="http://schemas.microsoft.com/office/powerpoint/2010/main" val="2265565205"/>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4" name="灯片编号占位符 5"/>
          <p:cNvSpPr>
            <a:spLocks noGrp="1"/>
          </p:cNvSpPr>
          <p:nvPr>
            <p:ph type="sldNum" sz="quarter" idx="4294967295"/>
          </p:nvPr>
        </p:nvSpPr>
        <p:spPr>
          <a:noFill/>
        </p:spPr>
        <p:txBody>
          <a:bodyPr/>
          <a:lstStyle/>
          <a:p>
            <a:r>
              <a:rPr lang="en-US" altLang="zh-CN">
                <a:ea typeface="宋体" pitchFamily="2" charset="-122"/>
              </a:rPr>
              <a:t>8.4--</a:t>
            </a:r>
            <a:fld id="{FBDCF23B-0E32-4269-8C28-BA50B5385F3A}" type="slidenum">
              <a:rPr lang="en-US" altLang="zh-CN" smtClean="0">
                <a:ea typeface="宋体" pitchFamily="2" charset="-122"/>
              </a:rPr>
              <a:pPr/>
              <a:t>93</a:t>
            </a:fld>
            <a:endParaRPr lang="en-US" altLang="zh-CN">
              <a:ea typeface="宋体" pitchFamily="2" charset="-122"/>
            </a:endParaRPr>
          </a:p>
        </p:txBody>
      </p:sp>
      <p:sp>
        <p:nvSpPr>
          <p:cNvPr id="37895" name="Rectangle 2"/>
          <p:cNvSpPr>
            <a:spLocks noGrp="1" noChangeArrowheads="1"/>
          </p:cNvSpPr>
          <p:nvPr>
            <p:ph type="title"/>
          </p:nvPr>
        </p:nvSpPr>
        <p:spPr>
          <a:xfrm>
            <a:off x="1678279" y="291702"/>
            <a:ext cx="10483268" cy="662782"/>
          </a:xfrm>
        </p:spPr>
        <p:txBody>
          <a:bodyPr/>
          <a:lstStyle/>
          <a:p>
            <a:r>
              <a:rPr lang="zh-CN" altLang="en-US" sz="4000" b="1">
                <a:solidFill>
                  <a:srgbClr val="0070C0"/>
                </a:solidFill>
                <a:effectLst/>
              </a:rPr>
              <a:t>离差平方总和的分解</a:t>
            </a:r>
          </a:p>
        </p:txBody>
      </p:sp>
      <p:sp>
        <p:nvSpPr>
          <p:cNvPr id="37896" name="Rectangle 3"/>
          <p:cNvSpPr>
            <a:spLocks noGrp="1" noChangeArrowheads="1"/>
          </p:cNvSpPr>
          <p:nvPr>
            <p:ph type="body" idx="1"/>
          </p:nvPr>
        </p:nvSpPr>
        <p:spPr>
          <a:xfrm>
            <a:off x="1616366" y="914795"/>
            <a:ext cx="8329321" cy="935038"/>
          </a:xfrm>
        </p:spPr>
        <p:txBody>
          <a:bodyPr>
            <a:noAutofit/>
          </a:bodyPr>
          <a:lstStyle/>
          <a:p>
            <a:pPr marL="0" indent="0">
              <a:lnSpc>
                <a:spcPct val="150000"/>
              </a:lnSpc>
              <a:buNone/>
            </a:pPr>
            <a:r>
              <a:rPr lang="zh-CN" altLang="en-US" sz="2800" b="1" dirty="0">
                <a:solidFill>
                  <a:schemeClr val="tx1"/>
                </a:solidFill>
              </a:rPr>
              <a:t>     要对全部观测值的离差进行综合分析，就需要计算全部观测值的离差平方总和并对它进行分解。 </a:t>
            </a:r>
          </a:p>
        </p:txBody>
      </p:sp>
      <p:sp>
        <p:nvSpPr>
          <p:cNvPr id="37897" name="Rectangle 5"/>
          <p:cNvSpPr>
            <a:spLocks noChangeArrowheads="1"/>
          </p:cNvSpPr>
          <p:nvPr/>
        </p:nvSpPr>
        <p:spPr bwMode="auto">
          <a:xfrm>
            <a:off x="1524001" y="3015734"/>
            <a:ext cx="184731" cy="369332"/>
          </a:xfrm>
          <a:prstGeom prst="rect">
            <a:avLst/>
          </a:prstGeom>
          <a:noFill/>
          <a:ln w="9525">
            <a:noFill/>
            <a:miter lim="800000"/>
            <a:headEnd/>
            <a:tailEnd/>
          </a:ln>
        </p:spPr>
        <p:txBody>
          <a:bodyPr wrap="none" anchor="ctr">
            <a:spAutoFit/>
          </a:bodyPr>
          <a:lstStyle/>
          <a:p>
            <a:endParaRPr lang="zh-CN" altLang="en-US"/>
          </a:p>
        </p:txBody>
      </p:sp>
      <p:graphicFrame>
        <p:nvGraphicFramePr>
          <p:cNvPr id="118788" name="Object 2"/>
          <p:cNvGraphicFramePr>
            <a:graphicFrameLocks noChangeAspect="1"/>
          </p:cNvGraphicFramePr>
          <p:nvPr>
            <p:extLst>
              <p:ext uri="{D42A27DB-BD31-4B8C-83A1-F6EECF244321}">
                <p14:modId xmlns:p14="http://schemas.microsoft.com/office/powerpoint/2010/main" val="202682164"/>
              </p:ext>
            </p:extLst>
          </p:nvPr>
        </p:nvGraphicFramePr>
        <p:xfrm>
          <a:off x="2079626" y="2206029"/>
          <a:ext cx="3063875" cy="1308100"/>
        </p:xfrm>
        <a:graphic>
          <a:graphicData uri="http://schemas.openxmlformats.org/presentationml/2006/ole">
            <mc:AlternateContent xmlns:mc="http://schemas.openxmlformats.org/markup-compatibility/2006">
              <mc:Choice xmlns:v="urn:schemas-microsoft-com:vml" Requires="v">
                <p:oleObj name="Equation" r:id="rId2" imgW="1066680" imgH="457200" progId="Equation.DSMT4">
                  <p:embed/>
                </p:oleObj>
              </mc:Choice>
              <mc:Fallback>
                <p:oleObj name="Equation" r:id="rId2" imgW="1066680" imgH="457200" progId="Equation.DSMT4">
                  <p:embed/>
                  <p:pic>
                    <p:nvPicPr>
                      <p:cNvPr id="118788"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79626" y="2206029"/>
                        <a:ext cx="3063875" cy="1308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7898" name="Rectangle 7"/>
          <p:cNvSpPr>
            <a:spLocks noChangeArrowheads="1"/>
          </p:cNvSpPr>
          <p:nvPr/>
        </p:nvSpPr>
        <p:spPr bwMode="auto">
          <a:xfrm>
            <a:off x="1524001" y="3015734"/>
            <a:ext cx="184731" cy="369332"/>
          </a:xfrm>
          <a:prstGeom prst="rect">
            <a:avLst/>
          </a:prstGeom>
          <a:noFill/>
          <a:ln w="9525">
            <a:noFill/>
            <a:miter lim="800000"/>
            <a:headEnd/>
            <a:tailEnd/>
          </a:ln>
        </p:spPr>
        <p:txBody>
          <a:bodyPr wrap="none" anchor="ctr">
            <a:spAutoFit/>
          </a:bodyPr>
          <a:lstStyle/>
          <a:p>
            <a:endParaRPr lang="zh-CN" altLang="en-US"/>
          </a:p>
        </p:txBody>
      </p:sp>
      <p:graphicFrame>
        <p:nvGraphicFramePr>
          <p:cNvPr id="118790" name="Object 3"/>
          <p:cNvGraphicFramePr>
            <a:graphicFrameLocks noChangeAspect="1"/>
          </p:cNvGraphicFramePr>
          <p:nvPr>
            <p:extLst>
              <p:ext uri="{D42A27DB-BD31-4B8C-83A1-F6EECF244321}">
                <p14:modId xmlns:p14="http://schemas.microsoft.com/office/powerpoint/2010/main" val="641262858"/>
              </p:ext>
            </p:extLst>
          </p:nvPr>
        </p:nvGraphicFramePr>
        <p:xfrm>
          <a:off x="5133181" y="2220316"/>
          <a:ext cx="4595813" cy="1279525"/>
        </p:xfrm>
        <a:graphic>
          <a:graphicData uri="http://schemas.openxmlformats.org/presentationml/2006/ole">
            <mc:AlternateContent xmlns:mc="http://schemas.openxmlformats.org/markup-compatibility/2006">
              <mc:Choice xmlns:v="urn:schemas-microsoft-com:vml" Requires="v">
                <p:oleObj name="Equation" r:id="rId4" imgW="1638000" imgH="457200" progId="Equation.DSMT4">
                  <p:embed/>
                </p:oleObj>
              </mc:Choice>
              <mc:Fallback>
                <p:oleObj name="Equation" r:id="rId4" imgW="1638000" imgH="457200" progId="Equation.DSMT4">
                  <p:embed/>
                  <p:pic>
                    <p:nvPicPr>
                      <p:cNvPr id="11879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33181" y="2220316"/>
                        <a:ext cx="4595813" cy="12795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7899" name="Rectangle 9"/>
          <p:cNvSpPr>
            <a:spLocks noChangeArrowheads="1"/>
          </p:cNvSpPr>
          <p:nvPr/>
        </p:nvSpPr>
        <p:spPr bwMode="auto">
          <a:xfrm>
            <a:off x="1524001" y="3015734"/>
            <a:ext cx="184731" cy="369332"/>
          </a:xfrm>
          <a:prstGeom prst="rect">
            <a:avLst/>
          </a:prstGeom>
          <a:noFill/>
          <a:ln w="9525">
            <a:noFill/>
            <a:miter lim="800000"/>
            <a:headEnd/>
            <a:tailEnd/>
          </a:ln>
        </p:spPr>
        <p:txBody>
          <a:bodyPr wrap="none" anchor="ctr">
            <a:spAutoFit/>
          </a:bodyPr>
          <a:lstStyle/>
          <a:p>
            <a:endParaRPr lang="zh-CN" altLang="en-US"/>
          </a:p>
        </p:txBody>
      </p:sp>
      <p:grpSp>
        <p:nvGrpSpPr>
          <p:cNvPr id="2" name="Group 12"/>
          <p:cNvGrpSpPr>
            <a:grpSpLocks/>
          </p:cNvGrpSpPr>
          <p:nvPr/>
        </p:nvGrpSpPr>
        <p:grpSpPr bwMode="auto">
          <a:xfrm>
            <a:off x="4367213" y="3509963"/>
            <a:ext cx="5759450" cy="1295400"/>
            <a:chOff x="1519" y="2432"/>
            <a:chExt cx="3357" cy="767"/>
          </a:xfrm>
        </p:grpSpPr>
        <p:graphicFrame>
          <p:nvGraphicFramePr>
            <p:cNvPr id="37892" name="Object 4"/>
            <p:cNvGraphicFramePr>
              <a:graphicFrameLocks noChangeAspect="1"/>
            </p:cNvGraphicFramePr>
            <p:nvPr/>
          </p:nvGraphicFramePr>
          <p:xfrm>
            <a:off x="1519" y="2432"/>
            <a:ext cx="2018" cy="767"/>
          </p:xfrm>
          <a:graphic>
            <a:graphicData uri="http://schemas.openxmlformats.org/presentationml/2006/ole">
              <mc:AlternateContent xmlns:mc="http://schemas.openxmlformats.org/markup-compatibility/2006">
                <mc:Choice xmlns:v="urn:schemas-microsoft-com:vml" Requires="v">
                  <p:oleObj name="Equation" r:id="rId6" imgW="1206360" imgH="457200" progId="Equation.DSMT4">
                    <p:embed/>
                  </p:oleObj>
                </mc:Choice>
                <mc:Fallback>
                  <p:oleObj name="Equation" r:id="rId6" imgW="1206360" imgH="457200" progId="Equation.DSMT4">
                    <p:embed/>
                    <p:pic>
                      <p:nvPicPr>
                        <p:cNvPr id="37892"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519" y="2432"/>
                          <a:ext cx="2018" cy="76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7893" name="Object 5"/>
            <p:cNvGraphicFramePr>
              <a:graphicFrameLocks noChangeAspect="1"/>
            </p:cNvGraphicFramePr>
            <p:nvPr/>
          </p:nvGraphicFramePr>
          <p:xfrm>
            <a:off x="3470" y="2478"/>
            <a:ext cx="1406" cy="696"/>
          </p:xfrm>
          <a:graphic>
            <a:graphicData uri="http://schemas.openxmlformats.org/presentationml/2006/ole">
              <mc:AlternateContent xmlns:mc="http://schemas.openxmlformats.org/markup-compatibility/2006">
                <mc:Choice xmlns:v="urn:schemas-microsoft-com:vml" Requires="v">
                  <p:oleObj name="Equation" r:id="rId8" imgW="927100" imgH="457200" progId="Equation.DSMT4">
                    <p:embed/>
                  </p:oleObj>
                </mc:Choice>
                <mc:Fallback>
                  <p:oleObj name="Equation" r:id="rId8" imgW="927100" imgH="457200" progId="Equation.DSMT4">
                    <p:embed/>
                    <p:pic>
                      <p:nvPicPr>
                        <p:cNvPr id="37893" name="Object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470" y="2478"/>
                          <a:ext cx="1406" cy="69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118797" name="Rectangle 13"/>
          <p:cNvSpPr>
            <a:spLocks noChangeArrowheads="1"/>
          </p:cNvSpPr>
          <p:nvPr/>
        </p:nvSpPr>
        <p:spPr bwMode="auto">
          <a:xfrm>
            <a:off x="2279651" y="5000625"/>
            <a:ext cx="7727948" cy="1151084"/>
          </a:xfrm>
          <a:prstGeom prst="rect">
            <a:avLst/>
          </a:prstGeom>
          <a:noFill/>
          <a:ln w="9525">
            <a:noFill/>
            <a:miter lim="800000"/>
            <a:headEnd/>
            <a:tailEnd/>
          </a:ln>
        </p:spPr>
        <p:txBody>
          <a:bodyPr wrap="square">
            <a:spAutoFit/>
          </a:bodyPr>
          <a:lstStyle/>
          <a:p>
            <a:pPr algn="just">
              <a:lnSpc>
                <a:spcPct val="115000"/>
              </a:lnSpc>
              <a:spcBef>
                <a:spcPct val="20000"/>
              </a:spcBef>
              <a:buSzPct val="120000"/>
              <a:buFont typeface="Wingdings" pitchFamily="2" charset="2"/>
              <a:buNone/>
            </a:pPr>
            <a:r>
              <a:rPr lang="zh-CN" altLang="en-US" sz="3200" b="1" dirty="0">
                <a:solidFill>
                  <a:srgbClr val="CC0099"/>
                </a:solidFill>
              </a:rPr>
              <a:t>总离差平方和</a:t>
            </a:r>
            <a:r>
              <a:rPr lang="en-US" altLang="zh-CN" sz="3200" b="1" dirty="0">
                <a:solidFill>
                  <a:srgbClr val="CC0099"/>
                </a:solidFill>
              </a:rPr>
              <a:t>=</a:t>
            </a:r>
            <a:r>
              <a:rPr lang="zh-CN" altLang="en-US" sz="3200" b="1" dirty="0">
                <a:solidFill>
                  <a:srgbClr val="CC0099"/>
                </a:solidFill>
              </a:rPr>
              <a:t>组内平方和 </a:t>
            </a:r>
            <a:r>
              <a:rPr lang="en-US" altLang="zh-CN" sz="3200" b="1" dirty="0">
                <a:solidFill>
                  <a:srgbClr val="CC0099"/>
                </a:solidFill>
              </a:rPr>
              <a:t>+ </a:t>
            </a:r>
            <a:r>
              <a:rPr lang="zh-CN" altLang="en-US" sz="3200" b="1" dirty="0">
                <a:solidFill>
                  <a:srgbClr val="CC0099"/>
                </a:solidFill>
              </a:rPr>
              <a:t>组间平方和   </a:t>
            </a:r>
          </a:p>
          <a:p>
            <a:r>
              <a:rPr lang="zh-CN" altLang="en-US" sz="3200" b="1" dirty="0">
                <a:solidFill>
                  <a:srgbClr val="000000"/>
                </a:solidFill>
              </a:rPr>
              <a:t> 简记为：</a:t>
            </a:r>
            <a:r>
              <a:rPr lang="en-US" altLang="zh-CN" sz="3200" b="1" dirty="0">
                <a:solidFill>
                  <a:srgbClr val="C00000"/>
                </a:solidFill>
              </a:rPr>
              <a:t>SST = SSE + SSA</a:t>
            </a:r>
          </a:p>
        </p:txBody>
      </p:sp>
    </p:spTree>
    <p:extLst>
      <p:ext uri="{BB962C8B-B14F-4D97-AF65-F5344CB8AC3E}">
        <p14:creationId xmlns:p14="http://schemas.microsoft.com/office/powerpoint/2010/main" val="23251637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18788"/>
                                        </p:tgtEl>
                                        <p:attrNameLst>
                                          <p:attrName>style.visibility</p:attrName>
                                        </p:attrNameLst>
                                      </p:cBhvr>
                                      <p:to>
                                        <p:strVal val="visible"/>
                                      </p:to>
                                    </p:set>
                                    <p:animEffect transition="in" filter="wipe(left)">
                                      <p:cBhvr>
                                        <p:cTn id="7" dur="500"/>
                                        <p:tgtEl>
                                          <p:spTgt spid="118788"/>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118790"/>
                                        </p:tgtEl>
                                        <p:attrNameLst>
                                          <p:attrName>style.visibility</p:attrName>
                                        </p:attrNameLst>
                                      </p:cBhvr>
                                      <p:to>
                                        <p:strVal val="visible"/>
                                      </p:to>
                                    </p:set>
                                    <p:animEffect transition="in" filter="wipe(left)">
                                      <p:cBhvr>
                                        <p:cTn id="11" dur="500"/>
                                        <p:tgtEl>
                                          <p:spTgt spid="118790"/>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wipe(left)">
                                      <p:cBhvr>
                                        <p:cTn id="16" dur="500"/>
                                        <p:tgtEl>
                                          <p:spTgt spid="2"/>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1" fill="hold" grpId="0" nodeType="clickEffect">
                                  <p:stCondLst>
                                    <p:cond delay="0"/>
                                  </p:stCondLst>
                                  <p:childTnLst>
                                    <p:set>
                                      <p:cBhvr>
                                        <p:cTn id="20" dur="1" fill="hold">
                                          <p:stCondLst>
                                            <p:cond delay="0"/>
                                          </p:stCondLst>
                                        </p:cTn>
                                        <p:tgtEl>
                                          <p:spTgt spid="118797"/>
                                        </p:tgtEl>
                                        <p:attrNameLst>
                                          <p:attrName>style.visibility</p:attrName>
                                        </p:attrNameLst>
                                      </p:cBhvr>
                                      <p:to>
                                        <p:strVal val="visible"/>
                                      </p:to>
                                    </p:set>
                                    <p:animEffect transition="in" filter="wipe(up)">
                                      <p:cBhvr>
                                        <p:cTn id="21" dur="500"/>
                                        <p:tgtEl>
                                          <p:spTgt spid="1187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797" grpId="0"/>
    </p:bldLst>
  </p:timing>
</p:sld>
</file>

<file path=ppt/slides/slide9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8915" name="灯片编号占位符 6"/>
          <p:cNvSpPr>
            <a:spLocks noGrp="1"/>
          </p:cNvSpPr>
          <p:nvPr>
            <p:ph type="sldNum" sz="quarter" idx="10"/>
          </p:nvPr>
        </p:nvSpPr>
        <p:spPr>
          <a:noFill/>
        </p:spPr>
        <p:txBody>
          <a:bodyPr/>
          <a:lstStyle/>
          <a:p>
            <a:r>
              <a:rPr lang="en-US" altLang="zh-CN">
                <a:ea typeface="宋体" pitchFamily="2" charset="-122"/>
              </a:rPr>
              <a:t>8.4--</a:t>
            </a:r>
            <a:fld id="{54CC009B-E786-40EA-BE45-17ED4D08EA11}" type="slidenum">
              <a:rPr lang="en-US" altLang="zh-CN" smtClean="0">
                <a:ea typeface="宋体" pitchFamily="2" charset="-122"/>
              </a:rPr>
              <a:pPr/>
              <a:t>94</a:t>
            </a:fld>
            <a:endParaRPr lang="en-US" altLang="zh-CN">
              <a:ea typeface="宋体" pitchFamily="2" charset="-122"/>
            </a:endParaRPr>
          </a:p>
        </p:txBody>
      </p:sp>
      <p:sp>
        <p:nvSpPr>
          <p:cNvPr id="38916" name="Rectangle 2"/>
          <p:cNvSpPr>
            <a:spLocks noGrp="1" noChangeArrowheads="1"/>
          </p:cNvSpPr>
          <p:nvPr>
            <p:ph type="title" idx="4294967295"/>
          </p:nvPr>
        </p:nvSpPr>
        <p:spPr>
          <a:xfrm>
            <a:off x="1866900" y="401638"/>
            <a:ext cx="4229100" cy="1471613"/>
          </a:xfrm>
          <a:noFill/>
        </p:spPr>
        <p:txBody>
          <a:bodyPr vert="horz" lIns="90488" tIns="44450" rIns="90488" bIns="44450" rtlCol="0" anchor="ctr" anchorCtr="1">
            <a:normAutofit/>
          </a:bodyPr>
          <a:lstStyle/>
          <a:p>
            <a:pPr algn="ctr"/>
            <a:r>
              <a:rPr lang="zh-CN" altLang="en-US" sz="4000" b="1" dirty="0">
                <a:solidFill>
                  <a:srgbClr val="00B0F0"/>
                </a:solidFill>
                <a:effectLst/>
              </a:rPr>
              <a:t>总离差平方和</a:t>
            </a:r>
          </a:p>
        </p:txBody>
      </p:sp>
      <p:sp>
        <p:nvSpPr>
          <p:cNvPr id="38917" name="Rectangle 3"/>
          <p:cNvSpPr>
            <a:spLocks noGrp="1" noChangeArrowheads="1"/>
          </p:cNvSpPr>
          <p:nvPr>
            <p:ph type="body" sz="half" idx="4294967295"/>
          </p:nvPr>
        </p:nvSpPr>
        <p:spPr>
          <a:xfrm>
            <a:off x="1256666" y="1741488"/>
            <a:ext cx="7921625" cy="2159000"/>
          </a:xfrm>
          <a:noFill/>
        </p:spPr>
        <p:txBody>
          <a:bodyPr vert="horz" lIns="90488" tIns="44450" rIns="90488" bIns="44450" rtlCol="0">
            <a:normAutofit/>
          </a:bodyPr>
          <a:lstStyle/>
          <a:p>
            <a:pPr marL="533400" indent="-533400" algn="just">
              <a:lnSpc>
                <a:spcPct val="130000"/>
              </a:lnSpc>
              <a:buNone/>
            </a:pPr>
            <a:r>
              <a:rPr lang="en-US" altLang="zh-CN" sz="3000" b="1" dirty="0">
                <a:latin typeface="Arial" pitchFamily="34" charset="0"/>
              </a:rPr>
              <a:t>——</a:t>
            </a:r>
            <a:r>
              <a:rPr lang="zh-CN" altLang="en-US" b="1" dirty="0">
                <a:latin typeface="Times New Roman" pitchFamily="18" charset="0"/>
              </a:rPr>
              <a:t>全部观察值与</a:t>
            </a:r>
            <a:r>
              <a:rPr lang="zh-CN" altLang="en-US" b="1" dirty="0">
                <a:solidFill>
                  <a:srgbClr val="3333FF"/>
                </a:solidFill>
                <a:latin typeface="Times New Roman" pitchFamily="18" charset="0"/>
              </a:rPr>
              <a:t>总平均数</a:t>
            </a:r>
            <a:r>
              <a:rPr lang="zh-CN" altLang="en-US" b="1" dirty="0">
                <a:latin typeface="Times New Roman" pitchFamily="18" charset="0"/>
              </a:rPr>
              <a:t>的离差平方和；</a:t>
            </a:r>
          </a:p>
          <a:p>
            <a:pPr marL="1143000" lvl="1" indent="-685800" algn="just">
              <a:lnSpc>
                <a:spcPct val="130000"/>
              </a:lnSpc>
              <a:buNone/>
            </a:pPr>
            <a:r>
              <a:rPr lang="zh-CN" altLang="en-US" sz="3200" b="1" dirty="0">
                <a:latin typeface="Times New Roman" pitchFamily="18" charset="0"/>
              </a:rPr>
              <a:t>  反映全部观察数据的差异程度。</a:t>
            </a:r>
            <a:endParaRPr lang="zh-CN" altLang="en-US" b="1" dirty="0">
              <a:latin typeface="Times New Roman" pitchFamily="18" charset="0"/>
            </a:endParaRPr>
          </a:p>
          <a:p>
            <a:pPr marL="1143000" lvl="1" indent="-685800">
              <a:lnSpc>
                <a:spcPct val="130000"/>
              </a:lnSpc>
              <a:buSzPct val="120000"/>
              <a:buFont typeface="Wingdings" pitchFamily="2" charset="2"/>
              <a:buChar char="§"/>
            </a:pPr>
            <a:endParaRPr lang="en-US" altLang="zh-CN" sz="2400" b="1" dirty="0">
              <a:latin typeface="Times New Roman" pitchFamily="18" charset="0"/>
            </a:endParaRPr>
          </a:p>
        </p:txBody>
      </p:sp>
      <p:graphicFrame>
        <p:nvGraphicFramePr>
          <p:cNvPr id="38914" name="Object 2">
            <a:hlinkClick r:id="" action="ppaction://ole?verb=0"/>
          </p:cNvPr>
          <p:cNvGraphicFramePr>
            <a:graphicFrameLocks/>
          </p:cNvGraphicFramePr>
          <p:nvPr>
            <p:extLst>
              <p:ext uri="{D42A27DB-BD31-4B8C-83A1-F6EECF244321}">
                <p14:modId xmlns:p14="http://schemas.microsoft.com/office/powerpoint/2010/main" val="2630123070"/>
              </p:ext>
            </p:extLst>
          </p:nvPr>
        </p:nvGraphicFramePr>
        <p:xfrm>
          <a:off x="2967038" y="3433762"/>
          <a:ext cx="5503862" cy="2027237"/>
        </p:xfrm>
        <a:graphic>
          <a:graphicData uri="http://schemas.openxmlformats.org/presentationml/2006/ole">
            <mc:AlternateContent xmlns:mc="http://schemas.openxmlformats.org/markup-compatibility/2006">
              <mc:Choice xmlns:v="urn:schemas-microsoft-com:vml" Requires="v">
                <p:oleObj name="Equation" r:id="rId3" imgW="1371600" imgH="457200" progId="Equation.DSMT4">
                  <p:embed/>
                </p:oleObj>
              </mc:Choice>
              <mc:Fallback>
                <p:oleObj name="Equation" r:id="rId3" imgW="1371600" imgH="457200" progId="Equation.DSMT4">
                  <p:embed/>
                  <p:pic>
                    <p:nvPicPr>
                      <p:cNvPr id="38914" name="Object 2">
                        <a:hlinkClick r:id="" action="ppaction://ole?verb=0"/>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67038" y="3433762"/>
                        <a:ext cx="5503862" cy="2027237"/>
                      </a:xfrm>
                      <a:prstGeom prst="rect">
                        <a:avLst/>
                      </a:prstGeom>
                      <a:noFill/>
                      <a:ln>
                        <a:noFill/>
                      </a:ln>
                      <a:effectLst>
                        <a:outerShdw dist="17961" dir="2700000" algn="ctr" rotWithShape="0">
                          <a:schemeClr val="bg2"/>
                        </a:outerShdw>
                      </a:effectLst>
                    </p:spPr>
                  </p:pic>
                </p:oleObj>
              </mc:Fallback>
            </mc:AlternateContent>
          </a:graphicData>
        </a:graphic>
      </p:graphicFrame>
    </p:spTree>
    <p:extLst>
      <p:ext uri="{BB962C8B-B14F-4D97-AF65-F5344CB8AC3E}">
        <p14:creationId xmlns:p14="http://schemas.microsoft.com/office/powerpoint/2010/main" val="1396778447"/>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9939" name="灯片编号占位符 6"/>
          <p:cNvSpPr>
            <a:spLocks noGrp="1"/>
          </p:cNvSpPr>
          <p:nvPr>
            <p:ph type="sldNum" sz="quarter" idx="10"/>
          </p:nvPr>
        </p:nvSpPr>
        <p:spPr>
          <a:noFill/>
        </p:spPr>
        <p:txBody>
          <a:bodyPr/>
          <a:lstStyle/>
          <a:p>
            <a:r>
              <a:rPr lang="en-US" altLang="zh-CN">
                <a:ea typeface="宋体" pitchFamily="2" charset="-122"/>
              </a:rPr>
              <a:t>8.4--</a:t>
            </a:r>
            <a:fld id="{F7AF68ED-6DB8-4894-B448-D2DABEFFA100}" type="slidenum">
              <a:rPr lang="en-US" altLang="zh-CN" smtClean="0">
                <a:ea typeface="宋体" pitchFamily="2" charset="-122"/>
              </a:rPr>
              <a:pPr/>
              <a:t>95</a:t>
            </a:fld>
            <a:endParaRPr lang="en-US" altLang="zh-CN">
              <a:ea typeface="宋体" pitchFamily="2" charset="-122"/>
            </a:endParaRPr>
          </a:p>
        </p:txBody>
      </p:sp>
      <p:sp>
        <p:nvSpPr>
          <p:cNvPr id="39940" name="Rectangle 2"/>
          <p:cNvSpPr>
            <a:spLocks noGrp="1" noChangeArrowheads="1"/>
          </p:cNvSpPr>
          <p:nvPr>
            <p:ph type="title" idx="4294967295"/>
          </p:nvPr>
        </p:nvSpPr>
        <p:spPr>
          <a:xfrm>
            <a:off x="1458913" y="342266"/>
            <a:ext cx="4446587" cy="1229359"/>
          </a:xfrm>
          <a:noFill/>
        </p:spPr>
        <p:txBody>
          <a:bodyPr vert="horz" lIns="90488" tIns="44450" rIns="90488" bIns="44450" rtlCol="0" anchor="ctr" anchorCtr="1">
            <a:normAutofit/>
          </a:bodyPr>
          <a:lstStyle/>
          <a:p>
            <a:pPr algn="ctr"/>
            <a:r>
              <a:rPr lang="zh-CN" altLang="en-US" sz="4000" b="1" dirty="0">
                <a:solidFill>
                  <a:srgbClr val="00B0F0"/>
                </a:solidFill>
                <a:effectLst/>
              </a:rPr>
              <a:t>组内平方和</a:t>
            </a:r>
          </a:p>
        </p:txBody>
      </p:sp>
      <p:graphicFrame>
        <p:nvGraphicFramePr>
          <p:cNvPr id="71685" name="Object 2">
            <a:hlinkClick r:id="" action="ppaction://ole?verb=0"/>
          </p:cNvPr>
          <p:cNvGraphicFramePr>
            <a:graphicFrameLocks/>
          </p:cNvGraphicFramePr>
          <p:nvPr>
            <p:extLst>
              <p:ext uri="{D42A27DB-BD31-4B8C-83A1-F6EECF244321}">
                <p14:modId xmlns:p14="http://schemas.microsoft.com/office/powerpoint/2010/main" val="3907302340"/>
              </p:ext>
            </p:extLst>
          </p:nvPr>
        </p:nvGraphicFramePr>
        <p:xfrm>
          <a:off x="3286125" y="2351647"/>
          <a:ext cx="5480050" cy="1727200"/>
        </p:xfrm>
        <a:graphic>
          <a:graphicData uri="http://schemas.openxmlformats.org/presentationml/2006/ole">
            <mc:AlternateContent xmlns:mc="http://schemas.openxmlformats.org/markup-compatibility/2006">
              <mc:Choice xmlns:v="urn:schemas-microsoft-com:vml" Requires="v">
                <p:oleObj name="Equation" r:id="rId3" imgW="1396800" imgH="457200" progId="Equation.DSMT4">
                  <p:embed/>
                </p:oleObj>
              </mc:Choice>
              <mc:Fallback>
                <p:oleObj name="Equation" r:id="rId3" imgW="1396800" imgH="457200" progId="Equation.DSMT4">
                  <p:embed/>
                  <p:pic>
                    <p:nvPicPr>
                      <p:cNvPr id="71685" name="Object 2">
                        <a:hlinkClick r:id="" action="ppaction://ole?verb=0"/>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86125" y="2351647"/>
                        <a:ext cx="5480050" cy="1727200"/>
                      </a:xfrm>
                      <a:prstGeom prst="rect">
                        <a:avLst/>
                      </a:prstGeom>
                      <a:noFill/>
                      <a:ln>
                        <a:noFill/>
                      </a:ln>
                      <a:effectLst>
                        <a:outerShdw dist="1796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Lst>
                    </p:spPr>
                  </p:pic>
                </p:oleObj>
              </mc:Fallback>
            </mc:AlternateContent>
          </a:graphicData>
        </a:graphic>
      </p:graphicFrame>
      <p:sp>
        <p:nvSpPr>
          <p:cNvPr id="39941" name="Rectangle 6"/>
          <p:cNvSpPr>
            <a:spLocks noChangeArrowheads="1"/>
          </p:cNvSpPr>
          <p:nvPr/>
        </p:nvSpPr>
        <p:spPr bwMode="auto">
          <a:xfrm>
            <a:off x="1458913" y="1430070"/>
            <a:ext cx="8555038" cy="1200329"/>
          </a:xfrm>
          <a:prstGeom prst="rect">
            <a:avLst/>
          </a:prstGeom>
          <a:noFill/>
          <a:ln w="12700">
            <a:noFill/>
            <a:miter lim="800000"/>
            <a:headEnd/>
            <a:tailEnd/>
          </a:ln>
        </p:spPr>
        <p:txBody>
          <a:bodyPr wrap="square">
            <a:spAutoFit/>
          </a:bodyPr>
          <a:lstStyle/>
          <a:p>
            <a:pPr marL="457200" indent="-457200" eaLnBrk="0" hangingPunct="0">
              <a:spcBef>
                <a:spcPct val="50000"/>
              </a:spcBef>
            </a:pPr>
            <a:r>
              <a:rPr kumimoji="1" lang="en-US" altLang="zh-CN" sz="3600" b="1" dirty="0">
                <a:solidFill>
                  <a:srgbClr val="000000"/>
                </a:solidFill>
                <a:latin typeface="Times New Roman" pitchFamily="18" charset="0"/>
              </a:rPr>
              <a:t>——</a:t>
            </a:r>
            <a:r>
              <a:rPr kumimoji="1" lang="zh-CN" altLang="en-US" sz="3600" b="1" dirty="0">
                <a:solidFill>
                  <a:srgbClr val="000000"/>
                </a:solidFill>
                <a:latin typeface="Times New Roman" pitchFamily="18" charset="0"/>
              </a:rPr>
              <a:t>各水平内部的观察值与</a:t>
            </a:r>
            <a:r>
              <a:rPr kumimoji="1" lang="zh-CN" altLang="en-US" sz="3600" b="1" dirty="0">
                <a:solidFill>
                  <a:srgbClr val="3333FF"/>
                </a:solidFill>
                <a:latin typeface="Times New Roman" pitchFamily="18" charset="0"/>
              </a:rPr>
              <a:t>该水平均值</a:t>
            </a:r>
            <a:r>
              <a:rPr kumimoji="1" lang="zh-CN" altLang="en-US" sz="3600" b="1" dirty="0">
                <a:solidFill>
                  <a:srgbClr val="000000"/>
                </a:solidFill>
                <a:latin typeface="Times New Roman" pitchFamily="18" charset="0"/>
              </a:rPr>
              <a:t>的离差平方和。</a:t>
            </a:r>
          </a:p>
        </p:txBody>
      </p:sp>
      <p:sp>
        <p:nvSpPr>
          <p:cNvPr id="71687" name="Rectangle 7"/>
          <p:cNvSpPr>
            <a:spLocks noChangeArrowheads="1"/>
          </p:cNvSpPr>
          <p:nvPr/>
        </p:nvSpPr>
        <p:spPr bwMode="auto">
          <a:xfrm>
            <a:off x="1643062" y="4065030"/>
            <a:ext cx="7838467" cy="2246313"/>
          </a:xfrm>
          <a:prstGeom prst="rect">
            <a:avLst/>
          </a:prstGeom>
          <a:noFill/>
          <a:ln w="12700">
            <a:noFill/>
            <a:miter lim="800000"/>
            <a:headEnd/>
            <a:tailEnd/>
          </a:ln>
        </p:spPr>
        <p:txBody>
          <a:bodyPr wrap="square">
            <a:spAutoFit/>
          </a:bodyPr>
          <a:lstStyle/>
          <a:p>
            <a:pPr lvl="1" eaLnBrk="0" hangingPunct="0">
              <a:lnSpc>
                <a:spcPct val="120000"/>
              </a:lnSpc>
              <a:spcBef>
                <a:spcPct val="20000"/>
              </a:spcBef>
            </a:pPr>
            <a:r>
              <a:rPr kumimoji="1" lang="en-US" altLang="zh-CN" sz="2800" b="1" dirty="0">
                <a:solidFill>
                  <a:srgbClr val="000000"/>
                </a:solidFill>
                <a:latin typeface="Times New Roman" pitchFamily="18" charset="0"/>
              </a:rPr>
              <a:t>      </a:t>
            </a:r>
            <a:r>
              <a:rPr kumimoji="1" lang="zh-CN" altLang="en-US" sz="2800" b="1" dirty="0">
                <a:solidFill>
                  <a:srgbClr val="000000"/>
                </a:solidFill>
                <a:latin typeface="Times New Roman" pitchFamily="18" charset="0"/>
              </a:rPr>
              <a:t>反映同一水平下样本观察值的差异程度，所以</a:t>
            </a:r>
            <a:r>
              <a:rPr kumimoji="1" lang="zh-CN" altLang="en-US" sz="2800" b="1" dirty="0">
                <a:solidFill>
                  <a:srgbClr val="002060"/>
                </a:solidFill>
                <a:latin typeface="Times New Roman" pitchFamily="18" charset="0"/>
              </a:rPr>
              <a:t>不包含系统误差</a:t>
            </a:r>
            <a:r>
              <a:rPr kumimoji="1" lang="zh-CN" altLang="en-US" sz="2800" b="1" dirty="0">
                <a:solidFill>
                  <a:srgbClr val="000000"/>
                </a:solidFill>
                <a:latin typeface="Times New Roman" pitchFamily="18" charset="0"/>
              </a:rPr>
              <a:t>，</a:t>
            </a:r>
            <a:r>
              <a:rPr kumimoji="1" lang="zh-CN" altLang="en-US" sz="2800" b="1" dirty="0">
                <a:solidFill>
                  <a:srgbClr val="CC0099"/>
                </a:solidFill>
                <a:latin typeface="Times New Roman" pitchFamily="18" charset="0"/>
              </a:rPr>
              <a:t>只包含随机误差</a:t>
            </a:r>
            <a:r>
              <a:rPr kumimoji="1" lang="zh-CN" altLang="en-US" sz="2800" b="1" i="1" dirty="0">
                <a:solidFill>
                  <a:srgbClr val="000000"/>
                </a:solidFill>
                <a:latin typeface="Times New Roman" pitchFamily="18" charset="0"/>
              </a:rPr>
              <a:t>。</a:t>
            </a:r>
          </a:p>
          <a:p>
            <a:pPr lvl="2" eaLnBrk="0" hangingPunct="0">
              <a:lnSpc>
                <a:spcPct val="120000"/>
              </a:lnSpc>
              <a:spcBef>
                <a:spcPct val="20000"/>
              </a:spcBef>
            </a:pPr>
            <a:r>
              <a:rPr kumimoji="1" lang="zh-CN" altLang="en-US" sz="2800" b="1" dirty="0">
                <a:latin typeface="Times New Roman" pitchFamily="18" charset="0"/>
              </a:rPr>
              <a:t>    比如，同种施肥方案的各个地块的收获量的差异。</a:t>
            </a:r>
          </a:p>
        </p:txBody>
      </p:sp>
    </p:spTree>
    <p:extLst>
      <p:ext uri="{BB962C8B-B14F-4D97-AF65-F5344CB8AC3E}">
        <p14:creationId xmlns:p14="http://schemas.microsoft.com/office/powerpoint/2010/main" val="3165147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71685"/>
                                        </p:tgtEl>
                                        <p:attrNameLst>
                                          <p:attrName>style.visibility</p:attrName>
                                        </p:attrNameLst>
                                      </p:cBhvr>
                                      <p:to>
                                        <p:strVal val="visible"/>
                                      </p:to>
                                    </p:set>
                                    <p:animEffect transition="in" filter="wipe(left)">
                                      <p:cBhvr>
                                        <p:cTn id="7" dur="5000"/>
                                        <p:tgtEl>
                                          <p:spTgt spid="71685"/>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71687">
                                            <p:txEl>
                                              <p:pRg st="0" end="0"/>
                                            </p:txEl>
                                          </p:spTgt>
                                        </p:tgtEl>
                                        <p:attrNameLst>
                                          <p:attrName>style.visibility</p:attrName>
                                        </p:attrNameLst>
                                      </p:cBhvr>
                                      <p:to>
                                        <p:strVal val="visible"/>
                                      </p:to>
                                    </p:set>
                                    <p:anim calcmode="lin" valueType="num">
                                      <p:cBhvr additive="base">
                                        <p:cTn id="12" dur="500" fill="hold"/>
                                        <p:tgtEl>
                                          <p:spTgt spid="71687">
                                            <p:txEl>
                                              <p:pRg st="0" end="0"/>
                                            </p:txEl>
                                          </p:spTgt>
                                        </p:tgtEl>
                                        <p:attrNameLst>
                                          <p:attrName>ppt_x</p:attrName>
                                        </p:attrNameLst>
                                      </p:cBhvr>
                                      <p:tavLst>
                                        <p:tav tm="0">
                                          <p:val>
                                            <p:strVal val="0-#ppt_w/2"/>
                                          </p:val>
                                        </p:tav>
                                        <p:tav tm="100000">
                                          <p:val>
                                            <p:strVal val="#ppt_x"/>
                                          </p:val>
                                        </p:tav>
                                      </p:tavLst>
                                    </p:anim>
                                    <p:anim calcmode="lin" valueType="num">
                                      <p:cBhvr additive="base">
                                        <p:cTn id="13" dur="500" fill="hold"/>
                                        <p:tgtEl>
                                          <p:spTgt spid="71687">
                                            <p:txEl>
                                              <p:pRg st="0" end="0"/>
                                            </p:txEl>
                                          </p:spTgt>
                                        </p:tgtEl>
                                        <p:attrNameLst>
                                          <p:attrName>ppt_y</p:attrName>
                                        </p:attrNameLst>
                                      </p:cBhvr>
                                      <p:tavLst>
                                        <p:tav tm="0">
                                          <p:val>
                                            <p:strVal val="#ppt_y"/>
                                          </p:val>
                                        </p:tav>
                                        <p:tav tm="100000">
                                          <p:val>
                                            <p:strVal val="#ppt_y"/>
                                          </p:val>
                                        </p:tav>
                                      </p:tavLst>
                                    </p:anim>
                                  </p:childTnLst>
                                </p:cTn>
                              </p:par>
                              <p:par>
                                <p:cTn id="14" presetID="2" presetClass="entr" presetSubtype="8" fill="hold" grpId="0" nodeType="withEffect">
                                  <p:stCondLst>
                                    <p:cond delay="0"/>
                                  </p:stCondLst>
                                  <p:childTnLst>
                                    <p:set>
                                      <p:cBhvr>
                                        <p:cTn id="15" dur="1" fill="hold">
                                          <p:stCondLst>
                                            <p:cond delay="0"/>
                                          </p:stCondLst>
                                        </p:cTn>
                                        <p:tgtEl>
                                          <p:spTgt spid="71687">
                                            <p:txEl>
                                              <p:pRg st="1" end="1"/>
                                            </p:txEl>
                                          </p:spTgt>
                                        </p:tgtEl>
                                        <p:attrNameLst>
                                          <p:attrName>style.visibility</p:attrName>
                                        </p:attrNameLst>
                                      </p:cBhvr>
                                      <p:to>
                                        <p:strVal val="visible"/>
                                      </p:to>
                                    </p:set>
                                    <p:anim calcmode="lin" valueType="num">
                                      <p:cBhvr additive="base">
                                        <p:cTn id="16" dur="500" fill="hold"/>
                                        <p:tgtEl>
                                          <p:spTgt spid="71687">
                                            <p:txEl>
                                              <p:pRg st="1" end="1"/>
                                            </p:txEl>
                                          </p:spTgt>
                                        </p:tgtEl>
                                        <p:attrNameLst>
                                          <p:attrName>ppt_x</p:attrName>
                                        </p:attrNameLst>
                                      </p:cBhvr>
                                      <p:tavLst>
                                        <p:tav tm="0">
                                          <p:val>
                                            <p:strVal val="0-#ppt_w/2"/>
                                          </p:val>
                                        </p:tav>
                                        <p:tav tm="100000">
                                          <p:val>
                                            <p:strVal val="#ppt_x"/>
                                          </p:val>
                                        </p:tav>
                                      </p:tavLst>
                                    </p:anim>
                                    <p:anim calcmode="lin" valueType="num">
                                      <p:cBhvr additive="base">
                                        <p:cTn id="17" dur="500" fill="hold"/>
                                        <p:tgtEl>
                                          <p:spTgt spid="71687">
                                            <p:txEl>
                                              <p:pRg st="1" end="1"/>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687" grpId="0" uiExpand="1" build="p" bldLvl="2" autoUpdateAnimBg="0"/>
    </p:bldLst>
  </p:timing>
</p:sld>
</file>

<file path=ppt/slides/slide9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63" name="灯片编号占位符 5"/>
          <p:cNvSpPr>
            <a:spLocks noGrp="1"/>
          </p:cNvSpPr>
          <p:nvPr>
            <p:ph type="sldNum" sz="quarter" idx="4294967295"/>
          </p:nvPr>
        </p:nvSpPr>
        <p:spPr>
          <a:noFill/>
        </p:spPr>
        <p:txBody>
          <a:bodyPr/>
          <a:lstStyle/>
          <a:p>
            <a:r>
              <a:rPr lang="en-US" altLang="zh-CN">
                <a:ea typeface="宋体" pitchFamily="2" charset="-122"/>
              </a:rPr>
              <a:t>8.4--</a:t>
            </a:r>
            <a:fld id="{366CFBDD-D551-4D64-8D00-BE9A611A5C8E}" type="slidenum">
              <a:rPr lang="en-US" altLang="zh-CN" smtClean="0">
                <a:ea typeface="宋体" pitchFamily="2" charset="-122"/>
              </a:rPr>
              <a:pPr/>
              <a:t>96</a:t>
            </a:fld>
            <a:endParaRPr lang="en-US" altLang="zh-CN">
              <a:ea typeface="宋体" pitchFamily="2" charset="-122"/>
            </a:endParaRPr>
          </a:p>
        </p:txBody>
      </p:sp>
      <p:sp>
        <p:nvSpPr>
          <p:cNvPr id="40964" name="Rectangle 2"/>
          <p:cNvSpPr>
            <a:spLocks noGrp="1" noChangeArrowheads="1"/>
          </p:cNvSpPr>
          <p:nvPr>
            <p:ph type="title"/>
          </p:nvPr>
        </p:nvSpPr>
        <p:spPr>
          <a:xfrm>
            <a:off x="2184400" y="350838"/>
            <a:ext cx="6957378" cy="990600"/>
          </a:xfrm>
        </p:spPr>
        <p:txBody>
          <a:bodyPr/>
          <a:lstStyle/>
          <a:p>
            <a:r>
              <a:rPr lang="zh-CN" altLang="en-US" sz="4000" b="1" dirty="0">
                <a:solidFill>
                  <a:srgbClr val="00B0F0"/>
                </a:solidFill>
                <a:effectLst/>
              </a:rPr>
              <a:t>组间平方和</a:t>
            </a:r>
            <a:endParaRPr lang="zh-CN" altLang="en-US" sz="3600" b="1" dirty="0">
              <a:solidFill>
                <a:srgbClr val="00B0F0"/>
              </a:solidFill>
              <a:effectLst/>
            </a:endParaRPr>
          </a:p>
        </p:txBody>
      </p:sp>
      <p:sp>
        <p:nvSpPr>
          <p:cNvPr id="30723" name="Rectangle 3"/>
          <p:cNvSpPr>
            <a:spLocks noGrp="1" noChangeArrowheads="1"/>
          </p:cNvSpPr>
          <p:nvPr>
            <p:ph type="body" idx="1"/>
          </p:nvPr>
        </p:nvSpPr>
        <p:spPr>
          <a:xfrm>
            <a:off x="1847850" y="1341438"/>
            <a:ext cx="8351838" cy="4895850"/>
          </a:xfrm>
        </p:spPr>
        <p:txBody>
          <a:bodyPr>
            <a:normAutofit lnSpcReduction="10000"/>
          </a:bodyPr>
          <a:lstStyle/>
          <a:p>
            <a:pPr marL="609600" indent="-609600" algn="just">
              <a:lnSpc>
                <a:spcPct val="120000"/>
              </a:lnSpc>
              <a:buNone/>
            </a:pPr>
            <a:r>
              <a:rPr lang="en-US" altLang="zh-CN" b="1" dirty="0">
                <a:latin typeface="Arial" pitchFamily="34" charset="0"/>
              </a:rPr>
              <a:t>——</a:t>
            </a:r>
            <a:r>
              <a:rPr lang="zh-CN" altLang="en-US" b="1" dirty="0">
                <a:solidFill>
                  <a:srgbClr val="CC00CC"/>
                </a:solidFill>
                <a:latin typeface="Times New Roman" pitchFamily="18" charset="0"/>
              </a:rPr>
              <a:t>各组平均数</a:t>
            </a:r>
            <a:r>
              <a:rPr lang="zh-CN" altLang="en-US" b="1" dirty="0">
                <a:latin typeface="Times New Roman" pitchFamily="18" charset="0"/>
              </a:rPr>
              <a:t>与</a:t>
            </a:r>
            <a:r>
              <a:rPr lang="zh-CN" altLang="en-US" b="1" dirty="0">
                <a:solidFill>
                  <a:srgbClr val="0070C0"/>
                </a:solidFill>
                <a:latin typeface="Times New Roman" pitchFamily="18" charset="0"/>
              </a:rPr>
              <a:t>总平均数</a:t>
            </a:r>
            <a:r>
              <a:rPr lang="zh-CN" altLang="en-US" b="1" dirty="0">
                <a:latin typeface="Times New Roman" pitchFamily="18" charset="0"/>
              </a:rPr>
              <a:t>的离差平方和。</a:t>
            </a:r>
          </a:p>
          <a:p>
            <a:pPr marL="1543050" lvl="2" indent="-628650" algn="just">
              <a:lnSpc>
                <a:spcPct val="120000"/>
              </a:lnSpc>
            </a:pPr>
            <a:endParaRPr lang="zh-CN" altLang="en-US" b="1" dirty="0">
              <a:latin typeface="Times New Roman" pitchFamily="18" charset="0"/>
            </a:endParaRPr>
          </a:p>
          <a:p>
            <a:pPr marL="1543050" lvl="2" indent="-628650" algn="just">
              <a:lnSpc>
                <a:spcPct val="120000"/>
              </a:lnSpc>
            </a:pPr>
            <a:endParaRPr lang="zh-CN" altLang="en-US" sz="2000" b="1" dirty="0">
              <a:latin typeface="Times New Roman" pitchFamily="18" charset="0"/>
            </a:endParaRPr>
          </a:p>
          <a:p>
            <a:pPr marL="1543050" lvl="2" indent="-628650" algn="just">
              <a:lnSpc>
                <a:spcPct val="120000"/>
              </a:lnSpc>
            </a:pPr>
            <a:endParaRPr lang="zh-CN" altLang="en-US" sz="2000" b="1" dirty="0">
              <a:latin typeface="Times New Roman" pitchFamily="18" charset="0"/>
            </a:endParaRPr>
          </a:p>
          <a:p>
            <a:pPr marL="1543050" lvl="2" indent="-628650" algn="just">
              <a:lnSpc>
                <a:spcPct val="120000"/>
              </a:lnSpc>
            </a:pPr>
            <a:endParaRPr lang="zh-CN" altLang="en-US" sz="2000" b="1" dirty="0">
              <a:latin typeface="Times New Roman" pitchFamily="18" charset="0"/>
            </a:endParaRPr>
          </a:p>
          <a:p>
            <a:pPr marL="85725" lvl="1" indent="539750" algn="just">
              <a:lnSpc>
                <a:spcPct val="150000"/>
              </a:lnSpc>
              <a:buNone/>
            </a:pPr>
            <a:r>
              <a:rPr lang="zh-CN" altLang="en-US" b="1" dirty="0">
                <a:latin typeface="Times New Roman" pitchFamily="18" charset="0"/>
              </a:rPr>
              <a:t>反映因素的不同水平</a:t>
            </a:r>
            <a:r>
              <a:rPr lang="en-US" altLang="zh-CN" b="1" dirty="0">
                <a:latin typeface="Times New Roman" pitchFamily="18" charset="0"/>
              </a:rPr>
              <a:t>(</a:t>
            </a:r>
            <a:r>
              <a:rPr lang="zh-CN" altLang="en-US" b="1" dirty="0">
                <a:latin typeface="Times New Roman" pitchFamily="18" charset="0"/>
              </a:rPr>
              <a:t>不同总体</a:t>
            </a:r>
            <a:r>
              <a:rPr lang="en-US" altLang="zh-CN" b="1" dirty="0">
                <a:latin typeface="Times New Roman" pitchFamily="18" charset="0"/>
              </a:rPr>
              <a:t>)</a:t>
            </a:r>
            <a:r>
              <a:rPr lang="zh-CN" altLang="en-US" b="1" dirty="0">
                <a:latin typeface="Times New Roman" pitchFamily="18" charset="0"/>
              </a:rPr>
              <a:t>下各样本均值之间的差异；</a:t>
            </a:r>
          </a:p>
          <a:p>
            <a:pPr marL="85725" lvl="1" indent="539750" algn="just">
              <a:lnSpc>
                <a:spcPct val="150000"/>
              </a:lnSpc>
              <a:buNone/>
            </a:pPr>
            <a:r>
              <a:rPr lang="zh-CN" altLang="en-US" b="1" dirty="0">
                <a:latin typeface="Times New Roman" pitchFamily="18" charset="0"/>
              </a:rPr>
              <a:t>既可能包括</a:t>
            </a:r>
            <a:r>
              <a:rPr lang="zh-CN" altLang="en-US" b="1" dirty="0">
                <a:solidFill>
                  <a:srgbClr val="CC0099"/>
                </a:solidFill>
                <a:latin typeface="Times New Roman" pitchFamily="18" charset="0"/>
              </a:rPr>
              <a:t>系统误差</a:t>
            </a:r>
            <a:r>
              <a:rPr lang="zh-CN" altLang="en-US" b="1" dirty="0">
                <a:latin typeface="Times New Roman" pitchFamily="18" charset="0"/>
              </a:rPr>
              <a:t>，也包括</a:t>
            </a:r>
            <a:r>
              <a:rPr lang="zh-CN" altLang="en-US" b="1" dirty="0">
                <a:solidFill>
                  <a:srgbClr val="CC0099"/>
                </a:solidFill>
                <a:latin typeface="Times New Roman" pitchFamily="18" charset="0"/>
              </a:rPr>
              <a:t>随机误差</a:t>
            </a:r>
            <a:r>
              <a:rPr lang="zh-CN" altLang="en-US" b="1" dirty="0">
                <a:latin typeface="Times New Roman" pitchFamily="18" charset="0"/>
              </a:rPr>
              <a:t>；</a:t>
            </a:r>
          </a:p>
          <a:p>
            <a:pPr marL="914400" lvl="2" indent="0" algn="just">
              <a:lnSpc>
                <a:spcPct val="120000"/>
              </a:lnSpc>
              <a:buNone/>
            </a:pPr>
            <a:r>
              <a:rPr lang="zh-CN" altLang="en-US" b="1" dirty="0">
                <a:solidFill>
                  <a:schemeClr val="tx1"/>
                </a:solidFill>
                <a:latin typeface="Times New Roman" pitchFamily="18" charset="0"/>
              </a:rPr>
              <a:t>如三种施肥方案的</a:t>
            </a:r>
            <a:r>
              <a:rPr lang="zh-CN" altLang="en-US" b="1" dirty="0">
                <a:solidFill>
                  <a:srgbClr val="000000"/>
                </a:solidFill>
                <a:latin typeface="Times New Roman" pitchFamily="18" charset="0"/>
              </a:rPr>
              <a:t>样本</a:t>
            </a:r>
            <a:r>
              <a:rPr lang="zh-CN" altLang="en-US" b="1" dirty="0">
                <a:solidFill>
                  <a:schemeClr val="tx1"/>
                </a:solidFill>
                <a:latin typeface="Times New Roman" pitchFamily="18" charset="0"/>
              </a:rPr>
              <a:t>平均收获量之间的差异</a:t>
            </a:r>
          </a:p>
        </p:txBody>
      </p:sp>
      <p:graphicFrame>
        <p:nvGraphicFramePr>
          <p:cNvPr id="30724" name="Object 2">
            <a:hlinkClick r:id="" action="ppaction://ole?verb=0"/>
          </p:cNvPr>
          <p:cNvGraphicFramePr>
            <a:graphicFrameLocks/>
          </p:cNvGraphicFramePr>
          <p:nvPr>
            <p:extLst>
              <p:ext uri="{D42A27DB-BD31-4B8C-83A1-F6EECF244321}">
                <p14:modId xmlns:p14="http://schemas.microsoft.com/office/powerpoint/2010/main" val="625207175"/>
              </p:ext>
            </p:extLst>
          </p:nvPr>
        </p:nvGraphicFramePr>
        <p:xfrm>
          <a:off x="2779713" y="1866900"/>
          <a:ext cx="6961187" cy="2082800"/>
        </p:xfrm>
        <a:graphic>
          <a:graphicData uri="http://schemas.openxmlformats.org/presentationml/2006/ole">
            <mc:AlternateContent xmlns:mc="http://schemas.openxmlformats.org/markup-compatibility/2006">
              <mc:Choice xmlns:v="urn:schemas-microsoft-com:vml" Requires="v">
                <p:oleObj name="Equation" r:id="rId2" imgW="2323800" imgH="457200" progId="Equation.DSMT4">
                  <p:embed/>
                </p:oleObj>
              </mc:Choice>
              <mc:Fallback>
                <p:oleObj name="Equation" r:id="rId2" imgW="2323800" imgH="457200" progId="Equation.DSMT4">
                  <p:embed/>
                  <p:pic>
                    <p:nvPicPr>
                      <p:cNvPr id="30724" name="Object 2">
                        <a:hlinkClick r:id="" action="ppaction://ole?verb=0"/>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79713" y="1866900"/>
                        <a:ext cx="6961187" cy="2082800"/>
                      </a:xfrm>
                      <a:prstGeom prst="rect">
                        <a:avLst/>
                      </a:prstGeom>
                      <a:noFill/>
                      <a:ln>
                        <a:noFill/>
                      </a:ln>
                      <a:effectLst>
                        <a:outerShdw dist="17961" dir="2700000" algn="ctr" rotWithShape="0">
                          <a:schemeClr val="bg2"/>
                        </a:outerShdw>
                      </a:effectLst>
                    </p:spPr>
                  </p:pic>
                </p:oleObj>
              </mc:Fallback>
            </mc:AlternateContent>
          </a:graphicData>
        </a:graphic>
      </p:graphicFrame>
    </p:spTree>
    <p:extLst>
      <p:ext uri="{BB962C8B-B14F-4D97-AF65-F5344CB8AC3E}">
        <p14:creationId xmlns:p14="http://schemas.microsoft.com/office/powerpoint/2010/main" val="17145010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30724"/>
                                        </p:tgtEl>
                                        <p:attrNameLst>
                                          <p:attrName>style.visibility</p:attrName>
                                        </p:attrNameLst>
                                      </p:cBhvr>
                                      <p:to>
                                        <p:strVal val="visible"/>
                                      </p:to>
                                    </p:set>
                                    <p:animEffect transition="in" filter="wipe(left)">
                                      <p:cBhvr>
                                        <p:cTn id="7" dur="5000"/>
                                        <p:tgtEl>
                                          <p:spTgt spid="30724"/>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30723">
                                            <p:txEl>
                                              <p:pRg st="5" end="5"/>
                                            </p:txEl>
                                          </p:spTgt>
                                        </p:tgtEl>
                                        <p:attrNameLst>
                                          <p:attrName>style.visibility</p:attrName>
                                        </p:attrNameLst>
                                      </p:cBhvr>
                                      <p:to>
                                        <p:strVal val="visible"/>
                                      </p:to>
                                    </p:set>
                                    <p:anim calcmode="lin" valueType="num">
                                      <p:cBhvr additive="base">
                                        <p:cTn id="12" dur="500" fill="hold"/>
                                        <p:tgtEl>
                                          <p:spTgt spid="30723">
                                            <p:txEl>
                                              <p:pRg st="5" end="5"/>
                                            </p:txEl>
                                          </p:spTgt>
                                        </p:tgtEl>
                                        <p:attrNameLst>
                                          <p:attrName>ppt_x</p:attrName>
                                        </p:attrNameLst>
                                      </p:cBhvr>
                                      <p:tavLst>
                                        <p:tav tm="0">
                                          <p:val>
                                            <p:strVal val="0-#ppt_w/2"/>
                                          </p:val>
                                        </p:tav>
                                        <p:tav tm="100000">
                                          <p:val>
                                            <p:strVal val="#ppt_x"/>
                                          </p:val>
                                        </p:tav>
                                      </p:tavLst>
                                    </p:anim>
                                    <p:anim calcmode="lin" valueType="num">
                                      <p:cBhvr additive="base">
                                        <p:cTn id="13" dur="500" fill="hold"/>
                                        <p:tgtEl>
                                          <p:spTgt spid="30723">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8" fill="hold" grpId="0" nodeType="clickEffect">
                                  <p:stCondLst>
                                    <p:cond delay="0"/>
                                  </p:stCondLst>
                                  <p:childTnLst>
                                    <p:set>
                                      <p:cBhvr>
                                        <p:cTn id="17" dur="1" fill="hold">
                                          <p:stCondLst>
                                            <p:cond delay="0"/>
                                          </p:stCondLst>
                                        </p:cTn>
                                        <p:tgtEl>
                                          <p:spTgt spid="30723">
                                            <p:txEl>
                                              <p:pRg st="6" end="6"/>
                                            </p:txEl>
                                          </p:spTgt>
                                        </p:tgtEl>
                                        <p:attrNameLst>
                                          <p:attrName>style.visibility</p:attrName>
                                        </p:attrNameLst>
                                      </p:cBhvr>
                                      <p:to>
                                        <p:strVal val="visible"/>
                                      </p:to>
                                    </p:set>
                                    <p:anim calcmode="lin" valueType="num">
                                      <p:cBhvr additive="base">
                                        <p:cTn id="18" dur="500" fill="hold"/>
                                        <p:tgtEl>
                                          <p:spTgt spid="30723">
                                            <p:txEl>
                                              <p:pRg st="6" end="6"/>
                                            </p:txEl>
                                          </p:spTgt>
                                        </p:tgtEl>
                                        <p:attrNameLst>
                                          <p:attrName>ppt_x</p:attrName>
                                        </p:attrNameLst>
                                      </p:cBhvr>
                                      <p:tavLst>
                                        <p:tav tm="0">
                                          <p:val>
                                            <p:strVal val="0-#ppt_w/2"/>
                                          </p:val>
                                        </p:tav>
                                        <p:tav tm="100000">
                                          <p:val>
                                            <p:strVal val="#ppt_x"/>
                                          </p:val>
                                        </p:tav>
                                      </p:tavLst>
                                    </p:anim>
                                    <p:anim calcmode="lin" valueType="num">
                                      <p:cBhvr additive="base">
                                        <p:cTn id="19" dur="500" fill="hold"/>
                                        <p:tgtEl>
                                          <p:spTgt spid="30723">
                                            <p:txEl>
                                              <p:pRg st="6" end="6"/>
                                            </p:txEl>
                                          </p:spTgt>
                                        </p:tgtEl>
                                        <p:attrNameLst>
                                          <p:attrName>ppt_y</p:attrName>
                                        </p:attrNameLst>
                                      </p:cBhvr>
                                      <p:tavLst>
                                        <p:tav tm="0">
                                          <p:val>
                                            <p:strVal val="#ppt_y"/>
                                          </p:val>
                                        </p:tav>
                                        <p:tav tm="100000">
                                          <p:val>
                                            <p:strVal val="#ppt_y"/>
                                          </p:val>
                                        </p:tav>
                                      </p:tavLst>
                                    </p:anim>
                                  </p:childTnLst>
                                </p:cTn>
                              </p:par>
                              <p:par>
                                <p:cTn id="20" presetID="2" presetClass="entr" presetSubtype="8" fill="hold" grpId="0" nodeType="withEffect">
                                  <p:stCondLst>
                                    <p:cond delay="0"/>
                                  </p:stCondLst>
                                  <p:childTnLst>
                                    <p:set>
                                      <p:cBhvr>
                                        <p:cTn id="21" dur="1" fill="hold">
                                          <p:stCondLst>
                                            <p:cond delay="0"/>
                                          </p:stCondLst>
                                        </p:cTn>
                                        <p:tgtEl>
                                          <p:spTgt spid="30723">
                                            <p:txEl>
                                              <p:pRg st="7" end="7"/>
                                            </p:txEl>
                                          </p:spTgt>
                                        </p:tgtEl>
                                        <p:attrNameLst>
                                          <p:attrName>style.visibility</p:attrName>
                                        </p:attrNameLst>
                                      </p:cBhvr>
                                      <p:to>
                                        <p:strVal val="visible"/>
                                      </p:to>
                                    </p:set>
                                    <p:anim calcmode="lin" valueType="num">
                                      <p:cBhvr additive="base">
                                        <p:cTn id="22" dur="500" fill="hold"/>
                                        <p:tgtEl>
                                          <p:spTgt spid="30723">
                                            <p:txEl>
                                              <p:pRg st="7" end="7"/>
                                            </p:txEl>
                                          </p:spTgt>
                                        </p:tgtEl>
                                        <p:attrNameLst>
                                          <p:attrName>ppt_x</p:attrName>
                                        </p:attrNameLst>
                                      </p:cBhvr>
                                      <p:tavLst>
                                        <p:tav tm="0">
                                          <p:val>
                                            <p:strVal val="0-#ppt_w/2"/>
                                          </p:val>
                                        </p:tav>
                                        <p:tav tm="100000">
                                          <p:val>
                                            <p:strVal val="#ppt_x"/>
                                          </p:val>
                                        </p:tav>
                                      </p:tavLst>
                                    </p:anim>
                                    <p:anim calcmode="lin" valueType="num">
                                      <p:cBhvr additive="base">
                                        <p:cTn id="23" dur="500" fill="hold"/>
                                        <p:tgtEl>
                                          <p:spTgt spid="30723">
                                            <p:txEl>
                                              <p:pRg st="7" end="7"/>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3" grpId="0" build="p" bldLvl="2" autoUpdateAnimBg="0"/>
    </p:bldLst>
  </p:timing>
</p:sld>
</file>

<file path=ppt/slides/slide9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1988" name="灯片编号占位符 5"/>
          <p:cNvSpPr>
            <a:spLocks noGrp="1"/>
          </p:cNvSpPr>
          <p:nvPr>
            <p:ph type="sldNum" sz="quarter" idx="4294967295"/>
          </p:nvPr>
        </p:nvSpPr>
        <p:spPr>
          <a:noFill/>
        </p:spPr>
        <p:txBody>
          <a:bodyPr/>
          <a:lstStyle/>
          <a:p>
            <a:r>
              <a:rPr lang="en-US" altLang="zh-CN">
                <a:ea typeface="宋体" pitchFamily="2" charset="-122"/>
              </a:rPr>
              <a:t>8.4--</a:t>
            </a:r>
            <a:fld id="{797F1936-172D-4F5B-9FFA-0382DACDE1BC}" type="slidenum">
              <a:rPr lang="en-US" altLang="zh-CN" smtClean="0">
                <a:ea typeface="宋体" pitchFamily="2" charset="-122"/>
              </a:rPr>
              <a:pPr/>
              <a:t>97</a:t>
            </a:fld>
            <a:endParaRPr lang="en-US" altLang="zh-CN">
              <a:ea typeface="宋体" pitchFamily="2" charset="-122"/>
            </a:endParaRPr>
          </a:p>
        </p:txBody>
      </p:sp>
      <p:sp>
        <p:nvSpPr>
          <p:cNvPr id="41990" name="Rectangle 3"/>
          <p:cNvSpPr>
            <a:spLocks noGrp="1" noChangeArrowheads="1"/>
          </p:cNvSpPr>
          <p:nvPr>
            <p:ph type="body" idx="1"/>
          </p:nvPr>
        </p:nvSpPr>
        <p:spPr>
          <a:xfrm>
            <a:off x="1452162" y="1282265"/>
            <a:ext cx="8206580" cy="2004144"/>
          </a:xfrm>
        </p:spPr>
        <p:txBody>
          <a:bodyPr>
            <a:noAutofit/>
          </a:bodyPr>
          <a:lstStyle/>
          <a:p>
            <a:pPr marL="0" indent="531813">
              <a:lnSpc>
                <a:spcPct val="150000"/>
              </a:lnSpc>
              <a:buSzPct val="120000"/>
              <a:buNone/>
            </a:pPr>
            <a:r>
              <a:rPr lang="zh-CN" altLang="en-US" sz="2800" dirty="0">
                <a:solidFill>
                  <a:srgbClr val="000000"/>
                </a:solidFill>
              </a:rPr>
              <a:t>为了说明观测值中有无系统误差，就需要对组间平方和与组内平方和进行比较。 为此还需</a:t>
            </a:r>
            <a:r>
              <a:rPr lang="zh-CN" altLang="en-US" sz="2800" dirty="0">
                <a:solidFill>
                  <a:srgbClr val="000000"/>
                </a:solidFill>
                <a:latin typeface="Times New Roman" pitchFamily="18" charset="0"/>
              </a:rPr>
              <a:t>消除观察值多少对离差平方和大小的影响，计算均方（</a:t>
            </a:r>
            <a:r>
              <a:rPr lang="en-US" altLang="zh-CN" sz="2800" dirty="0">
                <a:solidFill>
                  <a:srgbClr val="000000"/>
                </a:solidFill>
                <a:latin typeface="Times New Roman" pitchFamily="18" charset="0"/>
              </a:rPr>
              <a:t>MS</a:t>
            </a:r>
            <a:r>
              <a:rPr lang="zh-CN" altLang="en-US" sz="2800" dirty="0">
                <a:solidFill>
                  <a:srgbClr val="000000"/>
                </a:solidFill>
                <a:latin typeface="Times New Roman" pitchFamily="18" charset="0"/>
              </a:rPr>
              <a:t>，也称方差，其分母为各自的自由度）。</a:t>
            </a:r>
          </a:p>
        </p:txBody>
      </p:sp>
      <p:sp>
        <p:nvSpPr>
          <p:cNvPr id="41991" name="Rectangle 4"/>
          <p:cNvSpPr>
            <a:spLocks noChangeArrowheads="1"/>
          </p:cNvSpPr>
          <p:nvPr/>
        </p:nvSpPr>
        <p:spPr bwMode="auto">
          <a:xfrm>
            <a:off x="1524001" y="579237"/>
            <a:ext cx="8431609" cy="623248"/>
          </a:xfrm>
          <a:prstGeom prst="rect">
            <a:avLst/>
          </a:prstGeom>
          <a:noFill/>
          <a:ln w="9525">
            <a:noFill/>
            <a:miter lim="800000"/>
            <a:headEnd/>
            <a:tailEnd/>
          </a:ln>
        </p:spPr>
        <p:txBody>
          <a:bodyPr wrap="square">
            <a:spAutoFit/>
          </a:bodyPr>
          <a:lstStyle/>
          <a:p>
            <a:pPr>
              <a:lnSpc>
                <a:spcPct val="115000"/>
              </a:lnSpc>
              <a:spcBef>
                <a:spcPct val="20000"/>
              </a:spcBef>
              <a:buSzPct val="120000"/>
              <a:buFont typeface="Wingdings" pitchFamily="2" charset="2"/>
              <a:buNone/>
            </a:pPr>
            <a:r>
              <a:rPr lang="zh-CN" altLang="en-US" sz="3000" b="1" dirty="0">
                <a:solidFill>
                  <a:srgbClr val="C00000"/>
                </a:solidFill>
                <a:latin typeface="黑体" panose="02010609060101010101" pitchFamily="49" charset="-122"/>
                <a:ea typeface="黑体" panose="02010609060101010101" pitchFamily="49" charset="-122"/>
              </a:rPr>
              <a:t>总离差平方和</a:t>
            </a:r>
            <a:r>
              <a:rPr lang="en-US" altLang="zh-CN" sz="3000" b="1" dirty="0">
                <a:solidFill>
                  <a:srgbClr val="C00000"/>
                </a:solidFill>
                <a:latin typeface="黑体" panose="02010609060101010101" pitchFamily="49" charset="-122"/>
                <a:ea typeface="黑体" panose="02010609060101010101" pitchFamily="49" charset="-122"/>
              </a:rPr>
              <a:t>SST=</a:t>
            </a:r>
            <a:r>
              <a:rPr lang="zh-CN" altLang="en-US" sz="3000" b="1" dirty="0">
                <a:solidFill>
                  <a:srgbClr val="C00000"/>
                </a:solidFill>
                <a:latin typeface="黑体" panose="02010609060101010101" pitchFamily="49" charset="-122"/>
                <a:ea typeface="黑体" panose="02010609060101010101" pitchFamily="49" charset="-122"/>
              </a:rPr>
              <a:t>组内平方和</a:t>
            </a:r>
            <a:r>
              <a:rPr lang="en-US" altLang="zh-CN" sz="3000" b="1" dirty="0">
                <a:solidFill>
                  <a:srgbClr val="C00000"/>
                </a:solidFill>
                <a:latin typeface="黑体" panose="02010609060101010101" pitchFamily="49" charset="-122"/>
                <a:ea typeface="黑体" panose="02010609060101010101" pitchFamily="49" charset="-122"/>
              </a:rPr>
              <a:t>SSE+</a:t>
            </a:r>
            <a:r>
              <a:rPr lang="zh-CN" altLang="en-US" sz="3000" b="1" dirty="0">
                <a:solidFill>
                  <a:srgbClr val="C00000"/>
                </a:solidFill>
                <a:latin typeface="黑体" panose="02010609060101010101" pitchFamily="49" charset="-122"/>
                <a:ea typeface="黑体" panose="02010609060101010101" pitchFamily="49" charset="-122"/>
              </a:rPr>
              <a:t>组间平方和</a:t>
            </a:r>
            <a:r>
              <a:rPr lang="en-US" altLang="zh-CN" sz="3000" b="1" dirty="0">
                <a:solidFill>
                  <a:srgbClr val="C00000"/>
                </a:solidFill>
                <a:latin typeface="黑体" panose="02010609060101010101" pitchFamily="49" charset="-122"/>
                <a:ea typeface="黑体" panose="02010609060101010101" pitchFamily="49" charset="-122"/>
              </a:rPr>
              <a:t>SSA</a:t>
            </a:r>
          </a:p>
        </p:txBody>
      </p:sp>
      <p:sp>
        <p:nvSpPr>
          <p:cNvPr id="41992" name="Rectangle 6"/>
          <p:cNvSpPr>
            <a:spLocks noChangeArrowheads="1"/>
          </p:cNvSpPr>
          <p:nvPr/>
        </p:nvSpPr>
        <p:spPr bwMode="auto">
          <a:xfrm>
            <a:off x="1524001" y="3034784"/>
            <a:ext cx="184731" cy="369332"/>
          </a:xfrm>
          <a:prstGeom prst="rect">
            <a:avLst/>
          </a:prstGeom>
          <a:noFill/>
          <a:ln w="9525">
            <a:noFill/>
            <a:miter lim="800000"/>
            <a:headEnd/>
            <a:tailEnd/>
          </a:ln>
        </p:spPr>
        <p:txBody>
          <a:bodyPr wrap="none" anchor="ctr">
            <a:spAutoFit/>
          </a:bodyPr>
          <a:lstStyle/>
          <a:p>
            <a:endParaRPr lang="zh-CN" altLang="en-US"/>
          </a:p>
        </p:txBody>
      </p:sp>
      <p:graphicFrame>
        <p:nvGraphicFramePr>
          <p:cNvPr id="41986" name="Object 2"/>
          <p:cNvGraphicFramePr>
            <a:graphicFrameLocks noChangeAspect="1"/>
          </p:cNvGraphicFramePr>
          <p:nvPr>
            <p:extLst>
              <p:ext uri="{D42A27DB-BD31-4B8C-83A1-F6EECF244321}">
                <p14:modId xmlns:p14="http://schemas.microsoft.com/office/powerpoint/2010/main" val="4004758608"/>
              </p:ext>
            </p:extLst>
          </p:nvPr>
        </p:nvGraphicFramePr>
        <p:xfrm>
          <a:off x="2566984" y="5039754"/>
          <a:ext cx="5761037" cy="1144587"/>
        </p:xfrm>
        <a:graphic>
          <a:graphicData uri="http://schemas.openxmlformats.org/presentationml/2006/ole">
            <mc:AlternateContent xmlns:mc="http://schemas.openxmlformats.org/markup-compatibility/2006">
              <mc:Choice xmlns:v="urn:schemas-microsoft-com:vml" Requires="v">
                <p:oleObj name="Equation" r:id="rId2" imgW="2311200" imgH="419040" progId="Equation.DSMT4">
                  <p:embed/>
                </p:oleObj>
              </mc:Choice>
              <mc:Fallback>
                <p:oleObj name="Equation" r:id="rId2" imgW="2311200" imgH="419040" progId="Equation.DSMT4">
                  <p:embed/>
                  <p:pic>
                    <p:nvPicPr>
                      <p:cNvPr id="41986"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66984" y="5039754"/>
                        <a:ext cx="5761037" cy="1144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1993" name="Rectangle 8"/>
          <p:cNvSpPr>
            <a:spLocks noChangeArrowheads="1"/>
          </p:cNvSpPr>
          <p:nvPr/>
        </p:nvSpPr>
        <p:spPr bwMode="auto">
          <a:xfrm>
            <a:off x="1524001" y="3034784"/>
            <a:ext cx="184731" cy="369332"/>
          </a:xfrm>
          <a:prstGeom prst="rect">
            <a:avLst/>
          </a:prstGeom>
          <a:noFill/>
          <a:ln w="9525">
            <a:noFill/>
            <a:miter lim="800000"/>
            <a:headEnd/>
            <a:tailEnd/>
          </a:ln>
        </p:spPr>
        <p:txBody>
          <a:bodyPr wrap="none" anchor="ctr">
            <a:spAutoFit/>
          </a:bodyPr>
          <a:lstStyle/>
          <a:p>
            <a:endParaRPr lang="zh-CN" altLang="en-US"/>
          </a:p>
        </p:txBody>
      </p:sp>
      <p:graphicFrame>
        <p:nvGraphicFramePr>
          <p:cNvPr id="41987" name="Object 3"/>
          <p:cNvGraphicFramePr>
            <a:graphicFrameLocks noChangeAspect="1"/>
          </p:cNvGraphicFramePr>
          <p:nvPr>
            <p:extLst>
              <p:ext uri="{D42A27DB-BD31-4B8C-83A1-F6EECF244321}">
                <p14:modId xmlns:p14="http://schemas.microsoft.com/office/powerpoint/2010/main" val="869411320"/>
              </p:ext>
            </p:extLst>
          </p:nvPr>
        </p:nvGraphicFramePr>
        <p:xfrm>
          <a:off x="2566984" y="3849129"/>
          <a:ext cx="5976937" cy="1063625"/>
        </p:xfrm>
        <a:graphic>
          <a:graphicData uri="http://schemas.openxmlformats.org/presentationml/2006/ole">
            <mc:AlternateContent xmlns:mc="http://schemas.openxmlformats.org/markup-compatibility/2006">
              <mc:Choice xmlns:v="urn:schemas-microsoft-com:vml" Requires="v">
                <p:oleObj name="Equation" r:id="rId4" imgW="2349360" imgH="419040" progId="Equation.DSMT4">
                  <p:embed/>
                </p:oleObj>
              </mc:Choice>
              <mc:Fallback>
                <p:oleObj name="Equation" r:id="rId4" imgW="2349360" imgH="419040" progId="Equation.DSMT4">
                  <p:embed/>
                  <p:pic>
                    <p:nvPicPr>
                      <p:cNvPr id="41987"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66984" y="3849129"/>
                        <a:ext cx="5976937" cy="10636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14773875"/>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8786" name="灯片编号占位符 6"/>
          <p:cNvSpPr>
            <a:spLocks noGrp="1"/>
          </p:cNvSpPr>
          <p:nvPr>
            <p:ph type="sldNum" sz="quarter" idx="10"/>
          </p:nvPr>
        </p:nvSpPr>
        <p:spPr>
          <a:noFill/>
        </p:spPr>
        <p:txBody>
          <a:bodyPr/>
          <a:lstStyle/>
          <a:p>
            <a:r>
              <a:rPr lang="en-US" altLang="zh-CN">
                <a:ea typeface="宋体" pitchFamily="2" charset="-122"/>
              </a:rPr>
              <a:t>8.4--</a:t>
            </a:r>
            <a:fld id="{7D07AF97-437D-4F11-B24B-18178677F912}" type="slidenum">
              <a:rPr lang="en-US" altLang="zh-CN" smtClean="0">
                <a:ea typeface="宋体" pitchFamily="2" charset="-122"/>
              </a:rPr>
              <a:pPr/>
              <a:t>98</a:t>
            </a:fld>
            <a:endParaRPr lang="en-US" altLang="zh-CN">
              <a:ea typeface="宋体" pitchFamily="2" charset="-122"/>
            </a:endParaRPr>
          </a:p>
        </p:txBody>
      </p:sp>
      <p:sp>
        <p:nvSpPr>
          <p:cNvPr id="118787" name="Rectangle 2"/>
          <p:cNvSpPr>
            <a:spLocks noGrp="1" noChangeArrowheads="1"/>
          </p:cNvSpPr>
          <p:nvPr>
            <p:ph type="title" idx="4294967295"/>
          </p:nvPr>
        </p:nvSpPr>
        <p:spPr>
          <a:xfrm>
            <a:off x="1816100" y="494742"/>
            <a:ext cx="6527800" cy="990600"/>
          </a:xfrm>
          <a:noFill/>
        </p:spPr>
        <p:txBody>
          <a:bodyPr vert="horz" lIns="90488" tIns="44450" rIns="90488" bIns="44450" rtlCol="0" anchor="ctr" anchorCtr="1">
            <a:normAutofit/>
          </a:bodyPr>
          <a:lstStyle/>
          <a:p>
            <a:r>
              <a:rPr lang="zh-CN" altLang="en-US" sz="3600" b="1" dirty="0">
                <a:solidFill>
                  <a:srgbClr val="00B0F0"/>
                </a:solidFill>
                <a:effectLst/>
              </a:rPr>
              <a:t>方差分析的基本思想</a:t>
            </a:r>
          </a:p>
        </p:txBody>
      </p:sp>
      <p:sp>
        <p:nvSpPr>
          <p:cNvPr id="32771" name="Rectangle 3"/>
          <p:cNvSpPr>
            <a:spLocks noGrp="1" noChangeArrowheads="1"/>
          </p:cNvSpPr>
          <p:nvPr>
            <p:ph type="body" sz="half" idx="4294967295"/>
          </p:nvPr>
        </p:nvSpPr>
        <p:spPr>
          <a:xfrm>
            <a:off x="1638299" y="1371600"/>
            <a:ext cx="8898779" cy="5127391"/>
          </a:xfrm>
          <a:noFill/>
        </p:spPr>
        <p:txBody>
          <a:bodyPr vert="horz" lIns="90488" tIns="44450" rIns="90488" bIns="44450" rtlCol="0">
            <a:normAutofit/>
          </a:bodyPr>
          <a:lstStyle/>
          <a:p>
            <a:pPr marL="0" indent="355600" algn="just">
              <a:lnSpc>
                <a:spcPct val="110000"/>
              </a:lnSpc>
              <a:spcBef>
                <a:spcPts val="1200"/>
              </a:spcBef>
              <a:spcAft>
                <a:spcPts val="0"/>
              </a:spcAft>
              <a:buSzPct val="120000"/>
              <a:buFont typeface="Wingdings" pitchFamily="2" charset="2"/>
              <a:buAutoNum type="arabicPeriod"/>
            </a:pPr>
            <a:r>
              <a:rPr lang="zh-CN" altLang="en-US" sz="2800" dirty="0">
                <a:solidFill>
                  <a:srgbClr val="000000"/>
                </a:solidFill>
                <a:latin typeface="Times New Roman" pitchFamily="18" charset="0"/>
              </a:rPr>
              <a:t>如果施肥方案对收获量没有影响，那么在组间方差中只包含有随机误差，而没有系统误差。这时，组间方差与组内方差就应该很接近，两个方差的比值就会接近</a:t>
            </a:r>
            <a:r>
              <a:rPr lang="en-US" altLang="zh-CN" sz="2800" dirty="0">
                <a:solidFill>
                  <a:srgbClr val="000000"/>
                </a:solidFill>
                <a:latin typeface="Times New Roman" pitchFamily="18" charset="0"/>
              </a:rPr>
              <a:t>1</a:t>
            </a:r>
            <a:r>
              <a:rPr lang="zh-CN" altLang="en-US" sz="2800" dirty="0">
                <a:solidFill>
                  <a:srgbClr val="000000"/>
                </a:solidFill>
                <a:latin typeface="Times New Roman" pitchFamily="18" charset="0"/>
              </a:rPr>
              <a:t>；</a:t>
            </a:r>
          </a:p>
          <a:p>
            <a:pPr marL="0" indent="355600" algn="just">
              <a:lnSpc>
                <a:spcPct val="110000"/>
              </a:lnSpc>
              <a:spcBef>
                <a:spcPts val="1200"/>
              </a:spcBef>
              <a:spcAft>
                <a:spcPts val="0"/>
              </a:spcAft>
              <a:buSzPct val="120000"/>
              <a:buFont typeface="Wingdings" pitchFamily="2" charset="2"/>
              <a:buAutoNum type="arabicPeriod"/>
            </a:pPr>
            <a:r>
              <a:rPr lang="zh-CN" altLang="en-US" sz="2800" dirty="0">
                <a:solidFill>
                  <a:srgbClr val="000000"/>
                </a:solidFill>
                <a:latin typeface="Times New Roman" pitchFamily="18" charset="0"/>
              </a:rPr>
              <a:t>反之，如果施肥方案对收获量有影响，在组间方差中除了包含随机误差外，还会包含有系统误差，这时组间方差就会显著地大于组内方差，组间方差与组内方差之间的比值就会大于</a:t>
            </a:r>
            <a:r>
              <a:rPr lang="en-US" altLang="zh-CN" sz="2800" dirty="0">
                <a:solidFill>
                  <a:srgbClr val="000000"/>
                </a:solidFill>
                <a:latin typeface="Times New Roman" pitchFamily="18" charset="0"/>
              </a:rPr>
              <a:t>1</a:t>
            </a:r>
            <a:r>
              <a:rPr lang="zh-CN" altLang="en-US" sz="2800" dirty="0">
                <a:solidFill>
                  <a:srgbClr val="000000"/>
                </a:solidFill>
                <a:latin typeface="Times New Roman" pitchFamily="18" charset="0"/>
              </a:rPr>
              <a:t>；</a:t>
            </a:r>
          </a:p>
          <a:p>
            <a:pPr marL="0" indent="355600" algn="just">
              <a:lnSpc>
                <a:spcPct val="110000"/>
              </a:lnSpc>
              <a:spcBef>
                <a:spcPts val="1200"/>
              </a:spcBef>
              <a:spcAft>
                <a:spcPts val="0"/>
              </a:spcAft>
              <a:buSzPct val="120000"/>
              <a:buFont typeface="Wingdings" pitchFamily="2" charset="2"/>
              <a:buAutoNum type="arabicPeriod"/>
            </a:pPr>
            <a:r>
              <a:rPr lang="zh-CN" altLang="en-US" sz="2800" dirty="0">
                <a:solidFill>
                  <a:srgbClr val="000000"/>
                </a:solidFill>
                <a:latin typeface="Times New Roman" pitchFamily="18" charset="0"/>
              </a:rPr>
              <a:t>当这个</a:t>
            </a:r>
            <a:r>
              <a:rPr lang="zh-CN" altLang="en-US" sz="2800" dirty="0">
                <a:solidFill>
                  <a:srgbClr val="CC00CC"/>
                </a:solidFill>
                <a:latin typeface="Times New Roman" pitchFamily="18" charset="0"/>
              </a:rPr>
              <a:t>比值大到一定程度</a:t>
            </a:r>
            <a:r>
              <a:rPr lang="zh-CN" altLang="en-US" sz="2800" dirty="0">
                <a:solidFill>
                  <a:srgbClr val="000000"/>
                </a:solidFill>
                <a:latin typeface="Times New Roman" pitchFamily="18" charset="0"/>
              </a:rPr>
              <a:t>时，就可以说存在系统误差</a:t>
            </a:r>
            <a:r>
              <a:rPr lang="zh-CN" altLang="en-US" sz="2600" dirty="0">
                <a:solidFill>
                  <a:schemeClr val="tx1"/>
                </a:solidFill>
                <a:latin typeface="Times New Roman" pitchFamily="18" charset="0"/>
              </a:rPr>
              <a:t>（即不同水平的总体均值之间存在显著差异）</a:t>
            </a:r>
            <a:r>
              <a:rPr lang="en-US" altLang="zh-CN" sz="2600" dirty="0">
                <a:solidFill>
                  <a:schemeClr val="tx1"/>
                </a:solidFill>
                <a:latin typeface="Times New Roman" pitchFamily="18" charset="0"/>
              </a:rPr>
              <a:t>.</a:t>
            </a:r>
          </a:p>
        </p:txBody>
      </p:sp>
    </p:spTree>
    <p:extLst>
      <p:ext uri="{BB962C8B-B14F-4D97-AF65-F5344CB8AC3E}">
        <p14:creationId xmlns:p14="http://schemas.microsoft.com/office/powerpoint/2010/main" val="13172006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2771">
                                            <p:txEl>
                                              <p:pRg st="1" end="1"/>
                                            </p:txEl>
                                          </p:spTgt>
                                        </p:tgtEl>
                                        <p:attrNameLst>
                                          <p:attrName>style.visibility</p:attrName>
                                        </p:attrNameLst>
                                      </p:cBhvr>
                                      <p:to>
                                        <p:strVal val="visible"/>
                                      </p:to>
                                    </p:set>
                                    <p:animEffect transition="in" filter="wipe(left)">
                                      <p:cBhvr>
                                        <p:cTn id="7" dur="500"/>
                                        <p:tgtEl>
                                          <p:spTgt spid="32771">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2771">
                                            <p:txEl>
                                              <p:pRg st="2" end="2"/>
                                            </p:txEl>
                                          </p:spTgt>
                                        </p:tgtEl>
                                        <p:attrNameLst>
                                          <p:attrName>style.visibility</p:attrName>
                                        </p:attrNameLst>
                                      </p:cBhvr>
                                      <p:to>
                                        <p:strVal val="visible"/>
                                      </p:to>
                                    </p:set>
                                    <p:animEffect transition="in" filter="wipe(left)">
                                      <p:cBhvr>
                                        <p:cTn id="12" dur="500"/>
                                        <p:tgtEl>
                                          <p:spTgt spid="3277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71" grpId="0" build="p" autoUpdateAnimBg="0"/>
    </p:bldLst>
  </p:timing>
</p:sld>
</file>

<file path=ppt/slides/slide9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3011" name="灯片编号占位符 6"/>
          <p:cNvSpPr>
            <a:spLocks noGrp="1"/>
          </p:cNvSpPr>
          <p:nvPr>
            <p:ph type="sldNum" sz="quarter" idx="10"/>
          </p:nvPr>
        </p:nvSpPr>
        <p:spPr>
          <a:noFill/>
        </p:spPr>
        <p:txBody>
          <a:bodyPr/>
          <a:lstStyle/>
          <a:p>
            <a:r>
              <a:rPr lang="en-US" altLang="zh-CN">
                <a:ea typeface="宋体" pitchFamily="2" charset="-122"/>
              </a:rPr>
              <a:t>8.4--</a:t>
            </a:r>
            <a:fld id="{41E1CCCF-12C3-44A0-B2FA-A27EC4A87EA3}" type="slidenum">
              <a:rPr lang="en-US" altLang="zh-CN" smtClean="0">
                <a:ea typeface="宋体" pitchFamily="2" charset="-122"/>
              </a:rPr>
              <a:pPr/>
              <a:t>99</a:t>
            </a:fld>
            <a:endParaRPr lang="en-US" altLang="zh-CN">
              <a:ea typeface="宋体" pitchFamily="2" charset="-122"/>
            </a:endParaRPr>
          </a:p>
        </p:txBody>
      </p:sp>
      <p:sp>
        <p:nvSpPr>
          <p:cNvPr id="43012" name="Rectangle 2"/>
          <p:cNvSpPr>
            <a:spLocks noGrp="1" noChangeArrowheads="1"/>
          </p:cNvSpPr>
          <p:nvPr>
            <p:ph type="title" idx="4294967295"/>
          </p:nvPr>
        </p:nvSpPr>
        <p:spPr>
          <a:xfrm>
            <a:off x="1244045" y="447140"/>
            <a:ext cx="5969000" cy="990600"/>
          </a:xfrm>
          <a:noFill/>
        </p:spPr>
        <p:txBody>
          <a:bodyPr vert="horz" lIns="90488" tIns="44450" rIns="90488" bIns="44450" rtlCol="0" anchor="ctr" anchorCtr="1">
            <a:normAutofit/>
          </a:bodyPr>
          <a:lstStyle/>
          <a:p>
            <a:r>
              <a:rPr lang="zh-CN" altLang="en-US" sz="3600" b="1" dirty="0">
                <a:solidFill>
                  <a:srgbClr val="0070C0"/>
                </a:solidFill>
                <a:effectLst/>
              </a:rPr>
              <a:t>方差分析中的基本假定</a:t>
            </a:r>
          </a:p>
        </p:txBody>
      </p:sp>
      <p:sp>
        <p:nvSpPr>
          <p:cNvPr id="2" name="Rectangle 3"/>
          <p:cNvSpPr>
            <a:spLocks noGrp="1" noChangeArrowheads="1"/>
          </p:cNvSpPr>
          <p:nvPr>
            <p:ph type="body" sz="half" idx="4294967295"/>
          </p:nvPr>
        </p:nvSpPr>
        <p:spPr>
          <a:xfrm>
            <a:off x="1616367" y="1355167"/>
            <a:ext cx="7984834" cy="5138738"/>
          </a:xfrm>
          <a:noFill/>
        </p:spPr>
        <p:txBody>
          <a:bodyPr vert="horz" lIns="90488" tIns="44450" rIns="90488" bIns="44450" rtlCol="0">
            <a:normAutofit/>
          </a:bodyPr>
          <a:lstStyle/>
          <a:p>
            <a:pPr marL="533400" indent="-533400" algn="just">
              <a:lnSpc>
                <a:spcPct val="114000"/>
              </a:lnSpc>
              <a:spcBef>
                <a:spcPts val="1200"/>
              </a:spcBef>
              <a:spcAft>
                <a:spcPts val="0"/>
              </a:spcAft>
              <a:buNone/>
            </a:pPr>
            <a:r>
              <a:rPr lang="zh-CN" altLang="en-US" sz="2800" dirty="0">
                <a:solidFill>
                  <a:schemeClr val="tx1"/>
                </a:solidFill>
              </a:rPr>
              <a:t>为了找到适当的检验统计量，就要对随机误差作一些假定： </a:t>
            </a:r>
            <a:endParaRPr lang="zh-CN" altLang="en-US" sz="2800" dirty="0">
              <a:solidFill>
                <a:schemeClr val="tx1"/>
              </a:solidFill>
              <a:latin typeface="Times New Roman" pitchFamily="18" charset="0"/>
            </a:endParaRPr>
          </a:p>
          <a:p>
            <a:pPr algn="just">
              <a:lnSpc>
                <a:spcPct val="114000"/>
              </a:lnSpc>
              <a:spcBef>
                <a:spcPts val="1200"/>
              </a:spcBef>
              <a:spcAft>
                <a:spcPts val="0"/>
              </a:spcAft>
              <a:buFont typeface="Wingdings" panose="05000000000000000000" pitchFamily="2" charset="2"/>
              <a:buChar char="Ø"/>
            </a:pPr>
            <a:r>
              <a:rPr lang="zh-CN" altLang="en-US" sz="2800" dirty="0"/>
              <a:t>诸随机误差相互独立</a:t>
            </a:r>
          </a:p>
          <a:p>
            <a:pPr marL="444500" lvl="2" indent="0" algn="just">
              <a:lnSpc>
                <a:spcPct val="114000"/>
              </a:lnSpc>
              <a:spcBef>
                <a:spcPts val="1200"/>
              </a:spcBef>
              <a:spcAft>
                <a:spcPts val="0"/>
              </a:spcAft>
              <a:buSzPct val="120000"/>
              <a:buNone/>
            </a:pPr>
            <a:r>
              <a:rPr lang="zh-CN" altLang="en-US" dirty="0">
                <a:solidFill>
                  <a:schemeClr val="tx1"/>
                </a:solidFill>
                <a:latin typeface="Times New Roman" pitchFamily="18" charset="0"/>
              </a:rPr>
              <a:t>从而每个地块的收获量都与其他地块的收获量独立</a:t>
            </a:r>
            <a:endParaRPr lang="en-US" altLang="zh-CN" dirty="0">
              <a:solidFill>
                <a:schemeClr val="tx1"/>
              </a:solidFill>
              <a:latin typeface="Times New Roman" pitchFamily="18" charset="0"/>
            </a:endParaRPr>
          </a:p>
          <a:p>
            <a:pPr algn="just">
              <a:lnSpc>
                <a:spcPct val="114000"/>
              </a:lnSpc>
              <a:spcBef>
                <a:spcPts val="1200"/>
              </a:spcBef>
              <a:spcAft>
                <a:spcPts val="0"/>
              </a:spcAft>
              <a:buFont typeface="Wingdings" panose="05000000000000000000" pitchFamily="2" charset="2"/>
              <a:buChar char="Ø"/>
            </a:pPr>
            <a:r>
              <a:rPr lang="zh-CN" altLang="en-US" sz="2800" dirty="0"/>
              <a:t>诸随机误差</a:t>
            </a:r>
            <a:r>
              <a:rPr lang="zh-CN" altLang="en-US" sz="2800" dirty="0">
                <a:latin typeface="Times New Roman" pitchFamily="18" charset="0"/>
              </a:rPr>
              <a:t>服从正态分布</a:t>
            </a:r>
          </a:p>
          <a:p>
            <a:pPr marL="444500" lvl="2" indent="0" algn="just">
              <a:lnSpc>
                <a:spcPct val="114000"/>
              </a:lnSpc>
              <a:spcBef>
                <a:spcPts val="1200"/>
              </a:spcBef>
              <a:spcAft>
                <a:spcPts val="0"/>
              </a:spcAft>
              <a:buSzPct val="120000"/>
              <a:buNone/>
            </a:pPr>
            <a:r>
              <a:rPr lang="zh-CN" altLang="en-US" dirty="0">
                <a:solidFill>
                  <a:schemeClr val="tx1"/>
                </a:solidFill>
                <a:latin typeface="Times New Roman" pitchFamily="18" charset="0"/>
              </a:rPr>
              <a:t>从而每种施肥方案地块的收获量服从正态分布。</a:t>
            </a:r>
          </a:p>
          <a:p>
            <a:pPr algn="just">
              <a:lnSpc>
                <a:spcPct val="114000"/>
              </a:lnSpc>
              <a:spcBef>
                <a:spcPts val="1200"/>
              </a:spcBef>
              <a:spcAft>
                <a:spcPts val="0"/>
              </a:spcAft>
              <a:buFont typeface="Wingdings" panose="05000000000000000000" pitchFamily="2" charset="2"/>
              <a:buChar char="Ø"/>
            </a:pPr>
            <a:r>
              <a:rPr lang="zh-CN" altLang="en-US" sz="2800" dirty="0"/>
              <a:t>诸随机误差的均值为</a:t>
            </a:r>
            <a:r>
              <a:rPr lang="en-US" altLang="zh-CN" sz="2800" dirty="0"/>
              <a:t>0</a:t>
            </a:r>
            <a:r>
              <a:rPr lang="zh-CN" altLang="en-US" sz="2800" dirty="0"/>
              <a:t>，方差</a:t>
            </a:r>
            <a:r>
              <a:rPr lang="zh-CN" altLang="en-US" sz="2800" dirty="0">
                <a:latin typeface="Times New Roman" pitchFamily="18" charset="0"/>
              </a:rPr>
              <a:t>相同</a:t>
            </a:r>
          </a:p>
          <a:p>
            <a:pPr marL="444500" lvl="2" indent="0" algn="just">
              <a:lnSpc>
                <a:spcPct val="114000"/>
              </a:lnSpc>
              <a:spcBef>
                <a:spcPts val="1200"/>
              </a:spcBef>
              <a:spcAft>
                <a:spcPts val="0"/>
              </a:spcAft>
              <a:buSzPct val="120000"/>
              <a:buNone/>
            </a:pPr>
            <a:r>
              <a:rPr lang="zh-CN" altLang="en-US" dirty="0">
                <a:solidFill>
                  <a:schemeClr val="tx1"/>
                </a:solidFill>
                <a:latin typeface="Times New Roman" pitchFamily="18" charset="0"/>
              </a:rPr>
              <a:t>从而三种施肥方案地块的收获量的方差都相同。</a:t>
            </a:r>
          </a:p>
        </p:txBody>
      </p:sp>
      <p:sp>
        <p:nvSpPr>
          <p:cNvPr id="43014" name="Rectangle 6"/>
          <p:cNvSpPr>
            <a:spLocks noChangeArrowheads="1"/>
          </p:cNvSpPr>
          <p:nvPr/>
        </p:nvSpPr>
        <p:spPr bwMode="auto">
          <a:xfrm>
            <a:off x="1524001" y="3115747"/>
            <a:ext cx="184731" cy="369332"/>
          </a:xfrm>
          <a:prstGeom prst="rect">
            <a:avLst/>
          </a:prstGeom>
          <a:noFill/>
          <a:ln w="9525">
            <a:noFill/>
            <a:miter lim="800000"/>
            <a:headEnd/>
            <a:tailEnd/>
          </a:ln>
        </p:spPr>
        <p:txBody>
          <a:bodyPr wrap="none" anchor="ctr">
            <a:spAutoFit/>
          </a:bodyPr>
          <a:lstStyle/>
          <a:p>
            <a:endParaRPr lang="zh-CN" altLang="en-US"/>
          </a:p>
        </p:txBody>
      </p:sp>
      <p:grpSp>
        <p:nvGrpSpPr>
          <p:cNvPr id="3" name="Group 8"/>
          <p:cNvGrpSpPr>
            <a:grpSpLocks/>
          </p:cNvGrpSpPr>
          <p:nvPr/>
        </p:nvGrpSpPr>
        <p:grpSpPr bwMode="auto">
          <a:xfrm>
            <a:off x="5997575" y="1956829"/>
            <a:ext cx="3429000" cy="777875"/>
            <a:chOff x="3061" y="1117"/>
            <a:chExt cx="1679" cy="490"/>
          </a:xfrm>
        </p:grpSpPr>
        <p:graphicFrame>
          <p:nvGraphicFramePr>
            <p:cNvPr id="43010" name="Object 2"/>
            <p:cNvGraphicFramePr>
              <a:graphicFrameLocks noChangeAspect="1"/>
            </p:cNvGraphicFramePr>
            <p:nvPr/>
          </p:nvGraphicFramePr>
          <p:xfrm>
            <a:off x="3061" y="1117"/>
            <a:ext cx="1679" cy="490"/>
          </p:xfrm>
          <a:graphic>
            <a:graphicData uri="http://schemas.openxmlformats.org/presentationml/2006/ole">
              <mc:AlternateContent xmlns:mc="http://schemas.openxmlformats.org/markup-compatibility/2006">
                <mc:Choice xmlns:v="urn:schemas-microsoft-com:vml" Requires="v">
                  <p:oleObj name="Equation" r:id="rId3" imgW="876240" imgH="253800" progId="Equation.DSMT4">
                    <p:embed/>
                  </p:oleObj>
                </mc:Choice>
                <mc:Fallback>
                  <p:oleObj name="Equation" r:id="rId3" imgW="876240" imgH="253800" progId="Equation.DSMT4">
                    <p:embed/>
                    <p:pic>
                      <p:nvPicPr>
                        <p:cNvPr id="4301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61" y="1117"/>
                          <a:ext cx="1679" cy="490"/>
                        </a:xfrm>
                        <a:prstGeom prst="rect">
                          <a:avLst/>
                        </a:prstGeom>
                        <a:noFill/>
                        <a:ln w="28575">
                          <a:solidFill>
                            <a:srgbClr val="3333FF"/>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3016" name="Text Box 7"/>
            <p:cNvSpPr txBox="1">
              <a:spLocks noChangeArrowheads="1"/>
            </p:cNvSpPr>
            <p:nvPr/>
          </p:nvSpPr>
          <p:spPr bwMode="auto">
            <a:xfrm>
              <a:off x="3379" y="1339"/>
              <a:ext cx="318" cy="231"/>
            </a:xfrm>
            <a:prstGeom prst="rect">
              <a:avLst/>
            </a:prstGeom>
            <a:noFill/>
            <a:ln w="28575">
              <a:noFill/>
              <a:miter lim="800000"/>
              <a:headEnd/>
              <a:tailEnd/>
            </a:ln>
          </p:spPr>
          <p:txBody>
            <a:bodyPr>
              <a:spAutoFit/>
            </a:bodyPr>
            <a:lstStyle/>
            <a:p>
              <a:pPr>
                <a:spcBef>
                  <a:spcPct val="50000"/>
                </a:spcBef>
              </a:pPr>
              <a:r>
                <a:rPr lang="en-US" altLang="zh-CN" b="1" i="1">
                  <a:solidFill>
                    <a:schemeClr val="tx2"/>
                  </a:solidFill>
                  <a:latin typeface="Times New Roman" pitchFamily="18" charset="0"/>
                </a:rPr>
                <a:t>iid</a:t>
              </a:r>
            </a:p>
          </p:txBody>
        </p:sp>
      </p:grpSp>
    </p:spTree>
    <p:extLst>
      <p:ext uri="{BB962C8B-B14F-4D97-AF65-F5344CB8AC3E}">
        <p14:creationId xmlns:p14="http://schemas.microsoft.com/office/powerpoint/2010/main" val="16975840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wipe(left)">
                                      <p:cBhvr>
                                        <p:cTn id="7" dur="500"/>
                                        <p:tgtEl>
                                          <p:spTgt spid="2">
                                            <p:txEl>
                                              <p:pRg st="1" end="1"/>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
                                            <p:txEl>
                                              <p:pRg st="2" end="2"/>
                                            </p:txEl>
                                          </p:spTgt>
                                        </p:tgtEl>
                                        <p:attrNameLst>
                                          <p:attrName>style.visibility</p:attrName>
                                        </p:attrNameLst>
                                      </p:cBhvr>
                                      <p:to>
                                        <p:strVal val="visible"/>
                                      </p:to>
                                    </p:set>
                                    <p:animEffect transition="in" filter="wipe(left)">
                                      <p:cBhvr>
                                        <p:cTn id="10" dur="500"/>
                                        <p:tgtEl>
                                          <p:spTgt spid="2">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nodeType="click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animEffect transition="in" filter="wipe(left)">
                                      <p:cBhvr>
                                        <p:cTn id="15" dur="500"/>
                                        <p:tgtEl>
                                          <p:spTgt spid="2">
                                            <p:txEl>
                                              <p:pRg st="3" end="3"/>
                                            </p:txEl>
                                          </p:spTgt>
                                        </p:tgtEl>
                                      </p:cBhvr>
                                    </p:animEffect>
                                  </p:childTnLst>
                                </p:cTn>
                              </p:par>
                              <p:par>
                                <p:cTn id="16" presetID="22" presetClass="entr" presetSubtype="8" fill="hold" nodeType="withEffect">
                                  <p:stCondLst>
                                    <p:cond delay="0"/>
                                  </p:stCondLst>
                                  <p:childTnLst>
                                    <p:set>
                                      <p:cBhvr>
                                        <p:cTn id="17" dur="1" fill="hold">
                                          <p:stCondLst>
                                            <p:cond delay="0"/>
                                          </p:stCondLst>
                                        </p:cTn>
                                        <p:tgtEl>
                                          <p:spTgt spid="2">
                                            <p:txEl>
                                              <p:pRg st="4" end="4"/>
                                            </p:txEl>
                                          </p:spTgt>
                                        </p:tgtEl>
                                        <p:attrNameLst>
                                          <p:attrName>style.visibility</p:attrName>
                                        </p:attrNameLst>
                                      </p:cBhvr>
                                      <p:to>
                                        <p:strVal val="visible"/>
                                      </p:to>
                                    </p:set>
                                    <p:animEffect transition="in" filter="wipe(left)">
                                      <p:cBhvr>
                                        <p:cTn id="18" dur="500"/>
                                        <p:tgtEl>
                                          <p:spTgt spid="2">
                                            <p:txEl>
                                              <p:pRg st="4" end="4"/>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2">
                                            <p:txEl>
                                              <p:pRg st="5" end="5"/>
                                            </p:txEl>
                                          </p:spTgt>
                                        </p:tgtEl>
                                        <p:attrNameLst>
                                          <p:attrName>style.visibility</p:attrName>
                                        </p:attrNameLst>
                                      </p:cBhvr>
                                      <p:to>
                                        <p:strVal val="visible"/>
                                      </p:to>
                                    </p:set>
                                    <p:animEffect transition="in" filter="wipe(left)">
                                      <p:cBhvr>
                                        <p:cTn id="23" dur="500"/>
                                        <p:tgtEl>
                                          <p:spTgt spid="2">
                                            <p:txEl>
                                              <p:pRg st="5" end="5"/>
                                            </p:txEl>
                                          </p:spTgt>
                                        </p:tgtEl>
                                      </p:cBhvr>
                                    </p:animEffect>
                                  </p:childTnLst>
                                </p:cTn>
                              </p:par>
                              <p:par>
                                <p:cTn id="24" presetID="22" presetClass="entr" presetSubtype="8" fill="hold" grpId="0" nodeType="withEffect">
                                  <p:stCondLst>
                                    <p:cond delay="0"/>
                                  </p:stCondLst>
                                  <p:childTnLst>
                                    <p:set>
                                      <p:cBhvr>
                                        <p:cTn id="25" dur="1" fill="hold">
                                          <p:stCondLst>
                                            <p:cond delay="0"/>
                                          </p:stCondLst>
                                        </p:cTn>
                                        <p:tgtEl>
                                          <p:spTgt spid="2">
                                            <p:txEl>
                                              <p:pRg st="6" end="6"/>
                                            </p:txEl>
                                          </p:spTgt>
                                        </p:tgtEl>
                                        <p:attrNameLst>
                                          <p:attrName>style.visibility</p:attrName>
                                        </p:attrNameLst>
                                      </p:cBhvr>
                                      <p:to>
                                        <p:strVal val="visible"/>
                                      </p:to>
                                    </p:set>
                                    <p:animEffect transition="in" filter="wipe(left)">
                                      <p:cBhvr>
                                        <p:cTn id="26" dur="500"/>
                                        <p:tgtEl>
                                          <p:spTgt spid="2">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autoUpdateAnimBg="0"/>
    </p:bldLst>
  </p:timing>
</p:sld>
</file>

<file path=ppt/slides/slide10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4035" name="灯片编号占位符 6"/>
          <p:cNvSpPr>
            <a:spLocks noGrp="1"/>
          </p:cNvSpPr>
          <p:nvPr>
            <p:ph type="sldNum" sz="quarter" idx="10"/>
          </p:nvPr>
        </p:nvSpPr>
        <p:spPr>
          <a:noFill/>
        </p:spPr>
        <p:txBody>
          <a:bodyPr/>
          <a:lstStyle/>
          <a:p>
            <a:r>
              <a:rPr lang="en-US" altLang="zh-CN">
                <a:ea typeface="宋体" pitchFamily="2" charset="-122"/>
              </a:rPr>
              <a:t>8.4--</a:t>
            </a:r>
            <a:fld id="{7CB40C6E-1AC2-4401-B660-940CA60E0024}" type="slidenum">
              <a:rPr lang="en-US" altLang="zh-CN" smtClean="0">
                <a:ea typeface="宋体" pitchFamily="2" charset="-122"/>
              </a:rPr>
              <a:pPr/>
              <a:t>100</a:t>
            </a:fld>
            <a:endParaRPr lang="en-US" altLang="zh-CN">
              <a:ea typeface="宋体" pitchFamily="2" charset="-122"/>
            </a:endParaRPr>
          </a:p>
        </p:txBody>
      </p:sp>
      <p:sp>
        <p:nvSpPr>
          <p:cNvPr id="44036" name="Rectangle 2"/>
          <p:cNvSpPr>
            <a:spLocks noGrp="1" noChangeArrowheads="1"/>
          </p:cNvSpPr>
          <p:nvPr>
            <p:ph type="title" idx="4294967295"/>
          </p:nvPr>
        </p:nvSpPr>
        <p:spPr>
          <a:xfrm>
            <a:off x="1778000" y="379971"/>
            <a:ext cx="3670300" cy="990600"/>
          </a:xfrm>
          <a:noFill/>
        </p:spPr>
        <p:txBody>
          <a:bodyPr vert="horz" lIns="90488" tIns="44450" rIns="90488" bIns="44450" rtlCol="0" anchor="ctr" anchorCtr="1">
            <a:normAutofit/>
          </a:bodyPr>
          <a:lstStyle/>
          <a:p>
            <a:r>
              <a:rPr lang="zh-CN" altLang="en-US" sz="4000" b="1" dirty="0">
                <a:solidFill>
                  <a:srgbClr val="0070C0"/>
                </a:solidFill>
                <a:effectLst/>
                <a:latin typeface="Times New Roman" pitchFamily="18" charset="0"/>
              </a:rPr>
              <a:t>检验统计量</a:t>
            </a:r>
            <a:endParaRPr lang="zh-CN" altLang="en-US" sz="4800" b="1" dirty="0">
              <a:solidFill>
                <a:srgbClr val="0070C0"/>
              </a:solidFill>
              <a:effectLst/>
            </a:endParaRPr>
          </a:p>
        </p:txBody>
      </p:sp>
      <p:sp>
        <p:nvSpPr>
          <p:cNvPr id="44037" name="Rectangle 3"/>
          <p:cNvSpPr>
            <a:spLocks noGrp="1" noChangeArrowheads="1"/>
          </p:cNvSpPr>
          <p:nvPr>
            <p:ph type="body" sz="half" idx="4294967295"/>
          </p:nvPr>
        </p:nvSpPr>
        <p:spPr>
          <a:xfrm>
            <a:off x="1193800" y="1370571"/>
            <a:ext cx="7416800" cy="3889375"/>
          </a:xfrm>
          <a:noFill/>
        </p:spPr>
        <p:txBody>
          <a:bodyPr vert="horz" lIns="90488" tIns="44450" rIns="90488" bIns="44450" rtlCol="0">
            <a:normAutofit/>
          </a:bodyPr>
          <a:lstStyle/>
          <a:p>
            <a:pPr marL="0" indent="447675" algn="just">
              <a:lnSpc>
                <a:spcPct val="120000"/>
              </a:lnSpc>
              <a:spcBef>
                <a:spcPct val="10000"/>
              </a:spcBef>
              <a:buSzPct val="120000"/>
              <a:buNone/>
            </a:pPr>
            <a:r>
              <a:rPr lang="zh-CN" altLang="en-US" sz="3000" dirty="0">
                <a:solidFill>
                  <a:srgbClr val="000000"/>
                </a:solidFill>
                <a:latin typeface="Times New Roman" pitchFamily="18" charset="0"/>
              </a:rPr>
              <a:t>在上述假定下，当 </a:t>
            </a:r>
            <a:r>
              <a:rPr lang="en-US" altLang="zh-CN" sz="3000" i="1" dirty="0">
                <a:solidFill>
                  <a:srgbClr val="000000"/>
                </a:solidFill>
                <a:latin typeface="Times New Roman" pitchFamily="18" charset="0"/>
              </a:rPr>
              <a:t>H</a:t>
            </a:r>
            <a:r>
              <a:rPr lang="en-US" altLang="zh-CN" sz="3000" baseline="-30000" dirty="0">
                <a:solidFill>
                  <a:srgbClr val="000000"/>
                </a:solidFill>
                <a:latin typeface="Times New Roman" pitchFamily="18" charset="0"/>
              </a:rPr>
              <a:t>0 </a:t>
            </a:r>
            <a:r>
              <a:rPr lang="zh-CN" altLang="en-US" sz="3000" dirty="0">
                <a:solidFill>
                  <a:srgbClr val="000000"/>
                </a:solidFill>
                <a:latin typeface="Times New Roman" pitchFamily="18" charset="0"/>
              </a:rPr>
              <a:t>为真时，（样本的）</a:t>
            </a:r>
            <a:r>
              <a:rPr lang="zh-CN" altLang="en-US" dirty="0">
                <a:solidFill>
                  <a:srgbClr val="0070C0"/>
                </a:solidFill>
                <a:latin typeface="Times New Roman" pitchFamily="18" charset="0"/>
              </a:rPr>
              <a:t>组间方差与组内方差的比值</a:t>
            </a:r>
            <a:r>
              <a:rPr lang="zh-CN" altLang="en-US" sz="3000" dirty="0">
                <a:solidFill>
                  <a:srgbClr val="000000"/>
                </a:solidFill>
                <a:latin typeface="Times New Roman" pitchFamily="18" charset="0"/>
              </a:rPr>
              <a:t>服从分子自由度为 </a:t>
            </a:r>
            <a:r>
              <a:rPr lang="en-US" altLang="zh-CN" sz="3000" i="1" dirty="0">
                <a:solidFill>
                  <a:srgbClr val="000000"/>
                </a:solidFill>
                <a:latin typeface="Times New Roman" pitchFamily="18" charset="0"/>
              </a:rPr>
              <a:t>k</a:t>
            </a:r>
            <a:r>
              <a:rPr lang="en-US" altLang="zh-CN" sz="3000" dirty="0">
                <a:solidFill>
                  <a:srgbClr val="000000"/>
                </a:solidFill>
                <a:latin typeface="Times New Roman" pitchFamily="18" charset="0"/>
              </a:rPr>
              <a:t>-1</a:t>
            </a:r>
            <a:r>
              <a:rPr lang="zh-CN" altLang="en-US" sz="3000" dirty="0">
                <a:solidFill>
                  <a:srgbClr val="000000"/>
                </a:solidFill>
                <a:latin typeface="Times New Roman" pitchFamily="18" charset="0"/>
              </a:rPr>
              <a:t>、分母自由度为 </a:t>
            </a:r>
            <a:r>
              <a:rPr lang="en-US" altLang="zh-CN" sz="3000" i="1" dirty="0">
                <a:solidFill>
                  <a:srgbClr val="000000"/>
                </a:solidFill>
                <a:latin typeface="Times New Roman" pitchFamily="18" charset="0"/>
              </a:rPr>
              <a:t>n</a:t>
            </a:r>
            <a:r>
              <a:rPr lang="en-US" altLang="zh-CN" sz="3000" dirty="0">
                <a:solidFill>
                  <a:srgbClr val="000000"/>
                </a:solidFill>
                <a:latin typeface="Times New Roman" pitchFamily="18" charset="0"/>
              </a:rPr>
              <a:t>-</a:t>
            </a:r>
            <a:r>
              <a:rPr lang="en-US" altLang="zh-CN" sz="3000" i="1" dirty="0">
                <a:solidFill>
                  <a:srgbClr val="000000"/>
                </a:solidFill>
                <a:latin typeface="Times New Roman" pitchFamily="18" charset="0"/>
              </a:rPr>
              <a:t>k </a:t>
            </a:r>
            <a:r>
              <a:rPr lang="zh-CN" altLang="en-US" sz="3000" dirty="0">
                <a:solidFill>
                  <a:srgbClr val="000000"/>
                </a:solidFill>
                <a:latin typeface="Times New Roman" pitchFamily="18" charset="0"/>
              </a:rPr>
              <a:t>的 </a:t>
            </a:r>
            <a:r>
              <a:rPr lang="en-US" altLang="zh-CN" sz="3000" i="1" dirty="0">
                <a:solidFill>
                  <a:srgbClr val="000000"/>
                </a:solidFill>
                <a:latin typeface="Times New Roman" pitchFamily="18" charset="0"/>
              </a:rPr>
              <a:t>F </a:t>
            </a:r>
            <a:r>
              <a:rPr lang="zh-CN" altLang="en-US" sz="3000" dirty="0">
                <a:solidFill>
                  <a:srgbClr val="000000"/>
                </a:solidFill>
                <a:latin typeface="Times New Roman" pitchFamily="18" charset="0"/>
              </a:rPr>
              <a:t>分布，即 ：</a:t>
            </a:r>
          </a:p>
        </p:txBody>
      </p:sp>
      <p:graphicFrame>
        <p:nvGraphicFramePr>
          <p:cNvPr id="119812" name="Object 2">
            <a:hlinkClick r:id="" action="ppaction://ole?verb=0"/>
          </p:cNvPr>
          <p:cNvGraphicFramePr>
            <a:graphicFrameLocks/>
          </p:cNvGraphicFramePr>
          <p:nvPr>
            <p:extLst>
              <p:ext uri="{D42A27DB-BD31-4B8C-83A1-F6EECF244321}">
                <p14:modId xmlns:p14="http://schemas.microsoft.com/office/powerpoint/2010/main" val="1596965475"/>
              </p:ext>
            </p:extLst>
          </p:nvPr>
        </p:nvGraphicFramePr>
        <p:xfrm>
          <a:off x="2247900" y="3625851"/>
          <a:ext cx="6019800" cy="1476375"/>
        </p:xfrm>
        <a:graphic>
          <a:graphicData uri="http://schemas.openxmlformats.org/presentationml/2006/ole">
            <mc:AlternateContent xmlns:mc="http://schemas.openxmlformats.org/markup-compatibility/2006">
              <mc:Choice xmlns:v="urn:schemas-microsoft-com:vml" Requires="v">
                <p:oleObj name="Equation" r:id="rId3" imgW="2527200" imgH="419040" progId="Equation.DSMT4">
                  <p:embed/>
                </p:oleObj>
              </mc:Choice>
              <mc:Fallback>
                <p:oleObj name="Equation" r:id="rId3" imgW="2527200" imgH="419040" progId="Equation.DSMT4">
                  <p:embed/>
                  <p:pic>
                    <p:nvPicPr>
                      <p:cNvPr id="119812" name="Object 2">
                        <a:hlinkClick r:id="" action="ppaction://ole?verb=0"/>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47900" y="3625851"/>
                        <a:ext cx="6019800" cy="1476375"/>
                      </a:xfrm>
                      <a:prstGeom prst="rect">
                        <a:avLst/>
                      </a:prstGeom>
                      <a:noFill/>
                      <a:ln>
                        <a:noFill/>
                      </a:ln>
                      <a:effectLst>
                        <a:outerShdw dist="17961" dir="2700000" algn="ctr" rotWithShape="0">
                          <a:schemeClr val="bg2"/>
                        </a:outerShdw>
                      </a:effectLst>
                    </p:spPr>
                  </p:pic>
                </p:oleObj>
              </mc:Fallback>
            </mc:AlternateContent>
          </a:graphicData>
        </a:graphic>
      </p:graphicFrame>
      <p:sp>
        <p:nvSpPr>
          <p:cNvPr id="44038" name="TextBox 7"/>
          <p:cNvSpPr txBox="1">
            <a:spLocks noChangeArrowheads="1"/>
          </p:cNvSpPr>
          <p:nvPr/>
        </p:nvSpPr>
        <p:spPr bwMode="auto">
          <a:xfrm>
            <a:off x="2520950" y="5540376"/>
            <a:ext cx="4762499" cy="523220"/>
          </a:xfrm>
          <a:prstGeom prst="rect">
            <a:avLst/>
          </a:prstGeom>
          <a:noFill/>
          <a:ln w="9525">
            <a:noFill/>
            <a:miter lim="800000"/>
            <a:headEnd/>
            <a:tailEnd/>
          </a:ln>
        </p:spPr>
        <p:txBody>
          <a:bodyPr wrap="square">
            <a:spAutoFit/>
          </a:bodyPr>
          <a:lstStyle/>
          <a:p>
            <a:r>
              <a:rPr lang="zh-CN" altLang="en-US" sz="2800" b="1" dirty="0"/>
              <a:t>方差分析</a:t>
            </a:r>
            <a:r>
              <a:rPr lang="en-US" altLang="zh-CN" sz="2800" b="1" dirty="0"/>
              <a:t>—— F</a:t>
            </a:r>
            <a:r>
              <a:rPr lang="zh-CN" altLang="en-US" sz="2800" b="1" dirty="0"/>
              <a:t>检验法</a:t>
            </a:r>
          </a:p>
        </p:txBody>
      </p:sp>
    </p:spTree>
    <p:extLst>
      <p:ext uri="{BB962C8B-B14F-4D97-AF65-F5344CB8AC3E}">
        <p14:creationId xmlns:p14="http://schemas.microsoft.com/office/powerpoint/2010/main" val="37914550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119812"/>
                                        </p:tgtEl>
                                        <p:attrNameLst>
                                          <p:attrName>style.visibility</p:attrName>
                                        </p:attrNameLst>
                                      </p:cBhvr>
                                      <p:to>
                                        <p:strVal val="visible"/>
                                      </p:to>
                                    </p:set>
                                    <p:animEffect transition="in" filter="wipe(left)">
                                      <p:cBhvr>
                                        <p:cTn id="7" dur="3000"/>
                                        <p:tgtEl>
                                          <p:spTgt spid="1198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灯片编号占位符 5"/>
          <p:cNvSpPr>
            <a:spLocks noGrp="1"/>
          </p:cNvSpPr>
          <p:nvPr>
            <p:ph type="sldNum" sz="quarter" idx="4294967295"/>
          </p:nvPr>
        </p:nvSpPr>
        <p:spPr>
          <a:noFill/>
        </p:spPr>
        <p:txBody>
          <a:bodyPr/>
          <a:lstStyle/>
          <a:p>
            <a:r>
              <a:rPr lang="en-US" altLang="zh-CN">
                <a:ea typeface="宋体" pitchFamily="2" charset="-122"/>
              </a:rPr>
              <a:t>8.4--</a:t>
            </a:r>
            <a:fld id="{81699C3E-5ED6-47EA-A6D0-74A1F7EE9C29}" type="slidenum">
              <a:rPr lang="en-US" altLang="zh-CN" smtClean="0">
                <a:ea typeface="宋体" pitchFamily="2" charset="-122"/>
              </a:rPr>
              <a:pPr/>
              <a:t>101</a:t>
            </a:fld>
            <a:endParaRPr lang="en-US" altLang="zh-CN">
              <a:ea typeface="宋体" pitchFamily="2" charset="-122"/>
            </a:endParaRPr>
          </a:p>
        </p:txBody>
      </p:sp>
      <p:sp>
        <p:nvSpPr>
          <p:cNvPr id="119811" name="Rectangle 2"/>
          <p:cNvSpPr>
            <a:spLocks noGrp="1" noChangeArrowheads="1"/>
          </p:cNvSpPr>
          <p:nvPr>
            <p:ph type="title"/>
          </p:nvPr>
        </p:nvSpPr>
        <p:spPr>
          <a:xfrm>
            <a:off x="1912985" y="515940"/>
            <a:ext cx="3008312" cy="1439863"/>
          </a:xfrm>
          <a:noFill/>
        </p:spPr>
        <p:txBody>
          <a:bodyPr vert="horz" lIns="0" tIns="44450" rIns="0" bIns="44450" rtlCol="0" anchor="ctr" anchorCtr="1">
            <a:normAutofit/>
          </a:bodyPr>
          <a:lstStyle/>
          <a:p>
            <a:pPr algn="l"/>
            <a:r>
              <a:rPr lang="zh-CN" altLang="en-US" sz="4000" b="1" dirty="0">
                <a:solidFill>
                  <a:srgbClr val="0070C0"/>
                </a:solidFill>
                <a:effectLst/>
                <a:latin typeface="Times New Roman" pitchFamily="18" charset="0"/>
              </a:rPr>
              <a:t>拒绝域</a:t>
            </a:r>
          </a:p>
        </p:txBody>
      </p:sp>
      <p:grpSp>
        <p:nvGrpSpPr>
          <p:cNvPr id="2" name="Group 3"/>
          <p:cNvGrpSpPr>
            <a:grpSpLocks/>
          </p:cNvGrpSpPr>
          <p:nvPr/>
        </p:nvGrpSpPr>
        <p:grpSpPr bwMode="auto">
          <a:xfrm>
            <a:off x="3489326" y="4652963"/>
            <a:ext cx="3457575" cy="1592262"/>
            <a:chOff x="793" y="3022"/>
            <a:chExt cx="2178" cy="1003"/>
          </a:xfrm>
        </p:grpSpPr>
        <p:sp>
          <p:nvSpPr>
            <p:cNvPr id="119829" name="Line 4"/>
            <p:cNvSpPr>
              <a:spLocks noChangeShapeType="1"/>
            </p:cNvSpPr>
            <p:nvPr/>
          </p:nvSpPr>
          <p:spPr bwMode="auto">
            <a:xfrm flipH="1">
              <a:off x="2075" y="3022"/>
              <a:ext cx="1" cy="227"/>
            </a:xfrm>
            <a:prstGeom prst="line">
              <a:avLst/>
            </a:prstGeom>
            <a:noFill/>
            <a:ln w="57150">
              <a:solidFill>
                <a:srgbClr val="FF0000"/>
              </a:solidFill>
              <a:round/>
              <a:headEnd type="triangle" w="med" len="med"/>
              <a:tailEnd/>
            </a:ln>
          </p:spPr>
          <p:txBody>
            <a:bodyPr/>
            <a:lstStyle/>
            <a:p>
              <a:endParaRPr lang="zh-CN" altLang="en-US"/>
            </a:p>
          </p:txBody>
        </p:sp>
        <p:sp>
          <p:nvSpPr>
            <p:cNvPr id="135173" name="Rectangle 5"/>
            <p:cNvSpPr>
              <a:spLocks noChangeArrowheads="1"/>
            </p:cNvSpPr>
            <p:nvPr/>
          </p:nvSpPr>
          <p:spPr bwMode="auto">
            <a:xfrm>
              <a:off x="1067" y="3589"/>
              <a:ext cx="1295" cy="231"/>
            </a:xfrm>
            <a:prstGeom prst="rect">
              <a:avLst/>
            </a:prstGeom>
            <a:noFill/>
            <a:ln w="12700">
              <a:noFill/>
              <a:miter lim="800000"/>
              <a:headEnd/>
              <a:tailEnd/>
            </a:ln>
            <a:effectLst/>
          </p:spPr>
          <p:txBody>
            <a:bodyPr lIns="90488" tIns="44450" rIns="90488" bIns="44450">
              <a:spAutoFit/>
            </a:bodyPr>
            <a:lstStyle/>
            <a:p>
              <a:pPr algn="ctr" eaLnBrk="0" hangingPunct="0">
                <a:spcBef>
                  <a:spcPct val="50000"/>
                </a:spcBef>
                <a:defRPr/>
              </a:pPr>
              <a:r>
                <a:rPr kumimoji="1" lang="en-US" altLang="zh-CN" b="1" i="1">
                  <a:solidFill>
                    <a:srgbClr val="FFFFB1"/>
                  </a:solidFill>
                  <a:effectLst>
                    <a:outerShdw blurRad="38100" dist="38100" dir="2700000" algn="tl">
                      <a:srgbClr val="C0C0C0"/>
                    </a:outerShdw>
                  </a:effectLst>
                  <a:latin typeface="Times New Roman" pitchFamily="18" charset="0"/>
                  <a:ea typeface="宋体" charset="-122"/>
                </a:rPr>
                <a:t>  </a:t>
              </a:r>
              <a:endParaRPr kumimoji="1" lang="en-US" altLang="zh-CN" b="1">
                <a:solidFill>
                  <a:srgbClr val="FFFFB1"/>
                </a:solidFill>
                <a:effectLst>
                  <a:outerShdw blurRad="38100" dist="38100" dir="2700000" algn="tl">
                    <a:srgbClr val="C0C0C0"/>
                  </a:outerShdw>
                </a:effectLst>
                <a:latin typeface="Arial" charset="0"/>
                <a:ea typeface="宋体" charset="-122"/>
              </a:endParaRPr>
            </a:p>
          </p:txBody>
        </p:sp>
        <p:sp>
          <p:nvSpPr>
            <p:cNvPr id="119831" name="Rectangle 6"/>
            <p:cNvSpPr>
              <a:spLocks noChangeArrowheads="1"/>
            </p:cNvSpPr>
            <p:nvPr/>
          </p:nvSpPr>
          <p:spPr bwMode="auto">
            <a:xfrm>
              <a:off x="1429" y="3249"/>
              <a:ext cx="1451" cy="289"/>
            </a:xfrm>
            <a:prstGeom prst="rect">
              <a:avLst/>
            </a:prstGeom>
            <a:solidFill>
              <a:schemeClr val="accent4">
                <a:lumMod val="20000"/>
                <a:lumOff val="80000"/>
              </a:schemeClr>
            </a:solidFill>
            <a:ln w="12700">
              <a:solidFill>
                <a:srgbClr val="FF0000"/>
              </a:solidFill>
              <a:miter lim="800000"/>
              <a:headEnd/>
              <a:tailEnd/>
            </a:ln>
          </p:spPr>
          <p:txBody>
            <a:bodyPr lIns="90488" tIns="44450" rIns="90488" bIns="44450">
              <a:spAutoFit/>
            </a:bodyPr>
            <a:lstStyle/>
            <a:p>
              <a:pPr algn="ctr" eaLnBrk="0" hangingPunct="0"/>
              <a:r>
                <a:rPr kumimoji="1" lang="en-US" altLang="zh-CN" sz="2400" b="1" i="1" dirty="0">
                  <a:solidFill>
                    <a:schemeClr val="tx2"/>
                  </a:solidFill>
                  <a:latin typeface="Times New Roman" pitchFamily="18" charset="0"/>
                </a:rPr>
                <a:t>F</a:t>
              </a:r>
              <a:r>
                <a:rPr kumimoji="1" lang="en-US" altLang="zh-CN" sz="2400" b="1" i="1" baseline="-25000" dirty="0">
                  <a:solidFill>
                    <a:srgbClr val="00B0F0"/>
                  </a:solidFill>
                  <a:latin typeface="Times New Roman" pitchFamily="18" charset="0"/>
                  <a:sym typeface="Symbol" pitchFamily="18" charset="2"/>
                </a:rPr>
                <a:t></a:t>
              </a:r>
              <a:r>
                <a:rPr kumimoji="1" lang="en-US" altLang="zh-CN" sz="2400" b="1" i="1" baseline="-25000" dirty="0">
                  <a:solidFill>
                    <a:schemeClr val="tx2"/>
                  </a:solidFill>
                  <a:latin typeface="Times New Roman" pitchFamily="18" charset="0"/>
                  <a:sym typeface="Symbol" pitchFamily="18" charset="2"/>
                </a:rPr>
                <a:t> </a:t>
              </a:r>
              <a:r>
                <a:rPr kumimoji="1" lang="en-US" altLang="zh-CN" sz="2400" b="1" dirty="0">
                  <a:solidFill>
                    <a:schemeClr val="tx2"/>
                  </a:solidFill>
                  <a:latin typeface="Times New Roman" pitchFamily="18" charset="0"/>
                </a:rPr>
                <a:t>(</a:t>
              </a:r>
              <a:r>
                <a:rPr kumimoji="1" lang="en-US" altLang="zh-CN" sz="2400" b="1" i="1" dirty="0">
                  <a:solidFill>
                    <a:schemeClr val="tx2"/>
                  </a:solidFill>
                  <a:latin typeface="Times New Roman" pitchFamily="18" charset="0"/>
                </a:rPr>
                <a:t>k</a:t>
              </a:r>
              <a:r>
                <a:rPr kumimoji="1" lang="en-US" altLang="zh-CN" sz="2400" b="1" dirty="0">
                  <a:solidFill>
                    <a:schemeClr val="tx2"/>
                  </a:solidFill>
                  <a:latin typeface="Times New Roman" pitchFamily="18" charset="0"/>
                </a:rPr>
                <a:t>-1,</a:t>
              </a:r>
              <a:r>
                <a:rPr kumimoji="1" lang="en-US" altLang="zh-CN" sz="2400" b="1" i="1" dirty="0">
                  <a:solidFill>
                    <a:schemeClr val="tx2"/>
                  </a:solidFill>
                  <a:latin typeface="Times New Roman" pitchFamily="18" charset="0"/>
                </a:rPr>
                <a:t>n</a:t>
              </a:r>
              <a:r>
                <a:rPr kumimoji="1" lang="en-US" altLang="zh-CN" sz="2400" b="1" dirty="0">
                  <a:solidFill>
                    <a:schemeClr val="tx2"/>
                  </a:solidFill>
                  <a:latin typeface="Times New Roman" pitchFamily="18" charset="0"/>
                </a:rPr>
                <a:t>-</a:t>
              </a:r>
              <a:r>
                <a:rPr kumimoji="1" lang="en-US" altLang="zh-CN" sz="2400" b="1" i="1" dirty="0">
                  <a:solidFill>
                    <a:schemeClr val="tx2"/>
                  </a:solidFill>
                  <a:latin typeface="Times New Roman" pitchFamily="18" charset="0"/>
                </a:rPr>
                <a:t>k</a:t>
              </a:r>
              <a:r>
                <a:rPr kumimoji="1" lang="en-US" altLang="zh-CN" sz="2400" b="1" dirty="0">
                  <a:solidFill>
                    <a:schemeClr val="tx2"/>
                  </a:solidFill>
                  <a:latin typeface="Times New Roman" pitchFamily="18" charset="0"/>
                </a:rPr>
                <a:t>)</a:t>
              </a:r>
              <a:endParaRPr kumimoji="1" lang="en-US" altLang="zh-CN" sz="2400" b="1" i="1" dirty="0">
                <a:solidFill>
                  <a:schemeClr val="tx2"/>
                </a:solidFill>
                <a:latin typeface="Times New Roman" pitchFamily="18" charset="0"/>
              </a:endParaRPr>
            </a:p>
          </p:txBody>
        </p:sp>
        <p:sp>
          <p:nvSpPr>
            <p:cNvPr id="119832" name="Line 7"/>
            <p:cNvSpPr>
              <a:spLocks noChangeShapeType="1"/>
            </p:cNvSpPr>
            <p:nvPr/>
          </p:nvSpPr>
          <p:spPr bwMode="auto">
            <a:xfrm>
              <a:off x="2064" y="3611"/>
              <a:ext cx="0" cy="363"/>
            </a:xfrm>
            <a:prstGeom prst="line">
              <a:avLst/>
            </a:prstGeom>
            <a:noFill/>
            <a:ln w="57150">
              <a:solidFill>
                <a:srgbClr val="FF0000"/>
              </a:solidFill>
              <a:round/>
              <a:headEnd/>
              <a:tailEnd/>
            </a:ln>
          </p:spPr>
          <p:txBody>
            <a:bodyPr/>
            <a:lstStyle/>
            <a:p>
              <a:endParaRPr lang="zh-CN" altLang="en-US"/>
            </a:p>
          </p:txBody>
        </p:sp>
        <p:sp>
          <p:nvSpPr>
            <p:cNvPr id="119833" name="Line 8"/>
            <p:cNvSpPr>
              <a:spLocks noChangeShapeType="1"/>
            </p:cNvSpPr>
            <p:nvPr/>
          </p:nvSpPr>
          <p:spPr bwMode="auto">
            <a:xfrm>
              <a:off x="2064" y="3702"/>
              <a:ext cx="907" cy="0"/>
            </a:xfrm>
            <a:prstGeom prst="line">
              <a:avLst/>
            </a:prstGeom>
            <a:noFill/>
            <a:ln w="57150">
              <a:solidFill>
                <a:srgbClr val="FF9933"/>
              </a:solidFill>
              <a:round/>
              <a:headEnd/>
              <a:tailEnd type="triangle" w="med" len="med"/>
            </a:ln>
          </p:spPr>
          <p:txBody>
            <a:bodyPr/>
            <a:lstStyle/>
            <a:p>
              <a:endParaRPr lang="zh-CN" altLang="en-US"/>
            </a:p>
          </p:txBody>
        </p:sp>
        <p:sp>
          <p:nvSpPr>
            <p:cNvPr id="119834" name="Rectangle 9"/>
            <p:cNvSpPr>
              <a:spLocks noChangeArrowheads="1"/>
            </p:cNvSpPr>
            <p:nvPr/>
          </p:nvSpPr>
          <p:spPr bwMode="auto">
            <a:xfrm>
              <a:off x="2109" y="3748"/>
              <a:ext cx="862" cy="277"/>
            </a:xfrm>
            <a:prstGeom prst="rect">
              <a:avLst/>
            </a:prstGeom>
            <a:solidFill>
              <a:srgbClr val="FF9933"/>
            </a:solidFill>
            <a:ln w="12700">
              <a:noFill/>
              <a:miter lim="800000"/>
              <a:headEnd/>
              <a:tailEnd/>
            </a:ln>
          </p:spPr>
          <p:txBody>
            <a:bodyPr lIns="90488" tIns="44450" rIns="90488" bIns="44450">
              <a:spAutoFit/>
            </a:bodyPr>
            <a:lstStyle/>
            <a:p>
              <a:pPr eaLnBrk="0" hangingPunct="0"/>
              <a:r>
                <a:rPr kumimoji="1" lang="zh-CN" altLang="en-US" sz="2300" b="1">
                  <a:solidFill>
                    <a:srgbClr val="FFFF66"/>
                  </a:solidFill>
                </a:rPr>
                <a:t>拒绝</a:t>
              </a:r>
              <a:r>
                <a:rPr kumimoji="1" lang="en-US" altLang="zh-CN" sz="2300" b="1" i="1">
                  <a:solidFill>
                    <a:srgbClr val="FFFF66"/>
                  </a:solidFill>
                  <a:latin typeface="Times New Roman" pitchFamily="18" charset="0"/>
                </a:rPr>
                <a:t>H</a:t>
              </a:r>
              <a:r>
                <a:rPr kumimoji="1" lang="en-US" altLang="zh-CN" sz="2300" b="1" baseline="-25000">
                  <a:solidFill>
                    <a:srgbClr val="FFFF66"/>
                  </a:solidFill>
                </a:rPr>
                <a:t>0</a:t>
              </a:r>
              <a:endParaRPr kumimoji="1" lang="en-US" altLang="zh-CN" sz="2300" b="1">
                <a:solidFill>
                  <a:srgbClr val="FFFF66"/>
                </a:solidFill>
              </a:endParaRPr>
            </a:p>
          </p:txBody>
        </p:sp>
        <p:sp>
          <p:nvSpPr>
            <p:cNvPr id="119835" name="Rectangle 10"/>
            <p:cNvSpPr>
              <a:spLocks noChangeArrowheads="1"/>
            </p:cNvSpPr>
            <p:nvPr/>
          </p:nvSpPr>
          <p:spPr bwMode="auto">
            <a:xfrm>
              <a:off x="793" y="3743"/>
              <a:ext cx="1180" cy="277"/>
            </a:xfrm>
            <a:prstGeom prst="rect">
              <a:avLst/>
            </a:prstGeom>
            <a:solidFill>
              <a:schemeClr val="accent6">
                <a:lumMod val="75000"/>
              </a:schemeClr>
            </a:solidFill>
            <a:ln w="12700">
              <a:noFill/>
              <a:miter lim="800000"/>
              <a:headEnd/>
              <a:tailEnd/>
            </a:ln>
          </p:spPr>
          <p:txBody>
            <a:bodyPr lIns="90488" tIns="44450" rIns="90488" bIns="44450">
              <a:spAutoFit/>
            </a:bodyPr>
            <a:lstStyle/>
            <a:p>
              <a:pPr eaLnBrk="0" hangingPunct="0"/>
              <a:r>
                <a:rPr kumimoji="1" lang="zh-CN" altLang="en-US" sz="2300" b="1">
                  <a:solidFill>
                    <a:srgbClr val="FFFF66"/>
                  </a:solidFill>
                </a:rPr>
                <a:t>不能拒绝</a:t>
              </a:r>
              <a:r>
                <a:rPr kumimoji="1" lang="en-US" altLang="zh-CN" sz="2300" b="1" i="1">
                  <a:solidFill>
                    <a:srgbClr val="FFFF66"/>
                  </a:solidFill>
                  <a:latin typeface="Times New Roman" pitchFamily="18" charset="0"/>
                </a:rPr>
                <a:t>H</a:t>
              </a:r>
              <a:r>
                <a:rPr kumimoji="1" lang="en-US" altLang="zh-CN" sz="2300" b="1" baseline="-25000">
                  <a:solidFill>
                    <a:srgbClr val="FFFF66"/>
                  </a:solidFill>
                </a:rPr>
                <a:t>0</a:t>
              </a:r>
              <a:endParaRPr kumimoji="1" lang="en-US" altLang="zh-CN" sz="2300" b="1">
                <a:solidFill>
                  <a:srgbClr val="FFFF66"/>
                </a:solidFill>
              </a:endParaRPr>
            </a:p>
          </p:txBody>
        </p:sp>
        <p:sp>
          <p:nvSpPr>
            <p:cNvPr id="119836" name="Line 11"/>
            <p:cNvSpPr>
              <a:spLocks noChangeShapeType="1"/>
            </p:cNvSpPr>
            <p:nvPr/>
          </p:nvSpPr>
          <p:spPr bwMode="auto">
            <a:xfrm flipH="1">
              <a:off x="839" y="3657"/>
              <a:ext cx="1180" cy="0"/>
            </a:xfrm>
            <a:prstGeom prst="line">
              <a:avLst/>
            </a:prstGeom>
            <a:noFill/>
            <a:ln w="57150">
              <a:solidFill>
                <a:srgbClr val="00B050"/>
              </a:solidFill>
              <a:round/>
              <a:headEnd/>
              <a:tailEnd type="triangle" w="med" len="med"/>
            </a:ln>
          </p:spPr>
          <p:txBody>
            <a:bodyPr/>
            <a:lstStyle/>
            <a:p>
              <a:endParaRPr lang="zh-CN" altLang="en-US"/>
            </a:p>
          </p:txBody>
        </p:sp>
      </p:grpSp>
      <p:grpSp>
        <p:nvGrpSpPr>
          <p:cNvPr id="3" name="Group 12"/>
          <p:cNvGrpSpPr>
            <a:grpSpLocks/>
          </p:cNvGrpSpPr>
          <p:nvPr/>
        </p:nvGrpSpPr>
        <p:grpSpPr bwMode="auto">
          <a:xfrm>
            <a:off x="3203575" y="2349501"/>
            <a:ext cx="4491038" cy="2762251"/>
            <a:chOff x="703" y="1389"/>
            <a:chExt cx="2829" cy="1740"/>
          </a:xfrm>
        </p:grpSpPr>
        <p:sp>
          <p:nvSpPr>
            <p:cNvPr id="135181" name="Rectangle 13"/>
            <p:cNvSpPr>
              <a:spLocks noChangeArrowheads="1"/>
            </p:cNvSpPr>
            <p:nvPr/>
          </p:nvSpPr>
          <p:spPr bwMode="auto">
            <a:xfrm>
              <a:off x="2835" y="2115"/>
              <a:ext cx="379" cy="328"/>
            </a:xfrm>
            <a:prstGeom prst="rect">
              <a:avLst/>
            </a:prstGeom>
            <a:solidFill>
              <a:srgbClr val="FF9933"/>
            </a:solidFill>
            <a:ln w="12700">
              <a:noFill/>
              <a:miter lim="800000"/>
              <a:headEnd/>
              <a:tailEnd/>
            </a:ln>
            <a:effectLst/>
          </p:spPr>
          <p:txBody>
            <a:bodyPr lIns="90488" tIns="44450" rIns="90488" bIns="44450">
              <a:spAutoFit/>
            </a:bodyPr>
            <a:lstStyle/>
            <a:p>
              <a:pPr algn="ctr" eaLnBrk="0" hangingPunct="0">
                <a:spcBef>
                  <a:spcPct val="50000"/>
                </a:spcBef>
                <a:defRPr/>
              </a:pPr>
              <a:r>
                <a:rPr kumimoji="1" lang="en-US" altLang="zh-CN" sz="2800" b="1" i="1">
                  <a:latin typeface="Symbol" pitchFamily="18" charset="2"/>
                  <a:ea typeface="宋体" charset="-122"/>
                </a:rPr>
                <a:t>a</a:t>
              </a:r>
            </a:p>
          </p:txBody>
        </p:sp>
        <p:sp>
          <p:nvSpPr>
            <p:cNvPr id="119818" name="Freeform 14"/>
            <p:cNvSpPr>
              <a:spLocks/>
            </p:cNvSpPr>
            <p:nvPr/>
          </p:nvSpPr>
          <p:spPr bwMode="auto">
            <a:xfrm>
              <a:off x="2154" y="2251"/>
              <a:ext cx="1152" cy="576"/>
            </a:xfrm>
            <a:custGeom>
              <a:avLst/>
              <a:gdLst>
                <a:gd name="T0" fmla="*/ 0 w 885"/>
                <a:gd name="T1" fmla="*/ 0 h 491"/>
                <a:gd name="T2" fmla="*/ 0 w 885"/>
                <a:gd name="T3" fmla="*/ 6313 h 491"/>
                <a:gd name="T4" fmla="*/ 60077 w 885"/>
                <a:gd name="T5" fmla="*/ 6313 h 491"/>
                <a:gd name="T6" fmla="*/ 53984 w 885"/>
                <a:gd name="T7" fmla="*/ 6018 h 491"/>
                <a:gd name="T8" fmla="*/ 47790 w 885"/>
                <a:gd name="T9" fmla="*/ 5715 h 491"/>
                <a:gd name="T10" fmla="*/ 42045 w 885"/>
                <a:gd name="T11" fmla="*/ 5341 h 491"/>
                <a:gd name="T12" fmla="*/ 36523 w 885"/>
                <a:gd name="T13" fmla="*/ 4932 h 491"/>
                <a:gd name="T14" fmla="*/ 31262 w 885"/>
                <a:gd name="T15" fmla="*/ 4521 h 491"/>
                <a:gd name="T16" fmla="*/ 26150 w 885"/>
                <a:gd name="T17" fmla="*/ 4055 h 491"/>
                <a:gd name="T18" fmla="*/ 21557 w 885"/>
                <a:gd name="T19" fmla="*/ 3555 h 491"/>
                <a:gd name="T20" fmla="*/ 16932 w 885"/>
                <a:gd name="T21" fmla="*/ 3021 h 491"/>
                <a:gd name="T22" fmla="*/ 12885 w 885"/>
                <a:gd name="T23" fmla="*/ 2473 h 491"/>
                <a:gd name="T24" fmla="*/ 9075 w 885"/>
                <a:gd name="T25" fmla="*/ 1879 h 491"/>
                <a:gd name="T26" fmla="*/ 5738 w 885"/>
                <a:gd name="T27" fmla="*/ 1285 h 491"/>
                <a:gd name="T28" fmla="*/ 2741 w 885"/>
                <a:gd name="T29" fmla="*/ 643 h 491"/>
                <a:gd name="T30" fmla="*/ 0 w 885"/>
                <a:gd name="T31" fmla="*/ 0 h 49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885"/>
                <a:gd name="T49" fmla="*/ 0 h 491"/>
                <a:gd name="T50" fmla="*/ 885 w 885"/>
                <a:gd name="T51" fmla="*/ 491 h 491"/>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885" h="491">
                  <a:moveTo>
                    <a:pt x="0" y="0"/>
                  </a:moveTo>
                  <a:lnTo>
                    <a:pt x="0" y="490"/>
                  </a:lnTo>
                  <a:lnTo>
                    <a:pt x="884" y="490"/>
                  </a:lnTo>
                  <a:lnTo>
                    <a:pt x="794" y="468"/>
                  </a:lnTo>
                  <a:lnTo>
                    <a:pt x="704" y="444"/>
                  </a:lnTo>
                  <a:lnTo>
                    <a:pt x="619" y="415"/>
                  </a:lnTo>
                  <a:lnTo>
                    <a:pt x="537" y="384"/>
                  </a:lnTo>
                  <a:lnTo>
                    <a:pt x="460" y="352"/>
                  </a:lnTo>
                  <a:lnTo>
                    <a:pt x="385" y="315"/>
                  </a:lnTo>
                  <a:lnTo>
                    <a:pt x="317" y="276"/>
                  </a:lnTo>
                  <a:lnTo>
                    <a:pt x="249" y="234"/>
                  </a:lnTo>
                  <a:lnTo>
                    <a:pt x="190" y="192"/>
                  </a:lnTo>
                  <a:lnTo>
                    <a:pt x="134" y="146"/>
                  </a:lnTo>
                  <a:lnTo>
                    <a:pt x="85" y="100"/>
                  </a:lnTo>
                  <a:lnTo>
                    <a:pt x="40" y="50"/>
                  </a:lnTo>
                  <a:lnTo>
                    <a:pt x="0" y="0"/>
                  </a:lnTo>
                </a:path>
              </a:pathLst>
            </a:custGeom>
            <a:solidFill>
              <a:srgbClr val="FF9933"/>
            </a:solidFill>
            <a:ln w="12700" cap="rnd">
              <a:noFill/>
              <a:round/>
              <a:headEnd/>
              <a:tailEnd/>
            </a:ln>
          </p:spPr>
          <p:txBody>
            <a:bodyPr/>
            <a:lstStyle/>
            <a:p>
              <a:endParaRPr lang="zh-CN" altLang="en-US"/>
            </a:p>
          </p:txBody>
        </p:sp>
        <p:grpSp>
          <p:nvGrpSpPr>
            <p:cNvPr id="4" name="Group 15"/>
            <p:cNvGrpSpPr>
              <a:grpSpLocks/>
            </p:cNvGrpSpPr>
            <p:nvPr/>
          </p:nvGrpSpPr>
          <p:grpSpPr bwMode="auto">
            <a:xfrm>
              <a:off x="748" y="1434"/>
              <a:ext cx="2595" cy="1361"/>
              <a:chOff x="2683" y="1560"/>
              <a:chExt cx="2737" cy="1318"/>
            </a:xfrm>
          </p:grpSpPr>
          <p:sp>
            <p:nvSpPr>
              <p:cNvPr id="119827" name="Freeform 16"/>
              <p:cNvSpPr>
                <a:spLocks/>
              </p:cNvSpPr>
              <p:nvPr/>
            </p:nvSpPr>
            <p:spPr bwMode="auto">
              <a:xfrm>
                <a:off x="3230" y="1560"/>
                <a:ext cx="2190" cy="1318"/>
              </a:xfrm>
              <a:custGeom>
                <a:avLst/>
                <a:gdLst>
                  <a:gd name="T0" fmla="*/ 2189 w 2190"/>
                  <a:gd name="T1" fmla="*/ 1317 h 1318"/>
                  <a:gd name="T2" fmla="*/ 1959 w 2190"/>
                  <a:gd name="T3" fmla="*/ 1300 h 1318"/>
                  <a:gd name="T4" fmla="*/ 1844 w 2190"/>
                  <a:gd name="T5" fmla="*/ 1286 h 1318"/>
                  <a:gd name="T6" fmla="*/ 1729 w 2190"/>
                  <a:gd name="T7" fmla="*/ 1264 h 1318"/>
                  <a:gd name="T8" fmla="*/ 1614 w 2190"/>
                  <a:gd name="T9" fmla="*/ 1235 h 1318"/>
                  <a:gd name="T10" fmla="*/ 1498 w 2190"/>
                  <a:gd name="T11" fmla="*/ 1194 h 1318"/>
                  <a:gd name="T12" fmla="*/ 1383 w 2190"/>
                  <a:gd name="T13" fmla="*/ 1140 h 1318"/>
                  <a:gd name="T14" fmla="*/ 1153 w 2190"/>
                  <a:gd name="T15" fmla="*/ 987 h 1318"/>
                  <a:gd name="T16" fmla="*/ 923 w 2190"/>
                  <a:gd name="T17" fmla="*/ 771 h 1318"/>
                  <a:gd name="T18" fmla="*/ 692 w 2190"/>
                  <a:gd name="T19" fmla="*/ 514 h 1318"/>
                  <a:gd name="T20" fmla="*/ 577 w 2190"/>
                  <a:gd name="T21" fmla="*/ 383 h 1318"/>
                  <a:gd name="T22" fmla="*/ 462 w 2190"/>
                  <a:gd name="T23" fmla="*/ 259 h 1318"/>
                  <a:gd name="T24" fmla="*/ 347 w 2190"/>
                  <a:gd name="T25" fmla="*/ 153 h 1318"/>
                  <a:gd name="T26" fmla="*/ 232 w 2190"/>
                  <a:gd name="T27" fmla="*/ 71 h 1318"/>
                  <a:gd name="T28" fmla="*/ 117 w 2190"/>
                  <a:gd name="T29" fmla="*/ 18 h 1318"/>
                  <a:gd name="T30" fmla="*/ 0 w 2190"/>
                  <a:gd name="T31" fmla="*/ 0 h 131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2190"/>
                  <a:gd name="T49" fmla="*/ 0 h 1318"/>
                  <a:gd name="T50" fmla="*/ 2190 w 2190"/>
                  <a:gd name="T51" fmla="*/ 1318 h 1318"/>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2190" h="1318">
                    <a:moveTo>
                      <a:pt x="2189" y="1317"/>
                    </a:moveTo>
                    <a:lnTo>
                      <a:pt x="1959" y="1300"/>
                    </a:lnTo>
                    <a:lnTo>
                      <a:pt x="1844" y="1286"/>
                    </a:lnTo>
                    <a:lnTo>
                      <a:pt x="1729" y="1264"/>
                    </a:lnTo>
                    <a:lnTo>
                      <a:pt x="1614" y="1235"/>
                    </a:lnTo>
                    <a:lnTo>
                      <a:pt x="1498" y="1194"/>
                    </a:lnTo>
                    <a:lnTo>
                      <a:pt x="1383" y="1140"/>
                    </a:lnTo>
                    <a:lnTo>
                      <a:pt x="1153" y="987"/>
                    </a:lnTo>
                    <a:lnTo>
                      <a:pt x="923" y="771"/>
                    </a:lnTo>
                    <a:lnTo>
                      <a:pt x="692" y="514"/>
                    </a:lnTo>
                    <a:lnTo>
                      <a:pt x="577" y="383"/>
                    </a:lnTo>
                    <a:lnTo>
                      <a:pt x="462" y="259"/>
                    </a:lnTo>
                    <a:lnTo>
                      <a:pt x="347" y="153"/>
                    </a:lnTo>
                    <a:lnTo>
                      <a:pt x="232" y="71"/>
                    </a:lnTo>
                    <a:lnTo>
                      <a:pt x="117" y="18"/>
                    </a:lnTo>
                    <a:lnTo>
                      <a:pt x="0" y="0"/>
                    </a:lnTo>
                  </a:path>
                </a:pathLst>
              </a:custGeom>
              <a:noFill/>
              <a:ln w="50800" cap="rnd">
                <a:solidFill>
                  <a:srgbClr val="FF00FF"/>
                </a:solidFill>
                <a:round/>
                <a:headEnd/>
                <a:tailEnd/>
              </a:ln>
              <a:effectLst>
                <a:prstShdw prst="shdw17" dist="17961" dir="2700000">
                  <a:srgbClr val="990099"/>
                </a:prstShdw>
              </a:effectLst>
            </p:spPr>
            <p:txBody>
              <a:bodyPr/>
              <a:lstStyle/>
              <a:p>
                <a:endParaRPr lang="zh-CN" altLang="en-US"/>
              </a:p>
            </p:txBody>
          </p:sp>
          <p:sp>
            <p:nvSpPr>
              <p:cNvPr id="119828" name="Freeform 17"/>
              <p:cNvSpPr>
                <a:spLocks/>
              </p:cNvSpPr>
              <p:nvPr/>
            </p:nvSpPr>
            <p:spPr bwMode="auto">
              <a:xfrm>
                <a:off x="2683" y="1560"/>
                <a:ext cx="548" cy="1318"/>
              </a:xfrm>
              <a:custGeom>
                <a:avLst/>
                <a:gdLst>
                  <a:gd name="T0" fmla="*/ 0 w 548"/>
                  <a:gd name="T1" fmla="*/ 1317 h 1318"/>
                  <a:gd name="T2" fmla="*/ 59 w 548"/>
                  <a:gd name="T3" fmla="*/ 1300 h 1318"/>
                  <a:gd name="T4" fmla="*/ 88 w 548"/>
                  <a:gd name="T5" fmla="*/ 1286 h 1318"/>
                  <a:gd name="T6" fmla="*/ 117 w 548"/>
                  <a:gd name="T7" fmla="*/ 1264 h 1318"/>
                  <a:gd name="T8" fmla="*/ 144 w 548"/>
                  <a:gd name="T9" fmla="*/ 1235 h 1318"/>
                  <a:gd name="T10" fmla="*/ 174 w 548"/>
                  <a:gd name="T11" fmla="*/ 1194 h 1318"/>
                  <a:gd name="T12" fmla="*/ 203 w 548"/>
                  <a:gd name="T13" fmla="*/ 1140 h 1318"/>
                  <a:gd name="T14" fmla="*/ 261 w 548"/>
                  <a:gd name="T15" fmla="*/ 987 h 1318"/>
                  <a:gd name="T16" fmla="*/ 318 w 548"/>
                  <a:gd name="T17" fmla="*/ 771 h 1318"/>
                  <a:gd name="T18" fmla="*/ 376 w 548"/>
                  <a:gd name="T19" fmla="*/ 514 h 1318"/>
                  <a:gd name="T20" fmla="*/ 403 w 548"/>
                  <a:gd name="T21" fmla="*/ 383 h 1318"/>
                  <a:gd name="T22" fmla="*/ 433 w 548"/>
                  <a:gd name="T23" fmla="*/ 259 h 1318"/>
                  <a:gd name="T24" fmla="*/ 462 w 548"/>
                  <a:gd name="T25" fmla="*/ 153 h 1318"/>
                  <a:gd name="T26" fmla="*/ 491 w 548"/>
                  <a:gd name="T27" fmla="*/ 71 h 1318"/>
                  <a:gd name="T28" fmla="*/ 520 w 548"/>
                  <a:gd name="T29" fmla="*/ 18 h 1318"/>
                  <a:gd name="T30" fmla="*/ 547 w 548"/>
                  <a:gd name="T31" fmla="*/ 0 h 131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548"/>
                  <a:gd name="T49" fmla="*/ 0 h 1318"/>
                  <a:gd name="T50" fmla="*/ 548 w 548"/>
                  <a:gd name="T51" fmla="*/ 1318 h 1318"/>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548" h="1318">
                    <a:moveTo>
                      <a:pt x="0" y="1317"/>
                    </a:moveTo>
                    <a:lnTo>
                      <a:pt x="59" y="1300"/>
                    </a:lnTo>
                    <a:lnTo>
                      <a:pt x="88" y="1286"/>
                    </a:lnTo>
                    <a:lnTo>
                      <a:pt x="117" y="1264"/>
                    </a:lnTo>
                    <a:lnTo>
                      <a:pt x="144" y="1235"/>
                    </a:lnTo>
                    <a:lnTo>
                      <a:pt x="174" y="1194"/>
                    </a:lnTo>
                    <a:lnTo>
                      <a:pt x="203" y="1140"/>
                    </a:lnTo>
                    <a:lnTo>
                      <a:pt x="261" y="987"/>
                    </a:lnTo>
                    <a:lnTo>
                      <a:pt x="318" y="771"/>
                    </a:lnTo>
                    <a:lnTo>
                      <a:pt x="376" y="514"/>
                    </a:lnTo>
                    <a:lnTo>
                      <a:pt x="403" y="383"/>
                    </a:lnTo>
                    <a:lnTo>
                      <a:pt x="433" y="259"/>
                    </a:lnTo>
                    <a:lnTo>
                      <a:pt x="462" y="153"/>
                    </a:lnTo>
                    <a:lnTo>
                      <a:pt x="491" y="71"/>
                    </a:lnTo>
                    <a:lnTo>
                      <a:pt x="520" y="18"/>
                    </a:lnTo>
                    <a:lnTo>
                      <a:pt x="547" y="0"/>
                    </a:lnTo>
                  </a:path>
                </a:pathLst>
              </a:custGeom>
              <a:noFill/>
              <a:ln w="50800" cap="rnd">
                <a:solidFill>
                  <a:srgbClr val="FF00FF"/>
                </a:solidFill>
                <a:round/>
                <a:headEnd/>
                <a:tailEnd/>
              </a:ln>
              <a:effectLst>
                <a:prstShdw prst="shdw17" dist="17961" dir="2700000">
                  <a:srgbClr val="990099"/>
                </a:prstShdw>
              </a:effectLst>
            </p:spPr>
            <p:txBody>
              <a:bodyPr/>
              <a:lstStyle/>
              <a:p>
                <a:endParaRPr lang="zh-CN" altLang="en-US"/>
              </a:p>
            </p:txBody>
          </p:sp>
        </p:grpSp>
        <p:sp>
          <p:nvSpPr>
            <p:cNvPr id="119820" name="Rectangle 18"/>
            <p:cNvSpPr>
              <a:spLocks noChangeArrowheads="1"/>
            </p:cNvSpPr>
            <p:nvPr/>
          </p:nvSpPr>
          <p:spPr bwMode="auto">
            <a:xfrm>
              <a:off x="2301" y="2525"/>
              <a:ext cx="116" cy="58"/>
            </a:xfrm>
            <a:prstGeom prst="rect">
              <a:avLst/>
            </a:prstGeom>
            <a:noFill/>
            <a:ln w="12700">
              <a:noFill/>
              <a:miter lim="800000"/>
              <a:headEnd/>
              <a:tailEnd/>
            </a:ln>
          </p:spPr>
          <p:txBody>
            <a:bodyPr wrap="none" anchor="ctr"/>
            <a:lstStyle/>
            <a:p>
              <a:endParaRPr lang="zh-CN" altLang="en-US"/>
            </a:p>
          </p:txBody>
        </p:sp>
        <p:sp>
          <p:nvSpPr>
            <p:cNvPr id="135187" name="Freeform 19"/>
            <p:cNvSpPr>
              <a:spLocks/>
            </p:cNvSpPr>
            <p:nvPr/>
          </p:nvSpPr>
          <p:spPr bwMode="auto">
            <a:xfrm>
              <a:off x="703" y="1389"/>
              <a:ext cx="2789" cy="1430"/>
            </a:xfrm>
            <a:custGeom>
              <a:avLst/>
              <a:gdLst/>
              <a:ahLst/>
              <a:cxnLst>
                <a:cxn ang="0">
                  <a:pos x="0" y="0"/>
                </a:cxn>
                <a:cxn ang="0">
                  <a:pos x="0" y="1264"/>
                </a:cxn>
                <a:cxn ang="0">
                  <a:pos x="2789" y="1264"/>
                </a:cxn>
              </a:cxnLst>
              <a:rect l="0" t="0" r="r" b="b"/>
              <a:pathLst>
                <a:path w="2790" h="1265">
                  <a:moveTo>
                    <a:pt x="0" y="0"/>
                  </a:moveTo>
                  <a:lnTo>
                    <a:pt x="0" y="1264"/>
                  </a:lnTo>
                  <a:lnTo>
                    <a:pt x="2789" y="1264"/>
                  </a:lnTo>
                </a:path>
              </a:pathLst>
            </a:custGeom>
            <a:noFill/>
            <a:ln w="28575" cap="rnd" cmpd="sng">
              <a:solidFill>
                <a:schemeClr val="tx1"/>
              </a:solidFill>
              <a:prstDash val="solid"/>
              <a:round/>
              <a:headEnd type="triangle" w="med" len="med"/>
              <a:tailEnd type="triangle" w="med" len="med"/>
            </a:ln>
            <a:effectLst>
              <a:outerShdw dist="17961" dir="2700000" algn="ctr" rotWithShape="0">
                <a:schemeClr val="bg2"/>
              </a:outerShdw>
            </a:effectLst>
          </p:spPr>
          <p:txBody>
            <a:bodyPr/>
            <a:lstStyle/>
            <a:p>
              <a:pPr>
                <a:defRPr/>
              </a:pPr>
              <a:endParaRPr lang="zh-CN" altLang="en-US">
                <a:latin typeface="Arial" charset="0"/>
                <a:ea typeface="宋体" charset="-122"/>
              </a:endParaRPr>
            </a:p>
          </p:txBody>
        </p:sp>
        <p:sp>
          <p:nvSpPr>
            <p:cNvPr id="119822" name="Rectangle 20"/>
            <p:cNvSpPr>
              <a:spLocks noChangeArrowheads="1"/>
            </p:cNvSpPr>
            <p:nvPr/>
          </p:nvSpPr>
          <p:spPr bwMode="auto">
            <a:xfrm>
              <a:off x="3288" y="2840"/>
              <a:ext cx="244" cy="289"/>
            </a:xfrm>
            <a:prstGeom prst="rect">
              <a:avLst/>
            </a:prstGeom>
            <a:noFill/>
            <a:ln w="12700">
              <a:noFill/>
              <a:miter lim="800000"/>
              <a:headEnd/>
              <a:tailEnd/>
            </a:ln>
          </p:spPr>
          <p:txBody>
            <a:bodyPr wrap="none" lIns="90488" tIns="44450" rIns="90488" bIns="44450">
              <a:spAutoFit/>
            </a:bodyPr>
            <a:lstStyle/>
            <a:p>
              <a:pPr eaLnBrk="0" hangingPunct="0"/>
              <a:r>
                <a:rPr kumimoji="1" lang="en-US" altLang="zh-CN" sz="2400" b="1" i="1">
                  <a:solidFill>
                    <a:srgbClr val="000000"/>
                  </a:solidFill>
                  <a:latin typeface="Times New Roman" pitchFamily="18" charset="0"/>
                </a:rPr>
                <a:t>F</a:t>
              </a:r>
            </a:p>
          </p:txBody>
        </p:sp>
        <p:sp>
          <p:nvSpPr>
            <p:cNvPr id="119823" name="Line 21"/>
            <p:cNvSpPr>
              <a:spLocks noChangeShapeType="1"/>
            </p:cNvSpPr>
            <p:nvPr/>
          </p:nvSpPr>
          <p:spPr bwMode="auto">
            <a:xfrm flipV="1">
              <a:off x="2563" y="2432"/>
              <a:ext cx="272" cy="272"/>
            </a:xfrm>
            <a:prstGeom prst="line">
              <a:avLst/>
            </a:prstGeom>
            <a:noFill/>
            <a:ln w="38100">
              <a:solidFill>
                <a:srgbClr val="3333FF"/>
              </a:solidFill>
              <a:round/>
              <a:headEnd type="triangle" w="med" len="med"/>
              <a:tailEnd/>
            </a:ln>
          </p:spPr>
          <p:txBody>
            <a:bodyPr/>
            <a:lstStyle/>
            <a:p>
              <a:endParaRPr lang="zh-CN" altLang="en-US"/>
            </a:p>
          </p:txBody>
        </p:sp>
        <p:sp>
          <p:nvSpPr>
            <p:cNvPr id="119824" name="Line 22"/>
            <p:cNvSpPr>
              <a:spLocks noChangeShapeType="1"/>
            </p:cNvSpPr>
            <p:nvPr/>
          </p:nvSpPr>
          <p:spPr bwMode="auto">
            <a:xfrm>
              <a:off x="2154" y="2251"/>
              <a:ext cx="0" cy="544"/>
            </a:xfrm>
            <a:prstGeom prst="line">
              <a:avLst/>
            </a:prstGeom>
            <a:noFill/>
            <a:ln w="57150">
              <a:solidFill>
                <a:srgbClr val="FF0000"/>
              </a:solidFill>
              <a:round/>
              <a:headEnd/>
              <a:tailEnd/>
            </a:ln>
          </p:spPr>
          <p:txBody>
            <a:bodyPr/>
            <a:lstStyle/>
            <a:p>
              <a:endParaRPr lang="zh-CN" altLang="en-US"/>
            </a:p>
          </p:txBody>
        </p:sp>
        <p:sp>
          <p:nvSpPr>
            <p:cNvPr id="119825" name="Rectangle 23"/>
            <p:cNvSpPr>
              <a:spLocks noChangeArrowheads="1"/>
            </p:cNvSpPr>
            <p:nvPr/>
          </p:nvSpPr>
          <p:spPr bwMode="auto">
            <a:xfrm>
              <a:off x="884" y="2750"/>
              <a:ext cx="212" cy="289"/>
            </a:xfrm>
            <a:prstGeom prst="rect">
              <a:avLst/>
            </a:prstGeom>
            <a:noFill/>
            <a:ln w="12700">
              <a:noFill/>
              <a:miter lim="800000"/>
              <a:headEnd/>
              <a:tailEnd/>
            </a:ln>
          </p:spPr>
          <p:txBody>
            <a:bodyPr wrap="none" lIns="90488" tIns="44450" rIns="90488" bIns="44450">
              <a:spAutoFit/>
            </a:bodyPr>
            <a:lstStyle/>
            <a:p>
              <a:pPr eaLnBrk="0" hangingPunct="0"/>
              <a:r>
                <a:rPr kumimoji="1" lang="en-US" altLang="zh-CN" sz="2400" b="1">
                  <a:solidFill>
                    <a:srgbClr val="000000"/>
                  </a:solidFill>
                  <a:latin typeface="Times New Roman" pitchFamily="18" charset="0"/>
                </a:rPr>
                <a:t>0</a:t>
              </a:r>
            </a:p>
          </p:txBody>
        </p:sp>
        <p:sp>
          <p:nvSpPr>
            <p:cNvPr id="135192" name="Rectangle 24"/>
            <p:cNvSpPr>
              <a:spLocks noChangeArrowheads="1"/>
            </p:cNvSpPr>
            <p:nvPr/>
          </p:nvSpPr>
          <p:spPr bwMode="auto">
            <a:xfrm>
              <a:off x="1202" y="2205"/>
              <a:ext cx="771" cy="328"/>
            </a:xfrm>
            <a:prstGeom prst="rect">
              <a:avLst/>
            </a:prstGeom>
            <a:noFill/>
            <a:ln w="12700">
              <a:noFill/>
              <a:miter lim="800000"/>
              <a:headEnd/>
              <a:tailEnd/>
            </a:ln>
            <a:effectLst/>
          </p:spPr>
          <p:txBody>
            <a:bodyPr lIns="90488" tIns="44450" rIns="90488" bIns="44450">
              <a:spAutoFit/>
            </a:bodyPr>
            <a:lstStyle/>
            <a:p>
              <a:pPr eaLnBrk="0" hangingPunct="0">
                <a:spcBef>
                  <a:spcPct val="50000"/>
                </a:spcBef>
                <a:defRPr/>
              </a:pPr>
              <a:r>
                <a:rPr kumimoji="1" lang="en-US" altLang="zh-CN" sz="2800" b="1" i="1" dirty="0">
                  <a:effectLst>
                    <a:outerShdw blurRad="38100" dist="38100" dir="2700000" algn="tl">
                      <a:srgbClr val="C0C0C0"/>
                    </a:outerShdw>
                  </a:effectLst>
                  <a:latin typeface="Symbol" pitchFamily="18" charset="2"/>
                  <a:ea typeface="宋体" charset="-122"/>
                </a:rPr>
                <a:t>1</a:t>
              </a:r>
              <a:r>
                <a:rPr kumimoji="1" lang="zh-CN" altLang="en-US" sz="2800" b="1" i="1" dirty="0">
                  <a:effectLst>
                    <a:outerShdw blurRad="38100" dist="38100" dir="2700000" algn="tl">
                      <a:srgbClr val="C0C0C0"/>
                    </a:outerShdw>
                  </a:effectLst>
                  <a:latin typeface="Symbol" pitchFamily="18" charset="2"/>
                  <a:ea typeface="宋体" charset="-122"/>
                </a:rPr>
                <a:t>－</a:t>
              </a:r>
              <a:r>
                <a:rPr kumimoji="1" lang="en-US" altLang="zh-CN" sz="2800" b="1" i="1" dirty="0">
                  <a:effectLst>
                    <a:outerShdw blurRad="38100" dist="38100" dir="2700000" algn="tl">
                      <a:srgbClr val="C0C0C0"/>
                    </a:outerShdw>
                  </a:effectLst>
                  <a:latin typeface="Symbol" pitchFamily="18" charset="2"/>
                  <a:ea typeface="宋体" charset="-122"/>
                </a:rPr>
                <a:t>a</a:t>
              </a:r>
            </a:p>
          </p:txBody>
        </p:sp>
      </p:grpSp>
      <p:sp>
        <p:nvSpPr>
          <p:cNvPr id="119814" name="AutoShape 25"/>
          <p:cNvSpPr>
            <a:spLocks noChangeArrowheads="1"/>
          </p:cNvSpPr>
          <p:nvPr/>
        </p:nvSpPr>
        <p:spPr bwMode="auto">
          <a:xfrm rot="-317278">
            <a:off x="5795964" y="1484313"/>
            <a:ext cx="4033837" cy="1308100"/>
          </a:xfrm>
          <a:prstGeom prst="cloudCallout">
            <a:avLst>
              <a:gd name="adj1" fmla="val -80028"/>
              <a:gd name="adj2" fmla="val 11236"/>
            </a:avLst>
          </a:prstGeom>
          <a:solidFill>
            <a:schemeClr val="accent1">
              <a:lumMod val="20000"/>
              <a:lumOff val="80000"/>
            </a:schemeClr>
          </a:solidFill>
          <a:ln w="9525">
            <a:solidFill>
              <a:schemeClr val="tx1"/>
            </a:solidFill>
            <a:round/>
            <a:headEnd/>
            <a:tailEnd/>
          </a:ln>
        </p:spPr>
        <p:txBody>
          <a:bodyPr/>
          <a:lstStyle/>
          <a:p>
            <a:pPr algn="ctr" eaLnBrk="0" hangingPunct="0">
              <a:lnSpc>
                <a:spcPct val="110000"/>
              </a:lnSpc>
            </a:pPr>
            <a:r>
              <a:rPr kumimoji="1" lang="zh-CN" altLang="en-US" sz="2400" b="1">
                <a:solidFill>
                  <a:srgbClr val="FF00FF"/>
                </a:solidFill>
                <a:latin typeface="Times New Roman" pitchFamily="18" charset="0"/>
              </a:rPr>
              <a:t>如果总体均值相等</a:t>
            </a:r>
            <a:r>
              <a:rPr kumimoji="1" lang="en-US" altLang="zh-CN" sz="2400" b="1" i="1">
                <a:solidFill>
                  <a:srgbClr val="FF00FF"/>
                </a:solidFill>
                <a:latin typeface="Times New Roman" pitchFamily="18" charset="0"/>
              </a:rPr>
              <a:t>F</a:t>
            </a:r>
            <a:r>
              <a:rPr kumimoji="1" lang="en-US" altLang="zh-CN" sz="2400" b="1">
                <a:solidFill>
                  <a:srgbClr val="FF00FF"/>
                </a:solidFill>
                <a:latin typeface="Times New Roman" pitchFamily="18" charset="0"/>
              </a:rPr>
              <a:t>=</a:t>
            </a:r>
            <a:r>
              <a:rPr kumimoji="1" lang="en-US" altLang="zh-CN" sz="2400" b="1" i="1">
                <a:solidFill>
                  <a:srgbClr val="FF00FF"/>
                </a:solidFill>
                <a:latin typeface="Times New Roman" pitchFamily="18" charset="0"/>
              </a:rPr>
              <a:t>MSA</a:t>
            </a:r>
            <a:r>
              <a:rPr kumimoji="1" lang="en-US" altLang="zh-CN" sz="2400" b="1">
                <a:solidFill>
                  <a:srgbClr val="FF00FF"/>
                </a:solidFill>
                <a:latin typeface="Times New Roman" pitchFamily="18" charset="0"/>
              </a:rPr>
              <a:t>/</a:t>
            </a:r>
            <a:r>
              <a:rPr kumimoji="1" lang="en-US" altLang="zh-CN" sz="2400" b="1" i="1">
                <a:solidFill>
                  <a:srgbClr val="FF00FF"/>
                </a:solidFill>
                <a:latin typeface="Times New Roman" pitchFamily="18" charset="0"/>
              </a:rPr>
              <a:t>MSE</a:t>
            </a:r>
            <a:r>
              <a:rPr kumimoji="1" lang="en-US" altLang="zh-CN" sz="2400" b="1">
                <a:solidFill>
                  <a:srgbClr val="FF00FF"/>
                </a:solidFill>
                <a:latin typeface="Times New Roman" pitchFamily="18" charset="0"/>
                <a:sym typeface="Symbol" pitchFamily="18" charset="2"/>
              </a:rPr>
              <a:t>1</a:t>
            </a:r>
            <a:endParaRPr kumimoji="1" lang="en-US" altLang="zh-CN" sz="2400" b="1">
              <a:solidFill>
                <a:srgbClr val="FF00FF"/>
              </a:solidFill>
              <a:latin typeface="Times New Roman" pitchFamily="18" charset="0"/>
            </a:endParaRPr>
          </a:p>
          <a:p>
            <a:pPr algn="ctr">
              <a:lnSpc>
                <a:spcPct val="110000"/>
              </a:lnSpc>
            </a:pPr>
            <a:endParaRPr lang="en-US" altLang="zh-CN"/>
          </a:p>
        </p:txBody>
      </p:sp>
      <p:sp>
        <p:nvSpPr>
          <p:cNvPr id="119815" name="Rectangle 26"/>
          <p:cNvSpPr>
            <a:spLocks noChangeArrowheads="1"/>
          </p:cNvSpPr>
          <p:nvPr/>
        </p:nvSpPr>
        <p:spPr bwMode="auto">
          <a:xfrm>
            <a:off x="1524001" y="3144322"/>
            <a:ext cx="184731" cy="369332"/>
          </a:xfrm>
          <a:prstGeom prst="rect">
            <a:avLst/>
          </a:prstGeom>
          <a:noFill/>
          <a:ln w="9525">
            <a:noFill/>
            <a:miter lim="800000"/>
            <a:headEnd/>
            <a:tailEnd/>
          </a:ln>
        </p:spPr>
        <p:txBody>
          <a:bodyPr wrap="none" anchor="ctr">
            <a:spAutoFit/>
          </a:bodyPr>
          <a:lstStyle/>
          <a:p>
            <a:endParaRPr lang="zh-CN" altLang="en-US"/>
          </a:p>
        </p:txBody>
      </p:sp>
      <p:sp>
        <p:nvSpPr>
          <p:cNvPr id="119816" name="Rectangle 27"/>
          <p:cNvSpPr>
            <a:spLocks noChangeArrowheads="1"/>
          </p:cNvSpPr>
          <p:nvPr/>
        </p:nvSpPr>
        <p:spPr bwMode="auto">
          <a:xfrm>
            <a:off x="1524001" y="3144322"/>
            <a:ext cx="184731" cy="369332"/>
          </a:xfrm>
          <a:prstGeom prst="rect">
            <a:avLst/>
          </a:prstGeom>
          <a:noFill/>
          <a:ln w="9525">
            <a:noFill/>
            <a:miter lim="800000"/>
            <a:headEnd/>
            <a:tailEnd/>
          </a:ln>
        </p:spPr>
        <p:txBody>
          <a:bodyPr wrap="none" anchor="ctr">
            <a:spAutoFit/>
          </a:bodyPr>
          <a:lstStyle/>
          <a:p>
            <a:endParaRPr lang="zh-CN" altLang="en-US"/>
          </a:p>
        </p:txBody>
      </p:sp>
    </p:spTree>
    <p:extLst>
      <p:ext uri="{BB962C8B-B14F-4D97-AF65-F5344CB8AC3E}">
        <p14:creationId xmlns:p14="http://schemas.microsoft.com/office/powerpoint/2010/main" val="2124682728"/>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5059" name="灯片编号占位符 6"/>
          <p:cNvSpPr>
            <a:spLocks noGrp="1"/>
          </p:cNvSpPr>
          <p:nvPr>
            <p:ph type="sldNum" sz="quarter" idx="10"/>
          </p:nvPr>
        </p:nvSpPr>
        <p:spPr>
          <a:noFill/>
        </p:spPr>
        <p:txBody>
          <a:bodyPr/>
          <a:lstStyle/>
          <a:p>
            <a:r>
              <a:rPr lang="en-US" altLang="zh-CN">
                <a:ea typeface="宋体" pitchFamily="2" charset="-122"/>
              </a:rPr>
              <a:t>8.4--</a:t>
            </a:r>
            <a:fld id="{910764F1-4C23-4B50-93ED-46E615B9F73C}" type="slidenum">
              <a:rPr lang="en-US" altLang="zh-CN" smtClean="0">
                <a:ea typeface="宋体" pitchFamily="2" charset="-122"/>
              </a:rPr>
              <a:pPr/>
              <a:t>102</a:t>
            </a:fld>
            <a:endParaRPr lang="en-US" altLang="zh-CN">
              <a:ea typeface="宋体" pitchFamily="2" charset="-122"/>
            </a:endParaRPr>
          </a:p>
        </p:txBody>
      </p:sp>
      <p:sp>
        <p:nvSpPr>
          <p:cNvPr id="45060" name="Rectangle 2"/>
          <p:cNvSpPr>
            <a:spLocks noGrp="1" noChangeArrowheads="1"/>
          </p:cNvSpPr>
          <p:nvPr>
            <p:ph type="title" idx="4294967295"/>
          </p:nvPr>
        </p:nvSpPr>
        <p:spPr>
          <a:xfrm>
            <a:off x="1219200" y="366713"/>
            <a:ext cx="4758691" cy="990600"/>
          </a:xfrm>
          <a:noFill/>
        </p:spPr>
        <p:txBody>
          <a:bodyPr vert="horz" lIns="90488" tIns="44450" rIns="90488" bIns="44450" rtlCol="0" anchor="ctr" anchorCtr="1">
            <a:normAutofit/>
          </a:bodyPr>
          <a:lstStyle/>
          <a:p>
            <a:r>
              <a:rPr lang="zh-CN" altLang="en-US" sz="3600" b="1" dirty="0">
                <a:solidFill>
                  <a:srgbClr val="0070C0"/>
                </a:solidFill>
                <a:effectLst/>
                <a:latin typeface="Times New Roman" pitchFamily="18" charset="0"/>
              </a:rPr>
              <a:t>作出检验结论</a:t>
            </a:r>
            <a:r>
              <a:rPr lang="zh-CN" altLang="en-US" sz="3600" b="1" dirty="0">
                <a:solidFill>
                  <a:srgbClr val="0070C0"/>
                </a:solidFill>
                <a:effectLst/>
              </a:rPr>
              <a:t> </a:t>
            </a:r>
          </a:p>
        </p:txBody>
      </p:sp>
      <p:sp>
        <p:nvSpPr>
          <p:cNvPr id="45061" name="Rectangle 3"/>
          <p:cNvSpPr>
            <a:spLocks noGrp="1" noChangeArrowheads="1"/>
          </p:cNvSpPr>
          <p:nvPr>
            <p:ph type="body" sz="half" idx="4294967295"/>
          </p:nvPr>
        </p:nvSpPr>
        <p:spPr>
          <a:xfrm>
            <a:off x="1546224" y="1257302"/>
            <a:ext cx="8308975" cy="4370387"/>
          </a:xfrm>
          <a:noFill/>
        </p:spPr>
        <p:txBody>
          <a:bodyPr vert="horz" lIns="90488" tIns="44450" rIns="90488" bIns="44450" rtlCol="0">
            <a:normAutofit/>
          </a:bodyPr>
          <a:lstStyle/>
          <a:p>
            <a:pPr marL="0" indent="0" algn="just">
              <a:lnSpc>
                <a:spcPct val="110000"/>
              </a:lnSpc>
              <a:buSzPct val="120000"/>
              <a:buNone/>
            </a:pPr>
            <a:r>
              <a:rPr lang="zh-CN" altLang="en-US" sz="2800" b="1" dirty="0">
                <a:latin typeface="Times New Roman" pitchFamily="18" charset="0"/>
              </a:rPr>
              <a:t>将统计量的值</a:t>
            </a:r>
            <a:r>
              <a:rPr lang="en-US" altLang="zh-CN" sz="2800" b="1" i="1" dirty="0">
                <a:latin typeface="Times New Roman" pitchFamily="18" charset="0"/>
              </a:rPr>
              <a:t>F </a:t>
            </a:r>
            <a:r>
              <a:rPr lang="zh-CN" altLang="en-US" sz="2800" b="1" dirty="0">
                <a:latin typeface="Times New Roman" pitchFamily="18" charset="0"/>
              </a:rPr>
              <a:t>与</a:t>
            </a:r>
            <a:r>
              <a:rPr lang="zh-CN" altLang="en-US" sz="2400" b="1" dirty="0">
                <a:latin typeface="Times New Roman" pitchFamily="18" charset="0"/>
              </a:rPr>
              <a:t>给定</a:t>
            </a:r>
            <a:r>
              <a:rPr lang="zh-CN" altLang="en-US" sz="2400" b="1" i="1" dirty="0">
                <a:latin typeface="Times New Roman" pitchFamily="18" charset="0"/>
                <a:sym typeface="Symbol" pitchFamily="18" charset="2"/>
              </a:rPr>
              <a:t> </a:t>
            </a:r>
            <a:r>
              <a:rPr lang="zh-CN" altLang="en-US" sz="2400" b="1" dirty="0">
                <a:latin typeface="Times New Roman" pitchFamily="18" charset="0"/>
              </a:rPr>
              <a:t>的</a:t>
            </a:r>
            <a:r>
              <a:rPr lang="zh-CN" altLang="en-US" sz="2800" b="1" dirty="0">
                <a:latin typeface="Times New Roman" pitchFamily="18" charset="0"/>
              </a:rPr>
              <a:t>临界值 </a:t>
            </a:r>
            <a:r>
              <a:rPr lang="en-US" altLang="zh-CN" sz="2800" b="1" i="1" dirty="0">
                <a:latin typeface="Times New Roman" pitchFamily="18" charset="0"/>
              </a:rPr>
              <a:t>F</a:t>
            </a:r>
            <a:r>
              <a:rPr lang="en-US" altLang="zh-CN" sz="2800" b="1" i="1" baseline="-25000" dirty="0">
                <a:latin typeface="Times New Roman" pitchFamily="18" charset="0"/>
                <a:sym typeface="Symbol" pitchFamily="18" charset="2"/>
              </a:rPr>
              <a:t></a:t>
            </a:r>
            <a:r>
              <a:rPr lang="en-US" altLang="zh-CN" sz="2800" b="1" dirty="0">
                <a:latin typeface="Times New Roman" pitchFamily="18" charset="0"/>
              </a:rPr>
              <a:t>(k-1,n-k)</a:t>
            </a:r>
            <a:r>
              <a:rPr lang="zh-CN" altLang="en-US" sz="2800" b="1" dirty="0">
                <a:latin typeface="Times New Roman" pitchFamily="18" charset="0"/>
              </a:rPr>
              <a:t>比较</a:t>
            </a:r>
            <a:endParaRPr lang="zh-CN" altLang="en-US" sz="2800" dirty="0">
              <a:latin typeface="Times New Roman" pitchFamily="18" charset="0"/>
            </a:endParaRPr>
          </a:p>
          <a:p>
            <a:pPr marL="444500" lvl="1" indent="0" algn="just">
              <a:lnSpc>
                <a:spcPct val="114000"/>
              </a:lnSpc>
              <a:buSzPct val="120000"/>
              <a:buNone/>
            </a:pPr>
            <a:r>
              <a:rPr lang="zh-CN" altLang="en-US" sz="2600" dirty="0">
                <a:latin typeface="Times New Roman" pitchFamily="18" charset="0"/>
              </a:rPr>
              <a:t>        若</a:t>
            </a:r>
            <a:r>
              <a:rPr lang="en-US" altLang="zh-CN" sz="2600" i="1" dirty="0">
                <a:latin typeface="Times New Roman" pitchFamily="18" charset="0"/>
              </a:rPr>
              <a:t>F</a:t>
            </a:r>
            <a:r>
              <a:rPr lang="en-US" altLang="zh-CN" sz="2600" dirty="0">
                <a:latin typeface="Times New Roman" pitchFamily="18" charset="0"/>
                <a:cs typeface="Times New Roman" pitchFamily="18" charset="0"/>
              </a:rPr>
              <a:t>≥</a:t>
            </a:r>
            <a:r>
              <a:rPr lang="en-US" altLang="zh-CN" sz="2600" i="1" dirty="0">
                <a:latin typeface="Times New Roman" pitchFamily="18" charset="0"/>
              </a:rPr>
              <a:t>F</a:t>
            </a:r>
            <a:r>
              <a:rPr lang="en-US" altLang="zh-CN" sz="2600" baseline="-25000" dirty="0">
                <a:latin typeface="Times New Roman" pitchFamily="18" charset="0"/>
                <a:sym typeface="Symbol" pitchFamily="18" charset="2"/>
              </a:rPr>
              <a:t></a:t>
            </a:r>
            <a:r>
              <a:rPr lang="en-US" altLang="zh-CN" sz="2600" dirty="0">
                <a:latin typeface="Times New Roman" pitchFamily="18" charset="0"/>
              </a:rPr>
              <a:t> </a:t>
            </a:r>
            <a:r>
              <a:rPr lang="zh-CN" altLang="en-US" sz="2600" dirty="0">
                <a:latin typeface="Times New Roman" pitchFamily="18" charset="0"/>
              </a:rPr>
              <a:t>，则拒绝原假设</a:t>
            </a:r>
            <a:r>
              <a:rPr lang="en-US" altLang="zh-CN" sz="2600" i="1" dirty="0">
                <a:latin typeface="Times New Roman" pitchFamily="18" charset="0"/>
              </a:rPr>
              <a:t>H</a:t>
            </a:r>
            <a:r>
              <a:rPr lang="en-US" altLang="zh-CN" sz="2600" baseline="-25000" dirty="0">
                <a:latin typeface="Times New Roman" pitchFamily="18" charset="0"/>
              </a:rPr>
              <a:t>0</a:t>
            </a:r>
            <a:r>
              <a:rPr lang="en-US" altLang="zh-CN" sz="2600" dirty="0">
                <a:latin typeface="Times New Roman" pitchFamily="18" charset="0"/>
              </a:rPr>
              <a:t> </a:t>
            </a:r>
            <a:r>
              <a:rPr lang="zh-CN" altLang="en-US" sz="2600" dirty="0">
                <a:latin typeface="Times New Roman" pitchFamily="18" charset="0"/>
              </a:rPr>
              <a:t>，表明总体均值间的差异是显著的，即所检验因素对观察值有显著影响</a:t>
            </a:r>
            <a:r>
              <a:rPr lang="en-US" altLang="zh-CN" sz="2600" dirty="0">
                <a:latin typeface="Times New Roman" pitchFamily="18" charset="0"/>
              </a:rPr>
              <a:t>;</a:t>
            </a:r>
          </a:p>
          <a:p>
            <a:pPr marL="444500" lvl="1" indent="0" algn="just">
              <a:lnSpc>
                <a:spcPct val="114000"/>
              </a:lnSpc>
              <a:buSzPct val="120000"/>
              <a:buNone/>
            </a:pPr>
            <a:r>
              <a:rPr lang="zh-CN" altLang="en-US" sz="2600" dirty="0">
                <a:latin typeface="Times New Roman" pitchFamily="18" charset="0"/>
              </a:rPr>
              <a:t>        若</a:t>
            </a:r>
            <a:r>
              <a:rPr lang="en-US" altLang="zh-CN" sz="2600" i="1" dirty="0">
                <a:latin typeface="Times New Roman" pitchFamily="18" charset="0"/>
              </a:rPr>
              <a:t>F&lt;F</a:t>
            </a:r>
            <a:r>
              <a:rPr lang="en-US" altLang="zh-CN" sz="2600" baseline="-25000" dirty="0">
                <a:latin typeface="Times New Roman" pitchFamily="18" charset="0"/>
                <a:sym typeface="Symbol" pitchFamily="18" charset="2"/>
              </a:rPr>
              <a:t></a:t>
            </a:r>
            <a:r>
              <a:rPr lang="en-US" altLang="zh-CN" sz="2600" dirty="0">
                <a:latin typeface="Times New Roman" pitchFamily="18" charset="0"/>
              </a:rPr>
              <a:t> </a:t>
            </a:r>
            <a:r>
              <a:rPr lang="zh-CN" altLang="en-US" sz="2600" dirty="0">
                <a:latin typeface="Times New Roman" pitchFamily="18" charset="0"/>
              </a:rPr>
              <a:t>，则不能拒绝原假设</a:t>
            </a:r>
            <a:r>
              <a:rPr lang="en-US" altLang="zh-CN" sz="2600" i="1" dirty="0">
                <a:latin typeface="Times New Roman" pitchFamily="18" charset="0"/>
              </a:rPr>
              <a:t>H</a:t>
            </a:r>
            <a:r>
              <a:rPr lang="en-US" altLang="zh-CN" sz="2600" baseline="-25000" dirty="0">
                <a:latin typeface="Times New Roman" pitchFamily="18" charset="0"/>
              </a:rPr>
              <a:t>0</a:t>
            </a:r>
            <a:r>
              <a:rPr lang="en-US" altLang="zh-CN" sz="2600" dirty="0">
                <a:latin typeface="Times New Roman" pitchFamily="18" charset="0"/>
              </a:rPr>
              <a:t> </a:t>
            </a:r>
            <a:r>
              <a:rPr lang="zh-CN" altLang="en-US" sz="2600" dirty="0">
                <a:latin typeface="Times New Roman" pitchFamily="18" charset="0"/>
              </a:rPr>
              <a:t>，即表明所检验的因素对观察值没有显著影响 。</a:t>
            </a:r>
          </a:p>
          <a:p>
            <a:pPr marL="0" indent="0" algn="just">
              <a:lnSpc>
                <a:spcPct val="110000"/>
              </a:lnSpc>
              <a:buSzPct val="120000"/>
              <a:buNone/>
            </a:pPr>
            <a:r>
              <a:rPr lang="zh-CN" altLang="en-US" sz="2800" b="1" dirty="0">
                <a:latin typeface="Times New Roman" pitchFamily="18" charset="0"/>
              </a:rPr>
              <a:t>或计算出检验的</a:t>
            </a:r>
            <a:r>
              <a:rPr lang="en-US" altLang="zh-CN" sz="2800" b="1" dirty="0">
                <a:latin typeface="Times New Roman" pitchFamily="18" charset="0"/>
              </a:rPr>
              <a:t>P</a:t>
            </a:r>
            <a:r>
              <a:rPr lang="zh-CN" altLang="en-US" sz="2800" b="1" dirty="0">
                <a:latin typeface="Times New Roman" pitchFamily="18" charset="0"/>
              </a:rPr>
              <a:t>值，与给定</a:t>
            </a:r>
            <a:r>
              <a:rPr lang="zh-CN" altLang="en-US" sz="2800" b="1" dirty="0">
                <a:latin typeface="Times New Roman" pitchFamily="18" charset="0"/>
                <a:sym typeface="Symbol" pitchFamily="18" charset="2"/>
              </a:rPr>
              <a:t></a:t>
            </a:r>
            <a:r>
              <a:rPr lang="zh-CN" altLang="en-US" sz="2800" b="1" dirty="0">
                <a:latin typeface="Times New Roman" pitchFamily="18" charset="0"/>
              </a:rPr>
              <a:t>比较，得出结论</a:t>
            </a:r>
            <a:endParaRPr lang="en-US" altLang="zh-CN" sz="2800" b="1" dirty="0">
              <a:latin typeface="Times New Roman" pitchFamily="18" charset="0"/>
            </a:endParaRPr>
          </a:p>
        </p:txBody>
      </p:sp>
      <p:graphicFrame>
        <p:nvGraphicFramePr>
          <p:cNvPr id="45058" name="Object 3"/>
          <p:cNvGraphicFramePr>
            <a:graphicFrameLocks noChangeAspect="1"/>
          </p:cNvGraphicFramePr>
          <p:nvPr>
            <p:extLst>
              <p:ext uri="{D42A27DB-BD31-4B8C-83A1-F6EECF244321}">
                <p14:modId xmlns:p14="http://schemas.microsoft.com/office/powerpoint/2010/main" val="542641785"/>
              </p:ext>
            </p:extLst>
          </p:nvPr>
        </p:nvGraphicFramePr>
        <p:xfrm>
          <a:off x="2263775" y="4538663"/>
          <a:ext cx="4575175" cy="623887"/>
        </p:xfrm>
        <a:graphic>
          <a:graphicData uri="http://schemas.openxmlformats.org/presentationml/2006/ole">
            <mc:AlternateContent xmlns:mc="http://schemas.openxmlformats.org/markup-compatibility/2006">
              <mc:Choice xmlns:v="urn:schemas-microsoft-com:vml" Requires="v">
                <p:oleObj name="Equation" r:id="rId3" imgW="1752480" imgH="215640" progId="Equation.DSMT4">
                  <p:embed/>
                </p:oleObj>
              </mc:Choice>
              <mc:Fallback>
                <p:oleObj name="Equation" r:id="rId3" imgW="1752480" imgH="215640" progId="Equation.DSMT4">
                  <p:embed/>
                  <p:pic>
                    <p:nvPicPr>
                      <p:cNvPr id="45058"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63775" y="4538663"/>
                        <a:ext cx="4575175" cy="623887"/>
                      </a:xfrm>
                      <a:prstGeom prst="rect">
                        <a:avLst/>
                      </a:prstGeom>
                      <a:solidFill>
                        <a:schemeClr val="bg1"/>
                      </a:solidFill>
                    </p:spPr>
                  </p:pic>
                </p:oleObj>
              </mc:Fallback>
            </mc:AlternateContent>
          </a:graphicData>
        </a:graphic>
      </p:graphicFrame>
      <p:sp>
        <p:nvSpPr>
          <p:cNvPr id="45062" name="Text Box 6"/>
          <p:cNvSpPr txBox="1">
            <a:spLocks noChangeArrowheads="1"/>
          </p:cNvSpPr>
          <p:nvPr/>
        </p:nvSpPr>
        <p:spPr bwMode="auto">
          <a:xfrm>
            <a:off x="5694361" y="5399089"/>
            <a:ext cx="4032250" cy="457200"/>
          </a:xfrm>
          <a:prstGeom prst="rect">
            <a:avLst/>
          </a:prstGeom>
          <a:noFill/>
          <a:ln w="9525">
            <a:noFill/>
            <a:miter lim="800000"/>
            <a:headEnd/>
            <a:tailEnd/>
          </a:ln>
        </p:spPr>
        <p:txBody>
          <a:bodyPr>
            <a:spAutoFit/>
          </a:bodyPr>
          <a:lstStyle/>
          <a:p>
            <a:pPr>
              <a:spcBef>
                <a:spcPct val="50000"/>
              </a:spcBef>
              <a:buFontTx/>
              <a:buChar char="•"/>
            </a:pPr>
            <a:r>
              <a:rPr lang="en-US" altLang="zh-CN" sz="2400" b="1" dirty="0">
                <a:latin typeface="Times New Roman" pitchFamily="18" charset="0"/>
              </a:rPr>
              <a:t> </a:t>
            </a:r>
            <a:r>
              <a:rPr lang="en-US" altLang="zh-CN" sz="2400" b="1" i="1" dirty="0">
                <a:solidFill>
                  <a:srgbClr val="FF0000"/>
                </a:solidFill>
                <a:latin typeface="Times New Roman" pitchFamily="18" charset="0"/>
              </a:rPr>
              <a:t>f </a:t>
            </a:r>
            <a:r>
              <a:rPr lang="zh-CN" altLang="en-US" sz="2400" b="1" dirty="0">
                <a:latin typeface="Times New Roman" pitchFamily="18" charset="0"/>
              </a:rPr>
              <a:t>为检验统计量</a:t>
            </a:r>
            <a:r>
              <a:rPr lang="en-US" altLang="zh-CN" sz="2400" b="1" i="1" dirty="0">
                <a:latin typeface="Times New Roman" pitchFamily="18" charset="0"/>
              </a:rPr>
              <a:t>F</a:t>
            </a:r>
            <a:r>
              <a:rPr lang="zh-CN" altLang="en-US" sz="2400" b="1" dirty="0">
                <a:latin typeface="Times New Roman" pitchFamily="18" charset="0"/>
              </a:rPr>
              <a:t>的观察值</a:t>
            </a:r>
          </a:p>
        </p:txBody>
      </p:sp>
      <p:sp>
        <p:nvSpPr>
          <p:cNvPr id="7" name="TextBox 6"/>
          <p:cNvSpPr txBox="1"/>
          <p:nvPr/>
        </p:nvSpPr>
        <p:spPr>
          <a:xfrm>
            <a:off x="7416800" y="4404518"/>
            <a:ext cx="2143125" cy="892175"/>
          </a:xfrm>
          <a:prstGeom prst="rect">
            <a:avLst/>
          </a:prstGeom>
        </p:spPr>
        <p:style>
          <a:lnRef idx="2">
            <a:schemeClr val="accent1"/>
          </a:lnRef>
          <a:fillRef idx="1">
            <a:schemeClr val="lt1"/>
          </a:fillRef>
          <a:effectRef idx="0">
            <a:schemeClr val="accent1"/>
          </a:effectRef>
          <a:fontRef idx="minor">
            <a:schemeClr val="dk1"/>
          </a:fontRef>
        </p:style>
        <p:txBody>
          <a:bodyPr>
            <a:spAutoFit/>
          </a:bodyPr>
          <a:lstStyle/>
          <a:p>
            <a:pPr algn="ctr">
              <a:defRPr/>
            </a:pPr>
            <a:r>
              <a:rPr lang="zh-CN" altLang="en-US" sz="2600" dirty="0"/>
              <a:t>用</a:t>
            </a:r>
            <a:r>
              <a:rPr lang="en-US" altLang="zh-CN" sz="2600" dirty="0"/>
              <a:t>EXCEL</a:t>
            </a:r>
            <a:r>
              <a:rPr lang="zh-CN" altLang="en-US" sz="2600" dirty="0"/>
              <a:t>函数</a:t>
            </a:r>
            <a:r>
              <a:rPr lang="en-US" altLang="zh-CN" sz="2600" dirty="0"/>
              <a:t>FDIST</a:t>
            </a:r>
            <a:r>
              <a:rPr lang="zh-CN" altLang="en-US" sz="2600" dirty="0"/>
              <a:t>求得</a:t>
            </a:r>
          </a:p>
        </p:txBody>
      </p:sp>
    </p:spTree>
    <p:extLst>
      <p:ext uri="{BB962C8B-B14F-4D97-AF65-F5344CB8AC3E}">
        <p14:creationId xmlns:p14="http://schemas.microsoft.com/office/powerpoint/2010/main" val="2697380513"/>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灯片编号占位符 5"/>
          <p:cNvSpPr>
            <a:spLocks noGrp="1"/>
          </p:cNvSpPr>
          <p:nvPr>
            <p:ph type="sldNum" sz="quarter" idx="4294967295"/>
          </p:nvPr>
        </p:nvSpPr>
        <p:spPr>
          <a:noFill/>
        </p:spPr>
        <p:txBody>
          <a:bodyPr/>
          <a:lstStyle/>
          <a:p>
            <a:r>
              <a:rPr lang="en-US" altLang="zh-CN">
                <a:ea typeface="宋体" pitchFamily="2" charset="-122"/>
              </a:rPr>
              <a:t>8.4--</a:t>
            </a:r>
            <a:fld id="{01443175-2B65-4537-8069-1C4F79BDA3D9}" type="slidenum">
              <a:rPr lang="en-US" altLang="zh-CN" smtClean="0">
                <a:ea typeface="宋体" pitchFamily="2" charset="-122"/>
              </a:rPr>
              <a:pPr/>
              <a:t>103</a:t>
            </a:fld>
            <a:endParaRPr lang="en-US" altLang="zh-CN">
              <a:ea typeface="宋体" pitchFamily="2" charset="-122"/>
            </a:endParaRPr>
          </a:p>
        </p:txBody>
      </p:sp>
      <p:sp>
        <p:nvSpPr>
          <p:cNvPr id="120835" name="Rectangle 2"/>
          <p:cNvSpPr>
            <a:spLocks noGrp="1" noChangeArrowheads="1"/>
          </p:cNvSpPr>
          <p:nvPr>
            <p:ph type="title"/>
          </p:nvPr>
        </p:nvSpPr>
        <p:spPr>
          <a:xfrm>
            <a:off x="1881188" y="629209"/>
            <a:ext cx="7772400" cy="990600"/>
          </a:xfrm>
        </p:spPr>
        <p:txBody>
          <a:bodyPr>
            <a:normAutofit/>
          </a:bodyPr>
          <a:lstStyle/>
          <a:p>
            <a:r>
              <a:rPr lang="zh-CN" altLang="en-US" sz="3600" b="1" dirty="0">
                <a:solidFill>
                  <a:srgbClr val="0070C0"/>
                </a:solidFill>
                <a:effectLst/>
              </a:rPr>
              <a:t>方差分析表的基本形式</a:t>
            </a:r>
          </a:p>
        </p:txBody>
      </p:sp>
      <p:graphicFrame>
        <p:nvGraphicFramePr>
          <p:cNvPr id="123907" name="Group 3"/>
          <p:cNvGraphicFramePr>
            <a:graphicFrameLocks noGrp="1"/>
          </p:cNvGraphicFramePr>
          <p:nvPr>
            <p:extLst>
              <p:ext uri="{D42A27DB-BD31-4B8C-83A1-F6EECF244321}">
                <p14:modId xmlns:p14="http://schemas.microsoft.com/office/powerpoint/2010/main" val="625640544"/>
              </p:ext>
            </p:extLst>
          </p:nvPr>
        </p:nvGraphicFramePr>
        <p:xfrm>
          <a:off x="1265238" y="1619809"/>
          <a:ext cx="9890443" cy="4215726"/>
        </p:xfrm>
        <a:graphic>
          <a:graphicData uri="http://schemas.openxmlformats.org/drawingml/2006/table">
            <a:tbl>
              <a:tblPr/>
              <a:tblGrid>
                <a:gridCol w="1448752">
                  <a:extLst>
                    <a:ext uri="{9D8B030D-6E8A-4147-A177-3AD203B41FA5}">
                      <a16:colId xmlns:a16="http://schemas.microsoft.com/office/drawing/2014/main" val="20000"/>
                    </a:ext>
                  </a:extLst>
                </a:gridCol>
                <a:gridCol w="1167986">
                  <a:extLst>
                    <a:ext uri="{9D8B030D-6E8A-4147-A177-3AD203B41FA5}">
                      <a16:colId xmlns:a16="http://schemas.microsoft.com/office/drawing/2014/main" val="20001"/>
                    </a:ext>
                  </a:extLst>
                </a:gridCol>
                <a:gridCol w="1181087">
                  <a:extLst>
                    <a:ext uri="{9D8B030D-6E8A-4147-A177-3AD203B41FA5}">
                      <a16:colId xmlns:a16="http://schemas.microsoft.com/office/drawing/2014/main" val="20002"/>
                    </a:ext>
                  </a:extLst>
                </a:gridCol>
                <a:gridCol w="1261574">
                  <a:extLst>
                    <a:ext uri="{9D8B030D-6E8A-4147-A177-3AD203B41FA5}">
                      <a16:colId xmlns:a16="http://schemas.microsoft.com/office/drawing/2014/main" val="20003"/>
                    </a:ext>
                  </a:extLst>
                </a:gridCol>
                <a:gridCol w="1904963">
                  <a:extLst>
                    <a:ext uri="{9D8B030D-6E8A-4147-A177-3AD203B41FA5}">
                      <a16:colId xmlns:a16="http://schemas.microsoft.com/office/drawing/2014/main" val="20004"/>
                    </a:ext>
                  </a:extLst>
                </a:gridCol>
                <a:gridCol w="1396843">
                  <a:extLst>
                    <a:ext uri="{9D8B030D-6E8A-4147-A177-3AD203B41FA5}">
                      <a16:colId xmlns:a16="http://schemas.microsoft.com/office/drawing/2014/main" val="20005"/>
                    </a:ext>
                  </a:extLst>
                </a:gridCol>
                <a:gridCol w="1529238">
                  <a:extLst>
                    <a:ext uri="{9D8B030D-6E8A-4147-A177-3AD203B41FA5}">
                      <a16:colId xmlns:a16="http://schemas.microsoft.com/office/drawing/2014/main" val="20006"/>
                    </a:ext>
                  </a:extLst>
                </a:gridCol>
              </a:tblGrid>
              <a:tr h="1272773">
                <a:tc>
                  <a:txBody>
                    <a:bodyPr/>
                    <a:lstStyle/>
                    <a:p>
                      <a:pPr marL="0" marR="0" lvl="0" indent="0" algn="ctr" defTabSz="914400" rtl="0" eaLnBrk="1" fontAlgn="base" latinLnBrk="0" hangingPunct="1">
                        <a:lnSpc>
                          <a:spcPct val="100000"/>
                        </a:lnSpc>
                        <a:spcBef>
                          <a:spcPct val="0"/>
                        </a:spcBef>
                        <a:spcAft>
                          <a:spcPct val="5000"/>
                        </a:spcAft>
                        <a:buClrTx/>
                        <a:buSzTx/>
                        <a:buFontTx/>
                        <a:buNone/>
                        <a:tabLst/>
                      </a:pPr>
                      <a:r>
                        <a:rPr kumimoji="0" lang="zh-CN" altLang="en-US" sz="2800" b="1" i="0" u="none" strike="noStrike" cap="none" normalizeH="0" baseline="0" dirty="0">
                          <a:ln>
                            <a:noFill/>
                          </a:ln>
                          <a:solidFill>
                            <a:srgbClr val="000000"/>
                          </a:solidFill>
                          <a:effectLst/>
                          <a:latin typeface="Times New Roman" pitchFamily="18" charset="0"/>
                          <a:ea typeface="宋体" charset="-122"/>
                          <a:cs typeface="Times New Roman" pitchFamily="18" charset="0"/>
                        </a:rPr>
                        <a:t>差异</a:t>
                      </a:r>
                      <a:endParaRPr kumimoji="0" lang="en-US" altLang="zh-CN" sz="2800" b="1" i="0" u="none" strike="noStrike" cap="none" normalizeH="0" baseline="0" dirty="0">
                        <a:ln>
                          <a:noFill/>
                        </a:ln>
                        <a:solidFill>
                          <a:srgbClr val="000000"/>
                        </a:solidFill>
                        <a:effectLst/>
                        <a:latin typeface="Times New Roman" pitchFamily="18" charset="0"/>
                        <a:ea typeface="宋体" charset="-122"/>
                        <a:cs typeface="Times New Roman" pitchFamily="18" charset="0"/>
                      </a:endParaRPr>
                    </a:p>
                    <a:p>
                      <a:pPr marL="0" marR="0" lvl="0" indent="0" algn="ctr" defTabSz="914400" rtl="0" eaLnBrk="1" fontAlgn="base" latinLnBrk="0" hangingPunct="1">
                        <a:lnSpc>
                          <a:spcPct val="100000"/>
                        </a:lnSpc>
                        <a:spcBef>
                          <a:spcPct val="0"/>
                        </a:spcBef>
                        <a:spcAft>
                          <a:spcPct val="5000"/>
                        </a:spcAft>
                        <a:buClrTx/>
                        <a:buSzTx/>
                        <a:buFontTx/>
                        <a:buNone/>
                        <a:tabLst/>
                      </a:pPr>
                      <a:r>
                        <a:rPr kumimoji="0" lang="zh-CN" altLang="en-US" sz="2800" b="1" i="0" u="none" strike="noStrike" cap="none" normalizeH="0" baseline="0" dirty="0">
                          <a:ln>
                            <a:noFill/>
                          </a:ln>
                          <a:solidFill>
                            <a:srgbClr val="000000"/>
                          </a:solidFill>
                          <a:effectLst/>
                          <a:latin typeface="Times New Roman" pitchFamily="18" charset="0"/>
                          <a:ea typeface="宋体" charset="-122"/>
                          <a:cs typeface="Times New Roman" pitchFamily="18" charset="0"/>
                        </a:rPr>
                        <a:t>来源</a:t>
                      </a:r>
                      <a:endParaRPr kumimoji="0" lang="zh-CN" altLang="en-US" sz="2800" b="1" i="0" u="none" strike="noStrike" cap="none" normalizeH="0" baseline="0" dirty="0">
                        <a:ln>
                          <a:noFill/>
                        </a:ln>
                        <a:solidFill>
                          <a:srgbClr val="000000"/>
                        </a:solidFill>
                        <a:effectLst/>
                        <a:latin typeface="Times New Roman" pitchFamily="18" charset="0"/>
                        <a:ea typeface="宋体" charset="-122"/>
                      </a:endParaRPr>
                    </a:p>
                  </a:txBody>
                  <a:tcPr anchor="ct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5000"/>
                        </a:spcAft>
                        <a:buClrTx/>
                        <a:buSzTx/>
                        <a:buFontTx/>
                        <a:buNone/>
                        <a:tabLst/>
                      </a:pPr>
                      <a:r>
                        <a:rPr kumimoji="0" lang="zh-CN" altLang="en-US" sz="2800" b="1" i="0" u="none" strike="noStrike" cap="none" normalizeH="0" baseline="0" dirty="0">
                          <a:ln>
                            <a:noFill/>
                          </a:ln>
                          <a:solidFill>
                            <a:srgbClr val="000000"/>
                          </a:solidFill>
                          <a:effectLst/>
                          <a:latin typeface="Times New Roman" pitchFamily="18" charset="0"/>
                          <a:ea typeface="宋体" charset="-122"/>
                          <a:cs typeface="Times New Roman" pitchFamily="18" charset="0"/>
                        </a:rPr>
                        <a:t>平方和（</a:t>
                      </a:r>
                      <a:r>
                        <a:rPr kumimoji="0" lang="en-US" altLang="zh-CN" sz="2800" b="1" i="0" u="none" strike="noStrike" cap="none" normalizeH="0" baseline="0" dirty="0">
                          <a:ln>
                            <a:noFill/>
                          </a:ln>
                          <a:solidFill>
                            <a:srgbClr val="000000"/>
                          </a:solidFill>
                          <a:effectLst/>
                          <a:latin typeface="Times New Roman" pitchFamily="18" charset="0"/>
                          <a:ea typeface="宋体" charset="-122"/>
                          <a:cs typeface="Times New Roman" pitchFamily="18" charset="0"/>
                        </a:rPr>
                        <a:t>SS</a:t>
                      </a:r>
                      <a:r>
                        <a:rPr kumimoji="0" lang="zh-CN" altLang="en-US" sz="2800" b="1" i="0" u="none" strike="noStrike" cap="none" normalizeH="0" baseline="0" dirty="0">
                          <a:ln>
                            <a:noFill/>
                          </a:ln>
                          <a:solidFill>
                            <a:srgbClr val="000000"/>
                          </a:solidFill>
                          <a:effectLst/>
                          <a:latin typeface="Times New Roman" pitchFamily="18" charset="0"/>
                          <a:ea typeface="宋体" charset="-122"/>
                          <a:cs typeface="Times New Roman" pitchFamily="18" charset="0"/>
                        </a:rPr>
                        <a:t>）</a:t>
                      </a:r>
                      <a:endParaRPr kumimoji="0" lang="zh-CN" altLang="en-US" sz="2800" b="1" i="0" u="none" strike="noStrike" cap="none" normalizeH="0" baseline="0" dirty="0">
                        <a:ln>
                          <a:noFill/>
                        </a:ln>
                        <a:solidFill>
                          <a:srgbClr val="000000"/>
                        </a:solidFill>
                        <a:effectLst/>
                        <a:latin typeface="Times New Roman" pitchFamily="18" charset="0"/>
                        <a:ea typeface="宋体" charset="-122"/>
                      </a:endParaRPr>
                    </a:p>
                  </a:txBody>
                  <a:tcPr marL="0" marR="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5000"/>
                        </a:spcAft>
                        <a:buClrTx/>
                        <a:buSzTx/>
                        <a:buFontTx/>
                        <a:buNone/>
                        <a:tabLst/>
                      </a:pPr>
                      <a:r>
                        <a:rPr kumimoji="0" lang="zh-CN" altLang="en-US" sz="2800" b="1" i="0" u="none" strike="noStrike" cap="none" normalizeH="0" baseline="0" dirty="0">
                          <a:ln>
                            <a:noFill/>
                          </a:ln>
                          <a:solidFill>
                            <a:srgbClr val="000000"/>
                          </a:solidFill>
                          <a:effectLst/>
                          <a:latin typeface="Times New Roman" pitchFamily="18" charset="0"/>
                          <a:ea typeface="宋体" charset="-122"/>
                          <a:cs typeface="Times New Roman" pitchFamily="18" charset="0"/>
                        </a:rPr>
                        <a:t>自由度（</a:t>
                      </a:r>
                      <a:r>
                        <a:rPr kumimoji="0" lang="en-US" altLang="zh-CN" sz="2800" b="1" i="0" u="none" strike="noStrike" cap="none" normalizeH="0" baseline="0" dirty="0" err="1">
                          <a:ln>
                            <a:noFill/>
                          </a:ln>
                          <a:solidFill>
                            <a:srgbClr val="000000"/>
                          </a:solidFill>
                          <a:effectLst/>
                          <a:latin typeface="Times New Roman" pitchFamily="18" charset="0"/>
                          <a:ea typeface="宋体" charset="-122"/>
                          <a:cs typeface="Times New Roman" pitchFamily="18" charset="0"/>
                        </a:rPr>
                        <a:t>df</a:t>
                      </a:r>
                      <a:r>
                        <a:rPr kumimoji="0" lang="zh-CN" altLang="en-US" sz="2800" b="1" i="0" u="none" strike="noStrike" cap="none" normalizeH="0" baseline="0" dirty="0">
                          <a:ln>
                            <a:noFill/>
                          </a:ln>
                          <a:solidFill>
                            <a:srgbClr val="000000"/>
                          </a:solidFill>
                          <a:effectLst/>
                          <a:latin typeface="Times New Roman" pitchFamily="18" charset="0"/>
                          <a:ea typeface="宋体" charset="-122"/>
                          <a:cs typeface="Times New Roman" pitchFamily="18" charset="0"/>
                        </a:rPr>
                        <a:t>）</a:t>
                      </a:r>
                      <a:endParaRPr kumimoji="0" lang="zh-CN" altLang="en-US" sz="2800" b="1" i="0" u="none" strike="noStrike" cap="none" normalizeH="0" baseline="0" dirty="0">
                        <a:ln>
                          <a:noFill/>
                        </a:ln>
                        <a:solidFill>
                          <a:srgbClr val="000000"/>
                        </a:solidFill>
                        <a:effectLst/>
                        <a:latin typeface="Times New Roman" pitchFamily="18" charset="0"/>
                        <a:ea typeface="宋体" charset="-122"/>
                      </a:endParaRPr>
                    </a:p>
                  </a:txBody>
                  <a:tcPr marL="0" marR="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5000"/>
                        </a:spcAft>
                        <a:buClrTx/>
                        <a:buSzTx/>
                        <a:buFontTx/>
                        <a:buNone/>
                        <a:tabLst/>
                      </a:pPr>
                      <a:r>
                        <a:rPr kumimoji="0" lang="zh-CN" altLang="en-US" sz="2800" b="1" i="0" u="none" strike="noStrike" cap="none" normalizeH="0" baseline="0" dirty="0">
                          <a:ln>
                            <a:noFill/>
                          </a:ln>
                          <a:solidFill>
                            <a:srgbClr val="000000"/>
                          </a:solidFill>
                          <a:effectLst/>
                          <a:latin typeface="Times New Roman" pitchFamily="18" charset="0"/>
                          <a:ea typeface="宋体" charset="-122"/>
                          <a:cs typeface="Times New Roman" pitchFamily="18" charset="0"/>
                        </a:rPr>
                        <a:t>方差（</a:t>
                      </a:r>
                      <a:r>
                        <a:rPr kumimoji="0" lang="en-US" altLang="zh-CN" sz="2800" b="1" i="0" u="none" strike="noStrike" cap="none" normalizeH="0" baseline="0" dirty="0">
                          <a:ln>
                            <a:noFill/>
                          </a:ln>
                          <a:solidFill>
                            <a:srgbClr val="000000"/>
                          </a:solidFill>
                          <a:effectLst/>
                          <a:latin typeface="Times New Roman" pitchFamily="18" charset="0"/>
                          <a:ea typeface="宋体" charset="-122"/>
                          <a:cs typeface="Times New Roman" pitchFamily="18" charset="0"/>
                        </a:rPr>
                        <a:t>MS</a:t>
                      </a:r>
                      <a:r>
                        <a:rPr kumimoji="0" lang="zh-CN" altLang="en-US" sz="2800" b="1" i="0" u="none" strike="noStrike" cap="none" normalizeH="0" baseline="0" dirty="0">
                          <a:ln>
                            <a:noFill/>
                          </a:ln>
                          <a:solidFill>
                            <a:srgbClr val="000000"/>
                          </a:solidFill>
                          <a:effectLst/>
                          <a:latin typeface="Times New Roman" pitchFamily="18" charset="0"/>
                          <a:ea typeface="宋体" charset="-122"/>
                          <a:cs typeface="Times New Roman" pitchFamily="18" charset="0"/>
                        </a:rPr>
                        <a:t>）</a:t>
                      </a:r>
                      <a:endParaRPr kumimoji="0" lang="zh-CN" altLang="en-US" sz="2800" b="1" i="0" u="none" strike="noStrike" cap="none" normalizeH="0" baseline="0" dirty="0">
                        <a:ln>
                          <a:noFill/>
                        </a:ln>
                        <a:solidFill>
                          <a:srgbClr val="000000"/>
                        </a:solidFill>
                        <a:effectLst/>
                        <a:latin typeface="Times New Roman" pitchFamily="18" charset="0"/>
                        <a:ea typeface="宋体" charset="-122"/>
                      </a:endParaRPr>
                    </a:p>
                  </a:txBody>
                  <a:tcPr marL="0" marR="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5000"/>
                        </a:spcAft>
                        <a:buClrTx/>
                        <a:buSzTx/>
                        <a:buFontTx/>
                        <a:buNone/>
                        <a:tabLst/>
                      </a:pPr>
                      <a:r>
                        <a:rPr kumimoji="0" lang="en-US" altLang="zh-CN" sz="2800" b="1" i="1" u="none" strike="noStrike" cap="none" normalizeH="0" baseline="0" dirty="0">
                          <a:ln>
                            <a:noFill/>
                          </a:ln>
                          <a:solidFill>
                            <a:srgbClr val="000000"/>
                          </a:solidFill>
                          <a:effectLst/>
                          <a:latin typeface="Times New Roman" pitchFamily="18" charset="0"/>
                          <a:ea typeface="宋体" charset="-122"/>
                          <a:cs typeface="Times New Roman" pitchFamily="18" charset="0"/>
                        </a:rPr>
                        <a:t>F</a:t>
                      </a:r>
                      <a:r>
                        <a:rPr kumimoji="0" lang="zh-CN" altLang="en-US" sz="2800" b="1" i="0" u="none" strike="noStrike" cap="none" normalizeH="0" baseline="0" dirty="0">
                          <a:ln>
                            <a:noFill/>
                          </a:ln>
                          <a:solidFill>
                            <a:srgbClr val="000000"/>
                          </a:solidFill>
                          <a:effectLst/>
                          <a:latin typeface="Times New Roman" pitchFamily="18" charset="0"/>
                          <a:ea typeface="宋体" charset="-122"/>
                          <a:cs typeface="Times New Roman" pitchFamily="18" charset="0"/>
                        </a:rPr>
                        <a:t>值</a:t>
                      </a:r>
                      <a:endParaRPr kumimoji="0" lang="zh-CN" altLang="en-US" sz="2800" b="1" i="0" u="none" strike="noStrike" cap="none" normalizeH="0" baseline="0" dirty="0">
                        <a:ln>
                          <a:noFill/>
                        </a:ln>
                        <a:solidFill>
                          <a:srgbClr val="000000"/>
                        </a:solidFill>
                        <a:effectLst/>
                        <a:latin typeface="Times New Roman" pitchFamily="18" charset="0"/>
                        <a:ea typeface="宋体" charset="-122"/>
                      </a:endParaRPr>
                    </a:p>
                  </a:txBody>
                  <a:tcPr marL="0" marR="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5000"/>
                        </a:spcAft>
                        <a:buClrTx/>
                        <a:buSzTx/>
                        <a:buFontTx/>
                        <a:buNone/>
                        <a:tabLst/>
                      </a:pPr>
                      <a:r>
                        <a:rPr kumimoji="0" lang="en-US" altLang="zh-CN" sz="2800" b="1" i="0" u="none" strike="noStrike" cap="none" normalizeH="0" baseline="0" dirty="0">
                          <a:ln>
                            <a:noFill/>
                          </a:ln>
                          <a:solidFill>
                            <a:srgbClr val="000000"/>
                          </a:solidFill>
                          <a:effectLst/>
                          <a:latin typeface="Times New Roman" pitchFamily="18" charset="0"/>
                          <a:ea typeface="宋体" charset="-122"/>
                          <a:cs typeface="Times New Roman" pitchFamily="18" charset="0"/>
                        </a:rPr>
                        <a:t>P</a:t>
                      </a:r>
                      <a:r>
                        <a:rPr kumimoji="0" lang="zh-CN" altLang="en-US" sz="2800" b="1" i="0" u="none" strike="noStrike" cap="none" normalizeH="0" baseline="0" dirty="0">
                          <a:ln>
                            <a:noFill/>
                          </a:ln>
                          <a:solidFill>
                            <a:srgbClr val="000000"/>
                          </a:solidFill>
                          <a:effectLst/>
                          <a:latin typeface="Times New Roman" pitchFamily="18" charset="0"/>
                          <a:ea typeface="宋体" charset="-122"/>
                          <a:cs typeface="Times New Roman" pitchFamily="18" charset="0"/>
                        </a:rPr>
                        <a:t>值</a:t>
                      </a:r>
                    </a:p>
                    <a:p>
                      <a:pPr marL="0" marR="0" lvl="0" indent="0" algn="ctr" defTabSz="914400" rtl="0" eaLnBrk="1" fontAlgn="base" latinLnBrk="0" hangingPunct="1">
                        <a:lnSpc>
                          <a:spcPct val="100000"/>
                        </a:lnSpc>
                        <a:spcBef>
                          <a:spcPct val="0"/>
                        </a:spcBef>
                        <a:spcAft>
                          <a:spcPct val="5000"/>
                        </a:spcAft>
                        <a:buClrTx/>
                        <a:buSzTx/>
                        <a:buFontTx/>
                        <a:buNone/>
                        <a:tabLst/>
                      </a:pPr>
                      <a:r>
                        <a:rPr kumimoji="0" lang="zh-CN" altLang="en-US" sz="2400" b="1" i="0" u="none" strike="noStrike" cap="none" normalizeH="0" baseline="0" dirty="0">
                          <a:ln>
                            <a:noFill/>
                          </a:ln>
                          <a:solidFill>
                            <a:srgbClr val="000000"/>
                          </a:solidFill>
                          <a:effectLst/>
                          <a:latin typeface="Times New Roman" pitchFamily="18" charset="0"/>
                          <a:ea typeface="宋体" charset="-122"/>
                          <a:cs typeface="Times New Roman" pitchFamily="18" charset="0"/>
                        </a:rPr>
                        <a:t>（</a:t>
                      </a:r>
                      <a:r>
                        <a:rPr kumimoji="0" lang="en-US" altLang="zh-CN" sz="2400" b="1" i="0" u="none" strike="noStrike" cap="none" normalizeH="0" baseline="0" dirty="0">
                          <a:ln>
                            <a:noFill/>
                          </a:ln>
                          <a:solidFill>
                            <a:srgbClr val="000000"/>
                          </a:solidFill>
                          <a:effectLst/>
                          <a:latin typeface="Times New Roman" pitchFamily="18" charset="0"/>
                          <a:ea typeface="宋体" charset="-122"/>
                          <a:cs typeface="Times New Roman" pitchFamily="18" charset="0"/>
                        </a:rPr>
                        <a:t>P-value</a:t>
                      </a:r>
                      <a:r>
                        <a:rPr kumimoji="0" lang="zh-CN" altLang="en-US" sz="2400" b="1" i="0" u="none" strike="noStrike" cap="none" normalizeH="0" baseline="0" dirty="0">
                          <a:ln>
                            <a:noFill/>
                          </a:ln>
                          <a:solidFill>
                            <a:srgbClr val="000000"/>
                          </a:solidFill>
                          <a:effectLst/>
                          <a:latin typeface="Times New Roman" pitchFamily="18" charset="0"/>
                          <a:ea typeface="宋体" charset="-122"/>
                          <a:cs typeface="Times New Roman" pitchFamily="18" charset="0"/>
                        </a:rPr>
                        <a:t>）</a:t>
                      </a:r>
                    </a:p>
                  </a:txBody>
                  <a:tcPr marL="0" marR="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5000"/>
                        </a:spcAft>
                        <a:buClrTx/>
                        <a:buSzTx/>
                        <a:buFontTx/>
                        <a:buNone/>
                        <a:tabLst/>
                      </a:pPr>
                      <a:r>
                        <a:rPr kumimoji="0" lang="en-US" altLang="zh-CN" sz="2800" b="1" i="1" u="none" strike="noStrike" cap="none" normalizeH="0" baseline="0" dirty="0">
                          <a:ln>
                            <a:noFill/>
                          </a:ln>
                          <a:solidFill>
                            <a:srgbClr val="000000"/>
                          </a:solidFill>
                          <a:effectLst/>
                          <a:latin typeface="Times New Roman" pitchFamily="18" charset="0"/>
                          <a:ea typeface="宋体" charset="-122"/>
                          <a:cs typeface="Times New Roman" pitchFamily="18" charset="0"/>
                        </a:rPr>
                        <a:t>F</a:t>
                      </a:r>
                      <a:r>
                        <a:rPr kumimoji="0" lang="zh-CN" altLang="en-US" sz="2800" b="1" i="0" u="none" strike="noStrike" cap="none" normalizeH="0" baseline="0" dirty="0">
                          <a:ln>
                            <a:noFill/>
                          </a:ln>
                          <a:solidFill>
                            <a:srgbClr val="000000"/>
                          </a:solidFill>
                          <a:effectLst/>
                          <a:latin typeface="Times New Roman" pitchFamily="18" charset="0"/>
                          <a:ea typeface="宋体" charset="-122"/>
                          <a:cs typeface="Times New Roman" pitchFamily="18" charset="0"/>
                        </a:rPr>
                        <a:t>临界值（</a:t>
                      </a:r>
                      <a:r>
                        <a:rPr kumimoji="0" lang="en-US" altLang="zh-CN" sz="2800" b="1" i="1" u="none" strike="noStrike" cap="none" normalizeH="0" baseline="0" dirty="0">
                          <a:ln>
                            <a:noFill/>
                          </a:ln>
                          <a:solidFill>
                            <a:srgbClr val="000000"/>
                          </a:solidFill>
                          <a:effectLst/>
                          <a:latin typeface="Times New Roman" pitchFamily="18" charset="0"/>
                          <a:ea typeface="宋体" charset="-122"/>
                          <a:cs typeface="Times New Roman" pitchFamily="18" charset="0"/>
                        </a:rPr>
                        <a:t>F</a:t>
                      </a:r>
                      <a:r>
                        <a:rPr kumimoji="0" lang="en-US" altLang="zh-CN" sz="2800" b="1" i="0" u="none" strike="noStrike" cap="none" normalizeH="0" baseline="0" dirty="0">
                          <a:ln>
                            <a:noFill/>
                          </a:ln>
                          <a:solidFill>
                            <a:srgbClr val="000000"/>
                          </a:solidFill>
                          <a:effectLst/>
                          <a:latin typeface="Times New Roman" pitchFamily="18" charset="0"/>
                          <a:ea typeface="宋体" charset="-122"/>
                          <a:cs typeface="Times New Roman" pitchFamily="18" charset="0"/>
                        </a:rPr>
                        <a:t> </a:t>
                      </a:r>
                      <a:r>
                        <a:rPr kumimoji="0" lang="en-US" altLang="zh-CN" sz="2800" b="1" i="1" u="none" strike="noStrike" cap="none" normalizeH="0" baseline="0" dirty="0" err="1">
                          <a:ln>
                            <a:noFill/>
                          </a:ln>
                          <a:solidFill>
                            <a:srgbClr val="000000"/>
                          </a:solidFill>
                          <a:effectLst/>
                          <a:latin typeface="Times New Roman" pitchFamily="18" charset="0"/>
                          <a:ea typeface="宋体" charset="-122"/>
                          <a:cs typeface="Times New Roman" pitchFamily="18" charset="0"/>
                        </a:rPr>
                        <a:t>crit</a:t>
                      </a:r>
                      <a:r>
                        <a:rPr kumimoji="0" lang="zh-CN" altLang="en-US" sz="2800" b="1" i="0" u="none" strike="noStrike" cap="none" normalizeH="0" baseline="0" dirty="0">
                          <a:ln>
                            <a:noFill/>
                          </a:ln>
                          <a:solidFill>
                            <a:srgbClr val="000000"/>
                          </a:solidFill>
                          <a:effectLst/>
                          <a:latin typeface="Times New Roman" pitchFamily="18" charset="0"/>
                          <a:ea typeface="宋体" charset="-122"/>
                          <a:cs typeface="Times New Roman" pitchFamily="18" charset="0"/>
                        </a:rPr>
                        <a:t>）</a:t>
                      </a:r>
                      <a:endParaRPr kumimoji="0" lang="zh-CN" altLang="en-US" sz="2800" b="1" i="0" u="none" strike="noStrike" cap="none" normalizeH="0" baseline="0" dirty="0">
                        <a:ln>
                          <a:noFill/>
                        </a:ln>
                        <a:solidFill>
                          <a:srgbClr val="000000"/>
                        </a:solidFill>
                        <a:effectLst/>
                        <a:latin typeface="Times New Roman" pitchFamily="18" charset="0"/>
                        <a:ea typeface="宋体" charset="-122"/>
                      </a:endParaRPr>
                    </a:p>
                  </a:txBody>
                  <a:tcPr marL="0" marR="0" anchor="ct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06045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3200" b="1" i="0" u="none" strike="noStrike" cap="none" normalizeH="0" baseline="0" dirty="0">
                          <a:ln>
                            <a:noFill/>
                          </a:ln>
                          <a:solidFill>
                            <a:srgbClr val="C00000"/>
                          </a:solidFill>
                          <a:effectLst/>
                          <a:latin typeface="Times New Roman" pitchFamily="18" charset="0"/>
                          <a:ea typeface="宋体" charset="-122"/>
                          <a:cs typeface="Times New Roman" pitchFamily="18" charset="0"/>
                        </a:rPr>
                        <a:t>组间</a:t>
                      </a:r>
                      <a:endParaRPr kumimoji="0" lang="zh-CN" altLang="en-US" sz="3200" b="1" i="0" u="none" strike="noStrike" cap="none" normalizeH="0" baseline="0" dirty="0">
                        <a:ln>
                          <a:noFill/>
                        </a:ln>
                        <a:solidFill>
                          <a:srgbClr val="C00000"/>
                        </a:solidFill>
                        <a:effectLst/>
                        <a:latin typeface="Times New Roman" pitchFamily="18" charset="0"/>
                        <a:ea typeface="宋体" charset="-122"/>
                      </a:endParaRPr>
                    </a:p>
                  </a:txBody>
                  <a:tcPr anchor="ct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3200" b="1" i="1" u="none" strike="noStrike" cap="none" normalizeH="0" baseline="0" dirty="0">
                          <a:ln>
                            <a:noFill/>
                          </a:ln>
                          <a:solidFill>
                            <a:srgbClr val="000000"/>
                          </a:solidFill>
                          <a:effectLst/>
                          <a:latin typeface="Times New Roman" pitchFamily="18" charset="0"/>
                          <a:ea typeface="宋体" charset="-122"/>
                          <a:cs typeface="Times New Roman" pitchFamily="18" charset="0"/>
                        </a:rPr>
                        <a:t>SSA</a:t>
                      </a:r>
                      <a:endParaRPr kumimoji="0" lang="en-US" altLang="zh-CN" sz="3200" b="1" i="0" u="none" strike="noStrike" cap="none" normalizeH="0" baseline="0" dirty="0">
                        <a:ln>
                          <a:noFill/>
                        </a:ln>
                        <a:solidFill>
                          <a:srgbClr val="000000"/>
                        </a:solidFill>
                        <a:effectLst/>
                        <a:latin typeface="Times New Roman" pitchFamily="18" charset="0"/>
                        <a:ea typeface="宋体"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3600" b="1" i="1" u="none" strike="noStrike" cap="none" normalizeH="0" baseline="0" dirty="0">
                          <a:ln>
                            <a:noFill/>
                          </a:ln>
                          <a:solidFill>
                            <a:srgbClr val="000000"/>
                          </a:solidFill>
                          <a:effectLst/>
                          <a:latin typeface="Times New Roman" pitchFamily="18" charset="0"/>
                          <a:ea typeface="宋体" charset="-122"/>
                          <a:cs typeface="Times New Roman" pitchFamily="18" charset="0"/>
                        </a:rPr>
                        <a:t>k-1</a:t>
                      </a:r>
                      <a:endParaRPr kumimoji="0" lang="en-US" altLang="zh-CN" sz="3600" b="1" i="0" u="none" strike="noStrike" cap="none" normalizeH="0" baseline="0" dirty="0">
                        <a:ln>
                          <a:noFill/>
                        </a:ln>
                        <a:solidFill>
                          <a:srgbClr val="000000"/>
                        </a:solidFill>
                        <a:effectLst/>
                        <a:latin typeface="Times New Roman" pitchFamily="18" charset="0"/>
                        <a:ea typeface="宋体"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3200" b="1" i="1" u="none" strike="noStrike" cap="none" normalizeH="0" baseline="0">
                          <a:ln>
                            <a:noFill/>
                          </a:ln>
                          <a:solidFill>
                            <a:srgbClr val="000000"/>
                          </a:solidFill>
                          <a:effectLst/>
                          <a:latin typeface="Times New Roman" pitchFamily="18" charset="0"/>
                          <a:ea typeface="宋体" charset="-122"/>
                          <a:cs typeface="Times New Roman" pitchFamily="18" charset="0"/>
                        </a:rPr>
                        <a:t>MSA</a:t>
                      </a:r>
                      <a:endParaRPr kumimoji="0" lang="en-US" altLang="zh-CN" sz="3200" b="1" i="0" u="none" strike="noStrike" cap="none" normalizeH="0" baseline="0">
                        <a:ln>
                          <a:noFill/>
                        </a:ln>
                        <a:solidFill>
                          <a:srgbClr val="000000"/>
                        </a:solidFill>
                        <a:effectLst/>
                        <a:latin typeface="Times New Roman" pitchFamily="18" charset="0"/>
                        <a:ea typeface="宋体"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3200" b="1" i="1" u="none" strike="noStrike" cap="none" normalizeH="0" baseline="0">
                          <a:ln>
                            <a:noFill/>
                          </a:ln>
                          <a:solidFill>
                            <a:srgbClr val="000000"/>
                          </a:solidFill>
                          <a:effectLst/>
                          <a:latin typeface="Times New Roman" pitchFamily="18" charset="0"/>
                          <a:ea typeface="宋体" charset="-122"/>
                          <a:cs typeface="Times New Roman" pitchFamily="18" charset="0"/>
                        </a:rPr>
                        <a:t>MSA/MSE</a:t>
                      </a:r>
                      <a:endParaRPr kumimoji="0" lang="en-US" altLang="zh-CN" sz="3200" b="1" i="0" u="none" strike="noStrike" cap="none" normalizeH="0" baseline="0">
                        <a:ln>
                          <a:noFill/>
                        </a:ln>
                        <a:solidFill>
                          <a:srgbClr val="000000"/>
                        </a:solidFill>
                        <a:effectLst/>
                        <a:latin typeface="Times New Roman" pitchFamily="18" charset="0"/>
                        <a:ea typeface="宋体" charset="-122"/>
                      </a:endParaRPr>
                    </a:p>
                  </a:txBody>
                  <a:tcPr marL="18000" marR="1800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90000"/>
                        <a:buFontTx/>
                        <a:buNone/>
                        <a:tabLst/>
                      </a:pPr>
                      <a:endParaRPr kumimoji="0" lang="zh-CN" altLang="zh-CN" sz="2800" b="1" i="0" u="none" strike="noStrike" cap="none" normalizeH="0" baseline="0" dirty="0">
                        <a:ln>
                          <a:noFill/>
                        </a:ln>
                        <a:solidFill>
                          <a:srgbClr val="000000"/>
                        </a:solidFill>
                        <a:effectLst/>
                        <a:latin typeface="Times New Roman" pitchFamily="18" charset="0"/>
                        <a:ea typeface="宋体"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90000"/>
                        <a:buFontTx/>
                        <a:buNone/>
                        <a:tabLst/>
                      </a:pPr>
                      <a:endParaRPr kumimoji="0" lang="zh-CN" altLang="zh-CN" sz="2800" b="1" i="0" u="none" strike="noStrike" cap="none" normalizeH="0" baseline="0" dirty="0">
                        <a:ln>
                          <a:noFill/>
                        </a:ln>
                        <a:solidFill>
                          <a:srgbClr val="000000"/>
                        </a:solidFill>
                        <a:effectLst/>
                        <a:latin typeface="Times New Roman" pitchFamily="18" charset="0"/>
                        <a:ea typeface="宋体" charset="-122"/>
                      </a:endParaRPr>
                    </a:p>
                  </a:txBody>
                  <a:tcPr anchor="ct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942137">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3200" b="1" i="0" u="none" strike="noStrike" cap="none" normalizeH="0" baseline="0" dirty="0">
                          <a:ln>
                            <a:noFill/>
                          </a:ln>
                          <a:solidFill>
                            <a:srgbClr val="C00000"/>
                          </a:solidFill>
                          <a:effectLst/>
                          <a:latin typeface="Times New Roman" pitchFamily="18" charset="0"/>
                          <a:ea typeface="宋体" charset="-122"/>
                          <a:cs typeface="Times New Roman" pitchFamily="18" charset="0"/>
                        </a:rPr>
                        <a:t>组内</a:t>
                      </a:r>
                      <a:endParaRPr kumimoji="0" lang="zh-CN" altLang="en-US" sz="3200" b="1" i="0" u="none" strike="noStrike" cap="none" normalizeH="0" baseline="0" dirty="0">
                        <a:ln>
                          <a:noFill/>
                        </a:ln>
                        <a:solidFill>
                          <a:srgbClr val="C00000"/>
                        </a:solidFill>
                        <a:effectLst/>
                        <a:latin typeface="Times New Roman" pitchFamily="18" charset="0"/>
                        <a:ea typeface="宋体" charset="-122"/>
                      </a:endParaRPr>
                    </a:p>
                  </a:txBody>
                  <a:tcPr anchor="ctr" horzOverflow="overflow">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3200" b="1" i="1" u="none" strike="noStrike" cap="none" normalizeH="0" baseline="0" dirty="0">
                          <a:ln>
                            <a:noFill/>
                          </a:ln>
                          <a:solidFill>
                            <a:srgbClr val="000000"/>
                          </a:solidFill>
                          <a:effectLst/>
                          <a:latin typeface="Times New Roman" pitchFamily="18" charset="0"/>
                          <a:ea typeface="宋体" charset="-122"/>
                          <a:cs typeface="Times New Roman" pitchFamily="18" charset="0"/>
                        </a:rPr>
                        <a:t>SSE</a:t>
                      </a:r>
                      <a:endParaRPr kumimoji="0" lang="en-US" altLang="zh-CN" sz="3200" b="1" i="0" u="none" strike="noStrike" cap="none" normalizeH="0" baseline="0" dirty="0">
                        <a:ln>
                          <a:noFill/>
                        </a:ln>
                        <a:solidFill>
                          <a:srgbClr val="000000"/>
                        </a:solidFill>
                        <a:effectLst/>
                        <a:latin typeface="Times New Roman" pitchFamily="18" charset="0"/>
                        <a:ea typeface="宋体"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3600" b="1" i="1" u="none" strike="noStrike" cap="none" normalizeH="0" baseline="0" dirty="0">
                          <a:ln>
                            <a:noFill/>
                          </a:ln>
                          <a:solidFill>
                            <a:srgbClr val="000000"/>
                          </a:solidFill>
                          <a:effectLst/>
                          <a:latin typeface="Times New Roman" pitchFamily="18" charset="0"/>
                          <a:ea typeface="宋体" charset="-122"/>
                          <a:cs typeface="Times New Roman" pitchFamily="18" charset="0"/>
                        </a:rPr>
                        <a:t>n-k</a:t>
                      </a:r>
                      <a:endParaRPr kumimoji="0" lang="en-US" altLang="zh-CN" sz="3600" b="1" i="0" u="none" strike="noStrike" cap="none" normalizeH="0" baseline="0" dirty="0">
                        <a:ln>
                          <a:noFill/>
                        </a:ln>
                        <a:solidFill>
                          <a:srgbClr val="000000"/>
                        </a:solidFill>
                        <a:effectLst/>
                        <a:latin typeface="Times New Roman" pitchFamily="18" charset="0"/>
                        <a:ea typeface="宋体"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3200" b="1" i="1" u="none" strike="noStrike" cap="none" normalizeH="0" baseline="0" dirty="0">
                          <a:ln>
                            <a:noFill/>
                          </a:ln>
                          <a:solidFill>
                            <a:srgbClr val="000000"/>
                          </a:solidFill>
                          <a:effectLst/>
                          <a:latin typeface="Times New Roman" pitchFamily="18" charset="0"/>
                          <a:ea typeface="宋体" charset="-122"/>
                          <a:cs typeface="Times New Roman" pitchFamily="18" charset="0"/>
                        </a:rPr>
                        <a:t>MSE</a:t>
                      </a:r>
                      <a:endParaRPr kumimoji="0" lang="en-US" altLang="zh-CN" sz="3200" b="1" i="0" u="none" strike="noStrike" cap="none" normalizeH="0" baseline="0" dirty="0">
                        <a:ln>
                          <a:noFill/>
                        </a:ln>
                        <a:solidFill>
                          <a:srgbClr val="000000"/>
                        </a:solidFill>
                        <a:effectLst/>
                        <a:latin typeface="Times New Roman" pitchFamily="18" charset="0"/>
                        <a:ea typeface="宋体"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90000"/>
                        <a:buFontTx/>
                        <a:buNone/>
                        <a:tabLst/>
                      </a:pPr>
                      <a:endParaRPr kumimoji="0" lang="zh-CN" altLang="zh-CN" sz="3200" b="1" i="0" u="none" strike="noStrike" cap="none" normalizeH="0" baseline="0" dirty="0">
                        <a:ln>
                          <a:noFill/>
                        </a:ln>
                        <a:solidFill>
                          <a:srgbClr val="000000"/>
                        </a:solidFill>
                        <a:effectLst/>
                        <a:latin typeface="Times New Roman" pitchFamily="18" charset="0"/>
                        <a:ea typeface="宋体"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90000"/>
                        <a:buFontTx/>
                        <a:buNone/>
                        <a:tabLst/>
                      </a:pPr>
                      <a:endParaRPr kumimoji="0" lang="zh-CN" altLang="zh-CN" sz="2800" b="1" i="0" u="none" strike="noStrike" cap="none" normalizeH="0" baseline="0">
                        <a:ln>
                          <a:noFill/>
                        </a:ln>
                        <a:solidFill>
                          <a:srgbClr val="000000"/>
                        </a:solidFill>
                        <a:effectLst/>
                        <a:latin typeface="Times New Roman" pitchFamily="18" charset="0"/>
                        <a:ea typeface="宋体"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90000"/>
                        <a:buFontTx/>
                        <a:buNone/>
                        <a:tabLst/>
                      </a:pPr>
                      <a:endParaRPr kumimoji="0" lang="zh-CN" altLang="zh-CN" sz="2800" b="1" i="0" u="none" strike="noStrike" cap="none" normalizeH="0" baseline="0" dirty="0">
                        <a:ln>
                          <a:noFill/>
                        </a:ln>
                        <a:solidFill>
                          <a:srgbClr val="000000"/>
                        </a:solidFill>
                        <a:effectLst/>
                        <a:latin typeface="Times New Roman" pitchFamily="18" charset="0"/>
                        <a:ea typeface="宋体" charset="-122"/>
                      </a:endParaRPr>
                    </a:p>
                  </a:txBody>
                  <a:tcPr anchor="ct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94036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3200" b="1" i="0" u="none" strike="noStrike" cap="none" normalizeH="0" baseline="0">
                          <a:ln>
                            <a:noFill/>
                          </a:ln>
                          <a:solidFill>
                            <a:srgbClr val="000000"/>
                          </a:solidFill>
                          <a:effectLst/>
                          <a:latin typeface="Times New Roman" pitchFamily="18" charset="0"/>
                          <a:ea typeface="宋体" charset="-122"/>
                          <a:cs typeface="Times New Roman" pitchFamily="18" charset="0"/>
                        </a:rPr>
                        <a:t>总计</a:t>
                      </a:r>
                      <a:endParaRPr kumimoji="0" lang="zh-CN" altLang="en-US" sz="3200" b="1" i="0" u="none" strike="noStrike" cap="none" normalizeH="0" baseline="0">
                        <a:ln>
                          <a:noFill/>
                        </a:ln>
                        <a:solidFill>
                          <a:srgbClr val="000000"/>
                        </a:solidFill>
                        <a:effectLst/>
                        <a:latin typeface="Times New Roman" pitchFamily="18" charset="0"/>
                        <a:ea typeface="宋体" charset="-122"/>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3200" b="1" i="1" u="none" strike="noStrike" cap="none" normalizeH="0" baseline="0">
                          <a:ln>
                            <a:noFill/>
                          </a:ln>
                          <a:solidFill>
                            <a:srgbClr val="000000"/>
                          </a:solidFill>
                          <a:effectLst/>
                          <a:latin typeface="Times New Roman" pitchFamily="18" charset="0"/>
                          <a:ea typeface="宋体" charset="-122"/>
                          <a:cs typeface="Times New Roman" pitchFamily="18" charset="0"/>
                        </a:rPr>
                        <a:t>SST</a:t>
                      </a:r>
                      <a:endParaRPr kumimoji="0" lang="en-US" altLang="zh-CN" sz="3200" b="1" i="0" u="none" strike="noStrike" cap="none" normalizeH="0" baseline="0">
                        <a:ln>
                          <a:noFill/>
                        </a:ln>
                        <a:solidFill>
                          <a:srgbClr val="000000"/>
                        </a:solidFill>
                        <a:effectLst/>
                        <a:latin typeface="Times New Roman" pitchFamily="18" charset="0"/>
                        <a:ea typeface="宋体"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3600" b="1" i="1" u="none" strike="noStrike" cap="none" normalizeH="0" baseline="0" dirty="0">
                          <a:ln>
                            <a:noFill/>
                          </a:ln>
                          <a:solidFill>
                            <a:srgbClr val="000000"/>
                          </a:solidFill>
                          <a:effectLst/>
                          <a:latin typeface="Times New Roman" pitchFamily="18" charset="0"/>
                          <a:ea typeface="宋体" charset="-122"/>
                          <a:cs typeface="Times New Roman" pitchFamily="18" charset="0"/>
                        </a:rPr>
                        <a:t>n-1</a:t>
                      </a:r>
                      <a:endParaRPr kumimoji="0" lang="en-US" altLang="zh-CN" sz="3600" b="1" i="0" u="none" strike="noStrike" cap="none" normalizeH="0" baseline="0" dirty="0">
                        <a:ln>
                          <a:noFill/>
                        </a:ln>
                        <a:solidFill>
                          <a:srgbClr val="000000"/>
                        </a:solidFill>
                        <a:effectLst/>
                        <a:latin typeface="Times New Roman" pitchFamily="18" charset="0"/>
                        <a:ea typeface="宋体"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90000"/>
                        <a:buFontTx/>
                        <a:buNone/>
                        <a:tabLst/>
                      </a:pPr>
                      <a:endParaRPr kumimoji="0" lang="zh-CN" altLang="zh-CN" sz="3200" b="1" i="0" u="none" strike="noStrike" cap="none" normalizeH="0" baseline="0">
                        <a:ln>
                          <a:noFill/>
                        </a:ln>
                        <a:solidFill>
                          <a:srgbClr val="000000"/>
                        </a:solidFill>
                        <a:effectLst/>
                        <a:latin typeface="Times New Roman" pitchFamily="18" charset="0"/>
                        <a:ea typeface="宋体"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90000"/>
                        <a:buFontTx/>
                        <a:buNone/>
                        <a:tabLst/>
                      </a:pPr>
                      <a:endParaRPr kumimoji="0" lang="zh-CN" altLang="zh-CN" sz="3200" b="1" i="0" u="none" strike="noStrike" cap="none" normalizeH="0" baseline="0" dirty="0">
                        <a:ln>
                          <a:noFill/>
                        </a:ln>
                        <a:solidFill>
                          <a:srgbClr val="000000"/>
                        </a:solidFill>
                        <a:effectLst/>
                        <a:latin typeface="Times New Roman" pitchFamily="18" charset="0"/>
                        <a:ea typeface="宋体"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90000"/>
                        <a:buFontTx/>
                        <a:buNone/>
                        <a:tabLst/>
                      </a:pPr>
                      <a:endParaRPr kumimoji="0" lang="zh-CN" altLang="zh-CN" sz="2800" b="1" i="0" u="none" strike="noStrike" cap="none" normalizeH="0" baseline="0">
                        <a:ln>
                          <a:noFill/>
                        </a:ln>
                        <a:solidFill>
                          <a:srgbClr val="000000"/>
                        </a:solidFill>
                        <a:effectLst/>
                        <a:latin typeface="Times New Roman" pitchFamily="18" charset="0"/>
                        <a:ea typeface="宋体"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90000"/>
                        <a:buFontTx/>
                        <a:buNone/>
                        <a:tabLst/>
                      </a:pPr>
                      <a:endParaRPr kumimoji="0" lang="zh-CN" altLang="zh-CN" sz="2800" b="1" i="0" u="none" strike="noStrike" cap="none" normalizeH="0" baseline="0" dirty="0">
                        <a:ln>
                          <a:noFill/>
                        </a:ln>
                        <a:solidFill>
                          <a:srgbClr val="000000"/>
                        </a:solidFill>
                        <a:effectLst/>
                        <a:latin typeface="Times New Roman" pitchFamily="18" charset="0"/>
                        <a:ea typeface="宋体" charset="-122"/>
                      </a:endParaRPr>
                    </a:p>
                  </a:txBody>
                  <a:tcPr anchor="ctr" horzOverflow="overflow">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4053501643"/>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灯片编号占位符 5"/>
          <p:cNvSpPr>
            <a:spLocks noGrp="1"/>
          </p:cNvSpPr>
          <p:nvPr>
            <p:ph type="sldNum" sz="quarter" idx="4294967295"/>
          </p:nvPr>
        </p:nvSpPr>
        <p:spPr>
          <a:noFill/>
        </p:spPr>
        <p:txBody>
          <a:bodyPr/>
          <a:lstStyle/>
          <a:p>
            <a:r>
              <a:rPr lang="en-US" altLang="zh-CN">
                <a:ea typeface="宋体" pitchFamily="2" charset="-122"/>
              </a:rPr>
              <a:t>8.4--</a:t>
            </a:r>
            <a:fld id="{8B622C37-B1D5-4ECA-BF95-F70D90DBD97E}" type="slidenum">
              <a:rPr lang="en-US" altLang="zh-CN" smtClean="0">
                <a:ea typeface="宋体" pitchFamily="2" charset="-122"/>
              </a:rPr>
              <a:pPr/>
              <a:t>104</a:t>
            </a:fld>
            <a:endParaRPr lang="en-US" altLang="zh-CN">
              <a:ea typeface="宋体" pitchFamily="2" charset="-122"/>
            </a:endParaRPr>
          </a:p>
        </p:txBody>
      </p:sp>
      <p:sp>
        <p:nvSpPr>
          <p:cNvPr id="121859" name="Rectangle 2"/>
          <p:cNvSpPr>
            <a:spLocks noGrp="1" noChangeArrowheads="1"/>
          </p:cNvSpPr>
          <p:nvPr>
            <p:ph type="title"/>
          </p:nvPr>
        </p:nvSpPr>
        <p:spPr>
          <a:xfrm>
            <a:off x="2208213" y="765175"/>
            <a:ext cx="7772400" cy="990600"/>
          </a:xfrm>
        </p:spPr>
        <p:txBody>
          <a:bodyPr>
            <a:normAutofit/>
          </a:bodyPr>
          <a:lstStyle/>
          <a:p>
            <a:r>
              <a:rPr lang="en-US" altLang="zh-CN" sz="4400" dirty="0">
                <a:solidFill>
                  <a:srgbClr val="0070C0"/>
                </a:solidFill>
              </a:rPr>
              <a:t>8.4.3 </a:t>
            </a:r>
            <a:r>
              <a:rPr lang="zh-CN" altLang="en-US" sz="4400" b="1" dirty="0">
                <a:solidFill>
                  <a:srgbClr val="0070C0"/>
                </a:solidFill>
                <a:effectLst/>
              </a:rPr>
              <a:t>单因素方差分析的应用</a:t>
            </a:r>
          </a:p>
        </p:txBody>
      </p:sp>
      <p:sp>
        <p:nvSpPr>
          <p:cNvPr id="121860" name="Rectangle 3"/>
          <p:cNvSpPr>
            <a:spLocks noGrp="1" noChangeArrowheads="1"/>
          </p:cNvSpPr>
          <p:nvPr>
            <p:ph type="body" idx="1"/>
          </p:nvPr>
        </p:nvSpPr>
        <p:spPr>
          <a:xfrm>
            <a:off x="2381250" y="1945178"/>
            <a:ext cx="8408670" cy="3953972"/>
          </a:xfrm>
          <a:noFill/>
        </p:spPr>
        <p:txBody>
          <a:bodyPr>
            <a:noAutofit/>
          </a:bodyPr>
          <a:lstStyle/>
          <a:p>
            <a:pPr marL="0" indent="0">
              <a:spcBef>
                <a:spcPts val="1200"/>
              </a:spcBef>
              <a:buNone/>
            </a:pPr>
            <a:r>
              <a:rPr kumimoji="1" lang="zh-CN" altLang="en-US" sz="3600" b="1" dirty="0"/>
              <a:t>基本步骤：</a:t>
            </a:r>
          </a:p>
          <a:p>
            <a:pPr marL="1143000" lvl="1">
              <a:spcBef>
                <a:spcPts val="1200"/>
              </a:spcBef>
            </a:pPr>
            <a:r>
              <a:rPr kumimoji="1" lang="zh-CN" altLang="en-US" sz="3200" b="1" dirty="0"/>
              <a:t>提出假设</a:t>
            </a:r>
          </a:p>
          <a:p>
            <a:pPr marL="1143000" lvl="1">
              <a:spcBef>
                <a:spcPts val="1200"/>
              </a:spcBef>
            </a:pPr>
            <a:r>
              <a:rPr kumimoji="1" lang="zh-CN" altLang="en-US" sz="3200" b="1" dirty="0"/>
              <a:t>构造检验的统计量</a:t>
            </a:r>
          </a:p>
          <a:p>
            <a:pPr marL="1143000" lvl="1">
              <a:spcBef>
                <a:spcPts val="1200"/>
              </a:spcBef>
            </a:pPr>
            <a:r>
              <a:rPr kumimoji="1" lang="zh-CN" altLang="en-US" sz="3200" b="1" dirty="0"/>
              <a:t>给定检验的显著性水平</a:t>
            </a:r>
          </a:p>
          <a:p>
            <a:pPr marL="1143000" lvl="1">
              <a:spcBef>
                <a:spcPts val="1200"/>
              </a:spcBef>
            </a:pPr>
            <a:r>
              <a:rPr kumimoji="1" lang="zh-CN" altLang="en-US" sz="3200" b="1" dirty="0"/>
              <a:t>计算检验统计量的观测值（或</a:t>
            </a:r>
            <a:r>
              <a:rPr kumimoji="1" lang="en-US" altLang="zh-CN" sz="3200" b="1" i="1" dirty="0">
                <a:latin typeface="Times New Roman" pitchFamily="18" charset="0"/>
                <a:cs typeface="Times New Roman" pitchFamily="18" charset="0"/>
              </a:rPr>
              <a:t>P</a:t>
            </a:r>
            <a:r>
              <a:rPr kumimoji="1" lang="zh-CN" altLang="en-US" sz="3200" b="1" dirty="0"/>
              <a:t>值）</a:t>
            </a:r>
          </a:p>
          <a:p>
            <a:pPr marL="1143000" lvl="1">
              <a:spcBef>
                <a:spcPts val="1200"/>
              </a:spcBef>
            </a:pPr>
            <a:r>
              <a:rPr kumimoji="1" lang="zh-CN" altLang="en-US" sz="3200" b="1" dirty="0"/>
              <a:t>统计决策（结论）</a:t>
            </a:r>
          </a:p>
        </p:txBody>
      </p:sp>
    </p:spTree>
    <p:extLst>
      <p:ext uri="{BB962C8B-B14F-4D97-AF65-F5344CB8AC3E}">
        <p14:creationId xmlns:p14="http://schemas.microsoft.com/office/powerpoint/2010/main" val="3687827126"/>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2882" name="灯片编号占位符 6"/>
          <p:cNvSpPr>
            <a:spLocks noGrp="1"/>
          </p:cNvSpPr>
          <p:nvPr>
            <p:ph type="sldNum" sz="quarter" idx="10"/>
          </p:nvPr>
        </p:nvSpPr>
        <p:spPr>
          <a:noFill/>
        </p:spPr>
        <p:txBody>
          <a:bodyPr/>
          <a:lstStyle/>
          <a:p>
            <a:r>
              <a:rPr lang="en-US" altLang="zh-CN">
                <a:ea typeface="宋体" pitchFamily="2" charset="-122"/>
              </a:rPr>
              <a:t>8.4--</a:t>
            </a:r>
            <a:fld id="{886D8503-F457-4E95-B66B-3CD6F5882563}" type="slidenum">
              <a:rPr lang="en-US" altLang="zh-CN" smtClean="0">
                <a:ea typeface="宋体" pitchFamily="2" charset="-122"/>
              </a:rPr>
              <a:pPr/>
              <a:t>105</a:t>
            </a:fld>
            <a:endParaRPr lang="en-US" altLang="zh-CN">
              <a:ea typeface="宋体" pitchFamily="2" charset="-122"/>
            </a:endParaRPr>
          </a:p>
        </p:txBody>
      </p:sp>
      <p:sp>
        <p:nvSpPr>
          <p:cNvPr id="122883" name="Rectangle 2"/>
          <p:cNvSpPr>
            <a:spLocks noGrp="1" noChangeArrowheads="1"/>
          </p:cNvSpPr>
          <p:nvPr>
            <p:ph type="title" idx="4294967295"/>
          </p:nvPr>
        </p:nvSpPr>
        <p:spPr>
          <a:xfrm>
            <a:off x="1460500" y="641350"/>
            <a:ext cx="4305300" cy="990600"/>
          </a:xfrm>
          <a:noFill/>
        </p:spPr>
        <p:txBody>
          <a:bodyPr vert="horz" lIns="90488" tIns="44450" rIns="90488" bIns="44450" rtlCol="0" anchor="ctr" anchorCtr="1">
            <a:normAutofit/>
          </a:bodyPr>
          <a:lstStyle/>
          <a:p>
            <a:r>
              <a:rPr lang="en-US" altLang="zh-CN" sz="3600" b="1" dirty="0">
                <a:solidFill>
                  <a:srgbClr val="0070C0"/>
                </a:solidFill>
                <a:effectLst/>
              </a:rPr>
              <a:t>【</a:t>
            </a:r>
            <a:r>
              <a:rPr lang="zh-CN" altLang="en-US" sz="3600" b="1" dirty="0">
                <a:solidFill>
                  <a:srgbClr val="0070C0"/>
                </a:solidFill>
                <a:effectLst/>
              </a:rPr>
              <a:t>例</a:t>
            </a:r>
            <a:r>
              <a:rPr lang="en-US" altLang="zh-CN" sz="3600" b="1" dirty="0">
                <a:solidFill>
                  <a:srgbClr val="0070C0"/>
                </a:solidFill>
                <a:effectLst/>
              </a:rPr>
              <a:t>8-11】</a:t>
            </a:r>
            <a:r>
              <a:rPr lang="zh-CN" altLang="en-US" sz="3600" b="1" dirty="0">
                <a:solidFill>
                  <a:srgbClr val="0070C0"/>
                </a:solidFill>
                <a:effectLst/>
              </a:rPr>
              <a:t>解</a:t>
            </a:r>
            <a:endParaRPr lang="zh-CN" altLang="en-US" sz="4400" b="1" dirty="0">
              <a:solidFill>
                <a:srgbClr val="0070C0"/>
              </a:solidFill>
              <a:effectLst/>
            </a:endParaRPr>
          </a:p>
        </p:txBody>
      </p:sp>
      <p:sp>
        <p:nvSpPr>
          <p:cNvPr id="122884" name="Rectangle 3"/>
          <p:cNvSpPr>
            <a:spLocks noGrp="1" noChangeArrowheads="1"/>
          </p:cNvSpPr>
          <p:nvPr>
            <p:ph type="body" sz="half" idx="4294967295"/>
          </p:nvPr>
        </p:nvSpPr>
        <p:spPr>
          <a:xfrm>
            <a:off x="1460500" y="1979613"/>
            <a:ext cx="8750300" cy="3633787"/>
          </a:xfrm>
          <a:noFill/>
        </p:spPr>
        <p:txBody>
          <a:bodyPr vert="horz" lIns="90488" tIns="44450" rIns="90488" bIns="44450" rtlCol="0">
            <a:noAutofit/>
          </a:bodyPr>
          <a:lstStyle/>
          <a:p>
            <a:pPr marL="533400" indent="-533400" algn="just">
              <a:lnSpc>
                <a:spcPct val="150000"/>
              </a:lnSpc>
              <a:spcBef>
                <a:spcPct val="35000"/>
              </a:spcBef>
              <a:buSzPct val="120000"/>
              <a:buNone/>
            </a:pPr>
            <a:r>
              <a:rPr lang="en-US" altLang="zh-CN" b="1" dirty="0">
                <a:solidFill>
                  <a:srgbClr val="0070C0"/>
                </a:solidFill>
              </a:rPr>
              <a:t>  </a:t>
            </a:r>
            <a:r>
              <a:rPr lang="zh-CN" altLang="en-US" b="1" dirty="0">
                <a:solidFill>
                  <a:srgbClr val="0070C0"/>
                </a:solidFill>
              </a:rPr>
              <a:t>提出假设：</a:t>
            </a:r>
          </a:p>
          <a:p>
            <a:pPr marL="1143000" lvl="1" indent="-685800" algn="just">
              <a:lnSpc>
                <a:spcPct val="150000"/>
              </a:lnSpc>
              <a:spcBef>
                <a:spcPct val="35000"/>
              </a:spcBef>
              <a:buSzPct val="120000"/>
              <a:buFont typeface="Wingdings" pitchFamily="2" charset="2"/>
              <a:buChar char="§"/>
            </a:pPr>
            <a:r>
              <a:rPr lang="en-US" altLang="zh-CN" sz="3200" b="1" i="1" dirty="0">
                <a:solidFill>
                  <a:srgbClr val="0070C0"/>
                </a:solidFill>
                <a:latin typeface="Times New Roman" pitchFamily="18" charset="0"/>
              </a:rPr>
              <a:t>H</a:t>
            </a:r>
            <a:r>
              <a:rPr lang="en-US" altLang="zh-CN" sz="3200" b="1" baseline="-25000" dirty="0">
                <a:solidFill>
                  <a:srgbClr val="0070C0"/>
                </a:solidFill>
              </a:rPr>
              <a:t>0</a:t>
            </a:r>
            <a:r>
              <a:rPr lang="en-US" altLang="zh-CN" sz="3200" b="1" dirty="0">
                <a:solidFill>
                  <a:srgbClr val="0070C0"/>
                </a:solidFill>
              </a:rPr>
              <a:t>: </a:t>
            </a:r>
            <a:r>
              <a:rPr lang="en-US" altLang="zh-CN" sz="3200" b="1" i="1" dirty="0">
                <a:solidFill>
                  <a:srgbClr val="0070C0"/>
                </a:solidFill>
                <a:latin typeface="Symbol" pitchFamily="18" charset="2"/>
              </a:rPr>
              <a:t>m</a:t>
            </a:r>
            <a:r>
              <a:rPr lang="en-US" altLang="zh-CN" sz="3200" b="1" baseline="-25000" dirty="0">
                <a:solidFill>
                  <a:srgbClr val="0070C0"/>
                </a:solidFill>
              </a:rPr>
              <a:t>1</a:t>
            </a:r>
            <a:r>
              <a:rPr lang="en-US" altLang="zh-CN" sz="3200" b="1" dirty="0">
                <a:solidFill>
                  <a:srgbClr val="0070C0"/>
                </a:solidFill>
              </a:rPr>
              <a:t>=</a:t>
            </a:r>
            <a:r>
              <a:rPr lang="en-US" altLang="zh-CN" sz="3200" b="1" i="1" dirty="0">
                <a:solidFill>
                  <a:srgbClr val="0070C0"/>
                </a:solidFill>
                <a:latin typeface="Symbol" pitchFamily="18" charset="2"/>
              </a:rPr>
              <a:t>m</a:t>
            </a:r>
            <a:r>
              <a:rPr lang="en-US" altLang="zh-CN" sz="3200" b="1" baseline="-25000" dirty="0">
                <a:solidFill>
                  <a:srgbClr val="0070C0"/>
                </a:solidFill>
              </a:rPr>
              <a:t>2</a:t>
            </a:r>
            <a:r>
              <a:rPr lang="en-US" altLang="zh-CN" sz="3200" b="1" dirty="0">
                <a:solidFill>
                  <a:srgbClr val="0070C0"/>
                </a:solidFill>
              </a:rPr>
              <a:t>=</a:t>
            </a:r>
            <a:r>
              <a:rPr lang="en-US" altLang="zh-CN" sz="3200" b="1" i="1" dirty="0">
                <a:solidFill>
                  <a:srgbClr val="0070C0"/>
                </a:solidFill>
                <a:latin typeface="Symbol" pitchFamily="18" charset="2"/>
              </a:rPr>
              <a:t>m</a:t>
            </a:r>
            <a:r>
              <a:rPr lang="en-US" altLang="zh-CN" sz="3200" b="1" baseline="-25000" dirty="0">
                <a:solidFill>
                  <a:srgbClr val="0070C0"/>
                </a:solidFill>
              </a:rPr>
              <a:t>3</a:t>
            </a:r>
            <a:r>
              <a:rPr lang="zh-CN" altLang="en-US" b="1" dirty="0">
                <a:solidFill>
                  <a:srgbClr val="0070C0"/>
                </a:solidFill>
              </a:rPr>
              <a:t>（施肥方案对收获量没有影响）</a:t>
            </a:r>
            <a:endParaRPr lang="zh-CN" altLang="en-US" b="1" dirty="0">
              <a:solidFill>
                <a:srgbClr val="0070C0"/>
              </a:solidFill>
              <a:latin typeface="Times New Roman" pitchFamily="18" charset="0"/>
            </a:endParaRPr>
          </a:p>
          <a:p>
            <a:pPr marL="1143000" lvl="1" indent="-685800" algn="just">
              <a:lnSpc>
                <a:spcPct val="150000"/>
              </a:lnSpc>
              <a:spcBef>
                <a:spcPct val="35000"/>
              </a:spcBef>
              <a:buSzPct val="120000"/>
              <a:buFont typeface="Wingdings" pitchFamily="2" charset="2"/>
              <a:buChar char="§"/>
            </a:pPr>
            <a:r>
              <a:rPr lang="en-US" altLang="zh-CN" sz="3200" b="1" i="1" dirty="0">
                <a:solidFill>
                  <a:srgbClr val="0070C0"/>
                </a:solidFill>
                <a:latin typeface="Times New Roman" pitchFamily="18" charset="0"/>
              </a:rPr>
              <a:t>H</a:t>
            </a:r>
            <a:r>
              <a:rPr lang="en-US" altLang="zh-CN" sz="3200" b="1" baseline="-25000" dirty="0">
                <a:solidFill>
                  <a:srgbClr val="0070C0"/>
                </a:solidFill>
              </a:rPr>
              <a:t>1</a:t>
            </a:r>
            <a:r>
              <a:rPr lang="en-US" altLang="zh-CN" sz="3200" b="1" dirty="0">
                <a:solidFill>
                  <a:srgbClr val="0070C0"/>
                </a:solidFill>
              </a:rPr>
              <a:t>: </a:t>
            </a:r>
            <a:r>
              <a:rPr lang="en-US" altLang="zh-CN" sz="3200" b="1" i="1" dirty="0">
                <a:solidFill>
                  <a:srgbClr val="0070C0"/>
                </a:solidFill>
                <a:latin typeface="Symbol" pitchFamily="18" charset="2"/>
              </a:rPr>
              <a:t>m</a:t>
            </a:r>
            <a:r>
              <a:rPr lang="en-US" altLang="zh-CN" sz="3200" b="1" baseline="-25000" dirty="0">
                <a:solidFill>
                  <a:srgbClr val="0070C0"/>
                </a:solidFill>
              </a:rPr>
              <a:t>1</a:t>
            </a:r>
            <a:r>
              <a:rPr lang="zh-CN" altLang="en-US" sz="3200" b="1" dirty="0">
                <a:solidFill>
                  <a:srgbClr val="0070C0"/>
                </a:solidFill>
              </a:rPr>
              <a:t>、</a:t>
            </a:r>
            <a:r>
              <a:rPr lang="en-US" altLang="zh-CN" sz="3200" b="1" i="1" dirty="0">
                <a:solidFill>
                  <a:srgbClr val="0070C0"/>
                </a:solidFill>
                <a:latin typeface="Symbol" pitchFamily="18" charset="2"/>
              </a:rPr>
              <a:t>m</a:t>
            </a:r>
            <a:r>
              <a:rPr lang="en-US" altLang="zh-CN" sz="3200" b="1" baseline="-25000" dirty="0">
                <a:solidFill>
                  <a:srgbClr val="0070C0"/>
                </a:solidFill>
              </a:rPr>
              <a:t>2</a:t>
            </a:r>
            <a:r>
              <a:rPr lang="en-US" altLang="zh-CN" sz="3200" b="1" dirty="0">
                <a:solidFill>
                  <a:srgbClr val="0070C0"/>
                </a:solidFill>
              </a:rPr>
              <a:t> </a:t>
            </a:r>
            <a:r>
              <a:rPr lang="zh-CN" altLang="en-US" sz="3200" b="1" dirty="0">
                <a:solidFill>
                  <a:srgbClr val="0070C0"/>
                </a:solidFill>
              </a:rPr>
              <a:t>、</a:t>
            </a:r>
            <a:r>
              <a:rPr lang="en-US" altLang="zh-CN" sz="3200" b="1" i="1" dirty="0">
                <a:solidFill>
                  <a:srgbClr val="0070C0"/>
                </a:solidFill>
                <a:latin typeface="Symbol" pitchFamily="18" charset="2"/>
              </a:rPr>
              <a:t>m</a:t>
            </a:r>
            <a:r>
              <a:rPr lang="en-US" altLang="zh-CN" sz="3200" b="1" baseline="-25000" dirty="0">
                <a:solidFill>
                  <a:srgbClr val="0070C0"/>
                </a:solidFill>
              </a:rPr>
              <a:t>3 </a:t>
            </a:r>
            <a:r>
              <a:rPr lang="zh-CN" altLang="en-US" sz="3200" b="1" dirty="0">
                <a:solidFill>
                  <a:srgbClr val="0070C0"/>
                </a:solidFill>
              </a:rPr>
              <a:t>不全相等</a:t>
            </a:r>
            <a:r>
              <a:rPr lang="zh-CN" altLang="en-US" b="1" dirty="0">
                <a:solidFill>
                  <a:srgbClr val="0070C0"/>
                </a:solidFill>
              </a:rPr>
              <a:t>（施肥方案对收获量有影响）</a:t>
            </a:r>
          </a:p>
        </p:txBody>
      </p:sp>
    </p:spTree>
    <p:extLst>
      <p:ext uri="{BB962C8B-B14F-4D97-AF65-F5344CB8AC3E}">
        <p14:creationId xmlns:p14="http://schemas.microsoft.com/office/powerpoint/2010/main" val="2847099931"/>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5" name="灯片编号占位符 5"/>
          <p:cNvSpPr>
            <a:spLocks noGrp="1"/>
          </p:cNvSpPr>
          <p:nvPr>
            <p:ph type="sldNum" sz="quarter" idx="12"/>
          </p:nvPr>
        </p:nvSpPr>
        <p:spPr>
          <a:noFill/>
        </p:spPr>
        <p:txBody>
          <a:bodyPr/>
          <a:lstStyle/>
          <a:p>
            <a:r>
              <a:rPr lang="en-US" altLang="zh-CN">
                <a:ea typeface="宋体" pitchFamily="2" charset="-122"/>
              </a:rPr>
              <a:t>8.4--</a:t>
            </a:r>
            <a:fld id="{626EDA14-2607-4596-9B9A-03CF4199B59E}" type="slidenum">
              <a:rPr lang="en-US" altLang="zh-CN" smtClean="0">
                <a:ea typeface="宋体" pitchFamily="2" charset="-122"/>
              </a:rPr>
              <a:pPr/>
              <a:t>106</a:t>
            </a:fld>
            <a:endParaRPr lang="en-US" altLang="zh-CN">
              <a:ea typeface="宋体" pitchFamily="2" charset="-122"/>
            </a:endParaRPr>
          </a:p>
        </p:txBody>
      </p:sp>
      <p:sp>
        <p:nvSpPr>
          <p:cNvPr id="46086" name="Rectangle 2"/>
          <p:cNvSpPr>
            <a:spLocks noGrp="1" noChangeArrowheads="1"/>
          </p:cNvSpPr>
          <p:nvPr>
            <p:ph type="title"/>
          </p:nvPr>
        </p:nvSpPr>
        <p:spPr>
          <a:xfrm>
            <a:off x="2135188" y="404813"/>
            <a:ext cx="5992812" cy="1039812"/>
          </a:xfrm>
          <a:noFill/>
        </p:spPr>
        <p:txBody>
          <a:bodyPr vert="horz" lIns="90488" tIns="44450" rIns="90488" bIns="44450" rtlCol="0" anchor="ctr" anchorCtr="1">
            <a:normAutofit/>
          </a:bodyPr>
          <a:lstStyle/>
          <a:p>
            <a:pPr>
              <a:lnSpc>
                <a:spcPct val="90000"/>
              </a:lnSpc>
            </a:pPr>
            <a:r>
              <a:rPr lang="zh-CN" altLang="en-US" sz="3600" b="1" dirty="0">
                <a:solidFill>
                  <a:srgbClr val="0070C0"/>
                </a:solidFill>
                <a:effectLst/>
                <a:latin typeface="Times New Roman" pitchFamily="18" charset="0"/>
              </a:rPr>
              <a:t>计算离差平方和</a:t>
            </a:r>
            <a:endParaRPr lang="zh-CN" altLang="en-US" sz="2400" b="1" dirty="0">
              <a:solidFill>
                <a:srgbClr val="0070C0"/>
              </a:solidFill>
              <a:effectLst/>
            </a:endParaRPr>
          </a:p>
        </p:txBody>
      </p:sp>
      <p:sp>
        <p:nvSpPr>
          <p:cNvPr id="128003" name="Line 3"/>
          <p:cNvSpPr>
            <a:spLocks noChangeShapeType="1"/>
          </p:cNvSpPr>
          <p:nvPr/>
        </p:nvSpPr>
        <p:spPr bwMode="auto">
          <a:xfrm>
            <a:off x="8831263" y="6021388"/>
            <a:ext cx="144462" cy="0"/>
          </a:xfrm>
          <a:prstGeom prst="line">
            <a:avLst/>
          </a:prstGeom>
          <a:noFill/>
          <a:ln w="9525">
            <a:solidFill>
              <a:srgbClr val="FFFF66"/>
            </a:solidFill>
            <a:round/>
            <a:headEnd/>
            <a:tailEnd/>
          </a:ln>
        </p:spPr>
        <p:txBody>
          <a:bodyPr/>
          <a:lstStyle/>
          <a:p>
            <a:endParaRPr lang="zh-CN" altLang="en-US"/>
          </a:p>
        </p:txBody>
      </p:sp>
      <p:sp>
        <p:nvSpPr>
          <p:cNvPr id="128004" name="Line 4"/>
          <p:cNvSpPr>
            <a:spLocks noChangeShapeType="1"/>
          </p:cNvSpPr>
          <p:nvPr/>
        </p:nvSpPr>
        <p:spPr bwMode="auto">
          <a:xfrm>
            <a:off x="8831263" y="5949950"/>
            <a:ext cx="144462" cy="0"/>
          </a:xfrm>
          <a:prstGeom prst="line">
            <a:avLst/>
          </a:prstGeom>
          <a:noFill/>
          <a:ln w="9525">
            <a:solidFill>
              <a:srgbClr val="FFFF66"/>
            </a:solidFill>
            <a:round/>
            <a:headEnd/>
            <a:tailEnd/>
          </a:ln>
        </p:spPr>
        <p:txBody>
          <a:bodyPr/>
          <a:lstStyle/>
          <a:p>
            <a:endParaRPr lang="zh-CN" altLang="en-US"/>
          </a:p>
        </p:txBody>
      </p:sp>
      <p:graphicFrame>
        <p:nvGraphicFramePr>
          <p:cNvPr id="128005" name="Group 5"/>
          <p:cNvGraphicFramePr>
            <a:graphicFrameLocks noGrp="1"/>
          </p:cNvGraphicFramePr>
          <p:nvPr>
            <p:extLst>
              <p:ext uri="{D42A27DB-BD31-4B8C-83A1-F6EECF244321}">
                <p14:modId xmlns:p14="http://schemas.microsoft.com/office/powerpoint/2010/main" val="3508738086"/>
              </p:ext>
            </p:extLst>
          </p:nvPr>
        </p:nvGraphicFramePr>
        <p:xfrm>
          <a:off x="1774826" y="1214438"/>
          <a:ext cx="8169279" cy="2376488"/>
        </p:xfrm>
        <a:graphic>
          <a:graphicData uri="http://schemas.openxmlformats.org/drawingml/2006/table">
            <a:tbl>
              <a:tblPr/>
              <a:tblGrid>
                <a:gridCol w="1895474">
                  <a:extLst>
                    <a:ext uri="{9D8B030D-6E8A-4147-A177-3AD203B41FA5}">
                      <a16:colId xmlns:a16="http://schemas.microsoft.com/office/drawing/2014/main" val="20000"/>
                    </a:ext>
                  </a:extLst>
                </a:gridCol>
                <a:gridCol w="894166">
                  <a:extLst>
                    <a:ext uri="{9D8B030D-6E8A-4147-A177-3AD203B41FA5}">
                      <a16:colId xmlns:a16="http://schemas.microsoft.com/office/drawing/2014/main" val="20001"/>
                    </a:ext>
                  </a:extLst>
                </a:gridCol>
                <a:gridCol w="894166">
                  <a:extLst>
                    <a:ext uri="{9D8B030D-6E8A-4147-A177-3AD203B41FA5}">
                      <a16:colId xmlns:a16="http://schemas.microsoft.com/office/drawing/2014/main" val="20002"/>
                    </a:ext>
                  </a:extLst>
                </a:gridCol>
                <a:gridCol w="894166">
                  <a:extLst>
                    <a:ext uri="{9D8B030D-6E8A-4147-A177-3AD203B41FA5}">
                      <a16:colId xmlns:a16="http://schemas.microsoft.com/office/drawing/2014/main" val="20003"/>
                    </a:ext>
                  </a:extLst>
                </a:gridCol>
                <a:gridCol w="894166">
                  <a:extLst>
                    <a:ext uri="{9D8B030D-6E8A-4147-A177-3AD203B41FA5}">
                      <a16:colId xmlns:a16="http://schemas.microsoft.com/office/drawing/2014/main" val="20004"/>
                    </a:ext>
                  </a:extLst>
                </a:gridCol>
                <a:gridCol w="894166">
                  <a:extLst>
                    <a:ext uri="{9D8B030D-6E8A-4147-A177-3AD203B41FA5}">
                      <a16:colId xmlns:a16="http://schemas.microsoft.com/office/drawing/2014/main" val="20005"/>
                    </a:ext>
                  </a:extLst>
                </a:gridCol>
                <a:gridCol w="894166">
                  <a:extLst>
                    <a:ext uri="{9D8B030D-6E8A-4147-A177-3AD203B41FA5}">
                      <a16:colId xmlns:a16="http://schemas.microsoft.com/office/drawing/2014/main" val="20006"/>
                    </a:ext>
                  </a:extLst>
                </a:gridCol>
                <a:gridCol w="908809">
                  <a:extLst>
                    <a:ext uri="{9D8B030D-6E8A-4147-A177-3AD203B41FA5}">
                      <a16:colId xmlns:a16="http://schemas.microsoft.com/office/drawing/2014/main" val="20007"/>
                    </a:ext>
                  </a:extLst>
                </a:gridCol>
              </a:tblGrid>
              <a:tr h="863600">
                <a:tc>
                  <a:txBody>
                    <a:bodyPr/>
                    <a:lstStyle/>
                    <a:p>
                      <a:pPr marL="0" marR="0" lvl="0" indent="28575" algn="l"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dirty="0">
                          <a:ln>
                            <a:noFill/>
                          </a:ln>
                          <a:solidFill>
                            <a:schemeClr val="tx1"/>
                          </a:solidFill>
                          <a:effectLst/>
                          <a:latin typeface="Times New Roman" pitchFamily="18" charset="0"/>
                          <a:ea typeface="宋体" charset="-122"/>
                          <a:cs typeface="Times New Roman" pitchFamily="18" charset="0"/>
                        </a:rPr>
                        <a:t>             </a:t>
                      </a:r>
                      <a:r>
                        <a:rPr kumimoji="0" lang="zh-CN" altLang="en-US" sz="2400" b="1" i="0" u="none" strike="noStrike" cap="none" normalizeH="0" baseline="0" dirty="0">
                          <a:ln>
                            <a:noFill/>
                          </a:ln>
                          <a:solidFill>
                            <a:schemeClr val="tx1"/>
                          </a:solidFill>
                          <a:effectLst/>
                          <a:latin typeface="Times New Roman" pitchFamily="18" charset="0"/>
                          <a:ea typeface="宋体" charset="-122"/>
                          <a:cs typeface="Times New Roman" pitchFamily="18" charset="0"/>
                        </a:rPr>
                        <a:t>地块</a:t>
                      </a:r>
                      <a:endParaRPr kumimoji="0" lang="en-US" altLang="zh-CN" sz="2400" b="1" i="0" u="none" strike="noStrike" cap="none" normalizeH="0" baseline="0" dirty="0">
                        <a:ln>
                          <a:noFill/>
                        </a:ln>
                        <a:solidFill>
                          <a:srgbClr val="000000"/>
                        </a:solidFill>
                        <a:effectLst/>
                        <a:latin typeface="Times New Roman" pitchFamily="18" charset="0"/>
                        <a:ea typeface="宋体" charset="-122"/>
                        <a:cs typeface="Times New Roman" pitchFamily="18" charset="0"/>
                      </a:endParaRPr>
                    </a:p>
                    <a:p>
                      <a:pPr marL="0" marR="0" lvl="0" indent="28575" algn="l"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dirty="0">
                          <a:ln>
                            <a:noFill/>
                          </a:ln>
                          <a:solidFill>
                            <a:srgbClr val="CC00CC"/>
                          </a:solidFill>
                          <a:effectLst/>
                          <a:latin typeface="Times New Roman" pitchFamily="18" charset="0"/>
                          <a:ea typeface="宋体" charset="-122"/>
                          <a:cs typeface="Times New Roman" pitchFamily="18" charset="0"/>
                        </a:rPr>
                        <a:t>施肥方案</a:t>
                      </a:r>
                      <a:endParaRPr kumimoji="0" lang="zh-CN" altLang="en-US" sz="2400" b="1" i="0" u="none" strike="noStrike" cap="none" normalizeH="0" baseline="0" dirty="0">
                        <a:ln>
                          <a:noFill/>
                        </a:ln>
                        <a:solidFill>
                          <a:srgbClr val="CC00CC"/>
                        </a:solidFill>
                        <a:effectLst/>
                        <a:latin typeface="Arial" charset="0"/>
                        <a:ea typeface="宋体"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ap="flat" cmpd="sng" algn="ctr">
                      <a:solidFill>
                        <a:schemeClr val="tx1"/>
                      </a:solidFill>
                      <a:prstDash val="solid"/>
                      <a:round/>
                      <a:headEnd type="none" w="med" len="med"/>
                      <a:tailEnd type="none" w="med" len="med"/>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dirty="0">
                          <a:ln>
                            <a:noFill/>
                          </a:ln>
                          <a:solidFill>
                            <a:srgbClr val="000000"/>
                          </a:solidFill>
                          <a:effectLst/>
                          <a:latin typeface="Times New Roman" pitchFamily="18" charset="0"/>
                          <a:ea typeface="宋体" charset="-122"/>
                          <a:cs typeface="Times New Roman" pitchFamily="18" charset="0"/>
                        </a:rPr>
                        <a:t>1</a:t>
                      </a:r>
                      <a:endParaRPr kumimoji="0" lang="en-US" altLang="zh-CN" sz="2400" b="1" i="0" u="none" strike="noStrike" cap="none" normalizeH="0" baseline="0" dirty="0">
                        <a:ln>
                          <a:noFill/>
                        </a:ln>
                        <a:solidFill>
                          <a:srgbClr val="000000"/>
                        </a:solidFill>
                        <a:effectLst/>
                        <a:latin typeface="Arial" charset="0"/>
                        <a:ea typeface="宋体"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dirty="0">
                          <a:ln>
                            <a:noFill/>
                          </a:ln>
                          <a:solidFill>
                            <a:srgbClr val="000000"/>
                          </a:solidFill>
                          <a:effectLst/>
                          <a:latin typeface="Times New Roman" pitchFamily="18" charset="0"/>
                          <a:ea typeface="宋体" charset="-122"/>
                          <a:cs typeface="Times New Roman" pitchFamily="18" charset="0"/>
                        </a:rPr>
                        <a:t>2</a:t>
                      </a:r>
                      <a:endParaRPr kumimoji="0" lang="en-US" altLang="zh-CN" sz="2400" b="1" i="0" u="none" strike="noStrike" cap="none" normalizeH="0" baseline="0" dirty="0">
                        <a:ln>
                          <a:noFill/>
                        </a:ln>
                        <a:solidFill>
                          <a:srgbClr val="000000"/>
                        </a:solidFill>
                        <a:effectLst/>
                        <a:latin typeface="Arial" charset="0"/>
                        <a:ea typeface="宋体"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dirty="0">
                          <a:ln>
                            <a:noFill/>
                          </a:ln>
                          <a:solidFill>
                            <a:srgbClr val="000000"/>
                          </a:solidFill>
                          <a:effectLst/>
                          <a:latin typeface="Times New Roman" pitchFamily="18" charset="0"/>
                          <a:ea typeface="宋体" charset="-122"/>
                          <a:cs typeface="Times New Roman" pitchFamily="18" charset="0"/>
                        </a:rPr>
                        <a:t>3</a:t>
                      </a:r>
                      <a:endParaRPr kumimoji="0" lang="en-US" altLang="zh-CN" sz="2400" b="1" i="0" u="none" strike="noStrike" cap="none" normalizeH="0" baseline="0" dirty="0">
                        <a:ln>
                          <a:noFill/>
                        </a:ln>
                        <a:solidFill>
                          <a:srgbClr val="000000"/>
                        </a:solidFill>
                        <a:effectLst/>
                        <a:latin typeface="Arial" charset="0"/>
                        <a:ea typeface="宋体"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dirty="0">
                          <a:ln>
                            <a:noFill/>
                          </a:ln>
                          <a:solidFill>
                            <a:srgbClr val="000000"/>
                          </a:solidFill>
                          <a:effectLst/>
                          <a:latin typeface="Times New Roman" pitchFamily="18" charset="0"/>
                          <a:ea typeface="宋体" charset="-122"/>
                          <a:cs typeface="Times New Roman" pitchFamily="18" charset="0"/>
                        </a:rPr>
                        <a:t>4</a:t>
                      </a:r>
                      <a:endParaRPr kumimoji="0" lang="en-US" altLang="zh-CN" sz="2400" b="1" i="0" u="none" strike="noStrike" cap="none" normalizeH="0" baseline="0" dirty="0">
                        <a:ln>
                          <a:noFill/>
                        </a:ln>
                        <a:solidFill>
                          <a:srgbClr val="000000"/>
                        </a:solidFill>
                        <a:effectLst/>
                        <a:latin typeface="Arial" charset="0"/>
                        <a:ea typeface="宋体"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dirty="0">
                          <a:ln>
                            <a:noFill/>
                          </a:ln>
                          <a:solidFill>
                            <a:srgbClr val="000000"/>
                          </a:solidFill>
                          <a:effectLst/>
                          <a:latin typeface="Times New Roman" pitchFamily="18" charset="0"/>
                          <a:ea typeface="宋体" charset="-122"/>
                          <a:cs typeface="Times New Roman" pitchFamily="18" charset="0"/>
                        </a:rPr>
                        <a:t>5</a:t>
                      </a:r>
                      <a:endParaRPr kumimoji="0" lang="en-US" altLang="zh-CN" sz="2400" b="1" i="0" u="none" strike="noStrike" cap="none" normalizeH="0" baseline="0" dirty="0">
                        <a:ln>
                          <a:noFill/>
                        </a:ln>
                        <a:solidFill>
                          <a:srgbClr val="000000"/>
                        </a:solidFill>
                        <a:effectLst/>
                        <a:latin typeface="Arial" charset="0"/>
                        <a:ea typeface="宋体"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dirty="0">
                          <a:ln>
                            <a:noFill/>
                          </a:ln>
                          <a:solidFill>
                            <a:srgbClr val="000000"/>
                          </a:solidFill>
                          <a:effectLst/>
                          <a:latin typeface="Times New Roman" pitchFamily="18" charset="0"/>
                          <a:ea typeface="宋体" charset="-122"/>
                          <a:cs typeface="Times New Roman" pitchFamily="18" charset="0"/>
                        </a:rPr>
                        <a:t>6</a:t>
                      </a:r>
                      <a:endParaRPr kumimoji="0" lang="en-US" altLang="zh-CN" sz="2400" b="1" i="0" u="none" strike="noStrike" cap="none" normalizeH="0" baseline="0" dirty="0">
                        <a:ln>
                          <a:noFill/>
                        </a:ln>
                        <a:solidFill>
                          <a:srgbClr val="000000"/>
                        </a:solidFill>
                        <a:effectLst/>
                        <a:latin typeface="Arial" charset="0"/>
                        <a:ea typeface="宋体"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dirty="0">
                          <a:ln>
                            <a:noFill/>
                          </a:ln>
                          <a:solidFill>
                            <a:srgbClr val="0000FF"/>
                          </a:solidFill>
                          <a:effectLst/>
                          <a:latin typeface="Arial" charset="0"/>
                          <a:ea typeface="宋体" charset="-122"/>
                        </a:rPr>
                        <a:t>平均</a:t>
                      </a:r>
                    </a:p>
                  </a:txBody>
                  <a:tcPr anchor="ctr" horzOverflow="overflow">
                    <a:lnL w="12700" cap="flat" cmpd="sng" algn="ctr">
                      <a:solidFill>
                        <a:schemeClr val="tx1"/>
                      </a:solidFill>
                      <a:prstDash val="solid"/>
                      <a:round/>
                      <a:headEnd type="none" w="med" len="med"/>
                      <a:tailEnd type="none" w="med" len="med"/>
                    </a:lnL>
                    <a:lnR cap="flat">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00"/>
                  </a:ext>
                </a:extLst>
              </a:tr>
              <a:tr h="51435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dirty="0">
                          <a:ln>
                            <a:noFill/>
                          </a:ln>
                          <a:solidFill>
                            <a:srgbClr val="FF00FF"/>
                          </a:solidFill>
                          <a:effectLst/>
                          <a:latin typeface="Times New Roman" pitchFamily="18" charset="0"/>
                          <a:ea typeface="宋体" charset="-122"/>
                          <a:cs typeface="Times New Roman" pitchFamily="18" charset="0"/>
                        </a:rPr>
                        <a:t>A1</a:t>
                      </a:r>
                      <a:endParaRPr kumimoji="0" lang="en-US" altLang="zh-CN" sz="2400" b="1" i="0" u="none" strike="noStrike" cap="none" normalizeH="0" baseline="0" dirty="0">
                        <a:ln>
                          <a:noFill/>
                        </a:ln>
                        <a:solidFill>
                          <a:srgbClr val="FF00FF"/>
                        </a:solidFill>
                        <a:effectLst/>
                        <a:latin typeface="Arial" charset="0"/>
                        <a:ea typeface="宋体" charset="-122"/>
                      </a:endParaRPr>
                    </a:p>
                  </a:txBody>
                  <a:tcPr anchor="ctr" horzOverflow="overflow">
                    <a:lnL cap="flat">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3">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dirty="0">
                          <a:ln>
                            <a:noFill/>
                          </a:ln>
                          <a:solidFill>
                            <a:srgbClr val="000000"/>
                          </a:solidFill>
                          <a:effectLst/>
                          <a:latin typeface="Times New Roman" pitchFamily="18" charset="0"/>
                          <a:ea typeface="宋体" charset="-122"/>
                          <a:cs typeface="Times New Roman" pitchFamily="18" charset="0"/>
                        </a:rPr>
                        <a:t>55</a:t>
                      </a:r>
                      <a:endParaRPr kumimoji="0" lang="en-US" altLang="zh-CN" sz="2400" b="1" i="0" u="none" strike="noStrike" cap="none" normalizeH="0" baseline="0" dirty="0">
                        <a:ln>
                          <a:noFill/>
                        </a:ln>
                        <a:solidFill>
                          <a:srgbClr val="000000"/>
                        </a:solidFill>
                        <a:effectLst/>
                        <a:latin typeface="Arial" charset="0"/>
                        <a:ea typeface="宋体"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3">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dirty="0">
                          <a:ln>
                            <a:noFill/>
                          </a:ln>
                          <a:solidFill>
                            <a:srgbClr val="000000"/>
                          </a:solidFill>
                          <a:effectLst/>
                          <a:latin typeface="Times New Roman" pitchFamily="18" charset="0"/>
                          <a:ea typeface="宋体" charset="-122"/>
                          <a:cs typeface="Times New Roman" pitchFamily="18" charset="0"/>
                        </a:rPr>
                        <a:t>62</a:t>
                      </a:r>
                      <a:endParaRPr kumimoji="0" lang="en-US" altLang="zh-CN" sz="2400" b="1" i="0" u="none" strike="noStrike" cap="none" normalizeH="0" baseline="0" dirty="0">
                        <a:ln>
                          <a:noFill/>
                        </a:ln>
                        <a:solidFill>
                          <a:srgbClr val="000000"/>
                        </a:solidFill>
                        <a:effectLst/>
                        <a:latin typeface="Arial" charset="0"/>
                        <a:ea typeface="宋体"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3">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dirty="0">
                          <a:ln>
                            <a:noFill/>
                          </a:ln>
                          <a:solidFill>
                            <a:srgbClr val="000000"/>
                          </a:solidFill>
                          <a:effectLst/>
                          <a:latin typeface="Times New Roman" pitchFamily="18" charset="0"/>
                          <a:ea typeface="宋体" charset="-122"/>
                          <a:cs typeface="Times New Roman" pitchFamily="18" charset="0"/>
                        </a:rPr>
                        <a:t>76</a:t>
                      </a:r>
                      <a:endParaRPr kumimoji="0" lang="en-US" altLang="zh-CN" sz="2400" b="1" i="0" u="none" strike="noStrike" cap="none" normalizeH="0" baseline="0" dirty="0">
                        <a:ln>
                          <a:noFill/>
                        </a:ln>
                        <a:solidFill>
                          <a:srgbClr val="000000"/>
                        </a:solidFill>
                        <a:effectLst/>
                        <a:latin typeface="Arial" charset="0"/>
                        <a:ea typeface="宋体"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3">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dirty="0">
                          <a:ln>
                            <a:noFill/>
                          </a:ln>
                          <a:solidFill>
                            <a:srgbClr val="000000"/>
                          </a:solidFill>
                          <a:effectLst/>
                          <a:latin typeface="Times New Roman" pitchFamily="18" charset="0"/>
                          <a:ea typeface="宋体" charset="-122"/>
                          <a:cs typeface="Times New Roman" pitchFamily="18" charset="0"/>
                        </a:rPr>
                        <a:t>68</a:t>
                      </a:r>
                      <a:endParaRPr kumimoji="0" lang="en-US" altLang="zh-CN" sz="2400" b="1" i="0" u="none" strike="noStrike" cap="none" normalizeH="0" baseline="0" dirty="0">
                        <a:ln>
                          <a:noFill/>
                        </a:ln>
                        <a:solidFill>
                          <a:srgbClr val="000000"/>
                        </a:solidFill>
                        <a:effectLst/>
                        <a:latin typeface="Arial" charset="0"/>
                        <a:ea typeface="宋体"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3">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dirty="0">
                          <a:ln>
                            <a:noFill/>
                          </a:ln>
                          <a:solidFill>
                            <a:srgbClr val="000000"/>
                          </a:solidFill>
                          <a:effectLst/>
                          <a:latin typeface="Times New Roman" pitchFamily="18" charset="0"/>
                          <a:ea typeface="宋体" charset="-122"/>
                          <a:cs typeface="Times New Roman" pitchFamily="18" charset="0"/>
                        </a:rPr>
                        <a:t>60</a:t>
                      </a:r>
                      <a:endParaRPr kumimoji="0" lang="en-US" altLang="zh-CN" sz="2400" b="1" i="0" u="none" strike="noStrike" cap="none" normalizeH="0" baseline="0" dirty="0">
                        <a:ln>
                          <a:noFill/>
                        </a:ln>
                        <a:solidFill>
                          <a:srgbClr val="000000"/>
                        </a:solidFill>
                        <a:effectLst/>
                        <a:latin typeface="Arial" charset="0"/>
                        <a:ea typeface="宋体"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3">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dirty="0">
                          <a:ln>
                            <a:noFill/>
                          </a:ln>
                          <a:solidFill>
                            <a:srgbClr val="000000"/>
                          </a:solidFill>
                          <a:effectLst/>
                          <a:latin typeface="Times New Roman" pitchFamily="18" charset="0"/>
                          <a:ea typeface="宋体" charset="-122"/>
                          <a:cs typeface="Times New Roman" pitchFamily="18" charset="0"/>
                        </a:rPr>
                        <a:t>63</a:t>
                      </a:r>
                      <a:endParaRPr kumimoji="0" lang="en-US" altLang="zh-CN" sz="2400" b="1" i="0" u="none" strike="noStrike" cap="none" normalizeH="0" baseline="0" dirty="0">
                        <a:ln>
                          <a:noFill/>
                        </a:ln>
                        <a:solidFill>
                          <a:srgbClr val="000000"/>
                        </a:solidFill>
                        <a:effectLst/>
                        <a:latin typeface="Arial" charset="0"/>
                        <a:ea typeface="宋体"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3">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zh-CN" sz="2400" b="1" i="0" u="none" strike="noStrike" cap="none" normalizeH="0" baseline="0" dirty="0">
                          <a:ln>
                            <a:noFill/>
                          </a:ln>
                          <a:solidFill>
                            <a:srgbClr val="0000FF"/>
                          </a:solidFill>
                          <a:effectLst/>
                          <a:latin typeface="Times New Roman" pitchFamily="18" charset="0"/>
                          <a:ea typeface="宋体" charset="-122"/>
                        </a:rPr>
                        <a:t>64</a:t>
                      </a:r>
                    </a:p>
                  </a:txBody>
                  <a:tcPr anchor="ctr" horzOverflow="overflow">
                    <a:lnL w="12700" cap="flat" cmpd="sng" algn="ctr">
                      <a:solidFill>
                        <a:schemeClr val="tx1"/>
                      </a:solidFill>
                      <a:prstDash val="solid"/>
                      <a:round/>
                      <a:headEnd type="none" w="med" len="med"/>
                      <a:tailEnd type="none" w="med" len="med"/>
                    </a:lnL>
                    <a:lnR cap="flat">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01"/>
                  </a:ext>
                </a:extLst>
              </a:tr>
              <a:tr h="51276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dirty="0">
                          <a:ln>
                            <a:noFill/>
                          </a:ln>
                          <a:solidFill>
                            <a:srgbClr val="FF00FF"/>
                          </a:solidFill>
                          <a:effectLst/>
                          <a:latin typeface="Times New Roman" pitchFamily="18" charset="0"/>
                          <a:ea typeface="宋体" charset="-122"/>
                          <a:cs typeface="Times New Roman" pitchFamily="18" charset="0"/>
                        </a:rPr>
                        <a:t>A2</a:t>
                      </a:r>
                      <a:endParaRPr kumimoji="0" lang="en-US" altLang="zh-CN" sz="2400" b="1" i="0" u="none" strike="noStrike" cap="none" normalizeH="0" baseline="0" dirty="0">
                        <a:ln>
                          <a:noFill/>
                        </a:ln>
                        <a:solidFill>
                          <a:srgbClr val="FF00FF"/>
                        </a:solidFill>
                        <a:effectLst/>
                        <a:latin typeface="Arial" charset="0"/>
                        <a:ea typeface="宋体" charset="-122"/>
                      </a:endParaRPr>
                    </a:p>
                  </a:txBody>
                  <a:tcPr anchor="ctr" horzOverflow="overflow">
                    <a:lnL cap="flat">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6">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dirty="0">
                          <a:ln>
                            <a:noFill/>
                          </a:ln>
                          <a:solidFill>
                            <a:srgbClr val="000000"/>
                          </a:solidFill>
                          <a:effectLst/>
                          <a:latin typeface="Times New Roman" pitchFamily="18" charset="0"/>
                          <a:ea typeface="宋体" charset="-122"/>
                          <a:cs typeface="Times New Roman" pitchFamily="18" charset="0"/>
                        </a:rPr>
                        <a:t>70</a:t>
                      </a:r>
                      <a:endParaRPr kumimoji="0" lang="en-US" altLang="zh-CN" sz="2400" b="1" i="0" u="none" strike="noStrike" cap="none" normalizeH="0" baseline="0" dirty="0">
                        <a:ln>
                          <a:noFill/>
                        </a:ln>
                        <a:solidFill>
                          <a:srgbClr val="000000"/>
                        </a:solidFill>
                        <a:effectLst/>
                        <a:latin typeface="Arial" charset="0"/>
                        <a:ea typeface="宋体"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6">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dirty="0">
                          <a:ln>
                            <a:noFill/>
                          </a:ln>
                          <a:solidFill>
                            <a:srgbClr val="000000"/>
                          </a:solidFill>
                          <a:effectLst/>
                          <a:latin typeface="Times New Roman" pitchFamily="18" charset="0"/>
                          <a:ea typeface="宋体" charset="-122"/>
                          <a:cs typeface="Times New Roman" pitchFamily="18" charset="0"/>
                        </a:rPr>
                        <a:t>58</a:t>
                      </a:r>
                      <a:endParaRPr kumimoji="0" lang="en-US" altLang="zh-CN" sz="2400" b="1" i="0" u="none" strike="noStrike" cap="none" normalizeH="0" baseline="0" dirty="0">
                        <a:ln>
                          <a:noFill/>
                        </a:ln>
                        <a:solidFill>
                          <a:srgbClr val="000000"/>
                        </a:solidFill>
                        <a:effectLst/>
                        <a:latin typeface="Arial" charset="0"/>
                        <a:ea typeface="宋体"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6">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dirty="0">
                          <a:ln>
                            <a:noFill/>
                          </a:ln>
                          <a:solidFill>
                            <a:srgbClr val="000000"/>
                          </a:solidFill>
                          <a:effectLst/>
                          <a:latin typeface="Times New Roman" pitchFamily="18" charset="0"/>
                          <a:ea typeface="宋体" charset="-122"/>
                          <a:cs typeface="Times New Roman" pitchFamily="18" charset="0"/>
                        </a:rPr>
                        <a:t>62</a:t>
                      </a:r>
                      <a:endParaRPr kumimoji="0" lang="en-US" altLang="zh-CN" sz="2400" b="1" i="0" u="none" strike="noStrike" cap="none" normalizeH="0" baseline="0" dirty="0">
                        <a:ln>
                          <a:noFill/>
                        </a:ln>
                        <a:solidFill>
                          <a:srgbClr val="000000"/>
                        </a:solidFill>
                        <a:effectLst/>
                        <a:latin typeface="Arial" charset="0"/>
                        <a:ea typeface="宋体"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6">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dirty="0">
                          <a:ln>
                            <a:noFill/>
                          </a:ln>
                          <a:solidFill>
                            <a:srgbClr val="000000"/>
                          </a:solidFill>
                          <a:effectLst/>
                          <a:latin typeface="Times New Roman" pitchFamily="18" charset="0"/>
                          <a:ea typeface="宋体" charset="-122"/>
                          <a:cs typeface="Times New Roman" pitchFamily="18" charset="0"/>
                        </a:rPr>
                        <a:t>50</a:t>
                      </a:r>
                      <a:endParaRPr kumimoji="0" lang="en-US" altLang="zh-CN" sz="2400" b="1" i="0" u="none" strike="noStrike" cap="none" normalizeH="0" baseline="0" dirty="0">
                        <a:ln>
                          <a:noFill/>
                        </a:ln>
                        <a:solidFill>
                          <a:srgbClr val="000000"/>
                        </a:solidFill>
                        <a:effectLst/>
                        <a:latin typeface="Arial" charset="0"/>
                        <a:ea typeface="宋体"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6">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dirty="0">
                          <a:ln>
                            <a:noFill/>
                          </a:ln>
                          <a:solidFill>
                            <a:srgbClr val="000000"/>
                          </a:solidFill>
                          <a:effectLst/>
                          <a:latin typeface="Times New Roman" pitchFamily="18" charset="0"/>
                          <a:ea typeface="宋体" charset="-122"/>
                          <a:cs typeface="Times New Roman" pitchFamily="18" charset="0"/>
                        </a:rPr>
                        <a:t>65</a:t>
                      </a:r>
                      <a:endParaRPr kumimoji="0" lang="en-US" altLang="zh-CN" sz="2400" b="1" i="0" u="none" strike="noStrike" cap="none" normalizeH="0" baseline="0" dirty="0">
                        <a:ln>
                          <a:noFill/>
                        </a:ln>
                        <a:solidFill>
                          <a:srgbClr val="000000"/>
                        </a:solidFill>
                        <a:effectLst/>
                        <a:latin typeface="Arial" charset="0"/>
                        <a:ea typeface="宋体"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6">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zh-CN" sz="2400" b="1" i="0" u="none" strike="noStrike" cap="none" normalizeH="0" baseline="0" dirty="0">
                        <a:ln>
                          <a:noFill/>
                        </a:ln>
                        <a:solidFill>
                          <a:srgbClr val="000000"/>
                        </a:solidFill>
                        <a:effectLst/>
                        <a:latin typeface="Arial" charset="0"/>
                        <a:ea typeface="宋体"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6">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zh-CN" sz="2400" b="1" i="0" u="none" strike="noStrike" cap="none" normalizeH="0" baseline="0" dirty="0">
                          <a:ln>
                            <a:noFill/>
                          </a:ln>
                          <a:solidFill>
                            <a:srgbClr val="0000FF"/>
                          </a:solidFill>
                          <a:effectLst/>
                          <a:latin typeface="Times New Roman" pitchFamily="18" charset="0"/>
                          <a:ea typeface="宋体" charset="-122"/>
                        </a:rPr>
                        <a:t>61</a:t>
                      </a:r>
                    </a:p>
                  </a:txBody>
                  <a:tcPr anchor="ctr" horzOverflow="overflow">
                    <a:lnL w="12700" cap="flat" cmpd="sng" algn="ctr">
                      <a:solidFill>
                        <a:schemeClr val="tx1"/>
                      </a:solidFill>
                      <a:prstDash val="solid"/>
                      <a:round/>
                      <a:headEnd type="none" w="med" len="med"/>
                      <a:tailEnd type="none" w="med" len="med"/>
                    </a:lnL>
                    <a:lnR cap="flat">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02"/>
                  </a:ext>
                </a:extLst>
              </a:tr>
              <a:tr h="4857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dirty="0">
                          <a:ln>
                            <a:noFill/>
                          </a:ln>
                          <a:solidFill>
                            <a:srgbClr val="FF00FF"/>
                          </a:solidFill>
                          <a:effectLst/>
                          <a:latin typeface="Times New Roman" pitchFamily="18" charset="0"/>
                          <a:ea typeface="宋体" charset="-122"/>
                          <a:cs typeface="Times New Roman" pitchFamily="18" charset="0"/>
                        </a:rPr>
                        <a:t>A3</a:t>
                      </a:r>
                      <a:endParaRPr kumimoji="0" lang="en-US" altLang="zh-CN" sz="2400" b="1" i="0" u="none" strike="noStrike" cap="none" normalizeH="0" baseline="0" dirty="0">
                        <a:ln>
                          <a:noFill/>
                        </a:ln>
                        <a:solidFill>
                          <a:srgbClr val="FF00FF"/>
                        </a:solidFill>
                        <a:effectLst/>
                        <a:latin typeface="Arial" charset="0"/>
                        <a:ea typeface="宋体" charset="-122"/>
                      </a:endParaRPr>
                    </a:p>
                  </a:txBody>
                  <a:tcPr anchor="ctr" horzOverflow="overflow">
                    <a:lnL cap="flat">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2">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dirty="0">
                          <a:ln>
                            <a:noFill/>
                          </a:ln>
                          <a:solidFill>
                            <a:srgbClr val="000000"/>
                          </a:solidFill>
                          <a:effectLst/>
                          <a:latin typeface="Times New Roman" pitchFamily="18" charset="0"/>
                          <a:ea typeface="宋体" charset="-122"/>
                          <a:cs typeface="Times New Roman" pitchFamily="18" charset="0"/>
                        </a:rPr>
                        <a:t>78</a:t>
                      </a:r>
                      <a:endParaRPr kumimoji="0" lang="en-US" altLang="zh-CN" sz="2400" b="1" i="0" u="none" strike="noStrike" cap="none" normalizeH="0" baseline="0" dirty="0">
                        <a:ln>
                          <a:noFill/>
                        </a:ln>
                        <a:solidFill>
                          <a:srgbClr val="000000"/>
                        </a:solidFill>
                        <a:effectLst/>
                        <a:latin typeface="Arial" charset="0"/>
                        <a:ea typeface="宋体"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2">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dirty="0">
                          <a:ln>
                            <a:noFill/>
                          </a:ln>
                          <a:solidFill>
                            <a:srgbClr val="000000"/>
                          </a:solidFill>
                          <a:effectLst/>
                          <a:latin typeface="Times New Roman" pitchFamily="18" charset="0"/>
                          <a:ea typeface="宋体" charset="-122"/>
                          <a:cs typeface="Times New Roman" pitchFamily="18" charset="0"/>
                        </a:rPr>
                        <a:t>80</a:t>
                      </a:r>
                      <a:endParaRPr kumimoji="0" lang="en-US" altLang="zh-CN" sz="2400" b="1" i="0" u="none" strike="noStrike" cap="none" normalizeH="0" baseline="0" dirty="0">
                        <a:ln>
                          <a:noFill/>
                        </a:ln>
                        <a:solidFill>
                          <a:srgbClr val="000000"/>
                        </a:solidFill>
                        <a:effectLst/>
                        <a:latin typeface="Arial" charset="0"/>
                        <a:ea typeface="宋体"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2">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dirty="0">
                          <a:ln>
                            <a:noFill/>
                          </a:ln>
                          <a:solidFill>
                            <a:srgbClr val="000000"/>
                          </a:solidFill>
                          <a:effectLst/>
                          <a:latin typeface="Times New Roman" pitchFamily="18" charset="0"/>
                          <a:ea typeface="宋体" charset="-122"/>
                          <a:cs typeface="Times New Roman" pitchFamily="18" charset="0"/>
                        </a:rPr>
                        <a:t>68</a:t>
                      </a:r>
                      <a:endParaRPr kumimoji="0" lang="en-US" altLang="zh-CN" sz="2400" b="1" i="0" u="none" strike="noStrike" cap="none" normalizeH="0" baseline="0" dirty="0">
                        <a:ln>
                          <a:noFill/>
                        </a:ln>
                        <a:solidFill>
                          <a:srgbClr val="000000"/>
                        </a:solidFill>
                        <a:effectLst/>
                        <a:latin typeface="Arial" charset="0"/>
                        <a:ea typeface="宋体"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2">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dirty="0">
                          <a:ln>
                            <a:noFill/>
                          </a:ln>
                          <a:solidFill>
                            <a:srgbClr val="000000"/>
                          </a:solidFill>
                          <a:effectLst/>
                          <a:latin typeface="Times New Roman" pitchFamily="18" charset="0"/>
                          <a:ea typeface="宋体" charset="-122"/>
                          <a:cs typeface="Times New Roman" pitchFamily="18" charset="0"/>
                        </a:rPr>
                        <a:t>82</a:t>
                      </a:r>
                      <a:endParaRPr kumimoji="0" lang="en-US" altLang="zh-CN" sz="2400" b="1" i="0" u="none" strike="noStrike" cap="none" normalizeH="0" baseline="0" dirty="0">
                        <a:ln>
                          <a:noFill/>
                        </a:ln>
                        <a:solidFill>
                          <a:srgbClr val="000000"/>
                        </a:solidFill>
                        <a:effectLst/>
                        <a:latin typeface="Arial" charset="0"/>
                        <a:ea typeface="宋体"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2">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dirty="0">
                          <a:ln>
                            <a:noFill/>
                          </a:ln>
                          <a:solidFill>
                            <a:srgbClr val="000000"/>
                          </a:solidFill>
                          <a:effectLst/>
                          <a:latin typeface="Times New Roman" pitchFamily="18" charset="0"/>
                          <a:ea typeface="宋体" charset="-122"/>
                          <a:cs typeface="Times New Roman" pitchFamily="18" charset="0"/>
                        </a:rPr>
                        <a:t>75</a:t>
                      </a:r>
                      <a:endParaRPr kumimoji="0" lang="en-US" altLang="zh-CN" sz="2400" b="1" i="0" u="none" strike="noStrike" cap="none" normalizeH="0" baseline="0" dirty="0">
                        <a:ln>
                          <a:noFill/>
                        </a:ln>
                        <a:solidFill>
                          <a:srgbClr val="000000"/>
                        </a:solidFill>
                        <a:effectLst/>
                        <a:latin typeface="Arial" charset="0"/>
                        <a:ea typeface="宋体"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2">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dirty="0">
                          <a:ln>
                            <a:noFill/>
                          </a:ln>
                          <a:solidFill>
                            <a:srgbClr val="000000"/>
                          </a:solidFill>
                          <a:effectLst/>
                          <a:latin typeface="Times New Roman" pitchFamily="18" charset="0"/>
                          <a:ea typeface="宋体" charset="-122"/>
                          <a:cs typeface="Times New Roman" pitchFamily="18" charset="0"/>
                        </a:rPr>
                        <a:t>64</a:t>
                      </a:r>
                    </a:p>
                  </a:txBody>
                  <a:tcPr anchor="ctr" horzOverflow="overflow">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2">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Pct val="90000"/>
                        <a:buFontTx/>
                        <a:buNone/>
                        <a:tabLst/>
                      </a:pPr>
                      <a:r>
                        <a:rPr kumimoji="0" lang="en-US" altLang="zh-CN" sz="2400" b="1" i="0" u="none" strike="noStrike" cap="none" normalizeH="0" baseline="0" dirty="0">
                          <a:ln>
                            <a:noFill/>
                          </a:ln>
                          <a:solidFill>
                            <a:srgbClr val="0000FF"/>
                          </a:solidFill>
                          <a:effectLst/>
                          <a:latin typeface="Times New Roman" pitchFamily="18" charset="0"/>
                          <a:ea typeface="宋体" charset="-122"/>
                        </a:rPr>
                        <a:t>74.5</a:t>
                      </a:r>
                    </a:p>
                  </a:txBody>
                  <a:tcPr anchor="ctr" horzOverflow="overflow">
                    <a:lnL w="12700" cap="flat" cmpd="sng" algn="ctr">
                      <a:solidFill>
                        <a:schemeClr val="tx1"/>
                      </a:solidFill>
                      <a:prstDash val="solid"/>
                      <a:round/>
                      <a:headEnd type="none" w="med" len="med"/>
                      <a:tailEnd type="none" w="med" len="med"/>
                    </a:lnL>
                    <a:lnR cap="flat">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66"/>
                    </a:solidFill>
                  </a:tcPr>
                </a:tc>
                <a:extLst>
                  <a:ext uri="{0D108BD9-81ED-4DB2-BD59-A6C34878D82A}">
                    <a16:rowId xmlns:a16="http://schemas.microsoft.com/office/drawing/2014/main" val="10003"/>
                  </a:ext>
                </a:extLst>
              </a:tr>
            </a:tbl>
          </a:graphicData>
        </a:graphic>
      </p:graphicFrame>
      <p:graphicFrame>
        <p:nvGraphicFramePr>
          <p:cNvPr id="128053" name="Object 2">
            <a:hlinkClick r:id="" action="ppaction://ole?verb=0"/>
          </p:cNvPr>
          <p:cNvGraphicFramePr>
            <a:graphicFrameLocks/>
          </p:cNvGraphicFramePr>
          <p:nvPr>
            <p:extLst>
              <p:ext uri="{D42A27DB-BD31-4B8C-83A1-F6EECF244321}">
                <p14:modId xmlns:p14="http://schemas.microsoft.com/office/powerpoint/2010/main" val="1398705015"/>
              </p:ext>
            </p:extLst>
          </p:nvPr>
        </p:nvGraphicFramePr>
        <p:xfrm>
          <a:off x="1616366" y="3865681"/>
          <a:ext cx="2796884" cy="1368425"/>
        </p:xfrm>
        <a:graphic>
          <a:graphicData uri="http://schemas.openxmlformats.org/presentationml/2006/ole">
            <mc:AlternateContent xmlns:mc="http://schemas.openxmlformats.org/markup-compatibility/2006">
              <mc:Choice xmlns:v="urn:schemas-microsoft-com:vml" Requires="v">
                <p:oleObj name="Equation" r:id="rId3" imgW="1371600" imgH="457200" progId="Equation.DSMT4">
                  <p:embed/>
                </p:oleObj>
              </mc:Choice>
              <mc:Fallback>
                <p:oleObj name="Equation" r:id="rId3" imgW="1371600" imgH="457200" progId="Equation.DSMT4">
                  <p:embed/>
                  <p:pic>
                    <p:nvPicPr>
                      <p:cNvPr id="128053" name="Object 2">
                        <a:hlinkClick r:id="" action="ppaction://ole?verb=0"/>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16366" y="3865681"/>
                        <a:ext cx="2796884" cy="1368425"/>
                      </a:xfrm>
                      <a:prstGeom prst="rect">
                        <a:avLst/>
                      </a:prstGeom>
                      <a:noFill/>
                      <a:ln>
                        <a:noFill/>
                      </a:ln>
                      <a:effectLst>
                        <a:outerShdw dist="17961" dir="2700000" algn="ctr" rotWithShape="0">
                          <a:schemeClr val="bg2"/>
                        </a:outerShdw>
                      </a:effectLst>
                    </p:spPr>
                  </p:pic>
                </p:oleObj>
              </mc:Fallback>
            </mc:AlternateContent>
          </a:graphicData>
        </a:graphic>
      </p:graphicFrame>
      <p:sp>
        <p:nvSpPr>
          <p:cNvPr id="46136" name="Rectangle 54"/>
          <p:cNvSpPr>
            <a:spLocks noChangeArrowheads="1"/>
          </p:cNvSpPr>
          <p:nvPr/>
        </p:nvSpPr>
        <p:spPr bwMode="auto">
          <a:xfrm>
            <a:off x="1524001" y="3015734"/>
            <a:ext cx="184731" cy="369332"/>
          </a:xfrm>
          <a:prstGeom prst="rect">
            <a:avLst/>
          </a:prstGeom>
          <a:noFill/>
          <a:ln w="9525">
            <a:noFill/>
            <a:miter lim="800000"/>
            <a:headEnd/>
            <a:tailEnd/>
          </a:ln>
        </p:spPr>
        <p:txBody>
          <a:bodyPr wrap="none" anchor="ctr">
            <a:spAutoFit/>
          </a:bodyPr>
          <a:lstStyle/>
          <a:p>
            <a:endParaRPr lang="zh-CN" altLang="en-US"/>
          </a:p>
        </p:txBody>
      </p:sp>
      <p:graphicFrame>
        <p:nvGraphicFramePr>
          <p:cNvPr id="128055" name="Object 3"/>
          <p:cNvGraphicFramePr>
            <a:graphicFrameLocks noChangeAspect="1"/>
          </p:cNvGraphicFramePr>
          <p:nvPr>
            <p:extLst>
              <p:ext uri="{D42A27DB-BD31-4B8C-83A1-F6EECF244321}">
                <p14:modId xmlns:p14="http://schemas.microsoft.com/office/powerpoint/2010/main" val="1035374275"/>
              </p:ext>
            </p:extLst>
          </p:nvPr>
        </p:nvGraphicFramePr>
        <p:xfrm>
          <a:off x="4210050" y="4176831"/>
          <a:ext cx="5246688" cy="2114550"/>
        </p:xfrm>
        <a:graphic>
          <a:graphicData uri="http://schemas.openxmlformats.org/presentationml/2006/ole">
            <mc:AlternateContent xmlns:mc="http://schemas.openxmlformats.org/markup-compatibility/2006">
              <mc:Choice xmlns:v="urn:schemas-microsoft-com:vml" Requires="v">
                <p:oleObj name="Equation" r:id="rId5" imgW="2336760" imgH="914400" progId="Equation.DSMT4">
                  <p:embed/>
                </p:oleObj>
              </mc:Choice>
              <mc:Fallback>
                <p:oleObj name="Equation" r:id="rId5" imgW="2336760" imgH="914400" progId="Equation.DSMT4">
                  <p:embed/>
                  <p:pic>
                    <p:nvPicPr>
                      <p:cNvPr id="128055"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210050" y="4176831"/>
                        <a:ext cx="5246688" cy="21145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6084" name="Object 56"/>
          <p:cNvGraphicFramePr>
            <a:graphicFrameLocks noChangeAspect="1"/>
          </p:cNvGraphicFramePr>
          <p:nvPr>
            <p:extLst>
              <p:ext uri="{D42A27DB-BD31-4B8C-83A1-F6EECF244321}">
                <p14:modId xmlns:p14="http://schemas.microsoft.com/office/powerpoint/2010/main" val="3008213852"/>
              </p:ext>
            </p:extLst>
          </p:nvPr>
        </p:nvGraphicFramePr>
        <p:xfrm>
          <a:off x="8110543" y="3656808"/>
          <a:ext cx="1833562" cy="500062"/>
        </p:xfrm>
        <a:graphic>
          <a:graphicData uri="http://schemas.openxmlformats.org/presentationml/2006/ole">
            <mc:AlternateContent xmlns:mc="http://schemas.openxmlformats.org/markup-compatibility/2006">
              <mc:Choice xmlns:v="urn:schemas-microsoft-com:vml" Requires="v">
                <p:oleObj name="公式" r:id="rId7" imgW="698400" imgH="190440" progId="Equation.3">
                  <p:embed/>
                </p:oleObj>
              </mc:Choice>
              <mc:Fallback>
                <p:oleObj name="公式" r:id="rId7" imgW="698400" imgH="190440" progId="Equation.3">
                  <p:embed/>
                  <p:pic>
                    <p:nvPicPr>
                      <p:cNvPr id="46084" name="Object 5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110543" y="3656808"/>
                        <a:ext cx="1833562" cy="500062"/>
                      </a:xfrm>
                      <a:prstGeom prst="rect">
                        <a:avLst/>
                      </a:prstGeom>
                      <a:solidFill>
                        <a:srgbClr val="FFFF00"/>
                      </a:solidFill>
                      <a:ln w="38100">
                        <a:solidFill>
                          <a:srgbClr val="FFFF00"/>
                        </a:solidFill>
                        <a:miter lim="800000"/>
                        <a:headEnd/>
                        <a:tailEnd/>
                      </a:ln>
                    </p:spPr>
                  </p:pic>
                </p:oleObj>
              </mc:Fallback>
            </mc:AlternateContent>
          </a:graphicData>
        </a:graphic>
      </p:graphicFrame>
    </p:spTree>
    <p:extLst>
      <p:ext uri="{BB962C8B-B14F-4D97-AF65-F5344CB8AC3E}">
        <p14:creationId xmlns:p14="http://schemas.microsoft.com/office/powerpoint/2010/main" val="3545630456"/>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28053"/>
                                        </p:tgtEl>
                                        <p:attrNameLst>
                                          <p:attrName>style.visibility</p:attrName>
                                        </p:attrNameLst>
                                      </p:cBhvr>
                                      <p:to>
                                        <p:strVal val="visible"/>
                                      </p:to>
                                    </p:set>
                                    <p:animEffect transition="in" filter="wipe(left)">
                                      <p:cBhvr>
                                        <p:cTn id="7" dur="500"/>
                                        <p:tgtEl>
                                          <p:spTgt spid="128053"/>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128055"/>
                                        </p:tgtEl>
                                        <p:attrNameLst>
                                          <p:attrName>style.visibility</p:attrName>
                                        </p:attrNameLst>
                                      </p:cBhvr>
                                      <p:to>
                                        <p:strVal val="visible"/>
                                      </p:to>
                                    </p:set>
                                    <p:animEffect transition="in" filter="wipe(left)">
                                      <p:cBhvr>
                                        <p:cTn id="11" dur="1000"/>
                                        <p:tgtEl>
                                          <p:spTgt spid="1280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10" name="灯片编号占位符 6"/>
          <p:cNvSpPr>
            <a:spLocks noGrp="1"/>
          </p:cNvSpPr>
          <p:nvPr>
            <p:ph type="sldNum" sz="quarter" idx="12"/>
          </p:nvPr>
        </p:nvSpPr>
        <p:spPr>
          <a:noFill/>
        </p:spPr>
        <p:txBody>
          <a:bodyPr/>
          <a:lstStyle/>
          <a:p>
            <a:r>
              <a:rPr lang="en-US" altLang="zh-CN">
                <a:ea typeface="宋体" pitchFamily="2" charset="-122"/>
              </a:rPr>
              <a:t>8.4--</a:t>
            </a:r>
            <a:fld id="{C6D9EF4C-562B-47E3-9583-174EA4359110}" type="slidenum">
              <a:rPr lang="en-US" altLang="zh-CN" smtClean="0">
                <a:ea typeface="宋体" pitchFamily="2" charset="-122"/>
              </a:rPr>
              <a:pPr/>
              <a:t>107</a:t>
            </a:fld>
            <a:endParaRPr lang="en-US" altLang="zh-CN">
              <a:ea typeface="宋体" pitchFamily="2" charset="-122"/>
            </a:endParaRPr>
          </a:p>
        </p:txBody>
      </p:sp>
      <p:sp>
        <p:nvSpPr>
          <p:cNvPr id="47111" name="Rectangle 2"/>
          <p:cNvSpPr>
            <a:spLocks noGrp="1" noChangeArrowheads="1"/>
          </p:cNvSpPr>
          <p:nvPr>
            <p:ph type="title"/>
          </p:nvPr>
        </p:nvSpPr>
        <p:spPr>
          <a:xfrm>
            <a:off x="2381250" y="214314"/>
            <a:ext cx="7837488" cy="714375"/>
          </a:xfrm>
          <a:noFill/>
        </p:spPr>
        <p:txBody>
          <a:bodyPr vert="horz" lIns="90488" tIns="44450" rIns="90488" bIns="44450" rtlCol="0" anchor="ctr" anchorCtr="1">
            <a:normAutofit/>
          </a:bodyPr>
          <a:lstStyle/>
          <a:p>
            <a:r>
              <a:rPr lang="zh-CN" altLang="en-US" sz="3600">
                <a:latin typeface="Times New Roman" pitchFamily="18" charset="0"/>
              </a:rPr>
              <a:t>（续）</a:t>
            </a:r>
          </a:p>
        </p:txBody>
      </p:sp>
      <p:graphicFrame>
        <p:nvGraphicFramePr>
          <p:cNvPr id="130051" name="Object 2">
            <a:hlinkClick r:id="" action="ppaction://ole?verb=0"/>
          </p:cNvPr>
          <p:cNvGraphicFramePr>
            <a:graphicFrameLocks/>
          </p:cNvGraphicFramePr>
          <p:nvPr>
            <p:extLst>
              <p:ext uri="{D42A27DB-BD31-4B8C-83A1-F6EECF244321}">
                <p14:modId xmlns:p14="http://schemas.microsoft.com/office/powerpoint/2010/main" val="906851881"/>
              </p:ext>
            </p:extLst>
          </p:nvPr>
        </p:nvGraphicFramePr>
        <p:xfrm>
          <a:off x="1616366" y="3713239"/>
          <a:ext cx="5286375" cy="1309611"/>
        </p:xfrm>
        <a:graphic>
          <a:graphicData uri="http://schemas.openxmlformats.org/presentationml/2006/ole">
            <mc:AlternateContent xmlns:mc="http://schemas.openxmlformats.org/markup-compatibility/2006">
              <mc:Choice xmlns:v="urn:schemas-microsoft-com:vml" Requires="v">
                <p:oleObj name="Equation" r:id="rId3" imgW="2323800" imgH="457200" progId="Equation.DSMT4">
                  <p:embed/>
                </p:oleObj>
              </mc:Choice>
              <mc:Fallback>
                <p:oleObj name="Equation" r:id="rId3" imgW="2323800" imgH="457200" progId="Equation.DSMT4">
                  <p:embed/>
                  <p:pic>
                    <p:nvPicPr>
                      <p:cNvPr id="130051" name="Object 2">
                        <a:hlinkClick r:id="" action="ppaction://ole?verb=0"/>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16366" y="3713239"/>
                        <a:ext cx="5286375" cy="1309611"/>
                      </a:xfrm>
                      <a:prstGeom prst="rect">
                        <a:avLst/>
                      </a:prstGeom>
                      <a:noFill/>
                      <a:ln>
                        <a:noFill/>
                      </a:ln>
                      <a:effectLst>
                        <a:outerShdw dist="17961" dir="2700000" algn="ctr" rotWithShape="0">
                          <a:schemeClr val="bg2"/>
                        </a:outerShdw>
                      </a:effectLst>
                    </p:spPr>
                  </p:pic>
                </p:oleObj>
              </mc:Fallback>
            </mc:AlternateContent>
          </a:graphicData>
        </a:graphic>
      </p:graphicFrame>
      <p:sp>
        <p:nvSpPr>
          <p:cNvPr id="47112" name="Rectangle 4"/>
          <p:cNvSpPr>
            <a:spLocks noChangeArrowheads="1"/>
          </p:cNvSpPr>
          <p:nvPr/>
        </p:nvSpPr>
        <p:spPr bwMode="auto">
          <a:xfrm>
            <a:off x="1524001" y="3130034"/>
            <a:ext cx="184731" cy="369332"/>
          </a:xfrm>
          <a:prstGeom prst="rect">
            <a:avLst/>
          </a:prstGeom>
          <a:noFill/>
          <a:ln w="9525">
            <a:noFill/>
            <a:miter lim="800000"/>
            <a:headEnd/>
            <a:tailEnd/>
          </a:ln>
        </p:spPr>
        <p:txBody>
          <a:bodyPr wrap="none" anchor="ctr">
            <a:spAutoFit/>
          </a:bodyPr>
          <a:lstStyle/>
          <a:p>
            <a:endParaRPr lang="zh-CN" altLang="en-US"/>
          </a:p>
        </p:txBody>
      </p:sp>
      <p:graphicFrame>
        <p:nvGraphicFramePr>
          <p:cNvPr id="130053" name="Object 3"/>
          <p:cNvGraphicFramePr>
            <a:graphicFrameLocks noChangeAspect="1"/>
          </p:cNvGraphicFramePr>
          <p:nvPr>
            <p:extLst>
              <p:ext uri="{D42A27DB-BD31-4B8C-83A1-F6EECF244321}">
                <p14:modId xmlns:p14="http://schemas.microsoft.com/office/powerpoint/2010/main" val="1797830844"/>
              </p:ext>
            </p:extLst>
          </p:nvPr>
        </p:nvGraphicFramePr>
        <p:xfrm>
          <a:off x="1616366" y="5063685"/>
          <a:ext cx="8301037" cy="519113"/>
        </p:xfrm>
        <a:graphic>
          <a:graphicData uri="http://schemas.openxmlformats.org/presentationml/2006/ole">
            <mc:AlternateContent xmlns:mc="http://schemas.openxmlformats.org/markup-compatibility/2006">
              <mc:Choice xmlns:v="urn:schemas-microsoft-com:vml" Requires="v">
                <p:oleObj name="Equation" r:id="rId5" imgW="3962160" imgH="228600" progId="Equation.DSMT4">
                  <p:embed/>
                </p:oleObj>
              </mc:Choice>
              <mc:Fallback>
                <p:oleObj name="Equation" r:id="rId5" imgW="3962160" imgH="228600" progId="Equation.DSMT4">
                  <p:embed/>
                  <p:pic>
                    <p:nvPicPr>
                      <p:cNvPr id="130053"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16366" y="5063685"/>
                        <a:ext cx="8301037" cy="5191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30054" name="Object 4"/>
          <p:cNvGraphicFramePr>
            <a:graphicFrameLocks noChangeAspect="1"/>
          </p:cNvGraphicFramePr>
          <p:nvPr>
            <p:extLst>
              <p:ext uri="{D42A27DB-BD31-4B8C-83A1-F6EECF244321}">
                <p14:modId xmlns:p14="http://schemas.microsoft.com/office/powerpoint/2010/main" val="2734326588"/>
              </p:ext>
            </p:extLst>
          </p:nvPr>
        </p:nvGraphicFramePr>
        <p:xfrm>
          <a:off x="5178426" y="1361004"/>
          <a:ext cx="4843463" cy="2259012"/>
        </p:xfrm>
        <a:graphic>
          <a:graphicData uri="http://schemas.openxmlformats.org/presentationml/2006/ole">
            <mc:AlternateContent xmlns:mc="http://schemas.openxmlformats.org/markup-compatibility/2006">
              <mc:Choice xmlns:v="urn:schemas-microsoft-com:vml" Requires="v">
                <p:oleObj name="Equation" r:id="rId7" imgW="2019240" imgH="914400" progId="Equation.DSMT4">
                  <p:embed/>
                </p:oleObj>
              </mc:Choice>
              <mc:Fallback>
                <p:oleObj name="Equation" r:id="rId7" imgW="2019240" imgH="914400" progId="Equation.DSMT4">
                  <p:embed/>
                  <p:pic>
                    <p:nvPicPr>
                      <p:cNvPr id="130054"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178426" y="1361004"/>
                        <a:ext cx="4843463" cy="22590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7109" name="Object 5">
            <a:hlinkClick r:id="" action="ppaction://ole?verb=0"/>
          </p:cNvPr>
          <p:cNvGraphicFramePr>
            <a:graphicFrameLocks/>
          </p:cNvGraphicFramePr>
          <p:nvPr>
            <p:extLst>
              <p:ext uri="{D42A27DB-BD31-4B8C-83A1-F6EECF244321}">
                <p14:modId xmlns:p14="http://schemas.microsoft.com/office/powerpoint/2010/main" val="932878808"/>
              </p:ext>
            </p:extLst>
          </p:nvPr>
        </p:nvGraphicFramePr>
        <p:xfrm>
          <a:off x="1708732" y="1098551"/>
          <a:ext cx="3600450" cy="1301791"/>
        </p:xfrm>
        <a:graphic>
          <a:graphicData uri="http://schemas.openxmlformats.org/presentationml/2006/ole">
            <mc:AlternateContent xmlns:mc="http://schemas.openxmlformats.org/markup-compatibility/2006">
              <mc:Choice xmlns:v="urn:schemas-microsoft-com:vml" Requires="v">
                <p:oleObj name="Equation" r:id="rId9" imgW="1396800" imgH="457200" progId="Equation.DSMT4">
                  <p:embed/>
                </p:oleObj>
              </mc:Choice>
              <mc:Fallback>
                <p:oleObj name="Equation" r:id="rId9" imgW="1396800" imgH="457200" progId="Equation.DSMT4">
                  <p:embed/>
                  <p:pic>
                    <p:nvPicPr>
                      <p:cNvPr id="47109" name="Object 5">
                        <a:hlinkClick r:id="" action="ppaction://ole?verb=0"/>
                      </p:cNvPr>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708732" y="1098551"/>
                        <a:ext cx="3600450" cy="1301791"/>
                      </a:xfrm>
                      <a:prstGeom prst="rect">
                        <a:avLst/>
                      </a:prstGeom>
                      <a:noFill/>
                      <a:ln>
                        <a:noFill/>
                      </a:ln>
                      <a:effectLst>
                        <a:outerShdw dist="17961" dir="2700000" algn="ctr" rotWithShape="0">
                          <a:schemeClr val="bg2"/>
                        </a:outerShdw>
                      </a:effectLst>
                    </p:spPr>
                  </p:pic>
                </p:oleObj>
              </mc:Fallback>
            </mc:AlternateContent>
          </a:graphicData>
        </a:graphic>
      </p:graphicFrame>
      <p:sp>
        <p:nvSpPr>
          <p:cNvPr id="47113" name="Rectangle 8"/>
          <p:cNvSpPr>
            <a:spLocks noChangeArrowheads="1"/>
          </p:cNvSpPr>
          <p:nvPr/>
        </p:nvSpPr>
        <p:spPr bwMode="auto">
          <a:xfrm>
            <a:off x="1524001" y="3049072"/>
            <a:ext cx="184731" cy="369332"/>
          </a:xfrm>
          <a:prstGeom prst="rect">
            <a:avLst/>
          </a:prstGeom>
          <a:noFill/>
          <a:ln w="9525">
            <a:noFill/>
            <a:miter lim="800000"/>
            <a:headEnd/>
            <a:tailEnd/>
          </a:ln>
        </p:spPr>
        <p:txBody>
          <a:bodyPr wrap="none" anchor="ctr">
            <a:spAutoFit/>
          </a:bodyPr>
          <a:lstStyle/>
          <a:p>
            <a:endParaRPr lang="zh-CN" altLang="en-US"/>
          </a:p>
        </p:txBody>
      </p:sp>
      <p:sp>
        <p:nvSpPr>
          <p:cNvPr id="47114" name="Rectangle 9"/>
          <p:cNvSpPr>
            <a:spLocks noChangeArrowheads="1"/>
          </p:cNvSpPr>
          <p:nvPr/>
        </p:nvSpPr>
        <p:spPr bwMode="auto">
          <a:xfrm>
            <a:off x="1524001" y="3144322"/>
            <a:ext cx="184731" cy="369332"/>
          </a:xfrm>
          <a:prstGeom prst="rect">
            <a:avLst/>
          </a:prstGeom>
          <a:noFill/>
          <a:ln w="9525">
            <a:noFill/>
            <a:miter lim="800000"/>
            <a:headEnd/>
            <a:tailEnd/>
          </a:ln>
        </p:spPr>
        <p:txBody>
          <a:bodyPr wrap="none" anchor="ctr">
            <a:spAutoFit/>
          </a:bodyPr>
          <a:lstStyle/>
          <a:p>
            <a:endParaRPr lang="zh-CN" altLang="en-US"/>
          </a:p>
        </p:txBody>
      </p:sp>
    </p:spTree>
    <p:extLst>
      <p:ext uri="{BB962C8B-B14F-4D97-AF65-F5344CB8AC3E}">
        <p14:creationId xmlns:p14="http://schemas.microsoft.com/office/powerpoint/2010/main" val="4221960325"/>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130054"/>
                                        </p:tgtEl>
                                        <p:attrNameLst>
                                          <p:attrName>style.visibility</p:attrName>
                                        </p:attrNameLst>
                                      </p:cBhvr>
                                      <p:to>
                                        <p:strVal val="visible"/>
                                      </p:to>
                                    </p:set>
                                    <p:animEffect transition="in" filter="wipe(left)">
                                      <p:cBhvr>
                                        <p:cTn id="7" dur="500"/>
                                        <p:tgtEl>
                                          <p:spTgt spid="13005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30051"/>
                                        </p:tgtEl>
                                        <p:attrNameLst>
                                          <p:attrName>style.visibility</p:attrName>
                                        </p:attrNameLst>
                                      </p:cBhvr>
                                      <p:to>
                                        <p:strVal val="visible"/>
                                      </p:to>
                                    </p:set>
                                    <p:animEffect transition="in" filter="wipe(left)">
                                      <p:cBhvr>
                                        <p:cTn id="12" dur="500"/>
                                        <p:tgtEl>
                                          <p:spTgt spid="130051"/>
                                        </p:tgtEl>
                                      </p:cBhvr>
                                    </p:animEffect>
                                  </p:childTnLst>
                                </p:cTn>
                              </p:par>
                            </p:childTnLst>
                          </p:cTn>
                        </p:par>
                        <p:par>
                          <p:cTn id="13" fill="hold">
                            <p:stCondLst>
                              <p:cond delay="500"/>
                            </p:stCondLst>
                            <p:childTnLst>
                              <p:par>
                                <p:cTn id="14" presetID="22" presetClass="entr" presetSubtype="8" fill="hold" nodeType="afterEffect">
                                  <p:stCondLst>
                                    <p:cond delay="0"/>
                                  </p:stCondLst>
                                  <p:childTnLst>
                                    <p:set>
                                      <p:cBhvr>
                                        <p:cTn id="15" dur="1" fill="hold">
                                          <p:stCondLst>
                                            <p:cond delay="0"/>
                                          </p:stCondLst>
                                        </p:cTn>
                                        <p:tgtEl>
                                          <p:spTgt spid="130053"/>
                                        </p:tgtEl>
                                        <p:attrNameLst>
                                          <p:attrName>style.visibility</p:attrName>
                                        </p:attrNameLst>
                                      </p:cBhvr>
                                      <p:to>
                                        <p:strVal val="visible"/>
                                      </p:to>
                                    </p:set>
                                    <p:animEffect transition="in" filter="wipe(left)">
                                      <p:cBhvr>
                                        <p:cTn id="16" dur="500"/>
                                        <p:tgtEl>
                                          <p:spTgt spid="1300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2" name="灯片编号占位符 6"/>
          <p:cNvSpPr>
            <a:spLocks noGrp="1"/>
          </p:cNvSpPr>
          <p:nvPr>
            <p:ph type="sldNum" sz="quarter" idx="10"/>
          </p:nvPr>
        </p:nvSpPr>
        <p:spPr>
          <a:noFill/>
        </p:spPr>
        <p:txBody>
          <a:bodyPr/>
          <a:lstStyle/>
          <a:p>
            <a:r>
              <a:rPr lang="en-US" altLang="zh-CN">
                <a:ea typeface="宋体" pitchFamily="2" charset="-122"/>
              </a:rPr>
              <a:t>8.4--</a:t>
            </a:r>
            <a:fld id="{53310BEB-4CB1-4E7B-B1C6-8854E982C55A}" type="slidenum">
              <a:rPr lang="en-US" altLang="zh-CN" smtClean="0">
                <a:ea typeface="宋体" pitchFamily="2" charset="-122"/>
              </a:rPr>
              <a:pPr/>
              <a:t>108</a:t>
            </a:fld>
            <a:endParaRPr lang="en-US" altLang="zh-CN">
              <a:ea typeface="宋体" pitchFamily="2" charset="-122"/>
            </a:endParaRPr>
          </a:p>
        </p:txBody>
      </p:sp>
      <p:sp>
        <p:nvSpPr>
          <p:cNvPr id="48133" name="Rectangle 2"/>
          <p:cNvSpPr>
            <a:spLocks noGrp="1" noChangeArrowheads="1"/>
          </p:cNvSpPr>
          <p:nvPr>
            <p:ph type="title" idx="4294967295"/>
          </p:nvPr>
        </p:nvSpPr>
        <p:spPr>
          <a:xfrm>
            <a:off x="1708732" y="739817"/>
            <a:ext cx="6315075" cy="865187"/>
          </a:xfrm>
          <a:noFill/>
        </p:spPr>
        <p:txBody>
          <a:bodyPr vert="horz" lIns="90488" tIns="44450" rIns="90488" bIns="44450" rtlCol="0" anchor="ctr" anchorCtr="1">
            <a:normAutofit/>
          </a:bodyPr>
          <a:lstStyle/>
          <a:p>
            <a:r>
              <a:rPr lang="zh-CN" altLang="en-US" sz="3600" b="1" dirty="0">
                <a:solidFill>
                  <a:srgbClr val="0070C0"/>
                </a:solidFill>
                <a:effectLst/>
                <a:latin typeface="Times New Roman" pitchFamily="18" charset="0"/>
              </a:rPr>
              <a:t>计算检验统计量的值和</a:t>
            </a:r>
            <a:r>
              <a:rPr lang="en-US" altLang="zh-CN" sz="3600" b="1" i="1" dirty="0">
                <a:solidFill>
                  <a:srgbClr val="0070C0"/>
                </a:solidFill>
                <a:effectLst/>
                <a:latin typeface="Times New Roman" pitchFamily="18" charset="0"/>
              </a:rPr>
              <a:t>P</a:t>
            </a:r>
            <a:r>
              <a:rPr lang="zh-CN" altLang="en-US" sz="3600" b="1" dirty="0">
                <a:solidFill>
                  <a:srgbClr val="0070C0"/>
                </a:solidFill>
                <a:effectLst/>
                <a:latin typeface="Times New Roman" pitchFamily="18" charset="0"/>
              </a:rPr>
              <a:t>值</a:t>
            </a:r>
          </a:p>
        </p:txBody>
      </p:sp>
      <p:sp>
        <p:nvSpPr>
          <p:cNvPr id="48134" name="Rectangle 3"/>
          <p:cNvSpPr>
            <a:spLocks noChangeArrowheads="1"/>
          </p:cNvSpPr>
          <p:nvPr/>
        </p:nvSpPr>
        <p:spPr bwMode="auto">
          <a:xfrm>
            <a:off x="1524001" y="3130034"/>
            <a:ext cx="184731" cy="369332"/>
          </a:xfrm>
          <a:prstGeom prst="rect">
            <a:avLst/>
          </a:prstGeom>
          <a:noFill/>
          <a:ln w="9525">
            <a:noFill/>
            <a:miter lim="800000"/>
            <a:headEnd/>
            <a:tailEnd/>
          </a:ln>
        </p:spPr>
        <p:txBody>
          <a:bodyPr wrap="none" anchor="ctr">
            <a:spAutoFit/>
          </a:bodyPr>
          <a:lstStyle/>
          <a:p>
            <a:endParaRPr lang="zh-CN" altLang="en-US"/>
          </a:p>
        </p:txBody>
      </p:sp>
      <p:sp>
        <p:nvSpPr>
          <p:cNvPr id="48135" name="Rectangle 4"/>
          <p:cNvSpPr>
            <a:spLocks noChangeArrowheads="1"/>
          </p:cNvSpPr>
          <p:nvPr/>
        </p:nvSpPr>
        <p:spPr bwMode="auto">
          <a:xfrm>
            <a:off x="1524001" y="3049072"/>
            <a:ext cx="184731" cy="369332"/>
          </a:xfrm>
          <a:prstGeom prst="rect">
            <a:avLst/>
          </a:prstGeom>
          <a:noFill/>
          <a:ln w="9525">
            <a:noFill/>
            <a:miter lim="800000"/>
            <a:headEnd/>
            <a:tailEnd/>
          </a:ln>
        </p:spPr>
        <p:txBody>
          <a:bodyPr wrap="none" anchor="ctr">
            <a:spAutoFit/>
          </a:bodyPr>
          <a:lstStyle/>
          <a:p>
            <a:endParaRPr lang="zh-CN" altLang="en-US"/>
          </a:p>
        </p:txBody>
      </p:sp>
      <p:graphicFrame>
        <p:nvGraphicFramePr>
          <p:cNvPr id="48130" name="Object 2"/>
          <p:cNvGraphicFramePr>
            <a:graphicFrameLocks noChangeAspect="1"/>
          </p:cNvGraphicFramePr>
          <p:nvPr>
            <p:extLst>
              <p:ext uri="{D42A27DB-BD31-4B8C-83A1-F6EECF244321}">
                <p14:modId xmlns:p14="http://schemas.microsoft.com/office/powerpoint/2010/main" val="882784838"/>
              </p:ext>
            </p:extLst>
          </p:nvPr>
        </p:nvGraphicFramePr>
        <p:xfrm>
          <a:off x="2017713" y="2078038"/>
          <a:ext cx="7848600" cy="1155700"/>
        </p:xfrm>
        <a:graphic>
          <a:graphicData uri="http://schemas.openxmlformats.org/presentationml/2006/ole">
            <mc:AlternateContent xmlns:mc="http://schemas.openxmlformats.org/markup-compatibility/2006">
              <mc:Choice xmlns:v="urn:schemas-microsoft-com:vml" Requires="v">
                <p:oleObj name="Equation" r:id="rId3" imgW="3149600" imgH="419100" progId="Equation.DSMT4">
                  <p:embed/>
                </p:oleObj>
              </mc:Choice>
              <mc:Fallback>
                <p:oleObj name="Equation" r:id="rId3" imgW="3149600" imgH="419100" progId="Equation.DSMT4">
                  <p:embed/>
                  <p:pic>
                    <p:nvPicPr>
                      <p:cNvPr id="4813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17713" y="2078038"/>
                        <a:ext cx="7848600" cy="1155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8136" name="Rectangle 6"/>
          <p:cNvSpPr>
            <a:spLocks noChangeArrowheads="1"/>
          </p:cNvSpPr>
          <p:nvPr/>
        </p:nvSpPr>
        <p:spPr bwMode="auto">
          <a:xfrm>
            <a:off x="1524001" y="3144322"/>
            <a:ext cx="184731" cy="369332"/>
          </a:xfrm>
          <a:prstGeom prst="rect">
            <a:avLst/>
          </a:prstGeom>
          <a:noFill/>
          <a:ln w="9525">
            <a:noFill/>
            <a:miter lim="800000"/>
            <a:headEnd/>
            <a:tailEnd/>
          </a:ln>
        </p:spPr>
        <p:txBody>
          <a:bodyPr wrap="none" anchor="ctr">
            <a:spAutoFit/>
          </a:bodyPr>
          <a:lstStyle/>
          <a:p>
            <a:endParaRPr lang="zh-CN" altLang="en-US"/>
          </a:p>
        </p:txBody>
      </p:sp>
      <p:graphicFrame>
        <p:nvGraphicFramePr>
          <p:cNvPr id="48131" name="Object 3"/>
          <p:cNvGraphicFramePr>
            <a:graphicFrameLocks noChangeAspect="1"/>
          </p:cNvGraphicFramePr>
          <p:nvPr>
            <p:extLst>
              <p:ext uri="{D42A27DB-BD31-4B8C-83A1-F6EECF244321}">
                <p14:modId xmlns:p14="http://schemas.microsoft.com/office/powerpoint/2010/main" val="3205996320"/>
              </p:ext>
            </p:extLst>
          </p:nvPr>
        </p:nvGraphicFramePr>
        <p:xfrm>
          <a:off x="2017713" y="3817658"/>
          <a:ext cx="6840537" cy="636588"/>
        </p:xfrm>
        <a:graphic>
          <a:graphicData uri="http://schemas.openxmlformats.org/presentationml/2006/ole">
            <mc:AlternateContent xmlns:mc="http://schemas.openxmlformats.org/markup-compatibility/2006">
              <mc:Choice xmlns:v="urn:schemas-microsoft-com:vml" Requires="v">
                <p:oleObj name="Equation" r:id="rId5" imgW="2286000" imgH="215640" progId="Equation.DSMT4">
                  <p:embed/>
                </p:oleObj>
              </mc:Choice>
              <mc:Fallback>
                <p:oleObj name="Equation" r:id="rId5" imgW="2286000" imgH="215640" progId="Equation.DSMT4">
                  <p:embed/>
                  <p:pic>
                    <p:nvPicPr>
                      <p:cNvPr id="48131"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17713" y="3817658"/>
                        <a:ext cx="6840537" cy="636588"/>
                      </a:xfrm>
                      <a:prstGeom prst="rect">
                        <a:avLst/>
                      </a:prstGeom>
                      <a:noFill/>
                      <a:extLst>
                        <a:ext uri="{909E8E84-426E-40DD-AFC4-6F175D3DCCD1}">
                          <a14:hiddenFill xmlns:a14="http://schemas.microsoft.com/office/drawing/2010/main">
                            <a:solidFill>
                              <a:srgbClr val="00FF99"/>
                            </a:solidFill>
                          </a14:hiddenFill>
                        </a:ext>
                      </a:extLst>
                    </p:spPr>
                  </p:pic>
                </p:oleObj>
              </mc:Fallback>
            </mc:AlternateContent>
          </a:graphicData>
        </a:graphic>
      </p:graphicFrame>
      <p:sp>
        <p:nvSpPr>
          <p:cNvPr id="2" name="矩形 1"/>
          <p:cNvSpPr/>
          <p:nvPr/>
        </p:nvSpPr>
        <p:spPr>
          <a:xfrm>
            <a:off x="2241529" y="5038166"/>
            <a:ext cx="6936762" cy="523220"/>
          </a:xfrm>
          <a:prstGeom prst="rect">
            <a:avLst/>
          </a:prstGeom>
          <a:solidFill>
            <a:schemeClr val="accent5">
              <a:lumMod val="20000"/>
              <a:lumOff val="80000"/>
            </a:schemeClr>
          </a:solidFill>
        </p:spPr>
        <p:txBody>
          <a:bodyPr wrap="square">
            <a:spAutoFit/>
          </a:bodyPr>
          <a:lstStyle/>
          <a:p>
            <a:r>
              <a:rPr lang="zh-CN" altLang="en-US" sz="2800" kern="100" dirty="0">
                <a:solidFill>
                  <a:srgbClr val="0070C0"/>
                </a:solidFill>
                <a:latin typeface="Times New Roman" panose="02020603050405020304" pitchFamily="18" charset="0"/>
                <a:ea typeface="宋体" panose="02010600030101010101" pitchFamily="2" charset="-122"/>
              </a:rPr>
              <a:t>这里的</a:t>
            </a:r>
            <a:r>
              <a:rPr lang="en-US" altLang="zh-CN" sz="2800" i="1" kern="100" dirty="0">
                <a:solidFill>
                  <a:srgbClr val="0070C0"/>
                </a:solidFill>
                <a:latin typeface="Times New Roman" panose="02020603050405020304" pitchFamily="18" charset="0"/>
                <a:ea typeface="宋体" panose="02010600030101010101" pitchFamily="2" charset="-122"/>
              </a:rPr>
              <a:t>P</a:t>
            </a:r>
            <a:r>
              <a:rPr lang="zh-CN" altLang="zh-CN" sz="2800" kern="100" dirty="0">
                <a:solidFill>
                  <a:srgbClr val="0070C0"/>
                </a:solidFill>
                <a:latin typeface="Times New Roman" panose="02020603050405020304" pitchFamily="18" charset="0"/>
                <a:ea typeface="宋体" panose="02010600030101010101" pitchFamily="2" charset="-122"/>
                <a:cs typeface="Times New Roman" panose="02020603050405020304" pitchFamily="18" charset="0"/>
              </a:rPr>
              <a:t>值</a:t>
            </a:r>
            <a:r>
              <a:rPr lang="zh-CN" altLang="zh-CN" sz="2800" kern="100" dirty="0">
                <a:solidFill>
                  <a:srgbClr val="0070C0"/>
                </a:solidFill>
                <a:latin typeface="Arial" panose="020B0604020202020204" pitchFamily="34" charset="0"/>
                <a:ea typeface="宋体" panose="02010600030101010101" pitchFamily="2" charset="-122"/>
                <a:cs typeface="Arial" panose="020B0604020202020204" pitchFamily="34" charset="0"/>
              </a:rPr>
              <a:t>借助于</a:t>
            </a:r>
            <a:r>
              <a:rPr lang="en-US" altLang="zh-CN" sz="2800" kern="100" dirty="0">
                <a:solidFill>
                  <a:srgbClr val="0070C0"/>
                </a:solidFill>
                <a:latin typeface="Times New Roman" panose="02020603050405020304" pitchFamily="18" charset="0"/>
                <a:ea typeface="宋体" panose="02010600030101010101" pitchFamily="2" charset="-122"/>
              </a:rPr>
              <a:t>EXCEL</a:t>
            </a:r>
            <a:r>
              <a:rPr lang="zh-CN" altLang="zh-CN" sz="2800" kern="100" dirty="0">
                <a:solidFill>
                  <a:srgbClr val="0070C0"/>
                </a:solidFill>
                <a:latin typeface="Times New Roman" panose="02020603050405020304" pitchFamily="18" charset="0"/>
                <a:ea typeface="宋体" panose="02010600030101010101" pitchFamily="2" charset="-122"/>
                <a:cs typeface="Times New Roman" panose="02020603050405020304" pitchFamily="18" charset="0"/>
              </a:rPr>
              <a:t>的</a:t>
            </a:r>
            <a:r>
              <a:rPr lang="en-US" altLang="zh-CN" sz="2800" kern="100" dirty="0">
                <a:solidFill>
                  <a:srgbClr val="0070C0"/>
                </a:solidFill>
                <a:latin typeface="Times New Roman" panose="02020603050405020304" pitchFamily="18" charset="0"/>
                <a:ea typeface="宋体" panose="02010600030101010101" pitchFamily="2" charset="-122"/>
              </a:rPr>
              <a:t>FDIST</a:t>
            </a:r>
            <a:r>
              <a:rPr lang="zh-CN" altLang="zh-CN" sz="2800" kern="100" dirty="0">
                <a:solidFill>
                  <a:srgbClr val="0070C0"/>
                </a:solidFill>
                <a:latin typeface="Times New Roman" panose="02020603050405020304" pitchFamily="18" charset="0"/>
                <a:ea typeface="宋体" panose="02010600030101010101" pitchFamily="2" charset="-122"/>
                <a:cs typeface="Times New Roman" panose="02020603050405020304" pitchFamily="18" charset="0"/>
              </a:rPr>
              <a:t>函数可得。</a:t>
            </a:r>
            <a:endParaRPr lang="zh-CN" altLang="en-US" sz="4800" dirty="0">
              <a:solidFill>
                <a:srgbClr val="0070C0"/>
              </a:solidFill>
            </a:endParaRPr>
          </a:p>
        </p:txBody>
      </p:sp>
    </p:spTree>
    <p:extLst>
      <p:ext uri="{BB962C8B-B14F-4D97-AF65-F5344CB8AC3E}">
        <p14:creationId xmlns:p14="http://schemas.microsoft.com/office/powerpoint/2010/main" val="2304133215"/>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灯片编号占位符 5"/>
          <p:cNvSpPr>
            <a:spLocks noGrp="1"/>
          </p:cNvSpPr>
          <p:nvPr>
            <p:ph type="sldNum" sz="quarter" idx="4294967295"/>
          </p:nvPr>
        </p:nvSpPr>
        <p:spPr>
          <a:noFill/>
        </p:spPr>
        <p:txBody>
          <a:bodyPr/>
          <a:lstStyle/>
          <a:p>
            <a:r>
              <a:rPr lang="en-US" altLang="zh-CN">
                <a:ea typeface="宋体" pitchFamily="2" charset="-122"/>
              </a:rPr>
              <a:t>8.4--</a:t>
            </a:r>
            <a:fld id="{C48FB52D-5B7D-4820-9C8F-18951F825DB0}" type="slidenum">
              <a:rPr lang="en-US" altLang="zh-CN" smtClean="0">
                <a:ea typeface="宋体" pitchFamily="2" charset="-122"/>
              </a:rPr>
              <a:pPr/>
              <a:t>109</a:t>
            </a:fld>
            <a:endParaRPr lang="en-US" altLang="zh-CN">
              <a:ea typeface="宋体" pitchFamily="2" charset="-122"/>
            </a:endParaRPr>
          </a:p>
        </p:txBody>
      </p:sp>
      <p:sp>
        <p:nvSpPr>
          <p:cNvPr id="123907" name="Rectangle 2"/>
          <p:cNvSpPr>
            <a:spLocks noGrp="1" noChangeArrowheads="1"/>
          </p:cNvSpPr>
          <p:nvPr>
            <p:ph type="title"/>
          </p:nvPr>
        </p:nvSpPr>
        <p:spPr>
          <a:xfrm>
            <a:off x="1683544" y="277813"/>
            <a:ext cx="8610600" cy="990600"/>
          </a:xfrm>
        </p:spPr>
        <p:txBody>
          <a:bodyPr/>
          <a:lstStyle/>
          <a:p>
            <a:r>
              <a:rPr lang="zh-CN" altLang="en-US" sz="4000" b="1" dirty="0">
                <a:solidFill>
                  <a:srgbClr val="0070C0"/>
                </a:solidFill>
                <a:effectLst/>
                <a:latin typeface="Times New Roman" pitchFamily="18" charset="0"/>
              </a:rPr>
              <a:t>单因素方差分析</a:t>
            </a:r>
            <a:r>
              <a:rPr lang="zh-CN" altLang="en-US" sz="4000" b="1" dirty="0">
                <a:solidFill>
                  <a:srgbClr val="0070C0"/>
                </a:solidFill>
                <a:effectLst/>
              </a:rPr>
              <a:t>的</a:t>
            </a:r>
            <a:r>
              <a:rPr lang="en-US" altLang="zh-CN" sz="4000" b="1" dirty="0">
                <a:solidFill>
                  <a:srgbClr val="0070C0"/>
                </a:solidFill>
                <a:effectLst/>
              </a:rPr>
              <a:t>Excel </a:t>
            </a:r>
            <a:r>
              <a:rPr lang="zh-CN" altLang="en-US" sz="4000" b="1" dirty="0">
                <a:solidFill>
                  <a:srgbClr val="0070C0"/>
                </a:solidFill>
                <a:effectLst/>
              </a:rPr>
              <a:t>输出结果</a:t>
            </a:r>
          </a:p>
        </p:txBody>
      </p:sp>
      <p:graphicFrame>
        <p:nvGraphicFramePr>
          <p:cNvPr id="134221" name="Group 77"/>
          <p:cNvGraphicFramePr>
            <a:graphicFrameLocks noGrp="1"/>
          </p:cNvGraphicFramePr>
          <p:nvPr>
            <p:extLst>
              <p:ext uri="{D42A27DB-BD31-4B8C-83A1-F6EECF244321}">
                <p14:modId xmlns:p14="http://schemas.microsoft.com/office/powerpoint/2010/main" val="3287394538"/>
              </p:ext>
            </p:extLst>
          </p:nvPr>
        </p:nvGraphicFramePr>
        <p:xfrm>
          <a:off x="1724819" y="1229301"/>
          <a:ext cx="8569325" cy="4351338"/>
        </p:xfrm>
        <a:graphic>
          <a:graphicData uri="http://schemas.openxmlformats.org/drawingml/2006/table">
            <a:tbl>
              <a:tblPr/>
              <a:tblGrid>
                <a:gridCol w="1439863">
                  <a:extLst>
                    <a:ext uri="{9D8B030D-6E8A-4147-A177-3AD203B41FA5}">
                      <a16:colId xmlns:a16="http://schemas.microsoft.com/office/drawing/2014/main" val="20000"/>
                    </a:ext>
                  </a:extLst>
                </a:gridCol>
                <a:gridCol w="1223962">
                  <a:extLst>
                    <a:ext uri="{9D8B030D-6E8A-4147-A177-3AD203B41FA5}">
                      <a16:colId xmlns:a16="http://schemas.microsoft.com/office/drawing/2014/main" val="20001"/>
                    </a:ext>
                  </a:extLst>
                </a:gridCol>
                <a:gridCol w="1081088">
                  <a:extLst>
                    <a:ext uri="{9D8B030D-6E8A-4147-A177-3AD203B41FA5}">
                      <a16:colId xmlns:a16="http://schemas.microsoft.com/office/drawing/2014/main" val="20002"/>
                    </a:ext>
                  </a:extLst>
                </a:gridCol>
                <a:gridCol w="1223962">
                  <a:extLst>
                    <a:ext uri="{9D8B030D-6E8A-4147-A177-3AD203B41FA5}">
                      <a16:colId xmlns:a16="http://schemas.microsoft.com/office/drawing/2014/main" val="20003"/>
                    </a:ext>
                  </a:extLst>
                </a:gridCol>
                <a:gridCol w="1152525">
                  <a:extLst>
                    <a:ext uri="{9D8B030D-6E8A-4147-A177-3AD203B41FA5}">
                      <a16:colId xmlns:a16="http://schemas.microsoft.com/office/drawing/2014/main" val="20004"/>
                    </a:ext>
                  </a:extLst>
                </a:gridCol>
                <a:gridCol w="1301750">
                  <a:extLst>
                    <a:ext uri="{9D8B030D-6E8A-4147-A177-3AD203B41FA5}">
                      <a16:colId xmlns:a16="http://schemas.microsoft.com/office/drawing/2014/main" val="20005"/>
                    </a:ext>
                  </a:extLst>
                </a:gridCol>
                <a:gridCol w="1146175">
                  <a:extLst>
                    <a:ext uri="{9D8B030D-6E8A-4147-A177-3AD203B41FA5}">
                      <a16:colId xmlns:a16="http://schemas.microsoft.com/office/drawing/2014/main" val="20006"/>
                    </a:ext>
                  </a:extLst>
                </a:gridCol>
              </a:tblGrid>
              <a:tr h="398463">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dirty="0">
                          <a:ln>
                            <a:noFill/>
                          </a:ln>
                          <a:solidFill>
                            <a:srgbClr val="000000"/>
                          </a:solidFill>
                          <a:effectLst/>
                          <a:latin typeface="Times New Roman" pitchFamily="18" charset="0"/>
                          <a:ea typeface="宋体" charset="-122"/>
                        </a:rPr>
                        <a:t>  </a:t>
                      </a:r>
                      <a:r>
                        <a:rPr kumimoji="0" lang="zh-CN" altLang="en-US" sz="2400" b="1" i="0" u="none" strike="noStrike" cap="none" normalizeH="0" baseline="0" dirty="0">
                          <a:ln>
                            <a:noFill/>
                          </a:ln>
                          <a:solidFill>
                            <a:srgbClr val="000000"/>
                          </a:solidFill>
                          <a:effectLst/>
                          <a:latin typeface="Times New Roman" pitchFamily="18" charset="0"/>
                          <a:ea typeface="宋体" charset="-122"/>
                        </a:rPr>
                        <a:t>组</a:t>
                      </a:r>
                      <a:endParaRPr kumimoji="0" lang="zh-CN" altLang="en-US" sz="2400" b="1" i="0" u="none" strike="noStrike" cap="none" normalizeH="0" baseline="0" dirty="0">
                        <a:ln>
                          <a:noFill/>
                        </a:ln>
                        <a:solidFill>
                          <a:srgbClr val="000000"/>
                        </a:solidFill>
                        <a:effectLst/>
                        <a:latin typeface="Arial" charset="0"/>
                        <a:ea typeface="宋体" charset="-122"/>
                      </a:endParaRPr>
                    </a:p>
                  </a:txBody>
                  <a:tcPr anchor="ctr" horzOverflow="overflow">
                    <a:lnL cap="flat">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a:ln>
                            <a:noFill/>
                          </a:ln>
                          <a:solidFill>
                            <a:srgbClr val="000000"/>
                          </a:solidFill>
                          <a:effectLst/>
                          <a:latin typeface="Times New Roman" pitchFamily="18" charset="0"/>
                          <a:ea typeface="宋体" charset="-122"/>
                        </a:rPr>
                        <a:t>观测数</a:t>
                      </a:r>
                      <a:endParaRPr kumimoji="0" lang="zh-CN" altLang="en-US" sz="2400" b="1" i="0" u="none" strike="noStrike" cap="none" normalizeH="0" baseline="0">
                        <a:ln>
                          <a:noFill/>
                        </a:ln>
                        <a:solidFill>
                          <a:srgbClr val="000000"/>
                        </a:solidFill>
                        <a:effectLst/>
                        <a:latin typeface="Arial" charset="0"/>
                        <a:ea typeface="宋体" charset="-122"/>
                      </a:endParaRPr>
                    </a:p>
                  </a:txBody>
                  <a:tcPr anchor="ctr"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a:ln>
                            <a:noFill/>
                          </a:ln>
                          <a:solidFill>
                            <a:srgbClr val="000000"/>
                          </a:solidFill>
                          <a:effectLst/>
                          <a:latin typeface="Times New Roman" pitchFamily="18" charset="0"/>
                          <a:ea typeface="宋体" charset="-122"/>
                        </a:rPr>
                        <a:t>  </a:t>
                      </a:r>
                      <a:r>
                        <a:rPr kumimoji="0" lang="zh-CN" altLang="en-US" sz="2400" b="1" i="0" u="none" strike="noStrike" cap="none" normalizeH="0" baseline="0">
                          <a:ln>
                            <a:noFill/>
                          </a:ln>
                          <a:solidFill>
                            <a:srgbClr val="000000"/>
                          </a:solidFill>
                          <a:effectLst/>
                          <a:latin typeface="Times New Roman" pitchFamily="18" charset="0"/>
                          <a:ea typeface="宋体" charset="-122"/>
                        </a:rPr>
                        <a:t>求和</a:t>
                      </a:r>
                      <a:endParaRPr kumimoji="0" lang="zh-CN" altLang="en-US" sz="2400" b="1" i="0" u="none" strike="noStrike" cap="none" normalizeH="0" baseline="0">
                        <a:ln>
                          <a:noFill/>
                        </a:ln>
                        <a:solidFill>
                          <a:srgbClr val="000000"/>
                        </a:solidFill>
                        <a:effectLst/>
                        <a:latin typeface="Arial" charset="0"/>
                        <a:ea typeface="宋体" charset="-122"/>
                      </a:endParaRPr>
                    </a:p>
                  </a:txBody>
                  <a:tcPr anchor="ctr"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a:ln>
                            <a:noFill/>
                          </a:ln>
                          <a:solidFill>
                            <a:srgbClr val="000000"/>
                          </a:solidFill>
                          <a:effectLst/>
                          <a:latin typeface="Times New Roman" pitchFamily="18" charset="0"/>
                          <a:ea typeface="宋体" charset="-122"/>
                        </a:rPr>
                        <a:t>     </a:t>
                      </a:r>
                      <a:r>
                        <a:rPr kumimoji="0" lang="zh-CN" altLang="en-US" sz="2400" b="1" i="0" u="none" strike="noStrike" cap="none" normalizeH="0" baseline="0">
                          <a:ln>
                            <a:noFill/>
                          </a:ln>
                          <a:solidFill>
                            <a:srgbClr val="000000"/>
                          </a:solidFill>
                          <a:effectLst/>
                          <a:latin typeface="Times New Roman" pitchFamily="18" charset="0"/>
                          <a:ea typeface="宋体" charset="-122"/>
                        </a:rPr>
                        <a:t>平均</a:t>
                      </a:r>
                      <a:endParaRPr kumimoji="0" lang="zh-CN" altLang="en-US" sz="2400" b="1" i="0" u="none" strike="noStrike" cap="none" normalizeH="0" baseline="0">
                        <a:ln>
                          <a:noFill/>
                        </a:ln>
                        <a:solidFill>
                          <a:srgbClr val="000000"/>
                        </a:solidFill>
                        <a:effectLst/>
                        <a:latin typeface="Arial" charset="0"/>
                        <a:ea typeface="宋体" charset="-122"/>
                      </a:endParaRPr>
                    </a:p>
                  </a:txBody>
                  <a:tcPr anchor="ctr"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a:ln>
                            <a:noFill/>
                          </a:ln>
                          <a:solidFill>
                            <a:srgbClr val="000000"/>
                          </a:solidFill>
                          <a:effectLst/>
                          <a:latin typeface="Times New Roman" pitchFamily="18" charset="0"/>
                          <a:ea typeface="宋体" charset="-122"/>
                        </a:rPr>
                        <a:t>    </a:t>
                      </a:r>
                      <a:r>
                        <a:rPr kumimoji="0" lang="zh-CN" altLang="en-US" sz="2400" b="1" i="0" u="none" strike="noStrike" cap="none" normalizeH="0" baseline="0">
                          <a:ln>
                            <a:noFill/>
                          </a:ln>
                          <a:solidFill>
                            <a:srgbClr val="000000"/>
                          </a:solidFill>
                          <a:effectLst/>
                          <a:latin typeface="Times New Roman" pitchFamily="18" charset="0"/>
                          <a:ea typeface="宋体" charset="-122"/>
                        </a:rPr>
                        <a:t>方差</a:t>
                      </a:r>
                      <a:endParaRPr kumimoji="0" lang="zh-CN" altLang="en-US" sz="2400" b="1" i="0" u="none" strike="noStrike" cap="none" normalizeH="0" baseline="0">
                        <a:ln>
                          <a:noFill/>
                        </a:ln>
                        <a:solidFill>
                          <a:srgbClr val="000000"/>
                        </a:solidFill>
                        <a:effectLst/>
                        <a:latin typeface="Arial" charset="0"/>
                        <a:ea typeface="宋体" charset="-122"/>
                      </a:endParaRPr>
                    </a:p>
                  </a:txBody>
                  <a:tcPr anchor="ctr"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90000"/>
                        <a:buFontTx/>
                        <a:buNone/>
                        <a:tabLst/>
                      </a:pPr>
                      <a:endParaRPr kumimoji="0" lang="zh-CN" altLang="zh-CN" sz="2400" b="1" i="0" u="none" strike="noStrike" cap="none" normalizeH="0" baseline="0">
                        <a:ln>
                          <a:noFill/>
                        </a:ln>
                        <a:solidFill>
                          <a:srgbClr val="000000"/>
                        </a:solidFill>
                        <a:effectLst/>
                        <a:latin typeface="Tahoma" pitchFamily="34" charset="0"/>
                        <a:ea typeface="宋体" charset="-122"/>
                      </a:endParaRPr>
                    </a:p>
                  </a:txBody>
                  <a:tcPr anchor="ctr" horzOverflow="overflow">
                    <a:lnL>
                      <a:noFill/>
                    </a:lnL>
                    <a:lnR>
                      <a:noFill/>
                    </a:lnR>
                    <a:lnT cap="fla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90000"/>
                        <a:buFontTx/>
                        <a:buNone/>
                        <a:tabLst/>
                      </a:pPr>
                      <a:endParaRPr kumimoji="0" lang="zh-CN" altLang="zh-CN" sz="2400" b="1" i="0" u="none" strike="noStrike" cap="none" normalizeH="0" baseline="0">
                        <a:ln>
                          <a:noFill/>
                        </a:ln>
                        <a:solidFill>
                          <a:srgbClr val="000000"/>
                        </a:solidFill>
                        <a:effectLst/>
                        <a:latin typeface="Tahoma" pitchFamily="34" charset="0"/>
                        <a:ea typeface="宋体" charset="-122"/>
                      </a:endParaRPr>
                    </a:p>
                  </a:txBody>
                  <a:tcPr anchor="ctr" horzOverflow="overflow">
                    <a:lnL>
                      <a:noFill/>
                    </a:lnL>
                    <a:lnR cap="flat">
                      <a:noFill/>
                    </a:lnR>
                    <a:lnT cap="flat">
                      <a:noFill/>
                    </a:lnT>
                    <a:lnB>
                      <a:noFill/>
                    </a:lnB>
                    <a:lnTlToBr>
                      <a:noFill/>
                    </a:lnTlToBr>
                    <a:lnBlToTr>
                      <a:noFill/>
                    </a:lnBlToTr>
                    <a:noFill/>
                  </a:tcPr>
                </a:tc>
                <a:extLst>
                  <a:ext uri="{0D108BD9-81ED-4DB2-BD59-A6C34878D82A}">
                    <a16:rowId xmlns:a16="http://schemas.microsoft.com/office/drawing/2014/main" val="10000"/>
                  </a:ext>
                </a:extLst>
              </a:tr>
              <a:tr h="398463">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a:ln>
                            <a:noFill/>
                          </a:ln>
                          <a:solidFill>
                            <a:srgbClr val="000000"/>
                          </a:solidFill>
                          <a:effectLst/>
                          <a:latin typeface="Times New Roman" pitchFamily="18" charset="0"/>
                          <a:ea typeface="宋体" charset="-122"/>
                        </a:rPr>
                        <a:t>  A1</a:t>
                      </a:r>
                      <a:endParaRPr kumimoji="0" lang="en-US" altLang="zh-CN" sz="2400" b="1" i="0" u="none" strike="noStrike" cap="none" normalizeH="0" baseline="0">
                        <a:ln>
                          <a:noFill/>
                        </a:ln>
                        <a:solidFill>
                          <a:srgbClr val="000000"/>
                        </a:solidFill>
                        <a:effectLst/>
                        <a:latin typeface="Arial" charset="0"/>
                        <a:ea typeface="宋体" charset="-122"/>
                      </a:endParaRPr>
                    </a:p>
                  </a:txBody>
                  <a:tcPr anchor="ctr" horzOverflow="overflow">
                    <a:lnL cap="flat">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dirty="0">
                          <a:ln>
                            <a:noFill/>
                          </a:ln>
                          <a:solidFill>
                            <a:srgbClr val="000000"/>
                          </a:solidFill>
                          <a:effectLst/>
                          <a:latin typeface="Times New Roman" pitchFamily="18" charset="0"/>
                          <a:ea typeface="宋体" charset="-122"/>
                        </a:rPr>
                        <a:t>6</a:t>
                      </a:r>
                      <a:endParaRPr kumimoji="0" lang="en-US" altLang="zh-CN" sz="2400" b="1" i="0" u="none" strike="noStrike" cap="none" normalizeH="0" baseline="0" dirty="0">
                        <a:ln>
                          <a:noFill/>
                        </a:ln>
                        <a:solidFill>
                          <a:srgbClr val="000000"/>
                        </a:solidFill>
                        <a:effectLst/>
                        <a:latin typeface="Arial" charset="0"/>
                        <a:ea typeface="宋体" charset="-122"/>
                      </a:endParaRPr>
                    </a:p>
                  </a:txBody>
                  <a:tcPr anchor="ctr"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a:ln>
                            <a:noFill/>
                          </a:ln>
                          <a:solidFill>
                            <a:srgbClr val="000000"/>
                          </a:solidFill>
                          <a:effectLst/>
                          <a:latin typeface="Times New Roman" pitchFamily="18" charset="0"/>
                          <a:ea typeface="宋体" charset="-122"/>
                        </a:rPr>
                        <a:t>384</a:t>
                      </a:r>
                      <a:endParaRPr kumimoji="0" lang="en-US" altLang="zh-CN" sz="2400" b="1" i="0" u="none" strike="noStrike" cap="none" normalizeH="0" baseline="0">
                        <a:ln>
                          <a:noFill/>
                        </a:ln>
                        <a:solidFill>
                          <a:srgbClr val="000000"/>
                        </a:solidFill>
                        <a:effectLst/>
                        <a:latin typeface="Arial" charset="0"/>
                        <a:ea typeface="宋体" charset="-122"/>
                      </a:endParaRPr>
                    </a:p>
                  </a:txBody>
                  <a:tcPr anchor="ctr"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a:ln>
                            <a:noFill/>
                          </a:ln>
                          <a:solidFill>
                            <a:srgbClr val="000000"/>
                          </a:solidFill>
                          <a:effectLst/>
                          <a:latin typeface="Times New Roman" pitchFamily="18" charset="0"/>
                          <a:ea typeface="宋体" charset="-122"/>
                        </a:rPr>
                        <a:t>64</a:t>
                      </a:r>
                      <a:endParaRPr kumimoji="0" lang="en-US" altLang="zh-CN" sz="2400" b="1" i="0" u="none" strike="noStrike" cap="none" normalizeH="0" baseline="0">
                        <a:ln>
                          <a:noFill/>
                        </a:ln>
                        <a:solidFill>
                          <a:srgbClr val="000000"/>
                        </a:solidFill>
                        <a:effectLst/>
                        <a:latin typeface="Arial" charset="0"/>
                        <a:ea typeface="宋体" charset="-122"/>
                      </a:endParaRPr>
                    </a:p>
                  </a:txBody>
                  <a:tcPr anchor="ctr"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a:ln>
                            <a:noFill/>
                          </a:ln>
                          <a:solidFill>
                            <a:srgbClr val="000000"/>
                          </a:solidFill>
                          <a:effectLst/>
                          <a:latin typeface="Times New Roman" pitchFamily="18" charset="0"/>
                          <a:ea typeface="宋体" charset="-122"/>
                        </a:rPr>
                        <a:t>52.4</a:t>
                      </a:r>
                      <a:endParaRPr kumimoji="0" lang="en-US" altLang="zh-CN" sz="2400" b="1" i="0" u="none" strike="noStrike" cap="none" normalizeH="0" baseline="0">
                        <a:ln>
                          <a:noFill/>
                        </a:ln>
                        <a:solidFill>
                          <a:srgbClr val="000000"/>
                        </a:solidFill>
                        <a:effectLst/>
                        <a:latin typeface="Arial" charset="0"/>
                        <a:ea typeface="宋体" charset="-122"/>
                      </a:endParaRPr>
                    </a:p>
                  </a:txBody>
                  <a:tcPr anchor="ctr"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90000"/>
                        <a:buFontTx/>
                        <a:buNone/>
                        <a:tabLst/>
                      </a:pPr>
                      <a:endParaRPr kumimoji="0" lang="zh-CN" altLang="zh-CN" sz="2400" b="1" i="0" u="none" strike="noStrike" cap="none" normalizeH="0" baseline="0">
                        <a:ln>
                          <a:noFill/>
                        </a:ln>
                        <a:solidFill>
                          <a:srgbClr val="000000"/>
                        </a:solidFill>
                        <a:effectLst/>
                        <a:latin typeface="Tahoma" pitchFamily="34" charset="0"/>
                        <a:ea typeface="宋体" charset="-122"/>
                      </a:endParaRPr>
                    </a:p>
                  </a:txBody>
                  <a:tcPr anchor="ctr" horzOverflow="overflow">
                    <a:lnL>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90000"/>
                        <a:buFontTx/>
                        <a:buNone/>
                        <a:tabLst/>
                      </a:pPr>
                      <a:endParaRPr kumimoji="0" lang="zh-CN" altLang="zh-CN" sz="2400" b="1" i="0" u="none" strike="noStrike" cap="none" normalizeH="0" baseline="0">
                        <a:ln>
                          <a:noFill/>
                        </a:ln>
                        <a:solidFill>
                          <a:srgbClr val="000000"/>
                        </a:solidFill>
                        <a:effectLst/>
                        <a:latin typeface="Tahoma" pitchFamily="34" charset="0"/>
                        <a:ea typeface="宋体" charset="-122"/>
                      </a:endParaRPr>
                    </a:p>
                  </a:txBody>
                  <a:tcPr anchor="ct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1"/>
                  </a:ext>
                </a:extLst>
              </a:tr>
              <a:tr h="39687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dirty="0">
                          <a:ln>
                            <a:noFill/>
                          </a:ln>
                          <a:solidFill>
                            <a:srgbClr val="000000"/>
                          </a:solidFill>
                          <a:effectLst/>
                          <a:latin typeface="Times New Roman" pitchFamily="18" charset="0"/>
                          <a:ea typeface="宋体" charset="-122"/>
                        </a:rPr>
                        <a:t>  A2</a:t>
                      </a:r>
                      <a:endParaRPr kumimoji="0" lang="en-US" altLang="zh-CN" sz="2400" b="1" i="0" u="none" strike="noStrike" cap="none" normalizeH="0" baseline="0" dirty="0">
                        <a:ln>
                          <a:noFill/>
                        </a:ln>
                        <a:solidFill>
                          <a:srgbClr val="000000"/>
                        </a:solidFill>
                        <a:effectLst/>
                        <a:latin typeface="Arial" charset="0"/>
                        <a:ea typeface="宋体" charset="-122"/>
                      </a:endParaRPr>
                    </a:p>
                  </a:txBody>
                  <a:tcPr anchor="ctr" horzOverflow="overflow">
                    <a:lnL cap="flat">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dirty="0">
                          <a:ln>
                            <a:noFill/>
                          </a:ln>
                          <a:solidFill>
                            <a:srgbClr val="000000"/>
                          </a:solidFill>
                          <a:effectLst/>
                          <a:latin typeface="Times New Roman" pitchFamily="18" charset="0"/>
                          <a:ea typeface="宋体" charset="-122"/>
                        </a:rPr>
                        <a:t>5</a:t>
                      </a:r>
                      <a:endParaRPr kumimoji="0" lang="en-US" altLang="zh-CN" sz="2400" b="1" i="0" u="none" strike="noStrike" cap="none" normalizeH="0" baseline="0" dirty="0">
                        <a:ln>
                          <a:noFill/>
                        </a:ln>
                        <a:solidFill>
                          <a:srgbClr val="000000"/>
                        </a:solidFill>
                        <a:effectLst/>
                        <a:latin typeface="Arial" charset="0"/>
                        <a:ea typeface="宋体" charset="-122"/>
                      </a:endParaRPr>
                    </a:p>
                  </a:txBody>
                  <a:tcPr anchor="ctr" horzOverflow="overflow">
                    <a:lnL>
                      <a:noFill/>
                    </a:lnL>
                    <a:lnR>
                      <a:noFill/>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a:ln>
                            <a:noFill/>
                          </a:ln>
                          <a:solidFill>
                            <a:srgbClr val="000000"/>
                          </a:solidFill>
                          <a:effectLst/>
                          <a:latin typeface="Times New Roman" pitchFamily="18" charset="0"/>
                          <a:ea typeface="宋体" charset="-122"/>
                        </a:rPr>
                        <a:t>305</a:t>
                      </a:r>
                      <a:endParaRPr kumimoji="0" lang="en-US" altLang="zh-CN" sz="2400" b="1" i="0" u="none" strike="noStrike" cap="none" normalizeH="0" baseline="0">
                        <a:ln>
                          <a:noFill/>
                        </a:ln>
                        <a:solidFill>
                          <a:srgbClr val="000000"/>
                        </a:solidFill>
                        <a:effectLst/>
                        <a:latin typeface="Arial" charset="0"/>
                        <a:ea typeface="宋体" charset="-122"/>
                      </a:endParaRPr>
                    </a:p>
                  </a:txBody>
                  <a:tcPr anchor="ctr" horzOverflow="overflow">
                    <a:lnL>
                      <a:noFill/>
                    </a:lnL>
                    <a:lnR>
                      <a:noFill/>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a:ln>
                            <a:noFill/>
                          </a:ln>
                          <a:solidFill>
                            <a:srgbClr val="000000"/>
                          </a:solidFill>
                          <a:effectLst/>
                          <a:latin typeface="Times New Roman" pitchFamily="18" charset="0"/>
                          <a:ea typeface="宋体" charset="-122"/>
                        </a:rPr>
                        <a:t>61</a:t>
                      </a:r>
                      <a:endParaRPr kumimoji="0" lang="en-US" altLang="zh-CN" sz="2400" b="1" i="0" u="none" strike="noStrike" cap="none" normalizeH="0" baseline="0">
                        <a:ln>
                          <a:noFill/>
                        </a:ln>
                        <a:solidFill>
                          <a:srgbClr val="000000"/>
                        </a:solidFill>
                        <a:effectLst/>
                        <a:latin typeface="Arial" charset="0"/>
                        <a:ea typeface="宋体" charset="-122"/>
                      </a:endParaRPr>
                    </a:p>
                  </a:txBody>
                  <a:tcPr anchor="ctr" horzOverflow="overflow">
                    <a:lnL>
                      <a:noFill/>
                    </a:lnL>
                    <a:lnR>
                      <a:noFill/>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a:ln>
                            <a:noFill/>
                          </a:ln>
                          <a:solidFill>
                            <a:srgbClr val="000000"/>
                          </a:solidFill>
                          <a:effectLst/>
                          <a:latin typeface="Times New Roman" pitchFamily="18" charset="0"/>
                          <a:ea typeface="宋体" charset="-122"/>
                        </a:rPr>
                        <a:t>57</a:t>
                      </a:r>
                      <a:endParaRPr kumimoji="0" lang="en-US" altLang="zh-CN" sz="2400" b="1" i="0" u="none" strike="noStrike" cap="none" normalizeH="0" baseline="0">
                        <a:ln>
                          <a:noFill/>
                        </a:ln>
                        <a:solidFill>
                          <a:srgbClr val="000000"/>
                        </a:solidFill>
                        <a:effectLst/>
                        <a:latin typeface="Arial" charset="0"/>
                        <a:ea typeface="宋体" charset="-122"/>
                      </a:endParaRPr>
                    </a:p>
                  </a:txBody>
                  <a:tcPr anchor="ctr" horzOverflow="overflow">
                    <a:lnL>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90000"/>
                        <a:buFontTx/>
                        <a:buNone/>
                        <a:tabLst/>
                      </a:pPr>
                      <a:endParaRPr kumimoji="0" lang="zh-CN" altLang="zh-CN" sz="2400" b="1" i="0" u="none" strike="noStrike" cap="none" normalizeH="0" baseline="0">
                        <a:ln>
                          <a:noFill/>
                        </a:ln>
                        <a:solidFill>
                          <a:srgbClr val="000000"/>
                        </a:solidFill>
                        <a:effectLst/>
                        <a:latin typeface="Tahoma" pitchFamily="34" charset="0"/>
                        <a:ea typeface="宋体" charset="-122"/>
                      </a:endParaRPr>
                    </a:p>
                  </a:txBody>
                  <a:tcPr anchor="ctr" horzOverflow="overflow">
                    <a:lnL>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90000"/>
                        <a:buFontTx/>
                        <a:buNone/>
                        <a:tabLst/>
                      </a:pPr>
                      <a:endParaRPr kumimoji="0" lang="zh-CN" altLang="zh-CN" sz="2400" b="1" i="0" u="none" strike="noStrike" cap="none" normalizeH="0" baseline="0">
                        <a:ln>
                          <a:noFill/>
                        </a:ln>
                        <a:solidFill>
                          <a:srgbClr val="000000"/>
                        </a:solidFill>
                        <a:effectLst/>
                        <a:latin typeface="Tahoma" pitchFamily="34" charset="0"/>
                        <a:ea typeface="宋体" charset="-122"/>
                      </a:endParaRPr>
                    </a:p>
                  </a:txBody>
                  <a:tcPr anchor="ct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2"/>
                  </a:ext>
                </a:extLst>
              </a:tr>
              <a:tr h="28892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a:ln>
                            <a:noFill/>
                          </a:ln>
                          <a:solidFill>
                            <a:srgbClr val="000000"/>
                          </a:solidFill>
                          <a:effectLst/>
                          <a:latin typeface="Times New Roman" pitchFamily="18" charset="0"/>
                          <a:ea typeface="宋体" charset="-122"/>
                        </a:rPr>
                        <a:t>  A3</a:t>
                      </a:r>
                      <a:endParaRPr kumimoji="0" lang="en-US" altLang="zh-CN" sz="2400" b="1" i="0" u="none" strike="noStrike" cap="none" normalizeH="0" baseline="0">
                        <a:ln>
                          <a:noFill/>
                        </a:ln>
                        <a:solidFill>
                          <a:srgbClr val="000000"/>
                        </a:solidFill>
                        <a:effectLst/>
                        <a:latin typeface="Arial" charset="0"/>
                        <a:ea typeface="宋体" charset="-122"/>
                      </a:endParaRPr>
                    </a:p>
                  </a:txBody>
                  <a:tcPr anchor="ctr" horzOverflow="overflow">
                    <a:lnL cap="flat">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a:ln>
                            <a:noFill/>
                          </a:ln>
                          <a:solidFill>
                            <a:srgbClr val="000000"/>
                          </a:solidFill>
                          <a:effectLst/>
                          <a:latin typeface="Times New Roman" pitchFamily="18" charset="0"/>
                          <a:ea typeface="宋体" charset="-122"/>
                        </a:rPr>
                        <a:t>6</a:t>
                      </a:r>
                      <a:endParaRPr kumimoji="0" lang="en-US" altLang="zh-CN" sz="2400" b="1" i="0" u="none" strike="noStrike" cap="none" normalizeH="0" baseline="0">
                        <a:ln>
                          <a:noFill/>
                        </a:ln>
                        <a:solidFill>
                          <a:srgbClr val="000000"/>
                        </a:solidFill>
                        <a:effectLst/>
                        <a:latin typeface="Arial" charset="0"/>
                        <a:ea typeface="宋体" charset="-122"/>
                      </a:endParaRPr>
                    </a:p>
                  </a:txBody>
                  <a:tcPr anchor="ctr"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a:ln>
                            <a:noFill/>
                          </a:ln>
                          <a:solidFill>
                            <a:srgbClr val="000000"/>
                          </a:solidFill>
                          <a:effectLst/>
                          <a:latin typeface="Times New Roman" pitchFamily="18" charset="0"/>
                          <a:ea typeface="宋体" charset="-122"/>
                        </a:rPr>
                        <a:t>447</a:t>
                      </a:r>
                      <a:endParaRPr kumimoji="0" lang="en-US" altLang="zh-CN" sz="2400" b="1" i="0" u="none" strike="noStrike" cap="none" normalizeH="0" baseline="0">
                        <a:ln>
                          <a:noFill/>
                        </a:ln>
                        <a:solidFill>
                          <a:srgbClr val="000000"/>
                        </a:solidFill>
                        <a:effectLst/>
                        <a:latin typeface="Arial" charset="0"/>
                        <a:ea typeface="宋体" charset="-122"/>
                      </a:endParaRPr>
                    </a:p>
                  </a:txBody>
                  <a:tcPr anchor="ctr"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a:ln>
                            <a:noFill/>
                          </a:ln>
                          <a:solidFill>
                            <a:srgbClr val="000000"/>
                          </a:solidFill>
                          <a:effectLst/>
                          <a:latin typeface="Times New Roman" pitchFamily="18" charset="0"/>
                          <a:ea typeface="宋体" charset="-122"/>
                        </a:rPr>
                        <a:t>74.5</a:t>
                      </a:r>
                      <a:endParaRPr kumimoji="0" lang="en-US" altLang="zh-CN" sz="2400" b="1" i="0" u="none" strike="noStrike" cap="none" normalizeH="0" baseline="0">
                        <a:ln>
                          <a:noFill/>
                        </a:ln>
                        <a:solidFill>
                          <a:srgbClr val="000000"/>
                        </a:solidFill>
                        <a:effectLst/>
                        <a:latin typeface="Arial" charset="0"/>
                        <a:ea typeface="宋体" charset="-122"/>
                      </a:endParaRPr>
                    </a:p>
                  </a:txBody>
                  <a:tcPr anchor="ctr"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a:ln>
                            <a:noFill/>
                          </a:ln>
                          <a:solidFill>
                            <a:srgbClr val="000000"/>
                          </a:solidFill>
                          <a:effectLst/>
                          <a:latin typeface="Times New Roman" pitchFamily="18" charset="0"/>
                          <a:ea typeface="宋体" charset="-122"/>
                        </a:rPr>
                        <a:t>50.3</a:t>
                      </a:r>
                      <a:endParaRPr kumimoji="0" lang="en-US" altLang="zh-CN" sz="2400" b="1" i="0" u="none" strike="noStrike" cap="none" normalizeH="0" baseline="0">
                        <a:ln>
                          <a:noFill/>
                        </a:ln>
                        <a:solidFill>
                          <a:srgbClr val="000000"/>
                        </a:solidFill>
                        <a:effectLst/>
                        <a:latin typeface="Arial" charset="0"/>
                        <a:ea typeface="宋体" charset="-122"/>
                      </a:endParaRPr>
                    </a:p>
                  </a:txBody>
                  <a:tcPr anchor="ctr"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90000"/>
                        <a:buFontTx/>
                        <a:buNone/>
                        <a:tabLst/>
                      </a:pPr>
                      <a:endParaRPr kumimoji="0" lang="zh-CN" altLang="zh-CN" sz="2400" b="1" i="0" u="none" strike="noStrike" cap="none" normalizeH="0" baseline="0">
                        <a:ln>
                          <a:noFill/>
                        </a:ln>
                        <a:solidFill>
                          <a:srgbClr val="000000"/>
                        </a:solidFill>
                        <a:effectLst/>
                        <a:latin typeface="Tahoma" pitchFamily="34" charset="0"/>
                        <a:ea typeface="宋体" charset="-122"/>
                      </a:endParaRPr>
                    </a:p>
                  </a:txBody>
                  <a:tcPr anchor="ctr" horzOverflow="overflow">
                    <a:lnL>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90000"/>
                        <a:buFontTx/>
                        <a:buNone/>
                        <a:tabLst/>
                      </a:pPr>
                      <a:endParaRPr kumimoji="0" lang="zh-CN" altLang="zh-CN" sz="2400" b="1" i="0" u="none" strike="noStrike" cap="none" normalizeH="0" baseline="0">
                        <a:ln>
                          <a:noFill/>
                        </a:ln>
                        <a:solidFill>
                          <a:srgbClr val="000000"/>
                        </a:solidFill>
                        <a:effectLst/>
                        <a:latin typeface="Tahoma" pitchFamily="34" charset="0"/>
                        <a:ea typeface="宋体" charset="-122"/>
                      </a:endParaRPr>
                    </a:p>
                  </a:txBody>
                  <a:tcPr anchor="ct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3"/>
                  </a:ext>
                </a:extLst>
              </a:tr>
              <a:tr h="693738">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a:ln>
                            <a:noFill/>
                          </a:ln>
                          <a:solidFill>
                            <a:srgbClr val="000000"/>
                          </a:solidFill>
                          <a:effectLst/>
                          <a:latin typeface="Times New Roman" pitchFamily="18" charset="0"/>
                          <a:ea typeface="宋体" charset="-122"/>
                        </a:rPr>
                        <a:t>方差分析</a:t>
                      </a:r>
                      <a:endParaRPr kumimoji="0" lang="zh-CN" altLang="en-US" sz="2400" b="1" i="0" u="none" strike="noStrike" cap="none" normalizeH="0" baseline="0">
                        <a:ln>
                          <a:noFill/>
                        </a:ln>
                        <a:solidFill>
                          <a:srgbClr val="000000"/>
                        </a:solidFill>
                        <a:effectLst/>
                        <a:latin typeface="Arial" charset="0"/>
                        <a:ea typeface="宋体" charset="-122"/>
                      </a:endParaRPr>
                    </a:p>
                  </a:txBody>
                  <a:tcPr anchor="ctr" horzOverflow="overflow">
                    <a:lnL cap="flat">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90000"/>
                        <a:buFontTx/>
                        <a:buNone/>
                        <a:tabLst/>
                      </a:pPr>
                      <a:endParaRPr kumimoji="0" lang="zh-CN" altLang="zh-CN" sz="2400" b="1" i="0" u="none" strike="noStrike" cap="none" normalizeH="0" baseline="0" dirty="0">
                        <a:ln>
                          <a:noFill/>
                        </a:ln>
                        <a:solidFill>
                          <a:srgbClr val="000000"/>
                        </a:solidFill>
                        <a:effectLst/>
                        <a:latin typeface="Tahoma" pitchFamily="34" charset="0"/>
                        <a:ea typeface="宋体" charset="-122"/>
                      </a:endParaRPr>
                    </a:p>
                  </a:txBody>
                  <a:tcPr anchor="ctr"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90000"/>
                        <a:buFontTx/>
                        <a:buNone/>
                        <a:tabLst/>
                      </a:pPr>
                      <a:endParaRPr kumimoji="0" lang="zh-CN" altLang="zh-CN" sz="2400" b="1" i="0" u="none" strike="noStrike" cap="none" normalizeH="0" baseline="0" dirty="0">
                        <a:ln>
                          <a:noFill/>
                        </a:ln>
                        <a:solidFill>
                          <a:srgbClr val="000000"/>
                        </a:solidFill>
                        <a:effectLst/>
                        <a:latin typeface="Tahoma" pitchFamily="34" charset="0"/>
                        <a:ea typeface="宋体" charset="-122"/>
                      </a:endParaRPr>
                    </a:p>
                  </a:txBody>
                  <a:tcPr anchor="ctr"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90000"/>
                        <a:buFontTx/>
                        <a:buNone/>
                        <a:tabLst/>
                      </a:pPr>
                      <a:endParaRPr kumimoji="0" lang="zh-CN" altLang="zh-CN" sz="2400" b="1" i="0" u="none" strike="noStrike" cap="none" normalizeH="0" baseline="0">
                        <a:ln>
                          <a:noFill/>
                        </a:ln>
                        <a:solidFill>
                          <a:srgbClr val="000000"/>
                        </a:solidFill>
                        <a:effectLst/>
                        <a:latin typeface="Tahoma" pitchFamily="34" charset="0"/>
                        <a:ea typeface="宋体" charset="-122"/>
                      </a:endParaRPr>
                    </a:p>
                  </a:txBody>
                  <a:tcPr anchor="ctr"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90000"/>
                        <a:buFontTx/>
                        <a:buNone/>
                        <a:tabLst/>
                      </a:pPr>
                      <a:endParaRPr kumimoji="0" lang="zh-CN" altLang="zh-CN" sz="2400" b="1" i="0" u="none" strike="noStrike" cap="none" normalizeH="0" baseline="0">
                        <a:ln>
                          <a:noFill/>
                        </a:ln>
                        <a:solidFill>
                          <a:srgbClr val="000000"/>
                        </a:solidFill>
                        <a:effectLst/>
                        <a:latin typeface="Tahoma" pitchFamily="34" charset="0"/>
                        <a:ea typeface="宋体" charset="-122"/>
                      </a:endParaRPr>
                    </a:p>
                  </a:txBody>
                  <a:tcPr anchor="ctr"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90000"/>
                        <a:buFontTx/>
                        <a:buNone/>
                        <a:tabLst/>
                      </a:pPr>
                      <a:endParaRPr kumimoji="0" lang="zh-CN" altLang="zh-CN" sz="2400" b="1" i="0" u="none" strike="noStrike" cap="none" normalizeH="0" baseline="0">
                        <a:ln>
                          <a:noFill/>
                        </a:ln>
                        <a:solidFill>
                          <a:srgbClr val="000000"/>
                        </a:solidFill>
                        <a:effectLst/>
                        <a:latin typeface="Tahoma" pitchFamily="34" charset="0"/>
                        <a:ea typeface="宋体" charset="-122"/>
                      </a:endParaRPr>
                    </a:p>
                  </a:txBody>
                  <a:tcPr anchor="ctr"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90000"/>
                        <a:buFontTx/>
                        <a:buNone/>
                        <a:tabLst/>
                      </a:pPr>
                      <a:endParaRPr kumimoji="0" lang="zh-CN" altLang="zh-CN" sz="2400" b="1" i="0" u="none" strike="noStrike" cap="none" normalizeH="0" baseline="0">
                        <a:ln>
                          <a:noFill/>
                        </a:ln>
                        <a:solidFill>
                          <a:srgbClr val="000000"/>
                        </a:solidFill>
                        <a:effectLst/>
                        <a:latin typeface="Tahoma" pitchFamily="34" charset="0"/>
                        <a:ea typeface="宋体" charset="-122"/>
                      </a:endParaRPr>
                    </a:p>
                  </a:txBody>
                  <a:tcPr anchor="ctr" horzOverflow="overflow">
                    <a:lnL>
                      <a:noFill/>
                    </a:lnL>
                    <a:lnR cap="flat">
                      <a:noFill/>
                    </a:lnR>
                    <a:lnT>
                      <a:noFill/>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5561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a:ln>
                            <a:noFill/>
                          </a:ln>
                          <a:solidFill>
                            <a:srgbClr val="000000"/>
                          </a:solidFill>
                          <a:effectLst/>
                          <a:latin typeface="Times New Roman" pitchFamily="18" charset="0"/>
                          <a:ea typeface="宋体" charset="-122"/>
                        </a:rPr>
                        <a:t>差异源</a:t>
                      </a:r>
                      <a:endParaRPr kumimoji="0" lang="zh-CN" altLang="en-US" sz="2400" b="1" i="0" u="none" strike="noStrike" cap="none" normalizeH="0" baseline="0">
                        <a:ln>
                          <a:noFill/>
                        </a:ln>
                        <a:solidFill>
                          <a:srgbClr val="000000"/>
                        </a:solidFill>
                        <a:effectLst/>
                        <a:latin typeface="Arial" charset="0"/>
                        <a:ea typeface="宋体" charset="-122"/>
                      </a:endParaRPr>
                    </a:p>
                  </a:txBody>
                  <a:tcPr anchor="ctr" horzOverflow="overflow">
                    <a:lnL cap="flat">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a:ln>
                            <a:noFill/>
                          </a:ln>
                          <a:solidFill>
                            <a:srgbClr val="000000"/>
                          </a:solidFill>
                          <a:effectLst/>
                          <a:latin typeface="Times New Roman" pitchFamily="18" charset="0"/>
                          <a:ea typeface="宋体" charset="-122"/>
                        </a:rPr>
                        <a:t>SS</a:t>
                      </a:r>
                      <a:endParaRPr kumimoji="0" lang="en-US" altLang="zh-CN" sz="2400" b="1" i="0" u="none" strike="noStrike" cap="none" normalizeH="0" baseline="0">
                        <a:ln>
                          <a:noFill/>
                        </a:ln>
                        <a:solidFill>
                          <a:srgbClr val="000000"/>
                        </a:solidFill>
                        <a:effectLst/>
                        <a:latin typeface="Arial" charset="0"/>
                        <a:ea typeface="宋体" charset="-122"/>
                      </a:endParaRPr>
                    </a:p>
                  </a:txBody>
                  <a:tcPr anchor="ctr"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a:ln>
                            <a:noFill/>
                          </a:ln>
                          <a:solidFill>
                            <a:srgbClr val="000000"/>
                          </a:solidFill>
                          <a:effectLst/>
                          <a:latin typeface="Times New Roman" pitchFamily="18" charset="0"/>
                          <a:ea typeface="宋体" charset="-122"/>
                        </a:rPr>
                        <a:t>    df</a:t>
                      </a:r>
                      <a:endParaRPr kumimoji="0" lang="en-US" altLang="zh-CN" sz="2400" b="1" i="0" u="none" strike="noStrike" cap="none" normalizeH="0" baseline="0">
                        <a:ln>
                          <a:noFill/>
                        </a:ln>
                        <a:solidFill>
                          <a:srgbClr val="000000"/>
                        </a:solidFill>
                        <a:effectLst/>
                        <a:latin typeface="Arial" charset="0"/>
                        <a:ea typeface="宋体" charset="-122"/>
                      </a:endParaRPr>
                    </a:p>
                  </a:txBody>
                  <a:tcPr anchor="ctr"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a:ln>
                            <a:noFill/>
                          </a:ln>
                          <a:solidFill>
                            <a:srgbClr val="000000"/>
                          </a:solidFill>
                          <a:effectLst/>
                          <a:latin typeface="Times New Roman" pitchFamily="18" charset="0"/>
                          <a:ea typeface="宋体" charset="-122"/>
                        </a:rPr>
                        <a:t>MS</a:t>
                      </a:r>
                      <a:endParaRPr kumimoji="0" lang="en-US" altLang="zh-CN" sz="2400" b="1" i="0" u="none" strike="noStrike" cap="none" normalizeH="0" baseline="0">
                        <a:ln>
                          <a:noFill/>
                        </a:ln>
                        <a:solidFill>
                          <a:srgbClr val="000000"/>
                        </a:solidFill>
                        <a:effectLst/>
                        <a:latin typeface="Arial" charset="0"/>
                        <a:ea typeface="宋体" charset="-122"/>
                      </a:endParaRPr>
                    </a:p>
                  </a:txBody>
                  <a:tcPr anchor="ctr"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a:ln>
                            <a:noFill/>
                          </a:ln>
                          <a:solidFill>
                            <a:srgbClr val="000000"/>
                          </a:solidFill>
                          <a:effectLst/>
                          <a:latin typeface="Times New Roman" pitchFamily="18" charset="0"/>
                          <a:ea typeface="宋体" charset="-122"/>
                        </a:rPr>
                        <a:t>F</a:t>
                      </a:r>
                      <a:endParaRPr kumimoji="0" lang="en-US" altLang="zh-CN" sz="2400" b="1" i="0" u="none" strike="noStrike" cap="none" normalizeH="0" baseline="0">
                        <a:ln>
                          <a:noFill/>
                        </a:ln>
                        <a:solidFill>
                          <a:srgbClr val="000000"/>
                        </a:solidFill>
                        <a:effectLst/>
                        <a:latin typeface="Arial" charset="0"/>
                        <a:ea typeface="宋体" charset="-122"/>
                      </a:endParaRPr>
                    </a:p>
                  </a:txBody>
                  <a:tcPr anchor="ctr"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a:ln>
                            <a:noFill/>
                          </a:ln>
                          <a:solidFill>
                            <a:srgbClr val="000000"/>
                          </a:solidFill>
                          <a:effectLst/>
                          <a:latin typeface="Times New Roman" pitchFamily="18" charset="0"/>
                          <a:ea typeface="宋体" charset="-122"/>
                        </a:rPr>
                        <a:t>P-value</a:t>
                      </a:r>
                      <a:endParaRPr kumimoji="0" lang="en-US" altLang="zh-CN" sz="2400" b="1" i="0" u="none" strike="noStrike" cap="none" normalizeH="0" baseline="0">
                        <a:ln>
                          <a:noFill/>
                        </a:ln>
                        <a:solidFill>
                          <a:srgbClr val="000000"/>
                        </a:solidFill>
                        <a:effectLst/>
                        <a:latin typeface="Arial" charset="0"/>
                        <a:ea typeface="宋体" charset="-122"/>
                      </a:endParaRPr>
                    </a:p>
                  </a:txBody>
                  <a:tcPr anchor="ctr"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a:ln>
                            <a:noFill/>
                          </a:ln>
                          <a:solidFill>
                            <a:srgbClr val="000000"/>
                          </a:solidFill>
                          <a:effectLst/>
                          <a:latin typeface="Times New Roman" pitchFamily="18" charset="0"/>
                          <a:ea typeface="宋体" charset="-122"/>
                        </a:rPr>
                        <a:t>F crit</a:t>
                      </a:r>
                      <a:endParaRPr kumimoji="0" lang="en-US" altLang="zh-CN" sz="2400" b="1" i="0" u="none" strike="noStrike" cap="none" normalizeH="0" baseline="0">
                        <a:ln>
                          <a:noFill/>
                        </a:ln>
                        <a:solidFill>
                          <a:srgbClr val="000000"/>
                        </a:solidFill>
                        <a:effectLst/>
                        <a:latin typeface="Arial" charset="0"/>
                        <a:ea typeface="宋体" charset="-122"/>
                      </a:endParaRPr>
                    </a:p>
                  </a:txBody>
                  <a:tcPr anchor="ctr" horzOverflow="overflow">
                    <a:lnL>
                      <a:noFill/>
                    </a:lnL>
                    <a:lnR cap="flat">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1275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a:ln>
                            <a:noFill/>
                          </a:ln>
                          <a:solidFill>
                            <a:srgbClr val="000000"/>
                          </a:solidFill>
                          <a:effectLst/>
                          <a:latin typeface="Times New Roman" pitchFamily="18" charset="0"/>
                          <a:ea typeface="宋体" charset="-122"/>
                        </a:rPr>
                        <a:t>  </a:t>
                      </a:r>
                      <a:r>
                        <a:rPr kumimoji="0" lang="zh-CN" altLang="en-US" sz="2400" b="1" i="0" u="none" strike="noStrike" cap="none" normalizeH="0" baseline="0">
                          <a:ln>
                            <a:noFill/>
                          </a:ln>
                          <a:solidFill>
                            <a:srgbClr val="000000"/>
                          </a:solidFill>
                          <a:effectLst/>
                          <a:latin typeface="Times New Roman" pitchFamily="18" charset="0"/>
                          <a:ea typeface="宋体" charset="-122"/>
                        </a:rPr>
                        <a:t>组间</a:t>
                      </a:r>
                      <a:endParaRPr kumimoji="0" lang="zh-CN" altLang="en-US" sz="2400" b="1" i="0" u="none" strike="noStrike" cap="none" normalizeH="0" baseline="0">
                        <a:ln>
                          <a:noFill/>
                        </a:ln>
                        <a:solidFill>
                          <a:srgbClr val="000000"/>
                        </a:solidFill>
                        <a:effectLst/>
                        <a:latin typeface="Arial" charset="0"/>
                        <a:ea typeface="宋体" charset="-122"/>
                      </a:endParaRPr>
                    </a:p>
                  </a:txBody>
                  <a:tcPr anchor="ctr" horzOverflow="overflow">
                    <a:lnL cap="flat">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a:ln>
                            <a:noFill/>
                          </a:ln>
                          <a:solidFill>
                            <a:srgbClr val="000000"/>
                          </a:solidFill>
                          <a:effectLst/>
                          <a:latin typeface="Times New Roman" pitchFamily="18" charset="0"/>
                          <a:ea typeface="宋体" charset="-122"/>
                        </a:rPr>
                        <a:t>570.97</a:t>
                      </a:r>
                      <a:endParaRPr kumimoji="0" lang="en-US" altLang="zh-CN" sz="2400" b="1" i="0" u="none" strike="noStrike" cap="none" normalizeH="0" baseline="0">
                        <a:ln>
                          <a:noFill/>
                        </a:ln>
                        <a:solidFill>
                          <a:srgbClr val="000000"/>
                        </a:solidFill>
                        <a:effectLst/>
                        <a:latin typeface="Arial" charset="0"/>
                        <a:ea typeface="宋体" charset="-122"/>
                      </a:endParaRPr>
                    </a:p>
                  </a:txBody>
                  <a:tcPr anchor="ctr"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a:ln>
                            <a:noFill/>
                          </a:ln>
                          <a:solidFill>
                            <a:srgbClr val="000000"/>
                          </a:solidFill>
                          <a:effectLst/>
                          <a:latin typeface="Times New Roman" pitchFamily="18" charset="0"/>
                          <a:ea typeface="宋体" charset="-122"/>
                        </a:rPr>
                        <a:t>2</a:t>
                      </a:r>
                      <a:endParaRPr kumimoji="0" lang="en-US" altLang="zh-CN" sz="2400" b="1" i="0" u="none" strike="noStrike" cap="none" normalizeH="0" baseline="0">
                        <a:ln>
                          <a:noFill/>
                        </a:ln>
                        <a:solidFill>
                          <a:srgbClr val="000000"/>
                        </a:solidFill>
                        <a:effectLst/>
                        <a:latin typeface="Arial" charset="0"/>
                        <a:ea typeface="宋体" charset="-122"/>
                      </a:endParaRPr>
                    </a:p>
                  </a:txBody>
                  <a:tcPr anchor="ctr"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a:ln>
                            <a:noFill/>
                          </a:ln>
                          <a:solidFill>
                            <a:srgbClr val="000000"/>
                          </a:solidFill>
                          <a:effectLst/>
                          <a:latin typeface="Times New Roman" pitchFamily="18" charset="0"/>
                          <a:ea typeface="宋体" charset="-122"/>
                        </a:rPr>
                        <a:t>285.48</a:t>
                      </a:r>
                      <a:endParaRPr kumimoji="0" lang="en-US" altLang="zh-CN" sz="2400" b="1" i="0" u="none" strike="noStrike" cap="none" normalizeH="0" baseline="0">
                        <a:ln>
                          <a:noFill/>
                        </a:ln>
                        <a:solidFill>
                          <a:srgbClr val="000000"/>
                        </a:solidFill>
                        <a:effectLst/>
                        <a:latin typeface="Arial" charset="0"/>
                        <a:ea typeface="宋体" charset="-122"/>
                      </a:endParaRPr>
                    </a:p>
                  </a:txBody>
                  <a:tcPr anchor="ctr"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a:ln>
                            <a:noFill/>
                          </a:ln>
                          <a:solidFill>
                            <a:srgbClr val="000000"/>
                          </a:solidFill>
                          <a:effectLst/>
                          <a:latin typeface="Times New Roman" pitchFamily="18" charset="0"/>
                          <a:ea typeface="宋体" charset="-122"/>
                        </a:rPr>
                        <a:t>5.39</a:t>
                      </a:r>
                      <a:endParaRPr kumimoji="0" lang="en-US" altLang="zh-CN" sz="2400" b="1" i="0" u="none" strike="noStrike" cap="none" normalizeH="0" baseline="0">
                        <a:ln>
                          <a:noFill/>
                        </a:ln>
                        <a:solidFill>
                          <a:srgbClr val="000000"/>
                        </a:solidFill>
                        <a:effectLst/>
                        <a:latin typeface="Arial" charset="0"/>
                        <a:ea typeface="宋体" charset="-122"/>
                      </a:endParaRPr>
                    </a:p>
                  </a:txBody>
                  <a:tcPr anchor="ctr"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a:ln>
                            <a:noFill/>
                          </a:ln>
                          <a:solidFill>
                            <a:srgbClr val="000000"/>
                          </a:solidFill>
                          <a:effectLst/>
                          <a:latin typeface="Times New Roman" pitchFamily="18" charset="0"/>
                          <a:ea typeface="宋体" charset="-122"/>
                        </a:rPr>
                        <a:t>0.0183</a:t>
                      </a:r>
                      <a:endParaRPr kumimoji="0" lang="en-US" altLang="zh-CN" sz="2400" b="1" i="0" u="none" strike="noStrike" cap="none" normalizeH="0" baseline="0">
                        <a:ln>
                          <a:noFill/>
                        </a:ln>
                        <a:solidFill>
                          <a:srgbClr val="000000"/>
                        </a:solidFill>
                        <a:effectLst/>
                        <a:latin typeface="Arial" charset="0"/>
                        <a:ea typeface="宋体" charset="-122"/>
                      </a:endParaRPr>
                    </a:p>
                  </a:txBody>
                  <a:tcPr anchor="ctr"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a:ln>
                            <a:noFill/>
                          </a:ln>
                          <a:solidFill>
                            <a:srgbClr val="000000"/>
                          </a:solidFill>
                          <a:effectLst/>
                          <a:latin typeface="Times New Roman" pitchFamily="18" charset="0"/>
                          <a:ea typeface="宋体" charset="-122"/>
                        </a:rPr>
                        <a:t>3.7388</a:t>
                      </a:r>
                      <a:endParaRPr kumimoji="0" lang="en-US" altLang="zh-CN" sz="2400" b="1" i="0" u="none" strike="noStrike" cap="none" normalizeH="0" baseline="0">
                        <a:ln>
                          <a:noFill/>
                        </a:ln>
                        <a:solidFill>
                          <a:srgbClr val="000000"/>
                        </a:solidFill>
                        <a:effectLst/>
                        <a:latin typeface="Arial" charset="0"/>
                        <a:ea typeface="宋体" charset="-122"/>
                      </a:endParaRPr>
                    </a:p>
                  </a:txBody>
                  <a:tcPr anchor="ctr" horzOverflow="overflow">
                    <a:lnL>
                      <a:noFill/>
                    </a:lnL>
                    <a:lnR cap="flat">
                      <a:noFill/>
                    </a:lnR>
                    <a:lnT w="12700" cap="flat" cmpd="sng" algn="ctr">
                      <a:solidFill>
                        <a:srgbClr val="000000"/>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6"/>
                  </a:ext>
                </a:extLst>
              </a:tr>
              <a:tr h="43180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a:ln>
                            <a:noFill/>
                          </a:ln>
                          <a:solidFill>
                            <a:srgbClr val="000000"/>
                          </a:solidFill>
                          <a:effectLst/>
                          <a:latin typeface="Times New Roman" pitchFamily="18" charset="0"/>
                          <a:ea typeface="宋体" charset="-122"/>
                        </a:rPr>
                        <a:t>  </a:t>
                      </a:r>
                      <a:r>
                        <a:rPr kumimoji="0" lang="zh-CN" altLang="en-US" sz="2400" b="1" i="0" u="none" strike="noStrike" cap="none" normalizeH="0" baseline="0">
                          <a:ln>
                            <a:noFill/>
                          </a:ln>
                          <a:solidFill>
                            <a:srgbClr val="000000"/>
                          </a:solidFill>
                          <a:effectLst/>
                          <a:latin typeface="Times New Roman" pitchFamily="18" charset="0"/>
                          <a:ea typeface="宋体" charset="-122"/>
                        </a:rPr>
                        <a:t>组内</a:t>
                      </a:r>
                      <a:endParaRPr kumimoji="0" lang="zh-CN" altLang="en-US" sz="2400" b="1" i="0" u="none" strike="noStrike" cap="none" normalizeH="0" baseline="0">
                        <a:ln>
                          <a:noFill/>
                        </a:ln>
                        <a:solidFill>
                          <a:srgbClr val="000000"/>
                        </a:solidFill>
                        <a:effectLst/>
                        <a:latin typeface="Arial" charset="0"/>
                        <a:ea typeface="宋体" charset="-122"/>
                      </a:endParaRPr>
                    </a:p>
                  </a:txBody>
                  <a:tcPr anchor="ctr" horzOverflow="overflow">
                    <a:lnL cap="flat">
                      <a:noFill/>
                    </a:lnL>
                    <a:lnR>
                      <a:noFill/>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a:ln>
                            <a:noFill/>
                          </a:ln>
                          <a:solidFill>
                            <a:srgbClr val="000000"/>
                          </a:solidFill>
                          <a:effectLst/>
                          <a:latin typeface="Times New Roman" pitchFamily="18" charset="0"/>
                          <a:ea typeface="宋体" charset="-122"/>
                        </a:rPr>
                        <a:t>741.5</a:t>
                      </a:r>
                      <a:endParaRPr kumimoji="0" lang="en-US" altLang="zh-CN" sz="2400" b="1" i="0" u="none" strike="noStrike" cap="none" normalizeH="0" baseline="0">
                        <a:ln>
                          <a:noFill/>
                        </a:ln>
                        <a:solidFill>
                          <a:srgbClr val="000000"/>
                        </a:solidFill>
                        <a:effectLst/>
                        <a:latin typeface="Arial" charset="0"/>
                        <a:ea typeface="宋体" charset="-122"/>
                      </a:endParaRPr>
                    </a:p>
                  </a:txBody>
                  <a:tcPr anchor="ctr" horzOverflow="overflow">
                    <a:lnL>
                      <a:noFill/>
                    </a:lnL>
                    <a:lnR>
                      <a:noFill/>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a:ln>
                            <a:noFill/>
                          </a:ln>
                          <a:solidFill>
                            <a:srgbClr val="000000"/>
                          </a:solidFill>
                          <a:effectLst/>
                          <a:latin typeface="Times New Roman" pitchFamily="18" charset="0"/>
                          <a:ea typeface="宋体" charset="-122"/>
                        </a:rPr>
                        <a:t>14</a:t>
                      </a:r>
                      <a:endParaRPr kumimoji="0" lang="en-US" altLang="zh-CN" sz="2400" b="1" i="0" u="none" strike="noStrike" cap="none" normalizeH="0" baseline="0">
                        <a:ln>
                          <a:noFill/>
                        </a:ln>
                        <a:solidFill>
                          <a:srgbClr val="000000"/>
                        </a:solidFill>
                        <a:effectLst/>
                        <a:latin typeface="Arial" charset="0"/>
                        <a:ea typeface="宋体" charset="-122"/>
                      </a:endParaRPr>
                    </a:p>
                  </a:txBody>
                  <a:tcPr anchor="ctr" horzOverflow="overflow">
                    <a:lnL>
                      <a:noFill/>
                    </a:lnL>
                    <a:lnR>
                      <a:noFill/>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a:ln>
                            <a:noFill/>
                          </a:ln>
                          <a:solidFill>
                            <a:srgbClr val="000000"/>
                          </a:solidFill>
                          <a:effectLst/>
                          <a:latin typeface="Times New Roman" pitchFamily="18" charset="0"/>
                          <a:ea typeface="宋体" charset="-122"/>
                        </a:rPr>
                        <a:t>52.96</a:t>
                      </a:r>
                      <a:endParaRPr kumimoji="0" lang="en-US" altLang="zh-CN" sz="2400" b="1" i="0" u="none" strike="noStrike" cap="none" normalizeH="0" baseline="0">
                        <a:ln>
                          <a:noFill/>
                        </a:ln>
                        <a:solidFill>
                          <a:srgbClr val="000000"/>
                        </a:solidFill>
                        <a:effectLst/>
                        <a:latin typeface="Arial" charset="0"/>
                        <a:ea typeface="宋体" charset="-122"/>
                      </a:endParaRPr>
                    </a:p>
                  </a:txBody>
                  <a:tcPr anchor="ctr" horzOverflow="overflow">
                    <a:lnL>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90000"/>
                        <a:buFontTx/>
                        <a:buNone/>
                        <a:tabLst/>
                      </a:pPr>
                      <a:endParaRPr kumimoji="0" lang="zh-CN" altLang="zh-CN" sz="2400" b="1" i="0" u="none" strike="noStrike" cap="none" normalizeH="0" baseline="0">
                        <a:ln>
                          <a:noFill/>
                        </a:ln>
                        <a:solidFill>
                          <a:srgbClr val="000000"/>
                        </a:solidFill>
                        <a:effectLst/>
                        <a:latin typeface="Tahoma" pitchFamily="34" charset="0"/>
                        <a:ea typeface="宋体" charset="-122"/>
                      </a:endParaRPr>
                    </a:p>
                  </a:txBody>
                  <a:tcPr anchor="ctr" horzOverflow="overflow">
                    <a:lnL>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90000"/>
                        <a:buFontTx/>
                        <a:buNone/>
                        <a:tabLst/>
                      </a:pPr>
                      <a:endParaRPr kumimoji="0" lang="zh-CN" altLang="zh-CN" sz="2400" b="1" i="0" u="none" strike="noStrike" cap="none" normalizeH="0" baseline="0">
                        <a:ln>
                          <a:noFill/>
                        </a:ln>
                        <a:solidFill>
                          <a:srgbClr val="000000"/>
                        </a:solidFill>
                        <a:effectLst/>
                        <a:latin typeface="Tahoma" pitchFamily="34" charset="0"/>
                        <a:ea typeface="宋体" charset="-122"/>
                      </a:endParaRPr>
                    </a:p>
                  </a:txBody>
                  <a:tcPr anchor="ctr" horzOverflow="overflow">
                    <a:lnL>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Pct val="90000"/>
                        <a:buFontTx/>
                        <a:buNone/>
                        <a:tabLst/>
                      </a:pPr>
                      <a:endParaRPr kumimoji="0" lang="zh-CN" altLang="zh-CN" sz="2400" b="1" i="0" u="none" strike="noStrike" cap="none" normalizeH="0" baseline="0">
                        <a:ln>
                          <a:noFill/>
                        </a:ln>
                        <a:solidFill>
                          <a:srgbClr val="000000"/>
                        </a:solidFill>
                        <a:effectLst/>
                        <a:latin typeface="Tahoma" pitchFamily="34" charset="0"/>
                        <a:ea typeface="宋体" charset="-122"/>
                      </a:endParaRPr>
                    </a:p>
                  </a:txBody>
                  <a:tcPr anchor="ct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7"/>
                  </a:ext>
                </a:extLst>
              </a:tr>
              <a:tr h="433388">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a:ln>
                            <a:noFill/>
                          </a:ln>
                          <a:solidFill>
                            <a:srgbClr val="000000"/>
                          </a:solidFill>
                          <a:effectLst/>
                          <a:latin typeface="Times New Roman" pitchFamily="18" charset="0"/>
                          <a:ea typeface="宋体" charset="-122"/>
                        </a:rPr>
                        <a:t> </a:t>
                      </a:r>
                      <a:r>
                        <a:rPr kumimoji="0" lang="zh-CN" altLang="en-US" sz="2400" b="1" i="0" u="none" strike="noStrike" cap="none" normalizeH="0" baseline="0">
                          <a:ln>
                            <a:noFill/>
                          </a:ln>
                          <a:solidFill>
                            <a:srgbClr val="000000"/>
                          </a:solidFill>
                          <a:effectLst/>
                          <a:latin typeface="Times New Roman" pitchFamily="18" charset="0"/>
                          <a:ea typeface="宋体" charset="-122"/>
                        </a:rPr>
                        <a:t>总计</a:t>
                      </a:r>
                      <a:endParaRPr kumimoji="0" lang="zh-CN" altLang="en-US" sz="2400" b="1" i="0" u="none" strike="noStrike" cap="none" normalizeH="0" baseline="0">
                        <a:ln>
                          <a:noFill/>
                        </a:ln>
                        <a:solidFill>
                          <a:srgbClr val="000000"/>
                        </a:solidFill>
                        <a:effectLst/>
                        <a:latin typeface="Arial" charset="0"/>
                        <a:ea typeface="宋体" charset="-122"/>
                      </a:endParaRPr>
                    </a:p>
                  </a:txBody>
                  <a:tcPr anchor="ctr" horzOverflow="overflow">
                    <a:lnL cap="flat">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a:ln>
                            <a:noFill/>
                          </a:ln>
                          <a:solidFill>
                            <a:srgbClr val="000000"/>
                          </a:solidFill>
                          <a:effectLst/>
                          <a:latin typeface="Times New Roman" pitchFamily="18" charset="0"/>
                          <a:ea typeface="宋体" charset="-122"/>
                        </a:rPr>
                        <a:t>1312.47</a:t>
                      </a:r>
                      <a:endParaRPr kumimoji="0" lang="en-US" altLang="zh-CN" sz="2400" b="1" i="0" u="none" strike="noStrike" cap="none" normalizeH="0" baseline="0">
                        <a:ln>
                          <a:noFill/>
                        </a:ln>
                        <a:solidFill>
                          <a:srgbClr val="000000"/>
                        </a:solidFill>
                        <a:effectLst/>
                        <a:latin typeface="Arial" charset="0"/>
                        <a:ea typeface="宋体" charset="-122"/>
                      </a:endParaRPr>
                    </a:p>
                  </a:txBody>
                  <a:tcPr anchor="ctr"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a:ln>
                            <a:noFill/>
                          </a:ln>
                          <a:solidFill>
                            <a:srgbClr val="000000"/>
                          </a:solidFill>
                          <a:effectLst/>
                          <a:latin typeface="Times New Roman" pitchFamily="18" charset="0"/>
                          <a:ea typeface="宋体" charset="-122"/>
                        </a:rPr>
                        <a:t>16</a:t>
                      </a:r>
                      <a:endParaRPr kumimoji="0" lang="en-US" altLang="zh-CN" sz="2400" b="1" i="0" u="none" strike="noStrike" cap="none" normalizeH="0" baseline="0">
                        <a:ln>
                          <a:noFill/>
                        </a:ln>
                        <a:solidFill>
                          <a:srgbClr val="000000"/>
                        </a:solidFill>
                        <a:effectLst/>
                        <a:latin typeface="Arial" charset="0"/>
                        <a:ea typeface="宋体" charset="-122"/>
                      </a:endParaRPr>
                    </a:p>
                  </a:txBody>
                  <a:tcPr anchor="ctr"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a:ln>
                            <a:noFill/>
                          </a:ln>
                          <a:solidFill>
                            <a:srgbClr val="000000"/>
                          </a:solidFill>
                          <a:effectLst/>
                          <a:latin typeface="Times New Roman" pitchFamily="18" charset="0"/>
                          <a:ea typeface="宋体" charset="-122"/>
                        </a:rPr>
                        <a:t>　</a:t>
                      </a:r>
                      <a:endParaRPr kumimoji="0" lang="zh-CN" altLang="en-US" sz="2400" b="1" i="0" u="none" strike="noStrike" cap="none" normalizeH="0" baseline="0">
                        <a:ln>
                          <a:noFill/>
                        </a:ln>
                        <a:solidFill>
                          <a:srgbClr val="000000"/>
                        </a:solidFill>
                        <a:effectLst/>
                        <a:latin typeface="Arial" charset="0"/>
                        <a:ea typeface="宋体" charset="-122"/>
                      </a:endParaRPr>
                    </a:p>
                  </a:txBody>
                  <a:tcPr anchor="ctr"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a:ln>
                            <a:noFill/>
                          </a:ln>
                          <a:solidFill>
                            <a:srgbClr val="000000"/>
                          </a:solidFill>
                          <a:effectLst/>
                          <a:latin typeface="Times New Roman" pitchFamily="18" charset="0"/>
                          <a:ea typeface="宋体" charset="-122"/>
                        </a:rPr>
                        <a:t>　</a:t>
                      </a:r>
                      <a:endParaRPr kumimoji="0" lang="zh-CN" altLang="en-US" sz="2400" b="1" i="0" u="none" strike="noStrike" cap="none" normalizeH="0" baseline="0">
                        <a:ln>
                          <a:noFill/>
                        </a:ln>
                        <a:solidFill>
                          <a:srgbClr val="000000"/>
                        </a:solidFill>
                        <a:effectLst/>
                        <a:latin typeface="Arial" charset="0"/>
                        <a:ea typeface="宋体" charset="-122"/>
                      </a:endParaRPr>
                    </a:p>
                  </a:txBody>
                  <a:tcPr anchor="ctr"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a:ln>
                            <a:noFill/>
                          </a:ln>
                          <a:solidFill>
                            <a:srgbClr val="000000"/>
                          </a:solidFill>
                          <a:effectLst/>
                          <a:latin typeface="Times New Roman" pitchFamily="18" charset="0"/>
                          <a:ea typeface="宋体" charset="-122"/>
                        </a:rPr>
                        <a:t>　</a:t>
                      </a:r>
                      <a:endParaRPr kumimoji="0" lang="zh-CN" altLang="en-US" sz="2400" b="1" i="0" u="none" strike="noStrike" cap="none" normalizeH="0" baseline="0">
                        <a:ln>
                          <a:noFill/>
                        </a:ln>
                        <a:solidFill>
                          <a:srgbClr val="000000"/>
                        </a:solidFill>
                        <a:effectLst/>
                        <a:latin typeface="Arial" charset="0"/>
                        <a:ea typeface="宋体" charset="-122"/>
                      </a:endParaRPr>
                    </a:p>
                  </a:txBody>
                  <a:tcPr anchor="ctr"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dirty="0">
                          <a:ln>
                            <a:noFill/>
                          </a:ln>
                          <a:solidFill>
                            <a:srgbClr val="000000"/>
                          </a:solidFill>
                          <a:effectLst/>
                          <a:latin typeface="Times New Roman" pitchFamily="18" charset="0"/>
                          <a:ea typeface="宋体" charset="-122"/>
                        </a:rPr>
                        <a:t>　</a:t>
                      </a:r>
                      <a:endParaRPr kumimoji="0" lang="zh-CN" altLang="en-US" sz="2400" b="1" i="0" u="none" strike="noStrike" cap="none" normalizeH="0" baseline="0" dirty="0">
                        <a:ln>
                          <a:noFill/>
                        </a:ln>
                        <a:solidFill>
                          <a:srgbClr val="000000"/>
                        </a:solidFill>
                        <a:effectLst/>
                        <a:latin typeface="Arial" charset="0"/>
                        <a:ea typeface="宋体" charset="-122"/>
                      </a:endParaRPr>
                    </a:p>
                  </a:txBody>
                  <a:tcPr anchor="ctr" horzOverflow="overflow">
                    <a:lnL>
                      <a:noFill/>
                    </a:lnL>
                    <a:lnR cap="flat">
                      <a:noFill/>
                    </a:lnR>
                    <a:lnT>
                      <a:noFill/>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sp>
        <p:nvSpPr>
          <p:cNvPr id="123978" name="Text Box 76"/>
          <p:cNvSpPr txBox="1">
            <a:spLocks noChangeArrowheads="1"/>
          </p:cNvSpPr>
          <p:nvPr/>
        </p:nvSpPr>
        <p:spPr bwMode="auto">
          <a:xfrm>
            <a:off x="1847850" y="5667097"/>
            <a:ext cx="8274049" cy="584775"/>
          </a:xfrm>
          <a:prstGeom prst="rect">
            <a:avLst/>
          </a:prstGeom>
          <a:noFill/>
          <a:ln w="9525">
            <a:noFill/>
            <a:miter lim="800000"/>
            <a:headEnd/>
            <a:tailEnd/>
          </a:ln>
        </p:spPr>
        <p:txBody>
          <a:bodyPr wrap="square">
            <a:spAutoFit/>
          </a:bodyPr>
          <a:lstStyle/>
          <a:p>
            <a:pPr>
              <a:spcBef>
                <a:spcPct val="50000"/>
              </a:spcBef>
            </a:pPr>
            <a:r>
              <a:rPr lang="zh-CN" altLang="en-US" sz="3200" b="1" dirty="0">
                <a:solidFill>
                  <a:srgbClr val="3333FF"/>
                </a:solidFill>
              </a:rPr>
              <a:t>结论：</a:t>
            </a:r>
            <a:r>
              <a:rPr lang="zh-CN" altLang="en-US" sz="2800" b="1" dirty="0">
                <a:solidFill>
                  <a:srgbClr val="C00000"/>
                </a:solidFill>
              </a:rPr>
              <a:t>拒绝原假设，施肥方案对收获量有显著影响</a:t>
            </a:r>
            <a:r>
              <a:rPr lang="en-US" altLang="zh-CN" sz="2800" b="1" dirty="0">
                <a:solidFill>
                  <a:srgbClr val="000000"/>
                </a:solidFill>
              </a:rPr>
              <a:t>.</a:t>
            </a:r>
          </a:p>
        </p:txBody>
      </p:sp>
    </p:spTree>
    <p:extLst>
      <p:ext uri="{BB962C8B-B14F-4D97-AF65-F5344CB8AC3E}">
        <p14:creationId xmlns:p14="http://schemas.microsoft.com/office/powerpoint/2010/main" val="1974773847"/>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灯片编号占位符 5"/>
          <p:cNvSpPr>
            <a:spLocks noGrp="1"/>
          </p:cNvSpPr>
          <p:nvPr>
            <p:ph type="sldNum" sz="quarter" idx="4294967295"/>
          </p:nvPr>
        </p:nvSpPr>
        <p:spPr>
          <a:noFill/>
        </p:spPr>
        <p:txBody>
          <a:bodyPr/>
          <a:lstStyle/>
          <a:p>
            <a:r>
              <a:rPr lang="en-US" altLang="zh-CN">
                <a:ea typeface="宋体" pitchFamily="2" charset="-122"/>
              </a:rPr>
              <a:t>8.4--</a:t>
            </a:r>
            <a:fld id="{F1F0642F-FE91-4158-8EC1-D12EAA3EC065}" type="slidenum">
              <a:rPr lang="en-US" altLang="zh-CN" smtClean="0">
                <a:ea typeface="宋体" pitchFamily="2" charset="-122"/>
              </a:rPr>
              <a:pPr/>
              <a:t>110</a:t>
            </a:fld>
            <a:endParaRPr lang="en-US" altLang="zh-CN">
              <a:ea typeface="宋体" pitchFamily="2" charset="-122"/>
            </a:endParaRPr>
          </a:p>
        </p:txBody>
      </p:sp>
      <p:sp>
        <p:nvSpPr>
          <p:cNvPr id="124931" name="Rectangle 2"/>
          <p:cNvSpPr>
            <a:spLocks noGrp="1" noChangeArrowheads="1"/>
          </p:cNvSpPr>
          <p:nvPr>
            <p:ph type="title"/>
          </p:nvPr>
        </p:nvSpPr>
        <p:spPr>
          <a:xfrm>
            <a:off x="2063750" y="675246"/>
            <a:ext cx="7772400" cy="990600"/>
          </a:xfrm>
        </p:spPr>
        <p:txBody>
          <a:bodyPr>
            <a:normAutofit/>
          </a:bodyPr>
          <a:lstStyle/>
          <a:p>
            <a:r>
              <a:rPr lang="zh-CN" altLang="en-US" sz="3600" b="1" dirty="0">
                <a:effectLst/>
              </a:rPr>
              <a:t>注意</a:t>
            </a:r>
          </a:p>
        </p:txBody>
      </p:sp>
      <mc:AlternateContent xmlns:mc="http://schemas.openxmlformats.org/markup-compatibility/2006" xmlns:a14="http://schemas.microsoft.com/office/drawing/2010/main">
        <mc:Choice Requires="a14">
          <p:sp>
            <p:nvSpPr>
              <p:cNvPr id="124932" name="Rectangle 3"/>
              <p:cNvSpPr>
                <a:spLocks noGrp="1" noChangeArrowheads="1"/>
              </p:cNvSpPr>
              <p:nvPr>
                <p:ph type="body" idx="1"/>
              </p:nvPr>
            </p:nvSpPr>
            <p:spPr>
              <a:xfrm>
                <a:off x="2330450" y="1665846"/>
                <a:ext cx="7772400" cy="3827463"/>
              </a:xfrm>
            </p:spPr>
            <p:txBody>
              <a:bodyPr>
                <a:noAutofit/>
              </a:bodyPr>
              <a:lstStyle/>
              <a:p>
                <a:pPr lvl="1">
                  <a:lnSpc>
                    <a:spcPct val="140000"/>
                  </a:lnSpc>
                </a:pPr>
                <a:r>
                  <a:rPr lang="zh-CN" altLang="en-US" sz="3200" dirty="0"/>
                  <a:t>各水平下的观察值个数</a:t>
                </a:r>
                <a14:m>
                  <m:oMath xmlns:m="http://schemas.openxmlformats.org/officeDocument/2006/math">
                    <m:sSub>
                      <m:sSubPr>
                        <m:ctrlPr>
                          <a:rPr lang="en-US" altLang="zh-CN" sz="3200" i="1" smtClean="0">
                            <a:latin typeface="Cambria Math" panose="02040503050406030204" pitchFamily="18" charset="0"/>
                          </a:rPr>
                        </m:ctrlPr>
                      </m:sSubPr>
                      <m:e>
                        <m:r>
                          <a:rPr lang="en-US" altLang="zh-CN" sz="3200" b="0" i="1" smtClean="0">
                            <a:latin typeface="Cambria Math" panose="02040503050406030204" pitchFamily="18" charset="0"/>
                          </a:rPr>
                          <m:t>𝑛</m:t>
                        </m:r>
                      </m:e>
                      <m:sub>
                        <m:r>
                          <a:rPr lang="en-US" altLang="zh-CN" sz="3200" b="0" i="1" smtClean="0">
                            <a:latin typeface="Cambria Math" panose="02040503050406030204" pitchFamily="18" charset="0"/>
                          </a:rPr>
                          <m:t>𝑖</m:t>
                        </m:r>
                      </m:sub>
                    </m:sSub>
                  </m:oMath>
                </a14:m>
                <a:r>
                  <a:rPr lang="zh-CN" altLang="en-US" sz="3200" dirty="0"/>
                  <a:t>最好相等。</a:t>
                </a:r>
              </a:p>
              <a:p>
                <a:pPr lvl="1">
                  <a:lnSpc>
                    <a:spcPct val="140000"/>
                  </a:lnSpc>
                </a:pPr>
                <a:r>
                  <a:rPr lang="zh-CN" altLang="en-US" sz="3200" dirty="0"/>
                  <a:t>当结论为</a:t>
                </a:r>
                <a:r>
                  <a:rPr lang="zh-CN" altLang="en-US" sz="3200" dirty="0">
                    <a:latin typeface="Arial" pitchFamily="34" charset="0"/>
                  </a:rPr>
                  <a:t>“</a:t>
                </a:r>
                <a:r>
                  <a:rPr lang="zh-CN" altLang="en-US" sz="3200" dirty="0"/>
                  <a:t>拒绝原假设</a:t>
                </a:r>
                <a:r>
                  <a:rPr lang="zh-CN" altLang="en-US" sz="3200" dirty="0">
                    <a:latin typeface="Arial" pitchFamily="34" charset="0"/>
                  </a:rPr>
                  <a:t>”</a:t>
                </a:r>
                <a:r>
                  <a:rPr lang="zh-CN" altLang="en-US" sz="3200" dirty="0"/>
                  <a:t>时，只能说明各水平的总体均值不完全相同，但不能说明其中有没有相同的，也不能说明哪些有差异</a:t>
                </a:r>
                <a:r>
                  <a:rPr lang="zh-CN" altLang="en-US" dirty="0">
                    <a:solidFill>
                      <a:schemeClr val="tx1"/>
                    </a:solidFill>
                  </a:rPr>
                  <a:t>（需要进一步的两两比较</a:t>
                </a:r>
                <a:r>
                  <a:rPr lang="en-US" altLang="zh-CN" dirty="0">
                    <a:solidFill>
                      <a:schemeClr val="tx1"/>
                    </a:solidFill>
                  </a:rPr>
                  <a:t>——</a:t>
                </a:r>
                <a:r>
                  <a:rPr lang="zh-CN" altLang="en-US" dirty="0">
                    <a:solidFill>
                      <a:schemeClr val="tx1"/>
                    </a:solidFill>
                  </a:rPr>
                  <a:t>多重比较</a:t>
                </a:r>
                <a:r>
                  <a:rPr lang="en-US" altLang="zh-CN" dirty="0">
                    <a:solidFill>
                      <a:schemeClr val="tx1"/>
                    </a:solidFill>
                    <a:latin typeface="仿宋" panose="02010609060101010101" pitchFamily="49" charset="-122"/>
                    <a:ea typeface="仿宋" panose="02010609060101010101" pitchFamily="49" charset="-122"/>
                  </a:rPr>
                  <a:t>,</a:t>
                </a:r>
                <a:r>
                  <a:rPr lang="zh-CN" altLang="en-US" dirty="0">
                    <a:solidFill>
                      <a:schemeClr val="tx1"/>
                    </a:solidFill>
                  </a:rPr>
                  <a:t>参考其他文献）</a:t>
                </a:r>
                <a:r>
                  <a:rPr lang="zh-CN" altLang="en-US" sz="3200" dirty="0"/>
                  <a:t>。</a:t>
                </a:r>
              </a:p>
            </p:txBody>
          </p:sp>
        </mc:Choice>
        <mc:Fallback xmlns="">
          <p:sp>
            <p:nvSpPr>
              <p:cNvPr id="124932" name="Rectangle 3"/>
              <p:cNvSpPr>
                <a:spLocks noGrp="1" noRot="1" noChangeAspect="1" noMove="1" noResize="1" noEditPoints="1" noAdjustHandles="1" noChangeArrowheads="1" noChangeShapeType="1" noTextEdit="1"/>
              </p:cNvSpPr>
              <p:nvPr>
                <p:ph type="body" idx="1"/>
              </p:nvPr>
            </p:nvSpPr>
            <p:spPr>
              <a:xfrm>
                <a:off x="2330450" y="1665846"/>
                <a:ext cx="7772400" cy="3827463"/>
              </a:xfrm>
              <a:blipFill>
                <a:blip r:embed="rId2"/>
                <a:stretch>
                  <a:fillRect l="-1961" b="-1672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972677380"/>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5954" name="灯片编号占位符 5"/>
          <p:cNvSpPr>
            <a:spLocks noGrp="1"/>
          </p:cNvSpPr>
          <p:nvPr>
            <p:ph type="sldNum" sz="quarter" idx="4294967295"/>
          </p:nvPr>
        </p:nvSpPr>
        <p:spPr>
          <a:noFill/>
        </p:spPr>
        <p:txBody>
          <a:bodyPr/>
          <a:lstStyle/>
          <a:p>
            <a:r>
              <a:rPr lang="en-US" altLang="zh-CN">
                <a:ea typeface="宋体" pitchFamily="2" charset="-122"/>
              </a:rPr>
              <a:t>8.4--</a:t>
            </a:r>
            <a:fld id="{FD2C62AB-6B8B-4D2E-8A39-1135EE163830}" type="slidenum">
              <a:rPr lang="en-US" altLang="zh-CN" smtClean="0">
                <a:ea typeface="宋体" pitchFamily="2" charset="-122"/>
              </a:rPr>
              <a:pPr/>
              <a:t>111</a:t>
            </a:fld>
            <a:endParaRPr lang="en-US" altLang="zh-CN">
              <a:ea typeface="宋体" pitchFamily="2" charset="-122"/>
            </a:endParaRPr>
          </a:p>
        </p:txBody>
      </p:sp>
      <p:sp>
        <p:nvSpPr>
          <p:cNvPr id="125955" name="Rectangle 2"/>
          <p:cNvSpPr>
            <a:spLocks noGrp="1" noChangeArrowheads="1"/>
          </p:cNvSpPr>
          <p:nvPr>
            <p:ph type="title"/>
          </p:nvPr>
        </p:nvSpPr>
        <p:spPr>
          <a:xfrm>
            <a:off x="1860550" y="597460"/>
            <a:ext cx="4705350" cy="990600"/>
          </a:xfrm>
          <a:noFill/>
        </p:spPr>
        <p:txBody>
          <a:bodyPr vert="horz" lIns="90488" tIns="44450" rIns="90488" bIns="44450" rtlCol="0" anchor="ctr" anchorCtr="1">
            <a:normAutofit/>
          </a:bodyPr>
          <a:lstStyle/>
          <a:p>
            <a:r>
              <a:rPr lang="zh-CN" altLang="en-US" sz="3600" b="1" dirty="0">
                <a:solidFill>
                  <a:srgbClr val="0070C0"/>
                </a:solidFill>
                <a:effectLst/>
              </a:rPr>
              <a:t>方差分析小结</a:t>
            </a:r>
          </a:p>
        </p:txBody>
      </p:sp>
      <p:sp>
        <p:nvSpPr>
          <p:cNvPr id="124932" name="Rectangle 3"/>
          <p:cNvSpPr>
            <a:spLocks noGrp="1" noChangeArrowheads="1"/>
          </p:cNvSpPr>
          <p:nvPr>
            <p:ph type="body" idx="1"/>
          </p:nvPr>
        </p:nvSpPr>
        <p:spPr>
          <a:xfrm>
            <a:off x="2076450" y="1684339"/>
            <a:ext cx="8135938" cy="4441825"/>
          </a:xfrm>
        </p:spPr>
        <p:txBody>
          <a:bodyPr vert="horz" lIns="90488" tIns="44450" rIns="90488" bIns="44450" rtlCol="0">
            <a:normAutofit fontScale="92500" lnSpcReduction="10000"/>
          </a:bodyPr>
          <a:lstStyle/>
          <a:p>
            <a:pPr marL="609600" indent="-609600">
              <a:lnSpc>
                <a:spcPct val="150000"/>
              </a:lnSpc>
              <a:spcBef>
                <a:spcPts val="600"/>
              </a:spcBef>
              <a:defRPr/>
            </a:pPr>
            <a:r>
              <a:rPr lang="zh-CN" altLang="en-US" sz="2800" dirty="0">
                <a:solidFill>
                  <a:srgbClr val="000000"/>
                </a:solidFill>
              </a:rPr>
              <a:t>方差分析法的基本概念：</a:t>
            </a:r>
            <a:endParaRPr lang="en-US" altLang="zh-CN" sz="2800" dirty="0">
              <a:solidFill>
                <a:srgbClr val="000000"/>
              </a:solidFill>
            </a:endParaRPr>
          </a:p>
          <a:p>
            <a:pPr marL="400050" lvl="1" indent="0">
              <a:lnSpc>
                <a:spcPct val="150000"/>
              </a:lnSpc>
              <a:spcBef>
                <a:spcPts val="600"/>
              </a:spcBef>
              <a:buNone/>
              <a:defRPr/>
            </a:pPr>
            <a:r>
              <a:rPr lang="zh-CN" altLang="en-US" dirty="0"/>
              <a:t>因素，水平（组），系统误差，随机误差，总离差平方和，组内平方和，组间平方和，组内方差，组间方差，</a:t>
            </a:r>
            <a:endParaRPr lang="en-US" altLang="zh-CN" dirty="0"/>
          </a:p>
          <a:p>
            <a:pPr marL="609600" indent="-609600">
              <a:lnSpc>
                <a:spcPct val="150000"/>
              </a:lnSpc>
              <a:spcBef>
                <a:spcPts val="600"/>
              </a:spcBef>
              <a:defRPr/>
            </a:pPr>
            <a:r>
              <a:rPr lang="zh-CN" altLang="en-US" sz="2800" dirty="0">
                <a:solidFill>
                  <a:srgbClr val="000000"/>
                </a:solidFill>
              </a:rPr>
              <a:t>单因素方差分析法的基本思想</a:t>
            </a:r>
            <a:endParaRPr lang="en-US" altLang="zh-CN" sz="2800" dirty="0">
              <a:solidFill>
                <a:srgbClr val="000000"/>
              </a:solidFill>
            </a:endParaRPr>
          </a:p>
          <a:p>
            <a:pPr marL="609600" indent="-609600">
              <a:lnSpc>
                <a:spcPct val="150000"/>
              </a:lnSpc>
              <a:spcBef>
                <a:spcPts val="600"/>
              </a:spcBef>
              <a:defRPr/>
            </a:pPr>
            <a:r>
              <a:rPr lang="zh-CN" altLang="en-US" sz="2800" dirty="0">
                <a:solidFill>
                  <a:srgbClr val="000000"/>
                </a:solidFill>
              </a:rPr>
              <a:t>方差分析表</a:t>
            </a:r>
          </a:p>
          <a:p>
            <a:pPr marL="457200" lvl="1" indent="0">
              <a:lnSpc>
                <a:spcPct val="150000"/>
              </a:lnSpc>
              <a:spcBef>
                <a:spcPts val="600"/>
              </a:spcBef>
              <a:buNone/>
              <a:defRPr/>
            </a:pPr>
            <a:r>
              <a:rPr lang="en-US" altLang="zh-CN" dirty="0">
                <a:solidFill>
                  <a:srgbClr val="7030A0"/>
                </a:solidFill>
              </a:rPr>
              <a:t>EXCEL</a:t>
            </a:r>
            <a:r>
              <a:rPr lang="zh-CN" altLang="en-US" dirty="0">
                <a:solidFill>
                  <a:srgbClr val="7030A0"/>
                </a:solidFill>
              </a:rPr>
              <a:t>的方差分析表中的数量关系与解读</a:t>
            </a:r>
          </a:p>
        </p:txBody>
      </p:sp>
    </p:spTree>
    <p:extLst>
      <p:ext uri="{BB962C8B-B14F-4D97-AF65-F5344CB8AC3E}">
        <p14:creationId xmlns:p14="http://schemas.microsoft.com/office/powerpoint/2010/main" val="1638480791"/>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演示文稿1" id="{96D75287-E1B1-470A-8A19-45704DB33131}" vid="{D4134DCF-487D-446D-A1CF-501E36F006C4}"/>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统计学（第3版）PPT模板</Template>
  <TotalTime>827</TotalTime>
  <Words>7728</Words>
  <Application>Microsoft Office PowerPoint</Application>
  <PresentationFormat>宽屏</PresentationFormat>
  <Paragraphs>1041</Paragraphs>
  <Slides>111</Slides>
  <Notes>54</Notes>
  <HiddenSlides>0</HiddenSlides>
  <MMClips>0</MMClips>
  <ScaleCrop>false</ScaleCrop>
  <HeadingPairs>
    <vt:vector size="8" baseType="variant">
      <vt:variant>
        <vt:lpstr>已用的字体</vt:lpstr>
      </vt:variant>
      <vt:variant>
        <vt:i4>14</vt:i4>
      </vt:variant>
      <vt:variant>
        <vt:lpstr>主题</vt:lpstr>
      </vt:variant>
      <vt:variant>
        <vt:i4>1</vt:i4>
      </vt:variant>
      <vt:variant>
        <vt:lpstr>嵌入 OLE 服务器</vt:lpstr>
      </vt:variant>
      <vt:variant>
        <vt:i4>4</vt:i4>
      </vt:variant>
      <vt:variant>
        <vt:lpstr>幻灯片标题</vt:lpstr>
      </vt:variant>
      <vt:variant>
        <vt:i4>111</vt:i4>
      </vt:variant>
    </vt:vector>
  </HeadingPairs>
  <TitlesOfParts>
    <vt:vector size="130" baseType="lpstr">
      <vt:lpstr>等线</vt:lpstr>
      <vt:lpstr>仿宋</vt:lpstr>
      <vt:lpstr>黑体</vt:lpstr>
      <vt:lpstr>华文行楷</vt:lpstr>
      <vt:lpstr>华文中宋</vt:lpstr>
      <vt:lpstr>宋体</vt:lpstr>
      <vt:lpstr>微软雅黑</vt:lpstr>
      <vt:lpstr>Arial</vt:lpstr>
      <vt:lpstr>Book Antiqua</vt:lpstr>
      <vt:lpstr>Cambria Math</vt:lpstr>
      <vt:lpstr>Symbol</vt:lpstr>
      <vt:lpstr>Tahoma</vt:lpstr>
      <vt:lpstr>Times New Roman</vt:lpstr>
      <vt:lpstr>Wingdings</vt:lpstr>
      <vt:lpstr>Office 主题​​</vt:lpstr>
      <vt:lpstr>公式</vt:lpstr>
      <vt:lpstr>位图图像</vt:lpstr>
      <vt:lpstr>Equation.DSMT4</vt:lpstr>
      <vt:lpstr>Equation</vt:lpstr>
      <vt:lpstr>Ch 8    假设检验与方差分析</vt:lpstr>
      <vt:lpstr>8.1  假设检验的一般问题</vt:lpstr>
      <vt:lpstr>引例1</vt:lpstr>
      <vt:lpstr>实际中的假设检验问题</vt:lpstr>
      <vt:lpstr>小概率原理</vt:lpstr>
      <vt:lpstr>【引例2】</vt:lpstr>
      <vt:lpstr>一、假设检验的基本思想（续）</vt:lpstr>
      <vt:lpstr>一、假设检验的基本思想（续）</vt:lpstr>
      <vt:lpstr>【例8-1】</vt:lpstr>
      <vt:lpstr>【例8-1】(续）改革后的零件平均长度是否为4cm？</vt:lpstr>
      <vt:lpstr>【例8-1】(续）</vt:lpstr>
      <vt:lpstr>假设检验的特点</vt:lpstr>
      <vt:lpstr>基本思想（续）</vt:lpstr>
      <vt:lpstr>二、假设检验的步骤</vt:lpstr>
      <vt:lpstr>（一）提出假设</vt:lpstr>
      <vt:lpstr>假设的三种形式：</vt:lpstr>
      <vt:lpstr>（二）确定检验统计量及其分布</vt:lpstr>
      <vt:lpstr>（二）确定检验统计量及其分布(续)</vt:lpstr>
      <vt:lpstr>（三）规定显著性水平</vt:lpstr>
      <vt:lpstr>双侧检验的显著性水平与拒绝域</vt:lpstr>
      <vt:lpstr>右侧检验中的显著性水平与拒绝域</vt:lpstr>
      <vt:lpstr>（四）计算检验统计量的值 及其对应的P 值</vt:lpstr>
      <vt:lpstr>假设检验的P值(P-value)</vt:lpstr>
      <vt:lpstr>P值的计算</vt:lpstr>
      <vt:lpstr>P值的计算（续）—【例8-1】</vt:lpstr>
      <vt:lpstr>（五）作出检验结论</vt:lpstr>
      <vt:lpstr>双侧检验中的结论（1）</vt:lpstr>
      <vt:lpstr>双侧检验中的结论（2）</vt:lpstr>
      <vt:lpstr>右侧检验中的结论（1）</vt:lpstr>
      <vt:lpstr>右侧检验中的结论（2）</vt:lpstr>
      <vt:lpstr>（五）作出检验结论（续）</vt:lpstr>
      <vt:lpstr>P 值与 α 的关系</vt:lpstr>
      <vt:lpstr>P值与α的关系（图）</vt:lpstr>
      <vt:lpstr>三、假设检验中的两类错误</vt:lpstr>
      <vt:lpstr>三、假设检验中的两类错误（续）</vt:lpstr>
      <vt:lpstr>三、假设检验中的两类错误（续）</vt:lpstr>
      <vt:lpstr>两类错误概率的关系（右侧检验中）</vt:lpstr>
      <vt:lpstr> 和  的关系</vt:lpstr>
      <vt:lpstr>确定α 时应考虑的因素</vt:lpstr>
      <vt:lpstr>【附】影响  大小的因素</vt:lpstr>
      <vt:lpstr>8.2  一个总体参数的假设检验 </vt:lpstr>
      <vt:lpstr>§8.2.1 对一个正态总体均值的检验</vt:lpstr>
      <vt:lpstr>【例8-2】</vt:lpstr>
      <vt:lpstr>【例8-2】检验过程</vt:lpstr>
      <vt:lpstr>单侧检验（例+）</vt:lpstr>
      <vt:lpstr>（检验过程）</vt:lpstr>
      <vt:lpstr>【小结】方差已知时对正态总体均值的检验——z 检验法</vt:lpstr>
      <vt:lpstr>2. 总体方差未知对正态总体均值的检验 ——t 检验法</vt:lpstr>
      <vt:lpstr>【例8-3】</vt:lpstr>
      <vt:lpstr>【例8-3】检验过程——双侧t 检验</vt:lpstr>
      <vt:lpstr>【例8-3】续——t 检验的 P 值</vt:lpstr>
      <vt:lpstr>[小结]总体方差未知时对正态总体均值检验—— t 检验法</vt:lpstr>
      <vt:lpstr>8.2.2 一个总体方差的检验——卡方检验</vt:lpstr>
      <vt:lpstr>一个正态总体方差的2检验（续）</vt:lpstr>
      <vt:lpstr>【例8-4】</vt:lpstr>
      <vt:lpstr>计算结果</vt:lpstr>
      <vt:lpstr>2检验（例+）</vt:lpstr>
      <vt:lpstr>计算结果</vt:lpstr>
      <vt:lpstr>计算结果——P值</vt:lpstr>
      <vt:lpstr>正态总体标准差的 Z 检验法（可略）</vt:lpstr>
      <vt:lpstr>8.2.3 一个总体成数的检验</vt:lpstr>
      <vt:lpstr>[例8-5]</vt:lpstr>
      <vt:lpstr>[例8-5] 解</vt:lpstr>
      <vt:lpstr>【附】 怎样提出假设 (怎样提出原假设和备择假设？)</vt:lpstr>
      <vt:lpstr>怎样提出假设（续）</vt:lpstr>
      <vt:lpstr>怎样提出假设（续）</vt:lpstr>
      <vt:lpstr>怎样提出假设（续）</vt:lpstr>
      <vt:lpstr>怎样提出假设（续）</vt:lpstr>
      <vt:lpstr>怎样提出假设（续）</vt:lpstr>
      <vt:lpstr>【附】区间估计与假设检验的关系</vt:lpstr>
      <vt:lpstr>【附】区间估计与假设检验的关系</vt:lpstr>
      <vt:lpstr>利用置信区间进行假设检验</vt:lpstr>
      <vt:lpstr>t 检验与相应的置信区间（例）</vt:lpstr>
      <vt:lpstr>（置信区间——双侧 t 检验）</vt:lpstr>
      <vt:lpstr>8.3  两个总体参数的假设检验【可略】 </vt:lpstr>
      <vt:lpstr>8.3.1 两个正态总体均值差的检验</vt:lpstr>
      <vt:lpstr>两个正态总体均值差的检验（续）</vt:lpstr>
      <vt:lpstr>两个正态总体均值差的检验（续）</vt:lpstr>
      <vt:lpstr>两个正态总体均值差的检验（续）</vt:lpstr>
      <vt:lpstr>8.3.2 两个正态总体方差相等性的检验</vt:lpstr>
      <vt:lpstr>Excel中两总体参数的假设检验</vt:lpstr>
      <vt:lpstr>假设检验小结</vt:lpstr>
      <vt:lpstr>8.4   多个总体均值的比较 ——单因素方差分析 </vt:lpstr>
      <vt:lpstr>本节在推断统计中的地位</vt:lpstr>
      <vt:lpstr>8.4.1 问题的提出</vt:lpstr>
      <vt:lpstr>8.4.1 问题的提出（续）</vt:lpstr>
      <vt:lpstr>方差分析的几个基本概念</vt:lpstr>
      <vt:lpstr>方差分析的几个基本概念（续）</vt:lpstr>
      <vt:lpstr>8.4.2单因素方差分析的基本原理</vt:lpstr>
      <vt:lpstr>观察值的两种误差</vt:lpstr>
      <vt:lpstr>观察值的两种误差（续）</vt:lpstr>
      <vt:lpstr>总离差的分解</vt:lpstr>
      <vt:lpstr>离差平方总和的分解</vt:lpstr>
      <vt:lpstr>总离差平方和</vt:lpstr>
      <vt:lpstr>组内平方和</vt:lpstr>
      <vt:lpstr>组间平方和</vt:lpstr>
      <vt:lpstr>PowerPoint 演示文稿</vt:lpstr>
      <vt:lpstr>方差分析的基本思想</vt:lpstr>
      <vt:lpstr>方差分析中的基本假定</vt:lpstr>
      <vt:lpstr>检验统计量</vt:lpstr>
      <vt:lpstr>拒绝域</vt:lpstr>
      <vt:lpstr>作出检验结论 </vt:lpstr>
      <vt:lpstr>方差分析表的基本形式</vt:lpstr>
      <vt:lpstr>8.4.3 单因素方差分析的应用</vt:lpstr>
      <vt:lpstr>【例8-11】解</vt:lpstr>
      <vt:lpstr>计算离差平方和</vt:lpstr>
      <vt:lpstr>（续）</vt:lpstr>
      <vt:lpstr>计算检验统计量的值和P值</vt:lpstr>
      <vt:lpstr>单因素方差分析的Excel 输出结果</vt:lpstr>
      <vt:lpstr>注意</vt:lpstr>
      <vt:lpstr>方差分析小结</vt:lpstr>
    </vt:vector>
  </TitlesOfParts>
  <Company>P R 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Windows User</dc:creator>
  <cp:lastModifiedBy>蓉美 向</cp:lastModifiedBy>
  <cp:revision>126</cp:revision>
  <dcterms:created xsi:type="dcterms:W3CDTF">2023-12-08T00:49:52Z</dcterms:created>
  <dcterms:modified xsi:type="dcterms:W3CDTF">2024-01-02T01:49:23Z</dcterms:modified>
</cp:coreProperties>
</file>